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Team details are placeholders to fill in before submission. The QR code opens https://surface-vision.github.io, the shipped detector running client-side.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defects are born upstream (inclusions at the caster, scale and crazing at hot rolling) but found at finishing or by the customer, after every process step has been paid for. Sources: nickel share of 304 and the IISE cost-of-quality range from docs/research_notes.md s4a; 300 m/min from the AMETEK/Ternium case study, s2a. Options: reports/model_study.json (nano vs small bootstrap, TTA), resolution_study (640 px retrain), gap1_detection_metrics.json (joint model 0.7642). Architecture: tiling, detection and the coil decision are built; cameras and PLC/MES are not.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Scorecard sources: reports/model_study.json (mAP50 0.7524), gap1_cross_domain.json (473/505 clean frames flagged before, 164/505 after; defect crop recall 72.0% to 86.6%; AUC 0.608 to 0.958), calibration.json (ECE), gc10_coverage.json (roll marks 0.203), evaluation at 256 px (scratches 0.909, rolled-in scale 0.630), benchmark.json mill.scenarios at 250 m/min and 320 px (18 accelerators tiled, 1 downscaled), deck/build/exec_summary_checks.json (177/180 type correct and 180/180 flagged at conf 0.15). Business case: FY26 volume and realisation are Jindal reported figures; the downgrade rate and discount are swept, not known; the system cost is an unverified USD 1-3M industry range, so payback is quoted as a range.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1225296"/>
            <a:ext cx="7680960" cy="1188720"/>
          </a:xfrm>
        </p:spPr>
        <p:txBody>
          <a:bodyPr wrap="square" lIns="0" rIns="0" tIns="0" bIns="0" anchor="t">
            <a:noAutofit/>
          </a:bodyPr>
          <a:lstStyle/>
          <a:p>
            <a:pPr algn="l"/>
            <a:r>
              <a:rPr sz="3400" b="1">
                <a:solidFill>
                  <a:srgbClr val="141C24"/>
                </a:solidFill>
                <a:latin typeface="Arial"/>
              </a:rPr>
              <a:t>Catch every strip defect at the line, not at the customer</a:t>
            </a:r>
          </a:p>
        </p:txBody>
      </p:sp>
      <p:sp>
        <p:nvSpPr>
          <p:cNvPr id="3" name="Rectangle 2"/>
          <p:cNvSpPr/>
          <p:nvPr/>
        </p:nvSpPr>
        <p:spPr>
          <a:xfrm>
            <a:off x="0" y="0"/>
            <a:ext cx="12191695" cy="420624"/>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09728"/>
            <a:ext cx="7315200" cy="219456"/>
          </a:xfrm>
          <a:prstGeom prst="rect">
            <a:avLst/>
          </a:prstGeom>
          <a:noFill/>
        </p:spPr>
        <p:txBody>
          <a:bodyPr wrap="square" lIns="0" rIns="0" tIns="0" bIns="0" anchor="t">
            <a:noAutofit/>
          </a:bodyPr>
          <a:lstStyle/>
          <a:p>
            <a:pPr algn="l">
              <a:spcAft>
                <a:spcPts val="0"/>
              </a:spcAft>
            </a:pPr>
            <a:r>
              <a:rPr sz="900" b="1">
                <a:solidFill>
                  <a:srgbClr val="FFFFFF"/>
                </a:solidFill>
                <a:latin typeface="Arial"/>
              </a:rPr>
              <a:t>JINDAL STAINLESS   |   CASE COMPETITION   |   PROBLEM STATEMENT 1</a:t>
            </a:r>
          </a:p>
        </p:txBody>
      </p:sp>
      <p:sp>
        <p:nvSpPr>
          <p:cNvPr id="5" name="TextBox 4"/>
          <p:cNvSpPr txBox="1"/>
          <p:nvPr/>
        </p:nvSpPr>
        <p:spPr>
          <a:xfrm>
            <a:off x="9125712" y="109728"/>
            <a:ext cx="2743200" cy="219456"/>
          </a:xfrm>
          <a:prstGeom prst="rect">
            <a:avLst/>
          </a:prstGeom>
          <a:noFill/>
        </p:spPr>
        <p:txBody>
          <a:bodyPr wrap="square" lIns="0" rIns="0" tIns="0" bIns="0" anchor="t">
            <a:noAutofit/>
          </a:bodyPr>
          <a:lstStyle/>
          <a:p>
            <a:pPr algn="r">
              <a:spcAft>
                <a:spcPts val="0"/>
              </a:spcAft>
            </a:pPr>
            <a:r>
              <a:rPr sz="900" b="1">
                <a:solidFill>
                  <a:srgbClr val="BFD2E2"/>
                </a:solidFill>
                <a:latin typeface="Arial"/>
              </a:rPr>
              <a:t>EXECUTIVE SUMMARY</a:t>
            </a:r>
          </a:p>
        </p:txBody>
      </p:sp>
      <p:sp>
        <p:nvSpPr>
          <p:cNvPr id="6" name="TextBox 5"/>
          <p:cNvSpPr txBox="1"/>
          <p:nvPr/>
        </p:nvSpPr>
        <p:spPr>
          <a:xfrm>
            <a:off x="566928" y="914400"/>
            <a:ext cx="7589520" cy="237744"/>
          </a:xfrm>
          <a:prstGeom prst="rect">
            <a:avLst/>
          </a:prstGeom>
          <a:noFill/>
        </p:spPr>
        <p:txBody>
          <a:bodyPr wrap="square" lIns="0" rIns="0" tIns="0" bIns="0" anchor="t">
            <a:noAutofit/>
          </a:bodyPr>
          <a:lstStyle/>
          <a:p>
            <a:pPr algn="l">
              <a:spcAft>
                <a:spcPts val="0"/>
              </a:spcAft>
            </a:pPr>
            <a:r>
              <a:rPr sz="1200" b="1">
                <a:solidFill>
                  <a:srgbClr val="0086C3"/>
                </a:solidFill>
                <a:latin typeface="Arial"/>
              </a:rPr>
              <a:t>AI-POWERED SURFACE DEFECT DETECTION</a:t>
            </a:r>
          </a:p>
        </p:txBody>
      </p:sp>
      <p:sp>
        <p:nvSpPr>
          <p:cNvPr id="7" name="TextBox 6"/>
          <p:cNvSpPr txBox="1"/>
          <p:nvPr/>
        </p:nvSpPr>
        <p:spPr>
          <a:xfrm>
            <a:off x="566928" y="2505456"/>
            <a:ext cx="7589520" cy="512064"/>
          </a:xfrm>
          <a:prstGeom prst="rect">
            <a:avLst/>
          </a:prstGeom>
          <a:noFill/>
        </p:spPr>
        <p:txBody>
          <a:bodyPr wrap="square" lIns="0" rIns="0" tIns="0" bIns="0" anchor="t">
            <a:noAutofit/>
          </a:bodyPr>
          <a:lstStyle/>
          <a:p>
            <a:pPr algn="l">
              <a:spcAft>
                <a:spcPts val="0"/>
              </a:spcAft>
            </a:pPr>
            <a:r>
              <a:rPr sz="1400" b="0">
                <a:solidFill>
                  <a:srgbClr val="33414F"/>
                </a:solidFill>
                <a:latin typeface="Arial"/>
              </a:rPr>
              <a:t>A 6.22 MB computer-vision model that detects, classifies and scores surface defects in real time, calibrated to what a wrong call costs the mill, and running live today.</a:t>
            </a:r>
          </a:p>
        </p:txBody>
      </p:sp>
      <p:sp>
        <p:nvSpPr>
          <p:cNvPr id="8" name="Rectangle 7"/>
          <p:cNvSpPr/>
          <p:nvPr/>
        </p:nvSpPr>
        <p:spPr>
          <a:xfrm>
            <a:off x="566928" y="3255264"/>
            <a:ext cx="7589520" cy="12700"/>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3401568"/>
            <a:ext cx="7589520" cy="1280160"/>
          </a:xfrm>
          <a:prstGeom prst="rect">
            <a:avLst/>
          </a:prstGeom>
          <a:noFill/>
        </p:spPr>
        <p:txBody>
          <a:bodyPr wrap="square" lIns="0" rIns="0" tIns="0" bIns="0" anchor="t">
            <a:noAutofit/>
          </a:bodyPr>
          <a:lstStyle/>
          <a:p>
            <a:pPr algn="l">
              <a:spcAft>
                <a:spcPts val="200"/>
              </a:spcAft>
            </a:pPr>
            <a:r>
              <a:rPr sz="900" b="1">
                <a:solidFill>
                  <a:srgbClr val="5F6B78"/>
                </a:solidFill>
                <a:latin typeface="Arial"/>
              </a:rPr>
              <a:t>TEAM</a:t>
            </a:r>
          </a:p>
          <a:p>
            <a:pPr algn="l">
              <a:spcAft>
                <a:spcPts val="400"/>
              </a:spcAft>
            </a:pPr>
            <a:r>
              <a:rPr sz="2200" b="1">
                <a:solidFill>
                  <a:srgbClr val="143A5A"/>
                </a:solidFill>
                <a:latin typeface="Arial"/>
              </a:rPr>
              <a:t>Futuristic</a:t>
            </a:r>
          </a:p>
          <a:p>
            <a:pPr algn="l">
              <a:spcAft>
                <a:spcPts val="300"/>
              </a:spcAft>
            </a:pPr>
            <a:r>
              <a:rPr sz="1200" b="0">
                <a:solidFill>
                  <a:srgbClr val="33414F"/>
                </a:solidFill>
                <a:latin typeface="Arial"/>
              </a:rPr>
              <a:t>Krishna Kanta Mondal   ·   Prathmesh Walimbe</a:t>
            </a:r>
          </a:p>
          <a:p>
            <a:pPr algn="l">
              <a:spcAft>
                <a:spcPts val="0"/>
              </a:spcAft>
            </a:pPr>
            <a:r>
              <a:rPr sz="1200" b="1">
                <a:solidFill>
                  <a:srgbClr val="33414F"/>
                </a:solidFill>
                <a:latin typeface="Arial"/>
              </a:rPr>
              <a:t>IIT Bombay</a:t>
            </a:r>
          </a:p>
        </p:txBody>
      </p:sp>
      <p:sp>
        <p:nvSpPr>
          <p:cNvPr id="10" name="Rectangle 9"/>
          <p:cNvSpPr/>
          <p:nvPr/>
        </p:nvSpPr>
        <p:spPr>
          <a:xfrm>
            <a:off x="8732520" y="914400"/>
            <a:ext cx="3136391" cy="3310128"/>
          </a:xfrm>
          <a:prstGeom prst="rect">
            <a:avLst/>
          </a:prstGeom>
          <a:solidFill>
            <a:srgbClr val="FFFFFF"/>
          </a:solidFill>
          <a:ln w="9525">
            <a:solidFill>
              <a:srgbClr val="143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732520" y="914400"/>
            <a:ext cx="3136391" cy="310896"/>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32520" y="978408"/>
            <a:ext cx="3136391" cy="201168"/>
          </a:xfrm>
          <a:prstGeom prst="rect">
            <a:avLst/>
          </a:prstGeom>
          <a:noFill/>
        </p:spPr>
        <p:txBody>
          <a:bodyPr wrap="square" lIns="0" rIns="0" tIns="0" bIns="0" anchor="t">
            <a:noAutofit/>
          </a:bodyPr>
          <a:lstStyle/>
          <a:p>
            <a:pPr algn="ctr">
              <a:spcAft>
                <a:spcPts val="0"/>
              </a:spcAft>
            </a:pPr>
            <a:r>
              <a:rPr sz="1050" b="1">
                <a:solidFill>
                  <a:srgbClr val="FFFFFF"/>
                </a:solidFill>
                <a:latin typeface="Arial"/>
              </a:rPr>
              <a:t>TRY THE LIVE DEMO</a:t>
            </a:r>
          </a:p>
        </p:txBody>
      </p:sp>
      <p:pic>
        <p:nvPicPr>
          <p:cNvPr id="13" name="Picture 12" descr="fig7_live_demo_qr.png"/>
          <p:cNvPicPr>
            <a:picLocks noChangeAspect="1"/>
          </p:cNvPicPr>
          <p:nvPr/>
        </p:nvPicPr>
        <p:blipFill>
          <a:blip r:embed="rId2"/>
          <a:stretch>
            <a:fillRect/>
          </a:stretch>
        </p:blipFill>
        <p:spPr>
          <a:xfrm>
            <a:off x="9363456" y="1389888"/>
            <a:ext cx="1874519" cy="1874519"/>
          </a:xfrm>
          <a:prstGeom prst="rect">
            <a:avLst/>
          </a:prstGeom>
        </p:spPr>
      </p:pic>
      <p:sp>
        <p:nvSpPr>
          <p:cNvPr id="14" name="TextBox 13"/>
          <p:cNvSpPr txBox="1"/>
          <p:nvPr/>
        </p:nvSpPr>
        <p:spPr>
          <a:xfrm>
            <a:off x="8915400" y="3401568"/>
            <a:ext cx="2770632" cy="1097280"/>
          </a:xfrm>
          <a:prstGeom prst="rect">
            <a:avLst/>
          </a:prstGeom>
          <a:noFill/>
        </p:spPr>
        <p:txBody>
          <a:bodyPr wrap="square" lIns="0" rIns="0" tIns="0" bIns="0" anchor="t">
            <a:noAutofit/>
          </a:bodyPr>
          <a:lstStyle/>
          <a:p>
            <a:pPr algn="ctr">
              <a:spcAft>
                <a:spcPts val="500"/>
              </a:spcAft>
            </a:pPr>
            <a:r>
              <a:rPr sz="1300" b="1">
                <a:solidFill>
                  <a:srgbClr val="143A5A"/>
                </a:solidFill>
                <a:latin typeface="Arial"/>
              </a:rPr>
              <a:t>surface-vision.github.io</a:t>
            </a:r>
          </a:p>
          <a:p>
            <a:pPr algn="ctr">
              <a:spcAft>
                <a:spcPts val="0"/>
              </a:spcAft>
            </a:pPr>
            <a:r>
              <a:rPr sz="900" b="0">
                <a:solidFill>
                  <a:srgbClr val="33414F"/>
                </a:solidFill>
                <a:latin typeface="Arial"/>
              </a:rPr>
              <a:t>The trained detector, running in your browser. Upload a strip image; nothing leaves the page.</a:t>
            </a:r>
          </a:p>
        </p:txBody>
      </p:sp>
      <p:pic>
        <p:nvPicPr>
          <p:cNvPr id="15" name="Picture 14" descr="fig1_defect_families.png"/>
          <p:cNvPicPr>
            <a:picLocks noChangeAspect="1"/>
          </p:cNvPicPr>
          <p:nvPr/>
        </p:nvPicPr>
        <p:blipFill>
          <a:blip r:embed="rId3"/>
          <a:srcRect b="29245"/>
          <a:stretch>
            <a:fillRect/>
          </a:stretch>
        </p:blipFill>
        <p:spPr>
          <a:xfrm>
            <a:off x="566928" y="4983480"/>
            <a:ext cx="8412480" cy="1233501"/>
          </a:xfrm>
          <a:prstGeom prst="rect">
            <a:avLst/>
          </a:prstGeom>
        </p:spPr>
      </p:pic>
      <p:sp>
        <p:nvSpPr>
          <p:cNvPr id="16" name="TextBox 15"/>
          <p:cNvSpPr txBox="1"/>
          <p:nvPr/>
        </p:nvSpPr>
        <p:spPr>
          <a:xfrm>
            <a:off x="9098280" y="5230368"/>
            <a:ext cx="2770632" cy="1005840"/>
          </a:xfrm>
          <a:prstGeom prst="rect">
            <a:avLst/>
          </a:prstGeom>
          <a:noFill/>
        </p:spPr>
        <p:txBody>
          <a:bodyPr wrap="square" lIns="0" rIns="0" tIns="0" bIns="0" anchor="t">
            <a:noAutofit/>
          </a:bodyPr>
          <a:lstStyle/>
          <a:p>
            <a:pPr algn="l">
              <a:spcAft>
                <a:spcPts val="400"/>
              </a:spcAft>
            </a:pPr>
            <a:r>
              <a:rPr sz="900" b="1">
                <a:solidFill>
                  <a:srgbClr val="143A5A"/>
                </a:solidFill>
                <a:latin typeface="Arial"/>
              </a:rPr>
              <a:t>Six defect families shown on held-out test frames.</a:t>
            </a:r>
          </a:p>
          <a:p>
            <a:pPr algn="l">
              <a:spcAft>
                <a:spcPts val="0"/>
              </a:spcAft>
            </a:pPr>
            <a:r>
              <a:rPr sz="900" b="0">
                <a:solidFill>
                  <a:srgbClr val="33414F"/>
                </a:solidFill>
                <a:latin typeface="Arial"/>
              </a:rPr>
              <a:t>Slide 1: problem and solution. Slide 2: validation, roadmap and value.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530352"/>
            <a:ext cx="10387584" cy="438912"/>
          </a:xfrm>
        </p:spPr>
        <p:txBody>
          <a:bodyPr wrap="square" lIns="0" rIns="0" tIns="0" bIns="0" anchor="ctr">
            <a:noAutofit/>
          </a:bodyPr>
          <a:lstStyle/>
          <a:p>
            <a:pPr algn="l"/>
            <a:r>
              <a:rPr sz="2000" b="1">
                <a:solidFill>
                  <a:srgbClr val="141C24"/>
                </a:solidFill>
                <a:latin typeface="Arial"/>
              </a:rPr>
              <a:t>Why is late detection costly, and what did we build to fix it?</a:t>
            </a:r>
          </a:p>
        </p:txBody>
      </p:sp>
      <p:sp>
        <p:nvSpPr>
          <p:cNvPr id="3" name="Rectangle 2"/>
          <p:cNvSpPr/>
          <p:nvPr/>
        </p:nvSpPr>
        <p:spPr>
          <a:xfrm>
            <a:off x="0" y="0"/>
            <a:ext cx="12191695" cy="420624"/>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82296"/>
            <a:ext cx="946126" cy="256032"/>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noAutofit/>
          </a:bodyPr>
          <a:lstStyle/>
          <a:p>
            <a:pPr algn="ctr"/>
            <a:r>
              <a:rPr sz="950" b="1">
                <a:solidFill>
                  <a:srgbClr val="143A5A"/>
                </a:solidFill>
                <a:latin typeface="Arial"/>
              </a:rPr>
              <a:t>1  Problem</a:t>
            </a:r>
          </a:p>
        </p:txBody>
      </p:sp>
      <p:sp>
        <p:nvSpPr>
          <p:cNvPr id="5" name="Rounded Rectangle 4"/>
          <p:cNvSpPr/>
          <p:nvPr/>
        </p:nvSpPr>
        <p:spPr>
          <a:xfrm>
            <a:off x="1586206" y="82296"/>
            <a:ext cx="945977" cy="256032"/>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noAutofit/>
          </a:bodyPr>
          <a:lstStyle/>
          <a:p>
            <a:pPr algn="ctr"/>
            <a:r>
              <a:rPr sz="950" b="1">
                <a:solidFill>
                  <a:srgbClr val="143A5A"/>
                </a:solidFill>
                <a:latin typeface="Arial"/>
              </a:rPr>
              <a:t>2  Solution</a:t>
            </a:r>
          </a:p>
        </p:txBody>
      </p:sp>
      <p:sp>
        <p:nvSpPr>
          <p:cNvPr id="6" name="Rounded Rectangle 5"/>
          <p:cNvSpPr/>
          <p:nvPr/>
        </p:nvSpPr>
        <p:spPr>
          <a:xfrm>
            <a:off x="2605335" y="82296"/>
            <a:ext cx="1033389" cy="256032"/>
          </a:xfrm>
          <a:prstGeom prst="roundRect">
            <a:avLst>
              <a:gd name="adj" fmla="val 30000"/>
            </a:avLst>
          </a:prstGeom>
          <a:solidFill>
            <a:srgbClr val="2B5B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noAutofit/>
          </a:bodyPr>
          <a:lstStyle/>
          <a:p>
            <a:pPr algn="ctr"/>
            <a:r>
              <a:rPr sz="950" b="1">
                <a:solidFill>
                  <a:srgbClr val="BFD2E2"/>
                </a:solidFill>
                <a:latin typeface="Arial"/>
              </a:rPr>
              <a:t>3  Validation</a:t>
            </a:r>
          </a:p>
        </p:txBody>
      </p:sp>
      <p:sp>
        <p:nvSpPr>
          <p:cNvPr id="7" name="Rounded Rectangle 6"/>
          <p:cNvSpPr/>
          <p:nvPr/>
        </p:nvSpPr>
        <p:spPr>
          <a:xfrm>
            <a:off x="3711876" y="82296"/>
            <a:ext cx="1603400" cy="256032"/>
          </a:xfrm>
          <a:prstGeom prst="roundRect">
            <a:avLst>
              <a:gd name="adj" fmla="val 30000"/>
            </a:avLst>
          </a:prstGeom>
          <a:solidFill>
            <a:srgbClr val="2B5B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noAutofit/>
          </a:bodyPr>
          <a:lstStyle/>
          <a:p>
            <a:pPr algn="ctr"/>
            <a:r>
              <a:rPr sz="950" b="1">
                <a:solidFill>
                  <a:srgbClr val="BFD2E2"/>
                </a:solidFill>
                <a:latin typeface="Arial"/>
              </a:rPr>
              <a:t>4  Roadmap and value</a:t>
            </a:r>
          </a:p>
        </p:txBody>
      </p:sp>
      <p:sp>
        <p:nvSpPr>
          <p:cNvPr id="8" name="TextBox 7"/>
          <p:cNvSpPr txBox="1"/>
          <p:nvPr/>
        </p:nvSpPr>
        <p:spPr>
          <a:xfrm>
            <a:off x="5571309" y="118872"/>
            <a:ext cx="6297602" cy="201168"/>
          </a:xfrm>
          <a:prstGeom prst="rect">
            <a:avLst/>
          </a:prstGeom>
          <a:noFill/>
        </p:spPr>
        <p:txBody>
          <a:bodyPr wrap="square" lIns="0" rIns="0" tIns="0" bIns="0" anchor="t">
            <a:noAutofit/>
          </a:bodyPr>
          <a:lstStyle/>
          <a:p>
            <a:pPr algn="r">
              <a:spcAft>
                <a:spcPts val="0"/>
              </a:spcAft>
            </a:pPr>
            <a:r>
              <a:rPr sz="900" b="1">
                <a:solidFill>
                  <a:srgbClr val="BFD2E2"/>
                </a:solidFill>
                <a:latin typeface="Arial"/>
              </a:rPr>
              <a:t>JINDAL STAINLESS  |  PS1  |  </a:t>
            </a:r>
            <a:r>
              <a:rPr sz="900" b="1">
                <a:solidFill>
                  <a:srgbClr val="FFFFFF"/>
                </a:solidFill>
                <a:latin typeface="Arial"/>
              </a:rPr>
              <a:t>Futuristic</a:t>
            </a:r>
          </a:p>
        </p:txBody>
      </p:sp>
      <p:sp>
        <p:nvSpPr>
          <p:cNvPr id="9" name="Rectangle 8"/>
          <p:cNvSpPr/>
          <p:nvPr/>
        </p:nvSpPr>
        <p:spPr>
          <a:xfrm>
            <a:off x="164592" y="548640"/>
            <a:ext cx="274320" cy="6108192"/>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rot="16200000">
            <a:off x="-2752344" y="3465576"/>
            <a:ext cx="6108192" cy="274320"/>
          </a:xfrm>
          <a:prstGeom prst="rect">
            <a:avLst/>
          </a:prstGeom>
          <a:noFill/>
        </p:spPr>
        <p:txBody>
          <a:bodyPr wrap="none" lIns="0" rIns="0" tIns="0" bIns="0" anchor="ctr">
            <a:spAutoFit/>
          </a:bodyPr>
          <a:lstStyle/>
          <a:p>
            <a:pPr algn="ctr"/>
            <a:r>
              <a:rPr sz="1000" b="1">
                <a:solidFill>
                  <a:srgbClr val="143A5A"/>
                </a:solidFill>
                <a:latin typeface="Arial"/>
              </a:rPr>
              <a:t>PROBLEM AND SOLUTION</a:t>
            </a:r>
          </a:p>
        </p:txBody>
      </p:sp>
      <p:sp>
        <p:nvSpPr>
          <p:cNvPr id="11" name="TextBox 10"/>
          <p:cNvSpPr txBox="1"/>
          <p:nvPr/>
        </p:nvSpPr>
        <p:spPr>
          <a:xfrm>
            <a:off x="11045952" y="640080"/>
            <a:ext cx="822960" cy="219456"/>
          </a:xfrm>
          <a:prstGeom prst="rect">
            <a:avLst/>
          </a:prstGeom>
          <a:noFill/>
        </p:spPr>
        <p:txBody>
          <a:bodyPr wrap="square" lIns="0" rIns="0" tIns="0" bIns="0" anchor="t">
            <a:noAutofit/>
          </a:bodyPr>
          <a:lstStyle/>
          <a:p>
            <a:pPr algn="r">
              <a:spcAft>
                <a:spcPts val="0"/>
              </a:spcAft>
            </a:pPr>
            <a:r>
              <a:rPr sz="900" b="1">
                <a:solidFill>
                  <a:srgbClr val="5F6B78"/>
                </a:solidFill>
                <a:latin typeface="Arial"/>
              </a:rPr>
              <a:t>1 / 2</a:t>
            </a:r>
          </a:p>
        </p:txBody>
      </p:sp>
      <p:sp>
        <p:nvSpPr>
          <p:cNvPr id="12" name="Rectangle 11"/>
          <p:cNvSpPr/>
          <p:nvPr/>
        </p:nvSpPr>
        <p:spPr>
          <a:xfrm>
            <a:off x="566928" y="1078992"/>
            <a:ext cx="6355080" cy="2212848"/>
          </a:xfrm>
          <a:prstGeom prst="rect">
            <a:avLst/>
          </a:prstGeom>
          <a:solidFill>
            <a:srgbClr val="FFFFFF"/>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1078992"/>
            <a:ext cx="6355080" cy="274320"/>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 y="1120139"/>
            <a:ext cx="1460827" cy="201168"/>
          </a:xfrm>
          <a:prstGeom prst="rect">
            <a:avLst/>
          </a:prstGeom>
          <a:noFill/>
        </p:spPr>
        <p:txBody>
          <a:bodyPr wrap="square" lIns="0" rIns="0" tIns="0" bIns="0" anchor="t">
            <a:noAutofit/>
          </a:bodyPr>
          <a:lstStyle/>
          <a:p>
            <a:pPr algn="l">
              <a:spcAft>
                <a:spcPts val="0"/>
              </a:spcAft>
            </a:pPr>
            <a:r>
              <a:rPr sz="1050" b="1">
                <a:solidFill>
                  <a:srgbClr val="FFFFFF"/>
                </a:solidFill>
                <a:latin typeface="Arial"/>
              </a:rPr>
              <a:t>Cost of Late Detection</a:t>
            </a:r>
          </a:p>
        </p:txBody>
      </p:sp>
      <p:sp>
        <p:nvSpPr>
          <p:cNvPr id="15" name="TextBox 14"/>
          <p:cNvSpPr txBox="1"/>
          <p:nvPr/>
        </p:nvSpPr>
        <p:spPr>
          <a:xfrm>
            <a:off x="2320363" y="1133856"/>
            <a:ext cx="4491916" cy="182880"/>
          </a:xfrm>
          <a:prstGeom prst="rect">
            <a:avLst/>
          </a:prstGeom>
          <a:noFill/>
        </p:spPr>
        <p:txBody>
          <a:bodyPr wrap="square" lIns="0" rIns="0" tIns="0" bIns="0" anchor="t">
            <a:noAutofit/>
          </a:bodyPr>
          <a:lstStyle/>
          <a:p>
            <a:pPr algn="r">
              <a:spcAft>
                <a:spcPts val="0"/>
              </a:spcAft>
            </a:pPr>
            <a:r>
              <a:rPr sz="900" b="0">
                <a:solidFill>
                  <a:srgbClr val="BFD2E2"/>
                </a:solidFill>
                <a:latin typeface="Arial"/>
              </a:rPr>
              <a:t>research_notes s2a, s4a</a:t>
            </a:r>
          </a:p>
        </p:txBody>
      </p:sp>
      <p:sp>
        <p:nvSpPr>
          <p:cNvPr id="16" name="TextBox 15"/>
          <p:cNvSpPr txBox="1"/>
          <p:nvPr/>
        </p:nvSpPr>
        <p:spPr>
          <a:xfrm>
            <a:off x="713232" y="1417320"/>
            <a:ext cx="979931" cy="320040"/>
          </a:xfrm>
          <a:prstGeom prst="rect">
            <a:avLst/>
          </a:prstGeom>
          <a:noFill/>
        </p:spPr>
        <p:txBody>
          <a:bodyPr wrap="square" lIns="0" rIns="0" tIns="0" bIns="0" anchor="b">
            <a:noAutofit/>
          </a:bodyPr>
          <a:lstStyle/>
          <a:p>
            <a:pPr algn="ctr">
              <a:spcAft>
                <a:spcPts val="0"/>
              </a:spcAft>
            </a:pPr>
            <a:r>
              <a:rPr sz="900" b="0">
                <a:solidFill>
                  <a:srgbClr val="5F6B78"/>
                </a:solidFill>
                <a:latin typeface="Arial"/>
              </a:rPr>
              <a:t>inclusions</a:t>
            </a:r>
          </a:p>
        </p:txBody>
      </p:sp>
      <p:sp>
        <p:nvSpPr>
          <p:cNvPr id="17" name="Pentagon 16"/>
          <p:cNvSpPr/>
          <p:nvPr/>
        </p:nvSpPr>
        <p:spPr>
          <a:xfrm>
            <a:off x="694944" y="1755648"/>
            <a:ext cx="1071372" cy="402336"/>
          </a:xfrm>
          <a:prstGeom prst="homePlate">
            <a:avLst/>
          </a:prstGeom>
          <a:solidFill>
            <a:srgbClr val="2B5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1755648"/>
            <a:ext cx="833627" cy="402336"/>
          </a:xfrm>
          <a:prstGeom prst="rect">
            <a:avLst/>
          </a:prstGeom>
          <a:noFill/>
        </p:spPr>
        <p:txBody>
          <a:bodyPr wrap="square" lIns="0" rIns="0" tIns="0" bIns="0" anchor="ctr">
            <a:noAutofit/>
          </a:bodyPr>
          <a:lstStyle/>
          <a:p>
            <a:pPr algn="ctr">
              <a:spcAft>
                <a:spcPts val="0"/>
              </a:spcAft>
            </a:pPr>
            <a:r>
              <a:rPr sz="900" b="1">
                <a:solidFill>
                  <a:srgbClr val="FFFFFF"/>
                </a:solidFill>
                <a:latin typeface="Arial"/>
              </a:rPr>
              <a:t>Casting</a:t>
            </a:r>
          </a:p>
        </p:txBody>
      </p:sp>
      <p:sp>
        <p:nvSpPr>
          <p:cNvPr id="19" name="TextBox 18"/>
          <p:cNvSpPr txBox="1"/>
          <p:nvPr/>
        </p:nvSpPr>
        <p:spPr>
          <a:xfrm>
            <a:off x="1729740" y="1417320"/>
            <a:ext cx="979931" cy="320040"/>
          </a:xfrm>
          <a:prstGeom prst="rect">
            <a:avLst/>
          </a:prstGeom>
          <a:noFill/>
        </p:spPr>
        <p:txBody>
          <a:bodyPr wrap="square" lIns="0" rIns="0" tIns="0" bIns="0" anchor="b">
            <a:noAutofit/>
          </a:bodyPr>
          <a:lstStyle/>
          <a:p>
            <a:pPr algn="ctr">
              <a:spcAft>
                <a:spcPts val="0"/>
              </a:spcAft>
            </a:pPr>
            <a:r>
              <a:rPr sz="900" b="0">
                <a:solidFill>
                  <a:srgbClr val="5F6B78"/>
                </a:solidFill>
                <a:latin typeface="Arial"/>
              </a:rPr>
              <a:t>scale, crazing, edge cracks</a:t>
            </a:r>
          </a:p>
        </p:txBody>
      </p:sp>
      <p:sp>
        <p:nvSpPr>
          <p:cNvPr id="20" name="Chevron 19"/>
          <p:cNvSpPr/>
          <p:nvPr/>
        </p:nvSpPr>
        <p:spPr>
          <a:xfrm>
            <a:off x="1711452" y="1755648"/>
            <a:ext cx="1071372" cy="402336"/>
          </a:xfrm>
          <a:prstGeom prst="chevron">
            <a:avLst/>
          </a:prstGeom>
          <a:solidFill>
            <a:srgbClr val="2B5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894332" y="1755648"/>
            <a:ext cx="742188" cy="402336"/>
          </a:xfrm>
          <a:prstGeom prst="rect">
            <a:avLst/>
          </a:prstGeom>
          <a:noFill/>
        </p:spPr>
        <p:txBody>
          <a:bodyPr wrap="square" lIns="0" rIns="0" tIns="0" bIns="0" anchor="ctr">
            <a:noAutofit/>
          </a:bodyPr>
          <a:lstStyle/>
          <a:p>
            <a:pPr algn="ctr">
              <a:spcAft>
                <a:spcPts val="0"/>
              </a:spcAft>
            </a:pPr>
            <a:r>
              <a:rPr sz="900" b="1">
                <a:solidFill>
                  <a:srgbClr val="FFFFFF"/>
                </a:solidFill>
                <a:latin typeface="Arial"/>
              </a:rPr>
              <a:t>Hot rolling</a:t>
            </a:r>
          </a:p>
        </p:txBody>
      </p:sp>
      <p:sp>
        <p:nvSpPr>
          <p:cNvPr id="22" name="TextBox 21"/>
          <p:cNvSpPr txBox="1"/>
          <p:nvPr/>
        </p:nvSpPr>
        <p:spPr>
          <a:xfrm>
            <a:off x="2746248" y="1417320"/>
            <a:ext cx="979931" cy="320040"/>
          </a:xfrm>
          <a:prstGeom prst="rect">
            <a:avLst/>
          </a:prstGeom>
          <a:noFill/>
        </p:spPr>
        <p:txBody>
          <a:bodyPr wrap="square" lIns="0" rIns="0" tIns="0" bIns="0" anchor="b">
            <a:noAutofit/>
          </a:bodyPr>
          <a:lstStyle/>
          <a:p>
            <a:pPr algn="ctr">
              <a:spcAft>
                <a:spcPts val="0"/>
              </a:spcAft>
            </a:pPr>
            <a:r>
              <a:rPr sz="900" b="0">
                <a:solidFill>
                  <a:srgbClr val="5F6B78"/>
                </a:solidFill>
                <a:latin typeface="Arial"/>
              </a:rPr>
              <a:t>pits, patches</a:t>
            </a:r>
          </a:p>
        </p:txBody>
      </p:sp>
      <p:sp>
        <p:nvSpPr>
          <p:cNvPr id="23" name="Chevron 22"/>
          <p:cNvSpPr/>
          <p:nvPr/>
        </p:nvSpPr>
        <p:spPr>
          <a:xfrm>
            <a:off x="2727960" y="1755648"/>
            <a:ext cx="1071372" cy="402336"/>
          </a:xfrm>
          <a:prstGeom prst="chevron">
            <a:avLst/>
          </a:prstGeom>
          <a:solidFill>
            <a:srgbClr val="2B5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10840" y="1755648"/>
            <a:ext cx="742188" cy="402336"/>
          </a:xfrm>
          <a:prstGeom prst="rect">
            <a:avLst/>
          </a:prstGeom>
          <a:noFill/>
        </p:spPr>
        <p:txBody>
          <a:bodyPr wrap="square" lIns="0" rIns="0" tIns="0" bIns="0" anchor="ctr">
            <a:noAutofit/>
          </a:bodyPr>
          <a:lstStyle/>
          <a:p>
            <a:pPr algn="ctr">
              <a:spcAft>
                <a:spcPts val="0"/>
              </a:spcAft>
            </a:pPr>
            <a:r>
              <a:rPr sz="900" b="1">
                <a:solidFill>
                  <a:srgbClr val="FFFFFF"/>
                </a:solidFill>
                <a:latin typeface="Arial"/>
              </a:rPr>
              <a:t>Anneal, pickle</a:t>
            </a:r>
          </a:p>
        </p:txBody>
      </p:sp>
      <p:sp>
        <p:nvSpPr>
          <p:cNvPr id="25" name="TextBox 24"/>
          <p:cNvSpPr txBox="1"/>
          <p:nvPr/>
        </p:nvSpPr>
        <p:spPr>
          <a:xfrm>
            <a:off x="3762755" y="1417320"/>
            <a:ext cx="979931" cy="320040"/>
          </a:xfrm>
          <a:prstGeom prst="rect">
            <a:avLst/>
          </a:prstGeom>
          <a:noFill/>
        </p:spPr>
        <p:txBody>
          <a:bodyPr wrap="square" lIns="0" rIns="0" tIns="0" bIns="0" anchor="b">
            <a:noAutofit/>
          </a:bodyPr>
          <a:lstStyle/>
          <a:p>
            <a:pPr algn="ctr">
              <a:spcAft>
                <a:spcPts val="0"/>
              </a:spcAft>
            </a:pPr>
            <a:r>
              <a:rPr sz="900" b="0">
                <a:solidFill>
                  <a:srgbClr val="5F6B78"/>
                </a:solidFill>
                <a:latin typeface="Arial"/>
              </a:rPr>
              <a:t>roll marks, scratches</a:t>
            </a:r>
          </a:p>
        </p:txBody>
      </p:sp>
      <p:sp>
        <p:nvSpPr>
          <p:cNvPr id="26" name="Chevron 25"/>
          <p:cNvSpPr/>
          <p:nvPr/>
        </p:nvSpPr>
        <p:spPr>
          <a:xfrm>
            <a:off x="3744468" y="1755648"/>
            <a:ext cx="1071372" cy="402336"/>
          </a:xfrm>
          <a:prstGeom prst="chevron">
            <a:avLst/>
          </a:prstGeom>
          <a:solidFill>
            <a:srgbClr val="2B5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27348" y="1755648"/>
            <a:ext cx="742188" cy="402336"/>
          </a:xfrm>
          <a:prstGeom prst="rect">
            <a:avLst/>
          </a:prstGeom>
          <a:noFill/>
        </p:spPr>
        <p:txBody>
          <a:bodyPr wrap="square" lIns="0" rIns="0" tIns="0" bIns="0" anchor="ctr">
            <a:noAutofit/>
          </a:bodyPr>
          <a:lstStyle/>
          <a:p>
            <a:pPr algn="ctr">
              <a:spcAft>
                <a:spcPts val="0"/>
              </a:spcAft>
            </a:pPr>
            <a:r>
              <a:rPr sz="900" b="1">
                <a:solidFill>
                  <a:srgbClr val="FFFFFF"/>
                </a:solidFill>
                <a:latin typeface="Arial"/>
              </a:rPr>
              <a:t>Cold rolling</a:t>
            </a:r>
          </a:p>
        </p:txBody>
      </p:sp>
      <p:sp>
        <p:nvSpPr>
          <p:cNvPr id="28" name="TextBox 27"/>
          <p:cNvSpPr txBox="1"/>
          <p:nvPr/>
        </p:nvSpPr>
        <p:spPr>
          <a:xfrm>
            <a:off x="4779263" y="1417320"/>
            <a:ext cx="979931" cy="320040"/>
          </a:xfrm>
          <a:prstGeom prst="rect">
            <a:avLst/>
          </a:prstGeom>
          <a:noFill/>
        </p:spPr>
        <p:txBody>
          <a:bodyPr wrap="square" lIns="0" rIns="0" tIns="0" bIns="0" anchor="b">
            <a:noAutofit/>
          </a:bodyPr>
          <a:lstStyle/>
          <a:p>
            <a:pPr algn="ctr">
              <a:spcAft>
                <a:spcPts val="0"/>
              </a:spcAft>
            </a:pPr>
            <a:r>
              <a:rPr sz="900" b="0">
                <a:solidFill>
                  <a:srgbClr val="5F6B78"/>
                </a:solidFill>
                <a:latin typeface="Arial"/>
              </a:rPr>
              <a:t>scratches</a:t>
            </a:r>
          </a:p>
        </p:txBody>
      </p:sp>
      <p:sp>
        <p:nvSpPr>
          <p:cNvPr id="29" name="Chevron 28"/>
          <p:cNvSpPr/>
          <p:nvPr/>
        </p:nvSpPr>
        <p:spPr>
          <a:xfrm>
            <a:off x="4760975" y="1755648"/>
            <a:ext cx="1071372" cy="402336"/>
          </a:xfrm>
          <a:prstGeom prst="chevron">
            <a:avLst/>
          </a:prstGeom>
          <a:solidFill>
            <a:srgbClr val="2B5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43856" y="1755648"/>
            <a:ext cx="742188" cy="402336"/>
          </a:xfrm>
          <a:prstGeom prst="rect">
            <a:avLst/>
          </a:prstGeom>
          <a:noFill/>
        </p:spPr>
        <p:txBody>
          <a:bodyPr wrap="square" lIns="0" rIns="0" tIns="0" bIns="0" anchor="ctr">
            <a:noAutofit/>
          </a:bodyPr>
          <a:lstStyle/>
          <a:p>
            <a:pPr algn="ctr">
              <a:spcAft>
                <a:spcPts val="0"/>
              </a:spcAft>
            </a:pPr>
            <a:r>
              <a:rPr sz="900" b="1">
                <a:solidFill>
                  <a:srgbClr val="FFFFFF"/>
                </a:solidFill>
                <a:latin typeface="Arial"/>
              </a:rPr>
              <a:t>Finishing</a:t>
            </a:r>
          </a:p>
        </p:txBody>
      </p:sp>
      <p:sp>
        <p:nvSpPr>
          <p:cNvPr id="31" name="Chevron 30"/>
          <p:cNvSpPr/>
          <p:nvPr/>
        </p:nvSpPr>
        <p:spPr>
          <a:xfrm>
            <a:off x="5777483" y="1755648"/>
            <a:ext cx="1071372" cy="402336"/>
          </a:xfrm>
          <a:prstGeom prst="chevron">
            <a:avLst/>
          </a:prstGeom>
          <a:solidFill>
            <a:srgbClr val="14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60363" y="1755648"/>
            <a:ext cx="742188" cy="402336"/>
          </a:xfrm>
          <a:prstGeom prst="rect">
            <a:avLst/>
          </a:prstGeom>
          <a:noFill/>
        </p:spPr>
        <p:txBody>
          <a:bodyPr wrap="square" lIns="0" rIns="0" tIns="0" bIns="0" anchor="ctr">
            <a:noAutofit/>
          </a:bodyPr>
          <a:lstStyle/>
          <a:p>
            <a:pPr algn="ctr">
              <a:spcAft>
                <a:spcPts val="0"/>
              </a:spcAft>
            </a:pPr>
            <a:r>
              <a:rPr sz="900" b="1">
                <a:solidFill>
                  <a:srgbClr val="FFFFFF"/>
                </a:solidFill>
                <a:latin typeface="Arial"/>
              </a:rPr>
              <a:t>Customer</a:t>
            </a:r>
          </a:p>
        </p:txBody>
      </p:sp>
      <p:sp>
        <p:nvSpPr>
          <p:cNvPr id="33" name="Rectangle 32"/>
          <p:cNvSpPr/>
          <p:nvPr/>
        </p:nvSpPr>
        <p:spPr>
          <a:xfrm>
            <a:off x="740664" y="2231136"/>
            <a:ext cx="3928871" cy="31750"/>
          </a:xfrm>
          <a:prstGeom prst="rect">
            <a:avLst/>
          </a:prstGeom>
          <a:solidFill>
            <a:srgbClr val="008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806695" y="2231136"/>
            <a:ext cx="1941575" cy="31750"/>
          </a:xfrm>
          <a:prstGeom prst="rect">
            <a:avLst/>
          </a:prstGeom>
          <a:solidFill>
            <a:srgbClr val="5F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0664" y="2286000"/>
            <a:ext cx="3928871" cy="182880"/>
          </a:xfrm>
          <a:prstGeom prst="rect">
            <a:avLst/>
          </a:prstGeom>
          <a:noFill/>
        </p:spPr>
        <p:txBody>
          <a:bodyPr wrap="square" lIns="0" rIns="0" tIns="0" bIns="0" anchor="t">
            <a:noAutofit/>
          </a:bodyPr>
          <a:lstStyle/>
          <a:p>
            <a:pPr algn="l">
              <a:spcAft>
                <a:spcPts val="0"/>
              </a:spcAft>
            </a:pPr>
            <a:r>
              <a:rPr sz="900" b="1">
                <a:solidFill>
                  <a:srgbClr val="0086C3"/>
                </a:solidFill>
                <a:latin typeface="Arial"/>
              </a:rPr>
              <a:t>AI target: classify each defect where it is born</a:t>
            </a:r>
          </a:p>
        </p:txBody>
      </p:sp>
      <p:sp>
        <p:nvSpPr>
          <p:cNvPr id="36" name="TextBox 35"/>
          <p:cNvSpPr txBox="1"/>
          <p:nvPr/>
        </p:nvSpPr>
        <p:spPr>
          <a:xfrm>
            <a:off x="4806695" y="2286000"/>
            <a:ext cx="1941575" cy="329184"/>
          </a:xfrm>
          <a:prstGeom prst="rect">
            <a:avLst/>
          </a:prstGeom>
          <a:noFill/>
        </p:spPr>
        <p:txBody>
          <a:bodyPr wrap="square" lIns="0" rIns="0" tIns="0" bIns="0" anchor="t">
            <a:noAutofit/>
          </a:bodyPr>
          <a:lstStyle/>
          <a:p>
            <a:pPr algn="l">
              <a:spcAft>
                <a:spcPts val="0"/>
              </a:spcAft>
            </a:pPr>
            <a:r>
              <a:rPr sz="900" b="1">
                <a:solidFill>
                  <a:srgbClr val="5F6B78"/>
                </a:solidFill>
                <a:latin typeface="Arial"/>
              </a:rPr>
              <a:t>Found today: by eye, or by the customer</a:t>
            </a:r>
          </a:p>
        </p:txBody>
      </p:sp>
      <p:sp>
        <p:nvSpPr>
          <p:cNvPr id="37" name="Rectangle 36"/>
          <p:cNvSpPr/>
          <p:nvPr/>
        </p:nvSpPr>
        <p:spPr>
          <a:xfrm>
            <a:off x="694944" y="2688336"/>
            <a:ext cx="45720" cy="512063"/>
          </a:xfrm>
          <a:prstGeom prst="rect">
            <a:avLst/>
          </a:prstGeom>
          <a:solidFill>
            <a:srgbClr val="008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2670048"/>
            <a:ext cx="1807464" cy="530351"/>
          </a:xfrm>
          <a:prstGeom prst="rect">
            <a:avLst/>
          </a:prstGeom>
          <a:noFill/>
        </p:spPr>
        <p:txBody>
          <a:bodyPr wrap="square" lIns="0" rIns="0" tIns="0" bIns="0" anchor="t">
            <a:noAutofit/>
          </a:bodyPr>
          <a:lstStyle/>
          <a:p>
            <a:pPr algn="l">
              <a:spcAft>
                <a:spcPts val="0"/>
              </a:spcAft>
            </a:pPr>
            <a:r>
              <a:rPr sz="1500" b="1">
                <a:solidFill>
                  <a:srgbClr val="143A5A"/>
                </a:solidFill>
                <a:latin typeface="Arial"/>
              </a:rPr>
              <a:t>8-10%</a:t>
            </a:r>
          </a:p>
          <a:p>
            <a:pPr algn="l">
              <a:spcAft>
                <a:spcPts val="0"/>
              </a:spcAft>
            </a:pPr>
            <a:r>
              <a:rPr sz="900" b="0">
                <a:solidFill>
                  <a:srgbClr val="33414F"/>
                </a:solidFill>
                <a:latin typeface="Arial"/>
              </a:rPr>
              <a:t>nickel in grade 304 by mass, so a stainless downgrade costs more</a:t>
            </a:r>
          </a:p>
        </p:txBody>
      </p:sp>
      <p:sp>
        <p:nvSpPr>
          <p:cNvPr id="39" name="Rectangle 38"/>
          <p:cNvSpPr/>
          <p:nvPr/>
        </p:nvSpPr>
        <p:spPr>
          <a:xfrm>
            <a:off x="2776728" y="2688336"/>
            <a:ext cx="45720" cy="512063"/>
          </a:xfrm>
          <a:prstGeom prst="rect">
            <a:avLst/>
          </a:prstGeom>
          <a:solidFill>
            <a:srgbClr val="008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904744" y="2670048"/>
            <a:ext cx="1807464" cy="530351"/>
          </a:xfrm>
          <a:prstGeom prst="rect">
            <a:avLst/>
          </a:prstGeom>
          <a:noFill/>
        </p:spPr>
        <p:txBody>
          <a:bodyPr wrap="square" lIns="0" rIns="0" tIns="0" bIns="0" anchor="t">
            <a:noAutofit/>
          </a:bodyPr>
          <a:lstStyle/>
          <a:p>
            <a:pPr algn="l">
              <a:spcAft>
                <a:spcPts val="0"/>
              </a:spcAft>
            </a:pPr>
            <a:r>
              <a:rPr sz="1500" b="1">
                <a:solidFill>
                  <a:srgbClr val="143A5A"/>
                </a:solidFill>
                <a:latin typeface="Arial"/>
              </a:rPr>
              <a:t>300 m/min</a:t>
            </a:r>
          </a:p>
          <a:p>
            <a:pPr algn="l">
              <a:spcAft>
                <a:spcPts val="0"/>
              </a:spcAft>
            </a:pPr>
            <a:r>
              <a:rPr sz="900" b="0">
                <a:solidFill>
                  <a:srgbClr val="33414F"/>
                </a:solidFill>
                <a:latin typeface="Arial"/>
              </a:rPr>
              <a:t>strip speed at which the human eye cannot inspect the full surface</a:t>
            </a:r>
          </a:p>
        </p:txBody>
      </p:sp>
      <p:sp>
        <p:nvSpPr>
          <p:cNvPr id="41" name="Rectangle 40"/>
          <p:cNvSpPr/>
          <p:nvPr/>
        </p:nvSpPr>
        <p:spPr>
          <a:xfrm>
            <a:off x="4858512" y="2688336"/>
            <a:ext cx="45720" cy="512063"/>
          </a:xfrm>
          <a:prstGeom prst="rect">
            <a:avLst/>
          </a:prstGeom>
          <a:solidFill>
            <a:srgbClr val="008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986528" y="2670048"/>
            <a:ext cx="1807464" cy="530351"/>
          </a:xfrm>
          <a:prstGeom prst="rect">
            <a:avLst/>
          </a:prstGeom>
          <a:noFill/>
        </p:spPr>
        <p:txBody>
          <a:bodyPr wrap="square" lIns="0" rIns="0" tIns="0" bIns="0" anchor="t">
            <a:noAutofit/>
          </a:bodyPr>
          <a:lstStyle/>
          <a:p>
            <a:pPr algn="l">
              <a:spcAft>
                <a:spcPts val="0"/>
              </a:spcAft>
            </a:pPr>
            <a:r>
              <a:rPr sz="1500" b="1">
                <a:solidFill>
                  <a:srgbClr val="143A5A"/>
                </a:solidFill>
                <a:latin typeface="Arial"/>
              </a:rPr>
              <a:t>~15%</a:t>
            </a:r>
          </a:p>
          <a:p>
            <a:pPr algn="l">
              <a:spcAft>
                <a:spcPts val="0"/>
              </a:spcAft>
            </a:pPr>
            <a:r>
              <a:rPr sz="900" b="0">
                <a:solidFill>
                  <a:srgbClr val="33414F"/>
                </a:solidFill>
                <a:latin typeface="Arial"/>
              </a:rPr>
              <a:t>of sales lost to poor quality in manufacturing, range 5-35%</a:t>
            </a:r>
          </a:p>
        </p:txBody>
      </p:sp>
      <p:sp>
        <p:nvSpPr>
          <p:cNvPr id="43" name="Rectangle 42"/>
          <p:cNvSpPr/>
          <p:nvPr/>
        </p:nvSpPr>
        <p:spPr>
          <a:xfrm>
            <a:off x="7031736" y="1078992"/>
            <a:ext cx="4837176" cy="2212848"/>
          </a:xfrm>
          <a:prstGeom prst="rect">
            <a:avLst/>
          </a:prstGeom>
          <a:solidFill>
            <a:srgbClr val="FFFFFF"/>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031736" y="1078992"/>
            <a:ext cx="4837176" cy="274320"/>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141464" y="1120139"/>
            <a:ext cx="1428730" cy="201168"/>
          </a:xfrm>
          <a:prstGeom prst="rect">
            <a:avLst/>
          </a:prstGeom>
          <a:noFill/>
        </p:spPr>
        <p:txBody>
          <a:bodyPr wrap="square" lIns="0" rIns="0" tIns="0" bIns="0" anchor="t">
            <a:noAutofit/>
          </a:bodyPr>
          <a:lstStyle/>
          <a:p>
            <a:pPr algn="l">
              <a:spcAft>
                <a:spcPts val="0"/>
              </a:spcAft>
            </a:pPr>
            <a:r>
              <a:rPr sz="1050" b="1">
                <a:solidFill>
                  <a:srgbClr val="FFFFFF"/>
                </a:solidFill>
                <a:latin typeface="Arial"/>
              </a:rPr>
              <a:t>Model Options Tested</a:t>
            </a:r>
          </a:p>
        </p:txBody>
      </p:sp>
      <p:sp>
        <p:nvSpPr>
          <p:cNvPr id="46" name="TextBox 45"/>
          <p:cNvSpPr txBox="1"/>
          <p:nvPr/>
        </p:nvSpPr>
        <p:spPr>
          <a:xfrm>
            <a:off x="8753074" y="1133856"/>
            <a:ext cx="3006109" cy="182880"/>
          </a:xfrm>
          <a:prstGeom prst="rect">
            <a:avLst/>
          </a:prstGeom>
          <a:noFill/>
        </p:spPr>
        <p:txBody>
          <a:bodyPr wrap="square" lIns="0" rIns="0" tIns="0" bIns="0" anchor="t">
            <a:noAutofit/>
          </a:bodyPr>
          <a:lstStyle/>
          <a:p>
            <a:pPr algn="r">
              <a:spcAft>
                <a:spcPts val="0"/>
              </a:spcAft>
            </a:pPr>
            <a:r>
              <a:rPr sz="900" b="0">
                <a:solidFill>
                  <a:srgbClr val="BFD2E2"/>
                </a:solidFill>
                <a:latin typeface="Arial"/>
              </a:rPr>
              <a:t>model_study, gap1 reports</a:t>
            </a:r>
          </a:p>
        </p:txBody>
      </p:sp>
      <p:sp>
        <p:nvSpPr>
          <p:cNvPr id="47" name="TextBox 46"/>
          <p:cNvSpPr txBox="1"/>
          <p:nvPr/>
        </p:nvSpPr>
        <p:spPr>
          <a:xfrm>
            <a:off x="7159752" y="1444752"/>
            <a:ext cx="2048255" cy="164592"/>
          </a:xfrm>
          <a:prstGeom prst="rect">
            <a:avLst/>
          </a:prstGeom>
          <a:noFill/>
        </p:spPr>
        <p:txBody>
          <a:bodyPr wrap="square" lIns="0" rIns="0" tIns="0" bIns="0" anchor="t">
            <a:noAutofit/>
          </a:bodyPr>
          <a:lstStyle/>
          <a:p>
            <a:pPr algn="l">
              <a:spcAft>
                <a:spcPts val="0"/>
              </a:spcAft>
            </a:pPr>
            <a:r>
              <a:rPr sz="900" b="1">
                <a:solidFill>
                  <a:srgbClr val="5F6B78"/>
                </a:solidFill>
                <a:latin typeface="Arial"/>
              </a:rPr>
              <a:t>OPTION</a:t>
            </a:r>
          </a:p>
        </p:txBody>
      </p:sp>
      <p:sp>
        <p:nvSpPr>
          <p:cNvPr id="48" name="TextBox 47"/>
          <p:cNvSpPr txBox="1"/>
          <p:nvPr/>
        </p:nvSpPr>
        <p:spPr>
          <a:xfrm>
            <a:off x="9262872" y="1444752"/>
            <a:ext cx="512064" cy="164592"/>
          </a:xfrm>
          <a:prstGeom prst="rect">
            <a:avLst/>
          </a:prstGeom>
          <a:noFill/>
        </p:spPr>
        <p:txBody>
          <a:bodyPr wrap="square" lIns="0" rIns="0" tIns="0" bIns="0" anchor="t">
            <a:noAutofit/>
          </a:bodyPr>
          <a:lstStyle/>
          <a:p>
            <a:pPr algn="r">
              <a:spcAft>
                <a:spcPts val="0"/>
              </a:spcAft>
            </a:pPr>
            <a:r>
              <a:rPr sz="900" b="1">
                <a:solidFill>
                  <a:srgbClr val="5F6B78"/>
                </a:solidFill>
                <a:latin typeface="Arial"/>
              </a:rPr>
              <a:t>mAP50</a:t>
            </a:r>
          </a:p>
        </p:txBody>
      </p:sp>
      <p:sp>
        <p:nvSpPr>
          <p:cNvPr id="49" name="TextBox 48"/>
          <p:cNvSpPr txBox="1"/>
          <p:nvPr/>
        </p:nvSpPr>
        <p:spPr>
          <a:xfrm>
            <a:off x="9829799" y="1444752"/>
            <a:ext cx="923544" cy="164592"/>
          </a:xfrm>
          <a:prstGeom prst="rect">
            <a:avLst/>
          </a:prstGeom>
          <a:noFill/>
        </p:spPr>
        <p:txBody>
          <a:bodyPr wrap="square" lIns="0" rIns="0" tIns="0" bIns="0" anchor="t">
            <a:noAutofit/>
          </a:bodyPr>
          <a:lstStyle/>
          <a:p>
            <a:pPr algn="r">
              <a:spcAft>
                <a:spcPts val="0"/>
              </a:spcAft>
            </a:pPr>
            <a:r>
              <a:rPr sz="900" b="1">
                <a:solidFill>
                  <a:srgbClr val="5F6B78"/>
                </a:solidFill>
                <a:latin typeface="Arial"/>
              </a:rPr>
              <a:t>COST</a:t>
            </a:r>
          </a:p>
        </p:txBody>
      </p:sp>
      <p:sp>
        <p:nvSpPr>
          <p:cNvPr id="50" name="TextBox 49"/>
          <p:cNvSpPr txBox="1"/>
          <p:nvPr/>
        </p:nvSpPr>
        <p:spPr>
          <a:xfrm>
            <a:off x="10808207" y="1444752"/>
            <a:ext cx="877823" cy="164592"/>
          </a:xfrm>
          <a:prstGeom prst="rect">
            <a:avLst/>
          </a:prstGeom>
          <a:noFill/>
        </p:spPr>
        <p:txBody>
          <a:bodyPr wrap="square" lIns="0" rIns="0" tIns="0" bIns="0" anchor="t">
            <a:noAutofit/>
          </a:bodyPr>
          <a:lstStyle/>
          <a:p>
            <a:pPr algn="ctr">
              <a:spcAft>
                <a:spcPts val="0"/>
              </a:spcAft>
            </a:pPr>
            <a:r>
              <a:rPr sz="900" b="1">
                <a:solidFill>
                  <a:srgbClr val="5F6B78"/>
                </a:solidFill>
                <a:latin typeface="Arial"/>
              </a:rPr>
              <a:t>VERDICT</a:t>
            </a:r>
          </a:p>
        </p:txBody>
      </p:sp>
      <p:sp>
        <p:nvSpPr>
          <p:cNvPr id="51" name="Rectangle 50"/>
          <p:cNvSpPr/>
          <p:nvPr/>
        </p:nvSpPr>
        <p:spPr>
          <a:xfrm>
            <a:off x="7159752" y="1627632"/>
            <a:ext cx="4581144" cy="9525"/>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159752" y="1655064"/>
            <a:ext cx="4581144" cy="260603"/>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214616" y="1682496"/>
            <a:ext cx="2011679" cy="201168"/>
          </a:xfrm>
          <a:prstGeom prst="rect">
            <a:avLst/>
          </a:prstGeom>
          <a:noFill/>
        </p:spPr>
        <p:txBody>
          <a:bodyPr wrap="square" lIns="0" rIns="0" tIns="0" bIns="0" anchor="t">
            <a:noAutofit/>
          </a:bodyPr>
          <a:lstStyle/>
          <a:p>
            <a:pPr algn="l">
              <a:spcAft>
                <a:spcPts val="0"/>
              </a:spcAft>
            </a:pPr>
            <a:r>
              <a:rPr sz="900" b="1">
                <a:solidFill>
                  <a:srgbClr val="141C24"/>
                </a:solidFill>
                <a:latin typeface="Arial"/>
              </a:rPr>
              <a:t>YOLOv8n at 256 px</a:t>
            </a:r>
          </a:p>
        </p:txBody>
      </p:sp>
      <p:sp>
        <p:nvSpPr>
          <p:cNvPr id="54" name="TextBox 53"/>
          <p:cNvSpPr txBox="1"/>
          <p:nvPr/>
        </p:nvSpPr>
        <p:spPr>
          <a:xfrm>
            <a:off x="9262872" y="1682496"/>
            <a:ext cx="512064" cy="201168"/>
          </a:xfrm>
          <a:prstGeom prst="rect">
            <a:avLst/>
          </a:prstGeom>
          <a:noFill/>
        </p:spPr>
        <p:txBody>
          <a:bodyPr wrap="square" lIns="0" rIns="0" tIns="0" bIns="0" anchor="t">
            <a:noAutofit/>
          </a:bodyPr>
          <a:lstStyle/>
          <a:p>
            <a:pPr algn="r">
              <a:spcAft>
                <a:spcPts val="0"/>
              </a:spcAft>
            </a:pPr>
            <a:r>
              <a:rPr sz="900" b="1">
                <a:solidFill>
                  <a:srgbClr val="143A5A"/>
                </a:solidFill>
                <a:latin typeface="Arial"/>
              </a:rPr>
              <a:t>0.752</a:t>
            </a:r>
          </a:p>
        </p:txBody>
      </p:sp>
      <p:sp>
        <p:nvSpPr>
          <p:cNvPr id="55" name="TextBox 54"/>
          <p:cNvSpPr txBox="1"/>
          <p:nvPr/>
        </p:nvSpPr>
        <p:spPr>
          <a:xfrm>
            <a:off x="9829799" y="1682496"/>
            <a:ext cx="923544" cy="201168"/>
          </a:xfrm>
          <a:prstGeom prst="rect">
            <a:avLst/>
          </a:prstGeom>
          <a:noFill/>
        </p:spPr>
        <p:txBody>
          <a:bodyPr wrap="square" lIns="0" rIns="0" tIns="0" bIns="0" anchor="t">
            <a:noAutofit/>
          </a:bodyPr>
          <a:lstStyle/>
          <a:p>
            <a:pPr algn="r">
              <a:spcAft>
                <a:spcPts val="0"/>
              </a:spcAft>
            </a:pPr>
            <a:r>
              <a:rPr sz="900" b="0">
                <a:solidFill>
                  <a:srgbClr val="33414F"/>
                </a:solidFill>
                <a:latin typeface="Arial"/>
              </a:rPr>
              <a:t>3.0 M params</a:t>
            </a:r>
          </a:p>
        </p:txBody>
      </p:sp>
      <p:sp>
        <p:nvSpPr>
          <p:cNvPr id="56" name="Rounded Rectangle 55"/>
          <p:cNvSpPr/>
          <p:nvPr/>
        </p:nvSpPr>
        <p:spPr>
          <a:xfrm>
            <a:off x="10899647" y="1677924"/>
            <a:ext cx="786383" cy="192024"/>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900" b="1">
                <a:solidFill>
                  <a:srgbClr val="FFFFFF"/>
                </a:solidFill>
                <a:latin typeface="Arial"/>
              </a:rPr>
              <a:t>CHOSEN</a:t>
            </a:r>
          </a:p>
        </p:txBody>
      </p:sp>
      <p:sp>
        <p:nvSpPr>
          <p:cNvPr id="57" name="TextBox 56"/>
          <p:cNvSpPr txBox="1"/>
          <p:nvPr/>
        </p:nvSpPr>
        <p:spPr>
          <a:xfrm>
            <a:off x="7214616" y="1943100"/>
            <a:ext cx="2011679" cy="201168"/>
          </a:xfrm>
          <a:prstGeom prst="rect">
            <a:avLst/>
          </a:prstGeom>
          <a:noFill/>
        </p:spPr>
        <p:txBody>
          <a:bodyPr wrap="square" lIns="0" rIns="0" tIns="0" bIns="0" anchor="t">
            <a:noAutofit/>
          </a:bodyPr>
          <a:lstStyle/>
          <a:p>
            <a:pPr algn="l">
              <a:spcAft>
                <a:spcPts val="0"/>
              </a:spcAft>
            </a:pPr>
            <a:r>
              <a:rPr sz="900" b="1">
                <a:solidFill>
                  <a:srgbClr val="141C24"/>
                </a:solidFill>
                <a:latin typeface="Arial"/>
              </a:rPr>
              <a:t>YOLOv8n + Severstal clean strip</a:t>
            </a:r>
          </a:p>
        </p:txBody>
      </p:sp>
      <p:sp>
        <p:nvSpPr>
          <p:cNvPr id="58" name="TextBox 57"/>
          <p:cNvSpPr txBox="1"/>
          <p:nvPr/>
        </p:nvSpPr>
        <p:spPr>
          <a:xfrm>
            <a:off x="9262872" y="1943100"/>
            <a:ext cx="512064" cy="201168"/>
          </a:xfrm>
          <a:prstGeom prst="rect">
            <a:avLst/>
          </a:prstGeom>
          <a:noFill/>
        </p:spPr>
        <p:txBody>
          <a:bodyPr wrap="square" lIns="0" rIns="0" tIns="0" bIns="0" anchor="t">
            <a:noAutofit/>
          </a:bodyPr>
          <a:lstStyle/>
          <a:p>
            <a:pPr algn="r">
              <a:spcAft>
                <a:spcPts val="0"/>
              </a:spcAft>
            </a:pPr>
            <a:r>
              <a:rPr sz="900" b="1">
                <a:solidFill>
                  <a:srgbClr val="143A5A"/>
                </a:solidFill>
                <a:latin typeface="Arial"/>
              </a:rPr>
              <a:t>0.764</a:t>
            </a:r>
          </a:p>
        </p:txBody>
      </p:sp>
      <p:sp>
        <p:nvSpPr>
          <p:cNvPr id="59" name="TextBox 58"/>
          <p:cNvSpPr txBox="1"/>
          <p:nvPr/>
        </p:nvSpPr>
        <p:spPr>
          <a:xfrm>
            <a:off x="9829799" y="1943100"/>
            <a:ext cx="923544" cy="201168"/>
          </a:xfrm>
          <a:prstGeom prst="rect">
            <a:avLst/>
          </a:prstGeom>
          <a:noFill/>
        </p:spPr>
        <p:txBody>
          <a:bodyPr wrap="square" lIns="0" rIns="0" tIns="0" bIns="0" anchor="t">
            <a:noAutofit/>
          </a:bodyPr>
          <a:lstStyle/>
          <a:p>
            <a:pPr algn="r">
              <a:spcAft>
                <a:spcPts val="0"/>
              </a:spcAft>
            </a:pPr>
            <a:r>
              <a:rPr sz="900" b="0">
                <a:solidFill>
                  <a:srgbClr val="33414F"/>
                </a:solidFill>
                <a:latin typeface="Arial"/>
              </a:rPr>
              <a:t>same size</a:t>
            </a:r>
          </a:p>
        </p:txBody>
      </p:sp>
      <p:sp>
        <p:nvSpPr>
          <p:cNvPr id="60" name="Rounded Rectangle 59"/>
          <p:cNvSpPr/>
          <p:nvPr/>
        </p:nvSpPr>
        <p:spPr>
          <a:xfrm>
            <a:off x="10899647" y="1938528"/>
            <a:ext cx="786383" cy="192024"/>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900" b="1">
                <a:solidFill>
                  <a:srgbClr val="FFFFFF"/>
                </a:solidFill>
                <a:latin typeface="Arial"/>
              </a:rPr>
              <a:t>READY</a:t>
            </a:r>
          </a:p>
        </p:txBody>
      </p:sp>
      <p:sp>
        <p:nvSpPr>
          <p:cNvPr id="61" name="Rectangle 60"/>
          <p:cNvSpPr/>
          <p:nvPr/>
        </p:nvSpPr>
        <p:spPr>
          <a:xfrm>
            <a:off x="7159752" y="2176272"/>
            <a:ext cx="4581144" cy="260603"/>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14616" y="2203704"/>
            <a:ext cx="2011679" cy="201168"/>
          </a:xfrm>
          <a:prstGeom prst="rect">
            <a:avLst/>
          </a:prstGeom>
          <a:noFill/>
        </p:spPr>
        <p:txBody>
          <a:bodyPr wrap="square" lIns="0" rIns="0" tIns="0" bIns="0" anchor="t">
            <a:noAutofit/>
          </a:bodyPr>
          <a:lstStyle/>
          <a:p>
            <a:pPr algn="l">
              <a:spcAft>
                <a:spcPts val="0"/>
              </a:spcAft>
            </a:pPr>
            <a:r>
              <a:rPr sz="900" b="0">
                <a:solidFill>
                  <a:srgbClr val="141C24"/>
                </a:solidFill>
                <a:latin typeface="Arial"/>
              </a:rPr>
              <a:t>YOLOv8s, 3.7x the parameters</a:t>
            </a:r>
          </a:p>
        </p:txBody>
      </p:sp>
      <p:sp>
        <p:nvSpPr>
          <p:cNvPr id="63" name="TextBox 62"/>
          <p:cNvSpPr txBox="1"/>
          <p:nvPr/>
        </p:nvSpPr>
        <p:spPr>
          <a:xfrm>
            <a:off x="9262872" y="2203704"/>
            <a:ext cx="512064" cy="201168"/>
          </a:xfrm>
          <a:prstGeom prst="rect">
            <a:avLst/>
          </a:prstGeom>
          <a:noFill/>
        </p:spPr>
        <p:txBody>
          <a:bodyPr wrap="square" lIns="0" rIns="0" tIns="0" bIns="0" anchor="t">
            <a:noAutofit/>
          </a:bodyPr>
          <a:lstStyle/>
          <a:p>
            <a:pPr algn="r">
              <a:spcAft>
                <a:spcPts val="0"/>
              </a:spcAft>
            </a:pPr>
            <a:r>
              <a:rPr sz="900" b="1">
                <a:solidFill>
                  <a:srgbClr val="143A5A"/>
                </a:solidFill>
                <a:latin typeface="Arial"/>
              </a:rPr>
              <a:t>0.734</a:t>
            </a:r>
          </a:p>
        </p:txBody>
      </p:sp>
      <p:sp>
        <p:nvSpPr>
          <p:cNvPr id="64" name="TextBox 63"/>
          <p:cNvSpPr txBox="1"/>
          <p:nvPr/>
        </p:nvSpPr>
        <p:spPr>
          <a:xfrm>
            <a:off x="9829799" y="2203704"/>
            <a:ext cx="923544" cy="201168"/>
          </a:xfrm>
          <a:prstGeom prst="rect">
            <a:avLst/>
          </a:prstGeom>
          <a:noFill/>
        </p:spPr>
        <p:txBody>
          <a:bodyPr wrap="square" lIns="0" rIns="0" tIns="0" bIns="0" anchor="t">
            <a:noAutofit/>
          </a:bodyPr>
          <a:lstStyle/>
          <a:p>
            <a:pPr algn="r">
              <a:spcAft>
                <a:spcPts val="0"/>
              </a:spcAft>
            </a:pPr>
            <a:r>
              <a:rPr sz="900" b="0">
                <a:solidFill>
                  <a:srgbClr val="33414F"/>
                </a:solidFill>
                <a:latin typeface="Arial"/>
              </a:rPr>
              <a:t>3.5x FLOPs</a:t>
            </a:r>
          </a:p>
        </p:txBody>
      </p:sp>
      <p:sp>
        <p:nvSpPr>
          <p:cNvPr id="65" name="Rounded Rectangle 64"/>
          <p:cNvSpPr/>
          <p:nvPr/>
        </p:nvSpPr>
        <p:spPr>
          <a:xfrm>
            <a:off x="10899647" y="2199132"/>
            <a:ext cx="786383" cy="192024"/>
          </a:xfrm>
          <a:prstGeom prst="roundRect">
            <a:avLst>
              <a:gd name="adj" fmla="val 50000"/>
            </a:avLst>
          </a:prstGeom>
          <a:solidFill>
            <a:srgbClr val="B77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900" b="1">
                <a:solidFill>
                  <a:srgbClr val="FFFFFF"/>
                </a:solidFill>
                <a:latin typeface="Arial"/>
              </a:rPr>
              <a:t>NO GAIN</a:t>
            </a:r>
          </a:p>
        </p:txBody>
      </p:sp>
      <p:sp>
        <p:nvSpPr>
          <p:cNvPr id="66" name="TextBox 65"/>
          <p:cNvSpPr txBox="1"/>
          <p:nvPr/>
        </p:nvSpPr>
        <p:spPr>
          <a:xfrm>
            <a:off x="7214616" y="2464308"/>
            <a:ext cx="2011679" cy="201168"/>
          </a:xfrm>
          <a:prstGeom prst="rect">
            <a:avLst/>
          </a:prstGeom>
          <a:noFill/>
        </p:spPr>
        <p:txBody>
          <a:bodyPr wrap="square" lIns="0" rIns="0" tIns="0" bIns="0" anchor="t">
            <a:noAutofit/>
          </a:bodyPr>
          <a:lstStyle/>
          <a:p>
            <a:pPr algn="l">
              <a:spcAft>
                <a:spcPts val="0"/>
              </a:spcAft>
            </a:pPr>
            <a:r>
              <a:rPr sz="900" b="0">
                <a:solidFill>
                  <a:srgbClr val="141C24"/>
                </a:solidFill>
                <a:latin typeface="Arial"/>
              </a:rPr>
              <a:t>YOLOv8n retrained at 640 px</a:t>
            </a:r>
          </a:p>
        </p:txBody>
      </p:sp>
      <p:sp>
        <p:nvSpPr>
          <p:cNvPr id="67" name="TextBox 66"/>
          <p:cNvSpPr txBox="1"/>
          <p:nvPr/>
        </p:nvSpPr>
        <p:spPr>
          <a:xfrm>
            <a:off x="9262872" y="2464308"/>
            <a:ext cx="512064" cy="201168"/>
          </a:xfrm>
          <a:prstGeom prst="rect">
            <a:avLst/>
          </a:prstGeom>
          <a:noFill/>
        </p:spPr>
        <p:txBody>
          <a:bodyPr wrap="square" lIns="0" rIns="0" tIns="0" bIns="0" anchor="t">
            <a:noAutofit/>
          </a:bodyPr>
          <a:lstStyle/>
          <a:p>
            <a:pPr algn="r">
              <a:spcAft>
                <a:spcPts val="0"/>
              </a:spcAft>
            </a:pPr>
            <a:r>
              <a:rPr sz="900" b="1">
                <a:solidFill>
                  <a:srgbClr val="143A5A"/>
                </a:solidFill>
                <a:latin typeface="Arial"/>
              </a:rPr>
              <a:t>0.734</a:t>
            </a:r>
          </a:p>
        </p:txBody>
      </p:sp>
      <p:sp>
        <p:nvSpPr>
          <p:cNvPr id="68" name="TextBox 67"/>
          <p:cNvSpPr txBox="1"/>
          <p:nvPr/>
        </p:nvSpPr>
        <p:spPr>
          <a:xfrm>
            <a:off x="9829799" y="2464308"/>
            <a:ext cx="923544" cy="201168"/>
          </a:xfrm>
          <a:prstGeom prst="rect">
            <a:avLst/>
          </a:prstGeom>
          <a:noFill/>
        </p:spPr>
        <p:txBody>
          <a:bodyPr wrap="square" lIns="0" rIns="0" tIns="0" bIns="0" anchor="t">
            <a:noAutofit/>
          </a:bodyPr>
          <a:lstStyle/>
          <a:p>
            <a:pPr algn="r">
              <a:spcAft>
                <a:spcPts val="0"/>
              </a:spcAft>
            </a:pPr>
            <a:r>
              <a:rPr sz="900" b="0">
                <a:solidFill>
                  <a:srgbClr val="33414F"/>
                </a:solidFill>
                <a:latin typeface="Arial"/>
              </a:rPr>
              <a:t>4x pixels</a:t>
            </a:r>
          </a:p>
        </p:txBody>
      </p:sp>
      <p:sp>
        <p:nvSpPr>
          <p:cNvPr id="69" name="Rounded Rectangle 68"/>
          <p:cNvSpPr/>
          <p:nvPr/>
        </p:nvSpPr>
        <p:spPr>
          <a:xfrm>
            <a:off x="10899647" y="2459736"/>
            <a:ext cx="786383" cy="192024"/>
          </a:xfrm>
          <a:prstGeom prst="roundRect">
            <a:avLst>
              <a:gd name="adj" fmla="val 50000"/>
            </a:avLst>
          </a:prstGeom>
          <a:solidFill>
            <a:srgbClr val="B77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900" b="1">
                <a:solidFill>
                  <a:srgbClr val="FFFFFF"/>
                </a:solidFill>
                <a:latin typeface="Arial"/>
              </a:rPr>
              <a:t>NO GAIN</a:t>
            </a:r>
          </a:p>
        </p:txBody>
      </p:sp>
      <p:sp>
        <p:nvSpPr>
          <p:cNvPr id="70" name="Rectangle 69"/>
          <p:cNvSpPr/>
          <p:nvPr/>
        </p:nvSpPr>
        <p:spPr>
          <a:xfrm>
            <a:off x="7159752" y="2697480"/>
            <a:ext cx="4581144" cy="260603"/>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214616" y="2724912"/>
            <a:ext cx="2011679" cy="201168"/>
          </a:xfrm>
          <a:prstGeom prst="rect">
            <a:avLst/>
          </a:prstGeom>
          <a:noFill/>
        </p:spPr>
        <p:txBody>
          <a:bodyPr wrap="square" lIns="0" rIns="0" tIns="0" bIns="0" anchor="t">
            <a:noAutofit/>
          </a:bodyPr>
          <a:lstStyle/>
          <a:p>
            <a:pPr algn="l">
              <a:spcAft>
                <a:spcPts val="0"/>
              </a:spcAft>
            </a:pPr>
            <a:r>
              <a:rPr sz="900" b="0">
                <a:solidFill>
                  <a:srgbClr val="141C24"/>
                </a:solidFill>
                <a:latin typeface="Arial"/>
              </a:rPr>
              <a:t>Test-time augmentation</a:t>
            </a:r>
          </a:p>
        </p:txBody>
      </p:sp>
      <p:sp>
        <p:nvSpPr>
          <p:cNvPr id="72" name="TextBox 71"/>
          <p:cNvSpPr txBox="1"/>
          <p:nvPr/>
        </p:nvSpPr>
        <p:spPr>
          <a:xfrm>
            <a:off x="9262872" y="2724912"/>
            <a:ext cx="512064" cy="201168"/>
          </a:xfrm>
          <a:prstGeom prst="rect">
            <a:avLst/>
          </a:prstGeom>
          <a:noFill/>
        </p:spPr>
        <p:txBody>
          <a:bodyPr wrap="square" lIns="0" rIns="0" tIns="0" bIns="0" anchor="t">
            <a:noAutofit/>
          </a:bodyPr>
          <a:lstStyle/>
          <a:p>
            <a:pPr algn="r">
              <a:spcAft>
                <a:spcPts val="0"/>
              </a:spcAft>
            </a:pPr>
            <a:r>
              <a:rPr sz="900" b="1">
                <a:solidFill>
                  <a:srgbClr val="143A5A"/>
                </a:solidFill>
                <a:latin typeface="Arial"/>
              </a:rPr>
              <a:t>-0.006</a:t>
            </a:r>
          </a:p>
        </p:txBody>
      </p:sp>
      <p:sp>
        <p:nvSpPr>
          <p:cNvPr id="73" name="TextBox 72"/>
          <p:cNvSpPr txBox="1"/>
          <p:nvPr/>
        </p:nvSpPr>
        <p:spPr>
          <a:xfrm>
            <a:off x="9829799" y="2724912"/>
            <a:ext cx="923544" cy="201168"/>
          </a:xfrm>
          <a:prstGeom prst="rect">
            <a:avLst/>
          </a:prstGeom>
          <a:noFill/>
        </p:spPr>
        <p:txBody>
          <a:bodyPr wrap="square" lIns="0" rIns="0" tIns="0" bIns="0" anchor="t">
            <a:noAutofit/>
          </a:bodyPr>
          <a:lstStyle/>
          <a:p>
            <a:pPr algn="r">
              <a:spcAft>
                <a:spcPts val="0"/>
              </a:spcAft>
            </a:pPr>
            <a:r>
              <a:rPr sz="900" b="0">
                <a:solidFill>
                  <a:srgbClr val="33414F"/>
                </a:solidFill>
                <a:latin typeface="Arial"/>
              </a:rPr>
              <a:t>2.39x latency</a:t>
            </a:r>
          </a:p>
        </p:txBody>
      </p:sp>
      <p:sp>
        <p:nvSpPr>
          <p:cNvPr id="74" name="Rounded Rectangle 73"/>
          <p:cNvSpPr/>
          <p:nvPr/>
        </p:nvSpPr>
        <p:spPr>
          <a:xfrm>
            <a:off x="10899647" y="2720340"/>
            <a:ext cx="786383" cy="192024"/>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900" b="1">
                <a:solidFill>
                  <a:srgbClr val="FFFFFF"/>
                </a:solidFill>
                <a:latin typeface="Arial"/>
              </a:rPr>
              <a:t>REJECTED</a:t>
            </a:r>
          </a:p>
        </p:txBody>
      </p:sp>
      <p:sp>
        <p:nvSpPr>
          <p:cNvPr id="75" name="TextBox 74"/>
          <p:cNvSpPr txBox="1"/>
          <p:nvPr/>
        </p:nvSpPr>
        <p:spPr>
          <a:xfrm>
            <a:off x="7159752" y="3022091"/>
            <a:ext cx="4581144" cy="310896"/>
          </a:xfrm>
          <a:prstGeom prst="rect">
            <a:avLst/>
          </a:prstGeom>
          <a:noFill/>
        </p:spPr>
        <p:txBody>
          <a:bodyPr wrap="square" lIns="0" rIns="0" tIns="0" bIns="0" anchor="t">
            <a:noAutofit/>
          </a:bodyPr>
          <a:lstStyle/>
          <a:p>
            <a:pPr algn="l">
              <a:spcAft>
                <a:spcPts val="0"/>
              </a:spcAft>
            </a:pPr>
            <a:r>
              <a:rPr sz="900" b="0">
                <a:solidFill>
                  <a:srgbClr val="5F6B78"/>
                </a:solidFill>
                <a:latin typeface="Arial"/>
              </a:rPr>
              <a:t>Held-out test, scored once. Nano vs small: 95% CI [-0.008, +0.042] spans zero.</a:t>
            </a:r>
          </a:p>
        </p:txBody>
      </p:sp>
      <p:sp>
        <p:nvSpPr>
          <p:cNvPr id="76" name="Rectangle 75"/>
          <p:cNvSpPr/>
          <p:nvPr/>
        </p:nvSpPr>
        <p:spPr>
          <a:xfrm>
            <a:off x="566928" y="3401568"/>
            <a:ext cx="8183879" cy="2560319"/>
          </a:xfrm>
          <a:prstGeom prst="rect">
            <a:avLst/>
          </a:prstGeom>
          <a:solidFill>
            <a:srgbClr val="FFFFFF"/>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566928" y="3401568"/>
            <a:ext cx="8183879" cy="274320"/>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76656" y="3442716"/>
            <a:ext cx="1396632" cy="201168"/>
          </a:xfrm>
          <a:prstGeom prst="rect">
            <a:avLst/>
          </a:prstGeom>
          <a:noFill/>
        </p:spPr>
        <p:txBody>
          <a:bodyPr wrap="square" lIns="0" rIns="0" tIns="0" bIns="0" anchor="t">
            <a:noAutofit/>
          </a:bodyPr>
          <a:lstStyle/>
          <a:p>
            <a:pPr algn="l">
              <a:spcAft>
                <a:spcPts val="0"/>
              </a:spcAft>
            </a:pPr>
            <a:r>
              <a:rPr sz="1050" b="1">
                <a:solidFill>
                  <a:srgbClr val="FFFFFF"/>
                </a:solidFill>
                <a:latin typeface="Arial"/>
              </a:rPr>
              <a:t>Solution Architecture</a:t>
            </a:r>
          </a:p>
        </p:txBody>
      </p:sp>
      <p:sp>
        <p:nvSpPr>
          <p:cNvPr id="79" name="TextBox 78"/>
          <p:cNvSpPr txBox="1"/>
          <p:nvPr/>
        </p:nvSpPr>
        <p:spPr>
          <a:xfrm>
            <a:off x="2256168" y="3456432"/>
            <a:ext cx="6384911" cy="182880"/>
          </a:xfrm>
          <a:prstGeom prst="rect">
            <a:avLst/>
          </a:prstGeom>
          <a:noFill/>
        </p:spPr>
        <p:txBody>
          <a:bodyPr wrap="square" lIns="0" rIns="0" tIns="0" bIns="0" anchor="t">
            <a:noAutofit/>
          </a:bodyPr>
          <a:lstStyle/>
          <a:p>
            <a:pPr algn="r">
              <a:spcAft>
                <a:spcPts val="0"/>
              </a:spcAft>
            </a:pPr>
            <a:r>
              <a:rPr sz="900" b="0">
                <a:solidFill>
                  <a:srgbClr val="BFD2E2"/>
                </a:solidFill>
                <a:latin typeface="Arial"/>
              </a:rPr>
              <a:t>src/inference.py, src/report.py</a:t>
            </a:r>
          </a:p>
        </p:txBody>
      </p:sp>
      <p:sp>
        <p:nvSpPr>
          <p:cNvPr id="80" name="Rectangle 79"/>
          <p:cNvSpPr/>
          <p:nvPr/>
        </p:nvSpPr>
        <p:spPr>
          <a:xfrm>
            <a:off x="694944" y="3767328"/>
            <a:ext cx="1439265" cy="932688"/>
          </a:xfrm>
          <a:prstGeom prst="rect">
            <a:avLst/>
          </a:prstGeom>
          <a:solidFill>
            <a:srgbClr val="F1F4F7"/>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77240" y="3840480"/>
            <a:ext cx="1274673" cy="804672"/>
          </a:xfrm>
          <a:prstGeom prst="rect">
            <a:avLst/>
          </a:prstGeom>
          <a:noFill/>
        </p:spPr>
        <p:txBody>
          <a:bodyPr wrap="square" lIns="0" rIns="0" tIns="0" bIns="0" anchor="t">
            <a:noAutofit/>
          </a:bodyPr>
          <a:lstStyle/>
          <a:p>
            <a:pPr algn="l">
              <a:spcAft>
                <a:spcPts val="300"/>
              </a:spcAft>
            </a:pPr>
            <a:r>
              <a:rPr sz="1000" b="1">
                <a:solidFill>
                  <a:srgbClr val="143A5A"/>
                </a:solidFill>
                <a:latin typeface="Arial"/>
              </a:rPr>
              <a:t>1  Capture</a:t>
            </a:r>
          </a:p>
          <a:p>
            <a:pPr algn="l">
              <a:spcAft>
                <a:spcPts val="0"/>
              </a:spcAft>
            </a:pPr>
            <a:r>
              <a:rPr sz="900" b="0">
                <a:solidFill>
                  <a:srgbClr val="33414F"/>
                </a:solidFill>
                <a:latin typeface="Arial"/>
              </a:rPr>
              <a:t>4 cameras across a 1.28 m strip at 0.2 mm/px</a:t>
            </a:r>
          </a:p>
        </p:txBody>
      </p:sp>
      <p:sp>
        <p:nvSpPr>
          <p:cNvPr id="82" name="Rounded Rectangle 81"/>
          <p:cNvSpPr/>
          <p:nvPr/>
        </p:nvSpPr>
        <p:spPr>
          <a:xfrm>
            <a:off x="777240" y="4764024"/>
            <a:ext cx="1274673" cy="192024"/>
          </a:xfrm>
          <a:prstGeom prst="roundRect">
            <a:avLst>
              <a:gd name="adj" fmla="val 50000"/>
            </a:avLst>
          </a:prstGeom>
          <a:solidFill>
            <a:srgbClr val="B77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900" b="1">
                <a:solidFill>
                  <a:srgbClr val="FFFFFF"/>
                </a:solidFill>
                <a:latin typeface="Arial"/>
              </a:rPr>
              <a:t>TO BUILD</a:t>
            </a:r>
          </a:p>
        </p:txBody>
      </p:sp>
      <p:sp>
        <p:nvSpPr>
          <p:cNvPr id="83" name="Right Arrow 82"/>
          <p:cNvSpPr/>
          <p:nvPr/>
        </p:nvSpPr>
        <p:spPr>
          <a:xfrm>
            <a:off x="2161641" y="4160520"/>
            <a:ext cx="128016" cy="146304"/>
          </a:xfrm>
          <a:prstGeom prst="rightArrow">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2317089" y="3767328"/>
            <a:ext cx="1439265" cy="932688"/>
          </a:xfrm>
          <a:prstGeom prst="rect">
            <a:avLst/>
          </a:prstGeom>
          <a:solidFill>
            <a:srgbClr val="F1F4F7"/>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399385" y="3840480"/>
            <a:ext cx="1274673" cy="804672"/>
          </a:xfrm>
          <a:prstGeom prst="rect">
            <a:avLst/>
          </a:prstGeom>
          <a:noFill/>
        </p:spPr>
        <p:txBody>
          <a:bodyPr wrap="square" lIns="0" rIns="0" tIns="0" bIns="0" anchor="t">
            <a:noAutofit/>
          </a:bodyPr>
          <a:lstStyle/>
          <a:p>
            <a:pPr algn="l">
              <a:spcAft>
                <a:spcPts val="300"/>
              </a:spcAft>
            </a:pPr>
            <a:r>
              <a:rPr sz="1000" b="1">
                <a:solidFill>
                  <a:srgbClr val="143A5A"/>
                </a:solidFill>
                <a:latin typeface="Arial"/>
              </a:rPr>
              <a:t>2  Tile</a:t>
            </a:r>
          </a:p>
          <a:p>
            <a:pPr algn="l">
              <a:spcAft>
                <a:spcPts val="0"/>
              </a:spcAft>
            </a:pPr>
            <a:r>
              <a:rPr sz="900" b="0">
                <a:solidFill>
                  <a:srgbClr val="33414F"/>
                </a:solidFill>
                <a:latin typeface="Arial"/>
              </a:rPr>
              <a:t>64 tiles per frame, so full resolution survives</a:t>
            </a:r>
          </a:p>
        </p:txBody>
      </p:sp>
      <p:sp>
        <p:nvSpPr>
          <p:cNvPr id="86" name="Rounded Rectangle 85"/>
          <p:cNvSpPr/>
          <p:nvPr/>
        </p:nvSpPr>
        <p:spPr>
          <a:xfrm>
            <a:off x="2399385" y="4764024"/>
            <a:ext cx="1274673" cy="192024"/>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900" b="1">
                <a:solidFill>
                  <a:srgbClr val="FFFFFF"/>
                </a:solidFill>
                <a:latin typeface="Arial"/>
              </a:rPr>
              <a:t>BUILT</a:t>
            </a:r>
          </a:p>
        </p:txBody>
      </p:sp>
      <p:sp>
        <p:nvSpPr>
          <p:cNvPr id="87" name="Right Arrow 86"/>
          <p:cNvSpPr/>
          <p:nvPr/>
        </p:nvSpPr>
        <p:spPr>
          <a:xfrm>
            <a:off x="3783787" y="4160520"/>
            <a:ext cx="128016" cy="146304"/>
          </a:xfrm>
          <a:prstGeom prst="rightArrow">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3939235" y="3767328"/>
            <a:ext cx="1439265" cy="932688"/>
          </a:xfrm>
          <a:prstGeom prst="rect">
            <a:avLst/>
          </a:prstGeom>
          <a:solidFill>
            <a:srgbClr val="F1F4F7"/>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021531" y="3840480"/>
            <a:ext cx="1274673" cy="804672"/>
          </a:xfrm>
          <a:prstGeom prst="rect">
            <a:avLst/>
          </a:prstGeom>
          <a:noFill/>
        </p:spPr>
        <p:txBody>
          <a:bodyPr wrap="square" lIns="0" rIns="0" tIns="0" bIns="0" anchor="t">
            <a:noAutofit/>
          </a:bodyPr>
          <a:lstStyle/>
          <a:p>
            <a:pPr algn="l">
              <a:spcAft>
                <a:spcPts val="300"/>
              </a:spcAft>
            </a:pPr>
            <a:r>
              <a:rPr sz="1000" b="1">
                <a:solidFill>
                  <a:srgbClr val="143A5A"/>
                </a:solidFill>
                <a:latin typeface="Arial"/>
              </a:rPr>
              <a:t>3  Detect</a:t>
            </a:r>
          </a:p>
          <a:p>
            <a:pPr algn="l">
              <a:spcAft>
                <a:spcPts val="0"/>
              </a:spcAft>
            </a:pPr>
            <a:r>
              <a:rPr sz="900" b="0">
                <a:solidFill>
                  <a:srgbClr val="33414F"/>
                </a:solidFill>
                <a:latin typeface="Arial"/>
              </a:rPr>
              <a:t>YOLOv8n, 6.22 MB; threshold 0.15 set by a cost model</a:t>
            </a:r>
          </a:p>
        </p:txBody>
      </p:sp>
      <p:sp>
        <p:nvSpPr>
          <p:cNvPr id="90" name="Rounded Rectangle 89"/>
          <p:cNvSpPr/>
          <p:nvPr/>
        </p:nvSpPr>
        <p:spPr>
          <a:xfrm>
            <a:off x="4021531" y="4764024"/>
            <a:ext cx="1274673" cy="192024"/>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900" b="1">
                <a:solidFill>
                  <a:srgbClr val="FFFFFF"/>
                </a:solidFill>
                <a:latin typeface="Arial"/>
              </a:rPr>
              <a:t>BUILT</a:t>
            </a:r>
          </a:p>
        </p:txBody>
      </p:sp>
      <p:sp>
        <p:nvSpPr>
          <p:cNvPr id="91" name="Right Arrow 90"/>
          <p:cNvSpPr/>
          <p:nvPr/>
        </p:nvSpPr>
        <p:spPr>
          <a:xfrm>
            <a:off x="5405932" y="4160520"/>
            <a:ext cx="128016" cy="146304"/>
          </a:xfrm>
          <a:prstGeom prst="rightArrow">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5561380" y="3767328"/>
            <a:ext cx="1439265" cy="932688"/>
          </a:xfrm>
          <a:prstGeom prst="rect">
            <a:avLst/>
          </a:prstGeom>
          <a:solidFill>
            <a:srgbClr val="F1F4F7"/>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643676" y="3840480"/>
            <a:ext cx="1274673" cy="804672"/>
          </a:xfrm>
          <a:prstGeom prst="rect">
            <a:avLst/>
          </a:prstGeom>
          <a:noFill/>
        </p:spPr>
        <p:txBody>
          <a:bodyPr wrap="square" lIns="0" rIns="0" tIns="0" bIns="0" anchor="t">
            <a:noAutofit/>
          </a:bodyPr>
          <a:lstStyle/>
          <a:p>
            <a:pPr algn="l">
              <a:spcAft>
                <a:spcPts val="300"/>
              </a:spcAft>
            </a:pPr>
            <a:r>
              <a:rPr sz="1000" b="1">
                <a:solidFill>
                  <a:srgbClr val="143A5A"/>
                </a:solidFill>
                <a:latin typeface="Arial"/>
              </a:rPr>
              <a:t>4  Decide</a:t>
            </a:r>
          </a:p>
          <a:p>
            <a:pPr algn="l">
              <a:spcAft>
                <a:spcPts val="0"/>
              </a:spcAft>
            </a:pPr>
            <a:r>
              <a:rPr sz="900" b="0">
                <a:solidFill>
                  <a:srgbClr val="33414F"/>
                </a:solidFill>
                <a:latin typeface="Arial"/>
              </a:rPr>
              <a:t>severity 0-100; coil ACCEPT, DOWNGRADE or HOLD</a:t>
            </a:r>
          </a:p>
        </p:txBody>
      </p:sp>
      <p:sp>
        <p:nvSpPr>
          <p:cNvPr id="94" name="Rounded Rectangle 93"/>
          <p:cNvSpPr/>
          <p:nvPr/>
        </p:nvSpPr>
        <p:spPr>
          <a:xfrm>
            <a:off x="5643676" y="4764024"/>
            <a:ext cx="1274673" cy="192024"/>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900" b="1">
                <a:solidFill>
                  <a:srgbClr val="FFFFFF"/>
                </a:solidFill>
                <a:latin typeface="Arial"/>
              </a:rPr>
              <a:t>BUILT</a:t>
            </a:r>
          </a:p>
        </p:txBody>
      </p:sp>
      <p:sp>
        <p:nvSpPr>
          <p:cNvPr id="95" name="Right Arrow 94"/>
          <p:cNvSpPr/>
          <p:nvPr/>
        </p:nvSpPr>
        <p:spPr>
          <a:xfrm>
            <a:off x="7028078" y="4160520"/>
            <a:ext cx="128016" cy="146304"/>
          </a:xfrm>
          <a:prstGeom prst="rightArrow">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7183526" y="3767328"/>
            <a:ext cx="1439265" cy="932688"/>
          </a:xfrm>
          <a:prstGeom prst="rect">
            <a:avLst/>
          </a:prstGeom>
          <a:solidFill>
            <a:srgbClr val="F1F4F7"/>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7265822" y="3840480"/>
            <a:ext cx="1274673" cy="804672"/>
          </a:xfrm>
          <a:prstGeom prst="rect">
            <a:avLst/>
          </a:prstGeom>
          <a:noFill/>
        </p:spPr>
        <p:txBody>
          <a:bodyPr wrap="square" lIns="0" rIns="0" tIns="0" bIns="0" anchor="t">
            <a:noAutofit/>
          </a:bodyPr>
          <a:lstStyle/>
          <a:p>
            <a:pPr algn="l">
              <a:spcAft>
                <a:spcPts val="300"/>
              </a:spcAft>
            </a:pPr>
            <a:r>
              <a:rPr sz="1000" b="1">
                <a:solidFill>
                  <a:srgbClr val="143A5A"/>
                </a:solidFill>
                <a:latin typeface="Arial"/>
              </a:rPr>
              <a:t>5  Act</a:t>
            </a:r>
          </a:p>
          <a:p>
            <a:pPr algn="l">
              <a:spcAft>
                <a:spcPts val="0"/>
              </a:spcAft>
            </a:pPr>
            <a:r>
              <a:rPr sz="900" b="0">
                <a:solidFill>
                  <a:srgbClr val="33414F"/>
                </a:solidFill>
                <a:latin typeface="Arial"/>
              </a:rPr>
              <a:t>HMI alert, PLC hold, MES record with root cause</a:t>
            </a:r>
          </a:p>
        </p:txBody>
      </p:sp>
      <p:sp>
        <p:nvSpPr>
          <p:cNvPr id="98" name="Rounded Rectangle 97"/>
          <p:cNvSpPr/>
          <p:nvPr/>
        </p:nvSpPr>
        <p:spPr>
          <a:xfrm>
            <a:off x="7265822" y="4764024"/>
            <a:ext cx="1274673" cy="192024"/>
          </a:xfrm>
          <a:prstGeom prst="roundRect">
            <a:avLst>
              <a:gd name="adj" fmla="val 50000"/>
            </a:avLst>
          </a:prstGeom>
          <a:solidFill>
            <a:srgbClr val="B77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900" b="1">
                <a:solidFill>
                  <a:srgbClr val="FFFFFF"/>
                </a:solidFill>
                <a:latin typeface="Arial"/>
              </a:rPr>
              <a:t>TO BUILD</a:t>
            </a:r>
          </a:p>
        </p:txBody>
      </p:sp>
      <p:sp>
        <p:nvSpPr>
          <p:cNvPr id="99" name="TextBox 98"/>
          <p:cNvSpPr txBox="1"/>
          <p:nvPr/>
        </p:nvSpPr>
        <p:spPr>
          <a:xfrm>
            <a:off x="694944" y="5065776"/>
            <a:ext cx="7927848" cy="164592"/>
          </a:xfrm>
          <a:prstGeom prst="rect">
            <a:avLst/>
          </a:prstGeom>
          <a:noFill/>
        </p:spPr>
        <p:txBody>
          <a:bodyPr wrap="square" lIns="0" rIns="0" tIns="0" bIns="0" anchor="t">
            <a:noAutofit/>
          </a:bodyPr>
          <a:lstStyle/>
          <a:p>
            <a:pPr algn="l">
              <a:spcAft>
                <a:spcPts val="0"/>
              </a:spcAft>
            </a:pPr>
            <a:r>
              <a:rPr sz="900" b="1">
                <a:solidFill>
                  <a:srgbClr val="5F6B78"/>
                </a:solidFill>
                <a:latin typeface="Arial"/>
              </a:rPr>
              <a:t>EVERY DEFECT RETURNS</a:t>
            </a:r>
          </a:p>
        </p:txBody>
      </p:sp>
      <p:sp>
        <p:nvSpPr>
          <p:cNvPr id="100" name="Rounded Rectangle 99"/>
          <p:cNvSpPr/>
          <p:nvPr/>
        </p:nvSpPr>
        <p:spPr>
          <a:xfrm>
            <a:off x="694944" y="5266944"/>
            <a:ext cx="1512417" cy="274320"/>
          </a:xfrm>
          <a:prstGeom prst="roundRect">
            <a:avLst>
              <a:gd name="adj" fmla="val 25000"/>
            </a:avLst>
          </a:prstGeom>
          <a:solidFill>
            <a:srgbClr val="FFFFFF"/>
          </a:solidFill>
          <a:ln w="9525">
            <a:solidFill>
              <a:srgbClr val="0086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noAutofit/>
          </a:bodyPr>
          <a:lstStyle/>
          <a:p>
            <a:pPr algn="ctr"/>
            <a:r>
              <a:rPr sz="900" b="1">
                <a:solidFill>
                  <a:srgbClr val="143A5A"/>
                </a:solidFill>
                <a:latin typeface="Arial"/>
              </a:rPr>
              <a:t>Bounding box</a:t>
            </a:r>
          </a:p>
        </p:txBody>
      </p:sp>
      <p:sp>
        <p:nvSpPr>
          <p:cNvPr id="101" name="Rounded Rectangle 100"/>
          <p:cNvSpPr/>
          <p:nvPr/>
        </p:nvSpPr>
        <p:spPr>
          <a:xfrm>
            <a:off x="2298801" y="5266944"/>
            <a:ext cx="1512417" cy="274320"/>
          </a:xfrm>
          <a:prstGeom prst="roundRect">
            <a:avLst>
              <a:gd name="adj" fmla="val 25000"/>
            </a:avLst>
          </a:prstGeom>
          <a:solidFill>
            <a:srgbClr val="FFFFFF"/>
          </a:solidFill>
          <a:ln w="9525">
            <a:solidFill>
              <a:srgbClr val="0086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noAutofit/>
          </a:bodyPr>
          <a:lstStyle/>
          <a:p>
            <a:pPr algn="ctr"/>
            <a:r>
              <a:rPr sz="900" b="1">
                <a:solidFill>
                  <a:srgbClr val="143A5A"/>
                </a:solidFill>
                <a:latin typeface="Arial"/>
              </a:rPr>
              <a:t>Defect type</a:t>
            </a:r>
          </a:p>
        </p:txBody>
      </p:sp>
      <p:sp>
        <p:nvSpPr>
          <p:cNvPr id="102" name="Rounded Rectangle 101"/>
          <p:cNvSpPr/>
          <p:nvPr/>
        </p:nvSpPr>
        <p:spPr>
          <a:xfrm>
            <a:off x="3902659" y="5266944"/>
            <a:ext cx="1512417" cy="274320"/>
          </a:xfrm>
          <a:prstGeom prst="roundRect">
            <a:avLst>
              <a:gd name="adj" fmla="val 25000"/>
            </a:avLst>
          </a:prstGeom>
          <a:solidFill>
            <a:srgbClr val="FFFFFF"/>
          </a:solidFill>
          <a:ln w="9525">
            <a:solidFill>
              <a:srgbClr val="0086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noAutofit/>
          </a:bodyPr>
          <a:lstStyle/>
          <a:p>
            <a:pPr algn="ctr"/>
            <a:r>
              <a:rPr sz="900" b="1">
                <a:solidFill>
                  <a:srgbClr val="143A5A"/>
                </a:solidFill>
                <a:latin typeface="Arial"/>
              </a:rPr>
              <a:t>Calibrated confidence</a:t>
            </a:r>
          </a:p>
        </p:txBody>
      </p:sp>
      <p:sp>
        <p:nvSpPr>
          <p:cNvPr id="103" name="Rounded Rectangle 102"/>
          <p:cNvSpPr/>
          <p:nvPr/>
        </p:nvSpPr>
        <p:spPr>
          <a:xfrm>
            <a:off x="5506516" y="5266944"/>
            <a:ext cx="1512417" cy="274320"/>
          </a:xfrm>
          <a:prstGeom prst="roundRect">
            <a:avLst>
              <a:gd name="adj" fmla="val 25000"/>
            </a:avLst>
          </a:prstGeom>
          <a:solidFill>
            <a:srgbClr val="FFFFFF"/>
          </a:solidFill>
          <a:ln w="9525">
            <a:solidFill>
              <a:srgbClr val="0086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noAutofit/>
          </a:bodyPr>
          <a:lstStyle/>
          <a:p>
            <a:pPr algn="ctr"/>
            <a:r>
              <a:rPr sz="900" b="1">
                <a:solidFill>
                  <a:srgbClr val="143A5A"/>
                </a:solidFill>
                <a:latin typeface="Arial"/>
              </a:rPr>
              <a:t>Severity 0-100</a:t>
            </a:r>
          </a:p>
        </p:txBody>
      </p:sp>
      <p:sp>
        <p:nvSpPr>
          <p:cNvPr id="104" name="Rounded Rectangle 103"/>
          <p:cNvSpPr/>
          <p:nvPr/>
        </p:nvSpPr>
        <p:spPr>
          <a:xfrm>
            <a:off x="7110374" y="5266944"/>
            <a:ext cx="1512417" cy="274320"/>
          </a:xfrm>
          <a:prstGeom prst="roundRect">
            <a:avLst>
              <a:gd name="adj" fmla="val 25000"/>
            </a:avLst>
          </a:prstGeom>
          <a:solidFill>
            <a:srgbClr val="FFFFFF"/>
          </a:solidFill>
          <a:ln w="9525">
            <a:solidFill>
              <a:srgbClr val="0086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noAutofit/>
          </a:bodyPr>
          <a:lstStyle/>
          <a:p>
            <a:pPr algn="ctr"/>
            <a:r>
              <a:rPr sz="900" b="1">
                <a:solidFill>
                  <a:srgbClr val="143A5A"/>
                </a:solidFill>
                <a:latin typeface="Arial"/>
              </a:rPr>
              <a:t>Root cause and fix</a:t>
            </a:r>
          </a:p>
        </p:txBody>
      </p:sp>
      <p:sp>
        <p:nvSpPr>
          <p:cNvPr id="105" name="TextBox 104"/>
          <p:cNvSpPr txBox="1"/>
          <p:nvPr/>
        </p:nvSpPr>
        <p:spPr>
          <a:xfrm>
            <a:off x="694944" y="5614416"/>
            <a:ext cx="7927848" cy="182880"/>
          </a:xfrm>
          <a:prstGeom prst="rect">
            <a:avLst/>
          </a:prstGeom>
          <a:noFill/>
        </p:spPr>
        <p:txBody>
          <a:bodyPr wrap="square" lIns="0" rIns="0" tIns="0" bIns="0" anchor="t">
            <a:noAutofit/>
          </a:bodyPr>
          <a:lstStyle/>
          <a:p>
            <a:pPr algn="l">
              <a:spcAft>
                <a:spcPts val="0"/>
              </a:spcAft>
            </a:pPr>
            <a:r>
              <a:rPr sz="900" b="0">
                <a:solidFill>
                  <a:srgbClr val="33414F"/>
                </a:solidFill>
                <a:latin typeface="Arial"/>
              </a:rPr>
              <a:t>Closed loop (proposed): operator overrides feed active learning; a per-line retrain takes 0.6 h.</a:t>
            </a:r>
          </a:p>
        </p:txBody>
      </p:sp>
      <p:sp>
        <p:nvSpPr>
          <p:cNvPr id="106" name="Rectangle 105"/>
          <p:cNvSpPr/>
          <p:nvPr/>
        </p:nvSpPr>
        <p:spPr>
          <a:xfrm>
            <a:off x="8860535" y="3401568"/>
            <a:ext cx="3008376" cy="2560319"/>
          </a:xfrm>
          <a:prstGeom prst="rect">
            <a:avLst/>
          </a:prstGeom>
          <a:solidFill>
            <a:srgbClr val="FFFFFF"/>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8860535" y="3401568"/>
            <a:ext cx="3008376" cy="274320"/>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8970263" y="3442716"/>
            <a:ext cx="720109" cy="201168"/>
          </a:xfrm>
          <a:prstGeom prst="rect">
            <a:avLst/>
          </a:prstGeom>
          <a:noFill/>
        </p:spPr>
        <p:txBody>
          <a:bodyPr wrap="square" lIns="0" rIns="0" tIns="0" bIns="0" anchor="t">
            <a:noAutofit/>
          </a:bodyPr>
          <a:lstStyle/>
          <a:p>
            <a:pPr algn="l">
              <a:spcAft>
                <a:spcPts val="0"/>
              </a:spcAft>
            </a:pPr>
            <a:r>
              <a:rPr sz="1050" b="1">
                <a:solidFill>
                  <a:srgbClr val="FFFFFF"/>
                </a:solidFill>
                <a:latin typeface="Arial"/>
              </a:rPr>
              <a:t>Live Demo</a:t>
            </a:r>
          </a:p>
        </p:txBody>
      </p:sp>
      <p:sp>
        <p:nvSpPr>
          <p:cNvPr id="109" name="TextBox 108"/>
          <p:cNvSpPr txBox="1"/>
          <p:nvPr/>
        </p:nvSpPr>
        <p:spPr>
          <a:xfrm>
            <a:off x="9873253" y="3456432"/>
            <a:ext cx="1885930" cy="182880"/>
          </a:xfrm>
          <a:prstGeom prst="rect">
            <a:avLst/>
          </a:prstGeom>
          <a:noFill/>
        </p:spPr>
        <p:txBody>
          <a:bodyPr wrap="square" lIns="0" rIns="0" tIns="0" bIns="0" anchor="t">
            <a:noAutofit/>
          </a:bodyPr>
          <a:lstStyle/>
          <a:p>
            <a:pPr algn="r">
              <a:spcAft>
                <a:spcPts val="0"/>
              </a:spcAft>
            </a:pPr>
            <a:r>
              <a:rPr sz="900" b="0">
                <a:solidFill>
                  <a:srgbClr val="BFD2E2"/>
                </a:solidFill>
                <a:latin typeface="Arial"/>
              </a:rPr>
              <a:t>checked 13 Sep 2026</a:t>
            </a:r>
          </a:p>
        </p:txBody>
      </p:sp>
      <p:pic>
        <p:nvPicPr>
          <p:cNvPr id="110" name="Picture 109" descr="fig7_live_demo_qr.png"/>
          <p:cNvPicPr>
            <a:picLocks noChangeAspect="1"/>
          </p:cNvPicPr>
          <p:nvPr/>
        </p:nvPicPr>
        <p:blipFill>
          <a:blip r:embed="rId2"/>
          <a:stretch>
            <a:fillRect/>
          </a:stretch>
        </p:blipFill>
        <p:spPr>
          <a:xfrm>
            <a:off x="9806940" y="3767328"/>
            <a:ext cx="1115568" cy="1115568"/>
          </a:xfrm>
          <a:prstGeom prst="rect">
            <a:avLst/>
          </a:prstGeom>
        </p:spPr>
      </p:pic>
      <p:sp>
        <p:nvSpPr>
          <p:cNvPr id="111" name="TextBox 110"/>
          <p:cNvSpPr txBox="1"/>
          <p:nvPr/>
        </p:nvSpPr>
        <p:spPr>
          <a:xfrm>
            <a:off x="8988551" y="4937759"/>
            <a:ext cx="2752344" cy="932687"/>
          </a:xfrm>
          <a:prstGeom prst="rect">
            <a:avLst/>
          </a:prstGeom>
          <a:noFill/>
        </p:spPr>
        <p:txBody>
          <a:bodyPr wrap="square" lIns="0" rIns="0" tIns="0" bIns="0" anchor="t">
            <a:noAutofit/>
          </a:bodyPr>
          <a:lstStyle/>
          <a:p>
            <a:pPr algn="ctr">
              <a:spcAft>
                <a:spcPts val="400"/>
              </a:spcAft>
            </a:pPr>
            <a:r>
              <a:rPr sz="1050" b="1">
                <a:solidFill>
                  <a:srgbClr val="143A5A"/>
                </a:solidFill>
                <a:latin typeface="Arial"/>
              </a:rPr>
              <a:t>surface-vision.github.io</a:t>
            </a:r>
          </a:p>
          <a:p>
            <a:pPr algn="ctr">
              <a:spcAft>
                <a:spcPts val="100"/>
              </a:spcAft>
            </a:pPr>
            <a:r>
              <a:rPr sz="900" b="0">
                <a:solidFill>
                  <a:srgbClr val="33414F"/>
                </a:solidFill>
                <a:latin typeface="Arial"/>
              </a:rPr>
              <a:t>Upload a strip image</a:t>
            </a:r>
          </a:p>
          <a:p>
            <a:pPr algn="ctr">
              <a:spcAft>
                <a:spcPts val="100"/>
              </a:spcAft>
            </a:pPr>
            <a:r>
              <a:rPr sz="900" b="0">
                <a:solidFill>
                  <a:srgbClr val="33414F"/>
                </a:solidFill>
                <a:latin typeface="Arial"/>
              </a:rPr>
              <a:t>Box, type, confidence, severity</a:t>
            </a:r>
          </a:p>
          <a:p>
            <a:pPr algn="ctr">
              <a:spcAft>
                <a:spcPts val="100"/>
              </a:spcAft>
            </a:pPr>
            <a:r>
              <a:rPr sz="900" b="0">
                <a:solidFill>
                  <a:srgbClr val="33414F"/>
                </a:solidFill>
                <a:latin typeface="Arial"/>
              </a:rPr>
              <a:t>30-50 ms per frame on CPU</a:t>
            </a:r>
          </a:p>
          <a:p>
            <a:pPr algn="ctr">
              <a:spcAft>
                <a:spcPts val="0"/>
              </a:spcAft>
            </a:pPr>
            <a:r>
              <a:rPr sz="900" b="0">
                <a:solidFill>
                  <a:srgbClr val="33414F"/>
                </a:solidFill>
                <a:latin typeface="Arial"/>
              </a:rPr>
              <a:t>No image leaves the browser</a:t>
            </a:r>
          </a:p>
        </p:txBody>
      </p:sp>
      <p:sp>
        <p:nvSpPr>
          <p:cNvPr id="112" name="Rectangle 111"/>
          <p:cNvSpPr/>
          <p:nvPr/>
        </p:nvSpPr>
        <p:spPr>
          <a:xfrm>
            <a:off x="566928" y="6053328"/>
            <a:ext cx="11301984" cy="603504"/>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566928" y="6053328"/>
            <a:ext cx="82296" cy="603504"/>
          </a:xfrm>
          <a:prstGeom prst="rect">
            <a:avLst/>
          </a:prstGeom>
          <a:solidFill>
            <a:srgbClr val="008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841247" y="6108192"/>
            <a:ext cx="10799064" cy="493776"/>
          </a:xfrm>
          <a:prstGeom prst="rect">
            <a:avLst/>
          </a:prstGeom>
          <a:noFill/>
        </p:spPr>
        <p:txBody>
          <a:bodyPr wrap="square" lIns="0" rIns="0" tIns="0" bIns="0" anchor="ctr">
            <a:noAutofit/>
          </a:bodyPr>
          <a:lstStyle/>
          <a:p>
            <a:pPr algn="l">
              <a:spcAft>
                <a:spcPts val="0"/>
              </a:spcAft>
            </a:pPr>
            <a:r>
              <a:rPr sz="1200" b="1">
                <a:solidFill>
                  <a:srgbClr val="FFFFFF"/>
                </a:solidFill>
                <a:latin typeface="Arial"/>
              </a:rPr>
              <a:t>Late, sampled inspection is the cost. A 6 MB detector that classifies every defect at line speed and names its process owner is the fix, and it already runs live.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66928" y="530352"/>
            <a:ext cx="10387584" cy="438912"/>
          </a:xfrm>
        </p:spPr>
        <p:txBody>
          <a:bodyPr wrap="square" lIns="0" rIns="0" tIns="0" bIns="0" anchor="ctr">
            <a:noAutofit/>
          </a:bodyPr>
          <a:lstStyle/>
          <a:p>
            <a:pPr algn="l"/>
            <a:r>
              <a:rPr sz="2000" b="1">
                <a:solidFill>
                  <a:srgbClr val="141C24"/>
                </a:solidFill>
                <a:latin typeface="Arial"/>
              </a:rPr>
              <a:t>Does it meet the brief, and what should Jindal do first?</a:t>
            </a:r>
          </a:p>
        </p:txBody>
      </p:sp>
      <p:sp>
        <p:nvSpPr>
          <p:cNvPr id="3" name="Rectangle 2"/>
          <p:cNvSpPr/>
          <p:nvPr/>
        </p:nvSpPr>
        <p:spPr>
          <a:xfrm>
            <a:off x="0" y="0"/>
            <a:ext cx="12191695" cy="420624"/>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82296"/>
            <a:ext cx="946126" cy="256032"/>
          </a:xfrm>
          <a:prstGeom prst="roundRect">
            <a:avLst>
              <a:gd name="adj" fmla="val 30000"/>
            </a:avLst>
          </a:prstGeom>
          <a:solidFill>
            <a:srgbClr val="2B5B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noAutofit/>
          </a:bodyPr>
          <a:lstStyle/>
          <a:p>
            <a:pPr algn="ctr"/>
            <a:r>
              <a:rPr sz="950" b="1">
                <a:solidFill>
                  <a:srgbClr val="BFD2E2"/>
                </a:solidFill>
                <a:latin typeface="Arial"/>
              </a:rPr>
              <a:t>1  Problem</a:t>
            </a:r>
          </a:p>
        </p:txBody>
      </p:sp>
      <p:sp>
        <p:nvSpPr>
          <p:cNvPr id="5" name="Rounded Rectangle 4"/>
          <p:cNvSpPr/>
          <p:nvPr/>
        </p:nvSpPr>
        <p:spPr>
          <a:xfrm>
            <a:off x="1586206" y="82296"/>
            <a:ext cx="945977" cy="256032"/>
          </a:xfrm>
          <a:prstGeom prst="roundRect">
            <a:avLst>
              <a:gd name="adj" fmla="val 30000"/>
            </a:avLst>
          </a:prstGeom>
          <a:solidFill>
            <a:srgbClr val="2B5B8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noAutofit/>
          </a:bodyPr>
          <a:lstStyle/>
          <a:p>
            <a:pPr algn="ctr"/>
            <a:r>
              <a:rPr sz="950" b="1">
                <a:solidFill>
                  <a:srgbClr val="BFD2E2"/>
                </a:solidFill>
                <a:latin typeface="Arial"/>
              </a:rPr>
              <a:t>2  Solution</a:t>
            </a:r>
          </a:p>
        </p:txBody>
      </p:sp>
      <p:sp>
        <p:nvSpPr>
          <p:cNvPr id="6" name="Rounded Rectangle 5"/>
          <p:cNvSpPr/>
          <p:nvPr/>
        </p:nvSpPr>
        <p:spPr>
          <a:xfrm>
            <a:off x="2605335" y="82296"/>
            <a:ext cx="1033389" cy="256032"/>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noAutofit/>
          </a:bodyPr>
          <a:lstStyle/>
          <a:p>
            <a:pPr algn="ctr"/>
            <a:r>
              <a:rPr sz="950" b="1">
                <a:solidFill>
                  <a:srgbClr val="143A5A"/>
                </a:solidFill>
                <a:latin typeface="Arial"/>
              </a:rPr>
              <a:t>3  Validation</a:t>
            </a:r>
          </a:p>
        </p:txBody>
      </p:sp>
      <p:sp>
        <p:nvSpPr>
          <p:cNvPr id="7" name="Rounded Rectangle 6"/>
          <p:cNvSpPr/>
          <p:nvPr/>
        </p:nvSpPr>
        <p:spPr>
          <a:xfrm>
            <a:off x="3711876" y="82296"/>
            <a:ext cx="1603400" cy="256032"/>
          </a:xfrm>
          <a:prstGeom prst="roundRect">
            <a:avLst>
              <a:gd name="adj" fmla="val 3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noAutofit/>
          </a:bodyPr>
          <a:lstStyle/>
          <a:p>
            <a:pPr algn="ctr"/>
            <a:r>
              <a:rPr sz="950" b="1">
                <a:solidFill>
                  <a:srgbClr val="143A5A"/>
                </a:solidFill>
                <a:latin typeface="Arial"/>
              </a:rPr>
              <a:t>4  Roadmap and value</a:t>
            </a:r>
          </a:p>
        </p:txBody>
      </p:sp>
      <p:sp>
        <p:nvSpPr>
          <p:cNvPr id="8" name="TextBox 7"/>
          <p:cNvSpPr txBox="1"/>
          <p:nvPr/>
        </p:nvSpPr>
        <p:spPr>
          <a:xfrm>
            <a:off x="5571309" y="118872"/>
            <a:ext cx="6297602" cy="201168"/>
          </a:xfrm>
          <a:prstGeom prst="rect">
            <a:avLst/>
          </a:prstGeom>
          <a:noFill/>
        </p:spPr>
        <p:txBody>
          <a:bodyPr wrap="square" lIns="0" rIns="0" tIns="0" bIns="0" anchor="t">
            <a:noAutofit/>
          </a:bodyPr>
          <a:lstStyle/>
          <a:p>
            <a:pPr algn="r">
              <a:spcAft>
                <a:spcPts val="0"/>
              </a:spcAft>
            </a:pPr>
            <a:r>
              <a:rPr sz="900" b="1">
                <a:solidFill>
                  <a:srgbClr val="BFD2E2"/>
                </a:solidFill>
                <a:latin typeface="Arial"/>
              </a:rPr>
              <a:t>JINDAL STAINLESS  |  PS1  |  </a:t>
            </a:r>
            <a:r>
              <a:rPr sz="900" b="1">
                <a:solidFill>
                  <a:srgbClr val="FFFFFF"/>
                </a:solidFill>
                <a:latin typeface="Arial"/>
              </a:rPr>
              <a:t>Futuristic</a:t>
            </a:r>
          </a:p>
        </p:txBody>
      </p:sp>
      <p:sp>
        <p:nvSpPr>
          <p:cNvPr id="9" name="Rectangle 8"/>
          <p:cNvSpPr/>
          <p:nvPr/>
        </p:nvSpPr>
        <p:spPr>
          <a:xfrm>
            <a:off x="164592" y="548640"/>
            <a:ext cx="274320" cy="6108192"/>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rot="16200000">
            <a:off x="-2752344" y="3465576"/>
            <a:ext cx="6108192" cy="274320"/>
          </a:xfrm>
          <a:prstGeom prst="rect">
            <a:avLst/>
          </a:prstGeom>
          <a:noFill/>
        </p:spPr>
        <p:txBody>
          <a:bodyPr wrap="none" lIns="0" rIns="0" tIns="0" bIns="0" anchor="ctr">
            <a:spAutoFit/>
          </a:bodyPr>
          <a:lstStyle/>
          <a:p>
            <a:pPr algn="ctr"/>
            <a:r>
              <a:rPr sz="1000" b="1">
                <a:solidFill>
                  <a:srgbClr val="143A5A"/>
                </a:solidFill>
                <a:latin typeface="Arial"/>
              </a:rPr>
              <a:t>PROOF AND ROLLOUT</a:t>
            </a:r>
          </a:p>
        </p:txBody>
      </p:sp>
      <p:sp>
        <p:nvSpPr>
          <p:cNvPr id="11" name="TextBox 10"/>
          <p:cNvSpPr txBox="1"/>
          <p:nvPr/>
        </p:nvSpPr>
        <p:spPr>
          <a:xfrm>
            <a:off x="11045952" y="640080"/>
            <a:ext cx="822960" cy="219456"/>
          </a:xfrm>
          <a:prstGeom prst="rect">
            <a:avLst/>
          </a:prstGeom>
          <a:noFill/>
        </p:spPr>
        <p:txBody>
          <a:bodyPr wrap="square" lIns="0" rIns="0" tIns="0" bIns="0" anchor="t">
            <a:noAutofit/>
          </a:bodyPr>
          <a:lstStyle/>
          <a:p>
            <a:pPr algn="r">
              <a:spcAft>
                <a:spcPts val="0"/>
              </a:spcAft>
            </a:pPr>
            <a:r>
              <a:rPr sz="900" b="1">
                <a:solidFill>
                  <a:srgbClr val="5F6B78"/>
                </a:solidFill>
                <a:latin typeface="Arial"/>
              </a:rPr>
              <a:t>2 / 2</a:t>
            </a:r>
          </a:p>
        </p:txBody>
      </p:sp>
      <p:sp>
        <p:nvSpPr>
          <p:cNvPr id="12" name="Rectangle 11"/>
          <p:cNvSpPr/>
          <p:nvPr/>
        </p:nvSpPr>
        <p:spPr>
          <a:xfrm>
            <a:off x="566928" y="1078992"/>
            <a:ext cx="7086600" cy="2670048"/>
          </a:xfrm>
          <a:prstGeom prst="rect">
            <a:avLst/>
          </a:prstGeom>
          <a:solidFill>
            <a:srgbClr val="FFFFFF"/>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1078992"/>
            <a:ext cx="7086600" cy="274320"/>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 y="1120139"/>
            <a:ext cx="1797079" cy="201168"/>
          </a:xfrm>
          <a:prstGeom prst="rect">
            <a:avLst/>
          </a:prstGeom>
          <a:noFill/>
        </p:spPr>
        <p:txBody>
          <a:bodyPr wrap="square" lIns="0" rIns="0" tIns="0" bIns="0" anchor="t">
            <a:noAutofit/>
          </a:bodyPr>
          <a:lstStyle/>
          <a:p>
            <a:pPr algn="l">
              <a:spcAft>
                <a:spcPts val="0"/>
              </a:spcAft>
            </a:pPr>
            <a:r>
              <a:rPr sz="1050" b="1">
                <a:solidFill>
                  <a:srgbClr val="FFFFFF"/>
                </a:solidFill>
                <a:latin typeface="Arial"/>
              </a:rPr>
              <a:t>Scorecard Against the Brief</a:t>
            </a:r>
          </a:p>
        </p:txBody>
      </p:sp>
      <p:sp>
        <p:nvSpPr>
          <p:cNvPr id="15" name="TextBox 14"/>
          <p:cNvSpPr txBox="1"/>
          <p:nvPr/>
        </p:nvSpPr>
        <p:spPr>
          <a:xfrm>
            <a:off x="2656615" y="1133856"/>
            <a:ext cx="4887184" cy="182880"/>
          </a:xfrm>
          <a:prstGeom prst="rect">
            <a:avLst/>
          </a:prstGeom>
          <a:noFill/>
        </p:spPr>
        <p:txBody>
          <a:bodyPr wrap="square" lIns="0" rIns="0" tIns="0" bIns="0" anchor="t">
            <a:noAutofit/>
          </a:bodyPr>
          <a:lstStyle/>
          <a:p>
            <a:pPr algn="r">
              <a:spcAft>
                <a:spcPts val="0"/>
              </a:spcAft>
            </a:pPr>
            <a:r>
              <a:rPr sz="900" b="0">
                <a:solidFill>
                  <a:srgbClr val="BFD2E2"/>
                </a:solidFill>
                <a:latin typeface="Arial"/>
              </a:rPr>
              <a:t>reports/*.json, exec_summary_checks.json</a:t>
            </a:r>
          </a:p>
        </p:txBody>
      </p:sp>
      <p:sp>
        <p:nvSpPr>
          <p:cNvPr id="16" name="TextBox 15"/>
          <p:cNvSpPr txBox="1"/>
          <p:nvPr/>
        </p:nvSpPr>
        <p:spPr>
          <a:xfrm>
            <a:off x="694944" y="1444752"/>
            <a:ext cx="1316736" cy="164592"/>
          </a:xfrm>
          <a:prstGeom prst="rect">
            <a:avLst/>
          </a:prstGeom>
          <a:noFill/>
        </p:spPr>
        <p:txBody>
          <a:bodyPr wrap="square" lIns="0" rIns="0" tIns="0" bIns="0" anchor="t">
            <a:noAutofit/>
          </a:bodyPr>
          <a:lstStyle/>
          <a:p>
            <a:pPr algn="l">
              <a:spcAft>
                <a:spcPts val="0"/>
              </a:spcAft>
            </a:pPr>
            <a:r>
              <a:rPr sz="900" b="1">
                <a:solidFill>
                  <a:srgbClr val="5F6B78"/>
                </a:solidFill>
                <a:latin typeface="Arial"/>
              </a:rPr>
              <a:t>CONSIDERATION</a:t>
            </a:r>
          </a:p>
        </p:txBody>
      </p:sp>
      <p:sp>
        <p:nvSpPr>
          <p:cNvPr id="17" name="TextBox 16"/>
          <p:cNvSpPr txBox="1"/>
          <p:nvPr/>
        </p:nvSpPr>
        <p:spPr>
          <a:xfrm>
            <a:off x="2066543" y="1444752"/>
            <a:ext cx="3648456" cy="164592"/>
          </a:xfrm>
          <a:prstGeom prst="rect">
            <a:avLst/>
          </a:prstGeom>
          <a:noFill/>
        </p:spPr>
        <p:txBody>
          <a:bodyPr wrap="square" lIns="0" rIns="0" tIns="0" bIns="0" anchor="t">
            <a:noAutofit/>
          </a:bodyPr>
          <a:lstStyle/>
          <a:p>
            <a:pPr algn="l">
              <a:spcAft>
                <a:spcPts val="0"/>
              </a:spcAft>
            </a:pPr>
            <a:r>
              <a:rPr sz="900" b="1">
                <a:solidFill>
                  <a:srgbClr val="5F6B78"/>
                </a:solidFill>
                <a:latin typeface="Arial"/>
              </a:rPr>
              <a:t>EVIDENCE, HELD-OUT DATA</a:t>
            </a:r>
          </a:p>
        </p:txBody>
      </p:sp>
      <p:sp>
        <p:nvSpPr>
          <p:cNvPr id="18" name="TextBox 17"/>
          <p:cNvSpPr txBox="1"/>
          <p:nvPr/>
        </p:nvSpPr>
        <p:spPr>
          <a:xfrm>
            <a:off x="5769864" y="1444752"/>
            <a:ext cx="731520" cy="164592"/>
          </a:xfrm>
          <a:prstGeom prst="rect">
            <a:avLst/>
          </a:prstGeom>
          <a:noFill/>
        </p:spPr>
        <p:txBody>
          <a:bodyPr wrap="square" lIns="0" rIns="0" tIns="0" bIns="0" anchor="t">
            <a:noAutofit/>
          </a:bodyPr>
          <a:lstStyle/>
          <a:p>
            <a:pPr algn="ctr">
              <a:spcAft>
                <a:spcPts val="0"/>
              </a:spcAft>
            </a:pPr>
            <a:r>
              <a:rPr sz="900" b="1">
                <a:solidFill>
                  <a:srgbClr val="5F6B78"/>
                </a:solidFill>
                <a:latin typeface="Arial"/>
              </a:rPr>
              <a:t>STATUS</a:t>
            </a:r>
          </a:p>
        </p:txBody>
      </p:sp>
      <p:sp>
        <p:nvSpPr>
          <p:cNvPr id="19" name="TextBox 18"/>
          <p:cNvSpPr txBox="1"/>
          <p:nvPr/>
        </p:nvSpPr>
        <p:spPr>
          <a:xfrm>
            <a:off x="6556248" y="1444752"/>
            <a:ext cx="914399" cy="164592"/>
          </a:xfrm>
          <a:prstGeom prst="rect">
            <a:avLst/>
          </a:prstGeom>
          <a:noFill/>
        </p:spPr>
        <p:txBody>
          <a:bodyPr wrap="square" lIns="0" rIns="0" tIns="0" bIns="0" anchor="t">
            <a:noAutofit/>
          </a:bodyPr>
          <a:lstStyle/>
          <a:p>
            <a:pPr algn="l">
              <a:spcAft>
                <a:spcPts val="0"/>
              </a:spcAft>
            </a:pPr>
            <a:r>
              <a:rPr sz="900" b="1">
                <a:solidFill>
                  <a:srgbClr val="5F6B78"/>
                </a:solidFill>
                <a:latin typeface="Arial"/>
              </a:rPr>
              <a:t>NEXT STEP</a:t>
            </a:r>
          </a:p>
        </p:txBody>
      </p:sp>
      <p:sp>
        <p:nvSpPr>
          <p:cNvPr id="20" name="Rectangle 19"/>
          <p:cNvSpPr/>
          <p:nvPr/>
        </p:nvSpPr>
        <p:spPr>
          <a:xfrm>
            <a:off x="694944" y="1627632"/>
            <a:ext cx="6830568" cy="9525"/>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94944" y="1664208"/>
            <a:ext cx="6830568" cy="329184"/>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1691640"/>
            <a:ext cx="1280160" cy="310896"/>
          </a:xfrm>
          <a:prstGeom prst="rect">
            <a:avLst/>
          </a:prstGeom>
          <a:noFill/>
        </p:spPr>
        <p:txBody>
          <a:bodyPr wrap="square" lIns="0" rIns="0" tIns="0" bIns="0" anchor="t">
            <a:noAutofit/>
          </a:bodyPr>
          <a:lstStyle/>
          <a:p>
            <a:pPr algn="l">
              <a:spcAft>
                <a:spcPts val="0"/>
              </a:spcAft>
            </a:pPr>
            <a:r>
              <a:rPr sz="900" b="1">
                <a:solidFill>
                  <a:srgbClr val="141C24"/>
                </a:solidFill>
                <a:latin typeface="Arial"/>
              </a:rPr>
              <a:t>Detection accuracy</a:t>
            </a:r>
          </a:p>
        </p:txBody>
      </p:sp>
      <p:sp>
        <p:nvSpPr>
          <p:cNvPr id="23" name="TextBox 22"/>
          <p:cNvSpPr txBox="1"/>
          <p:nvPr/>
        </p:nvSpPr>
        <p:spPr>
          <a:xfrm>
            <a:off x="2066543" y="1691640"/>
            <a:ext cx="3611879" cy="310896"/>
          </a:xfrm>
          <a:prstGeom prst="rect">
            <a:avLst/>
          </a:prstGeom>
          <a:noFill/>
        </p:spPr>
        <p:txBody>
          <a:bodyPr wrap="square" lIns="0" rIns="0" tIns="0" bIns="0" anchor="t">
            <a:noAutofit/>
          </a:bodyPr>
          <a:lstStyle/>
          <a:p>
            <a:pPr algn="l">
              <a:spcAft>
                <a:spcPts val="0"/>
              </a:spcAft>
            </a:pPr>
            <a:r>
              <a:rPr sz="900" b="0">
                <a:solidFill>
                  <a:srgbClr val="33414F"/>
                </a:solidFill>
                <a:latin typeface="Arial"/>
              </a:rPr>
              <a:t>mAP50 0.752 on held-out test; all 180 defective frames flagged</a:t>
            </a:r>
          </a:p>
        </p:txBody>
      </p:sp>
      <p:sp>
        <p:nvSpPr>
          <p:cNvPr id="24" name="Rounded Rectangle 23"/>
          <p:cNvSpPr/>
          <p:nvPr/>
        </p:nvSpPr>
        <p:spPr>
          <a:xfrm>
            <a:off x="5806440" y="1714500"/>
            <a:ext cx="713232" cy="192024"/>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900" b="1">
                <a:solidFill>
                  <a:srgbClr val="FFFFFF"/>
                </a:solidFill>
                <a:latin typeface="Arial"/>
              </a:rPr>
              <a:t>MET</a:t>
            </a:r>
          </a:p>
        </p:txBody>
      </p:sp>
      <p:sp>
        <p:nvSpPr>
          <p:cNvPr id="25" name="TextBox 24"/>
          <p:cNvSpPr txBox="1"/>
          <p:nvPr/>
        </p:nvSpPr>
        <p:spPr>
          <a:xfrm>
            <a:off x="6611112" y="1691640"/>
            <a:ext cx="896111" cy="310896"/>
          </a:xfrm>
          <a:prstGeom prst="rect">
            <a:avLst/>
          </a:prstGeom>
          <a:noFill/>
        </p:spPr>
        <p:txBody>
          <a:bodyPr wrap="square" lIns="0" rIns="0" tIns="0" bIns="0" anchor="t">
            <a:noAutofit/>
          </a:bodyPr>
          <a:lstStyle/>
          <a:p>
            <a:pPr algn="l">
              <a:spcAft>
                <a:spcPts val="0"/>
              </a:spcAft>
            </a:pPr>
            <a:r>
              <a:rPr sz="900" b="0">
                <a:solidFill>
                  <a:srgbClr val="33414F"/>
                </a:solidFill>
                <a:latin typeface="Arial"/>
              </a:rPr>
              <a:t>-</a:t>
            </a:r>
          </a:p>
        </p:txBody>
      </p:sp>
      <p:sp>
        <p:nvSpPr>
          <p:cNvPr id="26" name="TextBox 25"/>
          <p:cNvSpPr txBox="1"/>
          <p:nvPr/>
        </p:nvSpPr>
        <p:spPr>
          <a:xfrm>
            <a:off x="749808" y="2020824"/>
            <a:ext cx="1280160" cy="310896"/>
          </a:xfrm>
          <a:prstGeom prst="rect">
            <a:avLst/>
          </a:prstGeom>
          <a:noFill/>
        </p:spPr>
        <p:txBody>
          <a:bodyPr wrap="square" lIns="0" rIns="0" tIns="0" bIns="0" anchor="t">
            <a:noAutofit/>
          </a:bodyPr>
          <a:lstStyle/>
          <a:p>
            <a:pPr algn="l">
              <a:spcAft>
                <a:spcPts val="0"/>
              </a:spcAft>
            </a:pPr>
            <a:r>
              <a:rPr sz="900" b="1">
                <a:solidFill>
                  <a:srgbClr val="141C24"/>
                </a:solidFill>
                <a:latin typeface="Arial"/>
              </a:rPr>
              <a:t>False-alarm rate</a:t>
            </a:r>
          </a:p>
        </p:txBody>
      </p:sp>
      <p:sp>
        <p:nvSpPr>
          <p:cNvPr id="27" name="TextBox 26"/>
          <p:cNvSpPr txBox="1"/>
          <p:nvPr/>
        </p:nvSpPr>
        <p:spPr>
          <a:xfrm>
            <a:off x="2066543" y="2020824"/>
            <a:ext cx="3611879" cy="310896"/>
          </a:xfrm>
          <a:prstGeom prst="rect">
            <a:avLst/>
          </a:prstGeom>
          <a:noFill/>
        </p:spPr>
        <p:txBody>
          <a:bodyPr wrap="square" lIns="0" rIns="0" tIns="0" bIns="0" anchor="t">
            <a:noAutofit/>
          </a:bodyPr>
          <a:lstStyle/>
          <a:p>
            <a:pPr algn="l">
              <a:spcAft>
                <a:spcPts val="0"/>
              </a:spcAft>
            </a:pPr>
            <a:r>
              <a:rPr sz="900" b="0">
                <a:solidFill>
                  <a:srgbClr val="33414F"/>
                </a:solidFill>
                <a:latin typeface="Arial"/>
              </a:rPr>
              <a:t>Clean strip flagged 93.7% -&gt; 32.5% after joint training; confidence calibrated, ECE 0.142 -&gt; 0.046</a:t>
            </a:r>
          </a:p>
        </p:txBody>
      </p:sp>
      <p:sp>
        <p:nvSpPr>
          <p:cNvPr id="28" name="Rounded Rectangle 27"/>
          <p:cNvSpPr/>
          <p:nvPr/>
        </p:nvSpPr>
        <p:spPr>
          <a:xfrm>
            <a:off x="5806440" y="2043684"/>
            <a:ext cx="713232" cy="192024"/>
          </a:xfrm>
          <a:prstGeom prst="roundRect">
            <a:avLst>
              <a:gd name="adj" fmla="val 50000"/>
            </a:avLst>
          </a:prstGeom>
          <a:solidFill>
            <a:srgbClr val="B77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900" b="1">
                <a:solidFill>
                  <a:srgbClr val="FFFFFF"/>
                </a:solidFill>
                <a:latin typeface="Arial"/>
              </a:rPr>
              <a:t>PARTIAL</a:t>
            </a:r>
          </a:p>
        </p:txBody>
      </p:sp>
      <p:sp>
        <p:nvSpPr>
          <p:cNvPr id="29" name="TextBox 28"/>
          <p:cNvSpPr txBox="1"/>
          <p:nvPr/>
        </p:nvSpPr>
        <p:spPr>
          <a:xfrm>
            <a:off x="6611112" y="2020824"/>
            <a:ext cx="896111" cy="310896"/>
          </a:xfrm>
          <a:prstGeom prst="rect">
            <a:avLst/>
          </a:prstGeom>
          <a:noFill/>
        </p:spPr>
        <p:txBody>
          <a:bodyPr wrap="square" lIns="0" rIns="0" tIns="0" bIns="0" anchor="t">
            <a:noAutofit/>
          </a:bodyPr>
          <a:lstStyle/>
          <a:p>
            <a:pPr algn="l">
              <a:spcAft>
                <a:spcPts val="0"/>
              </a:spcAft>
            </a:pPr>
            <a:r>
              <a:rPr sz="900" b="0">
                <a:solidFill>
                  <a:srgbClr val="33414F"/>
                </a:solidFill>
                <a:latin typeface="Arial"/>
              </a:rPr>
              <a:t>Jindal clean strip, P1</a:t>
            </a:r>
          </a:p>
        </p:txBody>
      </p:sp>
      <p:sp>
        <p:nvSpPr>
          <p:cNvPr id="30" name="Rectangle 29"/>
          <p:cNvSpPr/>
          <p:nvPr/>
        </p:nvSpPr>
        <p:spPr>
          <a:xfrm>
            <a:off x="694944" y="2322576"/>
            <a:ext cx="6830568" cy="329184"/>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9808" y="2350008"/>
            <a:ext cx="1280160" cy="310896"/>
          </a:xfrm>
          <a:prstGeom prst="rect">
            <a:avLst/>
          </a:prstGeom>
          <a:noFill/>
        </p:spPr>
        <p:txBody>
          <a:bodyPr wrap="square" lIns="0" rIns="0" tIns="0" bIns="0" anchor="t">
            <a:noAutofit/>
          </a:bodyPr>
          <a:lstStyle/>
          <a:p>
            <a:pPr algn="l">
              <a:spcAft>
                <a:spcPts val="0"/>
              </a:spcAft>
            </a:pPr>
            <a:r>
              <a:rPr sz="900" b="1">
                <a:solidFill>
                  <a:srgbClr val="141C24"/>
                </a:solidFill>
                <a:latin typeface="Arial"/>
              </a:rPr>
              <a:t>Multiple defect types</a:t>
            </a:r>
          </a:p>
        </p:txBody>
      </p:sp>
      <p:sp>
        <p:nvSpPr>
          <p:cNvPr id="32" name="TextBox 31"/>
          <p:cNvSpPr txBox="1"/>
          <p:nvPr/>
        </p:nvSpPr>
        <p:spPr>
          <a:xfrm>
            <a:off x="2066543" y="2350008"/>
            <a:ext cx="3611879" cy="310896"/>
          </a:xfrm>
          <a:prstGeom prst="rect">
            <a:avLst/>
          </a:prstGeom>
          <a:noFill/>
        </p:spPr>
        <p:txBody>
          <a:bodyPr wrap="square" lIns="0" rIns="0" tIns="0" bIns="0" anchor="t">
            <a:noAutofit/>
          </a:bodyPr>
          <a:lstStyle/>
          <a:p>
            <a:pPr algn="l">
              <a:spcAft>
                <a:spcPts val="0"/>
              </a:spcAft>
            </a:pPr>
            <a:r>
              <a:rPr sz="900" b="0">
                <a:solidFill>
                  <a:srgbClr val="33414F"/>
                </a:solidFill>
                <a:latin typeface="Arial"/>
              </a:rPr>
              <a:t>Type right on 177/180 frames. AP50: scratches 0.91, scale 0.63, roll marks 0.20; no public edge-crack data</a:t>
            </a:r>
          </a:p>
        </p:txBody>
      </p:sp>
      <p:sp>
        <p:nvSpPr>
          <p:cNvPr id="33" name="Rounded Rectangle 32"/>
          <p:cNvSpPr/>
          <p:nvPr/>
        </p:nvSpPr>
        <p:spPr>
          <a:xfrm>
            <a:off x="5806440" y="2372868"/>
            <a:ext cx="713232" cy="192024"/>
          </a:xfrm>
          <a:prstGeom prst="roundRect">
            <a:avLst>
              <a:gd name="adj" fmla="val 50000"/>
            </a:avLst>
          </a:prstGeom>
          <a:solidFill>
            <a:srgbClr val="B77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900" b="1">
                <a:solidFill>
                  <a:srgbClr val="FFFFFF"/>
                </a:solidFill>
                <a:latin typeface="Arial"/>
              </a:rPr>
              <a:t>PARTIAL</a:t>
            </a:r>
          </a:p>
        </p:txBody>
      </p:sp>
      <p:sp>
        <p:nvSpPr>
          <p:cNvPr id="34" name="TextBox 33"/>
          <p:cNvSpPr txBox="1"/>
          <p:nvPr/>
        </p:nvSpPr>
        <p:spPr>
          <a:xfrm>
            <a:off x="6611112" y="2350008"/>
            <a:ext cx="896111" cy="310896"/>
          </a:xfrm>
          <a:prstGeom prst="rect">
            <a:avLst/>
          </a:prstGeom>
          <a:noFill/>
        </p:spPr>
        <p:txBody>
          <a:bodyPr wrap="square" lIns="0" rIns="0" tIns="0" bIns="0" anchor="t">
            <a:noAutofit/>
          </a:bodyPr>
          <a:lstStyle/>
          <a:p>
            <a:pPr algn="l">
              <a:spcAft>
                <a:spcPts val="0"/>
              </a:spcAft>
            </a:pPr>
            <a:r>
              <a:rPr sz="900" b="0">
                <a:solidFill>
                  <a:srgbClr val="33414F"/>
                </a:solidFill>
                <a:latin typeface="Arial"/>
              </a:rPr>
              <a:t>Plant labelling, P1</a:t>
            </a:r>
          </a:p>
        </p:txBody>
      </p:sp>
      <p:sp>
        <p:nvSpPr>
          <p:cNvPr id="35" name="TextBox 34"/>
          <p:cNvSpPr txBox="1"/>
          <p:nvPr/>
        </p:nvSpPr>
        <p:spPr>
          <a:xfrm>
            <a:off x="749808" y="2679191"/>
            <a:ext cx="1280160" cy="310896"/>
          </a:xfrm>
          <a:prstGeom prst="rect">
            <a:avLst/>
          </a:prstGeom>
          <a:noFill/>
        </p:spPr>
        <p:txBody>
          <a:bodyPr wrap="square" lIns="0" rIns="0" tIns="0" bIns="0" anchor="t">
            <a:noAutofit/>
          </a:bodyPr>
          <a:lstStyle/>
          <a:p>
            <a:pPr algn="l">
              <a:spcAft>
                <a:spcPts val="0"/>
              </a:spcAft>
            </a:pPr>
            <a:r>
              <a:rPr sz="900" b="1">
                <a:solidFill>
                  <a:srgbClr val="141C24"/>
                </a:solidFill>
                <a:latin typeface="Arial"/>
              </a:rPr>
              <a:t>Line-speed inference</a:t>
            </a:r>
          </a:p>
        </p:txBody>
      </p:sp>
      <p:sp>
        <p:nvSpPr>
          <p:cNvPr id="36" name="TextBox 35"/>
          <p:cNvSpPr txBox="1"/>
          <p:nvPr/>
        </p:nvSpPr>
        <p:spPr>
          <a:xfrm>
            <a:off x="2066543" y="2679191"/>
            <a:ext cx="3611879" cy="310896"/>
          </a:xfrm>
          <a:prstGeom prst="rect">
            <a:avLst/>
          </a:prstGeom>
          <a:noFill/>
        </p:spPr>
        <p:txBody>
          <a:bodyPr wrap="square" lIns="0" rIns="0" tIns="0" bIns="0" anchor="t">
            <a:noAutofit/>
          </a:bodyPr>
          <a:lstStyle/>
          <a:p>
            <a:pPr algn="l">
              <a:spcAft>
                <a:spcPts val="0"/>
              </a:spcAft>
            </a:pPr>
            <a:r>
              <a:rPr sz="900" b="0">
                <a:solidFill>
                  <a:srgbClr val="33414F"/>
                </a:solidFill>
                <a:latin typeface="Arial"/>
              </a:rPr>
              <a:t>6.22 MB, 30-50 ms per frame on CPU. At 250 m/min: 18 accelerators at 0.2 mm/px, or 1 downscaled</a:t>
            </a:r>
          </a:p>
        </p:txBody>
      </p:sp>
      <p:sp>
        <p:nvSpPr>
          <p:cNvPr id="37" name="Rounded Rectangle 36"/>
          <p:cNvSpPr/>
          <p:nvPr/>
        </p:nvSpPr>
        <p:spPr>
          <a:xfrm>
            <a:off x="5806440" y="2702052"/>
            <a:ext cx="713232" cy="192024"/>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900" b="1">
                <a:solidFill>
                  <a:srgbClr val="FFFFFF"/>
                </a:solidFill>
                <a:latin typeface="Arial"/>
              </a:rPr>
              <a:t>MET</a:t>
            </a:r>
          </a:p>
        </p:txBody>
      </p:sp>
      <p:sp>
        <p:nvSpPr>
          <p:cNvPr id="38" name="TextBox 37"/>
          <p:cNvSpPr txBox="1"/>
          <p:nvPr/>
        </p:nvSpPr>
        <p:spPr>
          <a:xfrm>
            <a:off x="6611112" y="2679191"/>
            <a:ext cx="896111" cy="310896"/>
          </a:xfrm>
          <a:prstGeom prst="rect">
            <a:avLst/>
          </a:prstGeom>
          <a:noFill/>
        </p:spPr>
        <p:txBody>
          <a:bodyPr wrap="square" lIns="0" rIns="0" tIns="0" bIns="0" anchor="t">
            <a:noAutofit/>
          </a:bodyPr>
          <a:lstStyle/>
          <a:p>
            <a:pPr algn="l">
              <a:spcAft>
                <a:spcPts val="0"/>
              </a:spcAft>
            </a:pPr>
            <a:r>
              <a:rPr sz="900" b="0">
                <a:solidFill>
                  <a:srgbClr val="33414F"/>
                </a:solidFill>
                <a:latin typeface="Arial"/>
              </a:rPr>
              <a:t>Resolution spec, P0</a:t>
            </a:r>
          </a:p>
        </p:txBody>
      </p:sp>
      <p:sp>
        <p:nvSpPr>
          <p:cNvPr id="39" name="Rectangle 38"/>
          <p:cNvSpPr/>
          <p:nvPr/>
        </p:nvSpPr>
        <p:spPr>
          <a:xfrm>
            <a:off x="694944" y="2980944"/>
            <a:ext cx="6830568" cy="329184"/>
          </a:xfrm>
          <a:prstGeom prst="rect">
            <a:avLst/>
          </a:prstGeom>
          <a:solidFill>
            <a:srgbClr val="F1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9808" y="3008376"/>
            <a:ext cx="1280160" cy="310896"/>
          </a:xfrm>
          <a:prstGeom prst="rect">
            <a:avLst/>
          </a:prstGeom>
          <a:noFill/>
        </p:spPr>
        <p:txBody>
          <a:bodyPr wrap="square" lIns="0" rIns="0" tIns="0" bIns="0" anchor="t">
            <a:noAutofit/>
          </a:bodyPr>
          <a:lstStyle/>
          <a:p>
            <a:pPr algn="l">
              <a:spcAft>
                <a:spcPts val="0"/>
              </a:spcAft>
            </a:pPr>
            <a:r>
              <a:rPr sz="900" b="1">
                <a:solidFill>
                  <a:srgbClr val="141C24"/>
                </a:solidFill>
                <a:latin typeface="Arial"/>
              </a:rPr>
              <a:t>Usable demo</a:t>
            </a:r>
          </a:p>
        </p:txBody>
      </p:sp>
      <p:sp>
        <p:nvSpPr>
          <p:cNvPr id="41" name="TextBox 40"/>
          <p:cNvSpPr txBox="1"/>
          <p:nvPr/>
        </p:nvSpPr>
        <p:spPr>
          <a:xfrm>
            <a:off x="2066543" y="3008376"/>
            <a:ext cx="3611879" cy="310896"/>
          </a:xfrm>
          <a:prstGeom prst="rect">
            <a:avLst/>
          </a:prstGeom>
          <a:noFill/>
        </p:spPr>
        <p:txBody>
          <a:bodyPr wrap="square" lIns="0" rIns="0" tIns="0" bIns="0" anchor="t">
            <a:noAutofit/>
          </a:bodyPr>
          <a:lstStyle/>
          <a:p>
            <a:pPr algn="l">
              <a:spcAft>
                <a:spcPts val="0"/>
              </a:spcAft>
            </a:pPr>
            <a:r>
              <a:rPr sz="900" b="0">
                <a:solidFill>
                  <a:srgbClr val="33414F"/>
                </a:solidFill>
                <a:latin typeface="Arial"/>
              </a:rPr>
              <a:t>Live web demo: upload an image, get box, type, confidence, severity and root cause</a:t>
            </a:r>
          </a:p>
        </p:txBody>
      </p:sp>
      <p:sp>
        <p:nvSpPr>
          <p:cNvPr id="42" name="Rounded Rectangle 41"/>
          <p:cNvSpPr/>
          <p:nvPr/>
        </p:nvSpPr>
        <p:spPr>
          <a:xfrm>
            <a:off x="5806440" y="3031236"/>
            <a:ext cx="713232" cy="192024"/>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900" b="1">
                <a:solidFill>
                  <a:srgbClr val="FFFFFF"/>
                </a:solidFill>
                <a:latin typeface="Arial"/>
              </a:rPr>
              <a:t>MET</a:t>
            </a:r>
          </a:p>
        </p:txBody>
      </p:sp>
      <p:sp>
        <p:nvSpPr>
          <p:cNvPr id="43" name="TextBox 42"/>
          <p:cNvSpPr txBox="1"/>
          <p:nvPr/>
        </p:nvSpPr>
        <p:spPr>
          <a:xfrm>
            <a:off x="6611112" y="3008376"/>
            <a:ext cx="896111" cy="310896"/>
          </a:xfrm>
          <a:prstGeom prst="rect">
            <a:avLst/>
          </a:prstGeom>
          <a:noFill/>
        </p:spPr>
        <p:txBody>
          <a:bodyPr wrap="square" lIns="0" rIns="0" tIns="0" bIns="0" anchor="t">
            <a:noAutofit/>
          </a:bodyPr>
          <a:lstStyle/>
          <a:p>
            <a:pPr algn="l">
              <a:spcAft>
                <a:spcPts val="0"/>
              </a:spcAft>
            </a:pPr>
            <a:r>
              <a:rPr sz="900" b="0">
                <a:solidFill>
                  <a:srgbClr val="33414F"/>
                </a:solidFill>
                <a:latin typeface="Arial"/>
              </a:rPr>
              <a:t>-</a:t>
            </a:r>
          </a:p>
        </p:txBody>
      </p:sp>
      <p:sp>
        <p:nvSpPr>
          <p:cNvPr id="44" name="TextBox 43"/>
          <p:cNvSpPr txBox="1"/>
          <p:nvPr/>
        </p:nvSpPr>
        <p:spPr>
          <a:xfrm>
            <a:off x="749808" y="3337560"/>
            <a:ext cx="1280160" cy="310896"/>
          </a:xfrm>
          <a:prstGeom prst="rect">
            <a:avLst/>
          </a:prstGeom>
          <a:noFill/>
        </p:spPr>
        <p:txBody>
          <a:bodyPr wrap="square" lIns="0" rIns="0" tIns="0" bIns="0" anchor="t">
            <a:noAutofit/>
          </a:bodyPr>
          <a:lstStyle/>
          <a:p>
            <a:pPr algn="l">
              <a:spcAft>
                <a:spcPts val="0"/>
              </a:spcAft>
            </a:pPr>
            <a:r>
              <a:rPr sz="900" b="1">
                <a:solidFill>
                  <a:srgbClr val="141C24"/>
                </a:solidFill>
                <a:latin typeface="Arial"/>
              </a:rPr>
              <a:t>Scaling across grades</a:t>
            </a:r>
          </a:p>
        </p:txBody>
      </p:sp>
      <p:sp>
        <p:nvSpPr>
          <p:cNvPr id="45" name="TextBox 44"/>
          <p:cNvSpPr txBox="1"/>
          <p:nvPr/>
        </p:nvSpPr>
        <p:spPr>
          <a:xfrm>
            <a:off x="2066543" y="3337560"/>
            <a:ext cx="3611879" cy="310896"/>
          </a:xfrm>
          <a:prstGeom prst="rect">
            <a:avLst/>
          </a:prstGeom>
          <a:noFill/>
        </p:spPr>
        <p:txBody>
          <a:bodyPr wrap="square" lIns="0" rIns="0" tIns="0" bIns="0" anchor="t">
            <a:noAutofit/>
          </a:bodyPr>
          <a:lstStyle/>
          <a:p>
            <a:pPr algn="l">
              <a:spcAft>
                <a:spcPts val="0"/>
              </a:spcAft>
            </a:pPr>
            <a:r>
              <a:rPr sz="900" b="0">
                <a:solidFill>
                  <a:srgbClr val="33414F"/>
                </a:solidFill>
                <a:latin typeface="Arial"/>
              </a:rPr>
              <a:t>Second dataset: cross-domain AUC 0.608 -&gt; 0.958 and in-domain mAP50 up to 0.764; retrain 0.6 h</a:t>
            </a:r>
          </a:p>
        </p:txBody>
      </p:sp>
      <p:sp>
        <p:nvSpPr>
          <p:cNvPr id="46" name="Rounded Rectangle 45"/>
          <p:cNvSpPr/>
          <p:nvPr/>
        </p:nvSpPr>
        <p:spPr>
          <a:xfrm>
            <a:off x="5806440" y="3360420"/>
            <a:ext cx="713232" cy="192024"/>
          </a:xfrm>
          <a:prstGeom prst="roundRect">
            <a:avLst>
              <a:gd name="adj" fmla="val 50000"/>
            </a:avLst>
          </a:prstGeom>
          <a:solidFill>
            <a:srgbClr val="B779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0" bIns="0">
            <a:noAutofit/>
          </a:bodyPr>
          <a:lstStyle/>
          <a:p>
            <a:pPr algn="ctr"/>
            <a:r>
              <a:rPr sz="900" b="1">
                <a:solidFill>
                  <a:srgbClr val="FFFFFF"/>
                </a:solidFill>
                <a:latin typeface="Arial"/>
              </a:rPr>
              <a:t>PARTIAL</a:t>
            </a:r>
          </a:p>
        </p:txBody>
      </p:sp>
      <p:sp>
        <p:nvSpPr>
          <p:cNvPr id="47" name="TextBox 46"/>
          <p:cNvSpPr txBox="1"/>
          <p:nvPr/>
        </p:nvSpPr>
        <p:spPr>
          <a:xfrm>
            <a:off x="6611112" y="3337560"/>
            <a:ext cx="896111" cy="310896"/>
          </a:xfrm>
          <a:prstGeom prst="rect">
            <a:avLst/>
          </a:prstGeom>
          <a:noFill/>
        </p:spPr>
        <p:txBody>
          <a:bodyPr wrap="square" lIns="0" rIns="0" tIns="0" bIns="0" anchor="t">
            <a:noAutofit/>
          </a:bodyPr>
          <a:lstStyle/>
          <a:p>
            <a:pPr algn="l">
              <a:spcAft>
                <a:spcPts val="0"/>
              </a:spcAft>
            </a:pPr>
            <a:r>
              <a:rPr sz="900" b="0">
                <a:solidFill>
                  <a:srgbClr val="33414F"/>
                </a:solidFill>
                <a:latin typeface="Arial"/>
              </a:rPr>
              <a:t>Stainless grades, P1-P4</a:t>
            </a:r>
          </a:p>
        </p:txBody>
      </p:sp>
      <p:sp>
        <p:nvSpPr>
          <p:cNvPr id="48" name="Rectangle 47"/>
          <p:cNvSpPr/>
          <p:nvPr/>
        </p:nvSpPr>
        <p:spPr>
          <a:xfrm>
            <a:off x="7763255" y="1078992"/>
            <a:ext cx="4105656" cy="2670048"/>
          </a:xfrm>
          <a:prstGeom prst="rect">
            <a:avLst/>
          </a:prstGeom>
          <a:solidFill>
            <a:srgbClr val="FFFFFF"/>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763255" y="1078992"/>
            <a:ext cx="4105656" cy="274320"/>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872983" y="1120139"/>
            <a:ext cx="1824116" cy="201168"/>
          </a:xfrm>
          <a:prstGeom prst="rect">
            <a:avLst/>
          </a:prstGeom>
          <a:noFill/>
        </p:spPr>
        <p:txBody>
          <a:bodyPr wrap="square" lIns="0" rIns="0" tIns="0" bIns="0" anchor="t">
            <a:noAutofit/>
          </a:bodyPr>
          <a:lstStyle/>
          <a:p>
            <a:pPr algn="l">
              <a:spcAft>
                <a:spcPts val="0"/>
              </a:spcAft>
            </a:pPr>
            <a:r>
              <a:rPr sz="1050" b="1">
                <a:solidFill>
                  <a:srgbClr val="FFFFFF"/>
                </a:solidFill>
                <a:latin typeface="Arial"/>
              </a:rPr>
              <a:t>Training on Real Clean Strip</a:t>
            </a:r>
          </a:p>
        </p:txBody>
      </p:sp>
      <p:sp>
        <p:nvSpPr>
          <p:cNvPr id="51" name="TextBox 50"/>
          <p:cNvSpPr txBox="1"/>
          <p:nvPr/>
        </p:nvSpPr>
        <p:spPr>
          <a:xfrm>
            <a:off x="9879980" y="1133856"/>
            <a:ext cx="1879203" cy="182880"/>
          </a:xfrm>
          <a:prstGeom prst="rect">
            <a:avLst/>
          </a:prstGeom>
          <a:noFill/>
        </p:spPr>
        <p:txBody>
          <a:bodyPr wrap="square" lIns="0" rIns="0" tIns="0" bIns="0" anchor="t">
            <a:noAutofit/>
          </a:bodyPr>
          <a:lstStyle/>
          <a:p>
            <a:pPr algn="r">
              <a:spcAft>
                <a:spcPts val="0"/>
              </a:spcAft>
            </a:pPr>
            <a:r>
              <a:rPr sz="900" b="0">
                <a:solidFill>
                  <a:srgbClr val="BFD2E2"/>
                </a:solidFill>
                <a:latin typeface="Arial"/>
              </a:rPr>
              <a:t>gap1 reports, conf 0.15</a:t>
            </a:r>
          </a:p>
        </p:txBody>
      </p:sp>
      <p:sp>
        <p:nvSpPr>
          <p:cNvPr id="52" name="Oval 51"/>
          <p:cNvSpPr/>
          <p:nvPr/>
        </p:nvSpPr>
        <p:spPr>
          <a:xfrm>
            <a:off x="7904988" y="1467612"/>
            <a:ext cx="118872" cy="118872"/>
          </a:xfrm>
          <a:prstGeom prst="ellipse">
            <a:avLst/>
          </a:prstGeom>
          <a:solidFill>
            <a:srgbClr val="FFFFFF"/>
          </a:solidFill>
          <a:ln w="19050">
            <a:solidFill>
              <a:srgbClr val="5F6B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92440" y="1444752"/>
            <a:ext cx="1463040" cy="182880"/>
          </a:xfrm>
          <a:prstGeom prst="rect">
            <a:avLst/>
          </a:prstGeom>
          <a:noFill/>
        </p:spPr>
        <p:txBody>
          <a:bodyPr wrap="square" lIns="0" rIns="0" tIns="0" bIns="0" anchor="t">
            <a:noAutofit/>
          </a:bodyPr>
          <a:lstStyle/>
          <a:p>
            <a:pPr algn="l">
              <a:spcAft>
                <a:spcPts val="0"/>
              </a:spcAft>
            </a:pPr>
            <a:r>
              <a:rPr sz="900" b="0">
                <a:solidFill>
                  <a:srgbClr val="33414F"/>
                </a:solidFill>
                <a:latin typeface="Arial"/>
              </a:rPr>
              <a:t>Shipped, NEU-DET only</a:t>
            </a:r>
          </a:p>
        </p:txBody>
      </p:sp>
      <p:sp>
        <p:nvSpPr>
          <p:cNvPr id="54" name="Oval 53"/>
          <p:cNvSpPr/>
          <p:nvPr/>
        </p:nvSpPr>
        <p:spPr>
          <a:xfrm>
            <a:off x="9678924" y="1467612"/>
            <a:ext cx="118872" cy="118872"/>
          </a:xfrm>
          <a:prstGeom prst="ellipse">
            <a:avLst/>
          </a:prstGeom>
          <a:solidFill>
            <a:srgbClr val="008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66376" y="1444752"/>
            <a:ext cx="1874520" cy="182880"/>
          </a:xfrm>
          <a:prstGeom prst="rect">
            <a:avLst/>
          </a:prstGeom>
          <a:noFill/>
        </p:spPr>
        <p:txBody>
          <a:bodyPr wrap="square" lIns="0" rIns="0" tIns="0" bIns="0" anchor="t">
            <a:noAutofit/>
          </a:bodyPr>
          <a:lstStyle/>
          <a:p>
            <a:pPr algn="l">
              <a:spcAft>
                <a:spcPts val="0"/>
              </a:spcAft>
            </a:pPr>
            <a:r>
              <a:rPr sz="900" b="1">
                <a:solidFill>
                  <a:srgbClr val="0086C3"/>
                </a:solidFill>
                <a:latin typeface="Arial"/>
              </a:rPr>
              <a:t>Joint, + Severstal</a:t>
            </a:r>
          </a:p>
        </p:txBody>
      </p:sp>
      <p:sp>
        <p:nvSpPr>
          <p:cNvPr id="56" name="TextBox 55"/>
          <p:cNvSpPr txBox="1"/>
          <p:nvPr/>
        </p:nvSpPr>
        <p:spPr>
          <a:xfrm>
            <a:off x="7891271" y="1792224"/>
            <a:ext cx="1280160" cy="384048"/>
          </a:xfrm>
          <a:prstGeom prst="rect">
            <a:avLst/>
          </a:prstGeom>
          <a:noFill/>
        </p:spPr>
        <p:txBody>
          <a:bodyPr wrap="square" lIns="0" rIns="0" tIns="0" bIns="0" anchor="ctr">
            <a:noAutofit/>
          </a:bodyPr>
          <a:lstStyle/>
          <a:p>
            <a:pPr algn="l">
              <a:spcAft>
                <a:spcPts val="0"/>
              </a:spcAft>
            </a:pPr>
            <a:r>
              <a:rPr sz="900" b="1">
                <a:solidFill>
                  <a:srgbClr val="141C24"/>
                </a:solidFill>
                <a:latin typeface="Arial"/>
              </a:rPr>
              <a:t>Clean strip flagged, %</a:t>
            </a:r>
          </a:p>
          <a:p>
            <a:pPr algn="l">
              <a:spcAft>
                <a:spcPts val="0"/>
              </a:spcAft>
            </a:pPr>
            <a:r>
              <a:rPr sz="900" b="0">
                <a:solidFill>
                  <a:srgbClr val="5F6B78"/>
                </a:solidFill>
                <a:latin typeface="Arial"/>
              </a:rPr>
              <a:t>lower is better</a:t>
            </a:r>
          </a:p>
        </p:txBody>
      </p:sp>
      <p:sp>
        <p:nvSpPr>
          <p:cNvPr id="57" name="Rectangle 56"/>
          <p:cNvSpPr/>
          <p:nvPr/>
        </p:nvSpPr>
        <p:spPr>
          <a:xfrm>
            <a:off x="9628632" y="1975104"/>
            <a:ext cx="1700784" cy="9525"/>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10181386" y="1956816"/>
            <a:ext cx="1040879" cy="36576"/>
          </a:xfrm>
          <a:prstGeom prst="rect">
            <a:avLst/>
          </a:prstGeom>
          <a:solidFill>
            <a:srgbClr val="BF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1153686" y="1906524"/>
            <a:ext cx="137160" cy="137160"/>
          </a:xfrm>
          <a:prstGeom prst="ellipse">
            <a:avLst/>
          </a:prstGeom>
          <a:solidFill>
            <a:srgbClr val="FFFFFF"/>
          </a:solidFill>
          <a:ln w="19050">
            <a:solidFill>
              <a:srgbClr val="5F6B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0112806" y="1906524"/>
            <a:ext cx="137160" cy="137160"/>
          </a:xfrm>
          <a:prstGeom prst="ellipse">
            <a:avLst/>
          </a:prstGeom>
          <a:solidFill>
            <a:srgbClr val="008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705898" y="1892808"/>
            <a:ext cx="365760" cy="164592"/>
          </a:xfrm>
          <a:prstGeom prst="rect">
            <a:avLst/>
          </a:prstGeom>
          <a:noFill/>
        </p:spPr>
        <p:txBody>
          <a:bodyPr wrap="square" lIns="0" rIns="0" tIns="0" bIns="0" anchor="t">
            <a:noAutofit/>
          </a:bodyPr>
          <a:lstStyle/>
          <a:p>
            <a:pPr algn="r">
              <a:spcAft>
                <a:spcPts val="0"/>
              </a:spcAft>
            </a:pPr>
            <a:r>
              <a:rPr sz="900" b="1">
                <a:solidFill>
                  <a:srgbClr val="0086C3"/>
                </a:solidFill>
                <a:latin typeface="Arial"/>
              </a:rPr>
              <a:t>32.5</a:t>
            </a:r>
          </a:p>
        </p:txBody>
      </p:sp>
      <p:sp>
        <p:nvSpPr>
          <p:cNvPr id="62" name="TextBox 61"/>
          <p:cNvSpPr txBox="1"/>
          <p:nvPr/>
        </p:nvSpPr>
        <p:spPr>
          <a:xfrm>
            <a:off x="11331994" y="1892808"/>
            <a:ext cx="365760" cy="164592"/>
          </a:xfrm>
          <a:prstGeom prst="rect">
            <a:avLst/>
          </a:prstGeom>
          <a:noFill/>
        </p:spPr>
        <p:txBody>
          <a:bodyPr wrap="square" lIns="0" rIns="0" tIns="0" bIns="0" anchor="t">
            <a:noAutofit/>
          </a:bodyPr>
          <a:lstStyle/>
          <a:p>
            <a:pPr algn="l">
              <a:spcAft>
                <a:spcPts val="0"/>
              </a:spcAft>
            </a:pPr>
            <a:r>
              <a:rPr sz="900" b="0">
                <a:solidFill>
                  <a:srgbClr val="5F6B78"/>
                </a:solidFill>
                <a:latin typeface="Arial"/>
              </a:rPr>
              <a:t>93.7</a:t>
            </a:r>
          </a:p>
        </p:txBody>
      </p:sp>
      <p:sp>
        <p:nvSpPr>
          <p:cNvPr id="63" name="TextBox 62"/>
          <p:cNvSpPr txBox="1"/>
          <p:nvPr/>
        </p:nvSpPr>
        <p:spPr>
          <a:xfrm>
            <a:off x="7891271" y="2157984"/>
            <a:ext cx="1280160" cy="384048"/>
          </a:xfrm>
          <a:prstGeom prst="rect">
            <a:avLst/>
          </a:prstGeom>
          <a:noFill/>
        </p:spPr>
        <p:txBody>
          <a:bodyPr wrap="square" lIns="0" rIns="0" tIns="0" bIns="0" anchor="ctr">
            <a:noAutofit/>
          </a:bodyPr>
          <a:lstStyle/>
          <a:p>
            <a:pPr algn="l">
              <a:spcAft>
                <a:spcPts val="0"/>
              </a:spcAft>
            </a:pPr>
            <a:r>
              <a:rPr sz="900" b="1">
                <a:solidFill>
                  <a:srgbClr val="141C24"/>
                </a:solidFill>
                <a:latin typeface="Arial"/>
              </a:rPr>
              <a:t>Defect recall, %</a:t>
            </a:r>
          </a:p>
        </p:txBody>
      </p:sp>
      <p:sp>
        <p:nvSpPr>
          <p:cNvPr id="64" name="Rectangle 63"/>
          <p:cNvSpPr/>
          <p:nvPr/>
        </p:nvSpPr>
        <p:spPr>
          <a:xfrm>
            <a:off x="9628632" y="2340864"/>
            <a:ext cx="1700784" cy="9525"/>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10853196" y="2322576"/>
            <a:ext cx="248314" cy="36576"/>
          </a:xfrm>
          <a:prstGeom prst="rect">
            <a:avLst/>
          </a:prstGeom>
          <a:solidFill>
            <a:srgbClr val="BF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0784616" y="2272284"/>
            <a:ext cx="137160" cy="137160"/>
          </a:xfrm>
          <a:prstGeom prst="ellipse">
            <a:avLst/>
          </a:prstGeom>
          <a:solidFill>
            <a:srgbClr val="FFFFFF"/>
          </a:solidFill>
          <a:ln w="19050">
            <a:solidFill>
              <a:srgbClr val="5F6B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1032930" y="2272284"/>
            <a:ext cx="137160" cy="137160"/>
          </a:xfrm>
          <a:prstGeom prst="ellipse">
            <a:avLst/>
          </a:prstGeom>
          <a:solidFill>
            <a:srgbClr val="008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377708" y="2258568"/>
            <a:ext cx="365760" cy="164592"/>
          </a:xfrm>
          <a:prstGeom prst="rect">
            <a:avLst/>
          </a:prstGeom>
          <a:noFill/>
        </p:spPr>
        <p:txBody>
          <a:bodyPr wrap="square" lIns="0" rIns="0" tIns="0" bIns="0" anchor="t">
            <a:noAutofit/>
          </a:bodyPr>
          <a:lstStyle/>
          <a:p>
            <a:pPr algn="r">
              <a:spcAft>
                <a:spcPts val="0"/>
              </a:spcAft>
            </a:pPr>
            <a:r>
              <a:rPr sz="900" b="0">
                <a:solidFill>
                  <a:srgbClr val="5F6B78"/>
                </a:solidFill>
                <a:latin typeface="Arial"/>
              </a:rPr>
              <a:t>72.0</a:t>
            </a:r>
          </a:p>
        </p:txBody>
      </p:sp>
      <p:sp>
        <p:nvSpPr>
          <p:cNvPr id="69" name="TextBox 68"/>
          <p:cNvSpPr txBox="1"/>
          <p:nvPr/>
        </p:nvSpPr>
        <p:spPr>
          <a:xfrm>
            <a:off x="11211238" y="2258568"/>
            <a:ext cx="365760" cy="164592"/>
          </a:xfrm>
          <a:prstGeom prst="rect">
            <a:avLst/>
          </a:prstGeom>
          <a:noFill/>
        </p:spPr>
        <p:txBody>
          <a:bodyPr wrap="square" lIns="0" rIns="0" tIns="0" bIns="0" anchor="t">
            <a:noAutofit/>
          </a:bodyPr>
          <a:lstStyle/>
          <a:p>
            <a:pPr algn="l">
              <a:spcAft>
                <a:spcPts val="0"/>
              </a:spcAft>
            </a:pPr>
            <a:r>
              <a:rPr sz="900" b="1">
                <a:solidFill>
                  <a:srgbClr val="0086C3"/>
                </a:solidFill>
                <a:latin typeface="Arial"/>
              </a:rPr>
              <a:t>86.6</a:t>
            </a:r>
          </a:p>
        </p:txBody>
      </p:sp>
      <p:sp>
        <p:nvSpPr>
          <p:cNvPr id="70" name="TextBox 69"/>
          <p:cNvSpPr txBox="1"/>
          <p:nvPr/>
        </p:nvSpPr>
        <p:spPr>
          <a:xfrm>
            <a:off x="7891271" y="2523744"/>
            <a:ext cx="1280160" cy="384048"/>
          </a:xfrm>
          <a:prstGeom prst="rect">
            <a:avLst/>
          </a:prstGeom>
          <a:noFill/>
        </p:spPr>
        <p:txBody>
          <a:bodyPr wrap="square" lIns="0" rIns="0" tIns="0" bIns="0" anchor="ctr">
            <a:noAutofit/>
          </a:bodyPr>
          <a:lstStyle/>
          <a:p>
            <a:pPr algn="l">
              <a:spcAft>
                <a:spcPts val="0"/>
              </a:spcAft>
            </a:pPr>
            <a:r>
              <a:rPr sz="900" b="1">
                <a:solidFill>
                  <a:srgbClr val="141C24"/>
                </a:solidFill>
                <a:latin typeface="Arial"/>
              </a:rPr>
              <a:t>Cross-domain AUC x100</a:t>
            </a:r>
          </a:p>
        </p:txBody>
      </p:sp>
      <p:sp>
        <p:nvSpPr>
          <p:cNvPr id="71" name="Rectangle 70"/>
          <p:cNvSpPr/>
          <p:nvPr/>
        </p:nvSpPr>
        <p:spPr>
          <a:xfrm>
            <a:off x="9628632" y="2706624"/>
            <a:ext cx="1700784" cy="9525"/>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0662708" y="2688336"/>
            <a:ext cx="595274" cy="36576"/>
          </a:xfrm>
          <a:prstGeom prst="rect">
            <a:avLst/>
          </a:prstGeom>
          <a:solidFill>
            <a:srgbClr val="BF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0594128" y="2638044"/>
            <a:ext cx="137160" cy="137160"/>
          </a:xfrm>
          <a:prstGeom prst="ellipse">
            <a:avLst/>
          </a:prstGeom>
          <a:solidFill>
            <a:srgbClr val="FFFFFF"/>
          </a:solidFill>
          <a:ln w="19050">
            <a:solidFill>
              <a:srgbClr val="5F6B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11189403" y="2638044"/>
            <a:ext cx="137160" cy="137160"/>
          </a:xfrm>
          <a:prstGeom prst="ellipse">
            <a:avLst/>
          </a:prstGeom>
          <a:solidFill>
            <a:srgbClr val="008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187220" y="2624328"/>
            <a:ext cx="365760" cy="164592"/>
          </a:xfrm>
          <a:prstGeom prst="rect">
            <a:avLst/>
          </a:prstGeom>
          <a:noFill/>
        </p:spPr>
        <p:txBody>
          <a:bodyPr wrap="square" lIns="0" rIns="0" tIns="0" bIns="0" anchor="t">
            <a:noAutofit/>
          </a:bodyPr>
          <a:lstStyle/>
          <a:p>
            <a:pPr algn="r">
              <a:spcAft>
                <a:spcPts val="0"/>
              </a:spcAft>
            </a:pPr>
            <a:r>
              <a:rPr sz="900" b="0">
                <a:solidFill>
                  <a:srgbClr val="5F6B78"/>
                </a:solidFill>
                <a:latin typeface="Arial"/>
              </a:rPr>
              <a:t>60.8</a:t>
            </a:r>
          </a:p>
        </p:txBody>
      </p:sp>
      <p:sp>
        <p:nvSpPr>
          <p:cNvPr id="76" name="TextBox 75"/>
          <p:cNvSpPr txBox="1"/>
          <p:nvPr/>
        </p:nvSpPr>
        <p:spPr>
          <a:xfrm>
            <a:off x="11367711" y="2624328"/>
            <a:ext cx="365760" cy="164592"/>
          </a:xfrm>
          <a:prstGeom prst="rect">
            <a:avLst/>
          </a:prstGeom>
          <a:noFill/>
        </p:spPr>
        <p:txBody>
          <a:bodyPr wrap="square" lIns="0" rIns="0" tIns="0" bIns="0" anchor="t">
            <a:noAutofit/>
          </a:bodyPr>
          <a:lstStyle/>
          <a:p>
            <a:pPr algn="l">
              <a:spcAft>
                <a:spcPts val="0"/>
              </a:spcAft>
            </a:pPr>
            <a:r>
              <a:rPr sz="900" b="1">
                <a:solidFill>
                  <a:srgbClr val="0086C3"/>
                </a:solidFill>
                <a:latin typeface="Arial"/>
              </a:rPr>
              <a:t>95.8</a:t>
            </a:r>
          </a:p>
        </p:txBody>
      </p:sp>
      <p:sp>
        <p:nvSpPr>
          <p:cNvPr id="77" name="TextBox 76"/>
          <p:cNvSpPr txBox="1"/>
          <p:nvPr/>
        </p:nvSpPr>
        <p:spPr>
          <a:xfrm>
            <a:off x="7891271" y="2889504"/>
            <a:ext cx="1280160" cy="384048"/>
          </a:xfrm>
          <a:prstGeom prst="rect">
            <a:avLst/>
          </a:prstGeom>
          <a:noFill/>
        </p:spPr>
        <p:txBody>
          <a:bodyPr wrap="square" lIns="0" rIns="0" tIns="0" bIns="0" anchor="ctr">
            <a:noAutofit/>
          </a:bodyPr>
          <a:lstStyle/>
          <a:p>
            <a:pPr algn="l">
              <a:spcAft>
                <a:spcPts val="0"/>
              </a:spcAft>
            </a:pPr>
            <a:r>
              <a:rPr sz="900" b="1">
                <a:solidFill>
                  <a:srgbClr val="141C24"/>
                </a:solidFill>
                <a:latin typeface="Arial"/>
              </a:rPr>
              <a:t>In-domain mAP50 x100</a:t>
            </a:r>
          </a:p>
        </p:txBody>
      </p:sp>
      <p:sp>
        <p:nvSpPr>
          <p:cNvPr id="78" name="Rectangle 77"/>
          <p:cNvSpPr/>
          <p:nvPr/>
        </p:nvSpPr>
        <p:spPr>
          <a:xfrm>
            <a:off x="9628632" y="3072384"/>
            <a:ext cx="1700784" cy="9525"/>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0907621" y="3054096"/>
            <a:ext cx="20409" cy="36576"/>
          </a:xfrm>
          <a:prstGeom prst="rect">
            <a:avLst/>
          </a:prstGeom>
          <a:solidFill>
            <a:srgbClr val="BF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0839041" y="3003804"/>
            <a:ext cx="137160" cy="137160"/>
          </a:xfrm>
          <a:prstGeom prst="ellipse">
            <a:avLst/>
          </a:prstGeom>
          <a:solidFill>
            <a:srgbClr val="FFFFFF"/>
          </a:solidFill>
          <a:ln w="19050">
            <a:solidFill>
              <a:srgbClr val="5F6B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10859450" y="3003804"/>
            <a:ext cx="137160" cy="137160"/>
          </a:xfrm>
          <a:prstGeom prst="ellipse">
            <a:avLst/>
          </a:prstGeom>
          <a:solidFill>
            <a:srgbClr val="008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0432133" y="2990088"/>
            <a:ext cx="365760" cy="164592"/>
          </a:xfrm>
          <a:prstGeom prst="rect">
            <a:avLst/>
          </a:prstGeom>
          <a:noFill/>
        </p:spPr>
        <p:txBody>
          <a:bodyPr wrap="square" lIns="0" rIns="0" tIns="0" bIns="0" anchor="t">
            <a:noAutofit/>
          </a:bodyPr>
          <a:lstStyle/>
          <a:p>
            <a:pPr algn="r">
              <a:spcAft>
                <a:spcPts val="0"/>
              </a:spcAft>
            </a:pPr>
            <a:r>
              <a:rPr sz="900" b="0">
                <a:solidFill>
                  <a:srgbClr val="5F6B78"/>
                </a:solidFill>
                <a:latin typeface="Arial"/>
              </a:rPr>
              <a:t>75.2</a:t>
            </a:r>
          </a:p>
        </p:txBody>
      </p:sp>
      <p:sp>
        <p:nvSpPr>
          <p:cNvPr id="83" name="TextBox 82"/>
          <p:cNvSpPr txBox="1"/>
          <p:nvPr/>
        </p:nvSpPr>
        <p:spPr>
          <a:xfrm>
            <a:off x="11037758" y="2990088"/>
            <a:ext cx="365760" cy="164592"/>
          </a:xfrm>
          <a:prstGeom prst="rect">
            <a:avLst/>
          </a:prstGeom>
          <a:noFill/>
        </p:spPr>
        <p:txBody>
          <a:bodyPr wrap="square" lIns="0" rIns="0" tIns="0" bIns="0" anchor="t">
            <a:noAutofit/>
          </a:bodyPr>
          <a:lstStyle/>
          <a:p>
            <a:pPr algn="l">
              <a:spcAft>
                <a:spcPts val="0"/>
              </a:spcAft>
            </a:pPr>
            <a:r>
              <a:rPr sz="900" b="1">
                <a:solidFill>
                  <a:srgbClr val="0086C3"/>
                </a:solidFill>
                <a:latin typeface="Arial"/>
              </a:rPr>
              <a:t>76.4</a:t>
            </a:r>
          </a:p>
        </p:txBody>
      </p:sp>
      <p:sp>
        <p:nvSpPr>
          <p:cNvPr id="84" name="Rectangle 83"/>
          <p:cNvSpPr/>
          <p:nvPr/>
        </p:nvSpPr>
        <p:spPr>
          <a:xfrm>
            <a:off x="9628632" y="3273552"/>
            <a:ext cx="1700784" cy="9525"/>
          </a:xfrm>
          <a:prstGeom prst="rect">
            <a:avLst/>
          </a:prstGeom>
          <a:solidFill>
            <a:srgbClr val="5F6B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9400032" y="3300984"/>
            <a:ext cx="457200" cy="164592"/>
          </a:xfrm>
          <a:prstGeom prst="rect">
            <a:avLst/>
          </a:prstGeom>
          <a:noFill/>
        </p:spPr>
        <p:txBody>
          <a:bodyPr wrap="square" lIns="0" rIns="0" tIns="0" bIns="0" anchor="t">
            <a:noAutofit/>
          </a:bodyPr>
          <a:lstStyle/>
          <a:p>
            <a:pPr algn="ctr">
              <a:spcAft>
                <a:spcPts val="0"/>
              </a:spcAft>
            </a:pPr>
            <a:r>
              <a:rPr sz="900" b="0">
                <a:solidFill>
                  <a:srgbClr val="5F6B78"/>
                </a:solidFill>
                <a:latin typeface="Arial"/>
              </a:rPr>
              <a:t>0</a:t>
            </a:r>
          </a:p>
        </p:txBody>
      </p:sp>
      <p:sp>
        <p:nvSpPr>
          <p:cNvPr id="86" name="TextBox 85"/>
          <p:cNvSpPr txBox="1"/>
          <p:nvPr/>
        </p:nvSpPr>
        <p:spPr>
          <a:xfrm>
            <a:off x="10250424" y="3300984"/>
            <a:ext cx="457200" cy="164592"/>
          </a:xfrm>
          <a:prstGeom prst="rect">
            <a:avLst/>
          </a:prstGeom>
          <a:noFill/>
        </p:spPr>
        <p:txBody>
          <a:bodyPr wrap="square" lIns="0" rIns="0" tIns="0" bIns="0" anchor="t">
            <a:noAutofit/>
          </a:bodyPr>
          <a:lstStyle/>
          <a:p>
            <a:pPr algn="ctr">
              <a:spcAft>
                <a:spcPts val="0"/>
              </a:spcAft>
            </a:pPr>
            <a:r>
              <a:rPr sz="900" b="0">
                <a:solidFill>
                  <a:srgbClr val="5F6B78"/>
                </a:solidFill>
                <a:latin typeface="Arial"/>
              </a:rPr>
              <a:t>50</a:t>
            </a:r>
          </a:p>
        </p:txBody>
      </p:sp>
      <p:sp>
        <p:nvSpPr>
          <p:cNvPr id="87" name="TextBox 86"/>
          <p:cNvSpPr txBox="1"/>
          <p:nvPr/>
        </p:nvSpPr>
        <p:spPr>
          <a:xfrm>
            <a:off x="11100816" y="3300984"/>
            <a:ext cx="457200" cy="164592"/>
          </a:xfrm>
          <a:prstGeom prst="rect">
            <a:avLst/>
          </a:prstGeom>
          <a:noFill/>
        </p:spPr>
        <p:txBody>
          <a:bodyPr wrap="square" lIns="0" rIns="0" tIns="0" bIns="0" anchor="t">
            <a:noAutofit/>
          </a:bodyPr>
          <a:lstStyle/>
          <a:p>
            <a:pPr algn="ctr">
              <a:spcAft>
                <a:spcPts val="0"/>
              </a:spcAft>
            </a:pPr>
            <a:r>
              <a:rPr sz="900" b="0">
                <a:solidFill>
                  <a:srgbClr val="5F6B78"/>
                </a:solidFill>
                <a:latin typeface="Arial"/>
              </a:rPr>
              <a:t>100</a:t>
            </a:r>
          </a:p>
        </p:txBody>
      </p:sp>
      <p:sp>
        <p:nvSpPr>
          <p:cNvPr id="88" name="TextBox 87"/>
          <p:cNvSpPr txBox="1"/>
          <p:nvPr/>
        </p:nvSpPr>
        <p:spPr>
          <a:xfrm>
            <a:off x="7891271" y="3493008"/>
            <a:ext cx="3849624" cy="182880"/>
          </a:xfrm>
          <a:prstGeom prst="rect">
            <a:avLst/>
          </a:prstGeom>
          <a:noFill/>
        </p:spPr>
        <p:txBody>
          <a:bodyPr wrap="square" lIns="0" rIns="0" tIns="0" bIns="0" anchor="t">
            <a:noAutofit/>
          </a:bodyPr>
          <a:lstStyle/>
          <a:p>
            <a:pPr algn="l">
              <a:spcAft>
                <a:spcPts val="0"/>
              </a:spcAft>
            </a:pPr>
            <a:r>
              <a:rPr sz="900" b="0">
                <a:solidFill>
                  <a:srgbClr val="5F6B78"/>
                </a:solidFill>
                <a:latin typeface="Arial"/>
              </a:rPr>
              <a:t>473 of 505 clean Severstal frames flagged before, 164 after</a:t>
            </a:r>
          </a:p>
        </p:txBody>
      </p:sp>
      <p:sp>
        <p:nvSpPr>
          <p:cNvPr id="89" name="Rectangle 88"/>
          <p:cNvSpPr/>
          <p:nvPr/>
        </p:nvSpPr>
        <p:spPr>
          <a:xfrm>
            <a:off x="566928" y="3858768"/>
            <a:ext cx="7086600" cy="2103120"/>
          </a:xfrm>
          <a:prstGeom prst="rect">
            <a:avLst/>
          </a:prstGeom>
          <a:solidFill>
            <a:srgbClr val="FFFFFF"/>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566928" y="3858768"/>
            <a:ext cx="7086600" cy="274320"/>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76656" y="3899915"/>
            <a:ext cx="1712793" cy="201168"/>
          </a:xfrm>
          <a:prstGeom prst="rect">
            <a:avLst/>
          </a:prstGeom>
          <a:noFill/>
        </p:spPr>
        <p:txBody>
          <a:bodyPr wrap="square" lIns="0" rIns="0" tIns="0" bIns="0" anchor="t">
            <a:noAutofit/>
          </a:bodyPr>
          <a:lstStyle/>
          <a:p>
            <a:pPr algn="l">
              <a:spcAft>
                <a:spcPts val="0"/>
              </a:spcAft>
            </a:pPr>
            <a:r>
              <a:rPr sz="1050" b="1">
                <a:solidFill>
                  <a:srgbClr val="FFFFFF"/>
                </a:solidFill>
                <a:latin typeface="Arial"/>
              </a:rPr>
              <a:t>Pilot Roadmap, 20 Months</a:t>
            </a:r>
          </a:p>
        </p:txBody>
      </p:sp>
      <p:sp>
        <p:nvSpPr>
          <p:cNvPr id="92" name="TextBox 91"/>
          <p:cNvSpPr txBox="1"/>
          <p:nvPr/>
        </p:nvSpPr>
        <p:spPr>
          <a:xfrm>
            <a:off x="2572329" y="3913631"/>
            <a:ext cx="4971470" cy="182880"/>
          </a:xfrm>
          <a:prstGeom prst="rect">
            <a:avLst/>
          </a:prstGeom>
          <a:noFill/>
        </p:spPr>
        <p:txBody>
          <a:bodyPr wrap="square" lIns="0" rIns="0" tIns="0" bIns="0" anchor="t">
            <a:noAutofit/>
          </a:bodyPr>
          <a:lstStyle/>
          <a:p>
            <a:pPr algn="r">
              <a:spcAft>
                <a:spcPts val="0"/>
              </a:spcAft>
            </a:pPr>
            <a:r>
              <a:rPr sz="900" b="0">
                <a:solidFill>
                  <a:srgbClr val="BFD2E2"/>
                </a:solidFill>
                <a:latin typeface="Arial"/>
              </a:rPr>
              <a:t>phase plan; 0.6 h retrain measured</a:t>
            </a:r>
          </a:p>
        </p:txBody>
      </p:sp>
      <p:sp>
        <p:nvSpPr>
          <p:cNvPr id="93" name="TextBox 92"/>
          <p:cNvSpPr txBox="1"/>
          <p:nvPr/>
        </p:nvSpPr>
        <p:spPr>
          <a:xfrm>
            <a:off x="694944" y="4224528"/>
            <a:ext cx="2103120" cy="164592"/>
          </a:xfrm>
          <a:prstGeom prst="rect">
            <a:avLst/>
          </a:prstGeom>
          <a:noFill/>
        </p:spPr>
        <p:txBody>
          <a:bodyPr wrap="square" lIns="0" rIns="0" tIns="0" bIns="0" anchor="t">
            <a:noAutofit/>
          </a:bodyPr>
          <a:lstStyle/>
          <a:p>
            <a:pPr algn="l">
              <a:spcAft>
                <a:spcPts val="0"/>
              </a:spcAft>
            </a:pPr>
            <a:r>
              <a:rPr sz="900" b="1">
                <a:solidFill>
                  <a:srgbClr val="5F6B78"/>
                </a:solidFill>
                <a:latin typeface="Arial"/>
              </a:rPr>
              <a:t>PHASE</a:t>
            </a:r>
          </a:p>
        </p:txBody>
      </p:sp>
      <p:sp>
        <p:nvSpPr>
          <p:cNvPr id="94" name="TextBox 93"/>
          <p:cNvSpPr txBox="1"/>
          <p:nvPr/>
        </p:nvSpPr>
        <p:spPr>
          <a:xfrm>
            <a:off x="5468112" y="4224528"/>
            <a:ext cx="2057400" cy="164592"/>
          </a:xfrm>
          <a:prstGeom prst="rect">
            <a:avLst/>
          </a:prstGeom>
          <a:noFill/>
        </p:spPr>
        <p:txBody>
          <a:bodyPr wrap="square" lIns="0" rIns="0" tIns="0" bIns="0" anchor="t">
            <a:noAutofit/>
          </a:bodyPr>
          <a:lstStyle/>
          <a:p>
            <a:pPr algn="l">
              <a:spcAft>
                <a:spcPts val="0"/>
              </a:spcAft>
            </a:pPr>
            <a:r>
              <a:rPr sz="900" b="1">
                <a:solidFill>
                  <a:srgbClr val="5F6B78"/>
                </a:solidFill>
                <a:latin typeface="Arial"/>
              </a:rPr>
              <a:t>EXIT GATE</a:t>
            </a:r>
          </a:p>
        </p:txBody>
      </p:sp>
      <p:sp>
        <p:nvSpPr>
          <p:cNvPr id="95" name="TextBox 94"/>
          <p:cNvSpPr txBox="1"/>
          <p:nvPr/>
        </p:nvSpPr>
        <p:spPr>
          <a:xfrm>
            <a:off x="2615183" y="4224528"/>
            <a:ext cx="365760" cy="164592"/>
          </a:xfrm>
          <a:prstGeom prst="rect">
            <a:avLst/>
          </a:prstGeom>
          <a:noFill/>
        </p:spPr>
        <p:txBody>
          <a:bodyPr wrap="square" lIns="0" rIns="0" tIns="0" bIns="0" anchor="t">
            <a:noAutofit/>
          </a:bodyPr>
          <a:lstStyle/>
          <a:p>
            <a:pPr algn="ctr">
              <a:spcAft>
                <a:spcPts val="0"/>
              </a:spcAft>
            </a:pPr>
            <a:r>
              <a:rPr sz="900" b="0">
                <a:solidFill>
                  <a:srgbClr val="5F6B78"/>
                </a:solidFill>
                <a:latin typeface="Arial"/>
              </a:rPr>
              <a:t>m0</a:t>
            </a:r>
          </a:p>
        </p:txBody>
      </p:sp>
      <p:sp>
        <p:nvSpPr>
          <p:cNvPr id="96" name="TextBox 95"/>
          <p:cNvSpPr txBox="1"/>
          <p:nvPr/>
        </p:nvSpPr>
        <p:spPr>
          <a:xfrm>
            <a:off x="3076041" y="4224528"/>
            <a:ext cx="365760" cy="164592"/>
          </a:xfrm>
          <a:prstGeom prst="rect">
            <a:avLst/>
          </a:prstGeom>
          <a:noFill/>
        </p:spPr>
        <p:txBody>
          <a:bodyPr wrap="square" lIns="0" rIns="0" tIns="0" bIns="0" anchor="t">
            <a:noAutofit/>
          </a:bodyPr>
          <a:lstStyle/>
          <a:p>
            <a:pPr algn="ctr">
              <a:spcAft>
                <a:spcPts val="0"/>
              </a:spcAft>
            </a:pPr>
            <a:r>
              <a:rPr sz="900" b="0">
                <a:solidFill>
                  <a:srgbClr val="5F6B78"/>
                </a:solidFill>
                <a:latin typeface="Arial"/>
              </a:rPr>
              <a:t>m4</a:t>
            </a:r>
          </a:p>
        </p:txBody>
      </p:sp>
      <p:sp>
        <p:nvSpPr>
          <p:cNvPr id="97" name="TextBox 96"/>
          <p:cNvSpPr txBox="1"/>
          <p:nvPr/>
        </p:nvSpPr>
        <p:spPr>
          <a:xfrm>
            <a:off x="3536899" y="4224528"/>
            <a:ext cx="365760" cy="164592"/>
          </a:xfrm>
          <a:prstGeom prst="rect">
            <a:avLst/>
          </a:prstGeom>
          <a:noFill/>
        </p:spPr>
        <p:txBody>
          <a:bodyPr wrap="square" lIns="0" rIns="0" tIns="0" bIns="0" anchor="t">
            <a:noAutofit/>
          </a:bodyPr>
          <a:lstStyle/>
          <a:p>
            <a:pPr algn="ctr">
              <a:spcAft>
                <a:spcPts val="0"/>
              </a:spcAft>
            </a:pPr>
            <a:r>
              <a:rPr sz="900" b="0">
                <a:solidFill>
                  <a:srgbClr val="5F6B78"/>
                </a:solidFill>
                <a:latin typeface="Arial"/>
              </a:rPr>
              <a:t>m8</a:t>
            </a:r>
          </a:p>
        </p:txBody>
      </p:sp>
      <p:sp>
        <p:nvSpPr>
          <p:cNvPr id="98" name="TextBox 97"/>
          <p:cNvSpPr txBox="1"/>
          <p:nvPr/>
        </p:nvSpPr>
        <p:spPr>
          <a:xfrm>
            <a:off x="3997756" y="4224528"/>
            <a:ext cx="365760" cy="164592"/>
          </a:xfrm>
          <a:prstGeom prst="rect">
            <a:avLst/>
          </a:prstGeom>
          <a:noFill/>
        </p:spPr>
        <p:txBody>
          <a:bodyPr wrap="square" lIns="0" rIns="0" tIns="0" bIns="0" anchor="t">
            <a:noAutofit/>
          </a:bodyPr>
          <a:lstStyle/>
          <a:p>
            <a:pPr algn="ctr">
              <a:spcAft>
                <a:spcPts val="0"/>
              </a:spcAft>
            </a:pPr>
            <a:r>
              <a:rPr sz="900" b="0">
                <a:solidFill>
                  <a:srgbClr val="5F6B78"/>
                </a:solidFill>
                <a:latin typeface="Arial"/>
              </a:rPr>
              <a:t>m12</a:t>
            </a:r>
          </a:p>
        </p:txBody>
      </p:sp>
      <p:sp>
        <p:nvSpPr>
          <p:cNvPr id="99" name="TextBox 98"/>
          <p:cNvSpPr txBox="1"/>
          <p:nvPr/>
        </p:nvSpPr>
        <p:spPr>
          <a:xfrm>
            <a:off x="4458614" y="4224528"/>
            <a:ext cx="365760" cy="164592"/>
          </a:xfrm>
          <a:prstGeom prst="rect">
            <a:avLst/>
          </a:prstGeom>
          <a:noFill/>
        </p:spPr>
        <p:txBody>
          <a:bodyPr wrap="square" lIns="0" rIns="0" tIns="0" bIns="0" anchor="t">
            <a:noAutofit/>
          </a:bodyPr>
          <a:lstStyle/>
          <a:p>
            <a:pPr algn="ctr">
              <a:spcAft>
                <a:spcPts val="0"/>
              </a:spcAft>
            </a:pPr>
            <a:r>
              <a:rPr sz="900" b="0">
                <a:solidFill>
                  <a:srgbClr val="5F6B78"/>
                </a:solidFill>
                <a:latin typeface="Arial"/>
              </a:rPr>
              <a:t>m16</a:t>
            </a:r>
          </a:p>
        </p:txBody>
      </p:sp>
      <p:sp>
        <p:nvSpPr>
          <p:cNvPr id="100" name="TextBox 99"/>
          <p:cNvSpPr txBox="1"/>
          <p:nvPr/>
        </p:nvSpPr>
        <p:spPr>
          <a:xfrm>
            <a:off x="4919472" y="4224528"/>
            <a:ext cx="365760" cy="164592"/>
          </a:xfrm>
          <a:prstGeom prst="rect">
            <a:avLst/>
          </a:prstGeom>
          <a:noFill/>
        </p:spPr>
        <p:txBody>
          <a:bodyPr wrap="square" lIns="0" rIns="0" tIns="0" bIns="0" anchor="t">
            <a:noAutofit/>
          </a:bodyPr>
          <a:lstStyle/>
          <a:p>
            <a:pPr algn="ctr">
              <a:spcAft>
                <a:spcPts val="0"/>
              </a:spcAft>
            </a:pPr>
            <a:r>
              <a:rPr sz="900" b="0">
                <a:solidFill>
                  <a:srgbClr val="5F6B78"/>
                </a:solidFill>
                <a:latin typeface="Arial"/>
              </a:rPr>
              <a:t>m20</a:t>
            </a:r>
          </a:p>
        </p:txBody>
      </p:sp>
      <p:sp>
        <p:nvSpPr>
          <p:cNvPr id="101" name="Rectangle 100"/>
          <p:cNvSpPr/>
          <p:nvPr/>
        </p:nvSpPr>
        <p:spPr>
          <a:xfrm>
            <a:off x="694944" y="4416552"/>
            <a:ext cx="6830568" cy="9525"/>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694944" y="4498848"/>
            <a:ext cx="2011679" cy="243230"/>
          </a:xfrm>
          <a:prstGeom prst="rect">
            <a:avLst/>
          </a:prstGeom>
          <a:noFill/>
        </p:spPr>
        <p:txBody>
          <a:bodyPr wrap="square" lIns="0" rIns="0" tIns="0" bIns="0" anchor="t">
            <a:noAutofit/>
          </a:bodyPr>
          <a:lstStyle/>
          <a:p>
            <a:pPr algn="l">
              <a:spcAft>
                <a:spcPts val="0"/>
              </a:spcAft>
            </a:pPr>
            <a:r>
              <a:rPr sz="900" b="1">
                <a:solidFill>
                  <a:srgbClr val="0086C3"/>
                </a:solidFill>
                <a:latin typeface="Arial"/>
              </a:rPr>
              <a:t>P0  </a:t>
            </a:r>
            <a:r>
              <a:rPr sz="900" b="0">
                <a:solidFill>
                  <a:srgbClr val="141C24"/>
                </a:solidFill>
                <a:latin typeface="Arial"/>
              </a:rPr>
              <a:t>Instrument one line</a:t>
            </a:r>
          </a:p>
        </p:txBody>
      </p:sp>
      <p:sp>
        <p:nvSpPr>
          <p:cNvPr id="103" name="Rectangle 102"/>
          <p:cNvSpPr/>
          <p:nvPr/>
        </p:nvSpPr>
        <p:spPr>
          <a:xfrm>
            <a:off x="2798063" y="4606747"/>
            <a:ext cx="2304288" cy="9144"/>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2798063" y="4517136"/>
            <a:ext cx="172821" cy="188366"/>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5468112" y="4498848"/>
            <a:ext cx="2057400" cy="243230"/>
          </a:xfrm>
          <a:prstGeom prst="rect">
            <a:avLst/>
          </a:prstGeom>
          <a:noFill/>
        </p:spPr>
        <p:txBody>
          <a:bodyPr wrap="square" lIns="0" rIns="0" tIns="0" bIns="0" anchor="t">
            <a:noAutofit/>
          </a:bodyPr>
          <a:lstStyle/>
          <a:p>
            <a:pPr algn="l">
              <a:spcAft>
                <a:spcPts val="0"/>
              </a:spcAft>
            </a:pPr>
            <a:r>
              <a:rPr sz="900" b="0">
                <a:solidFill>
                  <a:srgbClr val="33414F"/>
                </a:solidFill>
                <a:latin typeface="Arial"/>
              </a:rPr>
              <a:t>Frames captured at line speed</a:t>
            </a:r>
          </a:p>
        </p:txBody>
      </p:sp>
      <p:sp>
        <p:nvSpPr>
          <p:cNvPr id="106" name="TextBox 105"/>
          <p:cNvSpPr txBox="1"/>
          <p:nvPr/>
        </p:nvSpPr>
        <p:spPr>
          <a:xfrm>
            <a:off x="694944" y="4778654"/>
            <a:ext cx="2011679" cy="243230"/>
          </a:xfrm>
          <a:prstGeom prst="rect">
            <a:avLst/>
          </a:prstGeom>
          <a:noFill/>
        </p:spPr>
        <p:txBody>
          <a:bodyPr wrap="square" lIns="0" rIns="0" tIns="0" bIns="0" anchor="t">
            <a:noAutofit/>
          </a:bodyPr>
          <a:lstStyle/>
          <a:p>
            <a:pPr algn="l">
              <a:spcAft>
                <a:spcPts val="0"/>
              </a:spcAft>
            </a:pPr>
            <a:r>
              <a:rPr sz="900" b="1">
                <a:solidFill>
                  <a:srgbClr val="0086C3"/>
                </a:solidFill>
                <a:latin typeface="Arial"/>
              </a:rPr>
              <a:t>P1  </a:t>
            </a:r>
            <a:r>
              <a:rPr sz="900" b="0">
                <a:solidFill>
                  <a:srgbClr val="141C24"/>
                </a:solidFill>
                <a:latin typeface="Arial"/>
              </a:rPr>
              <a:t>Fine-tune on Jindal strip</a:t>
            </a:r>
          </a:p>
        </p:txBody>
      </p:sp>
      <p:sp>
        <p:nvSpPr>
          <p:cNvPr id="107" name="Rectangle 106"/>
          <p:cNvSpPr/>
          <p:nvPr/>
        </p:nvSpPr>
        <p:spPr>
          <a:xfrm>
            <a:off x="2798063" y="4886553"/>
            <a:ext cx="2304288" cy="9144"/>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2970885" y="4796942"/>
            <a:ext cx="288036" cy="188366"/>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5468112" y="4778654"/>
            <a:ext cx="2057400" cy="243230"/>
          </a:xfrm>
          <a:prstGeom prst="rect">
            <a:avLst/>
          </a:prstGeom>
          <a:noFill/>
        </p:spPr>
        <p:txBody>
          <a:bodyPr wrap="square" lIns="0" rIns="0" tIns="0" bIns="0" anchor="t">
            <a:noAutofit/>
          </a:bodyPr>
          <a:lstStyle/>
          <a:p>
            <a:pPr algn="l">
              <a:spcAft>
                <a:spcPts val="0"/>
              </a:spcAft>
            </a:pPr>
            <a:r>
              <a:rPr sz="900" b="0">
                <a:solidFill>
                  <a:srgbClr val="33414F"/>
                </a:solidFill>
                <a:latin typeface="Arial"/>
              </a:rPr>
              <a:t>Clean-strip alarms under target</a:t>
            </a:r>
          </a:p>
        </p:txBody>
      </p:sp>
      <p:sp>
        <p:nvSpPr>
          <p:cNvPr id="110" name="TextBox 109"/>
          <p:cNvSpPr txBox="1"/>
          <p:nvPr/>
        </p:nvSpPr>
        <p:spPr>
          <a:xfrm>
            <a:off x="694944" y="5058460"/>
            <a:ext cx="2011679" cy="243230"/>
          </a:xfrm>
          <a:prstGeom prst="rect">
            <a:avLst/>
          </a:prstGeom>
          <a:noFill/>
        </p:spPr>
        <p:txBody>
          <a:bodyPr wrap="square" lIns="0" rIns="0" tIns="0" bIns="0" anchor="t">
            <a:noAutofit/>
          </a:bodyPr>
          <a:lstStyle/>
          <a:p>
            <a:pPr algn="l">
              <a:spcAft>
                <a:spcPts val="0"/>
              </a:spcAft>
            </a:pPr>
            <a:r>
              <a:rPr sz="900" b="1">
                <a:solidFill>
                  <a:srgbClr val="0086C3"/>
                </a:solidFill>
                <a:latin typeface="Arial"/>
              </a:rPr>
              <a:t>P2  </a:t>
            </a:r>
            <a:r>
              <a:rPr sz="900" b="0">
                <a:solidFill>
                  <a:srgbClr val="141C24"/>
                </a:solidFill>
                <a:latin typeface="Arial"/>
              </a:rPr>
              <a:t>Shadow mode, no interlock</a:t>
            </a:r>
          </a:p>
        </p:txBody>
      </p:sp>
      <p:sp>
        <p:nvSpPr>
          <p:cNvPr id="111" name="Rectangle 110"/>
          <p:cNvSpPr/>
          <p:nvPr/>
        </p:nvSpPr>
        <p:spPr>
          <a:xfrm>
            <a:off x="2798063" y="5166360"/>
            <a:ext cx="2304288" cy="9144"/>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3258921" y="5076748"/>
            <a:ext cx="345643" cy="188366"/>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468112" y="5058460"/>
            <a:ext cx="2057400" cy="243230"/>
          </a:xfrm>
          <a:prstGeom prst="rect">
            <a:avLst/>
          </a:prstGeom>
          <a:noFill/>
        </p:spPr>
        <p:txBody>
          <a:bodyPr wrap="square" lIns="0" rIns="0" tIns="0" bIns="0" anchor="t">
            <a:noAutofit/>
          </a:bodyPr>
          <a:lstStyle/>
          <a:p>
            <a:pPr algn="l">
              <a:spcAft>
                <a:spcPts val="0"/>
              </a:spcAft>
            </a:pPr>
            <a:r>
              <a:rPr sz="900" b="0">
                <a:solidFill>
                  <a:srgbClr val="33414F"/>
                </a:solidFill>
                <a:latin typeface="Arial"/>
              </a:rPr>
              <a:t>Operator-verified alarm rate</a:t>
            </a:r>
          </a:p>
        </p:txBody>
      </p:sp>
      <p:sp>
        <p:nvSpPr>
          <p:cNvPr id="114" name="TextBox 113"/>
          <p:cNvSpPr txBox="1"/>
          <p:nvPr/>
        </p:nvSpPr>
        <p:spPr>
          <a:xfrm>
            <a:off x="694944" y="5338267"/>
            <a:ext cx="2011679" cy="243230"/>
          </a:xfrm>
          <a:prstGeom prst="rect">
            <a:avLst/>
          </a:prstGeom>
          <a:noFill/>
        </p:spPr>
        <p:txBody>
          <a:bodyPr wrap="square" lIns="0" rIns="0" tIns="0" bIns="0" anchor="t">
            <a:noAutofit/>
          </a:bodyPr>
          <a:lstStyle/>
          <a:p>
            <a:pPr algn="l">
              <a:spcAft>
                <a:spcPts val="0"/>
              </a:spcAft>
            </a:pPr>
            <a:r>
              <a:rPr sz="900" b="1">
                <a:solidFill>
                  <a:srgbClr val="0086C3"/>
                </a:solidFill>
                <a:latin typeface="Arial"/>
              </a:rPr>
              <a:t>P3  </a:t>
            </a:r>
            <a:r>
              <a:rPr sz="900" b="0">
                <a:solidFill>
                  <a:srgbClr val="141C24"/>
                </a:solidFill>
                <a:latin typeface="Arial"/>
              </a:rPr>
              <a:t>PLC hold on severe defects</a:t>
            </a:r>
          </a:p>
        </p:txBody>
      </p:sp>
      <p:sp>
        <p:nvSpPr>
          <p:cNvPr id="115" name="Rectangle 114"/>
          <p:cNvSpPr/>
          <p:nvPr/>
        </p:nvSpPr>
        <p:spPr>
          <a:xfrm>
            <a:off x="2798063" y="5446166"/>
            <a:ext cx="2304288" cy="9144"/>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3604564" y="5356555"/>
            <a:ext cx="576072" cy="188366"/>
          </a:xfrm>
          <a:prstGeom prst="rect">
            <a:avLst/>
          </a:prstGeom>
          <a:solidFill>
            <a:srgbClr val="2B5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5468112" y="5338267"/>
            <a:ext cx="2057400" cy="243230"/>
          </a:xfrm>
          <a:prstGeom prst="rect">
            <a:avLst/>
          </a:prstGeom>
          <a:noFill/>
        </p:spPr>
        <p:txBody>
          <a:bodyPr wrap="square" lIns="0" rIns="0" tIns="0" bIns="0" anchor="t">
            <a:noAutofit/>
          </a:bodyPr>
          <a:lstStyle/>
          <a:p>
            <a:pPr algn="l">
              <a:spcAft>
                <a:spcPts val="0"/>
              </a:spcAft>
            </a:pPr>
            <a:r>
              <a:rPr sz="900" b="0">
                <a:solidFill>
                  <a:srgbClr val="33414F"/>
                </a:solidFill>
                <a:latin typeface="Arial"/>
              </a:rPr>
              <a:t>Hold decisions trusted</a:t>
            </a:r>
          </a:p>
        </p:txBody>
      </p:sp>
      <p:sp>
        <p:nvSpPr>
          <p:cNvPr id="118" name="TextBox 117"/>
          <p:cNvSpPr txBox="1"/>
          <p:nvPr/>
        </p:nvSpPr>
        <p:spPr>
          <a:xfrm>
            <a:off x="694944" y="5618073"/>
            <a:ext cx="2011679" cy="243230"/>
          </a:xfrm>
          <a:prstGeom prst="rect">
            <a:avLst/>
          </a:prstGeom>
          <a:noFill/>
        </p:spPr>
        <p:txBody>
          <a:bodyPr wrap="square" lIns="0" rIns="0" tIns="0" bIns="0" anchor="t">
            <a:noAutofit/>
          </a:bodyPr>
          <a:lstStyle/>
          <a:p>
            <a:pPr algn="l">
              <a:spcAft>
                <a:spcPts val="0"/>
              </a:spcAft>
            </a:pPr>
            <a:r>
              <a:rPr sz="900" b="1">
                <a:solidFill>
                  <a:srgbClr val="0086C3"/>
                </a:solidFill>
                <a:latin typeface="Arial"/>
              </a:rPr>
              <a:t>P4  </a:t>
            </a:r>
            <a:r>
              <a:rPr sz="900" b="0">
                <a:solidFill>
                  <a:srgbClr val="141C24"/>
                </a:solidFill>
                <a:latin typeface="Arial"/>
              </a:rPr>
              <a:t>Second line and grade</a:t>
            </a:r>
          </a:p>
        </p:txBody>
      </p:sp>
      <p:sp>
        <p:nvSpPr>
          <p:cNvPr id="119" name="Rectangle 118"/>
          <p:cNvSpPr/>
          <p:nvPr/>
        </p:nvSpPr>
        <p:spPr>
          <a:xfrm>
            <a:off x="2798063" y="5725972"/>
            <a:ext cx="2304288" cy="9144"/>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4180636" y="5636361"/>
            <a:ext cx="921715" cy="188366"/>
          </a:xfrm>
          <a:prstGeom prst="rect">
            <a:avLst/>
          </a:prstGeom>
          <a:solidFill>
            <a:srgbClr val="2B5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468112" y="5618073"/>
            <a:ext cx="2057400" cy="243230"/>
          </a:xfrm>
          <a:prstGeom prst="rect">
            <a:avLst/>
          </a:prstGeom>
          <a:noFill/>
        </p:spPr>
        <p:txBody>
          <a:bodyPr wrap="square" lIns="0" rIns="0" tIns="0" bIns="0" anchor="t">
            <a:noAutofit/>
          </a:bodyPr>
          <a:lstStyle/>
          <a:p>
            <a:pPr algn="l">
              <a:spcAft>
                <a:spcPts val="0"/>
              </a:spcAft>
            </a:pPr>
            <a:r>
              <a:rPr sz="900" b="0">
                <a:solidFill>
                  <a:srgbClr val="33414F"/>
                </a:solidFill>
                <a:latin typeface="Arial"/>
              </a:rPr>
              <a:t>Fleet rollout decision</a:t>
            </a:r>
          </a:p>
        </p:txBody>
      </p:sp>
      <p:sp>
        <p:nvSpPr>
          <p:cNvPr id="122" name="Rectangle 121"/>
          <p:cNvSpPr/>
          <p:nvPr/>
        </p:nvSpPr>
        <p:spPr>
          <a:xfrm>
            <a:off x="3604564" y="4434840"/>
            <a:ext cx="10972" cy="1417319"/>
          </a:xfrm>
          <a:prstGeom prst="rect">
            <a:avLst/>
          </a:prstGeom>
          <a:solidFill>
            <a:srgbClr val="008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3677716" y="4498848"/>
            <a:ext cx="1424635" cy="243230"/>
          </a:xfrm>
          <a:prstGeom prst="rect">
            <a:avLst/>
          </a:prstGeom>
          <a:noFill/>
        </p:spPr>
        <p:txBody>
          <a:bodyPr wrap="square" lIns="0" rIns="0" tIns="0" bIns="0" anchor="t">
            <a:noAutofit/>
          </a:bodyPr>
          <a:lstStyle/>
          <a:p>
            <a:pPr algn="l">
              <a:spcAft>
                <a:spcPts val="0"/>
              </a:spcAft>
            </a:pPr>
            <a:r>
              <a:rPr sz="900" b="1">
                <a:solidFill>
                  <a:srgbClr val="0086C3"/>
                </a:solidFill>
                <a:latin typeface="Arial"/>
              </a:rPr>
              <a:t>pilot go / no-go</a:t>
            </a:r>
          </a:p>
        </p:txBody>
      </p:sp>
      <p:sp>
        <p:nvSpPr>
          <p:cNvPr id="124" name="Rectangle 123"/>
          <p:cNvSpPr/>
          <p:nvPr/>
        </p:nvSpPr>
        <p:spPr>
          <a:xfrm>
            <a:off x="7763255" y="3858768"/>
            <a:ext cx="4105656" cy="2103120"/>
          </a:xfrm>
          <a:prstGeom prst="rect">
            <a:avLst/>
          </a:prstGeom>
          <a:solidFill>
            <a:srgbClr val="FFFFFF"/>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7763255" y="3858768"/>
            <a:ext cx="4105656" cy="274320"/>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7872983" y="3899915"/>
            <a:ext cx="994499" cy="201168"/>
          </a:xfrm>
          <a:prstGeom prst="rect">
            <a:avLst/>
          </a:prstGeom>
          <a:noFill/>
        </p:spPr>
        <p:txBody>
          <a:bodyPr wrap="square" lIns="0" rIns="0" tIns="0" bIns="0" anchor="t">
            <a:noAutofit/>
          </a:bodyPr>
          <a:lstStyle/>
          <a:p>
            <a:pPr algn="l">
              <a:spcAft>
                <a:spcPts val="0"/>
              </a:spcAft>
            </a:pPr>
            <a:r>
              <a:rPr sz="1050" b="1">
                <a:solidFill>
                  <a:srgbClr val="FFFFFF"/>
                </a:solidFill>
                <a:latin typeface="Arial"/>
              </a:rPr>
              <a:t>Business Case</a:t>
            </a:r>
          </a:p>
        </p:txBody>
      </p:sp>
      <p:sp>
        <p:nvSpPr>
          <p:cNvPr id="127" name="TextBox 126"/>
          <p:cNvSpPr txBox="1"/>
          <p:nvPr/>
        </p:nvSpPr>
        <p:spPr>
          <a:xfrm>
            <a:off x="9050363" y="3913631"/>
            <a:ext cx="2708820" cy="182880"/>
          </a:xfrm>
          <a:prstGeom prst="rect">
            <a:avLst/>
          </a:prstGeom>
          <a:noFill/>
        </p:spPr>
        <p:txBody>
          <a:bodyPr wrap="square" lIns="0" rIns="0" tIns="0" bIns="0" anchor="t">
            <a:noAutofit/>
          </a:bodyPr>
          <a:lstStyle/>
          <a:p>
            <a:pPr algn="r">
              <a:spcAft>
                <a:spcPts val="0"/>
              </a:spcAft>
            </a:pPr>
            <a:r>
              <a:rPr sz="900" b="0">
                <a:solidFill>
                  <a:srgbClr val="BFD2E2"/>
                </a:solidFill>
                <a:latin typeface="Arial"/>
              </a:rPr>
              <a:t>research_notes s3a, FY26</a:t>
            </a:r>
          </a:p>
        </p:txBody>
      </p:sp>
      <p:sp>
        <p:nvSpPr>
          <p:cNvPr id="128" name="TextBox 127"/>
          <p:cNvSpPr txBox="1"/>
          <p:nvPr/>
        </p:nvSpPr>
        <p:spPr>
          <a:xfrm>
            <a:off x="7891271" y="4224528"/>
            <a:ext cx="3849624" cy="365760"/>
          </a:xfrm>
          <a:prstGeom prst="rect">
            <a:avLst/>
          </a:prstGeom>
          <a:noFill/>
        </p:spPr>
        <p:txBody>
          <a:bodyPr wrap="square" lIns="0" rIns="0" tIns="0" bIns="0" anchor="t">
            <a:noAutofit/>
          </a:bodyPr>
          <a:lstStyle/>
          <a:p>
            <a:pPr algn="l">
              <a:spcAft>
                <a:spcPts val="100"/>
              </a:spcAft>
            </a:pPr>
            <a:r>
              <a:rPr sz="900" b="0">
                <a:solidFill>
                  <a:srgbClr val="33414F"/>
                </a:solidFill>
                <a:latin typeface="Arial"/>
              </a:rPr>
              <a:t>2.57 Mt x 1% downgraded x 10% discount x INR 167,407/t</a:t>
            </a:r>
          </a:p>
          <a:p>
            <a:pPr algn="l">
              <a:spcAft>
                <a:spcPts val="0"/>
              </a:spcAft>
            </a:pPr>
            <a:r>
              <a:rPr sz="1000" b="1">
                <a:solidFill>
                  <a:srgbClr val="143A5A"/>
                </a:solidFill>
                <a:latin typeface="Arial"/>
              </a:rPr>
              <a:t>= INR 43 cr a year at risk</a:t>
            </a:r>
          </a:p>
        </p:txBody>
      </p:sp>
      <p:sp>
        <p:nvSpPr>
          <p:cNvPr id="129" name="TextBox 128"/>
          <p:cNvSpPr txBox="1"/>
          <p:nvPr/>
        </p:nvSpPr>
        <p:spPr>
          <a:xfrm>
            <a:off x="7891271" y="4626864"/>
            <a:ext cx="1362456" cy="164592"/>
          </a:xfrm>
          <a:prstGeom prst="rect">
            <a:avLst/>
          </a:prstGeom>
          <a:noFill/>
        </p:spPr>
        <p:txBody>
          <a:bodyPr wrap="square" lIns="0" rIns="0" tIns="0" bIns="0" anchor="t">
            <a:noAutofit/>
          </a:bodyPr>
          <a:lstStyle/>
          <a:p>
            <a:pPr algn="l">
              <a:spcAft>
                <a:spcPts val="0"/>
              </a:spcAft>
            </a:pPr>
            <a:r>
              <a:rPr sz="900" b="1">
                <a:solidFill>
                  <a:srgbClr val="5F6B78"/>
                </a:solidFill>
                <a:latin typeface="Arial"/>
              </a:rPr>
              <a:t>Downgraded \ discount</a:t>
            </a:r>
          </a:p>
        </p:txBody>
      </p:sp>
      <p:sp>
        <p:nvSpPr>
          <p:cNvPr id="130" name="TextBox 129"/>
          <p:cNvSpPr txBox="1"/>
          <p:nvPr/>
        </p:nvSpPr>
        <p:spPr>
          <a:xfrm>
            <a:off x="9308592" y="4626864"/>
            <a:ext cx="755904" cy="164592"/>
          </a:xfrm>
          <a:prstGeom prst="rect">
            <a:avLst/>
          </a:prstGeom>
          <a:noFill/>
        </p:spPr>
        <p:txBody>
          <a:bodyPr wrap="square" lIns="0" rIns="0" tIns="0" bIns="0" anchor="t">
            <a:noAutofit/>
          </a:bodyPr>
          <a:lstStyle/>
          <a:p>
            <a:pPr algn="r">
              <a:spcAft>
                <a:spcPts val="0"/>
              </a:spcAft>
            </a:pPr>
            <a:r>
              <a:rPr sz="900" b="1">
                <a:solidFill>
                  <a:srgbClr val="5F6B78"/>
                </a:solidFill>
                <a:latin typeface="Arial"/>
              </a:rPr>
              <a:t>10%</a:t>
            </a:r>
          </a:p>
        </p:txBody>
      </p:sp>
      <p:sp>
        <p:nvSpPr>
          <p:cNvPr id="131" name="TextBox 130"/>
          <p:cNvSpPr txBox="1"/>
          <p:nvPr/>
        </p:nvSpPr>
        <p:spPr>
          <a:xfrm>
            <a:off x="10119360" y="4626864"/>
            <a:ext cx="755904" cy="164592"/>
          </a:xfrm>
          <a:prstGeom prst="rect">
            <a:avLst/>
          </a:prstGeom>
          <a:noFill/>
        </p:spPr>
        <p:txBody>
          <a:bodyPr wrap="square" lIns="0" rIns="0" tIns="0" bIns="0" anchor="t">
            <a:noAutofit/>
          </a:bodyPr>
          <a:lstStyle/>
          <a:p>
            <a:pPr algn="r">
              <a:spcAft>
                <a:spcPts val="0"/>
              </a:spcAft>
            </a:pPr>
            <a:r>
              <a:rPr sz="900" b="1">
                <a:solidFill>
                  <a:srgbClr val="5F6B78"/>
                </a:solidFill>
                <a:latin typeface="Arial"/>
              </a:rPr>
              <a:t>15%</a:t>
            </a:r>
          </a:p>
        </p:txBody>
      </p:sp>
      <p:sp>
        <p:nvSpPr>
          <p:cNvPr id="132" name="TextBox 131"/>
          <p:cNvSpPr txBox="1"/>
          <p:nvPr/>
        </p:nvSpPr>
        <p:spPr>
          <a:xfrm>
            <a:off x="10930128" y="4626864"/>
            <a:ext cx="755904" cy="164592"/>
          </a:xfrm>
          <a:prstGeom prst="rect">
            <a:avLst/>
          </a:prstGeom>
          <a:noFill/>
        </p:spPr>
        <p:txBody>
          <a:bodyPr wrap="square" lIns="0" rIns="0" tIns="0" bIns="0" anchor="t">
            <a:noAutofit/>
          </a:bodyPr>
          <a:lstStyle/>
          <a:p>
            <a:pPr algn="r">
              <a:spcAft>
                <a:spcPts val="0"/>
              </a:spcAft>
            </a:pPr>
            <a:r>
              <a:rPr sz="900" b="1">
                <a:solidFill>
                  <a:srgbClr val="5F6B78"/>
                </a:solidFill>
                <a:latin typeface="Arial"/>
              </a:rPr>
              <a:t>20%</a:t>
            </a:r>
          </a:p>
        </p:txBody>
      </p:sp>
      <p:sp>
        <p:nvSpPr>
          <p:cNvPr id="133" name="Rectangle 132"/>
          <p:cNvSpPr/>
          <p:nvPr/>
        </p:nvSpPr>
        <p:spPr>
          <a:xfrm>
            <a:off x="7891271" y="4809744"/>
            <a:ext cx="3849624" cy="9525"/>
          </a:xfrm>
          <a:prstGeom prst="rect">
            <a:avLst/>
          </a:prstGeom>
          <a:solidFill>
            <a:srgbClr val="D5D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7891271" y="4837176"/>
            <a:ext cx="1362456" cy="164592"/>
          </a:xfrm>
          <a:prstGeom prst="rect">
            <a:avLst/>
          </a:prstGeom>
          <a:noFill/>
        </p:spPr>
        <p:txBody>
          <a:bodyPr wrap="square" lIns="0" rIns="0" tIns="0" bIns="0" anchor="t">
            <a:noAutofit/>
          </a:bodyPr>
          <a:lstStyle/>
          <a:p>
            <a:pPr algn="l">
              <a:spcAft>
                <a:spcPts val="0"/>
              </a:spcAft>
            </a:pPr>
            <a:r>
              <a:rPr sz="900" b="0">
                <a:solidFill>
                  <a:srgbClr val="33414F"/>
                </a:solidFill>
                <a:latin typeface="Arial"/>
              </a:rPr>
              <a:t>0.5% of volume</a:t>
            </a:r>
          </a:p>
        </p:txBody>
      </p:sp>
      <p:sp>
        <p:nvSpPr>
          <p:cNvPr id="135" name="TextBox 134"/>
          <p:cNvSpPr txBox="1"/>
          <p:nvPr/>
        </p:nvSpPr>
        <p:spPr>
          <a:xfrm>
            <a:off x="9308592" y="4837176"/>
            <a:ext cx="755904" cy="164592"/>
          </a:xfrm>
          <a:prstGeom prst="rect">
            <a:avLst/>
          </a:prstGeom>
          <a:noFill/>
        </p:spPr>
        <p:txBody>
          <a:bodyPr wrap="square" lIns="0" rIns="0" tIns="0" bIns="0" anchor="t">
            <a:noAutofit/>
          </a:bodyPr>
          <a:lstStyle/>
          <a:p>
            <a:pPr algn="r">
              <a:spcAft>
                <a:spcPts val="0"/>
              </a:spcAft>
            </a:pPr>
            <a:r>
              <a:rPr sz="900" b="0">
                <a:solidFill>
                  <a:srgbClr val="33414F"/>
                </a:solidFill>
                <a:latin typeface="Arial"/>
              </a:rPr>
              <a:t>21</a:t>
            </a:r>
          </a:p>
        </p:txBody>
      </p:sp>
      <p:sp>
        <p:nvSpPr>
          <p:cNvPr id="136" name="TextBox 135"/>
          <p:cNvSpPr txBox="1"/>
          <p:nvPr/>
        </p:nvSpPr>
        <p:spPr>
          <a:xfrm>
            <a:off x="10119360" y="4837176"/>
            <a:ext cx="755904" cy="164592"/>
          </a:xfrm>
          <a:prstGeom prst="rect">
            <a:avLst/>
          </a:prstGeom>
          <a:noFill/>
        </p:spPr>
        <p:txBody>
          <a:bodyPr wrap="square" lIns="0" rIns="0" tIns="0" bIns="0" anchor="t">
            <a:noAutofit/>
          </a:bodyPr>
          <a:lstStyle/>
          <a:p>
            <a:pPr algn="r">
              <a:spcAft>
                <a:spcPts val="0"/>
              </a:spcAft>
            </a:pPr>
            <a:r>
              <a:rPr sz="900" b="0">
                <a:solidFill>
                  <a:srgbClr val="33414F"/>
                </a:solidFill>
                <a:latin typeface="Arial"/>
              </a:rPr>
              <a:t>32</a:t>
            </a:r>
          </a:p>
        </p:txBody>
      </p:sp>
      <p:sp>
        <p:nvSpPr>
          <p:cNvPr id="137" name="TextBox 136"/>
          <p:cNvSpPr txBox="1"/>
          <p:nvPr/>
        </p:nvSpPr>
        <p:spPr>
          <a:xfrm>
            <a:off x="10930128" y="4837176"/>
            <a:ext cx="755904" cy="164592"/>
          </a:xfrm>
          <a:prstGeom prst="rect">
            <a:avLst/>
          </a:prstGeom>
          <a:noFill/>
        </p:spPr>
        <p:txBody>
          <a:bodyPr wrap="square" lIns="0" rIns="0" tIns="0" bIns="0" anchor="t">
            <a:noAutofit/>
          </a:bodyPr>
          <a:lstStyle/>
          <a:p>
            <a:pPr algn="r">
              <a:spcAft>
                <a:spcPts val="0"/>
              </a:spcAft>
            </a:pPr>
            <a:r>
              <a:rPr sz="900" b="0">
                <a:solidFill>
                  <a:srgbClr val="33414F"/>
                </a:solidFill>
                <a:latin typeface="Arial"/>
              </a:rPr>
              <a:t>43</a:t>
            </a:r>
          </a:p>
        </p:txBody>
      </p:sp>
      <p:sp>
        <p:nvSpPr>
          <p:cNvPr id="138" name="TextBox 137"/>
          <p:cNvSpPr txBox="1"/>
          <p:nvPr/>
        </p:nvSpPr>
        <p:spPr>
          <a:xfrm>
            <a:off x="7891271" y="5010912"/>
            <a:ext cx="1362456" cy="164592"/>
          </a:xfrm>
          <a:prstGeom prst="rect">
            <a:avLst/>
          </a:prstGeom>
          <a:noFill/>
        </p:spPr>
        <p:txBody>
          <a:bodyPr wrap="square" lIns="0" rIns="0" tIns="0" bIns="0" anchor="t">
            <a:noAutofit/>
          </a:bodyPr>
          <a:lstStyle/>
          <a:p>
            <a:pPr algn="l">
              <a:spcAft>
                <a:spcPts val="0"/>
              </a:spcAft>
            </a:pPr>
            <a:r>
              <a:rPr sz="900" b="0">
                <a:solidFill>
                  <a:srgbClr val="33414F"/>
                </a:solidFill>
                <a:latin typeface="Arial"/>
              </a:rPr>
              <a:t>1.0% of volume</a:t>
            </a:r>
          </a:p>
        </p:txBody>
      </p:sp>
      <p:sp>
        <p:nvSpPr>
          <p:cNvPr id="139" name="TextBox 138"/>
          <p:cNvSpPr txBox="1"/>
          <p:nvPr/>
        </p:nvSpPr>
        <p:spPr>
          <a:xfrm>
            <a:off x="9308592" y="5010912"/>
            <a:ext cx="755904" cy="164592"/>
          </a:xfrm>
          <a:prstGeom prst="rect">
            <a:avLst/>
          </a:prstGeom>
          <a:noFill/>
        </p:spPr>
        <p:txBody>
          <a:bodyPr wrap="square" lIns="0" rIns="0" tIns="0" bIns="0" anchor="t">
            <a:noAutofit/>
          </a:bodyPr>
          <a:lstStyle/>
          <a:p>
            <a:pPr algn="r">
              <a:spcAft>
                <a:spcPts val="0"/>
              </a:spcAft>
            </a:pPr>
            <a:r>
              <a:rPr sz="900" b="1">
                <a:solidFill>
                  <a:srgbClr val="0086C3"/>
                </a:solidFill>
                <a:latin typeface="Arial"/>
              </a:rPr>
              <a:t>43</a:t>
            </a:r>
          </a:p>
        </p:txBody>
      </p:sp>
      <p:sp>
        <p:nvSpPr>
          <p:cNvPr id="140" name="TextBox 139"/>
          <p:cNvSpPr txBox="1"/>
          <p:nvPr/>
        </p:nvSpPr>
        <p:spPr>
          <a:xfrm>
            <a:off x="10119360" y="5010912"/>
            <a:ext cx="755904" cy="164592"/>
          </a:xfrm>
          <a:prstGeom prst="rect">
            <a:avLst/>
          </a:prstGeom>
          <a:noFill/>
        </p:spPr>
        <p:txBody>
          <a:bodyPr wrap="square" lIns="0" rIns="0" tIns="0" bIns="0" anchor="t">
            <a:noAutofit/>
          </a:bodyPr>
          <a:lstStyle/>
          <a:p>
            <a:pPr algn="r">
              <a:spcAft>
                <a:spcPts val="0"/>
              </a:spcAft>
            </a:pPr>
            <a:r>
              <a:rPr sz="900" b="0">
                <a:solidFill>
                  <a:srgbClr val="33414F"/>
                </a:solidFill>
                <a:latin typeface="Arial"/>
              </a:rPr>
              <a:t>64</a:t>
            </a:r>
          </a:p>
        </p:txBody>
      </p:sp>
      <p:sp>
        <p:nvSpPr>
          <p:cNvPr id="141" name="TextBox 140"/>
          <p:cNvSpPr txBox="1"/>
          <p:nvPr/>
        </p:nvSpPr>
        <p:spPr>
          <a:xfrm>
            <a:off x="10930128" y="5010912"/>
            <a:ext cx="755904" cy="164592"/>
          </a:xfrm>
          <a:prstGeom prst="rect">
            <a:avLst/>
          </a:prstGeom>
          <a:noFill/>
        </p:spPr>
        <p:txBody>
          <a:bodyPr wrap="square" lIns="0" rIns="0" tIns="0" bIns="0" anchor="t">
            <a:noAutofit/>
          </a:bodyPr>
          <a:lstStyle/>
          <a:p>
            <a:pPr algn="r">
              <a:spcAft>
                <a:spcPts val="0"/>
              </a:spcAft>
            </a:pPr>
            <a:r>
              <a:rPr sz="900" b="0">
                <a:solidFill>
                  <a:srgbClr val="33414F"/>
                </a:solidFill>
                <a:latin typeface="Arial"/>
              </a:rPr>
              <a:t>86</a:t>
            </a:r>
          </a:p>
        </p:txBody>
      </p:sp>
      <p:sp>
        <p:nvSpPr>
          <p:cNvPr id="142" name="TextBox 141"/>
          <p:cNvSpPr txBox="1"/>
          <p:nvPr/>
        </p:nvSpPr>
        <p:spPr>
          <a:xfrm>
            <a:off x="7891271" y="5184648"/>
            <a:ext cx="1362456" cy="164592"/>
          </a:xfrm>
          <a:prstGeom prst="rect">
            <a:avLst/>
          </a:prstGeom>
          <a:noFill/>
        </p:spPr>
        <p:txBody>
          <a:bodyPr wrap="square" lIns="0" rIns="0" tIns="0" bIns="0" anchor="t">
            <a:noAutofit/>
          </a:bodyPr>
          <a:lstStyle/>
          <a:p>
            <a:pPr algn="l">
              <a:spcAft>
                <a:spcPts val="0"/>
              </a:spcAft>
            </a:pPr>
            <a:r>
              <a:rPr sz="900" b="0">
                <a:solidFill>
                  <a:srgbClr val="33414F"/>
                </a:solidFill>
                <a:latin typeface="Arial"/>
              </a:rPr>
              <a:t>2.0% of volume</a:t>
            </a:r>
          </a:p>
        </p:txBody>
      </p:sp>
      <p:sp>
        <p:nvSpPr>
          <p:cNvPr id="143" name="TextBox 142"/>
          <p:cNvSpPr txBox="1"/>
          <p:nvPr/>
        </p:nvSpPr>
        <p:spPr>
          <a:xfrm>
            <a:off x="9308592" y="5184648"/>
            <a:ext cx="755904" cy="164592"/>
          </a:xfrm>
          <a:prstGeom prst="rect">
            <a:avLst/>
          </a:prstGeom>
          <a:noFill/>
        </p:spPr>
        <p:txBody>
          <a:bodyPr wrap="square" lIns="0" rIns="0" tIns="0" bIns="0" anchor="t">
            <a:noAutofit/>
          </a:bodyPr>
          <a:lstStyle/>
          <a:p>
            <a:pPr algn="r">
              <a:spcAft>
                <a:spcPts val="0"/>
              </a:spcAft>
            </a:pPr>
            <a:r>
              <a:rPr sz="900" b="0">
                <a:solidFill>
                  <a:srgbClr val="33414F"/>
                </a:solidFill>
                <a:latin typeface="Arial"/>
              </a:rPr>
              <a:t>86</a:t>
            </a:r>
          </a:p>
        </p:txBody>
      </p:sp>
      <p:sp>
        <p:nvSpPr>
          <p:cNvPr id="144" name="TextBox 143"/>
          <p:cNvSpPr txBox="1"/>
          <p:nvPr/>
        </p:nvSpPr>
        <p:spPr>
          <a:xfrm>
            <a:off x="10119360" y="5184648"/>
            <a:ext cx="755904" cy="164592"/>
          </a:xfrm>
          <a:prstGeom prst="rect">
            <a:avLst/>
          </a:prstGeom>
          <a:noFill/>
        </p:spPr>
        <p:txBody>
          <a:bodyPr wrap="square" lIns="0" rIns="0" tIns="0" bIns="0" anchor="t">
            <a:noAutofit/>
          </a:bodyPr>
          <a:lstStyle/>
          <a:p>
            <a:pPr algn="r">
              <a:spcAft>
                <a:spcPts val="0"/>
              </a:spcAft>
            </a:pPr>
            <a:r>
              <a:rPr sz="900" b="0">
                <a:solidFill>
                  <a:srgbClr val="33414F"/>
                </a:solidFill>
                <a:latin typeface="Arial"/>
              </a:rPr>
              <a:t>129</a:t>
            </a:r>
          </a:p>
        </p:txBody>
      </p:sp>
      <p:sp>
        <p:nvSpPr>
          <p:cNvPr id="145" name="TextBox 144"/>
          <p:cNvSpPr txBox="1"/>
          <p:nvPr/>
        </p:nvSpPr>
        <p:spPr>
          <a:xfrm>
            <a:off x="10930128" y="5184648"/>
            <a:ext cx="755904" cy="164592"/>
          </a:xfrm>
          <a:prstGeom prst="rect">
            <a:avLst/>
          </a:prstGeom>
          <a:noFill/>
        </p:spPr>
        <p:txBody>
          <a:bodyPr wrap="square" lIns="0" rIns="0" tIns="0" bIns="0" anchor="t">
            <a:noAutofit/>
          </a:bodyPr>
          <a:lstStyle/>
          <a:p>
            <a:pPr algn="r">
              <a:spcAft>
                <a:spcPts val="0"/>
              </a:spcAft>
            </a:pPr>
            <a:r>
              <a:rPr sz="900" b="0">
                <a:solidFill>
                  <a:srgbClr val="33414F"/>
                </a:solidFill>
                <a:latin typeface="Arial"/>
              </a:rPr>
              <a:t>172</a:t>
            </a:r>
          </a:p>
        </p:txBody>
      </p:sp>
      <p:sp>
        <p:nvSpPr>
          <p:cNvPr id="146" name="TextBox 145"/>
          <p:cNvSpPr txBox="1"/>
          <p:nvPr/>
        </p:nvSpPr>
        <p:spPr>
          <a:xfrm>
            <a:off x="7891271" y="5394960"/>
            <a:ext cx="3849624" cy="475487"/>
          </a:xfrm>
          <a:prstGeom prst="rect">
            <a:avLst/>
          </a:prstGeom>
          <a:noFill/>
        </p:spPr>
        <p:txBody>
          <a:bodyPr wrap="square" lIns="0" rIns="0" tIns="0" bIns="0" anchor="t">
            <a:noAutofit/>
          </a:bodyPr>
          <a:lstStyle/>
          <a:p>
            <a:pPr algn="l">
              <a:spcAft>
                <a:spcPts val="200"/>
              </a:spcAft>
            </a:pPr>
            <a:r>
              <a:rPr sz="900" b="0">
                <a:solidFill>
                  <a:srgbClr val="33414F"/>
                </a:solidFill>
                <a:latin typeface="Arial"/>
              </a:rPr>
              <a:t>Recovering 30% is about INR 13 cr a year: payback 0.7-2 years on a USD 1-3M line system (unverified range).</a:t>
            </a:r>
          </a:p>
          <a:p>
            <a:pPr algn="l">
              <a:spcAft>
                <a:spcPts val="0"/>
              </a:spcAft>
            </a:pPr>
            <a:r>
              <a:rPr sz="900" b="1">
                <a:solidFill>
                  <a:srgbClr val="143A5A"/>
                </a:solidFill>
                <a:latin typeface="Arial"/>
              </a:rPr>
              <a:t>Needed from Jindal: the real downgrade rate.</a:t>
            </a:r>
          </a:p>
        </p:txBody>
      </p:sp>
      <p:sp>
        <p:nvSpPr>
          <p:cNvPr id="147" name="Rectangle 146"/>
          <p:cNvSpPr/>
          <p:nvPr/>
        </p:nvSpPr>
        <p:spPr>
          <a:xfrm>
            <a:off x="566928" y="6053328"/>
            <a:ext cx="11301984" cy="603504"/>
          </a:xfrm>
          <a:prstGeom prst="rect">
            <a:avLst/>
          </a:prstGeom>
          <a:solidFill>
            <a:srgbClr val="143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566928" y="6053328"/>
            <a:ext cx="82296" cy="603504"/>
          </a:xfrm>
          <a:prstGeom prst="rect">
            <a:avLst/>
          </a:prstGeom>
          <a:solidFill>
            <a:srgbClr val="008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841247" y="6108192"/>
            <a:ext cx="10799064" cy="493776"/>
          </a:xfrm>
          <a:prstGeom prst="rect">
            <a:avLst/>
          </a:prstGeom>
          <a:noFill/>
        </p:spPr>
        <p:txBody>
          <a:bodyPr wrap="square" lIns="0" rIns="0" tIns="0" bIns="0" anchor="ctr">
            <a:noAutofit/>
          </a:bodyPr>
          <a:lstStyle/>
          <a:p>
            <a:pPr algn="l">
              <a:spcAft>
                <a:spcPts val="0"/>
              </a:spcAft>
            </a:pPr>
            <a:r>
              <a:rPr sz="1200" b="1">
                <a:solidFill>
                  <a:srgbClr val="FFFFFF"/>
                </a:solidFill>
                <a:latin typeface="Arial"/>
              </a:rPr>
              <a:t>Recommendation: approve a 7-month pilot on one line, ending in shadow mode. The model already clears accuracy, speed and demo; only Jindal's own strip can close false alarms, roll marks and edge cracks.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