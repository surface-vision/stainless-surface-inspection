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Actual</c:v>
                </c:pt>
              </c:strCache>
            </c:strRef>
          </c:tx>
          <c:spPr>
            <a:solidFill>
              <a:srgbClr val="D2651F"/>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Sheet1!$B$2:$B$7</c:f>
              <c:numCache>
                <c:formatCode>General</c:formatCode>
                <c:ptCount val="6"/>
                <c:pt idx="0">
                  <c:v>2.61</c:v>
                </c:pt>
                <c:pt idx="1">
                  <c:v>3.46</c:v>
                </c:pt>
                <c:pt idx="2">
                  <c:v>3.94</c:v>
                </c:pt>
                <c:pt idx="3">
                  <c:v>4.49</c:v>
                </c:pt>
                <c:pt idx="4">
                  <c:v>4.8</c:v>
                </c:pt>
                <c:pt idx="5">
                  <c:v>0</c:v>
                </c:pt>
              </c:numCache>
            </c:numRef>
          </c:val>
        </c:ser>
        <c:ser>
          <c:idx val="1"/>
          <c:order val="1"/>
          <c:tx>
            <c:strRef>
              <c:f>Sheet1!$C$1</c:f>
              <c:strCache>
                <c:ptCount val="1"/>
                <c:pt idx="0">
                  <c:v>Forecast</c:v>
                </c:pt>
              </c:strCache>
            </c:strRef>
          </c:tx>
          <c:spPr>
            <a:solidFill>
              <a:srgbClr val="F5BE92"/>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Sheet1!$C$2:$C$7</c:f>
              <c:numCache>
                <c:formatCode>General</c:formatCode>
                <c:ptCount val="6"/>
                <c:pt idx="0">
                  <c:v>0</c:v>
                </c:pt>
                <c:pt idx="1">
                  <c:v>0</c:v>
                </c:pt>
                <c:pt idx="2">
                  <c:v>0</c:v>
                </c:pt>
                <c:pt idx="3">
                  <c:v>0</c:v>
                </c:pt>
                <c:pt idx="4">
                  <c:v>0</c:v>
                </c:pt>
                <c:pt idx="5">
                  <c:v>6.8</c:v>
                </c:pt>
              </c:numCache>
            </c:numRef>
          </c:val>
        </c:ser>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404040"/>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defects caught</c:v>
                </c:pt>
              </c:strCache>
            </c:strRef>
          </c:tx>
          <c:spPr>
            <a:solidFill>
              <a:schemeClr val="accent1"/>
            </a:solidFill>
            <a:ln w="9525" cap="flat">
              <a:solidFill>
                <a:srgbClr val="F9F9F9"/>
              </a:solidFill>
              <a:prstDash val="solid"/>
              <a:round/>
            </a:ln>
            <a:effectLst/>
          </c:spPr>
          <c:dPt>
            <c:idx val="0"/>
            <c:bubble3D val="0"/>
            <c:spPr>
              <a:solidFill>
                <a:srgbClr val="D2651F"/>
              </a:solidFill>
              <a:ln w="9525" cap="flat">
                <a:solidFill>
                  <a:srgbClr val="FFFFFF"/>
                </a:solidFill>
                <a:prstDash val="solid"/>
                <a:round/>
              </a:ln>
              <a:effectLst/>
            </c:spPr>
          </c:dPt>
          <c:dPt>
            <c:idx val="1"/>
            <c:bubble3D val="0"/>
            <c:spPr>
              <a:solidFill>
                <a:srgbClr val="E3E3E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89.6</c:v>
                </c:pt>
                <c:pt idx="1">
                  <c:v>10.400000000000006</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clean strip flagged</c:v>
                </c:pt>
              </c:strCache>
            </c:strRef>
          </c:tx>
          <c:spPr>
            <a:solidFill>
              <a:schemeClr val="accent1"/>
            </a:solidFill>
            <a:ln w="9525" cap="flat">
              <a:solidFill>
                <a:srgbClr val="F9F9F9"/>
              </a:solidFill>
              <a:prstDash val="solid"/>
              <a:round/>
            </a:ln>
            <a:effectLst/>
          </c:spPr>
          <c:dPt>
            <c:idx val="0"/>
            <c:bubble3D val="0"/>
            <c:spPr>
              <a:solidFill>
                <a:srgbClr val="D2651F"/>
              </a:solidFill>
              <a:ln w="9525" cap="flat">
                <a:solidFill>
                  <a:srgbClr val="FFFFFF"/>
                </a:solidFill>
                <a:prstDash val="solid"/>
                <a:round/>
              </a:ln>
              <a:effectLst/>
            </c:spPr>
          </c:dPt>
          <c:dPt>
            <c:idx val="1"/>
            <c:bubble3D val="0"/>
            <c:spPr>
              <a:solidFill>
                <a:srgbClr val="E3E3E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4.7</c:v>
                </c:pt>
                <c:pt idx="1">
                  <c:v>95.3</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six images are real output from our system on steel images it had never seen. The QR opens the live demo in the judge's browser. Four numbers tell the story: on real mill strip it catches 9 in 10 defects and wrongly flags fewer than 1 in 20 clean images; each line has about INR 6.7 crore a year at stake from downgrades even at a conservative 1%; and one line reaches shadow mode in seven months, with a go/no-go before anything touches the mill.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been paid for. Why stainless hurts more: every tonne of 304 carries INR 126,000-165,000 of nickel, and a 2B or BA mill finish cannot be polished back. Why now: Indian stainless demand grew 84% in five years to 4.8 Mt and is heading to 6.8 Mt by FY30, led by rail and metro coaches; imports hit 1.73 Mt in FY25 and DGTR opened an anti-dumping probe on cold-rolled 300/400 series in September 2025, so quality is the domestic producer's moat; BIS certification to IS 6911 has been mandatory for sheet and strip since August 2024; and JSL is adding cold-rolling capacity. The cost-of-quality frame is the output: inspection moves spend from failure to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real output from our system on images it had never seen; each family is born at a different stage, so a typed detection goes straight to the right owner as a work order. The owner mapping needs a JSL metallurgist's sign-off in P0. Precedent: Outokumpu, Europe's largest stainless producer, switched on an AI surface inspection system at Tornio in October 2024, built to run without internet and scale across sites; Tata Steel Kalinganagar, India's first WEF Lighthouse, uses video analytics for surface defects on cold-rolled products; Parsytec systems on stainless lines use 170 micron cameras with bright and dark field light and make a decision per coil. We copy the offline edge design, an in-house team that owns the system, and the optics spec. The grade matrix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choices. One: alarms you can act on. On real mill strip it catches 258 of 288 defects and wrongly flags only 14 of 300 clean images; the pilot repeats this on JSL's own strip before any alarm is trusted. Two: one verdict per coil. Every defect rolls up into accept, downgrade or hold, with limits agreed per grade and finish with JSL Quality. Three: image detail decides what can be seen and what the hardware costs; full detail at 250 m/min needs about 18 processing units, so resolution is a day-one decision with JSL. Four: trust is earned on the shift floor, with evidence on every alarm, four weeks of shadow mode and a weekly review of every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 the browser demo. Stage 5 has coil rules built, but grade- and finish-specific limits need JSL input. Stages 1 and 6 are the plant-side pilot work. The strip underneath shows where each stage runs: cameras at the line, an edge server beside it that works offline, the plant network behind IEC 62443 zones, and people on screens and work orders. What JSL gets that a standard system does not: alarms it can act on, routing to the owning process, one verdict per coil, and ownership of its own system. Build vs buy: commercial systems are proven but closed and vendor-owned; fully in-house is slowest to prove;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system had never seen. Per defect, four of six families sit at or above the published range; crazing and rolled-in scale are low-contrast textures and are weaker. The honest headline is the second weak spot: on real mill frames the score is 0.57 against 0.75 on the lab benchmark, which is exactly why the pilot starts on JSL's own strip before anything is trusted. Roll marks score 0.20 because public data has only a few dozen examples; edge cameras and targeted labelling with JSL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The pilot scope is deliberately narrow: one 300-series cold-rolled line, both faces, 2B and BA finishes, the six defect families plus unclassified defects. The hot end, edge cracks, automatic process correction and other plants wait until the pilot has proved itself. JSL Quality owns every go/no-go; the Pragati team owns integration, because Pragati Phase 2 already brings Level-2 process data at Jajpur. Mirror-like BA and 2B finishes are handled the way stainless lines already do it: bright and dark-field light, with deflectometry for BA. The plant network is protected by IEC 62443 zones and the system runs offline. Every update must beat the live system on a fixed JSL test set before it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We size the prize, not the price. At a conservative 1% of volume downgraded at a 10% discount, one 0.4 Mt line puts about INR 6.7 crore a year at stake; across JSL's 2.57 Mt it is about INR 43 crore. Non-prime coil typically sells 10-30% below prime, so the discounts are conservative. The value comes through five levers: fewer downgrades, fewer customer claims, less rework, faster root-cause fixes, and premium exposed-finish orders. Each has a measure the pilot tracks, so the fleet decision rests on JSL's own numbers rather than our assumptions. Beyond the P&amp;L: coverage, customers, process, safety, sustainability and people.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2" Type="http://schemas.openxmlformats.org/officeDocument/2006/relationships/chart" Target="/ppt/charts/chart1.xml"/><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3" Type="http://schemas.openxmlformats.org/officeDocument/2006/relationships/image" Target="../media/image-2-12.png"/><Relationship Id="rId14" Type="http://schemas.openxmlformats.org/officeDocument/2006/relationships/image" Target="../media/image-2-13.png"/><Relationship Id="rId15" Type="http://schemas.openxmlformats.org/officeDocument/2006/relationships/image" Target="../media/image-2-14.png"/><Relationship Id="rId16" Type="http://schemas.openxmlformats.org/officeDocument/2006/relationships/slideLayout" Target="../slideLayouts/slideLayout1.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2.xml"/><Relationship Id="rId4" Type="http://schemas.openxmlformats.org/officeDocument/2006/relationships/chart" Target="/ppt/charts/chart3.xml"/><Relationship Id="rId1" Type="http://schemas.openxmlformats.org/officeDocument/2006/relationships/image" Target="../media/image-4-1.jpg"/><Relationship Id="rId2"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3.png"/><Relationship Id="rId7" Type="http://schemas.openxmlformats.org/officeDocument/2006/relationships/image" Target="../media/image-4-3.png"/><Relationship Id="rId8" Type="http://schemas.openxmlformats.org/officeDocument/2006/relationships/image" Target="../media/image-4-3.png"/><Relationship Id="rId9" Type="http://schemas.openxmlformats.org/officeDocument/2006/relationships/image" Target="../media/image-4-3.png"/><Relationship Id="rId10" Type="http://schemas.openxmlformats.org/officeDocument/2006/relationships/image" Target="../media/image-4-3.png"/><Relationship Id="rId11" Type="http://schemas.openxmlformats.org/officeDocument/2006/relationships/image" Target="../media/image-4-3.png"/><Relationship Id="rId12" Type="http://schemas.openxmlformats.org/officeDocument/2006/relationships/image" Target="../media/image-4-3.png"/><Relationship Id="rId13" Type="http://schemas.openxmlformats.org/officeDocument/2006/relationships/image" Target="../media/image-4-3.png"/><Relationship Id="rId14" Type="http://schemas.openxmlformats.org/officeDocument/2006/relationships/image" Target="../media/image-4-3.png"/><Relationship Id="rId15" Type="http://schemas.openxmlformats.org/officeDocument/2006/relationships/image" Target="../media/image-4-3.png"/><Relationship Id="rId16" Type="http://schemas.openxmlformats.org/officeDocument/2006/relationships/image" Target="../media/image-4-3.png"/><Relationship Id="rId17" Type="http://schemas.openxmlformats.org/officeDocument/2006/relationships/image" Target="../media/image-4-3.png"/><Relationship Id="rId18" Type="http://schemas.openxmlformats.org/officeDocument/2006/relationships/image" Target="../media/image-4-3.png"/><Relationship Id="rId19" Type="http://schemas.openxmlformats.org/officeDocument/2006/relationships/image" Target="../media/image-4-3.png"/><Relationship Id="rId20" Type="http://schemas.openxmlformats.org/officeDocument/2006/relationships/image" Target="../media/image-4-3.png"/><Relationship Id="rId21" Type="http://schemas.openxmlformats.org/officeDocument/2006/relationships/image" Target="../media/image-4-3.png"/><Relationship Id="rId22" Type="http://schemas.openxmlformats.org/officeDocument/2006/relationships/image" Target="../media/image-4-3.png"/><Relationship Id="rId23" Type="http://schemas.openxmlformats.org/officeDocument/2006/relationships/image" Target="../media/image-4-3.png"/><Relationship Id="rId24" Type="http://schemas.openxmlformats.org/officeDocument/2006/relationships/image" Target="../media/image-4-3.png"/><Relationship Id="rId25" Type="http://schemas.openxmlformats.org/officeDocument/2006/relationships/image" Target="../media/image-4-3.png"/><Relationship Id="rId26" Type="http://schemas.openxmlformats.org/officeDocument/2006/relationships/image" Target="../media/image-4-3.png"/><Relationship Id="rId27" Type="http://schemas.openxmlformats.org/officeDocument/2006/relationships/image" Target="../media/image-4-25.png"/><Relationship Id="rId28" Type="http://schemas.openxmlformats.org/officeDocument/2006/relationships/image" Target="../media/image-4-26.png"/><Relationship Id="rId29" Type="http://schemas.openxmlformats.org/officeDocument/2006/relationships/image" Target="../media/image-4-27.png"/><Relationship Id="rId30" Type="http://schemas.openxmlformats.org/officeDocument/2006/relationships/slideLayout" Target="../slideLayouts/slideLayout1.xml"/><Relationship Id="rId3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7.png"/><Relationship Id="rId12" Type="http://schemas.openxmlformats.org/officeDocument/2006/relationships/image" Target="../media/image-5-12.png"/><Relationship Id="rId13" Type="http://schemas.openxmlformats.org/officeDocument/2006/relationships/image" Target="../media/image-5-4.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786384"/>
            <a:ext cx="4373575" cy="6071616"/>
          </a:xfrm>
          <a:prstGeom prst="rect">
            <a:avLst/>
          </a:prstGeom>
        </p:spPr>
      </p:pic>
      <p:sp>
        <p:nvSpPr>
          <p:cNvPr id="3" name="Shape 0"/>
          <p:cNvSpPr/>
          <p:nvPr/>
        </p:nvSpPr>
        <p:spPr>
          <a:xfrm>
            <a:off x="7818120" y="786384"/>
            <a:ext cx="4373575" cy="6071616"/>
          </a:xfrm>
          <a:prstGeom prst="rect">
            <a:avLst/>
          </a:prstGeom>
          <a:solidFill>
            <a:srgbClr val="2B2B2B">
              <a:alpha val="60000"/>
            </a:srgbClr>
          </a:solidFill>
          <a:ln w="12700">
            <a:solidFill>
              <a:srgbClr val="2B2B2B"/>
            </a:solidFill>
            <a:prstDash val="solid"/>
          </a:ln>
        </p:spPr>
      </p:sp>
      <p:sp>
        <p:nvSpPr>
          <p:cNvPr id="4" name="Shape 1"/>
          <p:cNvSpPr/>
          <p:nvPr/>
        </p:nvSpPr>
        <p:spPr>
          <a:xfrm>
            <a:off x="7818120" y="786384"/>
            <a:ext cx="54864" cy="6071616"/>
          </a:xfrm>
          <a:prstGeom prst="rect">
            <a:avLst/>
          </a:prstGeom>
          <a:solidFill>
            <a:srgbClr val="E4803A"/>
          </a:solidFill>
          <a:ln w="12700">
            <a:solidFill>
              <a:srgbClr val="E4803A"/>
            </a:solidFill>
            <a:prstDash val="solid"/>
          </a:ln>
        </p:spPr>
      </p:sp>
      <p:sp>
        <p:nvSpPr>
          <p:cNvPr id="5" name="Shape 2"/>
          <p:cNvSpPr/>
          <p:nvPr/>
        </p:nvSpPr>
        <p:spPr>
          <a:xfrm>
            <a:off x="0" y="0"/>
            <a:ext cx="12191695" cy="786384"/>
          </a:xfrm>
          <a:prstGeom prst="rect">
            <a:avLst/>
          </a:prstGeom>
          <a:solidFill>
            <a:srgbClr val="E4803A"/>
          </a:solidFill>
          <a:ln w="12700">
            <a:solidFill>
              <a:srgbClr val="E4803A"/>
            </a:solidFill>
            <a:prstDash val="solid"/>
          </a:ln>
        </p:spPr>
      </p:sp>
      <p:pic>
        <p:nvPicPr>
          <p:cNvPr id="6" name="Image 1" descr="img/logo_jsl.jpg">    </p:cNvPr>
          <p:cNvPicPr>
            <a:picLocks noChangeAspect="1"/>
          </p:cNvPicPr>
          <p:nvPr/>
        </p:nvPicPr>
        <p:blipFill>
          <a:blip r:embed="rId2"/>
          <a:stretch>
            <a:fillRect/>
          </a:stretch>
        </p:blipFill>
        <p:spPr>
          <a:xfrm>
            <a:off x="91440" y="73152"/>
            <a:ext cx="2176272" cy="640080"/>
          </a:xfrm>
          <a:prstGeom prst="rect">
            <a:avLst/>
          </a:prstGeom>
        </p:spPr>
      </p:pic>
      <p:pic>
        <p:nvPicPr>
          <p:cNvPr id="7" name="Image 2" descr="img/logo_spark.png">    </p:cNvPr>
          <p:cNvPicPr>
            <a:picLocks noChangeAspect="1"/>
          </p:cNvPicPr>
          <p:nvPr/>
        </p:nvPicPr>
        <p:blipFill>
          <a:blip r:embed="rId3"/>
          <a:stretch>
            <a:fillRect/>
          </a:stretch>
        </p:blipFill>
        <p:spPr>
          <a:xfrm>
            <a:off x="2340864" y="73152"/>
            <a:ext cx="1243584" cy="640080"/>
          </a:xfrm>
          <a:prstGeom prst="rect">
            <a:avLst/>
          </a:prstGeom>
        </p:spPr>
      </p:pic>
      <p:sp>
        <p:nvSpPr>
          <p:cNvPr id="8" name="Text 3"/>
          <p:cNvSpPr txBox="1"/>
          <p:nvPr/>
        </p:nvSpPr>
        <p:spPr>
          <a:xfrm>
            <a:off x="7589520" y="128016"/>
            <a:ext cx="4480560" cy="54864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ROUND 2  ·  PROBLEM STATEMENT 1</a:t>
            </a:r>
            <a:pPr algn="r" indent="0" marL="0">
              <a:buNone/>
            </a:pPr>
            <a:endParaRPr lang="en-US" sz="1000" dirty="0"/>
          </a:p>
          <a:p>
            <a:pPr algn="r" indent="0" marL="0">
              <a:buNone/>
            </a:pPr>
            <a:r>
              <a:rPr lang="en-US" sz="1050" dirty="0">
                <a:solidFill>
                  <a:srgbClr val="FFFFFF"/>
                </a:solidFill>
                <a:latin typeface="Calibri" pitchFamily="34" charset="0"/>
                <a:ea typeface="Calibri" pitchFamily="34" charset="-122"/>
                <a:cs typeface="Calibri" pitchFamily="34" charset="-120"/>
              </a:rPr>
              <a:t>AI surface defect detection</a:t>
            </a:r>
            <a:endParaRPr lang="en-US" sz="1000" dirty="0"/>
          </a:p>
        </p:txBody>
      </p:sp>
      <p:sp>
        <p:nvSpPr>
          <p:cNvPr id="9" name="Text 4"/>
          <p:cNvSpPr txBox="1"/>
          <p:nvPr/>
        </p:nvSpPr>
        <p:spPr>
          <a:xfrm>
            <a:off x="548640" y="1024128"/>
            <a:ext cx="7040880" cy="12801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10" name="Text 5"/>
          <p:cNvSpPr txBox="1"/>
          <p:nvPr/>
        </p:nvSpPr>
        <p:spPr>
          <a:xfrm>
            <a:off x="548640" y="2359152"/>
            <a:ext cx="6858000" cy="640080"/>
          </a:xfrm>
          <a:prstGeom prst="rect">
            <a:avLst/>
          </a:prstGeom>
          <a:noFill/>
          <a:ln/>
        </p:spPr>
        <p:txBody>
          <a:bodyPr wrap="square" lIns="0" tIns="0" rIns="0" bIns="0" rtlCol="0" anchor="t"/>
          <a:lstStyle/>
          <a:p>
            <a:pPr indent="0" marL="0">
              <a:buNone/>
            </a:pPr>
            <a:r>
              <a:rPr lang="en-US" sz="1500" dirty="0">
                <a:solidFill>
                  <a:srgbClr val="D6D6D6"/>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11" name="Shape 6"/>
          <p:cNvSpPr/>
          <p:nvPr/>
        </p:nvSpPr>
        <p:spPr>
          <a:xfrm>
            <a:off x="548640" y="3200400"/>
            <a:ext cx="45720" cy="932688"/>
          </a:xfrm>
          <a:prstGeom prst="rect">
            <a:avLst/>
          </a:prstGeom>
          <a:solidFill>
            <a:srgbClr val="E4803A"/>
          </a:solidFill>
          <a:ln w="12700">
            <a:solidFill>
              <a:srgbClr val="E4803A"/>
            </a:solidFill>
            <a:prstDash val="solid"/>
          </a:ln>
        </p:spPr>
      </p:sp>
      <p:sp>
        <p:nvSpPr>
          <p:cNvPr id="12" name="Text 7"/>
          <p:cNvSpPr txBox="1"/>
          <p:nvPr/>
        </p:nvSpPr>
        <p:spPr>
          <a:xfrm>
            <a:off x="676656" y="3163824"/>
            <a:ext cx="1600200" cy="420624"/>
          </a:xfrm>
          <a:prstGeom prst="rect">
            <a:avLst/>
          </a:prstGeom>
          <a:noFill/>
          <a:ln/>
        </p:spPr>
        <p:txBody>
          <a:bodyPr wrap="square" lIns="0" tIns="0" rIns="0" bIns="0" rtlCol="0" anchor="b"/>
          <a:lstStyle/>
          <a:p>
            <a:pPr indent="0" marL="0">
              <a:buNone/>
            </a:pPr>
            <a:r>
              <a:rPr lang="en-US" sz="2400" b="1" dirty="0">
                <a:solidFill>
                  <a:srgbClr val="E4803A"/>
                </a:solidFill>
                <a:latin typeface="Calibri" pitchFamily="34" charset="0"/>
                <a:ea typeface="Calibri" pitchFamily="34" charset="-122"/>
                <a:cs typeface="Calibri" pitchFamily="34" charset="-120"/>
              </a:rPr>
              <a:t>90%</a:t>
            </a:r>
            <a:endParaRPr lang="en-US" sz="2400" dirty="0"/>
          </a:p>
        </p:txBody>
      </p:sp>
      <p:sp>
        <p:nvSpPr>
          <p:cNvPr id="13" name="Text 8"/>
          <p:cNvSpPr txBox="1"/>
          <p:nvPr/>
        </p:nvSpPr>
        <p:spPr>
          <a:xfrm>
            <a:off x="676656"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of defects caught on real mill</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strip it had never seen</a:t>
            </a:r>
            <a:endParaRPr lang="en-US" sz="950" dirty="0"/>
          </a:p>
        </p:txBody>
      </p:sp>
      <p:sp>
        <p:nvSpPr>
          <p:cNvPr id="14" name="Shape 9"/>
          <p:cNvSpPr/>
          <p:nvPr/>
        </p:nvSpPr>
        <p:spPr>
          <a:xfrm>
            <a:off x="2304288" y="3200400"/>
            <a:ext cx="45720" cy="932688"/>
          </a:xfrm>
          <a:prstGeom prst="rect">
            <a:avLst/>
          </a:prstGeom>
          <a:solidFill>
            <a:srgbClr val="E4803A"/>
          </a:solidFill>
          <a:ln w="12700">
            <a:solidFill>
              <a:srgbClr val="E4803A"/>
            </a:solidFill>
            <a:prstDash val="solid"/>
          </a:ln>
        </p:spPr>
      </p:sp>
      <p:sp>
        <p:nvSpPr>
          <p:cNvPr id="15" name="Text 10"/>
          <p:cNvSpPr txBox="1"/>
          <p:nvPr/>
        </p:nvSpPr>
        <p:spPr>
          <a:xfrm>
            <a:off x="2432304" y="3163824"/>
            <a:ext cx="1600200" cy="420624"/>
          </a:xfrm>
          <a:prstGeom prst="rect">
            <a:avLst/>
          </a:prstGeom>
          <a:noFill/>
          <a:ln/>
        </p:spPr>
        <p:txBody>
          <a:bodyPr wrap="square" lIns="0" tIns="0" rIns="0" bIns="0" rtlCol="0" anchor="b"/>
          <a:lstStyle/>
          <a:p>
            <a:pPr indent="0" marL="0">
              <a:buNone/>
            </a:pPr>
            <a:r>
              <a:rPr lang="en-US" sz="2400" b="1" dirty="0">
                <a:solidFill>
                  <a:srgbClr val="E4803A"/>
                </a:solidFill>
                <a:latin typeface="Calibri" pitchFamily="34" charset="0"/>
                <a:ea typeface="Calibri" pitchFamily="34" charset="-122"/>
                <a:cs typeface="Calibri" pitchFamily="34" charset="-120"/>
              </a:rPr>
              <a:t>4.7%</a:t>
            </a:r>
            <a:endParaRPr lang="en-US" sz="2400" dirty="0"/>
          </a:p>
        </p:txBody>
      </p:sp>
      <p:sp>
        <p:nvSpPr>
          <p:cNvPr id="16" name="Text 11"/>
          <p:cNvSpPr txBox="1"/>
          <p:nvPr/>
        </p:nvSpPr>
        <p:spPr>
          <a:xfrm>
            <a:off x="2432304"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of clean strip wrongly flagged,</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fewer than 1 in 20</a:t>
            </a:r>
            <a:endParaRPr lang="en-US" sz="950" dirty="0"/>
          </a:p>
        </p:txBody>
      </p:sp>
      <p:sp>
        <p:nvSpPr>
          <p:cNvPr id="17" name="Shape 12"/>
          <p:cNvSpPr/>
          <p:nvPr/>
        </p:nvSpPr>
        <p:spPr>
          <a:xfrm>
            <a:off x="4059936" y="3200400"/>
            <a:ext cx="45720" cy="932688"/>
          </a:xfrm>
          <a:prstGeom prst="rect">
            <a:avLst/>
          </a:prstGeom>
          <a:solidFill>
            <a:srgbClr val="E4803A"/>
          </a:solidFill>
          <a:ln w="12700">
            <a:solidFill>
              <a:srgbClr val="E4803A"/>
            </a:solidFill>
            <a:prstDash val="solid"/>
          </a:ln>
        </p:spPr>
      </p:sp>
      <p:sp>
        <p:nvSpPr>
          <p:cNvPr id="18" name="Text 13"/>
          <p:cNvSpPr txBox="1"/>
          <p:nvPr/>
        </p:nvSpPr>
        <p:spPr>
          <a:xfrm>
            <a:off x="4187952" y="3163824"/>
            <a:ext cx="1600200" cy="420624"/>
          </a:xfrm>
          <a:prstGeom prst="rect">
            <a:avLst/>
          </a:prstGeom>
          <a:noFill/>
          <a:ln/>
        </p:spPr>
        <p:txBody>
          <a:bodyPr wrap="square" lIns="0" tIns="0" rIns="0" bIns="0" rtlCol="0" anchor="b"/>
          <a:lstStyle/>
          <a:p>
            <a:pPr indent="0" marL="0">
              <a:buNone/>
            </a:pPr>
            <a:r>
              <a:rPr lang="en-US" sz="2200" b="1" dirty="0">
                <a:solidFill>
                  <a:srgbClr val="E4803A"/>
                </a:solidFill>
                <a:latin typeface="Calibri" pitchFamily="34" charset="0"/>
                <a:ea typeface="Calibri" pitchFamily="34" charset="-122"/>
                <a:cs typeface="Calibri" pitchFamily="34" charset="-120"/>
              </a:rPr>
              <a:t>~₹6.7 cr</a:t>
            </a:r>
            <a:endParaRPr lang="en-US" sz="2200" dirty="0"/>
          </a:p>
        </p:txBody>
      </p:sp>
      <p:sp>
        <p:nvSpPr>
          <p:cNvPr id="19" name="Text 14"/>
          <p:cNvSpPr txBox="1"/>
          <p:nvPr/>
        </p:nvSpPr>
        <p:spPr>
          <a:xfrm>
            <a:off x="4187952"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a year at stake per line, at a</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1% downgrade rate</a:t>
            </a:r>
            <a:endParaRPr lang="en-US" sz="950" dirty="0"/>
          </a:p>
        </p:txBody>
      </p:sp>
      <p:sp>
        <p:nvSpPr>
          <p:cNvPr id="20" name="Shape 15"/>
          <p:cNvSpPr/>
          <p:nvPr/>
        </p:nvSpPr>
        <p:spPr>
          <a:xfrm>
            <a:off x="5815584" y="3200400"/>
            <a:ext cx="45720" cy="932688"/>
          </a:xfrm>
          <a:prstGeom prst="rect">
            <a:avLst/>
          </a:prstGeom>
          <a:solidFill>
            <a:srgbClr val="E4803A"/>
          </a:solidFill>
          <a:ln w="12700">
            <a:solidFill>
              <a:srgbClr val="E4803A"/>
            </a:solidFill>
            <a:prstDash val="solid"/>
          </a:ln>
        </p:spPr>
      </p:sp>
      <p:sp>
        <p:nvSpPr>
          <p:cNvPr id="21" name="Text 16"/>
          <p:cNvSpPr txBox="1"/>
          <p:nvPr/>
        </p:nvSpPr>
        <p:spPr>
          <a:xfrm>
            <a:off x="5943600" y="3163824"/>
            <a:ext cx="1600200" cy="420624"/>
          </a:xfrm>
          <a:prstGeom prst="rect">
            <a:avLst/>
          </a:prstGeom>
          <a:noFill/>
          <a:ln/>
        </p:spPr>
        <p:txBody>
          <a:bodyPr wrap="square" lIns="0" tIns="0" rIns="0" bIns="0" rtlCol="0" anchor="b"/>
          <a:lstStyle/>
          <a:p>
            <a:pPr indent="0" marL="0">
              <a:buNone/>
            </a:pPr>
            <a:r>
              <a:rPr lang="en-US" sz="2200" b="1" dirty="0">
                <a:solidFill>
                  <a:srgbClr val="E4803A"/>
                </a:solidFill>
                <a:latin typeface="Calibri" pitchFamily="34" charset="0"/>
                <a:ea typeface="Calibri" pitchFamily="34" charset="-122"/>
                <a:cs typeface="Calibri" pitchFamily="34" charset="-120"/>
              </a:rPr>
              <a:t>7 months</a:t>
            </a:r>
            <a:endParaRPr lang="en-US" sz="2200" dirty="0"/>
          </a:p>
        </p:txBody>
      </p:sp>
      <p:sp>
        <p:nvSpPr>
          <p:cNvPr id="22" name="Text 17"/>
          <p:cNvSpPr txBox="1"/>
          <p:nvPr/>
        </p:nvSpPr>
        <p:spPr>
          <a:xfrm>
            <a:off x="5943600" y="3621024"/>
            <a:ext cx="1627632" cy="548640"/>
          </a:xfrm>
          <a:prstGeom prst="rect">
            <a:avLst/>
          </a:prstGeom>
          <a:noFill/>
          <a:ln/>
        </p:spPr>
        <p:txBody>
          <a:bodyPr wrap="square" lIns="0" tIns="0" rIns="0" bIns="0" rtlCol="0" anchor="t"/>
          <a:lstStyle/>
          <a:p>
            <a:pPr indent="0" marL="0">
              <a:buNone/>
            </a:pPr>
            <a:r>
              <a:rPr lang="en-US" sz="950" dirty="0">
                <a:solidFill>
                  <a:srgbClr val="D6D6D6"/>
                </a:solidFill>
                <a:latin typeface="Calibri" pitchFamily="34" charset="0"/>
                <a:ea typeface="Calibri" pitchFamily="34" charset="-122"/>
                <a:cs typeface="Calibri" pitchFamily="34" charset="-120"/>
              </a:rPr>
              <a:t>to shadow mode on one line,</a:t>
            </a:r>
            <a:endParaRPr lang="en-US" sz="950" dirty="0"/>
          </a:p>
          <a:p>
            <a:pPr indent="0" marL="0">
              <a:buNone/>
            </a:pPr>
            <a:r>
              <a:rPr lang="en-US" sz="950" dirty="0">
                <a:solidFill>
                  <a:srgbClr val="D6D6D6"/>
                </a:solidFill>
                <a:latin typeface="Calibri" pitchFamily="34" charset="0"/>
                <a:ea typeface="Calibri" pitchFamily="34" charset="-122"/>
                <a:cs typeface="Calibri" pitchFamily="34" charset="-120"/>
              </a:rPr>
              <a:t>go / no-go at month 7</a:t>
            </a:r>
            <a:endParaRPr lang="en-US" sz="950" dirty="0"/>
          </a:p>
        </p:txBody>
      </p:sp>
      <p:sp>
        <p:nvSpPr>
          <p:cNvPr id="23" name="Text 18"/>
          <p:cNvSpPr txBox="1"/>
          <p:nvPr/>
        </p:nvSpPr>
        <p:spPr>
          <a:xfrm>
            <a:off x="548640" y="4407408"/>
            <a:ext cx="6949440" cy="228600"/>
          </a:xfrm>
          <a:prstGeom prst="rect">
            <a:avLst/>
          </a:prstGeom>
          <a:noFill/>
          <a:ln/>
        </p:spPr>
        <p:txBody>
          <a:bodyPr wrap="square" lIns="0" tIns="0" rIns="0" bIns="0" rtlCol="0" anchor="t"/>
          <a:lstStyle/>
          <a:p>
            <a:pPr indent="0" marL="0">
              <a:buNone/>
            </a:pPr>
            <a:r>
              <a:rPr lang="en-US" sz="950" b="1" spc="100" kern="0" dirty="0">
                <a:solidFill>
                  <a:srgbClr val="D6D6D6"/>
                </a:solidFill>
                <a:latin typeface="Calibri" pitchFamily="34" charset="0"/>
                <a:ea typeface="Calibri" pitchFamily="34" charset="-122"/>
                <a:cs typeface="Calibri" pitchFamily="34" charset="-120"/>
              </a:rPr>
              <a:t>REAL OUTPUT FROM OUR SYSTEM, ON STEEL IMAGES IT HAD NEVER SEEN</a:t>
            </a:r>
            <a:endParaRPr lang="en-US" sz="950" dirty="0"/>
          </a:p>
        </p:txBody>
      </p:sp>
      <p:pic>
        <p:nvPicPr>
          <p:cNvPr id="24" name="Image 3" descr="img/det_inclusion.png">    </p:cNvPr>
          <p:cNvPicPr>
            <a:picLocks noChangeAspect="1"/>
          </p:cNvPicPr>
          <p:nvPr/>
        </p:nvPicPr>
        <p:blipFill>
          <a:blip r:embed="rId4"/>
          <a:stretch>
            <a:fillRect/>
          </a:stretch>
        </p:blipFill>
        <p:spPr>
          <a:xfrm>
            <a:off x="548640" y="4681728"/>
            <a:ext cx="1069848" cy="1069848"/>
          </a:xfrm>
          <a:prstGeom prst="rect">
            <a:avLst/>
          </a:prstGeom>
        </p:spPr>
      </p:pic>
      <p:pic>
        <p:nvPicPr>
          <p:cNvPr id="25" name="Image 4" descr="img/det_crazing.png">    </p:cNvPr>
          <p:cNvPicPr>
            <a:picLocks noChangeAspect="1"/>
          </p:cNvPicPr>
          <p:nvPr/>
        </p:nvPicPr>
        <p:blipFill>
          <a:blip r:embed="rId5"/>
          <a:stretch>
            <a:fillRect/>
          </a:stretch>
        </p:blipFill>
        <p:spPr>
          <a:xfrm>
            <a:off x="1709928" y="4681728"/>
            <a:ext cx="1069848" cy="1069848"/>
          </a:xfrm>
          <a:prstGeom prst="rect">
            <a:avLst/>
          </a:prstGeom>
        </p:spPr>
      </p:pic>
      <p:pic>
        <p:nvPicPr>
          <p:cNvPr id="26" name="Image 5" descr="img/det_rolled-in_scale.png">    </p:cNvPr>
          <p:cNvPicPr>
            <a:picLocks noChangeAspect="1"/>
          </p:cNvPicPr>
          <p:nvPr/>
        </p:nvPicPr>
        <p:blipFill>
          <a:blip r:embed="rId6"/>
          <a:stretch>
            <a:fillRect/>
          </a:stretch>
        </p:blipFill>
        <p:spPr>
          <a:xfrm>
            <a:off x="2871216" y="4681728"/>
            <a:ext cx="1069848" cy="1069848"/>
          </a:xfrm>
          <a:prstGeom prst="rect">
            <a:avLst/>
          </a:prstGeom>
        </p:spPr>
      </p:pic>
      <p:pic>
        <p:nvPicPr>
          <p:cNvPr id="27" name="Image 6" descr="img/det_pitted_surface.png">    </p:cNvPr>
          <p:cNvPicPr>
            <a:picLocks noChangeAspect="1"/>
          </p:cNvPicPr>
          <p:nvPr/>
        </p:nvPicPr>
        <p:blipFill>
          <a:blip r:embed="rId7"/>
          <a:stretch>
            <a:fillRect/>
          </a:stretch>
        </p:blipFill>
        <p:spPr>
          <a:xfrm>
            <a:off x="4032504" y="4681728"/>
            <a:ext cx="1069848" cy="1069848"/>
          </a:xfrm>
          <a:prstGeom prst="rect">
            <a:avLst/>
          </a:prstGeom>
        </p:spPr>
      </p:pic>
      <p:pic>
        <p:nvPicPr>
          <p:cNvPr id="28" name="Image 7" descr="img/det_patches.png">    </p:cNvPr>
          <p:cNvPicPr>
            <a:picLocks noChangeAspect="1"/>
          </p:cNvPicPr>
          <p:nvPr/>
        </p:nvPicPr>
        <p:blipFill>
          <a:blip r:embed="rId8"/>
          <a:stretch>
            <a:fillRect/>
          </a:stretch>
        </p:blipFill>
        <p:spPr>
          <a:xfrm>
            <a:off x="5193792" y="4681728"/>
            <a:ext cx="1069848" cy="1069848"/>
          </a:xfrm>
          <a:prstGeom prst="rect">
            <a:avLst/>
          </a:prstGeom>
        </p:spPr>
      </p:pic>
      <p:pic>
        <p:nvPicPr>
          <p:cNvPr id="29" name="Image 8" descr="img/det_scratches.png">    </p:cNvPr>
          <p:cNvPicPr>
            <a:picLocks noChangeAspect="1"/>
          </p:cNvPicPr>
          <p:nvPr/>
        </p:nvPicPr>
        <p:blipFill>
          <a:blip r:embed="rId9"/>
          <a:stretch>
            <a:fillRect/>
          </a:stretch>
        </p:blipFill>
        <p:spPr>
          <a:xfrm>
            <a:off x="6355080" y="4681728"/>
            <a:ext cx="1069848" cy="1069848"/>
          </a:xfrm>
          <a:prstGeom prst="rect">
            <a:avLst/>
          </a:prstGeom>
        </p:spPr>
      </p:pic>
      <p:sp>
        <p:nvSpPr>
          <p:cNvPr id="30" name="Text 19"/>
          <p:cNvSpPr txBox="1"/>
          <p:nvPr/>
        </p:nvSpPr>
        <p:spPr>
          <a:xfrm>
            <a:off x="548640" y="603504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TEAM  Futuristic   |   Krishna Kanta Mondal  ·  Prathmesh Walimbe   |   IIT Bombay</a:t>
            </a:r>
            <a:endParaRPr lang="en-US" sz="1200" dirty="0"/>
          </a:p>
        </p:txBody>
      </p:sp>
      <p:sp>
        <p:nvSpPr>
          <p:cNvPr id="31" name="Shape 20"/>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32" name="Image 9" descr="qr.png">    </p:cNvPr>
          <p:cNvPicPr>
            <a:picLocks noChangeAspect="1"/>
          </p:cNvPicPr>
          <p:nvPr/>
        </p:nvPicPr>
        <p:blipFill>
          <a:blip r:embed="rId10"/>
          <a:stretch>
            <a:fillRect/>
          </a:stretch>
        </p:blipFill>
        <p:spPr>
          <a:xfrm>
            <a:off x="9418320" y="3931920"/>
            <a:ext cx="1234440" cy="1234440"/>
          </a:xfrm>
          <a:prstGeom prst="rect">
            <a:avLst/>
          </a:prstGeom>
        </p:spPr>
      </p:pic>
      <p:sp>
        <p:nvSpPr>
          <p:cNvPr id="33" name="Text 21"/>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D2651F"/>
                </a:solidFill>
                <a:latin typeface="Calibri" pitchFamily="34" charset="0"/>
                <a:ea typeface="Calibri" pitchFamily="34" charset="-122"/>
                <a:cs typeface="Calibri" pitchFamily="34" charset="-120"/>
              </a:rPr>
              <a:t>TRY THE LIVE DEMO</a:t>
            </a:r>
            <a:endParaRPr lang="en-US" sz="1000" dirty="0"/>
          </a:p>
        </p:txBody>
      </p:sp>
      <p:sp>
        <p:nvSpPr>
          <p:cNvPr id="34" name="Text 22"/>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2B2B2B"/>
                </a:solidFill>
                <a:latin typeface="Calibri" pitchFamily="34" charset="0"/>
                <a:ea typeface="Calibri" pitchFamily="34" charset="-122"/>
                <a:cs typeface="Calibri" pitchFamily="34" charset="-120"/>
              </a:rPr>
              <a:t>surface-vision.github.io</a:t>
            </a:r>
            <a:endParaRPr lang="en-US" sz="1300" dirty="0"/>
          </a:p>
        </p:txBody>
      </p:sp>
      <p:sp>
        <p:nvSpPr>
          <p:cNvPr id="35" name="Text 23"/>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Runs in your browser. Nothing leaves the page.</a:t>
            </a:r>
            <a:endParaRPr lang="en-US" sz="900" dirty="0"/>
          </a:p>
        </p:txBody>
      </p:sp>
      <p:sp>
        <p:nvSpPr>
          <p:cNvPr id="36" name="Text 24"/>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D6D6D6"/>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B63831"/>
          </a:solidFill>
          <a:ln w="12700">
            <a:solidFill>
              <a:srgbClr val="B63831"/>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PROBLEM  ·  WHY NOW</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Sources: AMETEK/Ternium (2020); ASSDA; IISE; ASTM A240; LME nickel USD 16,402/t at INR 95.8/USD (22 Sep 2026); ISSDA (FY25); DGTR (29 Sep 2025); BIS Steel QCO 2024; JSL.</a:t>
            </a:r>
            <a:endParaRPr lang="en-US" sz="900" dirty="0"/>
          </a:p>
        </p:txBody>
      </p:sp>
      <p:sp>
        <p:nvSpPr>
          <p:cNvPr id="22" name="Shape 18"/>
          <p:cNvSpPr/>
          <p:nvPr/>
        </p:nvSpPr>
        <p:spPr>
          <a:xfrm>
            <a:off x="457200" y="1234440"/>
            <a:ext cx="11274552"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24" name="Shape 20"/>
          <p:cNvSpPr/>
          <p:nvPr/>
        </p:nvSpPr>
        <p:spPr>
          <a:xfrm flipH="1">
            <a:off x="548640" y="1591056"/>
            <a:ext cx="11091672" cy="310896"/>
          </a:xfrm>
          <a:prstGeom prst="rtTriangle">
            <a:avLst/>
          </a:prstGeom>
          <a:solidFill>
            <a:srgbClr val="FCE5D3"/>
          </a:solidFill>
          <a:ln w="12700">
            <a:solidFill>
              <a:srgbClr val="FCE5D3"/>
            </a:solidFill>
            <a:prstDash val="solid"/>
          </a:ln>
        </p:spPr>
      </p:sp>
      <p:sp>
        <p:nvSpPr>
          <p:cNvPr id="25" name="Text 21"/>
          <p:cNvSpPr txBox="1"/>
          <p:nvPr/>
        </p:nvSpPr>
        <p:spPr>
          <a:xfrm>
            <a:off x="8778240" y="1618488"/>
            <a:ext cx="2788920" cy="274320"/>
          </a:xfrm>
          <a:prstGeom prst="rect">
            <a:avLst/>
          </a:prstGeom>
          <a:noFill/>
          <a:ln/>
        </p:spPr>
        <p:txBody>
          <a:bodyPr wrap="square" lIns="0" tIns="0" rIns="0" bIns="0" rtlCol="0" anchor="ctr"/>
          <a:lstStyle/>
          <a:p>
            <a:pPr algn="r" indent="0" marL="0">
              <a:buNone/>
            </a:pPr>
            <a:r>
              <a:rPr lang="en-US" sz="900" b="1" dirty="0">
                <a:solidFill>
                  <a:srgbClr val="2B2B2B"/>
                </a:solidFill>
                <a:latin typeface="Calibri" pitchFamily="34" charset="0"/>
                <a:ea typeface="Calibri" pitchFamily="34" charset="-122"/>
                <a:cs typeface="Calibri" pitchFamily="34" charset="-120"/>
              </a:rPr>
              <a:t>VALUE ADDED KEEPS RISING  →</a:t>
            </a:r>
            <a:endParaRPr lang="en-US" sz="900" dirty="0"/>
          </a:p>
        </p:txBody>
      </p:sp>
      <p:sp>
        <p:nvSpPr>
          <p:cNvPr id="26" name="Shape 22"/>
          <p:cNvSpPr/>
          <p:nvPr/>
        </p:nvSpPr>
        <p:spPr>
          <a:xfrm>
            <a:off x="1714500" y="2304288"/>
            <a:ext cx="1166774" cy="0"/>
          </a:xfrm>
          <a:prstGeom prst="line">
            <a:avLst/>
          </a:prstGeom>
          <a:noFill/>
          <a:ln w="19050">
            <a:solidFill>
              <a:srgbClr val="EC9352"/>
            </a:solidFill>
            <a:prstDash val="dash"/>
            <a:tailEnd type="triangle"/>
          </a:ln>
        </p:spPr>
      </p:sp>
      <p:sp>
        <p:nvSpPr>
          <p:cNvPr id="27" name="Shape 23"/>
          <p:cNvSpPr/>
          <p:nvPr/>
        </p:nvSpPr>
        <p:spPr>
          <a:xfrm>
            <a:off x="1046988" y="2002536"/>
            <a:ext cx="603504" cy="603504"/>
          </a:xfrm>
          <a:prstGeom prst="ellipse">
            <a:avLst/>
          </a:prstGeom>
          <a:solidFill>
            <a:srgbClr val="2B2B2B"/>
          </a:solidFill>
          <a:ln w="12700">
            <a:solidFill>
              <a:srgbClr val="2B2B2B"/>
            </a:solidFill>
            <a:prstDash val="solid"/>
          </a:ln>
        </p:spPr>
      </p:sp>
      <p:pic>
        <p:nvPicPr>
          <p:cNvPr id="28" name="Image 2" descr="img/icons/flame-white.png">    </p:cNvPr>
          <p:cNvPicPr>
            <a:picLocks noChangeAspect="1"/>
          </p:cNvPicPr>
          <p:nvPr/>
        </p:nvPicPr>
        <p:blipFill>
          <a:blip r:embed="rId3"/>
          <a:stretch>
            <a:fillRect/>
          </a:stretch>
        </p:blipFill>
        <p:spPr>
          <a:xfrm>
            <a:off x="1179759" y="2135307"/>
            <a:ext cx="337962" cy="337962"/>
          </a:xfrm>
          <a:prstGeom prst="rect">
            <a:avLst/>
          </a:prstGeom>
        </p:spPr>
      </p:pic>
      <p:sp>
        <p:nvSpPr>
          <p:cNvPr id="29" name="Text 24"/>
          <p:cNvSpPr txBox="1"/>
          <p:nvPr/>
        </p:nvSpPr>
        <p:spPr>
          <a:xfrm>
            <a:off x="457200"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Melt &amp; cast</a:t>
            </a:r>
            <a:endParaRPr lang="en-US" sz="1100" dirty="0"/>
          </a:p>
        </p:txBody>
      </p:sp>
      <p:sp>
        <p:nvSpPr>
          <p:cNvPr id="30" name="Text 25"/>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SMS</a:t>
            </a:r>
            <a:endParaRPr lang="en-US" sz="900" dirty="0"/>
          </a:p>
        </p:txBody>
      </p:sp>
      <p:sp>
        <p:nvSpPr>
          <p:cNvPr id="31" name="Text 26"/>
          <p:cNvSpPr txBox="1"/>
          <p:nvPr/>
        </p:nvSpPr>
        <p:spPr>
          <a:xfrm>
            <a:off x="457200"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Inclusions, slivers</a:t>
            </a:r>
            <a:endParaRPr lang="en-US" sz="950" dirty="0"/>
          </a:p>
        </p:txBody>
      </p:sp>
      <p:sp>
        <p:nvSpPr>
          <p:cNvPr id="32" name="Shape 27"/>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33" name="Text 28"/>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4" name="Shape 29"/>
          <p:cNvSpPr/>
          <p:nvPr/>
        </p:nvSpPr>
        <p:spPr>
          <a:xfrm>
            <a:off x="3612794" y="2304288"/>
            <a:ext cx="1166774" cy="0"/>
          </a:xfrm>
          <a:prstGeom prst="line">
            <a:avLst/>
          </a:prstGeom>
          <a:noFill/>
          <a:ln w="19050">
            <a:solidFill>
              <a:srgbClr val="EC9352"/>
            </a:solidFill>
            <a:prstDash val="dash"/>
            <a:tailEnd type="triangle"/>
          </a:ln>
        </p:spPr>
      </p:sp>
      <p:sp>
        <p:nvSpPr>
          <p:cNvPr id="35" name="Shape 30"/>
          <p:cNvSpPr/>
          <p:nvPr/>
        </p:nvSpPr>
        <p:spPr>
          <a:xfrm>
            <a:off x="2945282" y="2002536"/>
            <a:ext cx="603504" cy="603504"/>
          </a:xfrm>
          <a:prstGeom prst="ellipse">
            <a:avLst/>
          </a:prstGeom>
          <a:solidFill>
            <a:srgbClr val="2B2B2B"/>
          </a:solidFill>
          <a:ln w="12700">
            <a:solidFill>
              <a:srgbClr val="2B2B2B"/>
            </a:solidFill>
            <a:prstDash val="solid"/>
          </a:ln>
        </p:spPr>
      </p:sp>
      <p:pic>
        <p:nvPicPr>
          <p:cNvPr id="36" name="Image 3" descr="img/icons/factory-white.png">    </p:cNvPr>
          <p:cNvPicPr>
            <a:picLocks noChangeAspect="1"/>
          </p:cNvPicPr>
          <p:nvPr/>
        </p:nvPicPr>
        <p:blipFill>
          <a:blip r:embed="rId4"/>
          <a:stretch>
            <a:fillRect/>
          </a:stretch>
        </p:blipFill>
        <p:spPr>
          <a:xfrm>
            <a:off x="3078053" y="2135307"/>
            <a:ext cx="337962" cy="337962"/>
          </a:xfrm>
          <a:prstGeom prst="rect">
            <a:avLst/>
          </a:prstGeom>
        </p:spPr>
      </p:pic>
      <p:sp>
        <p:nvSpPr>
          <p:cNvPr id="37" name="Text 31"/>
          <p:cNvSpPr txBox="1"/>
          <p:nvPr/>
        </p:nvSpPr>
        <p:spPr>
          <a:xfrm>
            <a:off x="2355494"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Hot rolling</a:t>
            </a:r>
            <a:endParaRPr lang="en-US" sz="1100" dirty="0"/>
          </a:p>
        </p:txBody>
      </p:sp>
      <p:sp>
        <p:nvSpPr>
          <p:cNvPr id="38" name="Text 32"/>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HSM</a:t>
            </a:r>
            <a:endParaRPr lang="en-US" sz="900" dirty="0"/>
          </a:p>
        </p:txBody>
      </p:sp>
      <p:sp>
        <p:nvSpPr>
          <p:cNvPr id="39" name="Text 33"/>
          <p:cNvSpPr txBox="1"/>
          <p:nvPr/>
        </p:nvSpPr>
        <p:spPr>
          <a:xfrm>
            <a:off x="2355494"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Scale, pits, edge cracks</a:t>
            </a:r>
            <a:endParaRPr lang="en-US" sz="950" dirty="0"/>
          </a:p>
        </p:txBody>
      </p:sp>
      <p:sp>
        <p:nvSpPr>
          <p:cNvPr id="40" name="Shape 34"/>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41" name="Text 35"/>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42" name="Shape 36"/>
          <p:cNvSpPr/>
          <p:nvPr/>
        </p:nvSpPr>
        <p:spPr>
          <a:xfrm>
            <a:off x="5511089" y="2304288"/>
            <a:ext cx="1166774" cy="0"/>
          </a:xfrm>
          <a:prstGeom prst="line">
            <a:avLst/>
          </a:prstGeom>
          <a:noFill/>
          <a:ln w="19050">
            <a:solidFill>
              <a:srgbClr val="EC9352"/>
            </a:solidFill>
            <a:prstDash val="dash"/>
            <a:tailEnd type="triangle"/>
          </a:ln>
        </p:spPr>
      </p:sp>
      <p:sp>
        <p:nvSpPr>
          <p:cNvPr id="43" name="Shape 37"/>
          <p:cNvSpPr/>
          <p:nvPr/>
        </p:nvSpPr>
        <p:spPr>
          <a:xfrm>
            <a:off x="4843577" y="2002536"/>
            <a:ext cx="603504" cy="603504"/>
          </a:xfrm>
          <a:prstGeom prst="ellipse">
            <a:avLst/>
          </a:prstGeom>
          <a:solidFill>
            <a:srgbClr val="2B2B2B"/>
          </a:solidFill>
          <a:ln w="12700">
            <a:solidFill>
              <a:srgbClr val="2B2B2B"/>
            </a:solidFill>
            <a:prstDash val="solid"/>
          </a:ln>
        </p:spPr>
      </p:sp>
      <p:pic>
        <p:nvPicPr>
          <p:cNvPr id="44" name="Image 4" descr="img/icons/droplets-white.png">    </p:cNvPr>
          <p:cNvPicPr>
            <a:picLocks noChangeAspect="1"/>
          </p:cNvPicPr>
          <p:nvPr/>
        </p:nvPicPr>
        <p:blipFill>
          <a:blip r:embed="rId5"/>
          <a:stretch>
            <a:fillRect/>
          </a:stretch>
        </p:blipFill>
        <p:spPr>
          <a:xfrm>
            <a:off x="4976348" y="2135307"/>
            <a:ext cx="337962" cy="337962"/>
          </a:xfrm>
          <a:prstGeom prst="rect">
            <a:avLst/>
          </a:prstGeom>
        </p:spPr>
      </p:pic>
      <p:sp>
        <p:nvSpPr>
          <p:cNvPr id="45" name="Text 38"/>
          <p:cNvSpPr txBox="1"/>
          <p:nvPr/>
        </p:nvSpPr>
        <p:spPr>
          <a:xfrm>
            <a:off x="4253789"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Anneal &amp; pickle</a:t>
            </a:r>
            <a:endParaRPr lang="en-US" sz="1100" dirty="0"/>
          </a:p>
        </p:txBody>
      </p:sp>
      <p:sp>
        <p:nvSpPr>
          <p:cNvPr id="46" name="Text 39"/>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HRAP</a:t>
            </a:r>
            <a:endParaRPr lang="en-US" sz="900" dirty="0"/>
          </a:p>
        </p:txBody>
      </p:sp>
      <p:sp>
        <p:nvSpPr>
          <p:cNvPr id="47" name="Text 40"/>
          <p:cNvSpPr txBox="1"/>
          <p:nvPr/>
        </p:nvSpPr>
        <p:spPr>
          <a:xfrm>
            <a:off x="4253789"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Pickling patches</a:t>
            </a:r>
            <a:endParaRPr lang="en-US" sz="950" dirty="0"/>
          </a:p>
        </p:txBody>
      </p:sp>
      <p:sp>
        <p:nvSpPr>
          <p:cNvPr id="48" name="Shape 41"/>
          <p:cNvSpPr/>
          <p:nvPr/>
        </p:nvSpPr>
        <p:spPr>
          <a:xfrm>
            <a:off x="4688129" y="3502152"/>
            <a:ext cx="914400" cy="201168"/>
          </a:xfrm>
          <a:prstGeom prst="roundRect">
            <a:avLst>
              <a:gd name="adj" fmla="val 27273"/>
            </a:avLst>
          </a:prstGeom>
          <a:solidFill>
            <a:srgbClr val="C99700"/>
          </a:solidFill>
          <a:ln w="12700">
            <a:solidFill>
              <a:srgbClr val="C99700"/>
            </a:solidFill>
            <a:prstDash val="solid"/>
          </a:ln>
        </p:spPr>
      </p:sp>
      <p:sp>
        <p:nvSpPr>
          <p:cNvPr id="49" name="Text 42"/>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0" name="Shape 43"/>
          <p:cNvSpPr/>
          <p:nvPr/>
        </p:nvSpPr>
        <p:spPr>
          <a:xfrm>
            <a:off x="7409383" y="2304288"/>
            <a:ext cx="1166774" cy="0"/>
          </a:xfrm>
          <a:prstGeom prst="line">
            <a:avLst/>
          </a:prstGeom>
          <a:noFill/>
          <a:ln w="19050">
            <a:solidFill>
              <a:srgbClr val="EC9352"/>
            </a:solidFill>
            <a:prstDash val="dash"/>
            <a:tailEnd type="triangle"/>
          </a:ln>
        </p:spPr>
      </p:sp>
      <p:sp>
        <p:nvSpPr>
          <p:cNvPr id="51" name="Shape 44"/>
          <p:cNvSpPr/>
          <p:nvPr/>
        </p:nvSpPr>
        <p:spPr>
          <a:xfrm>
            <a:off x="6741871" y="2002536"/>
            <a:ext cx="603504" cy="603504"/>
          </a:xfrm>
          <a:prstGeom prst="ellipse">
            <a:avLst/>
          </a:prstGeom>
          <a:solidFill>
            <a:srgbClr val="2B2B2B"/>
          </a:solidFill>
          <a:ln w="12700">
            <a:solidFill>
              <a:srgbClr val="2B2B2B"/>
            </a:solidFill>
            <a:prstDash val="solid"/>
          </a:ln>
        </p:spPr>
      </p:sp>
      <p:pic>
        <p:nvPicPr>
          <p:cNvPr id="52" name="Image 5" descr="img/icons/layers-white.png">    </p:cNvPr>
          <p:cNvPicPr>
            <a:picLocks noChangeAspect="1"/>
          </p:cNvPicPr>
          <p:nvPr/>
        </p:nvPicPr>
        <p:blipFill>
          <a:blip r:embed="rId6"/>
          <a:stretch>
            <a:fillRect/>
          </a:stretch>
        </p:blipFill>
        <p:spPr>
          <a:xfrm>
            <a:off x="6874642" y="2135307"/>
            <a:ext cx="337962" cy="337962"/>
          </a:xfrm>
          <a:prstGeom prst="rect">
            <a:avLst/>
          </a:prstGeom>
        </p:spPr>
      </p:pic>
      <p:sp>
        <p:nvSpPr>
          <p:cNvPr id="53" name="Text 45"/>
          <p:cNvSpPr txBox="1"/>
          <p:nvPr/>
        </p:nvSpPr>
        <p:spPr>
          <a:xfrm>
            <a:off x="6152083"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Cold rolling</a:t>
            </a:r>
            <a:endParaRPr lang="en-US" sz="1100" dirty="0"/>
          </a:p>
        </p:txBody>
      </p:sp>
      <p:sp>
        <p:nvSpPr>
          <p:cNvPr id="54" name="Text 46"/>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CRM</a:t>
            </a:r>
            <a:endParaRPr lang="en-US" sz="900" dirty="0"/>
          </a:p>
        </p:txBody>
      </p:sp>
      <p:sp>
        <p:nvSpPr>
          <p:cNvPr id="55" name="Text 47"/>
          <p:cNvSpPr txBox="1"/>
          <p:nvPr/>
        </p:nvSpPr>
        <p:spPr>
          <a:xfrm>
            <a:off x="6152083"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Scratches, roll marks</a:t>
            </a:r>
            <a:endParaRPr lang="en-US" sz="950" dirty="0"/>
          </a:p>
        </p:txBody>
      </p:sp>
      <p:sp>
        <p:nvSpPr>
          <p:cNvPr id="56" name="Shape 48"/>
          <p:cNvSpPr/>
          <p:nvPr/>
        </p:nvSpPr>
        <p:spPr>
          <a:xfrm>
            <a:off x="6586423" y="3502152"/>
            <a:ext cx="914400" cy="201168"/>
          </a:xfrm>
          <a:prstGeom prst="roundRect">
            <a:avLst>
              <a:gd name="adj" fmla="val 27273"/>
            </a:avLst>
          </a:prstGeom>
          <a:solidFill>
            <a:srgbClr val="C99700"/>
          </a:solidFill>
          <a:ln w="12700">
            <a:solidFill>
              <a:srgbClr val="C99700"/>
            </a:solidFill>
            <a:prstDash val="solid"/>
          </a:ln>
        </p:spPr>
      </p:sp>
      <p:sp>
        <p:nvSpPr>
          <p:cNvPr id="57" name="Text 49"/>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8" name="Shape 50"/>
          <p:cNvSpPr/>
          <p:nvPr/>
        </p:nvSpPr>
        <p:spPr>
          <a:xfrm>
            <a:off x="9307678" y="2304288"/>
            <a:ext cx="1166774" cy="0"/>
          </a:xfrm>
          <a:prstGeom prst="line">
            <a:avLst/>
          </a:prstGeom>
          <a:noFill/>
          <a:ln w="19050">
            <a:solidFill>
              <a:srgbClr val="EC9352"/>
            </a:solidFill>
            <a:prstDash val="dash"/>
            <a:tailEnd type="triangle"/>
          </a:ln>
        </p:spPr>
      </p:sp>
      <p:sp>
        <p:nvSpPr>
          <p:cNvPr id="59" name="Shape 51"/>
          <p:cNvSpPr/>
          <p:nvPr/>
        </p:nvSpPr>
        <p:spPr>
          <a:xfrm>
            <a:off x="8640166" y="2002536"/>
            <a:ext cx="603504" cy="603504"/>
          </a:xfrm>
          <a:prstGeom prst="ellipse">
            <a:avLst/>
          </a:prstGeom>
          <a:solidFill>
            <a:srgbClr val="2B2B2B"/>
          </a:solidFill>
          <a:ln w="12700">
            <a:solidFill>
              <a:srgbClr val="2B2B2B"/>
            </a:solidFill>
            <a:prstDash val="solid"/>
          </a:ln>
        </p:spPr>
      </p:sp>
      <p:pic>
        <p:nvPicPr>
          <p:cNvPr id="60" name="Image 6" descr="img/icons/sparkles-white.png">    </p:cNvPr>
          <p:cNvPicPr>
            <a:picLocks noChangeAspect="1"/>
          </p:cNvPicPr>
          <p:nvPr/>
        </p:nvPicPr>
        <p:blipFill>
          <a:blip r:embed="rId7"/>
          <a:stretch>
            <a:fillRect/>
          </a:stretch>
        </p:blipFill>
        <p:spPr>
          <a:xfrm>
            <a:off x="8772936" y="2135307"/>
            <a:ext cx="337962" cy="337962"/>
          </a:xfrm>
          <a:prstGeom prst="rect">
            <a:avLst/>
          </a:prstGeom>
        </p:spPr>
      </p:pic>
      <p:sp>
        <p:nvSpPr>
          <p:cNvPr id="61" name="Text 52"/>
          <p:cNvSpPr txBox="1"/>
          <p:nvPr/>
        </p:nvSpPr>
        <p:spPr>
          <a:xfrm>
            <a:off x="8050378"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Final anneal / BA</a:t>
            </a:r>
            <a:endParaRPr lang="en-US" sz="1100" dirty="0"/>
          </a:p>
        </p:txBody>
      </p:sp>
      <p:sp>
        <p:nvSpPr>
          <p:cNvPr id="62" name="Text 53"/>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CRAP / BA</a:t>
            </a:r>
            <a:endParaRPr lang="en-US" sz="900" dirty="0"/>
          </a:p>
        </p:txBody>
      </p:sp>
      <p:sp>
        <p:nvSpPr>
          <p:cNvPr id="63" name="Text 54"/>
          <p:cNvSpPr txBox="1"/>
          <p:nvPr/>
        </p:nvSpPr>
        <p:spPr>
          <a:xfrm>
            <a:off x="8050378"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Stains, BA marks</a:t>
            </a:r>
            <a:endParaRPr lang="en-US" sz="950" dirty="0"/>
          </a:p>
        </p:txBody>
      </p:sp>
      <p:sp>
        <p:nvSpPr>
          <p:cNvPr id="64" name="Shape 55"/>
          <p:cNvSpPr/>
          <p:nvPr/>
        </p:nvSpPr>
        <p:spPr>
          <a:xfrm>
            <a:off x="8484718" y="3502152"/>
            <a:ext cx="914400" cy="201168"/>
          </a:xfrm>
          <a:prstGeom prst="roundRect">
            <a:avLst>
              <a:gd name="adj" fmla="val 27273"/>
            </a:avLst>
          </a:prstGeom>
          <a:solidFill>
            <a:srgbClr val="C99700"/>
          </a:solidFill>
          <a:ln w="12700">
            <a:solidFill>
              <a:srgbClr val="C99700"/>
            </a:solidFill>
            <a:prstDash val="solid"/>
          </a:ln>
        </p:spPr>
      </p:sp>
      <p:sp>
        <p:nvSpPr>
          <p:cNvPr id="65" name="Text 56"/>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6" name="Shape 57"/>
          <p:cNvSpPr/>
          <p:nvPr/>
        </p:nvSpPr>
        <p:spPr>
          <a:xfrm>
            <a:off x="10538460" y="2002536"/>
            <a:ext cx="603504" cy="603504"/>
          </a:xfrm>
          <a:prstGeom prst="ellipse">
            <a:avLst/>
          </a:prstGeom>
          <a:solidFill>
            <a:srgbClr val="D2651F"/>
          </a:solidFill>
          <a:ln w="12700">
            <a:solidFill>
              <a:srgbClr val="D2651F"/>
            </a:solidFill>
            <a:prstDash val="solid"/>
          </a:ln>
        </p:spPr>
      </p:sp>
      <p:pic>
        <p:nvPicPr>
          <p:cNvPr id="67" name="Image 7" descr="img/icons/truck-white.png">    </p:cNvPr>
          <p:cNvPicPr>
            <a:picLocks noChangeAspect="1"/>
          </p:cNvPicPr>
          <p:nvPr/>
        </p:nvPicPr>
        <p:blipFill>
          <a:blip r:embed="rId8"/>
          <a:stretch>
            <a:fillRect/>
          </a:stretch>
        </p:blipFill>
        <p:spPr>
          <a:xfrm>
            <a:off x="10671231" y="2135307"/>
            <a:ext cx="337962" cy="337962"/>
          </a:xfrm>
          <a:prstGeom prst="rect">
            <a:avLst/>
          </a:prstGeom>
        </p:spPr>
      </p:pic>
      <p:sp>
        <p:nvSpPr>
          <p:cNvPr id="68" name="Text 58"/>
          <p:cNvSpPr txBox="1"/>
          <p:nvPr/>
        </p:nvSpPr>
        <p:spPr>
          <a:xfrm>
            <a:off x="9948672" y="2679192"/>
            <a:ext cx="1783080" cy="219456"/>
          </a:xfrm>
          <a:prstGeom prst="rect">
            <a:avLst/>
          </a:prstGeom>
          <a:noFill/>
          <a:ln/>
        </p:spPr>
        <p:txBody>
          <a:bodyPr wrap="square" lIns="0" tIns="0" rIns="0" bIns="0" rtlCol="0" anchor="t"/>
          <a:lstStyle/>
          <a:p>
            <a:pPr algn="ctr" indent="0" marL="0">
              <a:buNone/>
            </a:pPr>
            <a:r>
              <a:rPr lang="en-US" sz="1100" b="1" dirty="0">
                <a:solidFill>
                  <a:srgbClr val="2B2B2B"/>
                </a:solidFill>
                <a:latin typeface="Calibri" pitchFamily="34" charset="0"/>
                <a:ea typeface="Calibri" pitchFamily="34" charset="-122"/>
                <a:cs typeface="Calibri" pitchFamily="34" charset="-120"/>
              </a:rPr>
              <a:t>Finish &amp; despatch</a:t>
            </a:r>
            <a:endParaRPr lang="en-US" sz="1100" dirty="0"/>
          </a:p>
        </p:txBody>
      </p:sp>
      <p:sp>
        <p:nvSpPr>
          <p:cNvPr id="69" name="Text 59"/>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Slit, cut</a:t>
            </a:r>
            <a:endParaRPr lang="en-US" sz="900" dirty="0"/>
          </a:p>
        </p:txBody>
      </p:sp>
      <p:sp>
        <p:nvSpPr>
          <p:cNvPr id="70" name="Text 60"/>
          <p:cNvSpPr txBox="1"/>
          <p:nvPr/>
        </p:nvSpPr>
        <p:spPr>
          <a:xfrm>
            <a:off x="9948672" y="3108960"/>
            <a:ext cx="1783080" cy="329184"/>
          </a:xfrm>
          <a:prstGeom prst="rect">
            <a:avLst/>
          </a:prstGeom>
          <a:noFill/>
          <a:ln/>
        </p:spPr>
        <p:txBody>
          <a:bodyPr wrap="square" lIns="0" tIns="0" rIns="0" bIns="0" rtlCol="0" anchor="t"/>
          <a:lstStyle/>
          <a:p>
            <a:pPr algn="ctr" indent="0" marL="0">
              <a:buNone/>
            </a:pPr>
            <a:r>
              <a:rPr lang="en-US" sz="950" dirty="0">
                <a:solidFill>
                  <a:srgbClr val="1A1A1A"/>
                </a:solidFill>
                <a:latin typeface="Calibri" pitchFamily="34" charset="0"/>
                <a:ea typeface="Calibri" pitchFamily="34" charset="-122"/>
                <a:cs typeface="Calibri" pitchFamily="34" charset="-120"/>
              </a:rPr>
              <a:t>Found here, or by the customer</a:t>
            </a:r>
            <a:endParaRPr lang="en-US" sz="950" dirty="0"/>
          </a:p>
        </p:txBody>
      </p:sp>
      <p:sp>
        <p:nvSpPr>
          <p:cNvPr id="71" name="Shape 61"/>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72" name="Text 62"/>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73" name="Shape 63"/>
          <p:cNvSpPr/>
          <p:nvPr/>
        </p:nvSpPr>
        <p:spPr>
          <a:xfrm>
            <a:off x="457200" y="3931920"/>
            <a:ext cx="3611880" cy="274320"/>
          </a:xfrm>
          <a:prstGeom prst="rect">
            <a:avLst/>
          </a:prstGeom>
          <a:solidFill>
            <a:srgbClr val="E4803A"/>
          </a:solidFill>
          <a:ln w="12700">
            <a:solidFill>
              <a:srgbClr val="E4803A"/>
            </a:solidFill>
            <a:prstDash val="solid"/>
          </a:ln>
        </p:spPr>
      </p:sp>
      <p:sp>
        <p:nvSpPr>
          <p:cNvPr id="74" name="Text 64"/>
          <p:cNvSpPr txBox="1"/>
          <p:nvPr/>
        </p:nvSpPr>
        <p:spPr>
          <a:xfrm>
            <a:off x="548640" y="3931920"/>
            <a:ext cx="3429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pic>
        <p:nvPicPr>
          <p:cNvPr id="75" name="Image 8" descr="img/icons/gauge-accent.png">    </p:cNvPr>
          <p:cNvPicPr>
            <a:picLocks noChangeAspect="1"/>
          </p:cNvPicPr>
          <p:nvPr/>
        </p:nvPicPr>
        <p:blipFill>
          <a:blip r:embed="rId9"/>
          <a:stretch>
            <a:fillRect/>
          </a:stretch>
        </p:blipFill>
        <p:spPr>
          <a:xfrm>
            <a:off x="530352" y="4370832"/>
            <a:ext cx="292608" cy="292608"/>
          </a:xfrm>
          <a:prstGeom prst="rect">
            <a:avLst/>
          </a:prstGeom>
        </p:spPr>
      </p:pic>
      <p:sp>
        <p:nvSpPr>
          <p:cNvPr id="76" name="Text 65"/>
          <p:cNvSpPr txBox="1"/>
          <p:nvPr/>
        </p:nvSpPr>
        <p:spPr>
          <a:xfrm>
            <a:off x="896112" y="4297680"/>
            <a:ext cx="1280160" cy="457200"/>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300 m/min</a:t>
            </a:r>
            <a:endParaRPr lang="en-US" sz="1200" dirty="0"/>
          </a:p>
        </p:txBody>
      </p:sp>
      <p:sp>
        <p:nvSpPr>
          <p:cNvPr id="77" name="Text 66"/>
          <p:cNvSpPr txBox="1"/>
          <p:nvPr/>
        </p:nvSpPr>
        <p:spPr>
          <a:xfrm>
            <a:off x="2176272" y="4297680"/>
            <a:ext cx="1874520" cy="457200"/>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too fast for the eye to see the whole surface</a:t>
            </a:r>
            <a:endParaRPr lang="en-US" sz="900" dirty="0"/>
          </a:p>
        </p:txBody>
      </p:sp>
      <p:pic>
        <p:nvPicPr>
          <p:cNvPr id="78" name="Image 9" descr="img/icons/coins-accent.png">    </p:cNvPr>
          <p:cNvPicPr>
            <a:picLocks noChangeAspect="1"/>
          </p:cNvPicPr>
          <p:nvPr/>
        </p:nvPicPr>
        <p:blipFill>
          <a:blip r:embed="rId10"/>
          <a:stretch>
            <a:fillRect/>
          </a:stretch>
        </p:blipFill>
        <p:spPr>
          <a:xfrm>
            <a:off x="530352" y="4901184"/>
            <a:ext cx="292608" cy="292608"/>
          </a:xfrm>
          <a:prstGeom prst="rect">
            <a:avLst/>
          </a:prstGeom>
        </p:spPr>
      </p:pic>
      <p:sp>
        <p:nvSpPr>
          <p:cNvPr id="79" name="Text 67"/>
          <p:cNvSpPr txBox="1"/>
          <p:nvPr/>
        </p:nvSpPr>
        <p:spPr>
          <a:xfrm>
            <a:off x="896112" y="4828032"/>
            <a:ext cx="1280160" cy="457200"/>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₹126k-165k</a:t>
            </a:r>
            <a:endParaRPr lang="en-US" sz="1200" dirty="0"/>
          </a:p>
        </p:txBody>
      </p:sp>
      <p:sp>
        <p:nvSpPr>
          <p:cNvPr id="80" name="Text 68"/>
          <p:cNvSpPr txBox="1"/>
          <p:nvPr/>
        </p:nvSpPr>
        <p:spPr>
          <a:xfrm>
            <a:off x="2176272" y="4828032"/>
            <a:ext cx="1874520" cy="457200"/>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of nickel in every tonne of 304, given away on a downgrade</a:t>
            </a:r>
            <a:endParaRPr lang="en-US" sz="900" dirty="0"/>
          </a:p>
        </p:txBody>
      </p:sp>
      <p:pic>
        <p:nvPicPr>
          <p:cNvPr id="81" name="Image 10" descr="img/icons/sparkles-accent.png">    </p:cNvPr>
          <p:cNvPicPr>
            <a:picLocks noChangeAspect="1"/>
          </p:cNvPicPr>
          <p:nvPr/>
        </p:nvPicPr>
        <p:blipFill>
          <a:blip r:embed="rId11"/>
          <a:stretch>
            <a:fillRect/>
          </a:stretch>
        </p:blipFill>
        <p:spPr>
          <a:xfrm>
            <a:off x="530352" y="5431536"/>
            <a:ext cx="292608" cy="292608"/>
          </a:xfrm>
          <a:prstGeom prst="rect">
            <a:avLst/>
          </a:prstGeom>
        </p:spPr>
      </p:pic>
      <p:sp>
        <p:nvSpPr>
          <p:cNvPr id="82" name="Text 69"/>
          <p:cNvSpPr txBox="1"/>
          <p:nvPr/>
        </p:nvSpPr>
        <p:spPr>
          <a:xfrm>
            <a:off x="896112" y="5358384"/>
            <a:ext cx="1280160" cy="457200"/>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No repair</a:t>
            </a:r>
            <a:endParaRPr lang="en-US" sz="1200" dirty="0"/>
          </a:p>
        </p:txBody>
      </p:sp>
      <p:sp>
        <p:nvSpPr>
          <p:cNvPr id="83" name="Text 70"/>
          <p:cNvSpPr txBox="1"/>
          <p:nvPr/>
        </p:nvSpPr>
        <p:spPr>
          <a:xfrm>
            <a:off x="2176272" y="5358384"/>
            <a:ext cx="1874520" cy="457200"/>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damage on 2B/BA mill finishes cannot be polished out</a:t>
            </a:r>
            <a:endParaRPr lang="en-US" sz="900" dirty="0"/>
          </a:p>
        </p:txBody>
      </p:sp>
      <p:sp>
        <p:nvSpPr>
          <p:cNvPr id="84" name="Shape 71"/>
          <p:cNvSpPr/>
          <p:nvPr/>
        </p:nvSpPr>
        <p:spPr>
          <a:xfrm>
            <a:off x="4206240" y="3931920"/>
            <a:ext cx="3886200" cy="274320"/>
          </a:xfrm>
          <a:prstGeom prst="rect">
            <a:avLst/>
          </a:prstGeom>
          <a:solidFill>
            <a:srgbClr val="E4803A"/>
          </a:solidFill>
          <a:ln w="12700">
            <a:solidFill>
              <a:srgbClr val="E4803A"/>
            </a:solidFill>
            <a:prstDash val="solid"/>
          </a:ln>
        </p:spPr>
      </p:sp>
      <p:sp>
        <p:nvSpPr>
          <p:cNvPr id="85" name="Text 72"/>
          <p:cNvSpPr txBox="1"/>
          <p:nvPr/>
        </p:nvSpPr>
        <p:spPr>
          <a:xfrm>
            <a:off x="4297680" y="3931920"/>
            <a:ext cx="3703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now</a:t>
            </a:r>
            <a:endParaRPr lang="en-US" sz="1100" dirty="0"/>
          </a:p>
        </p:txBody>
      </p:sp>
      <p:sp>
        <p:nvSpPr>
          <p:cNvPr id="86" name="Text 73"/>
          <p:cNvSpPr txBox="1"/>
          <p:nvPr/>
        </p:nvSpPr>
        <p:spPr>
          <a:xfrm>
            <a:off x="4251960" y="4242816"/>
            <a:ext cx="1920240" cy="201168"/>
          </a:xfrm>
          <a:prstGeom prst="rect">
            <a:avLst/>
          </a:prstGeom>
          <a:noFill/>
          <a:ln/>
        </p:spPr>
        <p:txBody>
          <a:bodyPr wrap="square" lIns="0" tIns="0" rIns="0" bIns="0" rtlCol="0" anchor="t"/>
          <a:lstStyle/>
          <a:p>
            <a:pPr indent="0" marL="0">
              <a:buNone/>
            </a:pPr>
            <a:r>
              <a:rPr lang="en-US" sz="900" b="1" dirty="0">
                <a:solidFill>
                  <a:srgbClr val="2B2B2B"/>
                </a:solidFill>
                <a:latin typeface="Calibri" pitchFamily="34" charset="0"/>
                <a:ea typeface="Calibri" pitchFamily="34" charset="-122"/>
                <a:cs typeface="Calibri" pitchFamily="34" charset="-120"/>
              </a:rPr>
              <a:t>India demand, Mt</a:t>
            </a:r>
            <a:pPr indent="0" marL="0">
              <a:buNone/>
            </a:pPr>
            <a:r>
              <a:rPr lang="en-US" sz="900" b="1" dirty="0">
                <a:solidFill>
                  <a:srgbClr val="D2651F"/>
                </a:solidFill>
                <a:latin typeface="Calibri" pitchFamily="34" charset="0"/>
                <a:ea typeface="Calibri" pitchFamily="34" charset="-122"/>
                <a:cs typeface="Calibri" pitchFamily="34" charset="-120"/>
              </a:rPr>
              <a:t>  +84% in 5 yrs</a:t>
            </a:r>
            <a:endParaRPr lang="en-US" sz="900" dirty="0"/>
          </a:p>
        </p:txBody>
      </p:sp>
      <p:graphicFrame>
        <p:nvGraphicFramePr>
          <p:cNvPr id="87" name="Chart 0" descr=""/>
          <p:cNvGraphicFramePr/>
          <p:nvPr/>
        </p:nvGraphicFramePr>
        <p:xfrm>
          <a:off x="4206240" y="4425696"/>
          <a:ext cx="1965960" cy="1463040"/>
        </p:xfrm>
        <a:graphic xmlns:a="http://schemas.openxmlformats.org/drawingml/2006/main">
          <a:graphicData uri="http://schemas.openxmlformats.org/drawingml/2006/chart">
            <c:chart xmlns:c="http://schemas.openxmlformats.org/drawingml/2006/chart" r:id="rId12"/>
          </a:graphicData>
        </a:graphic>
      </p:graphicFrame>
      <p:pic>
        <p:nvPicPr>
          <p:cNvPr id="88" name="Image 11" descr="img/icons/ship-accent.png">    </p:cNvPr>
          <p:cNvPicPr>
            <a:picLocks noChangeAspect="1"/>
          </p:cNvPicPr>
          <p:nvPr/>
        </p:nvPicPr>
        <p:blipFill>
          <a:blip r:embed="rId13"/>
          <a:stretch>
            <a:fillRect/>
          </a:stretch>
        </p:blipFill>
        <p:spPr>
          <a:xfrm>
            <a:off x="6217920" y="4279392"/>
            <a:ext cx="237744" cy="237744"/>
          </a:xfrm>
          <a:prstGeom prst="rect">
            <a:avLst/>
          </a:prstGeom>
        </p:spPr>
      </p:pic>
      <p:sp>
        <p:nvSpPr>
          <p:cNvPr id="89" name="Text 74"/>
          <p:cNvSpPr txBox="1"/>
          <p:nvPr/>
        </p:nvSpPr>
        <p:spPr>
          <a:xfrm>
            <a:off x="6510528" y="4261104"/>
            <a:ext cx="1572768"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1.73 Mt imports</a:t>
            </a:r>
            <a:endParaRPr lang="en-US" sz="1000" dirty="0"/>
          </a:p>
        </p:txBody>
      </p:sp>
      <p:sp>
        <p:nvSpPr>
          <p:cNvPr id="90" name="Text 75"/>
          <p:cNvSpPr txBox="1"/>
          <p:nvPr/>
        </p:nvSpPr>
        <p:spPr>
          <a:xfrm>
            <a:off x="6510528" y="4471416"/>
            <a:ext cx="1572768" cy="31089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FY25; anti-dumping probe on cold-rolled 300/400, Sep 2025</a:t>
            </a:r>
            <a:endParaRPr lang="en-US" sz="900" dirty="0"/>
          </a:p>
        </p:txBody>
      </p:sp>
      <p:pic>
        <p:nvPicPr>
          <p:cNvPr id="91" name="Image 12" descr="img/icons/badge-check-accent.png">    </p:cNvPr>
          <p:cNvPicPr>
            <a:picLocks noChangeAspect="1"/>
          </p:cNvPicPr>
          <p:nvPr/>
        </p:nvPicPr>
        <p:blipFill>
          <a:blip r:embed="rId14"/>
          <a:stretch>
            <a:fillRect/>
          </a:stretch>
        </p:blipFill>
        <p:spPr>
          <a:xfrm>
            <a:off x="6217920" y="4818888"/>
            <a:ext cx="237744" cy="237744"/>
          </a:xfrm>
          <a:prstGeom prst="rect">
            <a:avLst/>
          </a:prstGeom>
        </p:spPr>
      </p:pic>
      <p:sp>
        <p:nvSpPr>
          <p:cNvPr id="92" name="Text 76"/>
          <p:cNvSpPr txBox="1"/>
          <p:nvPr/>
        </p:nvSpPr>
        <p:spPr>
          <a:xfrm>
            <a:off x="6510528" y="4800600"/>
            <a:ext cx="1572768"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IS 6911 mandatory</a:t>
            </a:r>
            <a:endParaRPr lang="en-US" sz="1000" dirty="0"/>
          </a:p>
        </p:txBody>
      </p:sp>
      <p:sp>
        <p:nvSpPr>
          <p:cNvPr id="93" name="Text 77"/>
          <p:cNvSpPr txBox="1"/>
          <p:nvPr/>
        </p:nvSpPr>
        <p:spPr>
          <a:xfrm>
            <a:off x="6510528" y="5010912"/>
            <a:ext cx="1572768" cy="31089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BIS certification for sheet and strip, since Aug 2024</a:t>
            </a:r>
            <a:endParaRPr lang="en-US" sz="900" dirty="0"/>
          </a:p>
        </p:txBody>
      </p:sp>
      <p:pic>
        <p:nvPicPr>
          <p:cNvPr id="94" name="Image 13" descr="img/icons/factory-accent.png">    </p:cNvPr>
          <p:cNvPicPr>
            <a:picLocks noChangeAspect="1"/>
          </p:cNvPicPr>
          <p:nvPr/>
        </p:nvPicPr>
        <p:blipFill>
          <a:blip r:embed="rId15"/>
          <a:stretch>
            <a:fillRect/>
          </a:stretch>
        </p:blipFill>
        <p:spPr>
          <a:xfrm>
            <a:off x="6217920" y="5358384"/>
            <a:ext cx="237744" cy="237744"/>
          </a:xfrm>
          <a:prstGeom prst="rect">
            <a:avLst/>
          </a:prstGeom>
        </p:spPr>
      </p:pic>
      <p:sp>
        <p:nvSpPr>
          <p:cNvPr id="95" name="Text 78"/>
          <p:cNvSpPr txBox="1"/>
          <p:nvPr/>
        </p:nvSpPr>
        <p:spPr>
          <a:xfrm>
            <a:off x="6510528" y="5340096"/>
            <a:ext cx="1572768"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2.67 MTPA</a:t>
            </a:r>
            <a:endParaRPr lang="en-US" sz="1000" dirty="0"/>
          </a:p>
        </p:txBody>
      </p:sp>
      <p:sp>
        <p:nvSpPr>
          <p:cNvPr id="96" name="Text 79"/>
          <p:cNvSpPr txBox="1"/>
          <p:nvPr/>
        </p:nvSpPr>
        <p:spPr>
          <a:xfrm>
            <a:off x="6510528" y="5550408"/>
            <a:ext cx="1572768" cy="31089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JSL cold rolling by FY28, up from 2.05</a:t>
            </a:r>
            <a:endParaRPr lang="en-US" sz="900" dirty="0"/>
          </a:p>
        </p:txBody>
      </p:sp>
      <p:sp>
        <p:nvSpPr>
          <p:cNvPr id="97" name="Shape 80"/>
          <p:cNvSpPr/>
          <p:nvPr/>
        </p:nvSpPr>
        <p:spPr>
          <a:xfrm>
            <a:off x="8229600" y="3931920"/>
            <a:ext cx="3502152" cy="274320"/>
          </a:xfrm>
          <a:prstGeom prst="rect">
            <a:avLst/>
          </a:prstGeom>
          <a:solidFill>
            <a:srgbClr val="E4803A"/>
          </a:solidFill>
          <a:ln w="12700">
            <a:solidFill>
              <a:srgbClr val="E4803A"/>
            </a:solidFill>
            <a:prstDash val="solid"/>
          </a:ln>
        </p:spPr>
      </p:sp>
      <p:sp>
        <p:nvSpPr>
          <p:cNvPr id="98" name="Text 81"/>
          <p:cNvSpPr txBox="1"/>
          <p:nvPr/>
        </p:nvSpPr>
        <p:spPr>
          <a:xfrm>
            <a:off x="8321040" y="3931920"/>
            <a:ext cx="33192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where AI moves the money</a:t>
            </a:r>
            <a:endParaRPr lang="en-US" sz="1100" dirty="0"/>
          </a:p>
        </p:txBody>
      </p:sp>
      <p:sp>
        <p:nvSpPr>
          <p:cNvPr id="99" name="Text 82"/>
          <p:cNvSpPr/>
          <p:nvPr/>
        </p:nvSpPr>
        <p:spPr>
          <a:xfrm>
            <a:off x="8275320" y="4261104"/>
            <a:ext cx="3410712" cy="274320"/>
          </a:xfrm>
          <a:prstGeom prst="leftArrow">
            <a:avLst/>
          </a:prstGeom>
          <a:solidFill>
            <a:srgbClr val="D2651F"/>
          </a:solidFill>
          <a:ln>
            <a:solidFill>
              <a:srgbClr val="D2651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spend moves from failure to prevention</a:t>
            </a:r>
            <a:endParaRPr lang="en-US" sz="900" dirty="0"/>
          </a:p>
        </p:txBody>
      </p:sp>
      <p:sp>
        <p:nvSpPr>
          <p:cNvPr id="100" name="Shape 83"/>
          <p:cNvSpPr/>
          <p:nvPr/>
        </p:nvSpPr>
        <p:spPr>
          <a:xfrm>
            <a:off x="8275320" y="4599432"/>
            <a:ext cx="1682496" cy="502920"/>
          </a:xfrm>
          <a:prstGeom prst="roundRect">
            <a:avLst>
              <a:gd name="adj" fmla="val 10909"/>
            </a:avLst>
          </a:prstGeom>
          <a:solidFill>
            <a:srgbClr val="FDEFE4"/>
          </a:solidFill>
          <a:ln w="12700">
            <a:solidFill>
              <a:srgbClr val="FDEFE4"/>
            </a:solidFill>
            <a:prstDash val="solid"/>
          </a:ln>
        </p:spPr>
      </p:sp>
      <p:sp>
        <p:nvSpPr>
          <p:cNvPr id="101" name="Text 84"/>
          <p:cNvSpPr txBox="1"/>
          <p:nvPr/>
        </p:nvSpPr>
        <p:spPr>
          <a:xfrm>
            <a:off x="8339328" y="462686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Prevention</a:t>
            </a:r>
            <a:endParaRPr lang="en-US" sz="950" dirty="0"/>
          </a:p>
        </p:txBody>
      </p:sp>
      <p:sp>
        <p:nvSpPr>
          <p:cNvPr id="102" name="Text 85"/>
          <p:cNvSpPr txBox="1"/>
          <p:nvPr/>
        </p:nvSpPr>
        <p:spPr>
          <a:xfrm>
            <a:off x="8339328" y="482803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defect sent to its owner in minutes</a:t>
            </a:r>
            <a:endParaRPr lang="en-US" sz="900" dirty="0"/>
          </a:p>
        </p:txBody>
      </p:sp>
      <p:sp>
        <p:nvSpPr>
          <p:cNvPr id="103" name="Shape 86"/>
          <p:cNvSpPr/>
          <p:nvPr/>
        </p:nvSpPr>
        <p:spPr>
          <a:xfrm>
            <a:off x="10003536" y="4599432"/>
            <a:ext cx="1682496" cy="502920"/>
          </a:xfrm>
          <a:prstGeom prst="roundRect">
            <a:avLst>
              <a:gd name="adj" fmla="val 10909"/>
            </a:avLst>
          </a:prstGeom>
          <a:solidFill>
            <a:srgbClr val="F3F3F3"/>
          </a:solidFill>
          <a:ln w="12700">
            <a:solidFill>
              <a:srgbClr val="F3F3F3"/>
            </a:solidFill>
            <a:prstDash val="solid"/>
          </a:ln>
        </p:spPr>
      </p:sp>
      <p:sp>
        <p:nvSpPr>
          <p:cNvPr id="104" name="Text 87"/>
          <p:cNvSpPr txBox="1"/>
          <p:nvPr/>
        </p:nvSpPr>
        <p:spPr>
          <a:xfrm>
            <a:off x="10067544" y="462686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Internal failure</a:t>
            </a:r>
            <a:endParaRPr lang="en-US" sz="950" dirty="0"/>
          </a:p>
        </p:txBody>
      </p:sp>
      <p:sp>
        <p:nvSpPr>
          <p:cNvPr id="105" name="Text 88"/>
          <p:cNvSpPr txBox="1"/>
          <p:nvPr/>
        </p:nvSpPr>
        <p:spPr>
          <a:xfrm>
            <a:off x="10067544" y="482803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caught before more value is added</a:t>
            </a:r>
            <a:endParaRPr lang="en-US" sz="900" dirty="0"/>
          </a:p>
        </p:txBody>
      </p:sp>
      <p:sp>
        <p:nvSpPr>
          <p:cNvPr id="106" name="Shape 89"/>
          <p:cNvSpPr/>
          <p:nvPr/>
        </p:nvSpPr>
        <p:spPr>
          <a:xfrm>
            <a:off x="8275320" y="5148072"/>
            <a:ext cx="1682496" cy="502920"/>
          </a:xfrm>
          <a:prstGeom prst="roundRect">
            <a:avLst>
              <a:gd name="adj" fmla="val 10909"/>
            </a:avLst>
          </a:prstGeom>
          <a:solidFill>
            <a:srgbClr val="FDEFE4"/>
          </a:solidFill>
          <a:ln w="12700">
            <a:solidFill>
              <a:srgbClr val="FDEFE4"/>
            </a:solidFill>
            <a:prstDash val="solid"/>
          </a:ln>
        </p:spPr>
      </p:sp>
      <p:sp>
        <p:nvSpPr>
          <p:cNvPr id="107" name="Text 90"/>
          <p:cNvSpPr txBox="1"/>
          <p:nvPr/>
        </p:nvSpPr>
        <p:spPr>
          <a:xfrm>
            <a:off x="8339328" y="517550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Appraisal</a:t>
            </a:r>
            <a:endParaRPr lang="en-US" sz="950" dirty="0"/>
          </a:p>
        </p:txBody>
      </p:sp>
      <p:sp>
        <p:nvSpPr>
          <p:cNvPr id="108" name="Text 91"/>
          <p:cNvSpPr txBox="1"/>
          <p:nvPr/>
        </p:nvSpPr>
        <p:spPr>
          <a:xfrm>
            <a:off x="8339328" y="537667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100% of the surface, every coil</a:t>
            </a:r>
            <a:endParaRPr lang="en-US" sz="900" dirty="0"/>
          </a:p>
        </p:txBody>
      </p:sp>
      <p:sp>
        <p:nvSpPr>
          <p:cNvPr id="109" name="Shape 92"/>
          <p:cNvSpPr/>
          <p:nvPr/>
        </p:nvSpPr>
        <p:spPr>
          <a:xfrm>
            <a:off x="10003536" y="5148072"/>
            <a:ext cx="1682496" cy="502920"/>
          </a:xfrm>
          <a:prstGeom prst="roundRect">
            <a:avLst>
              <a:gd name="adj" fmla="val 10909"/>
            </a:avLst>
          </a:prstGeom>
          <a:solidFill>
            <a:srgbClr val="F3F3F3"/>
          </a:solidFill>
          <a:ln w="12700">
            <a:solidFill>
              <a:srgbClr val="F3F3F3"/>
            </a:solidFill>
            <a:prstDash val="solid"/>
          </a:ln>
        </p:spPr>
      </p:sp>
      <p:sp>
        <p:nvSpPr>
          <p:cNvPr id="110" name="Text 93"/>
          <p:cNvSpPr txBox="1"/>
          <p:nvPr/>
        </p:nvSpPr>
        <p:spPr>
          <a:xfrm>
            <a:off x="10067544" y="5175504"/>
            <a:ext cx="1572768" cy="20116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External failure</a:t>
            </a:r>
            <a:endParaRPr lang="en-US" sz="950" dirty="0"/>
          </a:p>
        </p:txBody>
      </p:sp>
      <p:sp>
        <p:nvSpPr>
          <p:cNvPr id="111" name="Text 94"/>
          <p:cNvSpPr txBox="1"/>
          <p:nvPr/>
        </p:nvSpPr>
        <p:spPr>
          <a:xfrm>
            <a:off x="10067544" y="5376672"/>
            <a:ext cx="1591056" cy="256032"/>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fewer escapes to customers</a:t>
            </a:r>
            <a:endParaRPr lang="en-US" sz="900" dirty="0"/>
          </a:p>
        </p:txBody>
      </p:sp>
      <p:sp>
        <p:nvSpPr>
          <p:cNvPr id="112" name="Text 95"/>
          <p:cNvSpPr txBox="1"/>
          <p:nvPr/>
        </p:nvSpPr>
        <p:spPr>
          <a:xfrm>
            <a:off x="8275320" y="5696712"/>
            <a:ext cx="3456432" cy="201168"/>
          </a:xfrm>
          <a:prstGeom prst="rect">
            <a:avLst/>
          </a:prstGeom>
          <a:noFill/>
          <a:ln/>
        </p:spPr>
        <p:txBody>
          <a:bodyPr wrap="square" lIns="0" tIns="0" rIns="0" bIns="0" rtlCol="0" anchor="t"/>
          <a:lstStyle/>
          <a:p>
            <a:pPr indent="0" marL="0">
              <a:buNone/>
            </a:pPr>
            <a:r>
              <a:rPr lang="en-US" sz="900" i="1" dirty="0">
                <a:solidFill>
                  <a:srgbClr val="404040"/>
                </a:solidFill>
                <a:latin typeface="Calibri" pitchFamily="34" charset="0"/>
                <a:ea typeface="Calibri" pitchFamily="34" charset="-122"/>
                <a:cs typeface="Calibri" pitchFamily="34" charset="-120"/>
              </a:rPr>
              <a:t>Poor quality costs ~15% of sales in manufacturing (IISE).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B63831"/>
          </a:solidFill>
          <a:ln w="12700">
            <a:solidFill>
              <a:srgbClr val="B63831"/>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INSIGHTS  ·  OWNERS  ·  PRECEDENT</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Images: held-out test frames, boxes drawn by our system. Sources: Nortal/Outokumpu (2024); Tata Steel; Parsytec (Stainless Steel World); Leão 2021; Steel in Translation 2023. Owners: team hypothesis. Grade risks: team hypothesis.</a:t>
            </a:r>
            <a:endParaRPr lang="en-US" sz="900" dirty="0"/>
          </a:p>
        </p:txBody>
      </p:sp>
      <p:sp>
        <p:nvSpPr>
          <p:cNvPr id="22" name="Shape 18"/>
          <p:cNvSpPr/>
          <p:nvPr/>
        </p:nvSpPr>
        <p:spPr>
          <a:xfrm>
            <a:off x="457200" y="1234440"/>
            <a:ext cx="11274552"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each traced to the process that caused it (real output from our system)</a:t>
            </a:r>
            <a:endParaRPr lang="en-US" sz="1100" dirty="0"/>
          </a:p>
        </p:txBody>
      </p:sp>
      <p:sp>
        <p:nvSpPr>
          <p:cNvPr id="24" name="Shape 20"/>
          <p:cNvSpPr/>
          <p:nvPr/>
        </p:nvSpPr>
        <p:spPr>
          <a:xfrm>
            <a:off x="457200" y="1572768"/>
            <a:ext cx="1783080" cy="2432304"/>
          </a:xfrm>
          <a:prstGeom prst="roundRect">
            <a:avLst>
              <a:gd name="adj" fmla="val 3077"/>
            </a:avLst>
          </a:prstGeom>
          <a:solidFill>
            <a:srgbClr val="F3F3F3"/>
          </a:solidFill>
          <a:ln w="12700">
            <a:solidFill>
              <a:srgbClr val="F3F3F3"/>
            </a:solidFill>
            <a:prstDash val="solid"/>
          </a:ln>
        </p:spPr>
      </p:sp>
      <p:pic>
        <p:nvPicPr>
          <p:cNvPr id="25" name="Image 2" descr="img/det_inclusion.png">    </p:cNvPr>
          <p:cNvPicPr>
            <a:picLocks noChangeAspect="1"/>
          </p:cNvPicPr>
          <p:nvPr/>
        </p:nvPicPr>
        <p:blipFill>
          <a:blip r:embed="rId3"/>
          <a:stretch>
            <a:fillRect/>
          </a:stretch>
        </p:blipFill>
        <p:spPr>
          <a:xfrm>
            <a:off x="653796" y="1627632"/>
            <a:ext cx="1389888" cy="1389888"/>
          </a:xfrm>
          <a:prstGeom prst="rect">
            <a:avLst/>
          </a:prstGeom>
        </p:spPr>
      </p:pic>
      <p:sp>
        <p:nvSpPr>
          <p:cNvPr id="26" name="Text 21"/>
          <p:cNvSpPr txBox="1"/>
          <p:nvPr/>
        </p:nvSpPr>
        <p:spPr>
          <a:xfrm>
            <a:off x="548640"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Caster</a:t>
            </a:r>
            <a:endParaRPr lang="en-US" sz="950" dirty="0"/>
          </a:p>
        </p:txBody>
      </p:sp>
      <p:sp>
        <p:nvSpPr>
          <p:cNvPr id="27" name="Text 22"/>
          <p:cNvSpPr txBox="1"/>
          <p:nvPr/>
        </p:nvSpPr>
        <p:spPr>
          <a:xfrm>
            <a:off x="548640"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SMS</a:t>
            </a:r>
            <a:endParaRPr lang="en-US" sz="950" dirty="0"/>
          </a:p>
        </p:txBody>
      </p:sp>
      <p:sp>
        <p:nvSpPr>
          <p:cNvPr id="28" name="Text 23"/>
          <p:cNvSpPr txBox="1"/>
          <p:nvPr/>
        </p:nvSpPr>
        <p:spPr>
          <a:xfrm>
            <a:off x="548640"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Tundish level, mould flux</a:t>
            </a:r>
            <a:endParaRPr lang="en-US" sz="950" dirty="0"/>
          </a:p>
        </p:txBody>
      </p:sp>
      <p:sp>
        <p:nvSpPr>
          <p:cNvPr id="29" name="Shape 24"/>
          <p:cNvSpPr/>
          <p:nvPr/>
        </p:nvSpPr>
        <p:spPr>
          <a:xfrm>
            <a:off x="2355494" y="1572768"/>
            <a:ext cx="1783080" cy="2432304"/>
          </a:xfrm>
          <a:prstGeom prst="roundRect">
            <a:avLst>
              <a:gd name="adj" fmla="val 3077"/>
            </a:avLst>
          </a:prstGeom>
          <a:solidFill>
            <a:srgbClr val="F3F3F3"/>
          </a:solidFill>
          <a:ln w="12700">
            <a:solidFill>
              <a:srgbClr val="F3F3F3"/>
            </a:solidFill>
            <a:prstDash val="solid"/>
          </a:ln>
        </p:spPr>
      </p:sp>
      <p:pic>
        <p:nvPicPr>
          <p:cNvPr id="30" name="Image 3" descr="img/det_crazing.png">    </p:cNvPr>
          <p:cNvPicPr>
            <a:picLocks noChangeAspect="1"/>
          </p:cNvPicPr>
          <p:nvPr/>
        </p:nvPicPr>
        <p:blipFill>
          <a:blip r:embed="rId4"/>
          <a:stretch>
            <a:fillRect/>
          </a:stretch>
        </p:blipFill>
        <p:spPr>
          <a:xfrm>
            <a:off x="2552090" y="1627632"/>
            <a:ext cx="1389888" cy="1389888"/>
          </a:xfrm>
          <a:prstGeom prst="rect">
            <a:avLst/>
          </a:prstGeom>
        </p:spPr>
      </p:pic>
      <p:sp>
        <p:nvSpPr>
          <p:cNvPr id="31" name="Text 25"/>
          <p:cNvSpPr txBox="1"/>
          <p:nvPr/>
        </p:nvSpPr>
        <p:spPr>
          <a:xfrm>
            <a:off x="2446934"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Reheat, hot rolling</a:t>
            </a:r>
            <a:endParaRPr lang="en-US" sz="950" dirty="0"/>
          </a:p>
        </p:txBody>
      </p:sp>
      <p:sp>
        <p:nvSpPr>
          <p:cNvPr id="32" name="Text 26"/>
          <p:cNvSpPr txBox="1"/>
          <p:nvPr/>
        </p:nvSpPr>
        <p:spPr>
          <a:xfrm>
            <a:off x="2446934"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HSM</a:t>
            </a:r>
            <a:endParaRPr lang="en-US" sz="950" dirty="0"/>
          </a:p>
        </p:txBody>
      </p:sp>
      <p:sp>
        <p:nvSpPr>
          <p:cNvPr id="33" name="Text 27"/>
          <p:cNvSpPr txBox="1"/>
          <p:nvPr/>
        </p:nvSpPr>
        <p:spPr>
          <a:xfrm>
            <a:off x="2446934"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Reheat and coiling temperature</a:t>
            </a:r>
            <a:endParaRPr lang="en-US" sz="950" dirty="0"/>
          </a:p>
        </p:txBody>
      </p:sp>
      <p:sp>
        <p:nvSpPr>
          <p:cNvPr id="34" name="Shape 28"/>
          <p:cNvSpPr/>
          <p:nvPr/>
        </p:nvSpPr>
        <p:spPr>
          <a:xfrm>
            <a:off x="4253789" y="1572768"/>
            <a:ext cx="1783080" cy="2432304"/>
          </a:xfrm>
          <a:prstGeom prst="roundRect">
            <a:avLst>
              <a:gd name="adj" fmla="val 3077"/>
            </a:avLst>
          </a:prstGeom>
          <a:solidFill>
            <a:srgbClr val="F3F3F3"/>
          </a:solidFill>
          <a:ln w="12700">
            <a:solidFill>
              <a:srgbClr val="F3F3F3"/>
            </a:solidFill>
            <a:prstDash val="solid"/>
          </a:ln>
        </p:spPr>
      </p:sp>
      <p:pic>
        <p:nvPicPr>
          <p:cNvPr id="35" name="Image 4" descr="img/det_rolled-in_scale.png">    </p:cNvPr>
          <p:cNvPicPr>
            <a:picLocks noChangeAspect="1"/>
          </p:cNvPicPr>
          <p:nvPr/>
        </p:nvPicPr>
        <p:blipFill>
          <a:blip r:embed="rId5"/>
          <a:stretch>
            <a:fillRect/>
          </a:stretch>
        </p:blipFill>
        <p:spPr>
          <a:xfrm>
            <a:off x="4450385" y="1627632"/>
            <a:ext cx="1389888" cy="1389888"/>
          </a:xfrm>
          <a:prstGeom prst="rect">
            <a:avLst/>
          </a:prstGeom>
        </p:spPr>
      </p:pic>
      <p:sp>
        <p:nvSpPr>
          <p:cNvPr id="36" name="Text 29"/>
          <p:cNvSpPr txBox="1"/>
          <p:nvPr/>
        </p:nvSpPr>
        <p:spPr>
          <a:xfrm>
            <a:off x="4345229"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Hot rolling</a:t>
            </a:r>
            <a:endParaRPr lang="en-US" sz="950" dirty="0"/>
          </a:p>
        </p:txBody>
      </p:sp>
      <p:sp>
        <p:nvSpPr>
          <p:cNvPr id="37" name="Text 30"/>
          <p:cNvSpPr txBox="1"/>
          <p:nvPr/>
        </p:nvSpPr>
        <p:spPr>
          <a:xfrm>
            <a:off x="4345229"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HSM</a:t>
            </a:r>
            <a:endParaRPr lang="en-US" sz="950" dirty="0"/>
          </a:p>
        </p:txBody>
      </p:sp>
      <p:sp>
        <p:nvSpPr>
          <p:cNvPr id="38" name="Text 31"/>
          <p:cNvSpPr txBox="1"/>
          <p:nvPr/>
        </p:nvSpPr>
        <p:spPr>
          <a:xfrm>
            <a:off x="4345229"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Descaler pressure, nozzles</a:t>
            </a:r>
            <a:endParaRPr lang="en-US" sz="950" dirty="0"/>
          </a:p>
        </p:txBody>
      </p:sp>
      <p:sp>
        <p:nvSpPr>
          <p:cNvPr id="39" name="Shape 32"/>
          <p:cNvSpPr/>
          <p:nvPr/>
        </p:nvSpPr>
        <p:spPr>
          <a:xfrm>
            <a:off x="6152083" y="1572768"/>
            <a:ext cx="1783080" cy="2432304"/>
          </a:xfrm>
          <a:prstGeom prst="roundRect">
            <a:avLst>
              <a:gd name="adj" fmla="val 3077"/>
            </a:avLst>
          </a:prstGeom>
          <a:solidFill>
            <a:srgbClr val="F3F3F3"/>
          </a:solidFill>
          <a:ln w="12700">
            <a:solidFill>
              <a:srgbClr val="F3F3F3"/>
            </a:solidFill>
            <a:prstDash val="solid"/>
          </a:ln>
        </p:spPr>
      </p:sp>
      <p:pic>
        <p:nvPicPr>
          <p:cNvPr id="40" name="Image 5" descr="img/det_pitted_surface.png">    </p:cNvPr>
          <p:cNvPicPr>
            <a:picLocks noChangeAspect="1"/>
          </p:cNvPicPr>
          <p:nvPr/>
        </p:nvPicPr>
        <p:blipFill>
          <a:blip r:embed="rId6"/>
          <a:stretch>
            <a:fillRect/>
          </a:stretch>
        </p:blipFill>
        <p:spPr>
          <a:xfrm>
            <a:off x="6348679" y="1627632"/>
            <a:ext cx="1389888" cy="1389888"/>
          </a:xfrm>
          <a:prstGeom prst="rect">
            <a:avLst/>
          </a:prstGeom>
        </p:spPr>
      </p:pic>
      <p:sp>
        <p:nvSpPr>
          <p:cNvPr id="41" name="Text 33"/>
          <p:cNvSpPr txBox="1"/>
          <p:nvPr/>
        </p:nvSpPr>
        <p:spPr>
          <a:xfrm>
            <a:off x="6243523"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Reheat, pickling</a:t>
            </a:r>
            <a:endParaRPr lang="en-US" sz="950" dirty="0"/>
          </a:p>
        </p:txBody>
      </p:sp>
      <p:sp>
        <p:nvSpPr>
          <p:cNvPr id="42" name="Text 34"/>
          <p:cNvSpPr txBox="1"/>
          <p:nvPr/>
        </p:nvSpPr>
        <p:spPr>
          <a:xfrm>
            <a:off x="6243523"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HSM / pickling</a:t>
            </a:r>
            <a:endParaRPr lang="en-US" sz="950" dirty="0"/>
          </a:p>
        </p:txBody>
      </p:sp>
      <p:sp>
        <p:nvSpPr>
          <p:cNvPr id="43" name="Text 35"/>
          <p:cNvSpPr txBox="1"/>
          <p:nvPr/>
        </p:nvSpPr>
        <p:spPr>
          <a:xfrm>
            <a:off x="6243523"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Furnace atmosphere, over-pickling</a:t>
            </a:r>
            <a:endParaRPr lang="en-US" sz="950" dirty="0"/>
          </a:p>
        </p:txBody>
      </p:sp>
      <p:sp>
        <p:nvSpPr>
          <p:cNvPr id="44" name="Shape 36"/>
          <p:cNvSpPr/>
          <p:nvPr/>
        </p:nvSpPr>
        <p:spPr>
          <a:xfrm>
            <a:off x="8050378" y="1572768"/>
            <a:ext cx="1783080" cy="2432304"/>
          </a:xfrm>
          <a:prstGeom prst="roundRect">
            <a:avLst>
              <a:gd name="adj" fmla="val 3077"/>
            </a:avLst>
          </a:prstGeom>
          <a:solidFill>
            <a:srgbClr val="F3F3F3"/>
          </a:solidFill>
          <a:ln w="12700">
            <a:solidFill>
              <a:srgbClr val="F3F3F3"/>
            </a:solidFill>
            <a:prstDash val="solid"/>
          </a:ln>
        </p:spPr>
      </p:sp>
      <p:pic>
        <p:nvPicPr>
          <p:cNvPr id="45" name="Image 6" descr="img/det_patches.png">    </p:cNvPr>
          <p:cNvPicPr>
            <a:picLocks noChangeAspect="1"/>
          </p:cNvPicPr>
          <p:nvPr/>
        </p:nvPicPr>
        <p:blipFill>
          <a:blip r:embed="rId7"/>
          <a:stretch>
            <a:fillRect/>
          </a:stretch>
        </p:blipFill>
        <p:spPr>
          <a:xfrm>
            <a:off x="8246974" y="1627632"/>
            <a:ext cx="1389888" cy="1389888"/>
          </a:xfrm>
          <a:prstGeom prst="rect">
            <a:avLst/>
          </a:prstGeom>
        </p:spPr>
      </p:pic>
      <p:sp>
        <p:nvSpPr>
          <p:cNvPr id="46" name="Text 37"/>
          <p:cNvSpPr txBox="1"/>
          <p:nvPr/>
        </p:nvSpPr>
        <p:spPr>
          <a:xfrm>
            <a:off x="8141818"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Anneal &amp; pickle</a:t>
            </a:r>
            <a:endParaRPr lang="en-US" sz="950" dirty="0"/>
          </a:p>
        </p:txBody>
      </p:sp>
      <p:sp>
        <p:nvSpPr>
          <p:cNvPr id="47" name="Text 38"/>
          <p:cNvSpPr txBox="1"/>
          <p:nvPr/>
        </p:nvSpPr>
        <p:spPr>
          <a:xfrm>
            <a:off x="8141818"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Pickling line</a:t>
            </a:r>
            <a:endParaRPr lang="en-US" sz="950" dirty="0"/>
          </a:p>
        </p:txBody>
      </p:sp>
      <p:sp>
        <p:nvSpPr>
          <p:cNvPr id="48" name="Text 39"/>
          <p:cNvSpPr txBox="1"/>
          <p:nvPr/>
        </p:nvSpPr>
        <p:spPr>
          <a:xfrm>
            <a:off x="8141818"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Acid strength, line speed</a:t>
            </a:r>
            <a:endParaRPr lang="en-US" sz="950" dirty="0"/>
          </a:p>
        </p:txBody>
      </p:sp>
      <p:sp>
        <p:nvSpPr>
          <p:cNvPr id="49" name="Shape 40"/>
          <p:cNvSpPr/>
          <p:nvPr/>
        </p:nvSpPr>
        <p:spPr>
          <a:xfrm>
            <a:off x="9948672" y="1572768"/>
            <a:ext cx="1783080" cy="2432304"/>
          </a:xfrm>
          <a:prstGeom prst="roundRect">
            <a:avLst>
              <a:gd name="adj" fmla="val 3077"/>
            </a:avLst>
          </a:prstGeom>
          <a:solidFill>
            <a:srgbClr val="F3F3F3"/>
          </a:solidFill>
          <a:ln w="12700">
            <a:solidFill>
              <a:srgbClr val="F3F3F3"/>
            </a:solidFill>
            <a:prstDash val="solid"/>
          </a:ln>
        </p:spPr>
      </p:sp>
      <p:pic>
        <p:nvPicPr>
          <p:cNvPr id="50" name="Image 7" descr="img/det_scratches.png">    </p:cNvPr>
          <p:cNvPicPr>
            <a:picLocks noChangeAspect="1"/>
          </p:cNvPicPr>
          <p:nvPr/>
        </p:nvPicPr>
        <p:blipFill>
          <a:blip r:embed="rId8"/>
          <a:stretch>
            <a:fillRect/>
          </a:stretch>
        </p:blipFill>
        <p:spPr>
          <a:xfrm>
            <a:off x="10145268" y="1627632"/>
            <a:ext cx="1389888" cy="1389888"/>
          </a:xfrm>
          <a:prstGeom prst="rect">
            <a:avLst/>
          </a:prstGeom>
        </p:spPr>
      </p:pic>
      <p:sp>
        <p:nvSpPr>
          <p:cNvPr id="51" name="Text 41"/>
          <p:cNvSpPr txBox="1"/>
          <p:nvPr/>
        </p:nvSpPr>
        <p:spPr>
          <a:xfrm>
            <a:off x="10040112" y="3063240"/>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Born: </a:t>
            </a:r>
            <a:pPr indent="0" marL="0">
              <a:buNone/>
            </a:pPr>
            <a:r>
              <a:rPr lang="en-US" sz="950" b="1" dirty="0">
                <a:solidFill>
                  <a:srgbClr val="2B2B2B"/>
                </a:solidFill>
                <a:latin typeface="Calibri" pitchFamily="34" charset="0"/>
                <a:ea typeface="Calibri" pitchFamily="34" charset="-122"/>
                <a:cs typeface="Calibri" pitchFamily="34" charset="-120"/>
              </a:rPr>
              <a:t>Cold rolling, handling</a:t>
            </a:r>
            <a:endParaRPr lang="en-US" sz="950" dirty="0"/>
          </a:p>
        </p:txBody>
      </p:sp>
      <p:sp>
        <p:nvSpPr>
          <p:cNvPr id="52" name="Text 42"/>
          <p:cNvSpPr txBox="1"/>
          <p:nvPr/>
        </p:nvSpPr>
        <p:spPr>
          <a:xfrm>
            <a:off x="10040112" y="3255264"/>
            <a:ext cx="1600200" cy="192024"/>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Owner: </a:t>
            </a:r>
            <a:pPr indent="0" marL="0">
              <a:buNone/>
            </a:pPr>
            <a:r>
              <a:rPr lang="en-US" sz="950" b="1" dirty="0">
                <a:solidFill>
                  <a:srgbClr val="D2651F"/>
                </a:solidFill>
                <a:latin typeface="Calibri" pitchFamily="34" charset="0"/>
                <a:ea typeface="Calibri" pitchFamily="34" charset="-122"/>
                <a:cs typeface="Calibri" pitchFamily="34" charset="-120"/>
              </a:rPr>
              <a:t>CRM / logistics</a:t>
            </a:r>
            <a:endParaRPr lang="en-US" sz="950" dirty="0"/>
          </a:p>
        </p:txBody>
      </p:sp>
      <p:sp>
        <p:nvSpPr>
          <p:cNvPr id="53" name="Text 43"/>
          <p:cNvSpPr txBox="1"/>
          <p:nvPr/>
        </p:nvSpPr>
        <p:spPr>
          <a:xfrm>
            <a:off x="10040112" y="3456432"/>
            <a:ext cx="1600200" cy="402336"/>
          </a:xfrm>
          <a:prstGeom prst="rect">
            <a:avLst/>
          </a:prstGeom>
          <a:noFill/>
          <a:ln/>
        </p:spPr>
        <p:txBody>
          <a:bodyPr wrap="square" lIns="0" tIns="0" rIns="0" bIns="0" rtlCol="0" anchor="t"/>
          <a:lstStyle/>
          <a:p>
            <a:pPr indent="0" marL="0">
              <a:buNone/>
            </a:pPr>
            <a:r>
              <a:rPr lang="en-US" sz="950" dirty="0">
                <a:solidFill>
                  <a:srgbClr val="6E6E6E"/>
                </a:solidFill>
                <a:latin typeface="Calibri" pitchFamily="34" charset="0"/>
                <a:ea typeface="Calibri" pitchFamily="34" charset="-122"/>
                <a:cs typeface="Calibri" pitchFamily="34" charset="-120"/>
              </a:rPr>
              <a:t>Fix: </a:t>
            </a:r>
            <a:pPr indent="0" marL="0">
              <a:buNone/>
            </a:pPr>
            <a:r>
              <a:rPr lang="en-US" sz="950" dirty="0">
                <a:solidFill>
                  <a:srgbClr val="404040"/>
                </a:solidFill>
                <a:latin typeface="Calibri" pitchFamily="34" charset="0"/>
                <a:ea typeface="Calibri" pitchFamily="34" charset="-122"/>
                <a:cs typeface="Calibri" pitchFamily="34" charset="-120"/>
              </a:rPr>
              <a:t>Guides, rolls, coil handling</a:t>
            </a:r>
            <a:endParaRPr lang="en-US" sz="950" dirty="0"/>
          </a:p>
        </p:txBody>
      </p:sp>
      <p:sp>
        <p:nvSpPr>
          <p:cNvPr id="54" name="Text 44"/>
          <p:cNvSpPr txBox="1"/>
          <p:nvPr/>
        </p:nvSpPr>
        <p:spPr>
          <a:xfrm>
            <a:off x="457200" y="4050792"/>
            <a:ext cx="2606040" cy="237744"/>
          </a:xfrm>
          <a:prstGeom prst="rect">
            <a:avLst/>
          </a:prstGeom>
          <a:noFill/>
          <a:ln/>
        </p:spPr>
        <p:txBody>
          <a:bodyPr wrap="square" lIns="0" tIns="0" rIns="0" bIns="0" rtlCol="0" anchor="ctr"/>
          <a:lstStyle/>
          <a:p>
            <a:pPr indent="0" marL="0">
              <a:buNone/>
            </a:pPr>
            <a:r>
              <a:rPr lang="en-US" sz="950" b="1" dirty="0">
                <a:solidFill>
                  <a:srgbClr val="2B2B2B"/>
                </a:solidFill>
                <a:latin typeface="Calibri" pitchFamily="34" charset="0"/>
                <a:ea typeface="Calibri" pitchFamily="34" charset="-122"/>
                <a:cs typeface="Calibri" pitchFamily="34" charset="-120"/>
              </a:rPr>
              <a:t>Stainless-only types to add with JSL data:</a:t>
            </a:r>
            <a:endParaRPr lang="en-US" sz="950" dirty="0"/>
          </a:p>
        </p:txBody>
      </p:sp>
      <p:sp>
        <p:nvSpPr>
          <p:cNvPr id="55" name="Shape 45"/>
          <p:cNvSpPr/>
          <p:nvPr/>
        </p:nvSpPr>
        <p:spPr>
          <a:xfrm>
            <a:off x="3090672" y="4069080"/>
            <a:ext cx="548640" cy="201168"/>
          </a:xfrm>
          <a:prstGeom prst="roundRect">
            <a:avLst>
              <a:gd name="adj" fmla="val 27273"/>
            </a:avLst>
          </a:prstGeom>
          <a:solidFill>
            <a:srgbClr val="FDEFE4"/>
          </a:solidFill>
          <a:ln w="12700">
            <a:solidFill>
              <a:srgbClr val="FDEFE4"/>
            </a:solidFill>
            <a:prstDash val="solid"/>
          </a:ln>
        </p:spPr>
      </p:sp>
      <p:sp>
        <p:nvSpPr>
          <p:cNvPr id="56" name="Text 46"/>
          <p:cNvSpPr txBox="1"/>
          <p:nvPr/>
        </p:nvSpPr>
        <p:spPr>
          <a:xfrm>
            <a:off x="3090672" y="4069080"/>
            <a:ext cx="548640"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Roping</a:t>
            </a:r>
            <a:endParaRPr lang="en-US" sz="900" dirty="0"/>
          </a:p>
        </p:txBody>
      </p:sp>
      <p:sp>
        <p:nvSpPr>
          <p:cNvPr id="57" name="Shape 47"/>
          <p:cNvSpPr/>
          <p:nvPr/>
        </p:nvSpPr>
        <p:spPr>
          <a:xfrm>
            <a:off x="3712464" y="4069080"/>
            <a:ext cx="1426464" cy="201168"/>
          </a:xfrm>
          <a:prstGeom prst="roundRect">
            <a:avLst>
              <a:gd name="adj" fmla="val 27273"/>
            </a:avLst>
          </a:prstGeom>
          <a:solidFill>
            <a:srgbClr val="FDEFE4"/>
          </a:solidFill>
          <a:ln w="12700">
            <a:solidFill>
              <a:srgbClr val="FDEFE4"/>
            </a:solidFill>
            <a:prstDash val="solid"/>
          </a:ln>
        </p:spPr>
      </p:sp>
      <p:sp>
        <p:nvSpPr>
          <p:cNvPr id="58" name="Text 48"/>
          <p:cNvSpPr txBox="1"/>
          <p:nvPr/>
        </p:nvSpPr>
        <p:spPr>
          <a:xfrm>
            <a:off x="3712464" y="4069080"/>
            <a:ext cx="1426464"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Ridging (ferritic 430)</a:t>
            </a:r>
            <a:endParaRPr lang="en-US" sz="900" dirty="0"/>
          </a:p>
        </p:txBody>
      </p:sp>
      <p:sp>
        <p:nvSpPr>
          <p:cNvPr id="59" name="Shape 49"/>
          <p:cNvSpPr/>
          <p:nvPr/>
        </p:nvSpPr>
        <p:spPr>
          <a:xfrm>
            <a:off x="5212080" y="4069080"/>
            <a:ext cx="822960" cy="201168"/>
          </a:xfrm>
          <a:prstGeom prst="roundRect">
            <a:avLst>
              <a:gd name="adj" fmla="val 27273"/>
            </a:avLst>
          </a:prstGeom>
          <a:solidFill>
            <a:srgbClr val="FDEFE4"/>
          </a:solidFill>
          <a:ln w="12700">
            <a:solidFill>
              <a:srgbClr val="FDEFE4"/>
            </a:solidFill>
            <a:prstDash val="solid"/>
          </a:ln>
        </p:spPr>
      </p:sp>
      <p:sp>
        <p:nvSpPr>
          <p:cNvPr id="60" name="Text 50"/>
          <p:cNvSpPr txBox="1"/>
          <p:nvPr/>
        </p:nvSpPr>
        <p:spPr>
          <a:xfrm>
            <a:off x="5212080" y="4069080"/>
            <a:ext cx="822960"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Orange peel</a:t>
            </a:r>
            <a:endParaRPr lang="en-US" sz="900" dirty="0"/>
          </a:p>
        </p:txBody>
      </p:sp>
      <p:sp>
        <p:nvSpPr>
          <p:cNvPr id="61" name="Shape 51"/>
          <p:cNvSpPr/>
          <p:nvPr/>
        </p:nvSpPr>
        <p:spPr>
          <a:xfrm>
            <a:off x="6108192" y="4069080"/>
            <a:ext cx="932688" cy="201168"/>
          </a:xfrm>
          <a:prstGeom prst="roundRect">
            <a:avLst>
              <a:gd name="adj" fmla="val 27273"/>
            </a:avLst>
          </a:prstGeom>
          <a:solidFill>
            <a:srgbClr val="FDEFE4"/>
          </a:solidFill>
          <a:ln w="12700">
            <a:solidFill>
              <a:srgbClr val="FDEFE4"/>
            </a:solidFill>
            <a:prstDash val="solid"/>
          </a:ln>
        </p:spPr>
      </p:sp>
      <p:sp>
        <p:nvSpPr>
          <p:cNvPr id="62" name="Text 52"/>
          <p:cNvSpPr txBox="1"/>
          <p:nvPr/>
        </p:nvSpPr>
        <p:spPr>
          <a:xfrm>
            <a:off x="6108192" y="4069080"/>
            <a:ext cx="932688"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Anneal colour</a:t>
            </a:r>
            <a:endParaRPr lang="en-US" sz="900" dirty="0"/>
          </a:p>
        </p:txBody>
      </p:sp>
      <p:sp>
        <p:nvSpPr>
          <p:cNvPr id="63" name="Shape 53"/>
          <p:cNvSpPr/>
          <p:nvPr/>
        </p:nvSpPr>
        <p:spPr>
          <a:xfrm>
            <a:off x="7114032" y="4069080"/>
            <a:ext cx="713232" cy="201168"/>
          </a:xfrm>
          <a:prstGeom prst="roundRect">
            <a:avLst>
              <a:gd name="adj" fmla="val 27273"/>
            </a:avLst>
          </a:prstGeom>
          <a:solidFill>
            <a:srgbClr val="FDEFE4"/>
          </a:solidFill>
          <a:ln w="12700">
            <a:solidFill>
              <a:srgbClr val="FDEFE4"/>
            </a:solidFill>
            <a:prstDash val="solid"/>
          </a:ln>
        </p:spPr>
      </p:sp>
      <p:sp>
        <p:nvSpPr>
          <p:cNvPr id="64" name="Text 54"/>
          <p:cNvSpPr txBox="1"/>
          <p:nvPr/>
        </p:nvSpPr>
        <p:spPr>
          <a:xfrm>
            <a:off x="7114032" y="4069080"/>
            <a:ext cx="713232"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BA stains</a:t>
            </a:r>
            <a:endParaRPr lang="en-US" sz="900" dirty="0"/>
          </a:p>
        </p:txBody>
      </p:sp>
      <p:sp>
        <p:nvSpPr>
          <p:cNvPr id="65" name="Shape 55"/>
          <p:cNvSpPr/>
          <p:nvPr/>
        </p:nvSpPr>
        <p:spPr>
          <a:xfrm>
            <a:off x="7900416" y="4069080"/>
            <a:ext cx="768096" cy="201168"/>
          </a:xfrm>
          <a:prstGeom prst="roundRect">
            <a:avLst>
              <a:gd name="adj" fmla="val 27273"/>
            </a:avLst>
          </a:prstGeom>
          <a:solidFill>
            <a:srgbClr val="FDEFE4"/>
          </a:solidFill>
          <a:ln w="12700">
            <a:solidFill>
              <a:srgbClr val="FDEFE4"/>
            </a:solidFill>
            <a:prstDash val="solid"/>
          </a:ln>
        </p:spPr>
      </p:sp>
      <p:sp>
        <p:nvSpPr>
          <p:cNvPr id="66" name="Text 56"/>
          <p:cNvSpPr txBox="1"/>
          <p:nvPr/>
        </p:nvSpPr>
        <p:spPr>
          <a:xfrm>
            <a:off x="7900416" y="4069080"/>
            <a:ext cx="768096" cy="201168"/>
          </a:xfrm>
          <a:prstGeom prst="rect">
            <a:avLst/>
          </a:prstGeom>
          <a:noFill/>
          <a:ln/>
        </p:spPr>
        <p:txBody>
          <a:bodyPr wrap="square" lIns="0" tIns="0" rIns="0" bIns="0" rtlCol="0" anchor="ctr"/>
          <a:lstStyle/>
          <a:p>
            <a:pPr algn="ctr" indent="0" marL="0">
              <a:buNone/>
            </a:pPr>
            <a:r>
              <a:rPr lang="en-US" sz="900" dirty="0">
                <a:solidFill>
                  <a:srgbClr val="2B2B2B"/>
                </a:solidFill>
                <a:latin typeface="Calibri" pitchFamily="34" charset="0"/>
                <a:ea typeface="Calibri" pitchFamily="34" charset="-122"/>
                <a:cs typeface="Calibri" pitchFamily="34" charset="-120"/>
              </a:rPr>
              <a:t>Lamination</a:t>
            </a:r>
            <a:endParaRPr lang="en-US" sz="900" dirty="0"/>
          </a:p>
        </p:txBody>
      </p:sp>
      <p:sp>
        <p:nvSpPr>
          <p:cNvPr id="67" name="Shape 57"/>
          <p:cNvSpPr/>
          <p:nvPr/>
        </p:nvSpPr>
        <p:spPr>
          <a:xfrm>
            <a:off x="457200" y="4370832"/>
            <a:ext cx="4572000" cy="274320"/>
          </a:xfrm>
          <a:prstGeom prst="rect">
            <a:avLst/>
          </a:prstGeom>
          <a:solidFill>
            <a:srgbClr val="E4803A"/>
          </a:solidFill>
          <a:ln w="12700">
            <a:solidFill>
              <a:srgbClr val="E4803A"/>
            </a:solidFill>
            <a:prstDash val="solid"/>
          </a:ln>
        </p:spPr>
      </p:sp>
      <p:sp>
        <p:nvSpPr>
          <p:cNvPr id="68" name="Text 58"/>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Precedent: who already does this, and what we copy</a:t>
            </a:r>
            <a:endParaRPr lang="en-US" sz="1100" dirty="0"/>
          </a:p>
        </p:txBody>
      </p:sp>
      <p:sp>
        <p:nvSpPr>
          <p:cNvPr id="69" name="Text 59"/>
          <p:cNvSpPr txBox="1"/>
          <p:nvPr/>
        </p:nvSpPr>
        <p:spPr>
          <a:xfrm>
            <a:off x="502920" y="4690872"/>
            <a:ext cx="1051560" cy="384048"/>
          </a:xfrm>
          <a:prstGeom prst="rect">
            <a:avLst/>
          </a:prstGeom>
          <a:noFill/>
          <a:ln/>
        </p:spPr>
        <p:txBody>
          <a:bodyPr wrap="square" lIns="0" tIns="0" rIns="0" bIns="0" rtlCol="0" anchor="ctr"/>
          <a:lstStyle/>
          <a:p>
            <a:pPr indent="0" marL="0">
              <a:buNone/>
            </a:pPr>
            <a:r>
              <a:rPr lang="en-US" sz="950" b="1" dirty="0">
                <a:solidFill>
                  <a:srgbClr val="2B2B2B"/>
                </a:solidFill>
                <a:latin typeface="Calibri" pitchFamily="34" charset="0"/>
                <a:ea typeface="Calibri" pitchFamily="34" charset="-122"/>
                <a:cs typeface="Calibri" pitchFamily="34" charset="-120"/>
              </a:rPr>
              <a:t>Outokumpu</a:t>
            </a:r>
            <a:endParaRPr lang="en-US" sz="950" dirty="0"/>
          </a:p>
        </p:txBody>
      </p:sp>
      <p:sp>
        <p:nvSpPr>
          <p:cNvPr id="70" name="Text 60"/>
          <p:cNvSpPr txBox="1"/>
          <p:nvPr/>
        </p:nvSpPr>
        <p:spPr>
          <a:xfrm>
            <a:off x="1572768" y="4690872"/>
            <a:ext cx="3429000" cy="384048"/>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Europe's #1 stainless maker; AI inspection live at Tornio since 2024, runs offline.</a:t>
            </a:r>
            <a:pPr indent="0" marL="0">
              <a:buNone/>
            </a:pPr>
            <a:r>
              <a:rPr lang="en-US" sz="900" b="1" dirty="0">
                <a:solidFill>
                  <a:srgbClr val="D2651F"/>
                </a:solidFill>
                <a:latin typeface="Calibri" pitchFamily="34" charset="0"/>
                <a:ea typeface="Calibri" pitchFamily="34" charset="-122"/>
                <a:cs typeface="Calibri" pitchFamily="34" charset="-120"/>
              </a:rPr>
              <a:t>  Copy: </a:t>
            </a:r>
            <a:pPr indent="0" marL="0">
              <a:buNone/>
            </a:pPr>
            <a:r>
              <a:rPr lang="en-US" sz="900" dirty="0">
                <a:solidFill>
                  <a:srgbClr val="D2651F"/>
                </a:solidFill>
                <a:latin typeface="Calibri" pitchFamily="34" charset="0"/>
                <a:ea typeface="Calibri" pitchFamily="34" charset="-122"/>
                <a:cs typeface="Calibri" pitchFamily="34" charset="-120"/>
              </a:rPr>
              <a:t>offline edge, multi-site</a:t>
            </a:r>
            <a:endParaRPr lang="en-US" sz="900" dirty="0"/>
          </a:p>
        </p:txBody>
      </p:sp>
      <p:sp>
        <p:nvSpPr>
          <p:cNvPr id="71" name="Text 61"/>
          <p:cNvSpPr txBox="1"/>
          <p:nvPr/>
        </p:nvSpPr>
        <p:spPr>
          <a:xfrm>
            <a:off x="502920" y="5093208"/>
            <a:ext cx="1051560" cy="384048"/>
          </a:xfrm>
          <a:prstGeom prst="rect">
            <a:avLst/>
          </a:prstGeom>
          <a:noFill/>
          <a:ln/>
        </p:spPr>
        <p:txBody>
          <a:bodyPr wrap="square" lIns="0" tIns="0" rIns="0" bIns="0" rtlCol="0" anchor="ctr"/>
          <a:lstStyle/>
          <a:p>
            <a:pPr indent="0" marL="0">
              <a:buNone/>
            </a:pPr>
            <a:r>
              <a:rPr lang="en-US" sz="950" b="1" dirty="0">
                <a:solidFill>
                  <a:srgbClr val="2B2B2B"/>
                </a:solidFill>
                <a:latin typeface="Calibri" pitchFamily="34" charset="0"/>
                <a:ea typeface="Calibri" pitchFamily="34" charset="-122"/>
                <a:cs typeface="Calibri" pitchFamily="34" charset="-120"/>
              </a:rPr>
              <a:t>Tata Steel</a:t>
            </a:r>
            <a:endParaRPr lang="en-US" sz="950" dirty="0"/>
          </a:p>
        </p:txBody>
      </p:sp>
      <p:sp>
        <p:nvSpPr>
          <p:cNvPr id="72" name="Text 62"/>
          <p:cNvSpPr txBox="1"/>
          <p:nvPr/>
        </p:nvSpPr>
        <p:spPr>
          <a:xfrm>
            <a:off x="1572768" y="5093208"/>
            <a:ext cx="3429000" cy="384048"/>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Kalinganagar (WEF Lighthouse) finds cold-rolled surface defects by video analytics.</a:t>
            </a:r>
            <a:pPr indent="0" marL="0">
              <a:buNone/>
            </a:pPr>
            <a:r>
              <a:rPr lang="en-US" sz="900" b="1" dirty="0">
                <a:solidFill>
                  <a:srgbClr val="D2651F"/>
                </a:solidFill>
                <a:latin typeface="Calibri" pitchFamily="34" charset="0"/>
                <a:ea typeface="Calibri" pitchFamily="34" charset="-122"/>
                <a:cs typeface="Calibri" pitchFamily="34" charset="-120"/>
              </a:rPr>
              <a:t>  Copy: </a:t>
            </a:r>
            <a:pPr indent="0" marL="0">
              <a:buNone/>
            </a:pPr>
            <a:r>
              <a:rPr lang="en-US" sz="900" dirty="0">
                <a:solidFill>
                  <a:srgbClr val="D2651F"/>
                </a:solidFill>
                <a:latin typeface="Calibri" pitchFamily="34" charset="0"/>
                <a:ea typeface="Calibri" pitchFamily="34" charset="-122"/>
                <a:cs typeface="Calibri" pitchFamily="34" charset="-120"/>
              </a:rPr>
              <a:t>in-house team owns it</a:t>
            </a:r>
            <a:endParaRPr lang="en-US" sz="900" dirty="0"/>
          </a:p>
        </p:txBody>
      </p:sp>
      <p:sp>
        <p:nvSpPr>
          <p:cNvPr id="73" name="Text 63"/>
          <p:cNvSpPr txBox="1"/>
          <p:nvPr/>
        </p:nvSpPr>
        <p:spPr>
          <a:xfrm>
            <a:off x="502920" y="5495544"/>
            <a:ext cx="1051560" cy="384048"/>
          </a:xfrm>
          <a:prstGeom prst="rect">
            <a:avLst/>
          </a:prstGeom>
          <a:noFill/>
          <a:ln/>
        </p:spPr>
        <p:txBody>
          <a:bodyPr wrap="square" lIns="0" tIns="0" rIns="0" bIns="0" rtlCol="0" anchor="ctr"/>
          <a:lstStyle/>
          <a:p>
            <a:pPr indent="0" marL="0">
              <a:buNone/>
            </a:pPr>
            <a:r>
              <a:rPr lang="en-US" sz="950" b="1" dirty="0">
                <a:solidFill>
                  <a:srgbClr val="2B2B2B"/>
                </a:solidFill>
                <a:latin typeface="Calibri" pitchFamily="34" charset="0"/>
                <a:ea typeface="Calibri" pitchFamily="34" charset="-122"/>
                <a:cs typeface="Calibri" pitchFamily="34" charset="-120"/>
              </a:rPr>
              <a:t>Parsytec</a:t>
            </a:r>
            <a:endParaRPr lang="en-US" sz="950" dirty="0"/>
          </a:p>
        </p:txBody>
      </p:sp>
      <p:sp>
        <p:nvSpPr>
          <p:cNvPr id="74" name="Text 64"/>
          <p:cNvSpPr txBox="1"/>
          <p:nvPr/>
        </p:nvSpPr>
        <p:spPr>
          <a:xfrm>
            <a:off x="1572768" y="5495544"/>
            <a:ext cx="3429000" cy="384048"/>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On stainless lines: 170 µm cameras, bright + dark-field light, a decision per coil.</a:t>
            </a:r>
            <a:pPr indent="0" marL="0">
              <a:buNone/>
            </a:pPr>
            <a:r>
              <a:rPr lang="en-US" sz="900" b="1" dirty="0">
                <a:solidFill>
                  <a:srgbClr val="D2651F"/>
                </a:solidFill>
                <a:latin typeface="Calibri" pitchFamily="34" charset="0"/>
                <a:ea typeface="Calibri" pitchFamily="34" charset="-122"/>
                <a:cs typeface="Calibri" pitchFamily="34" charset="-120"/>
              </a:rPr>
              <a:t>  Copy: </a:t>
            </a:r>
            <a:pPr indent="0" marL="0">
              <a:buNone/>
            </a:pPr>
            <a:r>
              <a:rPr lang="en-US" sz="900" dirty="0">
                <a:solidFill>
                  <a:srgbClr val="D2651F"/>
                </a:solidFill>
                <a:latin typeface="Calibri" pitchFamily="34" charset="0"/>
                <a:ea typeface="Calibri" pitchFamily="34" charset="-122"/>
                <a:cs typeface="Calibri" pitchFamily="34" charset="-120"/>
              </a:rPr>
              <a:t>optics, coil decision</a:t>
            </a:r>
            <a:endParaRPr lang="en-US" sz="900" dirty="0"/>
          </a:p>
        </p:txBody>
      </p:sp>
      <p:sp>
        <p:nvSpPr>
          <p:cNvPr id="75" name="Shape 65"/>
          <p:cNvSpPr/>
          <p:nvPr/>
        </p:nvSpPr>
        <p:spPr>
          <a:xfrm>
            <a:off x="5257800" y="4370832"/>
            <a:ext cx="6473952" cy="274320"/>
          </a:xfrm>
          <a:prstGeom prst="rect">
            <a:avLst/>
          </a:prstGeom>
          <a:solidFill>
            <a:srgbClr val="E4803A"/>
          </a:solidFill>
          <a:ln w="12700">
            <a:solidFill>
              <a:srgbClr val="E4803A"/>
            </a:solidFill>
            <a:prstDash val="solid"/>
          </a:ln>
        </p:spPr>
      </p:sp>
      <p:sp>
        <p:nvSpPr>
          <p:cNvPr id="76" name="Text 66"/>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DEFE4"/>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r>
              <a:tr h="233172">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950" b="1" dirty="0">
                          <a:solidFill>
                            <a:srgbClr val="6E6E6E"/>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r>
            </a:tbl>
          </a:graphicData>
        </a:graphic>
      </p:graphicFrame>
      <p:sp>
        <p:nvSpPr>
          <p:cNvPr id="78" name="Shape 67"/>
          <p:cNvSpPr/>
          <p:nvPr/>
        </p:nvSpPr>
        <p:spPr>
          <a:xfrm>
            <a:off x="9966960" y="4690872"/>
            <a:ext cx="1764792" cy="1170432"/>
          </a:xfrm>
          <a:prstGeom prst="roundRect">
            <a:avLst>
              <a:gd name="adj" fmla="val 4688"/>
            </a:avLst>
          </a:prstGeom>
          <a:solidFill>
            <a:srgbClr val="2B2B2B"/>
          </a:solidFill>
          <a:ln w="12700">
            <a:solidFill>
              <a:srgbClr val="2B2B2B"/>
            </a:solidFill>
            <a:prstDash val="solid"/>
          </a:ln>
        </p:spPr>
      </p:sp>
      <p:sp>
        <p:nvSpPr>
          <p:cNvPr id="79" name="Text 68"/>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D6D6D6"/>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D6D6D6"/>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B63831"/>
          </a:solidFill>
          <a:ln w="12700">
            <a:solidFill>
              <a:srgbClr val="B63831"/>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Four design choices that make the system work on a real line</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INSIGHTS  ·  DESIGN CHOICES</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Success is decided on the line, not in the lab: JSL's own strip, the right image detail, coil-level rules and operator trust.</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Results measured by us on public steel data the system had never seen. Hardware sizing derived from our line-speed benchmark.</a:t>
            </a:r>
            <a:endParaRPr lang="en-US" sz="900" dirty="0"/>
          </a:p>
        </p:txBody>
      </p:sp>
      <p:sp>
        <p:nvSpPr>
          <p:cNvPr id="22" name="Shape 18"/>
          <p:cNvSpPr/>
          <p:nvPr/>
        </p:nvSpPr>
        <p:spPr>
          <a:xfrm>
            <a:off x="457200" y="1234440"/>
            <a:ext cx="5541264"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Alarms you can act on</a:t>
            </a:r>
            <a:endParaRPr lang="en-US" sz="1100" dirty="0"/>
          </a:p>
        </p:txBody>
      </p:sp>
      <p:sp>
        <p:nvSpPr>
          <p:cNvPr id="24" name="Shape 20"/>
          <p:cNvSpPr/>
          <p:nvPr/>
        </p:nvSpPr>
        <p:spPr>
          <a:xfrm>
            <a:off x="457200" y="1508760"/>
            <a:ext cx="5541264" cy="1984248"/>
          </a:xfrm>
          <a:prstGeom prst="roundRect">
            <a:avLst>
              <a:gd name="adj" fmla="val 2765"/>
            </a:avLst>
          </a:prstGeom>
          <a:solidFill>
            <a:srgbClr val="F3F3F3"/>
          </a:solidFill>
          <a:ln w="12700">
            <a:solidFill>
              <a:srgbClr val="F3F3F3"/>
            </a:solidFill>
            <a:prstDash val="solid"/>
          </a:ln>
        </p:spPr>
      </p:sp>
      <p:graphicFrame>
        <p:nvGraphicFramePr>
          <p:cNvPr id="25" name="Chart 0" descr=""/>
          <p:cNvGraphicFramePr/>
          <p:nvPr/>
        </p:nvGraphicFramePr>
        <p:xfrm>
          <a:off x="594360" y="1591056"/>
          <a:ext cx="1371600" cy="1371600"/>
        </p:xfrm>
        <a:graphic xmlns:a="http://schemas.openxmlformats.org/drawingml/2006/main">
          <a:graphicData uri="http://schemas.openxmlformats.org/drawingml/2006/chart">
            <c:chart xmlns:c="http://schemas.openxmlformats.org/drawingml/2006/chart" r:id="rId3"/>
          </a:graphicData>
        </a:graphic>
      </p:graphicFrame>
      <p:sp>
        <p:nvSpPr>
          <p:cNvPr id="26" name="Text 21"/>
          <p:cNvSpPr txBox="1"/>
          <p:nvPr/>
        </p:nvSpPr>
        <p:spPr>
          <a:xfrm>
            <a:off x="594360" y="2066544"/>
            <a:ext cx="1371600" cy="420624"/>
          </a:xfrm>
          <a:prstGeom prst="rect">
            <a:avLst/>
          </a:prstGeom>
          <a:noFill/>
          <a:ln/>
        </p:spPr>
        <p:txBody>
          <a:bodyPr wrap="square" lIns="0" tIns="0" rIns="0" bIns="0" rtlCol="0" anchor="ctr"/>
          <a:lstStyle/>
          <a:p>
            <a:pPr algn="ctr" indent="0" marL="0">
              <a:buNone/>
            </a:pPr>
            <a:r>
              <a:rPr lang="en-US" sz="1800" b="1" dirty="0">
                <a:solidFill>
                  <a:srgbClr val="2B2B2B"/>
                </a:solidFill>
                <a:latin typeface="Calibri" pitchFamily="34" charset="0"/>
                <a:ea typeface="Calibri" pitchFamily="34" charset="-122"/>
                <a:cs typeface="Calibri" pitchFamily="34" charset="-120"/>
              </a:rPr>
              <a:t>90%</a:t>
            </a:r>
            <a:endParaRPr lang="en-US" sz="1800" dirty="0"/>
          </a:p>
        </p:txBody>
      </p:sp>
      <p:sp>
        <p:nvSpPr>
          <p:cNvPr id="27" name="Text 22"/>
          <p:cNvSpPr txBox="1"/>
          <p:nvPr/>
        </p:nvSpPr>
        <p:spPr>
          <a:xfrm>
            <a:off x="2011680" y="1847088"/>
            <a:ext cx="1234440" cy="868680"/>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of defects caught</a:t>
            </a:r>
            <a:pPr indent="0" marL="0">
              <a:buNone/>
            </a:pP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258 of 288 defective mill images</a:t>
            </a:r>
            <a:endParaRPr lang="en-US" sz="950" dirty="0"/>
          </a:p>
        </p:txBody>
      </p:sp>
      <p:graphicFrame>
        <p:nvGraphicFramePr>
          <p:cNvPr id="28" name="Chart 1" descr=""/>
          <p:cNvGraphicFramePr/>
          <p:nvPr/>
        </p:nvGraphicFramePr>
        <p:xfrm>
          <a:off x="3291840" y="1591056"/>
          <a:ext cx="1371600" cy="1371600"/>
        </p:xfrm>
        <a:graphic xmlns:a="http://schemas.openxmlformats.org/drawingml/2006/main">
          <a:graphicData uri="http://schemas.openxmlformats.org/drawingml/2006/chart">
            <c:chart xmlns:c="http://schemas.openxmlformats.org/drawingml/2006/chart" r:id="rId4"/>
          </a:graphicData>
        </a:graphic>
      </p:graphicFrame>
      <p:sp>
        <p:nvSpPr>
          <p:cNvPr id="29" name="Text 23"/>
          <p:cNvSpPr txBox="1"/>
          <p:nvPr/>
        </p:nvSpPr>
        <p:spPr>
          <a:xfrm>
            <a:off x="3291840" y="2066544"/>
            <a:ext cx="1371600" cy="420624"/>
          </a:xfrm>
          <a:prstGeom prst="rect">
            <a:avLst/>
          </a:prstGeom>
          <a:noFill/>
          <a:ln/>
        </p:spPr>
        <p:txBody>
          <a:bodyPr wrap="square" lIns="0" tIns="0" rIns="0" bIns="0" rtlCol="0" anchor="ctr"/>
          <a:lstStyle/>
          <a:p>
            <a:pPr algn="ctr" indent="0" marL="0">
              <a:buNone/>
            </a:pPr>
            <a:r>
              <a:rPr lang="en-US" sz="1800" b="1" dirty="0">
                <a:solidFill>
                  <a:srgbClr val="2B2B2B"/>
                </a:solidFill>
                <a:latin typeface="Calibri" pitchFamily="34" charset="0"/>
                <a:ea typeface="Calibri" pitchFamily="34" charset="-122"/>
                <a:cs typeface="Calibri" pitchFamily="34" charset="-120"/>
              </a:rPr>
              <a:t>4.7%</a:t>
            </a:r>
            <a:endParaRPr lang="en-US" sz="1800" dirty="0"/>
          </a:p>
        </p:txBody>
      </p:sp>
      <p:sp>
        <p:nvSpPr>
          <p:cNvPr id="30" name="Text 24"/>
          <p:cNvSpPr txBox="1"/>
          <p:nvPr/>
        </p:nvSpPr>
        <p:spPr>
          <a:xfrm>
            <a:off x="4709160" y="1847088"/>
            <a:ext cx="1234440" cy="868680"/>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of clean strip flagged</a:t>
            </a:r>
            <a:pPr indent="0" marL="0">
              <a:buNone/>
            </a:pP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14 of 300 clean mill images</a:t>
            </a:r>
            <a:endParaRPr lang="en-US" sz="950" dirty="0"/>
          </a:p>
        </p:txBody>
      </p:sp>
      <p:sp>
        <p:nvSpPr>
          <p:cNvPr id="31" name="Text 25"/>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prove it on JSL's own clean and defective strip before any alarm is trusted.</a:t>
            </a:r>
            <a:endParaRPr lang="en-US" sz="1000" dirty="0"/>
          </a:p>
        </p:txBody>
      </p:sp>
      <p:sp>
        <p:nvSpPr>
          <p:cNvPr id="32" name="Shape 26"/>
          <p:cNvSpPr/>
          <p:nvPr/>
        </p:nvSpPr>
        <p:spPr>
          <a:xfrm>
            <a:off x="6190488" y="1234440"/>
            <a:ext cx="5541264" cy="274320"/>
          </a:xfrm>
          <a:prstGeom prst="rect">
            <a:avLst/>
          </a:prstGeom>
          <a:solidFill>
            <a:srgbClr val="E4803A"/>
          </a:solidFill>
          <a:ln w="12700">
            <a:solidFill>
              <a:srgbClr val="E4803A"/>
            </a:solidFill>
            <a:prstDash val="solid"/>
          </a:ln>
        </p:spPr>
      </p:sp>
      <p:sp>
        <p:nvSpPr>
          <p:cNvPr id="33" name="Text 27"/>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One verdict per coil, not a stream of alarms</a:t>
            </a:r>
            <a:endParaRPr lang="en-US" sz="1100" dirty="0"/>
          </a:p>
        </p:txBody>
      </p:sp>
      <p:sp>
        <p:nvSpPr>
          <p:cNvPr id="34" name="Shape 28"/>
          <p:cNvSpPr/>
          <p:nvPr/>
        </p:nvSpPr>
        <p:spPr>
          <a:xfrm>
            <a:off x="6190488" y="1508760"/>
            <a:ext cx="5541264" cy="1984248"/>
          </a:xfrm>
          <a:prstGeom prst="roundRect">
            <a:avLst>
              <a:gd name="adj" fmla="val 2765"/>
            </a:avLst>
          </a:prstGeom>
          <a:solidFill>
            <a:srgbClr val="F3F3F3"/>
          </a:solidFill>
          <a:ln w="12700">
            <a:solidFill>
              <a:srgbClr val="F3F3F3"/>
            </a:solidFill>
            <a:prstDash val="solid"/>
          </a:ln>
        </p:spPr>
      </p:sp>
      <p:sp>
        <p:nvSpPr>
          <p:cNvPr id="35" name="Shape 29"/>
          <p:cNvSpPr/>
          <p:nvPr/>
        </p:nvSpPr>
        <p:spPr>
          <a:xfrm>
            <a:off x="6355080" y="1645920"/>
            <a:ext cx="3840480" cy="329184"/>
          </a:xfrm>
          <a:prstGeom prst="rect">
            <a:avLst/>
          </a:prstGeom>
          <a:solidFill>
            <a:srgbClr val="FCE5D3"/>
          </a:solidFill>
          <a:ln w="12700">
            <a:solidFill>
              <a:srgbClr val="FCE5D3"/>
            </a:solidFill>
            <a:prstDash val="solid"/>
          </a:ln>
        </p:spPr>
      </p:sp>
      <p:sp>
        <p:nvSpPr>
          <p:cNvPr id="36" name="Shape 30"/>
          <p:cNvSpPr/>
          <p:nvPr/>
        </p:nvSpPr>
        <p:spPr>
          <a:xfrm>
            <a:off x="6675120" y="1682496"/>
            <a:ext cx="109728" cy="256032"/>
          </a:xfrm>
          <a:prstGeom prst="rect">
            <a:avLst/>
          </a:prstGeom>
          <a:solidFill>
            <a:srgbClr val="2B2B2B"/>
          </a:solidFill>
          <a:ln w="12700">
            <a:solidFill>
              <a:srgbClr val="2B2B2B"/>
            </a:solidFill>
            <a:prstDash val="solid"/>
          </a:ln>
        </p:spPr>
      </p:sp>
      <p:sp>
        <p:nvSpPr>
          <p:cNvPr id="37" name="Shape 31"/>
          <p:cNvSpPr/>
          <p:nvPr/>
        </p:nvSpPr>
        <p:spPr>
          <a:xfrm>
            <a:off x="7360920" y="1682496"/>
            <a:ext cx="109728" cy="256032"/>
          </a:xfrm>
          <a:prstGeom prst="rect">
            <a:avLst/>
          </a:prstGeom>
          <a:solidFill>
            <a:srgbClr val="D2651F"/>
          </a:solidFill>
          <a:ln w="12700">
            <a:solidFill>
              <a:srgbClr val="D2651F"/>
            </a:solidFill>
            <a:prstDash val="solid"/>
          </a:ln>
        </p:spPr>
      </p:sp>
      <p:sp>
        <p:nvSpPr>
          <p:cNvPr id="38" name="Shape 32"/>
          <p:cNvSpPr/>
          <p:nvPr/>
        </p:nvSpPr>
        <p:spPr>
          <a:xfrm>
            <a:off x="8092440" y="1682496"/>
            <a:ext cx="109728" cy="256032"/>
          </a:xfrm>
          <a:prstGeom prst="rect">
            <a:avLst/>
          </a:prstGeom>
          <a:solidFill>
            <a:srgbClr val="2B2B2B"/>
          </a:solidFill>
          <a:ln w="12700">
            <a:solidFill>
              <a:srgbClr val="2B2B2B"/>
            </a:solidFill>
            <a:prstDash val="solid"/>
          </a:ln>
        </p:spPr>
      </p:sp>
      <p:sp>
        <p:nvSpPr>
          <p:cNvPr id="39" name="Shape 33"/>
          <p:cNvSpPr/>
          <p:nvPr/>
        </p:nvSpPr>
        <p:spPr>
          <a:xfrm>
            <a:off x="8869680" y="1682496"/>
            <a:ext cx="109728" cy="256032"/>
          </a:xfrm>
          <a:prstGeom prst="rect">
            <a:avLst/>
          </a:prstGeom>
          <a:solidFill>
            <a:srgbClr val="D2651F"/>
          </a:solidFill>
          <a:ln w="12700">
            <a:solidFill>
              <a:srgbClr val="D2651F"/>
            </a:solidFill>
            <a:prstDash val="solid"/>
          </a:ln>
        </p:spPr>
      </p:sp>
      <p:sp>
        <p:nvSpPr>
          <p:cNvPr id="40" name="Shape 34"/>
          <p:cNvSpPr/>
          <p:nvPr/>
        </p:nvSpPr>
        <p:spPr>
          <a:xfrm>
            <a:off x="9646920" y="1682496"/>
            <a:ext cx="109728" cy="256032"/>
          </a:xfrm>
          <a:prstGeom prst="rect">
            <a:avLst/>
          </a:prstGeom>
          <a:solidFill>
            <a:srgbClr val="2B2B2B"/>
          </a:solidFill>
          <a:ln w="12700">
            <a:solidFill>
              <a:srgbClr val="2B2B2B"/>
            </a:solidFill>
            <a:prstDash val="solid"/>
          </a:ln>
        </p:spPr>
      </p:sp>
      <p:sp>
        <p:nvSpPr>
          <p:cNvPr id="41" name="Text 35"/>
          <p:cNvSpPr txBox="1"/>
          <p:nvPr/>
        </p:nvSpPr>
        <p:spPr>
          <a:xfrm>
            <a:off x="6355080" y="1993392"/>
            <a:ext cx="3886200" cy="182880"/>
          </a:xfrm>
          <a:prstGeom prst="rect">
            <a:avLst/>
          </a:prstGeom>
          <a:noFill/>
          <a:ln/>
        </p:spPr>
        <p:txBody>
          <a:bodyPr wrap="square" lIns="0" tIns="0" rIns="0" bIns="0" rtlCol="0" anchor="t"/>
          <a:lstStyle/>
          <a:p>
            <a:pPr indent="0" marL="0">
              <a:buNone/>
            </a:pPr>
            <a:r>
              <a:rPr lang="en-US" sz="900" i="1" dirty="0">
                <a:solidFill>
                  <a:srgbClr val="6E6E6E"/>
                </a:solidFill>
                <a:latin typeface="Calibri" pitchFamily="34" charset="0"/>
                <a:ea typeface="Calibri" pitchFamily="34" charset="-122"/>
                <a:cs typeface="Calibri" pitchFamily="34" charset="-120"/>
              </a:rPr>
              <a:t>one coil, both faces: every defect with its type, size and position</a:t>
            </a:r>
            <a:endParaRPr lang="en-US" sz="900" dirty="0"/>
          </a:p>
        </p:txBody>
      </p:sp>
      <p:sp>
        <p:nvSpPr>
          <p:cNvPr id="42" name="Shape 36"/>
          <p:cNvSpPr/>
          <p:nvPr/>
        </p:nvSpPr>
        <p:spPr>
          <a:xfrm>
            <a:off x="10259568" y="1709928"/>
            <a:ext cx="146304" cy="219456"/>
          </a:xfrm>
          <a:prstGeom prst="chevron">
            <a:avLst/>
          </a:prstGeom>
          <a:solidFill>
            <a:srgbClr val="D2651F"/>
          </a:solidFill>
          <a:ln w="12700">
            <a:solidFill>
              <a:srgbClr val="D2651F"/>
            </a:solidFill>
            <a:prstDash val="solid"/>
          </a:ln>
        </p:spPr>
      </p:sp>
      <p:sp>
        <p:nvSpPr>
          <p:cNvPr id="43" name="Shape 37"/>
          <p:cNvSpPr/>
          <p:nvPr/>
        </p:nvSpPr>
        <p:spPr>
          <a:xfrm>
            <a:off x="10488168" y="1572768"/>
            <a:ext cx="1115568" cy="201168"/>
          </a:xfrm>
          <a:prstGeom prst="roundRect">
            <a:avLst>
              <a:gd name="adj" fmla="val 27273"/>
            </a:avLst>
          </a:prstGeom>
          <a:solidFill>
            <a:srgbClr val="2E7D32"/>
          </a:solidFill>
          <a:ln w="12700">
            <a:solidFill>
              <a:srgbClr val="2E7D32"/>
            </a:solidFill>
            <a:prstDash val="solid"/>
          </a:ln>
        </p:spPr>
      </p:sp>
      <p:sp>
        <p:nvSpPr>
          <p:cNvPr id="44" name="Text 38"/>
          <p:cNvSpPr txBox="1"/>
          <p:nvPr/>
        </p:nvSpPr>
        <p:spPr>
          <a:xfrm>
            <a:off x="10488168" y="1572768"/>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ACCEPT</a:t>
            </a:r>
            <a:endParaRPr lang="en-US" sz="900" dirty="0"/>
          </a:p>
        </p:txBody>
      </p:sp>
      <p:sp>
        <p:nvSpPr>
          <p:cNvPr id="45" name="Shape 39"/>
          <p:cNvSpPr/>
          <p:nvPr/>
        </p:nvSpPr>
        <p:spPr>
          <a:xfrm>
            <a:off x="10488168" y="1810512"/>
            <a:ext cx="1115568" cy="201168"/>
          </a:xfrm>
          <a:prstGeom prst="roundRect">
            <a:avLst>
              <a:gd name="adj" fmla="val 27273"/>
            </a:avLst>
          </a:prstGeom>
          <a:solidFill>
            <a:srgbClr val="C99700"/>
          </a:solidFill>
          <a:ln w="12700">
            <a:solidFill>
              <a:srgbClr val="C99700"/>
            </a:solidFill>
            <a:prstDash val="solid"/>
          </a:ln>
        </p:spPr>
      </p:sp>
      <p:sp>
        <p:nvSpPr>
          <p:cNvPr id="46" name="Text 40"/>
          <p:cNvSpPr txBox="1"/>
          <p:nvPr/>
        </p:nvSpPr>
        <p:spPr>
          <a:xfrm>
            <a:off x="10488168" y="1810512"/>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DOWNGRADE</a:t>
            </a:r>
            <a:endParaRPr lang="en-US" sz="900" dirty="0"/>
          </a:p>
        </p:txBody>
      </p:sp>
      <p:sp>
        <p:nvSpPr>
          <p:cNvPr id="47" name="Shape 41"/>
          <p:cNvSpPr/>
          <p:nvPr/>
        </p:nvSpPr>
        <p:spPr>
          <a:xfrm>
            <a:off x="10488168" y="2048256"/>
            <a:ext cx="1115568" cy="201168"/>
          </a:xfrm>
          <a:prstGeom prst="roundRect">
            <a:avLst>
              <a:gd name="adj" fmla="val 27273"/>
            </a:avLst>
          </a:prstGeom>
          <a:solidFill>
            <a:srgbClr val="C62828"/>
          </a:solidFill>
          <a:ln w="12700">
            <a:solidFill>
              <a:srgbClr val="C62828"/>
            </a:solidFill>
            <a:prstDash val="solid"/>
          </a:ln>
        </p:spPr>
      </p:sp>
      <p:sp>
        <p:nvSpPr>
          <p:cNvPr id="48" name="Text 42"/>
          <p:cNvSpPr txBox="1"/>
          <p:nvPr/>
        </p:nvSpPr>
        <p:spPr>
          <a:xfrm>
            <a:off x="10488168" y="2048256"/>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HOLD</a:t>
            </a:r>
            <a:endParaRPr lang="en-US" sz="900" dirty="0"/>
          </a:p>
        </p:txBody>
      </p:sp>
      <p:sp>
        <p:nvSpPr>
          <p:cNvPr id="49" name="Text 43"/>
          <p:cNvSpPr txBox="1"/>
          <p:nvPr/>
        </p:nvSpPr>
        <p:spPr>
          <a:xfrm>
            <a:off x="6355080" y="2286000"/>
            <a:ext cx="5212080" cy="640080"/>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All defects on a coil roll up into one decision, using limits set per grade and finish. </a:t>
            </a:r>
            <a:pPr indent="0" marL="0">
              <a:buNone/>
            </a:pPr>
            <a:r>
              <a:rPr lang="en-US" sz="950" b="1" dirty="0">
                <a:solidFill>
                  <a:srgbClr val="2B2B2B"/>
                </a:solidFill>
                <a:latin typeface="Calibri" pitchFamily="34" charset="0"/>
                <a:ea typeface="Calibri" pitchFamily="34" charset="-122"/>
                <a:cs typeface="Calibri" pitchFamily="34" charset="-120"/>
              </a:rPr>
              <a:t>Example: a light scratch can pass on 2B for tubes but downgrade BA for appliance panels.</a:t>
            </a:r>
            <a:endParaRPr lang="en-US" sz="950" dirty="0"/>
          </a:p>
        </p:txBody>
      </p:sp>
      <p:sp>
        <p:nvSpPr>
          <p:cNvPr id="50" name="Text 44"/>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agree accept, downgrade and hold limits per grade and finish with JSL Quality in P0.</a:t>
            </a:r>
            <a:endParaRPr lang="en-US" sz="1000" dirty="0"/>
          </a:p>
        </p:txBody>
      </p:sp>
      <p:sp>
        <p:nvSpPr>
          <p:cNvPr id="51" name="Shape 45"/>
          <p:cNvSpPr/>
          <p:nvPr/>
        </p:nvSpPr>
        <p:spPr>
          <a:xfrm>
            <a:off x="457200" y="3630168"/>
            <a:ext cx="5541264" cy="274320"/>
          </a:xfrm>
          <a:prstGeom prst="rect">
            <a:avLst/>
          </a:prstGeom>
          <a:solidFill>
            <a:srgbClr val="E4803A"/>
          </a:solidFill>
          <a:ln w="12700">
            <a:solidFill>
              <a:srgbClr val="E4803A"/>
            </a:solidFill>
            <a:prstDash val="solid"/>
          </a:ln>
        </p:spPr>
      </p:sp>
      <p:sp>
        <p:nvSpPr>
          <p:cNvPr id="52" name="Text 46"/>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Image detail sets what is seen, and the hardware bill</a:t>
            </a:r>
            <a:endParaRPr lang="en-US" sz="1100" dirty="0"/>
          </a:p>
        </p:txBody>
      </p:sp>
      <p:sp>
        <p:nvSpPr>
          <p:cNvPr id="53" name="Shape 47"/>
          <p:cNvSpPr/>
          <p:nvPr/>
        </p:nvSpPr>
        <p:spPr>
          <a:xfrm>
            <a:off x="457200" y="3904488"/>
            <a:ext cx="5541264" cy="1984248"/>
          </a:xfrm>
          <a:prstGeom prst="roundRect">
            <a:avLst>
              <a:gd name="adj" fmla="val 2765"/>
            </a:avLst>
          </a:prstGeom>
          <a:solidFill>
            <a:srgbClr val="F3F3F3"/>
          </a:solidFill>
          <a:ln w="12700">
            <a:solidFill>
              <a:srgbClr val="F3F3F3"/>
            </a:solidFill>
            <a:prstDash val="solid"/>
          </a:ln>
        </p:spPr>
      </p:sp>
      <p:sp>
        <p:nvSpPr>
          <p:cNvPr id="54" name="Text 48"/>
          <p:cNvSpPr txBox="1"/>
          <p:nvPr/>
        </p:nvSpPr>
        <p:spPr>
          <a:xfrm>
            <a:off x="585216" y="3950208"/>
            <a:ext cx="1691640" cy="219456"/>
          </a:xfrm>
          <a:prstGeom prst="rect">
            <a:avLst/>
          </a:prstGeom>
          <a:noFill/>
          <a:ln/>
        </p:spPr>
        <p:txBody>
          <a:bodyPr wrap="square" lIns="0" tIns="0" rIns="0" bIns="0" rtlCol="0" anchor="t"/>
          <a:lstStyle/>
          <a:p>
            <a:pPr indent="0" marL="0">
              <a:buNone/>
            </a:pPr>
            <a:r>
              <a:rPr lang="en-US" sz="1000" b="1" dirty="0">
                <a:solidFill>
                  <a:srgbClr val="2B2B2B"/>
                </a:solidFill>
                <a:latin typeface="Calibri" pitchFamily="34" charset="0"/>
                <a:ea typeface="Calibri" pitchFamily="34" charset="-122"/>
                <a:cs typeface="Calibri" pitchFamily="34" charset="-120"/>
              </a:rPr>
              <a:t>0.2 mm per pixel</a:t>
            </a:r>
            <a:endParaRPr lang="en-US" sz="1000" dirty="0"/>
          </a:p>
        </p:txBody>
      </p:sp>
      <p:pic>
        <p:nvPicPr>
          <p:cNvPr id="55" name="Image 2" descr="img/icons/cpu-navy.png">    </p:cNvPr>
          <p:cNvPicPr>
            <a:picLocks noChangeAspect="1"/>
          </p:cNvPicPr>
          <p:nvPr/>
        </p:nvPicPr>
        <p:blipFill>
          <a:blip r:embed="rId5"/>
          <a:stretch>
            <a:fillRect/>
          </a:stretch>
        </p:blipFill>
        <p:spPr>
          <a:xfrm>
            <a:off x="585216" y="4206240"/>
            <a:ext cx="192024" cy="192024"/>
          </a:xfrm>
          <a:prstGeom prst="rect">
            <a:avLst/>
          </a:prstGeom>
        </p:spPr>
      </p:pic>
      <p:pic>
        <p:nvPicPr>
          <p:cNvPr id="56" name="Image 3" descr="img/icons/cpu-navy.png">    </p:cNvPr>
          <p:cNvPicPr>
            <a:picLocks noChangeAspect="1"/>
          </p:cNvPicPr>
          <p:nvPr/>
        </p:nvPicPr>
        <p:blipFill>
          <a:blip r:embed="rId6"/>
          <a:stretch>
            <a:fillRect/>
          </a:stretch>
        </p:blipFill>
        <p:spPr>
          <a:xfrm>
            <a:off x="822960" y="4206240"/>
            <a:ext cx="192024" cy="192024"/>
          </a:xfrm>
          <a:prstGeom prst="rect">
            <a:avLst/>
          </a:prstGeom>
        </p:spPr>
      </p:pic>
      <p:pic>
        <p:nvPicPr>
          <p:cNvPr id="57" name="Image 4" descr="img/icons/cpu-navy.png">    </p:cNvPr>
          <p:cNvPicPr>
            <a:picLocks noChangeAspect="1"/>
          </p:cNvPicPr>
          <p:nvPr/>
        </p:nvPicPr>
        <p:blipFill>
          <a:blip r:embed="rId7"/>
          <a:stretch>
            <a:fillRect/>
          </a:stretch>
        </p:blipFill>
        <p:spPr>
          <a:xfrm>
            <a:off x="1060704" y="4206240"/>
            <a:ext cx="192024" cy="192024"/>
          </a:xfrm>
          <a:prstGeom prst="rect">
            <a:avLst/>
          </a:prstGeom>
        </p:spPr>
      </p:pic>
      <p:pic>
        <p:nvPicPr>
          <p:cNvPr id="58" name="Image 5" descr="img/icons/cpu-navy.png">    </p:cNvPr>
          <p:cNvPicPr>
            <a:picLocks noChangeAspect="1"/>
          </p:cNvPicPr>
          <p:nvPr/>
        </p:nvPicPr>
        <p:blipFill>
          <a:blip r:embed="rId8"/>
          <a:stretch>
            <a:fillRect/>
          </a:stretch>
        </p:blipFill>
        <p:spPr>
          <a:xfrm>
            <a:off x="1298448" y="4206240"/>
            <a:ext cx="192024" cy="192024"/>
          </a:xfrm>
          <a:prstGeom prst="rect">
            <a:avLst/>
          </a:prstGeom>
        </p:spPr>
      </p:pic>
      <p:pic>
        <p:nvPicPr>
          <p:cNvPr id="59" name="Image 6" descr="img/icons/cpu-navy.png">    </p:cNvPr>
          <p:cNvPicPr>
            <a:picLocks noChangeAspect="1"/>
          </p:cNvPicPr>
          <p:nvPr/>
        </p:nvPicPr>
        <p:blipFill>
          <a:blip r:embed="rId9"/>
          <a:stretch>
            <a:fillRect/>
          </a:stretch>
        </p:blipFill>
        <p:spPr>
          <a:xfrm>
            <a:off x="1536192" y="4206240"/>
            <a:ext cx="192024" cy="192024"/>
          </a:xfrm>
          <a:prstGeom prst="rect">
            <a:avLst/>
          </a:prstGeom>
        </p:spPr>
      </p:pic>
      <p:pic>
        <p:nvPicPr>
          <p:cNvPr id="60" name="Image 7" descr="img/icons/cpu-navy.png">    </p:cNvPr>
          <p:cNvPicPr>
            <a:picLocks noChangeAspect="1"/>
          </p:cNvPicPr>
          <p:nvPr/>
        </p:nvPicPr>
        <p:blipFill>
          <a:blip r:embed="rId10"/>
          <a:stretch>
            <a:fillRect/>
          </a:stretch>
        </p:blipFill>
        <p:spPr>
          <a:xfrm>
            <a:off x="1773936" y="4206240"/>
            <a:ext cx="192024" cy="192024"/>
          </a:xfrm>
          <a:prstGeom prst="rect">
            <a:avLst/>
          </a:prstGeom>
        </p:spPr>
      </p:pic>
      <p:pic>
        <p:nvPicPr>
          <p:cNvPr id="61" name="Image 8" descr="img/icons/cpu-navy.png">    </p:cNvPr>
          <p:cNvPicPr>
            <a:picLocks noChangeAspect="1"/>
          </p:cNvPicPr>
          <p:nvPr/>
        </p:nvPicPr>
        <p:blipFill>
          <a:blip r:embed="rId11"/>
          <a:stretch>
            <a:fillRect/>
          </a:stretch>
        </p:blipFill>
        <p:spPr>
          <a:xfrm>
            <a:off x="585216" y="4434840"/>
            <a:ext cx="192024" cy="192024"/>
          </a:xfrm>
          <a:prstGeom prst="rect">
            <a:avLst/>
          </a:prstGeom>
        </p:spPr>
      </p:pic>
      <p:pic>
        <p:nvPicPr>
          <p:cNvPr id="62" name="Image 9" descr="img/icons/cpu-navy.png">    </p:cNvPr>
          <p:cNvPicPr>
            <a:picLocks noChangeAspect="1"/>
          </p:cNvPicPr>
          <p:nvPr/>
        </p:nvPicPr>
        <p:blipFill>
          <a:blip r:embed="rId12"/>
          <a:stretch>
            <a:fillRect/>
          </a:stretch>
        </p:blipFill>
        <p:spPr>
          <a:xfrm>
            <a:off x="822960" y="4434840"/>
            <a:ext cx="192024" cy="192024"/>
          </a:xfrm>
          <a:prstGeom prst="rect">
            <a:avLst/>
          </a:prstGeom>
        </p:spPr>
      </p:pic>
      <p:pic>
        <p:nvPicPr>
          <p:cNvPr id="63" name="Image 10" descr="img/icons/cpu-navy.png">    </p:cNvPr>
          <p:cNvPicPr>
            <a:picLocks noChangeAspect="1"/>
          </p:cNvPicPr>
          <p:nvPr/>
        </p:nvPicPr>
        <p:blipFill>
          <a:blip r:embed="rId13"/>
          <a:stretch>
            <a:fillRect/>
          </a:stretch>
        </p:blipFill>
        <p:spPr>
          <a:xfrm>
            <a:off x="1060704" y="4434840"/>
            <a:ext cx="192024" cy="192024"/>
          </a:xfrm>
          <a:prstGeom prst="rect">
            <a:avLst/>
          </a:prstGeom>
        </p:spPr>
      </p:pic>
      <p:pic>
        <p:nvPicPr>
          <p:cNvPr id="64" name="Image 11" descr="img/icons/cpu-navy.png">    </p:cNvPr>
          <p:cNvPicPr>
            <a:picLocks noChangeAspect="1"/>
          </p:cNvPicPr>
          <p:nvPr/>
        </p:nvPicPr>
        <p:blipFill>
          <a:blip r:embed="rId14"/>
          <a:stretch>
            <a:fillRect/>
          </a:stretch>
        </p:blipFill>
        <p:spPr>
          <a:xfrm>
            <a:off x="1298448" y="4434840"/>
            <a:ext cx="192024" cy="192024"/>
          </a:xfrm>
          <a:prstGeom prst="rect">
            <a:avLst/>
          </a:prstGeom>
        </p:spPr>
      </p:pic>
      <p:pic>
        <p:nvPicPr>
          <p:cNvPr id="65" name="Image 12" descr="img/icons/cpu-navy.png">    </p:cNvPr>
          <p:cNvPicPr>
            <a:picLocks noChangeAspect="1"/>
          </p:cNvPicPr>
          <p:nvPr/>
        </p:nvPicPr>
        <p:blipFill>
          <a:blip r:embed="rId15"/>
          <a:stretch>
            <a:fillRect/>
          </a:stretch>
        </p:blipFill>
        <p:spPr>
          <a:xfrm>
            <a:off x="1536192" y="4434840"/>
            <a:ext cx="192024" cy="192024"/>
          </a:xfrm>
          <a:prstGeom prst="rect">
            <a:avLst/>
          </a:prstGeom>
        </p:spPr>
      </p:pic>
      <p:pic>
        <p:nvPicPr>
          <p:cNvPr id="66" name="Image 13" descr="img/icons/cpu-navy.png">    </p:cNvPr>
          <p:cNvPicPr>
            <a:picLocks noChangeAspect="1"/>
          </p:cNvPicPr>
          <p:nvPr/>
        </p:nvPicPr>
        <p:blipFill>
          <a:blip r:embed="rId16"/>
          <a:stretch>
            <a:fillRect/>
          </a:stretch>
        </p:blipFill>
        <p:spPr>
          <a:xfrm>
            <a:off x="1773936" y="4434840"/>
            <a:ext cx="192024" cy="192024"/>
          </a:xfrm>
          <a:prstGeom prst="rect">
            <a:avLst/>
          </a:prstGeom>
        </p:spPr>
      </p:pic>
      <p:pic>
        <p:nvPicPr>
          <p:cNvPr id="67" name="Image 14" descr="img/icons/cpu-navy.png">    </p:cNvPr>
          <p:cNvPicPr>
            <a:picLocks noChangeAspect="1"/>
          </p:cNvPicPr>
          <p:nvPr/>
        </p:nvPicPr>
        <p:blipFill>
          <a:blip r:embed="rId17"/>
          <a:stretch>
            <a:fillRect/>
          </a:stretch>
        </p:blipFill>
        <p:spPr>
          <a:xfrm>
            <a:off x="585216" y="4663440"/>
            <a:ext cx="192024" cy="192024"/>
          </a:xfrm>
          <a:prstGeom prst="rect">
            <a:avLst/>
          </a:prstGeom>
        </p:spPr>
      </p:pic>
      <p:pic>
        <p:nvPicPr>
          <p:cNvPr id="68" name="Image 15" descr="img/icons/cpu-navy.png">    </p:cNvPr>
          <p:cNvPicPr>
            <a:picLocks noChangeAspect="1"/>
          </p:cNvPicPr>
          <p:nvPr/>
        </p:nvPicPr>
        <p:blipFill>
          <a:blip r:embed="rId18"/>
          <a:stretch>
            <a:fillRect/>
          </a:stretch>
        </p:blipFill>
        <p:spPr>
          <a:xfrm>
            <a:off x="822960" y="4663440"/>
            <a:ext cx="192024" cy="192024"/>
          </a:xfrm>
          <a:prstGeom prst="rect">
            <a:avLst/>
          </a:prstGeom>
        </p:spPr>
      </p:pic>
      <p:pic>
        <p:nvPicPr>
          <p:cNvPr id="69" name="Image 16" descr="img/icons/cpu-navy.png">    </p:cNvPr>
          <p:cNvPicPr>
            <a:picLocks noChangeAspect="1"/>
          </p:cNvPicPr>
          <p:nvPr/>
        </p:nvPicPr>
        <p:blipFill>
          <a:blip r:embed="rId19"/>
          <a:stretch>
            <a:fillRect/>
          </a:stretch>
        </p:blipFill>
        <p:spPr>
          <a:xfrm>
            <a:off x="1060704" y="4663440"/>
            <a:ext cx="192024" cy="192024"/>
          </a:xfrm>
          <a:prstGeom prst="rect">
            <a:avLst/>
          </a:prstGeom>
        </p:spPr>
      </p:pic>
      <p:pic>
        <p:nvPicPr>
          <p:cNvPr id="70" name="Image 17" descr="img/icons/cpu-navy.png">    </p:cNvPr>
          <p:cNvPicPr>
            <a:picLocks noChangeAspect="1"/>
          </p:cNvPicPr>
          <p:nvPr/>
        </p:nvPicPr>
        <p:blipFill>
          <a:blip r:embed="rId20"/>
          <a:stretch>
            <a:fillRect/>
          </a:stretch>
        </p:blipFill>
        <p:spPr>
          <a:xfrm>
            <a:off x="1298448" y="4663440"/>
            <a:ext cx="192024" cy="192024"/>
          </a:xfrm>
          <a:prstGeom prst="rect">
            <a:avLst/>
          </a:prstGeom>
        </p:spPr>
      </p:pic>
      <p:pic>
        <p:nvPicPr>
          <p:cNvPr id="71" name="Image 18" descr="img/icons/cpu-navy.png">    </p:cNvPr>
          <p:cNvPicPr>
            <a:picLocks noChangeAspect="1"/>
          </p:cNvPicPr>
          <p:nvPr/>
        </p:nvPicPr>
        <p:blipFill>
          <a:blip r:embed="rId21"/>
          <a:stretch>
            <a:fillRect/>
          </a:stretch>
        </p:blipFill>
        <p:spPr>
          <a:xfrm>
            <a:off x="1536192" y="4663440"/>
            <a:ext cx="192024" cy="192024"/>
          </a:xfrm>
          <a:prstGeom prst="rect">
            <a:avLst/>
          </a:prstGeom>
        </p:spPr>
      </p:pic>
      <p:pic>
        <p:nvPicPr>
          <p:cNvPr id="72" name="Image 19" descr="img/icons/cpu-navy.png">    </p:cNvPr>
          <p:cNvPicPr>
            <a:picLocks noChangeAspect="1"/>
          </p:cNvPicPr>
          <p:nvPr/>
        </p:nvPicPr>
        <p:blipFill>
          <a:blip r:embed="rId22"/>
          <a:stretch>
            <a:fillRect/>
          </a:stretch>
        </p:blipFill>
        <p:spPr>
          <a:xfrm>
            <a:off x="1773936" y="4663440"/>
            <a:ext cx="192024" cy="192024"/>
          </a:xfrm>
          <a:prstGeom prst="rect">
            <a:avLst/>
          </a:prstGeom>
        </p:spPr>
      </p:pic>
      <p:sp>
        <p:nvSpPr>
          <p:cNvPr id="73" name="Text 49"/>
          <p:cNvSpPr txBox="1"/>
          <p:nvPr/>
        </p:nvSpPr>
        <p:spPr>
          <a:xfrm>
            <a:off x="585216" y="4910328"/>
            <a:ext cx="1691640" cy="201168"/>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~18 processors</a:t>
            </a:r>
            <a:endParaRPr lang="en-US" sz="1100" dirty="0"/>
          </a:p>
        </p:txBody>
      </p:sp>
      <p:sp>
        <p:nvSpPr>
          <p:cNvPr id="74" name="Text 50"/>
          <p:cNvSpPr txBox="1"/>
          <p:nvPr/>
        </p:nvSpPr>
        <p:spPr>
          <a:xfrm>
            <a:off x="585216" y="5111496"/>
            <a:ext cx="1737360" cy="201168"/>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sees defects from ~0.5 mm</a:t>
            </a:r>
            <a:endParaRPr lang="en-US" sz="900" dirty="0"/>
          </a:p>
        </p:txBody>
      </p:sp>
      <p:sp>
        <p:nvSpPr>
          <p:cNvPr id="75" name="Shape 51"/>
          <p:cNvSpPr/>
          <p:nvPr/>
        </p:nvSpPr>
        <p:spPr>
          <a:xfrm>
            <a:off x="2304288" y="3986784"/>
            <a:ext cx="9144" cy="1298448"/>
          </a:xfrm>
          <a:prstGeom prst="rect">
            <a:avLst/>
          </a:prstGeom>
          <a:solidFill>
            <a:srgbClr val="D9D9D9"/>
          </a:solidFill>
          <a:ln w="12700">
            <a:solidFill>
              <a:srgbClr val="D9D9D9"/>
            </a:solidFill>
            <a:prstDash val="solid"/>
          </a:ln>
        </p:spPr>
      </p:sp>
      <p:sp>
        <p:nvSpPr>
          <p:cNvPr id="76" name="Text 52"/>
          <p:cNvSpPr txBox="1"/>
          <p:nvPr/>
        </p:nvSpPr>
        <p:spPr>
          <a:xfrm>
            <a:off x="2395728" y="3950208"/>
            <a:ext cx="1691640" cy="219456"/>
          </a:xfrm>
          <a:prstGeom prst="rect">
            <a:avLst/>
          </a:prstGeom>
          <a:noFill/>
          <a:ln/>
        </p:spPr>
        <p:txBody>
          <a:bodyPr wrap="square" lIns="0" tIns="0" rIns="0" bIns="0" rtlCol="0" anchor="t"/>
          <a:lstStyle/>
          <a:p>
            <a:pPr indent="0" marL="0">
              <a:buNone/>
            </a:pPr>
            <a:r>
              <a:rPr lang="en-US" sz="1000" b="1" dirty="0">
                <a:solidFill>
                  <a:srgbClr val="404040"/>
                </a:solidFill>
                <a:latin typeface="Calibri" pitchFamily="34" charset="0"/>
                <a:ea typeface="Calibri" pitchFamily="34" charset="-122"/>
                <a:cs typeface="Calibri" pitchFamily="34" charset="-120"/>
              </a:rPr>
              <a:t>0.5 mm per pixel</a:t>
            </a:r>
            <a:endParaRPr lang="en-US" sz="1000" dirty="0"/>
          </a:p>
        </p:txBody>
      </p:sp>
      <p:pic>
        <p:nvPicPr>
          <p:cNvPr id="77" name="Image 20" descr="img/icons/cpu-navy.png">    </p:cNvPr>
          <p:cNvPicPr>
            <a:picLocks noChangeAspect="1"/>
          </p:cNvPicPr>
          <p:nvPr/>
        </p:nvPicPr>
        <p:blipFill>
          <a:blip r:embed="rId23"/>
          <a:stretch>
            <a:fillRect/>
          </a:stretch>
        </p:blipFill>
        <p:spPr>
          <a:xfrm>
            <a:off x="2395728" y="4206240"/>
            <a:ext cx="192024" cy="192024"/>
          </a:xfrm>
          <a:prstGeom prst="rect">
            <a:avLst/>
          </a:prstGeom>
        </p:spPr>
      </p:pic>
      <p:pic>
        <p:nvPicPr>
          <p:cNvPr id="78" name="Image 21" descr="img/icons/cpu-navy.png">    </p:cNvPr>
          <p:cNvPicPr>
            <a:picLocks noChangeAspect="1"/>
          </p:cNvPicPr>
          <p:nvPr/>
        </p:nvPicPr>
        <p:blipFill>
          <a:blip r:embed="rId24"/>
          <a:stretch>
            <a:fillRect/>
          </a:stretch>
        </p:blipFill>
        <p:spPr>
          <a:xfrm>
            <a:off x="2633472" y="4206240"/>
            <a:ext cx="192024" cy="192024"/>
          </a:xfrm>
          <a:prstGeom prst="rect">
            <a:avLst/>
          </a:prstGeom>
        </p:spPr>
      </p:pic>
      <p:pic>
        <p:nvPicPr>
          <p:cNvPr id="79" name="Image 22" descr="img/icons/cpu-navy.png">    </p:cNvPr>
          <p:cNvPicPr>
            <a:picLocks noChangeAspect="1"/>
          </p:cNvPicPr>
          <p:nvPr/>
        </p:nvPicPr>
        <p:blipFill>
          <a:blip r:embed="rId25"/>
          <a:stretch>
            <a:fillRect/>
          </a:stretch>
        </p:blipFill>
        <p:spPr>
          <a:xfrm>
            <a:off x="2871216" y="4206240"/>
            <a:ext cx="192024" cy="192024"/>
          </a:xfrm>
          <a:prstGeom prst="rect">
            <a:avLst/>
          </a:prstGeom>
        </p:spPr>
      </p:pic>
      <p:sp>
        <p:nvSpPr>
          <p:cNvPr id="80" name="Text 53"/>
          <p:cNvSpPr txBox="1"/>
          <p:nvPr/>
        </p:nvSpPr>
        <p:spPr>
          <a:xfrm>
            <a:off x="2395728" y="4910328"/>
            <a:ext cx="1691640" cy="201168"/>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~3 processors</a:t>
            </a:r>
            <a:endParaRPr lang="en-US" sz="1100" dirty="0"/>
          </a:p>
        </p:txBody>
      </p:sp>
      <p:sp>
        <p:nvSpPr>
          <p:cNvPr id="81" name="Text 54"/>
          <p:cNvSpPr txBox="1"/>
          <p:nvPr/>
        </p:nvSpPr>
        <p:spPr>
          <a:xfrm>
            <a:off x="2395728" y="5111496"/>
            <a:ext cx="1737360" cy="201168"/>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sees defects from ~1.3 mm</a:t>
            </a:r>
            <a:endParaRPr lang="en-US" sz="900" dirty="0"/>
          </a:p>
        </p:txBody>
      </p:sp>
      <p:sp>
        <p:nvSpPr>
          <p:cNvPr id="82" name="Shape 55"/>
          <p:cNvSpPr/>
          <p:nvPr/>
        </p:nvSpPr>
        <p:spPr>
          <a:xfrm>
            <a:off x="4114800" y="3986784"/>
            <a:ext cx="9144" cy="1298448"/>
          </a:xfrm>
          <a:prstGeom prst="rect">
            <a:avLst/>
          </a:prstGeom>
          <a:solidFill>
            <a:srgbClr val="D9D9D9"/>
          </a:solidFill>
          <a:ln w="12700">
            <a:solidFill>
              <a:srgbClr val="D9D9D9"/>
            </a:solidFill>
            <a:prstDash val="solid"/>
          </a:ln>
        </p:spPr>
      </p:sp>
      <p:sp>
        <p:nvSpPr>
          <p:cNvPr id="83" name="Text 56"/>
          <p:cNvSpPr txBox="1"/>
          <p:nvPr/>
        </p:nvSpPr>
        <p:spPr>
          <a:xfrm>
            <a:off x="4206240" y="3950208"/>
            <a:ext cx="1691640" cy="219456"/>
          </a:xfrm>
          <a:prstGeom prst="rect">
            <a:avLst/>
          </a:prstGeom>
          <a:noFill/>
          <a:ln/>
        </p:spPr>
        <p:txBody>
          <a:bodyPr wrap="square" lIns="0" tIns="0" rIns="0" bIns="0" rtlCol="0" anchor="t"/>
          <a:lstStyle/>
          <a:p>
            <a:pPr indent="0" marL="0">
              <a:buNone/>
            </a:pPr>
            <a:r>
              <a:rPr lang="en-US" sz="1000" b="1" dirty="0">
                <a:solidFill>
                  <a:srgbClr val="404040"/>
                </a:solidFill>
                <a:latin typeface="Calibri" pitchFamily="34" charset="0"/>
                <a:ea typeface="Calibri" pitchFamily="34" charset="-122"/>
                <a:cs typeface="Calibri" pitchFamily="34" charset="-120"/>
              </a:rPr>
              <a:t>1.28 mm per pixel</a:t>
            </a:r>
            <a:endParaRPr lang="en-US" sz="1000" dirty="0"/>
          </a:p>
        </p:txBody>
      </p:sp>
      <p:pic>
        <p:nvPicPr>
          <p:cNvPr id="84" name="Image 23" descr="img/icons/cpu-navy.png">    </p:cNvPr>
          <p:cNvPicPr>
            <a:picLocks noChangeAspect="1"/>
          </p:cNvPicPr>
          <p:nvPr/>
        </p:nvPicPr>
        <p:blipFill>
          <a:blip r:embed="rId26"/>
          <a:stretch>
            <a:fillRect/>
          </a:stretch>
        </p:blipFill>
        <p:spPr>
          <a:xfrm>
            <a:off x="4206240" y="4206240"/>
            <a:ext cx="192024" cy="192024"/>
          </a:xfrm>
          <a:prstGeom prst="rect">
            <a:avLst/>
          </a:prstGeom>
        </p:spPr>
      </p:pic>
      <p:sp>
        <p:nvSpPr>
          <p:cNvPr id="85" name="Text 57"/>
          <p:cNvSpPr txBox="1"/>
          <p:nvPr/>
        </p:nvSpPr>
        <p:spPr>
          <a:xfrm>
            <a:off x="4206240" y="4910328"/>
            <a:ext cx="1691640" cy="201168"/>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1 processor</a:t>
            </a:r>
            <a:endParaRPr lang="en-US" sz="1100" dirty="0"/>
          </a:p>
        </p:txBody>
      </p:sp>
      <p:sp>
        <p:nvSpPr>
          <p:cNvPr id="86" name="Text 58"/>
          <p:cNvSpPr txBox="1"/>
          <p:nvPr/>
        </p:nvSpPr>
        <p:spPr>
          <a:xfrm>
            <a:off x="4206240" y="5111496"/>
            <a:ext cx="1737360" cy="201168"/>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fine scratches vanish (~3 mm)</a:t>
            </a:r>
            <a:endParaRPr lang="en-US" sz="900" dirty="0"/>
          </a:p>
        </p:txBody>
      </p:sp>
      <p:sp>
        <p:nvSpPr>
          <p:cNvPr id="87" name="Text 59"/>
          <p:cNvSpPr txBox="1"/>
          <p:nvPr/>
        </p:nvSpPr>
        <p:spPr>
          <a:xfrm>
            <a:off x="585216" y="5330952"/>
            <a:ext cx="5303520" cy="201168"/>
          </a:xfrm>
          <a:prstGeom prst="rect">
            <a:avLst/>
          </a:prstGeom>
          <a:noFill/>
          <a:ln/>
        </p:spPr>
        <p:txBody>
          <a:bodyPr wrap="square" lIns="0" tIns="0" rIns="0" bIns="0" rtlCol="0" anchor="t"/>
          <a:lstStyle/>
          <a:p>
            <a:pPr indent="0" marL="0">
              <a:buNone/>
            </a:pPr>
            <a:r>
              <a:rPr lang="en-US" sz="900" i="1" dirty="0">
                <a:solidFill>
                  <a:srgbClr val="6E6E6E"/>
                </a:solidFill>
                <a:latin typeface="Calibri" pitchFamily="34" charset="0"/>
                <a:ea typeface="Calibri" pitchFamily="34" charset="-122"/>
                <a:cs typeface="Calibri" pitchFamily="34" charset="-120"/>
              </a:rPr>
              <a:t>1.28 m strip at 250 m/min. Processors scale with pixels; a defect needs 2-3 pixels.</a:t>
            </a:r>
            <a:endParaRPr lang="en-US" sz="900" dirty="0"/>
          </a:p>
        </p:txBody>
      </p:sp>
      <p:sp>
        <p:nvSpPr>
          <p:cNvPr id="88" name="Text 60"/>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89" name="Shape 61"/>
          <p:cNvSpPr/>
          <p:nvPr/>
        </p:nvSpPr>
        <p:spPr>
          <a:xfrm>
            <a:off x="6190488" y="3630168"/>
            <a:ext cx="5541264" cy="274320"/>
          </a:xfrm>
          <a:prstGeom prst="rect">
            <a:avLst/>
          </a:prstGeom>
          <a:solidFill>
            <a:srgbClr val="E4803A"/>
          </a:solidFill>
          <a:ln w="12700">
            <a:solidFill>
              <a:srgbClr val="E4803A"/>
            </a:solidFill>
            <a:prstDash val="solid"/>
          </a:ln>
        </p:spPr>
      </p:sp>
      <p:sp>
        <p:nvSpPr>
          <p:cNvPr id="90" name="Text 62"/>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91" name="Shape 63"/>
          <p:cNvSpPr/>
          <p:nvPr/>
        </p:nvSpPr>
        <p:spPr>
          <a:xfrm>
            <a:off x="6190488" y="3904488"/>
            <a:ext cx="5541264" cy="1984248"/>
          </a:xfrm>
          <a:prstGeom prst="roundRect">
            <a:avLst>
              <a:gd name="adj" fmla="val 2765"/>
            </a:avLst>
          </a:prstGeom>
          <a:solidFill>
            <a:srgbClr val="F3F3F3"/>
          </a:solidFill>
          <a:ln w="12700">
            <a:solidFill>
              <a:srgbClr val="F3F3F3"/>
            </a:solidFill>
            <a:prstDash val="solid"/>
          </a:ln>
        </p:spPr>
      </p:sp>
      <p:sp>
        <p:nvSpPr>
          <p:cNvPr id="92" name="Shape 64"/>
          <p:cNvSpPr/>
          <p:nvPr/>
        </p:nvSpPr>
        <p:spPr>
          <a:xfrm>
            <a:off x="6327648" y="4014216"/>
            <a:ext cx="402336" cy="402336"/>
          </a:xfrm>
          <a:prstGeom prst="ellipse">
            <a:avLst/>
          </a:prstGeom>
          <a:solidFill>
            <a:srgbClr val="2B2B2B"/>
          </a:solidFill>
          <a:ln w="12700">
            <a:solidFill>
              <a:srgbClr val="2B2B2B"/>
            </a:solidFill>
            <a:prstDash val="solid"/>
          </a:ln>
        </p:spPr>
      </p:sp>
      <p:pic>
        <p:nvPicPr>
          <p:cNvPr id="93" name="Image 24" descr="img/icons/scan-search-white.png">    </p:cNvPr>
          <p:cNvPicPr>
            <a:picLocks noChangeAspect="1"/>
          </p:cNvPicPr>
          <p:nvPr/>
        </p:nvPicPr>
        <p:blipFill>
          <a:blip r:embed="rId27"/>
          <a:stretch>
            <a:fillRect/>
          </a:stretch>
        </p:blipFill>
        <p:spPr>
          <a:xfrm>
            <a:off x="6416162" y="4102730"/>
            <a:ext cx="225308" cy="225308"/>
          </a:xfrm>
          <a:prstGeom prst="rect">
            <a:avLst/>
          </a:prstGeom>
        </p:spPr>
      </p:pic>
      <p:sp>
        <p:nvSpPr>
          <p:cNvPr id="94" name="Text 65"/>
          <p:cNvSpPr txBox="1"/>
          <p:nvPr/>
        </p:nvSpPr>
        <p:spPr>
          <a:xfrm>
            <a:off x="6858000" y="3986784"/>
            <a:ext cx="4754880" cy="237744"/>
          </a:xfrm>
          <a:prstGeom prst="rect">
            <a:avLst/>
          </a:prstGeom>
          <a:noFill/>
          <a:ln/>
        </p:spPr>
        <p:txBody>
          <a:bodyPr wrap="square" lIns="0" tIns="0" rIns="0" bIns="0" rtlCol="0" anchor="t"/>
          <a:lstStyle/>
          <a:p>
            <a:pPr indent="0" marL="0">
              <a:buNone/>
            </a:pPr>
            <a:r>
              <a:rPr lang="en-US" sz="1050" b="1" dirty="0">
                <a:solidFill>
                  <a:srgbClr val="2B2B2B"/>
                </a:solidFill>
                <a:latin typeface="Calibri" pitchFamily="34" charset="0"/>
                <a:ea typeface="Calibri" pitchFamily="34" charset="-122"/>
                <a:cs typeface="Calibri" pitchFamily="34" charset="-120"/>
              </a:rPr>
              <a:t>Every alarm shows its evidence</a:t>
            </a:r>
            <a:endParaRPr lang="en-US" sz="1050" dirty="0"/>
          </a:p>
        </p:txBody>
      </p:sp>
      <p:sp>
        <p:nvSpPr>
          <p:cNvPr id="95" name="Text 66"/>
          <p:cNvSpPr txBox="1"/>
          <p:nvPr/>
        </p:nvSpPr>
        <p:spPr>
          <a:xfrm>
            <a:off x="6858000" y="4224528"/>
            <a:ext cx="4754880" cy="219456"/>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photo, defect type, severity and position on the coil</a:t>
            </a:r>
            <a:endParaRPr lang="en-US" sz="950" dirty="0"/>
          </a:p>
        </p:txBody>
      </p:sp>
      <p:sp>
        <p:nvSpPr>
          <p:cNvPr id="96" name="Shape 67"/>
          <p:cNvSpPr/>
          <p:nvPr/>
        </p:nvSpPr>
        <p:spPr>
          <a:xfrm>
            <a:off x="6327648" y="4535424"/>
            <a:ext cx="402336" cy="402336"/>
          </a:xfrm>
          <a:prstGeom prst="ellipse">
            <a:avLst/>
          </a:prstGeom>
          <a:solidFill>
            <a:srgbClr val="2B2B2B"/>
          </a:solidFill>
          <a:ln w="12700">
            <a:solidFill>
              <a:srgbClr val="2B2B2B"/>
            </a:solidFill>
            <a:prstDash val="solid"/>
          </a:ln>
        </p:spPr>
      </p:sp>
      <p:pic>
        <p:nvPicPr>
          <p:cNvPr id="97" name="Image 25" descr="img/icons/user-check-white.png">    </p:cNvPr>
          <p:cNvPicPr>
            <a:picLocks noChangeAspect="1"/>
          </p:cNvPicPr>
          <p:nvPr/>
        </p:nvPicPr>
        <p:blipFill>
          <a:blip r:embed="rId28"/>
          <a:stretch>
            <a:fillRect/>
          </a:stretch>
        </p:blipFill>
        <p:spPr>
          <a:xfrm>
            <a:off x="6416162" y="4623938"/>
            <a:ext cx="225308" cy="225308"/>
          </a:xfrm>
          <a:prstGeom prst="rect">
            <a:avLst/>
          </a:prstGeom>
        </p:spPr>
      </p:pic>
      <p:sp>
        <p:nvSpPr>
          <p:cNvPr id="98" name="Text 68"/>
          <p:cNvSpPr txBox="1"/>
          <p:nvPr/>
        </p:nvSpPr>
        <p:spPr>
          <a:xfrm>
            <a:off x="6858000" y="4507992"/>
            <a:ext cx="4754880" cy="237744"/>
          </a:xfrm>
          <a:prstGeom prst="rect">
            <a:avLst/>
          </a:prstGeom>
          <a:noFill/>
          <a:ln/>
        </p:spPr>
        <p:txBody>
          <a:bodyPr wrap="square" lIns="0" tIns="0" rIns="0" bIns="0" rtlCol="0" anchor="t"/>
          <a:lstStyle/>
          <a:p>
            <a:pPr indent="0" marL="0">
              <a:buNone/>
            </a:pPr>
            <a:r>
              <a:rPr lang="en-US" sz="1050" b="1" dirty="0">
                <a:solidFill>
                  <a:srgbClr val="2B2B2B"/>
                </a:solidFill>
                <a:latin typeface="Calibri" pitchFamily="34" charset="0"/>
                <a:ea typeface="Calibri" pitchFamily="34" charset="-122"/>
                <a:cs typeface="Calibri" pitchFamily="34" charset="-120"/>
              </a:rPr>
              <a:t>Four weeks of shadow mode first</a:t>
            </a:r>
            <a:endParaRPr lang="en-US" sz="1050" dirty="0"/>
          </a:p>
        </p:txBody>
      </p:sp>
      <p:sp>
        <p:nvSpPr>
          <p:cNvPr id="99" name="Text 69"/>
          <p:cNvSpPr txBox="1"/>
          <p:nvPr/>
        </p:nvSpPr>
        <p:spPr>
          <a:xfrm>
            <a:off x="6858000" y="4745736"/>
            <a:ext cx="4754880" cy="219456"/>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it only advises; automatic holds start at ≥ 90% operator agreement</a:t>
            </a:r>
            <a:endParaRPr lang="en-US" sz="950" dirty="0"/>
          </a:p>
        </p:txBody>
      </p:sp>
      <p:sp>
        <p:nvSpPr>
          <p:cNvPr id="100" name="Shape 70"/>
          <p:cNvSpPr/>
          <p:nvPr/>
        </p:nvSpPr>
        <p:spPr>
          <a:xfrm>
            <a:off x="6327648" y="5056632"/>
            <a:ext cx="402336" cy="402336"/>
          </a:xfrm>
          <a:prstGeom prst="ellipse">
            <a:avLst/>
          </a:prstGeom>
          <a:solidFill>
            <a:srgbClr val="2B2B2B"/>
          </a:solidFill>
          <a:ln w="12700">
            <a:solidFill>
              <a:srgbClr val="2B2B2B"/>
            </a:solidFill>
            <a:prstDash val="solid"/>
          </a:ln>
        </p:spPr>
      </p:sp>
      <p:pic>
        <p:nvPicPr>
          <p:cNvPr id="101" name="Image 26" descr="img/icons/refresh-cw-white.png">    </p:cNvPr>
          <p:cNvPicPr>
            <a:picLocks noChangeAspect="1"/>
          </p:cNvPicPr>
          <p:nvPr/>
        </p:nvPicPr>
        <p:blipFill>
          <a:blip r:embed="rId29"/>
          <a:stretch>
            <a:fillRect/>
          </a:stretch>
        </p:blipFill>
        <p:spPr>
          <a:xfrm>
            <a:off x="6416162" y="5145146"/>
            <a:ext cx="225308" cy="225308"/>
          </a:xfrm>
          <a:prstGeom prst="rect">
            <a:avLst/>
          </a:prstGeom>
        </p:spPr>
      </p:pic>
      <p:sp>
        <p:nvSpPr>
          <p:cNvPr id="102" name="Text 71"/>
          <p:cNvSpPr txBox="1"/>
          <p:nvPr/>
        </p:nvSpPr>
        <p:spPr>
          <a:xfrm>
            <a:off x="6858000" y="5029200"/>
            <a:ext cx="4754880" cy="237744"/>
          </a:xfrm>
          <a:prstGeom prst="rect">
            <a:avLst/>
          </a:prstGeom>
          <a:noFill/>
          <a:ln/>
        </p:spPr>
        <p:txBody>
          <a:bodyPr wrap="square" lIns="0" tIns="0" rIns="0" bIns="0" rtlCol="0" anchor="t"/>
          <a:lstStyle/>
          <a:p>
            <a:pPr indent="0" marL="0">
              <a:buNone/>
            </a:pPr>
            <a:r>
              <a:rPr lang="en-US" sz="1050" b="1" dirty="0">
                <a:solidFill>
                  <a:srgbClr val="2B2B2B"/>
                </a:solidFill>
                <a:latin typeface="Calibri" pitchFamily="34" charset="0"/>
                <a:ea typeface="Calibri" pitchFamily="34" charset="-122"/>
                <a:cs typeface="Calibri" pitchFamily="34" charset="-120"/>
              </a:rPr>
              <a:t>Every override is reviewed</a:t>
            </a:r>
            <a:endParaRPr lang="en-US" sz="1050" dirty="0"/>
          </a:p>
        </p:txBody>
      </p:sp>
      <p:sp>
        <p:nvSpPr>
          <p:cNvPr id="103" name="Text 72"/>
          <p:cNvSpPr txBox="1"/>
          <p:nvPr/>
        </p:nvSpPr>
        <p:spPr>
          <a:xfrm>
            <a:off x="6858000" y="5266944"/>
            <a:ext cx="4754880" cy="219456"/>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weekly with the line and quality; the system improves from it</a:t>
            </a:r>
            <a:endParaRPr lang="en-US" sz="950" dirty="0"/>
          </a:p>
        </p:txBody>
      </p:sp>
      <p:sp>
        <p:nvSpPr>
          <p:cNvPr id="104" name="Text 73"/>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So we: </a:t>
            </a:r>
            <a:pPr indent="0" marL="0">
              <a:buNone/>
            </a:pPr>
            <a:r>
              <a:rPr lang="en-US" sz="1000" dirty="0">
                <a:solidFill>
                  <a:srgbClr val="1A1A1A"/>
                </a:solidFill>
                <a:latin typeface="Calibri" pitchFamily="34" charset="0"/>
                <a:ea typeface="Calibri" pitchFamily="34" charset="-122"/>
                <a:cs typeface="Calibri" pitchFamily="34" charset="-120"/>
              </a:rPr>
              <a:t>earn trust on the shift floor before the system is allowed to act.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B63831"/>
          </a:solidFill>
          <a:ln w="12700">
            <a:solidFill>
              <a:srgbClr val="B63831"/>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SOLUTION  ·  HOW IT WORKS</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software: vendor-grade capture, tuned to JSL's grades and wired to JSL's process owners.</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BUILT = working in our prototype today, live at surface-vision.github.io.</a:t>
            </a:r>
            <a:endParaRPr lang="en-US" sz="900" dirty="0"/>
          </a:p>
        </p:txBody>
      </p:sp>
      <p:sp>
        <p:nvSpPr>
          <p:cNvPr id="22" name="Shape 18"/>
          <p:cNvSpPr/>
          <p:nvPr/>
        </p:nvSpPr>
        <p:spPr>
          <a:xfrm>
            <a:off x="457200" y="1234440"/>
            <a:ext cx="11274552"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24" name="Shape 20"/>
          <p:cNvSpPr/>
          <p:nvPr/>
        </p:nvSpPr>
        <p:spPr>
          <a:xfrm>
            <a:off x="457200" y="1572768"/>
            <a:ext cx="1783080" cy="1188720"/>
          </a:xfrm>
          <a:prstGeom prst="roundRect">
            <a:avLst>
              <a:gd name="adj" fmla="val 4615"/>
            </a:avLst>
          </a:prstGeom>
          <a:solidFill>
            <a:srgbClr val="F3F3F3"/>
          </a:solidFill>
          <a:ln w="12700">
            <a:solidFill>
              <a:srgbClr val="F3F3F3"/>
            </a:solidFill>
            <a:prstDash val="solid"/>
          </a:ln>
        </p:spPr>
      </p:sp>
      <p:sp>
        <p:nvSpPr>
          <p:cNvPr id="25" name="Shape 21"/>
          <p:cNvSpPr/>
          <p:nvPr/>
        </p:nvSpPr>
        <p:spPr>
          <a:xfrm>
            <a:off x="566928" y="1627632"/>
            <a:ext cx="420624" cy="420624"/>
          </a:xfrm>
          <a:prstGeom prst="ellipse">
            <a:avLst/>
          </a:prstGeom>
          <a:solidFill>
            <a:srgbClr val="2B2B2B"/>
          </a:solidFill>
          <a:ln w="12700">
            <a:solidFill>
              <a:srgbClr val="2B2B2B"/>
            </a:solidFill>
            <a:prstDash val="solid"/>
          </a:ln>
        </p:spPr>
      </p:sp>
      <p:pic>
        <p:nvPicPr>
          <p:cNvPr id="26" name="Image 2" descr="img/icons/camera-white.png">    </p:cNvPr>
          <p:cNvPicPr>
            <a:picLocks noChangeAspect="1"/>
          </p:cNvPicPr>
          <p:nvPr/>
        </p:nvPicPr>
        <p:blipFill>
          <a:blip r:embed="rId3"/>
          <a:stretch>
            <a:fillRect/>
          </a:stretch>
        </p:blipFill>
        <p:spPr>
          <a:xfrm>
            <a:off x="659465" y="1720169"/>
            <a:ext cx="235549" cy="235549"/>
          </a:xfrm>
          <a:prstGeom prst="rect">
            <a:avLst/>
          </a:prstGeom>
        </p:spPr>
      </p:pic>
      <p:sp>
        <p:nvSpPr>
          <p:cNvPr id="27" name="Text 22"/>
          <p:cNvSpPr txBox="1"/>
          <p:nvPr/>
        </p:nvSpPr>
        <p:spPr>
          <a:xfrm>
            <a:off x="1060704"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Capture</a:t>
            </a:r>
            <a:endParaRPr lang="en-US" sz="1200" dirty="0"/>
          </a:p>
        </p:txBody>
      </p:sp>
      <p:sp>
        <p:nvSpPr>
          <p:cNvPr id="28" name="Text 23"/>
          <p:cNvSpPr txBox="1"/>
          <p:nvPr/>
        </p:nvSpPr>
        <p:spPr>
          <a:xfrm>
            <a:off x="566928"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Both faces, bright + dark-field light, 0.2 mm detail</a:t>
            </a:r>
            <a:endParaRPr lang="en-US" sz="900" dirty="0"/>
          </a:p>
        </p:txBody>
      </p:sp>
      <p:sp>
        <p:nvSpPr>
          <p:cNvPr id="29" name="Shape 24"/>
          <p:cNvSpPr/>
          <p:nvPr/>
        </p:nvSpPr>
        <p:spPr>
          <a:xfrm>
            <a:off x="566928" y="2505456"/>
            <a:ext cx="822960" cy="201168"/>
          </a:xfrm>
          <a:prstGeom prst="roundRect">
            <a:avLst>
              <a:gd name="adj" fmla="val 27273"/>
            </a:avLst>
          </a:prstGeom>
          <a:solidFill>
            <a:srgbClr val="6E6E6E"/>
          </a:solidFill>
          <a:ln w="12700">
            <a:solidFill>
              <a:srgbClr val="6E6E6E"/>
            </a:solidFill>
            <a:prstDash val="solid"/>
          </a:ln>
        </p:spPr>
      </p:sp>
      <p:sp>
        <p:nvSpPr>
          <p:cNvPr id="30" name="Text 25"/>
          <p:cNvSpPr txBox="1"/>
          <p:nvPr/>
        </p:nvSpPr>
        <p:spPr>
          <a:xfrm>
            <a:off x="566928"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31" name="Shape 26"/>
          <p:cNvSpPr/>
          <p:nvPr/>
        </p:nvSpPr>
        <p:spPr>
          <a:xfrm>
            <a:off x="2253996" y="2011680"/>
            <a:ext cx="91440" cy="201168"/>
          </a:xfrm>
          <a:prstGeom prst="chevron">
            <a:avLst/>
          </a:prstGeom>
          <a:solidFill>
            <a:srgbClr val="D2651F"/>
          </a:solidFill>
          <a:ln w="12700">
            <a:solidFill>
              <a:srgbClr val="D2651F"/>
            </a:solidFill>
            <a:prstDash val="solid"/>
          </a:ln>
        </p:spPr>
      </p:sp>
      <p:sp>
        <p:nvSpPr>
          <p:cNvPr id="32" name="Shape 27"/>
          <p:cNvSpPr/>
          <p:nvPr/>
        </p:nvSpPr>
        <p:spPr>
          <a:xfrm>
            <a:off x="2355494" y="1572768"/>
            <a:ext cx="1783080" cy="1188720"/>
          </a:xfrm>
          <a:prstGeom prst="roundRect">
            <a:avLst>
              <a:gd name="adj" fmla="val 4615"/>
            </a:avLst>
          </a:prstGeom>
          <a:solidFill>
            <a:srgbClr val="F3F3F3"/>
          </a:solidFill>
          <a:ln w="12700">
            <a:solidFill>
              <a:srgbClr val="F3F3F3"/>
            </a:solidFill>
            <a:prstDash val="solid"/>
          </a:ln>
        </p:spPr>
      </p:sp>
      <p:sp>
        <p:nvSpPr>
          <p:cNvPr id="33" name="Shape 28"/>
          <p:cNvSpPr/>
          <p:nvPr/>
        </p:nvSpPr>
        <p:spPr>
          <a:xfrm>
            <a:off x="2465222" y="1627632"/>
            <a:ext cx="420624" cy="420624"/>
          </a:xfrm>
          <a:prstGeom prst="ellipse">
            <a:avLst/>
          </a:prstGeom>
          <a:solidFill>
            <a:srgbClr val="2B2B2B"/>
          </a:solidFill>
          <a:ln w="12700">
            <a:solidFill>
              <a:srgbClr val="2B2B2B"/>
            </a:solidFill>
            <a:prstDash val="solid"/>
          </a:ln>
        </p:spPr>
      </p:sp>
      <p:pic>
        <p:nvPicPr>
          <p:cNvPr id="34" name="Image 3" descr="img/icons/shield-check-white.png">    </p:cNvPr>
          <p:cNvPicPr>
            <a:picLocks noChangeAspect="1"/>
          </p:cNvPicPr>
          <p:nvPr/>
        </p:nvPicPr>
        <p:blipFill>
          <a:blip r:embed="rId4"/>
          <a:stretch>
            <a:fillRect/>
          </a:stretch>
        </p:blipFill>
        <p:spPr>
          <a:xfrm>
            <a:off x="2557760" y="1720169"/>
            <a:ext cx="235549" cy="235549"/>
          </a:xfrm>
          <a:prstGeom prst="rect">
            <a:avLst/>
          </a:prstGeom>
        </p:spPr>
      </p:pic>
      <p:sp>
        <p:nvSpPr>
          <p:cNvPr id="35" name="Text 29"/>
          <p:cNvSpPr txBox="1"/>
          <p:nvPr/>
        </p:nvSpPr>
        <p:spPr>
          <a:xfrm>
            <a:off x="2958998"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Check</a:t>
            </a:r>
            <a:endParaRPr lang="en-US" sz="1200" dirty="0"/>
          </a:p>
        </p:txBody>
      </p:sp>
      <p:sp>
        <p:nvSpPr>
          <p:cNvPr id="36" name="Text 30"/>
          <p:cNvSpPr txBox="1"/>
          <p:nvPr/>
        </p:nvSpPr>
        <p:spPr>
          <a:xfrm>
            <a:off x="2465222"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Is it usable steel? If not, skip it</a:t>
            </a:r>
            <a:endParaRPr lang="en-US" sz="900" dirty="0"/>
          </a:p>
        </p:txBody>
      </p:sp>
      <p:sp>
        <p:nvSpPr>
          <p:cNvPr id="37" name="Shape 31"/>
          <p:cNvSpPr/>
          <p:nvPr/>
        </p:nvSpPr>
        <p:spPr>
          <a:xfrm>
            <a:off x="2465222" y="2505456"/>
            <a:ext cx="822960" cy="201168"/>
          </a:xfrm>
          <a:prstGeom prst="roundRect">
            <a:avLst>
              <a:gd name="adj" fmla="val 27273"/>
            </a:avLst>
          </a:prstGeom>
          <a:solidFill>
            <a:srgbClr val="2E7D32"/>
          </a:solidFill>
          <a:ln w="12700">
            <a:solidFill>
              <a:srgbClr val="2E7D32"/>
            </a:solidFill>
            <a:prstDash val="solid"/>
          </a:ln>
        </p:spPr>
      </p:sp>
      <p:sp>
        <p:nvSpPr>
          <p:cNvPr id="38" name="Text 32"/>
          <p:cNvSpPr txBox="1"/>
          <p:nvPr/>
        </p:nvSpPr>
        <p:spPr>
          <a:xfrm>
            <a:off x="2465222"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9" name="Shape 33"/>
          <p:cNvSpPr/>
          <p:nvPr/>
        </p:nvSpPr>
        <p:spPr>
          <a:xfrm>
            <a:off x="4152290" y="2011680"/>
            <a:ext cx="91440" cy="201168"/>
          </a:xfrm>
          <a:prstGeom prst="chevron">
            <a:avLst/>
          </a:prstGeom>
          <a:solidFill>
            <a:srgbClr val="D2651F"/>
          </a:solidFill>
          <a:ln w="12700">
            <a:solidFill>
              <a:srgbClr val="D2651F"/>
            </a:solidFill>
            <a:prstDash val="solid"/>
          </a:ln>
        </p:spPr>
      </p:sp>
      <p:sp>
        <p:nvSpPr>
          <p:cNvPr id="40" name="Shape 34"/>
          <p:cNvSpPr/>
          <p:nvPr/>
        </p:nvSpPr>
        <p:spPr>
          <a:xfrm>
            <a:off x="4253789" y="1572768"/>
            <a:ext cx="1783080" cy="1188720"/>
          </a:xfrm>
          <a:prstGeom prst="roundRect">
            <a:avLst>
              <a:gd name="adj" fmla="val 4615"/>
            </a:avLst>
          </a:prstGeom>
          <a:solidFill>
            <a:srgbClr val="F3F3F3"/>
          </a:solidFill>
          <a:ln w="12700">
            <a:solidFill>
              <a:srgbClr val="F3F3F3"/>
            </a:solidFill>
            <a:prstDash val="solid"/>
          </a:ln>
        </p:spPr>
      </p:sp>
      <p:sp>
        <p:nvSpPr>
          <p:cNvPr id="41" name="Shape 35"/>
          <p:cNvSpPr/>
          <p:nvPr/>
        </p:nvSpPr>
        <p:spPr>
          <a:xfrm>
            <a:off x="4363517" y="1627632"/>
            <a:ext cx="420624" cy="420624"/>
          </a:xfrm>
          <a:prstGeom prst="ellipse">
            <a:avLst/>
          </a:prstGeom>
          <a:solidFill>
            <a:srgbClr val="2B2B2B"/>
          </a:solidFill>
          <a:ln w="12700">
            <a:solidFill>
              <a:srgbClr val="2B2B2B"/>
            </a:solidFill>
            <a:prstDash val="solid"/>
          </a:ln>
        </p:spPr>
      </p:sp>
      <p:pic>
        <p:nvPicPr>
          <p:cNvPr id="42" name="Image 4" descr="img/icons/scan-search-white.png">    </p:cNvPr>
          <p:cNvPicPr>
            <a:picLocks noChangeAspect="1"/>
          </p:cNvPicPr>
          <p:nvPr/>
        </p:nvPicPr>
        <p:blipFill>
          <a:blip r:embed="rId5"/>
          <a:stretch>
            <a:fillRect/>
          </a:stretch>
        </p:blipFill>
        <p:spPr>
          <a:xfrm>
            <a:off x="4456054" y="1720169"/>
            <a:ext cx="235549" cy="235549"/>
          </a:xfrm>
          <a:prstGeom prst="rect">
            <a:avLst/>
          </a:prstGeom>
        </p:spPr>
      </p:pic>
      <p:sp>
        <p:nvSpPr>
          <p:cNvPr id="43" name="Text 36"/>
          <p:cNvSpPr txBox="1"/>
          <p:nvPr/>
        </p:nvSpPr>
        <p:spPr>
          <a:xfrm>
            <a:off x="4857293"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Detect</a:t>
            </a:r>
            <a:endParaRPr lang="en-US" sz="1200" dirty="0"/>
          </a:p>
        </p:txBody>
      </p:sp>
      <p:sp>
        <p:nvSpPr>
          <p:cNvPr id="44" name="Text 37"/>
          <p:cNvSpPr txBox="1"/>
          <p:nvPr/>
        </p:nvSpPr>
        <p:spPr>
          <a:xfrm>
            <a:off x="4363517"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Find and classify every defect</a:t>
            </a:r>
            <a:endParaRPr lang="en-US" sz="900" dirty="0"/>
          </a:p>
        </p:txBody>
      </p:sp>
      <p:sp>
        <p:nvSpPr>
          <p:cNvPr id="45" name="Shape 38"/>
          <p:cNvSpPr/>
          <p:nvPr/>
        </p:nvSpPr>
        <p:spPr>
          <a:xfrm>
            <a:off x="4363517" y="2505456"/>
            <a:ext cx="822960" cy="201168"/>
          </a:xfrm>
          <a:prstGeom prst="roundRect">
            <a:avLst>
              <a:gd name="adj" fmla="val 27273"/>
            </a:avLst>
          </a:prstGeom>
          <a:solidFill>
            <a:srgbClr val="2E7D32"/>
          </a:solidFill>
          <a:ln w="12700">
            <a:solidFill>
              <a:srgbClr val="2E7D32"/>
            </a:solidFill>
            <a:prstDash val="solid"/>
          </a:ln>
        </p:spPr>
      </p:sp>
      <p:sp>
        <p:nvSpPr>
          <p:cNvPr id="46" name="Text 39"/>
          <p:cNvSpPr txBox="1"/>
          <p:nvPr/>
        </p:nvSpPr>
        <p:spPr>
          <a:xfrm>
            <a:off x="4363517"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7" name="Shape 40"/>
          <p:cNvSpPr/>
          <p:nvPr/>
        </p:nvSpPr>
        <p:spPr>
          <a:xfrm>
            <a:off x="6050585" y="2011680"/>
            <a:ext cx="91440" cy="201168"/>
          </a:xfrm>
          <a:prstGeom prst="chevron">
            <a:avLst/>
          </a:prstGeom>
          <a:solidFill>
            <a:srgbClr val="D2651F"/>
          </a:solidFill>
          <a:ln w="12700">
            <a:solidFill>
              <a:srgbClr val="D2651F"/>
            </a:solidFill>
            <a:prstDash val="solid"/>
          </a:ln>
        </p:spPr>
      </p:sp>
      <p:sp>
        <p:nvSpPr>
          <p:cNvPr id="48" name="Shape 41"/>
          <p:cNvSpPr/>
          <p:nvPr/>
        </p:nvSpPr>
        <p:spPr>
          <a:xfrm>
            <a:off x="6152083" y="1572768"/>
            <a:ext cx="1783080" cy="1188720"/>
          </a:xfrm>
          <a:prstGeom prst="roundRect">
            <a:avLst>
              <a:gd name="adj" fmla="val 4615"/>
            </a:avLst>
          </a:prstGeom>
          <a:solidFill>
            <a:srgbClr val="F3F3F3"/>
          </a:solidFill>
          <a:ln w="12700">
            <a:solidFill>
              <a:srgbClr val="F3F3F3"/>
            </a:solidFill>
            <a:prstDash val="solid"/>
          </a:ln>
        </p:spPr>
      </p:sp>
      <p:sp>
        <p:nvSpPr>
          <p:cNvPr id="49" name="Shape 42"/>
          <p:cNvSpPr/>
          <p:nvPr/>
        </p:nvSpPr>
        <p:spPr>
          <a:xfrm>
            <a:off x="6261811" y="1627632"/>
            <a:ext cx="420624" cy="420624"/>
          </a:xfrm>
          <a:prstGeom prst="ellipse">
            <a:avLst/>
          </a:prstGeom>
          <a:solidFill>
            <a:srgbClr val="2B2B2B"/>
          </a:solidFill>
          <a:ln w="12700">
            <a:solidFill>
              <a:srgbClr val="2B2B2B"/>
            </a:solidFill>
            <a:prstDash val="solid"/>
          </a:ln>
        </p:spPr>
      </p:sp>
      <p:pic>
        <p:nvPicPr>
          <p:cNvPr id="50" name="Image 5" descr="img/icons/gauge-white.png">    </p:cNvPr>
          <p:cNvPicPr>
            <a:picLocks noChangeAspect="1"/>
          </p:cNvPicPr>
          <p:nvPr/>
        </p:nvPicPr>
        <p:blipFill>
          <a:blip r:embed="rId6"/>
          <a:stretch>
            <a:fillRect/>
          </a:stretch>
        </p:blipFill>
        <p:spPr>
          <a:xfrm>
            <a:off x="6354348" y="1720169"/>
            <a:ext cx="235549" cy="235549"/>
          </a:xfrm>
          <a:prstGeom prst="rect">
            <a:avLst/>
          </a:prstGeom>
        </p:spPr>
      </p:pic>
      <p:sp>
        <p:nvSpPr>
          <p:cNvPr id="51" name="Text 43"/>
          <p:cNvSpPr txBox="1"/>
          <p:nvPr/>
        </p:nvSpPr>
        <p:spPr>
          <a:xfrm>
            <a:off x="6755587"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Score</a:t>
            </a:r>
            <a:endParaRPr lang="en-US" sz="1200" dirty="0"/>
          </a:p>
        </p:txBody>
      </p:sp>
      <p:sp>
        <p:nvSpPr>
          <p:cNvPr id="52" name="Text 44"/>
          <p:cNvSpPr txBox="1"/>
          <p:nvPr/>
        </p:nvSpPr>
        <p:spPr>
          <a:xfrm>
            <a:off x="6261811"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Confidence, severity 0-100, coil position</a:t>
            </a:r>
            <a:endParaRPr lang="en-US" sz="900" dirty="0"/>
          </a:p>
        </p:txBody>
      </p:sp>
      <p:sp>
        <p:nvSpPr>
          <p:cNvPr id="53" name="Shape 45"/>
          <p:cNvSpPr/>
          <p:nvPr/>
        </p:nvSpPr>
        <p:spPr>
          <a:xfrm>
            <a:off x="6261811" y="2505456"/>
            <a:ext cx="822960" cy="201168"/>
          </a:xfrm>
          <a:prstGeom prst="roundRect">
            <a:avLst>
              <a:gd name="adj" fmla="val 27273"/>
            </a:avLst>
          </a:prstGeom>
          <a:solidFill>
            <a:srgbClr val="2E7D32"/>
          </a:solidFill>
          <a:ln w="12700">
            <a:solidFill>
              <a:srgbClr val="2E7D32"/>
            </a:solidFill>
            <a:prstDash val="solid"/>
          </a:ln>
        </p:spPr>
      </p:sp>
      <p:sp>
        <p:nvSpPr>
          <p:cNvPr id="54" name="Text 46"/>
          <p:cNvSpPr txBox="1"/>
          <p:nvPr/>
        </p:nvSpPr>
        <p:spPr>
          <a:xfrm>
            <a:off x="6261811"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5" name="Shape 47"/>
          <p:cNvSpPr/>
          <p:nvPr/>
        </p:nvSpPr>
        <p:spPr>
          <a:xfrm>
            <a:off x="7948879" y="2011680"/>
            <a:ext cx="91440" cy="201168"/>
          </a:xfrm>
          <a:prstGeom prst="chevron">
            <a:avLst/>
          </a:prstGeom>
          <a:solidFill>
            <a:srgbClr val="D2651F"/>
          </a:solidFill>
          <a:ln w="12700">
            <a:solidFill>
              <a:srgbClr val="D2651F"/>
            </a:solidFill>
            <a:prstDash val="solid"/>
          </a:ln>
        </p:spPr>
      </p:sp>
      <p:sp>
        <p:nvSpPr>
          <p:cNvPr id="56" name="Shape 48"/>
          <p:cNvSpPr/>
          <p:nvPr/>
        </p:nvSpPr>
        <p:spPr>
          <a:xfrm>
            <a:off x="8050378" y="1572768"/>
            <a:ext cx="1783080" cy="1188720"/>
          </a:xfrm>
          <a:prstGeom prst="roundRect">
            <a:avLst>
              <a:gd name="adj" fmla="val 4615"/>
            </a:avLst>
          </a:prstGeom>
          <a:solidFill>
            <a:srgbClr val="F3F3F3"/>
          </a:solidFill>
          <a:ln w="12700">
            <a:solidFill>
              <a:srgbClr val="F3F3F3"/>
            </a:solidFill>
            <a:prstDash val="solid"/>
          </a:ln>
        </p:spPr>
      </p:sp>
      <p:sp>
        <p:nvSpPr>
          <p:cNvPr id="57" name="Shape 49"/>
          <p:cNvSpPr/>
          <p:nvPr/>
        </p:nvSpPr>
        <p:spPr>
          <a:xfrm>
            <a:off x="8160106" y="1627632"/>
            <a:ext cx="420624" cy="420624"/>
          </a:xfrm>
          <a:prstGeom prst="ellipse">
            <a:avLst/>
          </a:prstGeom>
          <a:solidFill>
            <a:srgbClr val="2B2B2B"/>
          </a:solidFill>
          <a:ln w="12700">
            <a:solidFill>
              <a:srgbClr val="2B2B2B"/>
            </a:solidFill>
            <a:prstDash val="solid"/>
          </a:ln>
        </p:spPr>
      </p:sp>
      <p:pic>
        <p:nvPicPr>
          <p:cNvPr id="58" name="Image 6" descr="img/icons/split-white.png">    </p:cNvPr>
          <p:cNvPicPr>
            <a:picLocks noChangeAspect="1"/>
          </p:cNvPicPr>
          <p:nvPr/>
        </p:nvPicPr>
        <p:blipFill>
          <a:blip r:embed="rId7"/>
          <a:stretch>
            <a:fillRect/>
          </a:stretch>
        </p:blipFill>
        <p:spPr>
          <a:xfrm>
            <a:off x="8252643" y="1720169"/>
            <a:ext cx="235549" cy="235549"/>
          </a:xfrm>
          <a:prstGeom prst="rect">
            <a:avLst/>
          </a:prstGeom>
        </p:spPr>
      </p:pic>
      <p:sp>
        <p:nvSpPr>
          <p:cNvPr id="59" name="Text 50"/>
          <p:cNvSpPr txBox="1"/>
          <p:nvPr/>
        </p:nvSpPr>
        <p:spPr>
          <a:xfrm>
            <a:off x="8653882"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Decide</a:t>
            </a:r>
            <a:endParaRPr lang="en-US" sz="1200" dirty="0"/>
          </a:p>
        </p:txBody>
      </p:sp>
      <p:sp>
        <p:nvSpPr>
          <p:cNvPr id="60" name="Text 51"/>
          <p:cNvSpPr txBox="1"/>
          <p:nvPr/>
        </p:nvSpPr>
        <p:spPr>
          <a:xfrm>
            <a:off x="8160106"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Accept, downgrade or hold, per grade</a:t>
            </a:r>
            <a:endParaRPr lang="en-US" sz="900" dirty="0"/>
          </a:p>
        </p:txBody>
      </p:sp>
      <p:sp>
        <p:nvSpPr>
          <p:cNvPr id="61" name="Shape 52"/>
          <p:cNvSpPr/>
          <p:nvPr/>
        </p:nvSpPr>
        <p:spPr>
          <a:xfrm>
            <a:off x="8160106" y="2505456"/>
            <a:ext cx="822960" cy="201168"/>
          </a:xfrm>
          <a:prstGeom prst="roundRect">
            <a:avLst>
              <a:gd name="adj" fmla="val 27273"/>
            </a:avLst>
          </a:prstGeom>
          <a:solidFill>
            <a:srgbClr val="C99700"/>
          </a:solidFill>
          <a:ln w="12700">
            <a:solidFill>
              <a:srgbClr val="C99700"/>
            </a:solidFill>
            <a:prstDash val="solid"/>
          </a:ln>
        </p:spPr>
      </p:sp>
      <p:sp>
        <p:nvSpPr>
          <p:cNvPr id="62" name="Text 53"/>
          <p:cNvSpPr txBox="1"/>
          <p:nvPr/>
        </p:nvSpPr>
        <p:spPr>
          <a:xfrm>
            <a:off x="8160106"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63" name="Shape 54"/>
          <p:cNvSpPr/>
          <p:nvPr/>
        </p:nvSpPr>
        <p:spPr>
          <a:xfrm>
            <a:off x="9847174" y="2011680"/>
            <a:ext cx="91440" cy="201168"/>
          </a:xfrm>
          <a:prstGeom prst="chevron">
            <a:avLst/>
          </a:prstGeom>
          <a:solidFill>
            <a:srgbClr val="D2651F"/>
          </a:solidFill>
          <a:ln w="12700">
            <a:solidFill>
              <a:srgbClr val="D2651F"/>
            </a:solidFill>
            <a:prstDash val="solid"/>
          </a:ln>
        </p:spPr>
      </p:sp>
      <p:sp>
        <p:nvSpPr>
          <p:cNvPr id="64" name="Shape 55"/>
          <p:cNvSpPr/>
          <p:nvPr/>
        </p:nvSpPr>
        <p:spPr>
          <a:xfrm>
            <a:off x="9948672" y="1572768"/>
            <a:ext cx="1783080" cy="1188720"/>
          </a:xfrm>
          <a:prstGeom prst="roundRect">
            <a:avLst>
              <a:gd name="adj" fmla="val 4615"/>
            </a:avLst>
          </a:prstGeom>
          <a:solidFill>
            <a:srgbClr val="FDEFE4"/>
          </a:solidFill>
          <a:ln w="12700">
            <a:solidFill>
              <a:srgbClr val="FDEFE4"/>
            </a:solidFill>
            <a:prstDash val="solid"/>
          </a:ln>
        </p:spPr>
      </p:sp>
      <p:sp>
        <p:nvSpPr>
          <p:cNvPr id="65" name="Shape 56"/>
          <p:cNvSpPr/>
          <p:nvPr/>
        </p:nvSpPr>
        <p:spPr>
          <a:xfrm>
            <a:off x="10058400" y="1627632"/>
            <a:ext cx="420624" cy="420624"/>
          </a:xfrm>
          <a:prstGeom prst="ellipse">
            <a:avLst/>
          </a:prstGeom>
          <a:solidFill>
            <a:srgbClr val="2B2B2B"/>
          </a:solidFill>
          <a:ln w="12700">
            <a:solidFill>
              <a:srgbClr val="2B2B2B"/>
            </a:solidFill>
            <a:prstDash val="solid"/>
          </a:ln>
        </p:spPr>
      </p:sp>
      <p:pic>
        <p:nvPicPr>
          <p:cNvPr id="66" name="Image 7" descr="img/icons/refresh-cw-white.png">    </p:cNvPr>
          <p:cNvPicPr>
            <a:picLocks noChangeAspect="1"/>
          </p:cNvPicPr>
          <p:nvPr/>
        </p:nvPicPr>
        <p:blipFill>
          <a:blip r:embed="rId8"/>
          <a:stretch>
            <a:fillRect/>
          </a:stretch>
        </p:blipFill>
        <p:spPr>
          <a:xfrm>
            <a:off x="10150937" y="1720169"/>
            <a:ext cx="235549" cy="235549"/>
          </a:xfrm>
          <a:prstGeom prst="rect">
            <a:avLst/>
          </a:prstGeom>
        </p:spPr>
      </p:pic>
      <p:sp>
        <p:nvSpPr>
          <p:cNvPr id="67" name="Text 57"/>
          <p:cNvSpPr txBox="1"/>
          <p:nvPr/>
        </p:nvSpPr>
        <p:spPr>
          <a:xfrm>
            <a:off x="10552176" y="1627632"/>
            <a:ext cx="1143000" cy="420624"/>
          </a:xfrm>
          <a:prstGeom prst="rect">
            <a:avLst/>
          </a:prstGeom>
          <a:noFill/>
          <a:ln/>
        </p:spPr>
        <p:txBody>
          <a:bodyPr wrap="square" lIns="0" tIns="0" rIns="0" bIns="0" rtlCol="0" anchor="ctr"/>
          <a:lstStyle/>
          <a:p>
            <a:pPr indent="0" marL="0">
              <a:buNone/>
            </a:pPr>
            <a:r>
              <a:rPr lang="en-US" sz="1200" b="1" dirty="0">
                <a:solidFill>
                  <a:srgbClr val="2B2B2B"/>
                </a:solidFill>
                <a:latin typeface="Calibri" pitchFamily="34" charset="0"/>
                <a:ea typeface="Calibri" pitchFamily="34" charset="-122"/>
                <a:cs typeface="Calibri" pitchFamily="34" charset="-120"/>
              </a:rPr>
              <a:t>Act &amp; learn</a:t>
            </a:r>
            <a:endParaRPr lang="en-US" sz="1200" dirty="0"/>
          </a:p>
        </p:txBody>
      </p:sp>
      <p:sp>
        <p:nvSpPr>
          <p:cNvPr id="68" name="Text 58"/>
          <p:cNvSpPr txBox="1"/>
          <p:nvPr/>
        </p:nvSpPr>
        <p:spPr>
          <a:xfrm>
            <a:off x="10058400" y="2084832"/>
            <a:ext cx="1600200" cy="402336"/>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Alert, hold, work order; operator feedback improves it</a:t>
            </a:r>
            <a:endParaRPr lang="en-US" sz="900" dirty="0"/>
          </a:p>
        </p:txBody>
      </p:sp>
      <p:sp>
        <p:nvSpPr>
          <p:cNvPr id="69" name="Shape 59"/>
          <p:cNvSpPr/>
          <p:nvPr/>
        </p:nvSpPr>
        <p:spPr>
          <a:xfrm>
            <a:off x="10058400" y="2505456"/>
            <a:ext cx="822960" cy="201168"/>
          </a:xfrm>
          <a:prstGeom prst="roundRect">
            <a:avLst>
              <a:gd name="adj" fmla="val 27273"/>
            </a:avLst>
          </a:prstGeom>
          <a:solidFill>
            <a:srgbClr val="6E6E6E"/>
          </a:solidFill>
          <a:ln w="12700">
            <a:solidFill>
              <a:srgbClr val="6E6E6E"/>
            </a:solidFill>
            <a:prstDash val="solid"/>
          </a:ln>
        </p:spPr>
      </p:sp>
      <p:sp>
        <p:nvSpPr>
          <p:cNvPr id="70" name="Text 60"/>
          <p:cNvSpPr txBox="1"/>
          <p:nvPr/>
        </p:nvSpPr>
        <p:spPr>
          <a:xfrm>
            <a:off x="10058400"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71" name="Shape 61"/>
          <p:cNvSpPr/>
          <p:nvPr/>
        </p:nvSpPr>
        <p:spPr>
          <a:xfrm>
            <a:off x="457200" y="2816352"/>
            <a:ext cx="1783080" cy="45720"/>
          </a:xfrm>
          <a:prstGeom prst="rect">
            <a:avLst/>
          </a:prstGeom>
          <a:solidFill>
            <a:srgbClr val="6E6E6E"/>
          </a:solidFill>
          <a:ln w="12700">
            <a:solidFill>
              <a:srgbClr val="6E6E6E"/>
            </a:solidFill>
            <a:prstDash val="solid"/>
          </a:ln>
        </p:spPr>
      </p:sp>
      <p:sp>
        <p:nvSpPr>
          <p:cNvPr id="72" name="Text 62"/>
          <p:cNvSpPr txBox="1"/>
          <p:nvPr/>
        </p:nvSpPr>
        <p:spPr>
          <a:xfrm>
            <a:off x="457200" y="2871216"/>
            <a:ext cx="1783080" cy="219456"/>
          </a:xfrm>
          <a:prstGeom prst="rect">
            <a:avLst/>
          </a:prstGeom>
          <a:noFill/>
          <a:ln/>
        </p:spPr>
        <p:txBody>
          <a:bodyPr wrap="square" lIns="0" tIns="0" rIns="0" bIns="0" rtlCol="0" anchor="ctr"/>
          <a:lstStyle/>
          <a:p>
            <a:pPr algn="ctr" indent="0" marL="0">
              <a:buNone/>
            </a:pPr>
            <a:r>
              <a:rPr lang="en-US" sz="900" b="1" dirty="0">
                <a:solidFill>
                  <a:srgbClr val="6E6E6E"/>
                </a:solidFill>
                <a:latin typeface="Calibri" pitchFamily="34" charset="0"/>
                <a:ea typeface="Calibri" pitchFamily="34" charset="-122"/>
                <a:cs typeface="Calibri" pitchFamily="34" charset="-120"/>
              </a:rPr>
              <a:t>At the line: cameras, lights</a:t>
            </a:r>
            <a:endParaRPr lang="en-US" sz="900" dirty="0"/>
          </a:p>
        </p:txBody>
      </p:sp>
      <p:sp>
        <p:nvSpPr>
          <p:cNvPr id="73" name="Shape 63"/>
          <p:cNvSpPr/>
          <p:nvPr/>
        </p:nvSpPr>
        <p:spPr>
          <a:xfrm>
            <a:off x="2355494" y="2816352"/>
            <a:ext cx="5579669" cy="45720"/>
          </a:xfrm>
          <a:prstGeom prst="rect">
            <a:avLst/>
          </a:prstGeom>
          <a:solidFill>
            <a:srgbClr val="D2651F"/>
          </a:solidFill>
          <a:ln w="12700">
            <a:solidFill>
              <a:srgbClr val="D2651F"/>
            </a:solidFill>
            <a:prstDash val="solid"/>
          </a:ln>
        </p:spPr>
      </p:sp>
      <p:sp>
        <p:nvSpPr>
          <p:cNvPr id="74" name="Text 64"/>
          <p:cNvSpPr txBox="1"/>
          <p:nvPr/>
        </p:nvSpPr>
        <p:spPr>
          <a:xfrm>
            <a:off x="2355494" y="2871216"/>
            <a:ext cx="5579669" cy="219456"/>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Edge server beside the line, runs offline</a:t>
            </a:r>
            <a:endParaRPr lang="en-US" sz="900" dirty="0"/>
          </a:p>
        </p:txBody>
      </p:sp>
      <p:sp>
        <p:nvSpPr>
          <p:cNvPr id="75" name="Shape 65"/>
          <p:cNvSpPr/>
          <p:nvPr/>
        </p:nvSpPr>
        <p:spPr>
          <a:xfrm>
            <a:off x="8050378" y="2816352"/>
            <a:ext cx="1783080" cy="45720"/>
          </a:xfrm>
          <a:prstGeom prst="rect">
            <a:avLst/>
          </a:prstGeom>
          <a:solidFill>
            <a:srgbClr val="5C5C5C"/>
          </a:solidFill>
          <a:ln w="12700">
            <a:solidFill>
              <a:srgbClr val="5C5C5C"/>
            </a:solidFill>
            <a:prstDash val="solid"/>
          </a:ln>
        </p:spPr>
      </p:sp>
      <p:sp>
        <p:nvSpPr>
          <p:cNvPr id="76" name="Text 66"/>
          <p:cNvSpPr txBox="1"/>
          <p:nvPr/>
        </p:nvSpPr>
        <p:spPr>
          <a:xfrm>
            <a:off x="8050378" y="2871216"/>
            <a:ext cx="1783080" cy="219456"/>
          </a:xfrm>
          <a:prstGeom prst="rect">
            <a:avLst/>
          </a:prstGeom>
          <a:noFill/>
          <a:ln/>
        </p:spPr>
        <p:txBody>
          <a:bodyPr wrap="square" lIns="0" tIns="0" rIns="0" bIns="0" rtlCol="0" anchor="ctr"/>
          <a:lstStyle/>
          <a:p>
            <a:pPr algn="ctr" indent="0" marL="0">
              <a:buNone/>
            </a:pPr>
            <a:r>
              <a:rPr lang="en-US" sz="900" b="1" dirty="0">
                <a:solidFill>
                  <a:srgbClr val="5C5C5C"/>
                </a:solidFill>
                <a:latin typeface="Calibri" pitchFamily="34" charset="0"/>
                <a:ea typeface="Calibri" pitchFamily="34" charset="-122"/>
                <a:cs typeface="Calibri" pitchFamily="34" charset="-120"/>
              </a:rPr>
              <a:t>Plant network (IEC 62443)</a:t>
            </a:r>
            <a:endParaRPr lang="en-US" sz="900" dirty="0"/>
          </a:p>
        </p:txBody>
      </p:sp>
      <p:sp>
        <p:nvSpPr>
          <p:cNvPr id="77" name="Shape 67"/>
          <p:cNvSpPr/>
          <p:nvPr/>
        </p:nvSpPr>
        <p:spPr>
          <a:xfrm>
            <a:off x="9948672" y="2816352"/>
            <a:ext cx="1783080" cy="45720"/>
          </a:xfrm>
          <a:prstGeom prst="rect">
            <a:avLst/>
          </a:prstGeom>
          <a:solidFill>
            <a:srgbClr val="2B2B2B"/>
          </a:solidFill>
          <a:ln w="12700">
            <a:solidFill>
              <a:srgbClr val="2B2B2B"/>
            </a:solidFill>
            <a:prstDash val="solid"/>
          </a:ln>
        </p:spPr>
      </p:sp>
      <p:sp>
        <p:nvSpPr>
          <p:cNvPr id="78" name="Text 68"/>
          <p:cNvSpPr txBox="1"/>
          <p:nvPr/>
        </p:nvSpPr>
        <p:spPr>
          <a:xfrm>
            <a:off x="9948672" y="2871216"/>
            <a:ext cx="1783080" cy="219456"/>
          </a:xfrm>
          <a:prstGeom prst="rect">
            <a:avLst/>
          </a:prstGeom>
          <a:noFill/>
          <a:ln/>
        </p:spPr>
        <p:txBody>
          <a:bodyPr wrap="square" lIns="0" tIns="0" rIns="0" bIns="0" rtlCol="0" anchor="ctr"/>
          <a:lstStyle/>
          <a:p>
            <a:pPr algn="ctr" indent="0" marL="0">
              <a:buNone/>
            </a:pPr>
            <a:r>
              <a:rPr lang="en-US" sz="900" b="1" dirty="0">
                <a:solidFill>
                  <a:srgbClr val="2B2B2B"/>
                </a:solidFill>
                <a:latin typeface="Calibri" pitchFamily="34" charset="0"/>
                <a:ea typeface="Calibri" pitchFamily="34" charset="-122"/>
                <a:cs typeface="Calibri" pitchFamily="34" charset="-120"/>
              </a:rPr>
              <a:t>People: screen, work orders</a:t>
            </a:r>
            <a:endParaRPr lang="en-US" sz="900" dirty="0"/>
          </a:p>
        </p:txBody>
      </p:sp>
      <p:sp>
        <p:nvSpPr>
          <p:cNvPr id="79" name="Shape 69"/>
          <p:cNvSpPr/>
          <p:nvPr/>
        </p:nvSpPr>
        <p:spPr>
          <a:xfrm>
            <a:off x="457200" y="3218688"/>
            <a:ext cx="3429000" cy="274320"/>
          </a:xfrm>
          <a:prstGeom prst="rect">
            <a:avLst/>
          </a:prstGeom>
          <a:solidFill>
            <a:srgbClr val="E4803A"/>
          </a:solidFill>
          <a:ln w="12700">
            <a:solidFill>
              <a:srgbClr val="E4803A"/>
            </a:solidFill>
            <a:prstDash val="solid"/>
          </a:ln>
        </p:spPr>
      </p:sp>
      <p:sp>
        <p:nvSpPr>
          <p:cNvPr id="80" name="Text 70"/>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81" name="Shape 71"/>
          <p:cNvSpPr/>
          <p:nvPr/>
        </p:nvSpPr>
        <p:spPr>
          <a:xfrm>
            <a:off x="457200" y="3493008"/>
            <a:ext cx="3429000" cy="2395728"/>
          </a:xfrm>
          <a:prstGeom prst="roundRect">
            <a:avLst>
              <a:gd name="adj" fmla="val 2290"/>
            </a:avLst>
          </a:prstGeom>
          <a:solidFill>
            <a:srgbClr val="F3F3F3"/>
          </a:solidFill>
          <a:ln w="12700">
            <a:solidFill>
              <a:srgbClr val="F3F3F3"/>
            </a:solidFill>
            <a:prstDash val="solid"/>
          </a:ln>
        </p:spPr>
      </p:sp>
      <p:pic>
        <p:nvPicPr>
          <p:cNvPr id="82" name="Image 8" descr="img/det_scratches.png">    </p:cNvPr>
          <p:cNvPicPr>
            <a:picLocks noChangeAspect="1"/>
          </p:cNvPicPr>
          <p:nvPr/>
        </p:nvPicPr>
        <p:blipFill>
          <a:blip r:embed="rId9"/>
          <a:stretch>
            <a:fillRect/>
          </a:stretch>
        </p:blipFill>
        <p:spPr>
          <a:xfrm>
            <a:off x="566928" y="3593592"/>
            <a:ext cx="1828800" cy="1828800"/>
          </a:xfrm>
          <a:prstGeom prst="rect">
            <a:avLst/>
          </a:prstGeom>
        </p:spPr>
      </p:pic>
      <p:sp>
        <p:nvSpPr>
          <p:cNvPr id="83" name="Text 72"/>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Upload a strip image, get:
</a:t>
            </a:r>
            <a:pPr indent="0" marL="0">
              <a:buNone/>
            </a:pPr>
            <a:r>
              <a:rPr lang="en-US" sz="950" dirty="0">
                <a:solidFill>
                  <a:srgbClr val="40404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404040"/>
                </a:solidFill>
                <a:latin typeface="Calibri" pitchFamily="34" charset="0"/>
                <a:ea typeface="Calibri" pitchFamily="34" charset="-122"/>
                <a:cs typeface="Calibri" pitchFamily="34" charset="-120"/>
              </a:rPr>
              <a:t>•  severity score</a:t>
            </a:r>
            <a:endParaRPr lang="en-US" sz="950" dirty="0"/>
          </a:p>
        </p:txBody>
      </p:sp>
      <p:sp>
        <p:nvSpPr>
          <p:cNvPr id="84" name="Text 73"/>
          <p:cNvSpPr txBox="1"/>
          <p:nvPr/>
        </p:nvSpPr>
        <p:spPr>
          <a:xfrm>
            <a:off x="2487168" y="4846320"/>
            <a:ext cx="1371600" cy="603504"/>
          </a:xfrm>
          <a:prstGeom prst="rect">
            <a:avLst/>
          </a:prstGeom>
          <a:noFill/>
          <a:ln/>
        </p:spPr>
        <p:txBody>
          <a:bodyPr wrap="square" lIns="0" tIns="0" rIns="0" bIns="0" rtlCol="0" anchor="t"/>
          <a:lstStyle/>
          <a:p>
            <a:pPr indent="0" marL="0">
              <a:buNone/>
            </a:pPr>
            <a:r>
              <a:rPr lang="en-US" sz="900" b="1" dirty="0">
                <a:solidFill>
                  <a:srgbClr val="2B2B2B"/>
                </a:solidFill>
                <a:latin typeface="Calibri" pitchFamily="34" charset="0"/>
                <a:ea typeface="Calibri" pitchFamily="34" charset="-122"/>
                <a:cs typeface="Calibri" pitchFamily="34" charset="-120"/>
              </a:rPr>
              <a:t>16 samples built in</a:t>
            </a:r>
            <a:pPr indent="0" marL="0">
              <a:buNone/>
            </a:pPr>
            <a:r>
              <a:rPr lang="en-US" sz="900" dirty="0">
                <a:solidFill>
                  <a:srgbClr val="404040"/>
                </a:solidFill>
                <a:latin typeface="Calibri" pitchFamily="34" charset="0"/>
                <a:ea typeface="Calibri" pitchFamily="34" charset="-122"/>
                <a:cs typeface="Calibri" pitchFamily="34" charset="-120"/>
              </a:rPr>
              <a:t>, including clean mill strip. Or drop your own photo.</a:t>
            </a:r>
            <a:endParaRPr lang="en-US" sz="900" dirty="0"/>
          </a:p>
        </p:txBody>
      </p:sp>
      <p:sp>
        <p:nvSpPr>
          <p:cNvPr id="85" name="Text 74"/>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D2651F"/>
                </a:solidFill>
                <a:latin typeface="Calibri" pitchFamily="34" charset="0"/>
                <a:ea typeface="Calibri" pitchFamily="34" charset="-122"/>
                <a:cs typeface="Calibri" pitchFamily="34" charset="-120"/>
              </a:rPr>
              <a:t>surface-vision.github.io</a:t>
            </a:r>
            <a:pPr indent="0" marL="0">
              <a:buNone/>
            </a:pPr>
            <a:r>
              <a:rPr lang="en-US" sz="950" dirty="0">
                <a:solidFill>
                  <a:srgbClr val="6E6E6E"/>
                </a:solidFill>
                <a:latin typeface="Calibri" pitchFamily="34" charset="0"/>
                <a:ea typeface="Calibri" pitchFamily="34" charset="-122"/>
                <a:cs typeface="Calibri" pitchFamily="34" charset="-120"/>
              </a:rPr>
              <a:t>  runs in the browser</a:t>
            </a:r>
            <a:endParaRPr lang="en-US" sz="950" dirty="0"/>
          </a:p>
        </p:txBody>
      </p:sp>
      <p:sp>
        <p:nvSpPr>
          <p:cNvPr id="86" name="Shape 75"/>
          <p:cNvSpPr/>
          <p:nvPr/>
        </p:nvSpPr>
        <p:spPr>
          <a:xfrm>
            <a:off x="4041648" y="3218688"/>
            <a:ext cx="3749040" cy="274320"/>
          </a:xfrm>
          <a:prstGeom prst="rect">
            <a:avLst/>
          </a:prstGeom>
          <a:solidFill>
            <a:srgbClr val="E4803A"/>
          </a:solidFill>
          <a:ln w="12700">
            <a:solidFill>
              <a:srgbClr val="E4803A"/>
            </a:solidFill>
            <a:prstDash val="solid"/>
          </a:ln>
        </p:spPr>
      </p:sp>
      <p:sp>
        <p:nvSpPr>
          <p:cNvPr id="87" name="Text 76"/>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JSL gets that a standard system does not</a:t>
            </a:r>
            <a:endParaRPr lang="en-US" sz="1100" dirty="0"/>
          </a:p>
        </p:txBody>
      </p:sp>
      <p:sp>
        <p:nvSpPr>
          <p:cNvPr id="88" name="Shape 77"/>
          <p:cNvSpPr/>
          <p:nvPr/>
        </p:nvSpPr>
        <p:spPr>
          <a:xfrm>
            <a:off x="4114800" y="3611880"/>
            <a:ext cx="402336" cy="402336"/>
          </a:xfrm>
          <a:prstGeom prst="ellipse">
            <a:avLst/>
          </a:prstGeom>
          <a:solidFill>
            <a:srgbClr val="D2651F"/>
          </a:solidFill>
          <a:ln w="12700">
            <a:solidFill>
              <a:srgbClr val="D2651F"/>
            </a:solidFill>
            <a:prstDash val="solid"/>
          </a:ln>
        </p:spPr>
      </p:sp>
      <p:pic>
        <p:nvPicPr>
          <p:cNvPr id="89" name="Image 9" descr="img/icons/target-white.png">    </p:cNvPr>
          <p:cNvPicPr>
            <a:picLocks noChangeAspect="1"/>
          </p:cNvPicPr>
          <p:nvPr/>
        </p:nvPicPr>
        <p:blipFill>
          <a:blip r:embed="rId10"/>
          <a:stretch>
            <a:fillRect/>
          </a:stretch>
        </p:blipFill>
        <p:spPr>
          <a:xfrm>
            <a:off x="4203314" y="3700394"/>
            <a:ext cx="225308" cy="225308"/>
          </a:xfrm>
          <a:prstGeom prst="rect">
            <a:avLst/>
          </a:prstGeom>
        </p:spPr>
      </p:pic>
      <p:sp>
        <p:nvSpPr>
          <p:cNvPr id="90" name="Text 78"/>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2B2B2B"/>
                </a:solidFill>
                <a:latin typeface="Calibri" pitchFamily="34" charset="0"/>
                <a:ea typeface="Calibri" pitchFamily="34" charset="-122"/>
                <a:cs typeface="Calibri" pitchFamily="34" charset="-120"/>
              </a:rPr>
              <a:t>Alarms you can act on</a:t>
            </a:r>
            <a:endParaRPr lang="en-US" sz="1050" dirty="0"/>
          </a:p>
        </p:txBody>
      </p:sp>
      <p:sp>
        <p:nvSpPr>
          <p:cNvPr id="91" name="Text 79"/>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only 4.7% of clean strip raises one</a:t>
            </a:r>
            <a:endParaRPr lang="en-US" sz="950" dirty="0"/>
          </a:p>
        </p:txBody>
      </p:sp>
      <p:sp>
        <p:nvSpPr>
          <p:cNvPr id="92" name="Shape 80"/>
          <p:cNvSpPr/>
          <p:nvPr/>
        </p:nvSpPr>
        <p:spPr>
          <a:xfrm>
            <a:off x="4114800" y="4178808"/>
            <a:ext cx="402336" cy="402336"/>
          </a:xfrm>
          <a:prstGeom prst="ellipse">
            <a:avLst/>
          </a:prstGeom>
          <a:solidFill>
            <a:srgbClr val="D2651F"/>
          </a:solidFill>
          <a:ln w="12700">
            <a:solidFill>
              <a:srgbClr val="D2651F"/>
            </a:solidFill>
            <a:prstDash val="solid"/>
          </a:ln>
        </p:spPr>
      </p:sp>
      <p:pic>
        <p:nvPicPr>
          <p:cNvPr id="93" name="Image 10" descr="img/icons/split-white.png">    </p:cNvPr>
          <p:cNvPicPr>
            <a:picLocks noChangeAspect="1"/>
          </p:cNvPicPr>
          <p:nvPr/>
        </p:nvPicPr>
        <p:blipFill>
          <a:blip r:embed="rId11"/>
          <a:stretch>
            <a:fillRect/>
          </a:stretch>
        </p:blipFill>
        <p:spPr>
          <a:xfrm>
            <a:off x="4203314" y="4267322"/>
            <a:ext cx="225308" cy="225308"/>
          </a:xfrm>
          <a:prstGeom prst="rect">
            <a:avLst/>
          </a:prstGeom>
        </p:spPr>
      </p:pic>
      <p:sp>
        <p:nvSpPr>
          <p:cNvPr id="94" name="Text 81"/>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2B2B2B"/>
                </a:solidFill>
                <a:latin typeface="Calibri" pitchFamily="34" charset="0"/>
                <a:ea typeface="Calibri" pitchFamily="34" charset="-122"/>
                <a:cs typeface="Calibri" pitchFamily="34" charset="-120"/>
              </a:rPr>
              <a:t>Root-cause routing</a:t>
            </a:r>
            <a:endParaRPr lang="en-US" sz="1050" dirty="0"/>
          </a:p>
        </p:txBody>
      </p:sp>
      <p:sp>
        <p:nvSpPr>
          <p:cNvPr id="95" name="Text 82"/>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every alarm becomes a work order for its owner</a:t>
            </a:r>
            <a:endParaRPr lang="en-US" sz="950" dirty="0"/>
          </a:p>
        </p:txBody>
      </p:sp>
      <p:sp>
        <p:nvSpPr>
          <p:cNvPr id="96" name="Shape 83"/>
          <p:cNvSpPr/>
          <p:nvPr/>
        </p:nvSpPr>
        <p:spPr>
          <a:xfrm>
            <a:off x="4114800" y="4745736"/>
            <a:ext cx="402336" cy="402336"/>
          </a:xfrm>
          <a:prstGeom prst="ellipse">
            <a:avLst/>
          </a:prstGeom>
          <a:solidFill>
            <a:srgbClr val="D2651F"/>
          </a:solidFill>
          <a:ln w="12700">
            <a:solidFill>
              <a:srgbClr val="D2651F"/>
            </a:solidFill>
            <a:prstDash val="solid"/>
          </a:ln>
        </p:spPr>
      </p:sp>
      <p:pic>
        <p:nvPicPr>
          <p:cNvPr id="97" name="Image 11" descr="img/icons/layers-white.png">    </p:cNvPr>
          <p:cNvPicPr>
            <a:picLocks noChangeAspect="1"/>
          </p:cNvPicPr>
          <p:nvPr/>
        </p:nvPicPr>
        <p:blipFill>
          <a:blip r:embed="rId12"/>
          <a:stretch>
            <a:fillRect/>
          </a:stretch>
        </p:blipFill>
        <p:spPr>
          <a:xfrm>
            <a:off x="4203314" y="4834250"/>
            <a:ext cx="225308" cy="225308"/>
          </a:xfrm>
          <a:prstGeom prst="rect">
            <a:avLst/>
          </a:prstGeom>
        </p:spPr>
      </p:pic>
      <p:sp>
        <p:nvSpPr>
          <p:cNvPr id="98" name="Text 84"/>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2B2B2B"/>
                </a:solidFill>
                <a:latin typeface="Calibri" pitchFamily="34" charset="0"/>
                <a:ea typeface="Calibri" pitchFamily="34" charset="-122"/>
                <a:cs typeface="Calibri" pitchFamily="34" charset="-120"/>
              </a:rPr>
              <a:t>One verdict per coil</a:t>
            </a:r>
            <a:endParaRPr lang="en-US" sz="1050" dirty="0"/>
          </a:p>
        </p:txBody>
      </p:sp>
      <p:sp>
        <p:nvSpPr>
          <p:cNvPr id="99" name="Text 85"/>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accept, downgrade or hold, by grade and finish</a:t>
            </a:r>
            <a:endParaRPr lang="en-US" sz="950" dirty="0"/>
          </a:p>
        </p:txBody>
      </p:sp>
      <p:sp>
        <p:nvSpPr>
          <p:cNvPr id="100" name="Shape 86"/>
          <p:cNvSpPr/>
          <p:nvPr/>
        </p:nvSpPr>
        <p:spPr>
          <a:xfrm>
            <a:off x="4114800" y="5312664"/>
            <a:ext cx="402336" cy="402336"/>
          </a:xfrm>
          <a:prstGeom prst="ellipse">
            <a:avLst/>
          </a:prstGeom>
          <a:solidFill>
            <a:srgbClr val="D2651F"/>
          </a:solidFill>
          <a:ln w="12700">
            <a:solidFill>
              <a:srgbClr val="D2651F"/>
            </a:solidFill>
            <a:prstDash val="solid"/>
          </a:ln>
        </p:spPr>
      </p:sp>
      <p:pic>
        <p:nvPicPr>
          <p:cNvPr id="101" name="Image 12" descr="img/icons/shield-check-white.png">    </p:cNvPr>
          <p:cNvPicPr>
            <a:picLocks noChangeAspect="1"/>
          </p:cNvPicPr>
          <p:nvPr/>
        </p:nvPicPr>
        <p:blipFill>
          <a:blip r:embed="rId13"/>
          <a:stretch>
            <a:fillRect/>
          </a:stretch>
        </p:blipFill>
        <p:spPr>
          <a:xfrm>
            <a:off x="4203314" y="5401178"/>
            <a:ext cx="225308" cy="225308"/>
          </a:xfrm>
          <a:prstGeom prst="rect">
            <a:avLst/>
          </a:prstGeom>
        </p:spPr>
      </p:pic>
      <p:sp>
        <p:nvSpPr>
          <p:cNvPr id="102" name="Text 87"/>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2B2B2B"/>
                </a:solidFill>
                <a:latin typeface="Calibri" pitchFamily="34" charset="0"/>
                <a:ea typeface="Calibri" pitchFamily="34" charset="-122"/>
                <a:cs typeface="Calibri" pitchFamily="34" charset="-120"/>
              </a:rPr>
              <a:t>JSL owns the system</a:t>
            </a:r>
            <a:endParaRPr lang="en-US" sz="1050" dirty="0"/>
          </a:p>
        </p:txBody>
      </p:sp>
      <p:sp>
        <p:nvSpPr>
          <p:cNvPr id="103" name="Text 88"/>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its data and software; no vendor lock-in</a:t>
            </a:r>
            <a:endParaRPr lang="en-US" sz="950" dirty="0"/>
          </a:p>
        </p:txBody>
      </p:sp>
      <p:sp>
        <p:nvSpPr>
          <p:cNvPr id="104" name="Shape 89"/>
          <p:cNvSpPr/>
          <p:nvPr/>
        </p:nvSpPr>
        <p:spPr>
          <a:xfrm>
            <a:off x="7955280" y="3218688"/>
            <a:ext cx="3776472" cy="274320"/>
          </a:xfrm>
          <a:prstGeom prst="rect">
            <a:avLst/>
          </a:prstGeom>
          <a:solidFill>
            <a:srgbClr val="E4803A"/>
          </a:solidFill>
          <a:ln w="12700">
            <a:solidFill>
              <a:srgbClr val="E4803A"/>
            </a:solidFill>
            <a:prstDash val="solid"/>
          </a:ln>
        </p:spPr>
      </p:sp>
      <p:sp>
        <p:nvSpPr>
          <p:cNvPr id="105" name="Text 90"/>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106" name="Text 91"/>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Cost per line</a:t>
            </a:r>
            <a:endParaRPr lang="en-US" sz="900" dirty="0"/>
          </a:p>
        </p:txBody>
      </p:sp>
      <p:sp>
        <p:nvSpPr>
          <p:cNvPr id="107" name="Text 92"/>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Proven at speed</a:t>
            </a:r>
            <a:endParaRPr lang="en-US" sz="900" dirty="0"/>
          </a:p>
        </p:txBody>
      </p:sp>
      <p:sp>
        <p:nvSpPr>
          <p:cNvPr id="108" name="Text 93"/>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Tuned to JSL grades</a:t>
            </a:r>
            <a:endParaRPr lang="en-US" sz="900" dirty="0"/>
          </a:p>
        </p:txBody>
      </p:sp>
      <p:sp>
        <p:nvSpPr>
          <p:cNvPr id="109" name="Text 94"/>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404040"/>
                </a:solidFill>
                <a:latin typeface="Calibri" pitchFamily="34" charset="0"/>
                <a:ea typeface="Calibri" pitchFamily="34" charset="-122"/>
                <a:cs typeface="Calibri" pitchFamily="34" charset="-120"/>
              </a:rPr>
              <a:t>JSL owns the system</a:t>
            </a:r>
            <a:endParaRPr lang="en-US" sz="900" dirty="0"/>
          </a:p>
        </p:txBody>
      </p:sp>
      <p:sp>
        <p:nvSpPr>
          <p:cNvPr id="110" name="Text 95"/>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A1A1A"/>
                </a:solidFill>
                <a:latin typeface="Calibri" pitchFamily="34" charset="0"/>
                <a:ea typeface="Calibri" pitchFamily="34" charset="-122"/>
                <a:cs typeface="Calibri" pitchFamily="34" charset="-120"/>
              </a:rPr>
              <a:t>Commercial</a:t>
            </a:r>
            <a:endParaRPr lang="en-US" sz="1000" dirty="0"/>
          </a:p>
        </p:txBody>
      </p:sp>
      <p:sp>
        <p:nvSpPr>
          <p:cNvPr id="111" name="Text 96"/>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proven; the vendor owns it</a:t>
            </a:r>
            <a:endParaRPr lang="en-US" sz="900" dirty="0"/>
          </a:p>
        </p:txBody>
      </p:sp>
      <p:sp>
        <p:nvSpPr>
          <p:cNvPr id="112" name="Shape 97"/>
          <p:cNvSpPr/>
          <p:nvPr/>
        </p:nvSpPr>
        <p:spPr>
          <a:xfrm>
            <a:off x="9582912" y="4096512"/>
            <a:ext cx="182880" cy="182880"/>
          </a:xfrm>
          <a:prstGeom prst="ellipse">
            <a:avLst/>
          </a:prstGeom>
          <a:solidFill>
            <a:srgbClr val="C62828"/>
          </a:solidFill>
          <a:ln w="12700">
            <a:solidFill>
              <a:srgbClr val="C62828"/>
            </a:solidFill>
            <a:prstDash val="solid"/>
          </a:ln>
        </p:spPr>
      </p:sp>
      <p:sp>
        <p:nvSpPr>
          <p:cNvPr id="113" name="Shape 98"/>
          <p:cNvSpPr/>
          <p:nvPr/>
        </p:nvSpPr>
        <p:spPr>
          <a:xfrm>
            <a:off x="10158984" y="4096512"/>
            <a:ext cx="182880" cy="182880"/>
          </a:xfrm>
          <a:prstGeom prst="ellipse">
            <a:avLst/>
          </a:prstGeom>
          <a:solidFill>
            <a:srgbClr val="2E7D32"/>
          </a:solidFill>
          <a:ln w="12700">
            <a:solidFill>
              <a:srgbClr val="2E7D32"/>
            </a:solidFill>
            <a:prstDash val="solid"/>
          </a:ln>
        </p:spPr>
      </p:sp>
      <p:sp>
        <p:nvSpPr>
          <p:cNvPr id="114" name="Shape 99"/>
          <p:cNvSpPr/>
          <p:nvPr/>
        </p:nvSpPr>
        <p:spPr>
          <a:xfrm>
            <a:off x="10735056" y="4096512"/>
            <a:ext cx="182880" cy="182880"/>
          </a:xfrm>
          <a:prstGeom prst="ellipse">
            <a:avLst/>
          </a:prstGeom>
          <a:solidFill>
            <a:srgbClr val="C99700"/>
          </a:solidFill>
          <a:ln w="12700">
            <a:solidFill>
              <a:srgbClr val="C99700"/>
            </a:solidFill>
            <a:prstDash val="solid"/>
          </a:ln>
        </p:spPr>
      </p:sp>
      <p:sp>
        <p:nvSpPr>
          <p:cNvPr id="115" name="Shape 100"/>
          <p:cNvSpPr/>
          <p:nvPr/>
        </p:nvSpPr>
        <p:spPr>
          <a:xfrm>
            <a:off x="11311128" y="4096512"/>
            <a:ext cx="182880" cy="182880"/>
          </a:xfrm>
          <a:prstGeom prst="ellipse">
            <a:avLst/>
          </a:prstGeom>
          <a:solidFill>
            <a:srgbClr val="C62828"/>
          </a:solidFill>
          <a:ln w="12700">
            <a:solidFill>
              <a:srgbClr val="C62828"/>
            </a:solidFill>
            <a:prstDash val="solid"/>
          </a:ln>
        </p:spPr>
      </p:sp>
      <p:sp>
        <p:nvSpPr>
          <p:cNvPr id="116" name="Text 101"/>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A1A1A"/>
                </a:solidFill>
                <a:latin typeface="Calibri" pitchFamily="34" charset="0"/>
                <a:ea typeface="Calibri" pitchFamily="34" charset="-122"/>
                <a:cs typeface="Calibri" pitchFamily="34" charset="-120"/>
              </a:rPr>
              <a:t>Fully in-house</a:t>
            </a:r>
            <a:endParaRPr lang="en-US" sz="1000" dirty="0"/>
          </a:p>
        </p:txBody>
      </p:sp>
      <p:sp>
        <p:nvSpPr>
          <p:cNvPr id="117" name="Text 102"/>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JSL owns it; slow to prove</a:t>
            </a:r>
            <a:endParaRPr lang="en-US" sz="900" dirty="0"/>
          </a:p>
        </p:txBody>
      </p:sp>
      <p:sp>
        <p:nvSpPr>
          <p:cNvPr id="118" name="Shape 103"/>
          <p:cNvSpPr/>
          <p:nvPr/>
        </p:nvSpPr>
        <p:spPr>
          <a:xfrm>
            <a:off x="9582912" y="4572000"/>
            <a:ext cx="182880" cy="182880"/>
          </a:xfrm>
          <a:prstGeom prst="ellipse">
            <a:avLst/>
          </a:prstGeom>
          <a:solidFill>
            <a:srgbClr val="2E7D32"/>
          </a:solidFill>
          <a:ln w="12700">
            <a:solidFill>
              <a:srgbClr val="2E7D32"/>
            </a:solidFill>
            <a:prstDash val="solid"/>
          </a:ln>
        </p:spPr>
      </p:sp>
      <p:sp>
        <p:nvSpPr>
          <p:cNvPr id="119" name="Shape 104"/>
          <p:cNvSpPr/>
          <p:nvPr/>
        </p:nvSpPr>
        <p:spPr>
          <a:xfrm>
            <a:off x="10158984" y="4572000"/>
            <a:ext cx="182880" cy="182880"/>
          </a:xfrm>
          <a:prstGeom prst="ellipse">
            <a:avLst/>
          </a:prstGeom>
          <a:solidFill>
            <a:srgbClr val="C62828"/>
          </a:solidFill>
          <a:ln w="12700">
            <a:solidFill>
              <a:srgbClr val="C62828"/>
            </a:solidFill>
            <a:prstDash val="solid"/>
          </a:ln>
        </p:spPr>
      </p:sp>
      <p:sp>
        <p:nvSpPr>
          <p:cNvPr id="120" name="Shape 105"/>
          <p:cNvSpPr/>
          <p:nvPr/>
        </p:nvSpPr>
        <p:spPr>
          <a:xfrm>
            <a:off x="10735056" y="4572000"/>
            <a:ext cx="182880" cy="182880"/>
          </a:xfrm>
          <a:prstGeom prst="ellipse">
            <a:avLst/>
          </a:prstGeom>
          <a:solidFill>
            <a:srgbClr val="2E7D32"/>
          </a:solidFill>
          <a:ln w="12700">
            <a:solidFill>
              <a:srgbClr val="2E7D32"/>
            </a:solidFill>
            <a:prstDash val="solid"/>
          </a:ln>
        </p:spPr>
      </p:sp>
      <p:sp>
        <p:nvSpPr>
          <p:cNvPr id="121" name="Shape 106"/>
          <p:cNvSpPr/>
          <p:nvPr/>
        </p:nvSpPr>
        <p:spPr>
          <a:xfrm>
            <a:off x="11311128" y="4572000"/>
            <a:ext cx="182880" cy="182880"/>
          </a:xfrm>
          <a:prstGeom prst="ellipse">
            <a:avLst/>
          </a:prstGeom>
          <a:solidFill>
            <a:srgbClr val="2E7D32"/>
          </a:solidFill>
          <a:ln w="12700">
            <a:solidFill>
              <a:srgbClr val="2E7D32"/>
            </a:solidFill>
            <a:prstDash val="solid"/>
          </a:ln>
        </p:spPr>
      </p:sp>
      <p:sp>
        <p:nvSpPr>
          <p:cNvPr id="122" name="Shape 107"/>
          <p:cNvSpPr/>
          <p:nvPr/>
        </p:nvSpPr>
        <p:spPr>
          <a:xfrm>
            <a:off x="7973568" y="4919472"/>
            <a:ext cx="3739896" cy="457200"/>
          </a:xfrm>
          <a:prstGeom prst="roundRect">
            <a:avLst>
              <a:gd name="adj" fmla="val 12000"/>
            </a:avLst>
          </a:prstGeom>
          <a:solidFill>
            <a:srgbClr val="FDEFE4"/>
          </a:solidFill>
          <a:ln w="12700">
            <a:solidFill>
              <a:srgbClr val="FDEFE4"/>
            </a:solidFill>
            <a:prstDash val="solid"/>
          </a:ln>
        </p:spPr>
      </p:sp>
      <p:sp>
        <p:nvSpPr>
          <p:cNvPr id="123" name="Text 108"/>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D2651F"/>
                </a:solidFill>
                <a:latin typeface="Calibri" pitchFamily="34" charset="0"/>
                <a:ea typeface="Calibri" pitchFamily="34" charset="-122"/>
                <a:cs typeface="Calibri" pitchFamily="34" charset="-120"/>
              </a:rPr>
              <a:t>Hybrid (recommended)</a:t>
            </a:r>
            <a:endParaRPr lang="en-US" sz="1000" dirty="0"/>
          </a:p>
        </p:txBody>
      </p:sp>
      <p:sp>
        <p:nvSpPr>
          <p:cNvPr id="124" name="Text 109"/>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vendor cameras, JSL software</a:t>
            </a:r>
            <a:endParaRPr lang="en-US" sz="900" dirty="0"/>
          </a:p>
        </p:txBody>
      </p:sp>
      <p:sp>
        <p:nvSpPr>
          <p:cNvPr id="125" name="Shape 110"/>
          <p:cNvSpPr/>
          <p:nvPr/>
        </p:nvSpPr>
        <p:spPr>
          <a:xfrm>
            <a:off x="9582912" y="5047488"/>
            <a:ext cx="182880" cy="182880"/>
          </a:xfrm>
          <a:prstGeom prst="ellipse">
            <a:avLst/>
          </a:prstGeom>
          <a:solidFill>
            <a:srgbClr val="2E7D32"/>
          </a:solidFill>
          <a:ln w="12700">
            <a:solidFill>
              <a:srgbClr val="2E7D32"/>
            </a:solidFill>
            <a:prstDash val="solid"/>
          </a:ln>
        </p:spPr>
      </p:sp>
      <p:sp>
        <p:nvSpPr>
          <p:cNvPr id="126" name="Shape 111"/>
          <p:cNvSpPr/>
          <p:nvPr/>
        </p:nvSpPr>
        <p:spPr>
          <a:xfrm>
            <a:off x="10158984" y="5047488"/>
            <a:ext cx="182880" cy="182880"/>
          </a:xfrm>
          <a:prstGeom prst="ellipse">
            <a:avLst/>
          </a:prstGeom>
          <a:solidFill>
            <a:srgbClr val="C99700"/>
          </a:solidFill>
          <a:ln w="12700">
            <a:solidFill>
              <a:srgbClr val="C99700"/>
            </a:solidFill>
            <a:prstDash val="solid"/>
          </a:ln>
        </p:spPr>
      </p:sp>
      <p:sp>
        <p:nvSpPr>
          <p:cNvPr id="127" name="Shape 112"/>
          <p:cNvSpPr/>
          <p:nvPr/>
        </p:nvSpPr>
        <p:spPr>
          <a:xfrm>
            <a:off x="10735056" y="5047488"/>
            <a:ext cx="182880" cy="182880"/>
          </a:xfrm>
          <a:prstGeom prst="ellipse">
            <a:avLst/>
          </a:prstGeom>
          <a:solidFill>
            <a:srgbClr val="2E7D32"/>
          </a:solidFill>
          <a:ln w="12700">
            <a:solidFill>
              <a:srgbClr val="2E7D32"/>
            </a:solidFill>
            <a:prstDash val="solid"/>
          </a:ln>
        </p:spPr>
      </p:sp>
      <p:sp>
        <p:nvSpPr>
          <p:cNvPr id="128" name="Shape 113"/>
          <p:cNvSpPr/>
          <p:nvPr/>
        </p:nvSpPr>
        <p:spPr>
          <a:xfrm>
            <a:off x="11311128" y="5047488"/>
            <a:ext cx="182880" cy="182880"/>
          </a:xfrm>
          <a:prstGeom prst="ellipse">
            <a:avLst/>
          </a:prstGeom>
          <a:solidFill>
            <a:srgbClr val="2E7D32"/>
          </a:solidFill>
          <a:ln w="12700">
            <a:solidFill>
              <a:srgbClr val="2E7D32"/>
            </a:solidFill>
            <a:prstDash val="solid"/>
          </a:ln>
        </p:spPr>
      </p:sp>
      <p:sp>
        <p:nvSpPr>
          <p:cNvPr id="129" name="Shape 114"/>
          <p:cNvSpPr/>
          <p:nvPr/>
        </p:nvSpPr>
        <p:spPr>
          <a:xfrm>
            <a:off x="8065008" y="5477256"/>
            <a:ext cx="128016" cy="128016"/>
          </a:xfrm>
          <a:prstGeom prst="ellipse">
            <a:avLst/>
          </a:prstGeom>
          <a:solidFill>
            <a:srgbClr val="2E7D32"/>
          </a:solidFill>
          <a:ln w="12700">
            <a:solidFill>
              <a:srgbClr val="2E7D32"/>
            </a:solidFill>
            <a:prstDash val="solid"/>
          </a:ln>
        </p:spPr>
      </p:sp>
      <p:sp>
        <p:nvSpPr>
          <p:cNvPr id="130" name="Text 115"/>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strong</a:t>
            </a:r>
            <a:endParaRPr lang="en-US" sz="900" dirty="0"/>
          </a:p>
        </p:txBody>
      </p:sp>
      <p:sp>
        <p:nvSpPr>
          <p:cNvPr id="131" name="Shape 116"/>
          <p:cNvSpPr/>
          <p:nvPr/>
        </p:nvSpPr>
        <p:spPr>
          <a:xfrm>
            <a:off x="8842248" y="5477256"/>
            <a:ext cx="128016" cy="128016"/>
          </a:xfrm>
          <a:prstGeom prst="ellipse">
            <a:avLst/>
          </a:prstGeom>
          <a:solidFill>
            <a:srgbClr val="C99700"/>
          </a:solidFill>
          <a:ln w="12700">
            <a:solidFill>
              <a:srgbClr val="C99700"/>
            </a:solidFill>
            <a:prstDash val="solid"/>
          </a:ln>
        </p:spPr>
      </p:sp>
      <p:sp>
        <p:nvSpPr>
          <p:cNvPr id="132" name="Text 117"/>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partial</a:t>
            </a:r>
            <a:endParaRPr lang="en-US" sz="900" dirty="0"/>
          </a:p>
        </p:txBody>
      </p:sp>
      <p:sp>
        <p:nvSpPr>
          <p:cNvPr id="133" name="Shape 118"/>
          <p:cNvSpPr/>
          <p:nvPr/>
        </p:nvSpPr>
        <p:spPr>
          <a:xfrm>
            <a:off x="9619488" y="5477256"/>
            <a:ext cx="128016" cy="128016"/>
          </a:xfrm>
          <a:prstGeom prst="ellipse">
            <a:avLst/>
          </a:prstGeom>
          <a:solidFill>
            <a:srgbClr val="C62828"/>
          </a:solidFill>
          <a:ln w="12700">
            <a:solidFill>
              <a:srgbClr val="C62828"/>
            </a:solidFill>
            <a:prstDash val="solid"/>
          </a:ln>
        </p:spPr>
      </p:sp>
      <p:sp>
        <p:nvSpPr>
          <p:cNvPr id="134" name="Text 119"/>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weak</a:t>
            </a:r>
            <a:endParaRPr lang="en-US" sz="900" dirty="0"/>
          </a:p>
        </p:txBody>
      </p:sp>
      <p:sp>
        <p:nvSpPr>
          <p:cNvPr id="135" name="Text 120"/>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D2651F"/>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B63831"/>
          </a:solidFill>
          <a:ln w="12700">
            <a:solidFill>
              <a:srgbClr val="B63831"/>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SOLUTION  ·  PROOF</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system had never seen.</a:t>
            </a:r>
            <a:endParaRPr lang="en-US" sz="900" dirty="0"/>
          </a:p>
        </p:txBody>
      </p:sp>
      <p:sp>
        <p:nvSpPr>
          <p:cNvPr id="22" name="Shape 18"/>
          <p:cNvSpPr/>
          <p:nvPr/>
        </p:nvSpPr>
        <p:spPr>
          <a:xfrm>
            <a:off x="457200" y="1234440"/>
            <a:ext cx="5541264"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24" name="Shape 20"/>
          <p:cNvSpPr/>
          <p:nvPr/>
        </p:nvSpPr>
        <p:spPr>
          <a:xfrm>
            <a:off x="457200" y="1572768"/>
            <a:ext cx="1783080" cy="2148840"/>
          </a:xfrm>
          <a:prstGeom prst="roundRect">
            <a:avLst>
              <a:gd name="adj" fmla="val 3077"/>
            </a:avLst>
          </a:prstGeom>
          <a:solidFill>
            <a:srgbClr val="F3F3F3"/>
          </a:solidFill>
          <a:ln w="12700">
            <a:solidFill>
              <a:srgbClr val="F3F3F3"/>
            </a:solidFill>
            <a:prstDash val="solid"/>
          </a:ln>
        </p:spPr>
      </p:sp>
      <p:sp>
        <p:nvSpPr>
          <p:cNvPr id="25" name="Shape 21"/>
          <p:cNvSpPr/>
          <p:nvPr/>
        </p:nvSpPr>
        <p:spPr>
          <a:xfrm>
            <a:off x="539496" y="1645920"/>
            <a:ext cx="1600200" cy="1078992"/>
          </a:xfrm>
          <a:prstGeom prst="rect">
            <a:avLst/>
          </a:prstGeom>
          <a:solidFill>
            <a:srgbClr val="FFFFFF"/>
          </a:solidFill>
          <a:ln w="12700">
            <a:solidFill>
              <a:srgbClr val="FFFFFF"/>
            </a:solidFill>
            <a:prstDash val="solid"/>
          </a:ln>
        </p:spPr>
      </p:sp>
      <p:pic>
        <p:nvPicPr>
          <p:cNvPr id="26" name="Image 2" descr="img/det_patches.png">    </p:cNvPr>
          <p:cNvPicPr>
            <a:picLocks noChangeAspect="1"/>
          </p:cNvPicPr>
          <p:nvPr/>
        </p:nvPicPr>
        <p:blipFill>
          <a:blip r:embed="rId3"/>
          <a:stretch>
            <a:fillRect/>
          </a:stretch>
        </p:blipFill>
        <p:spPr>
          <a:xfrm>
            <a:off x="836676" y="1682496"/>
            <a:ext cx="1005840" cy="1005840"/>
          </a:xfrm>
          <a:prstGeom prst="rect">
            <a:avLst/>
          </a:prstGeom>
        </p:spPr>
      </p:pic>
      <p:sp>
        <p:nvSpPr>
          <p:cNvPr id="27" name="Text 22"/>
          <p:cNvSpPr txBox="1"/>
          <p:nvPr/>
        </p:nvSpPr>
        <p:spPr>
          <a:xfrm>
            <a:off x="539496" y="2761488"/>
            <a:ext cx="1655064" cy="237744"/>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NEU-DET</a:t>
            </a:r>
            <a:endParaRPr lang="en-US" sz="1100" dirty="0"/>
          </a:p>
        </p:txBody>
      </p:sp>
      <p:sp>
        <p:nvSpPr>
          <p:cNvPr id="28" name="Text 23"/>
          <p:cNvSpPr txBox="1"/>
          <p:nvPr/>
        </p:nvSpPr>
        <p:spPr>
          <a:xfrm>
            <a:off x="539496" y="2999232"/>
            <a:ext cx="1673352"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1,800 images, 6 types</a:t>
            </a:r>
            <a:endParaRPr lang="en-US" sz="900" dirty="0"/>
          </a:p>
        </p:txBody>
      </p:sp>
      <p:sp>
        <p:nvSpPr>
          <p:cNvPr id="29" name="Text 24"/>
          <p:cNvSpPr txBox="1"/>
          <p:nvPr/>
        </p:nvSpPr>
        <p:spPr>
          <a:xfrm>
            <a:off x="539496" y="3227832"/>
            <a:ext cx="1673352" cy="60350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University benchmark, hot-rolled strip</a:t>
            </a:r>
            <a:endParaRPr lang="en-US" sz="900" dirty="0"/>
          </a:p>
        </p:txBody>
      </p:sp>
      <p:sp>
        <p:nvSpPr>
          <p:cNvPr id="30" name="Shape 25"/>
          <p:cNvSpPr/>
          <p:nvPr/>
        </p:nvSpPr>
        <p:spPr>
          <a:xfrm>
            <a:off x="2336292" y="1572768"/>
            <a:ext cx="1783080" cy="2148840"/>
          </a:xfrm>
          <a:prstGeom prst="roundRect">
            <a:avLst>
              <a:gd name="adj" fmla="val 3077"/>
            </a:avLst>
          </a:prstGeom>
          <a:solidFill>
            <a:srgbClr val="F3F3F3"/>
          </a:solidFill>
          <a:ln w="12700">
            <a:solidFill>
              <a:srgbClr val="F3F3F3"/>
            </a:solidFill>
            <a:prstDash val="solid"/>
          </a:ln>
        </p:spPr>
      </p:sp>
      <p:sp>
        <p:nvSpPr>
          <p:cNvPr id="31" name="Shape 26"/>
          <p:cNvSpPr/>
          <p:nvPr/>
        </p:nvSpPr>
        <p:spPr>
          <a:xfrm>
            <a:off x="2418588" y="1645920"/>
            <a:ext cx="1600200" cy="1078992"/>
          </a:xfrm>
          <a:prstGeom prst="rect">
            <a:avLst/>
          </a:prstGeom>
          <a:solidFill>
            <a:srgbClr val="FFFFFF"/>
          </a:solidFill>
          <a:ln w="12700">
            <a:solidFill>
              <a:srgbClr val="FFFFFF"/>
            </a:solidFill>
            <a:prstDash val="solid"/>
          </a:ln>
        </p:spPr>
      </p:sp>
      <p:pic>
        <p:nvPicPr>
          <p:cNvPr id="32" name="Image 3" descr="img/proof_severstal.png">    </p:cNvPr>
          <p:cNvPicPr>
            <a:picLocks noChangeAspect="1"/>
          </p:cNvPicPr>
          <p:nvPr/>
        </p:nvPicPr>
        <p:blipFill>
          <a:blip r:embed="rId4"/>
          <a:stretch>
            <a:fillRect/>
          </a:stretch>
        </p:blipFill>
        <p:spPr>
          <a:xfrm>
            <a:off x="2715768" y="1682496"/>
            <a:ext cx="1005840" cy="1005840"/>
          </a:xfrm>
          <a:prstGeom prst="rect">
            <a:avLst/>
          </a:prstGeom>
        </p:spPr>
      </p:pic>
      <p:sp>
        <p:nvSpPr>
          <p:cNvPr id="33" name="Text 27"/>
          <p:cNvSpPr txBox="1"/>
          <p:nvPr/>
        </p:nvSpPr>
        <p:spPr>
          <a:xfrm>
            <a:off x="2418588" y="2761488"/>
            <a:ext cx="1655064" cy="237744"/>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Severstal</a:t>
            </a:r>
            <a:endParaRPr lang="en-US" sz="1100" dirty="0"/>
          </a:p>
        </p:txBody>
      </p:sp>
      <p:sp>
        <p:nvSpPr>
          <p:cNvPr id="34" name="Text 28"/>
          <p:cNvSpPr txBox="1"/>
          <p:nvPr/>
        </p:nvSpPr>
        <p:spPr>
          <a:xfrm>
            <a:off x="2418588" y="2999232"/>
            <a:ext cx="1673352"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12,568 real mill frames</a:t>
            </a:r>
            <a:endParaRPr lang="en-US" sz="900" dirty="0"/>
          </a:p>
        </p:txBody>
      </p:sp>
      <p:sp>
        <p:nvSpPr>
          <p:cNvPr id="35" name="Text 29"/>
          <p:cNvSpPr txBox="1"/>
          <p:nvPr/>
        </p:nvSpPr>
        <p:spPr>
          <a:xfrm>
            <a:off x="2418588" y="3227832"/>
            <a:ext cx="1673352" cy="60350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Production strip from a steel mill</a:t>
            </a:r>
            <a:endParaRPr lang="en-US" sz="900" dirty="0"/>
          </a:p>
        </p:txBody>
      </p:sp>
      <p:sp>
        <p:nvSpPr>
          <p:cNvPr id="36" name="Shape 30"/>
          <p:cNvSpPr/>
          <p:nvPr/>
        </p:nvSpPr>
        <p:spPr>
          <a:xfrm>
            <a:off x="4215384" y="1572768"/>
            <a:ext cx="1783080" cy="2148840"/>
          </a:xfrm>
          <a:prstGeom prst="roundRect">
            <a:avLst>
              <a:gd name="adj" fmla="val 3077"/>
            </a:avLst>
          </a:prstGeom>
          <a:solidFill>
            <a:srgbClr val="F3F3F3"/>
          </a:solidFill>
          <a:ln w="12700">
            <a:solidFill>
              <a:srgbClr val="F3F3F3"/>
            </a:solidFill>
            <a:prstDash val="solid"/>
          </a:ln>
        </p:spPr>
      </p:sp>
      <p:sp>
        <p:nvSpPr>
          <p:cNvPr id="37" name="Shape 31"/>
          <p:cNvSpPr/>
          <p:nvPr/>
        </p:nvSpPr>
        <p:spPr>
          <a:xfrm>
            <a:off x="4297680" y="1645920"/>
            <a:ext cx="1600200" cy="1078992"/>
          </a:xfrm>
          <a:prstGeom prst="rect">
            <a:avLst/>
          </a:prstGeom>
          <a:solidFill>
            <a:srgbClr val="FFFFFF"/>
          </a:solidFill>
          <a:ln w="12700">
            <a:solidFill>
              <a:srgbClr val="FFFFFF"/>
            </a:solidFill>
            <a:prstDash val="solid"/>
          </a:ln>
        </p:spPr>
      </p:sp>
      <p:pic>
        <p:nvPicPr>
          <p:cNvPr id="38" name="Image 4" descr="img/proof_gc10.png">    </p:cNvPr>
          <p:cNvPicPr>
            <a:picLocks noChangeAspect="1"/>
          </p:cNvPicPr>
          <p:nvPr/>
        </p:nvPicPr>
        <p:blipFill>
          <a:blip r:embed="rId5"/>
          <a:stretch>
            <a:fillRect/>
          </a:stretch>
        </p:blipFill>
        <p:spPr>
          <a:xfrm>
            <a:off x="4297680" y="1645920"/>
            <a:ext cx="1600200" cy="1078992"/>
          </a:xfrm>
          <a:prstGeom prst="rect">
            <a:avLst/>
          </a:prstGeom>
        </p:spPr>
      </p:pic>
      <p:sp>
        <p:nvSpPr>
          <p:cNvPr id="39" name="Text 32"/>
          <p:cNvSpPr txBox="1"/>
          <p:nvPr/>
        </p:nvSpPr>
        <p:spPr>
          <a:xfrm>
            <a:off x="4297680" y="2761488"/>
            <a:ext cx="1655064" cy="237744"/>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GC10-DET</a:t>
            </a:r>
            <a:endParaRPr lang="en-US" sz="1100" dirty="0"/>
          </a:p>
        </p:txBody>
      </p:sp>
      <p:sp>
        <p:nvSpPr>
          <p:cNvPr id="40" name="Text 33"/>
          <p:cNvSpPr txBox="1"/>
          <p:nvPr/>
        </p:nvSpPr>
        <p:spPr>
          <a:xfrm>
            <a:off x="4297680" y="2999232"/>
            <a:ext cx="1673352" cy="219456"/>
          </a:xfrm>
          <a:prstGeom prst="rect">
            <a:avLst/>
          </a:prstGeom>
          <a:noFill/>
          <a:ln/>
        </p:spPr>
        <p:txBody>
          <a:bodyPr wrap="square" lIns="0" tIns="0" rIns="0" bIns="0" rtlCol="0" anchor="t"/>
          <a:lstStyle/>
          <a:p>
            <a:pPr indent="0" marL="0">
              <a:buNone/>
            </a:pPr>
            <a:r>
              <a:rPr lang="en-US" sz="900" b="1" dirty="0">
                <a:solidFill>
                  <a:srgbClr val="D2651F"/>
                </a:solidFill>
                <a:latin typeface="Calibri" pitchFamily="34" charset="0"/>
                <a:ea typeface="Calibri" pitchFamily="34" charset="-122"/>
                <a:cs typeface="Calibri" pitchFamily="34" charset="-120"/>
              </a:rPr>
              <a:t>2,294 frames, 10 types</a:t>
            </a:r>
            <a:endParaRPr lang="en-US" sz="900" dirty="0"/>
          </a:p>
        </p:txBody>
      </p:sp>
      <p:sp>
        <p:nvSpPr>
          <p:cNvPr id="41" name="Text 34"/>
          <p:cNvSpPr txBox="1"/>
          <p:nvPr/>
        </p:nvSpPr>
        <p:spPr>
          <a:xfrm>
            <a:off x="4297680" y="3227832"/>
            <a:ext cx="1673352" cy="603504"/>
          </a:xfrm>
          <a:prstGeom prst="rect">
            <a:avLst/>
          </a:prstGeom>
          <a:noFill/>
          <a:ln/>
        </p:spPr>
        <p:txBody>
          <a:bodyPr wrap="square" lIns="0" tIns="0" rIns="0" bIns="0" rtlCol="0" anchor="t"/>
          <a:lstStyle/>
          <a:p>
            <a:pPr indent="0" marL="0">
              <a:buNone/>
            </a:pPr>
            <a:r>
              <a:rPr lang="en-US" sz="900" dirty="0">
                <a:solidFill>
                  <a:srgbClr val="40404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42" name="Shape 35"/>
          <p:cNvSpPr/>
          <p:nvPr/>
        </p:nvSpPr>
        <p:spPr>
          <a:xfrm>
            <a:off x="6190488" y="1234440"/>
            <a:ext cx="5541264" cy="274320"/>
          </a:xfrm>
          <a:prstGeom prst="rect">
            <a:avLst/>
          </a:prstGeom>
          <a:solidFill>
            <a:srgbClr val="E4803A"/>
          </a:solidFill>
          <a:ln w="12700">
            <a:solidFill>
              <a:srgbClr val="E4803A"/>
            </a:solidFill>
            <a:prstDash val="solid"/>
          </a:ln>
        </p:spPr>
      </p:sp>
      <p:sp>
        <p:nvSpPr>
          <p:cNvPr id="43" name="Text 36"/>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44" name="Shape 37"/>
          <p:cNvSpPr/>
          <p:nvPr/>
        </p:nvSpPr>
        <p:spPr>
          <a:xfrm>
            <a:off x="10085832" y="1591056"/>
            <a:ext cx="356616" cy="2011680"/>
          </a:xfrm>
          <a:prstGeom prst="rect">
            <a:avLst/>
          </a:prstGeom>
          <a:solidFill>
            <a:srgbClr val="FDEFE4"/>
          </a:solidFill>
          <a:ln w="12700">
            <a:solidFill>
              <a:srgbClr val="FDEFE4"/>
            </a:solidFill>
            <a:prstDash val="solid"/>
          </a:ln>
        </p:spPr>
      </p:sp>
      <p:sp>
        <p:nvSpPr>
          <p:cNvPr id="45" name="Text 38"/>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published range</a:t>
            </a:r>
            <a:endParaRPr lang="en-US" sz="900" dirty="0"/>
          </a:p>
        </p:txBody>
      </p:sp>
      <p:sp>
        <p:nvSpPr>
          <p:cNvPr id="46" name="Text 39"/>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Patches</a:t>
            </a:r>
            <a:endParaRPr lang="en-US" sz="1000" dirty="0"/>
          </a:p>
        </p:txBody>
      </p:sp>
      <p:sp>
        <p:nvSpPr>
          <p:cNvPr id="47" name="Shape 40"/>
          <p:cNvSpPr/>
          <p:nvPr/>
        </p:nvSpPr>
        <p:spPr>
          <a:xfrm>
            <a:off x="7589520" y="1691640"/>
            <a:ext cx="3359323" cy="173736"/>
          </a:xfrm>
          <a:prstGeom prst="rect">
            <a:avLst/>
          </a:prstGeom>
          <a:solidFill>
            <a:srgbClr val="D2651F"/>
          </a:solidFill>
          <a:ln w="12700">
            <a:solidFill>
              <a:srgbClr val="D2651F"/>
            </a:solidFill>
            <a:prstDash val="solid"/>
          </a:ln>
        </p:spPr>
      </p:sp>
      <p:sp>
        <p:nvSpPr>
          <p:cNvPr id="48" name="Text 41"/>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0.94</a:t>
            </a:r>
            <a:endParaRPr lang="en-US" sz="1000" dirty="0"/>
          </a:p>
        </p:txBody>
      </p:sp>
      <p:sp>
        <p:nvSpPr>
          <p:cNvPr id="49" name="Text 42"/>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Inclusion</a:t>
            </a:r>
            <a:endParaRPr lang="en-US" sz="1000" dirty="0"/>
          </a:p>
        </p:txBody>
      </p:sp>
      <p:sp>
        <p:nvSpPr>
          <p:cNvPr id="50" name="Shape 43"/>
          <p:cNvSpPr/>
          <p:nvPr/>
        </p:nvSpPr>
        <p:spPr>
          <a:xfrm>
            <a:off x="7589520" y="2011680"/>
            <a:ext cx="2835097" cy="173736"/>
          </a:xfrm>
          <a:prstGeom prst="rect">
            <a:avLst/>
          </a:prstGeom>
          <a:solidFill>
            <a:srgbClr val="D2651F"/>
          </a:solidFill>
          <a:ln w="12700">
            <a:solidFill>
              <a:srgbClr val="D2651F"/>
            </a:solidFill>
            <a:prstDash val="solid"/>
          </a:ln>
        </p:spPr>
      </p:sp>
      <p:sp>
        <p:nvSpPr>
          <p:cNvPr id="51" name="Text 44"/>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0.80</a:t>
            </a:r>
            <a:endParaRPr lang="en-US" sz="1000" dirty="0"/>
          </a:p>
        </p:txBody>
      </p:sp>
      <p:sp>
        <p:nvSpPr>
          <p:cNvPr id="52" name="Text 45"/>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Scratches</a:t>
            </a:r>
            <a:endParaRPr lang="en-US" sz="1000" dirty="0"/>
          </a:p>
        </p:txBody>
      </p:sp>
      <p:sp>
        <p:nvSpPr>
          <p:cNvPr id="53" name="Shape 46"/>
          <p:cNvSpPr/>
          <p:nvPr/>
        </p:nvSpPr>
        <p:spPr>
          <a:xfrm>
            <a:off x="7589520" y="2331720"/>
            <a:ext cx="2831531" cy="173736"/>
          </a:xfrm>
          <a:prstGeom prst="rect">
            <a:avLst/>
          </a:prstGeom>
          <a:solidFill>
            <a:srgbClr val="D2651F"/>
          </a:solidFill>
          <a:ln w="12700">
            <a:solidFill>
              <a:srgbClr val="D2651F"/>
            </a:solidFill>
            <a:prstDash val="solid"/>
          </a:ln>
        </p:spPr>
      </p:sp>
      <p:sp>
        <p:nvSpPr>
          <p:cNvPr id="54" name="Text 47"/>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0.79</a:t>
            </a:r>
            <a:endParaRPr lang="en-US" sz="1000" dirty="0"/>
          </a:p>
        </p:txBody>
      </p:sp>
      <p:sp>
        <p:nvSpPr>
          <p:cNvPr id="55" name="Text 48"/>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Pitted surface</a:t>
            </a:r>
            <a:endParaRPr lang="en-US" sz="1000" dirty="0"/>
          </a:p>
        </p:txBody>
      </p:sp>
      <p:sp>
        <p:nvSpPr>
          <p:cNvPr id="56" name="Shape 49"/>
          <p:cNvSpPr/>
          <p:nvPr/>
        </p:nvSpPr>
        <p:spPr>
          <a:xfrm>
            <a:off x="7589520" y="2651760"/>
            <a:ext cx="2720980" cy="173736"/>
          </a:xfrm>
          <a:prstGeom prst="rect">
            <a:avLst/>
          </a:prstGeom>
          <a:solidFill>
            <a:srgbClr val="D2651F"/>
          </a:solidFill>
          <a:ln w="12700">
            <a:solidFill>
              <a:srgbClr val="D2651F"/>
            </a:solidFill>
            <a:prstDash val="solid"/>
          </a:ln>
        </p:spPr>
      </p:sp>
      <p:sp>
        <p:nvSpPr>
          <p:cNvPr id="57" name="Text 50"/>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0.76</a:t>
            </a:r>
            <a:endParaRPr lang="en-US" sz="1000" dirty="0"/>
          </a:p>
        </p:txBody>
      </p:sp>
      <p:sp>
        <p:nvSpPr>
          <p:cNvPr id="58" name="Text 51"/>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Rolled-in scale</a:t>
            </a:r>
            <a:endParaRPr lang="en-US" sz="1000" dirty="0"/>
          </a:p>
        </p:txBody>
      </p:sp>
      <p:sp>
        <p:nvSpPr>
          <p:cNvPr id="59" name="Shape 52"/>
          <p:cNvSpPr/>
          <p:nvPr/>
        </p:nvSpPr>
        <p:spPr>
          <a:xfrm>
            <a:off x="7589520" y="2971800"/>
            <a:ext cx="2128998" cy="173736"/>
          </a:xfrm>
          <a:prstGeom prst="rect">
            <a:avLst/>
          </a:prstGeom>
          <a:solidFill>
            <a:srgbClr val="9E9E9E"/>
          </a:solidFill>
          <a:ln w="12700">
            <a:solidFill>
              <a:srgbClr val="9E9E9E"/>
            </a:solidFill>
            <a:prstDash val="solid"/>
          </a:ln>
        </p:spPr>
      </p:sp>
      <p:sp>
        <p:nvSpPr>
          <p:cNvPr id="60" name="Text 53"/>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404040"/>
                </a:solidFill>
                <a:latin typeface="Calibri" pitchFamily="34" charset="0"/>
                <a:ea typeface="Calibri" pitchFamily="34" charset="-122"/>
                <a:cs typeface="Calibri" pitchFamily="34" charset="-120"/>
              </a:rPr>
              <a:t>0.60</a:t>
            </a:r>
            <a:endParaRPr lang="en-US" sz="1000" dirty="0"/>
          </a:p>
        </p:txBody>
      </p:sp>
      <p:sp>
        <p:nvSpPr>
          <p:cNvPr id="61" name="Text 54"/>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A1A1A"/>
                </a:solidFill>
                <a:latin typeface="Calibri" pitchFamily="34" charset="0"/>
                <a:ea typeface="Calibri" pitchFamily="34" charset="-122"/>
                <a:cs typeface="Calibri" pitchFamily="34" charset="-120"/>
              </a:rPr>
              <a:t>Crazing</a:t>
            </a:r>
            <a:endParaRPr lang="en-US" sz="1000" dirty="0"/>
          </a:p>
        </p:txBody>
      </p:sp>
      <p:sp>
        <p:nvSpPr>
          <p:cNvPr id="62" name="Shape 55"/>
          <p:cNvSpPr/>
          <p:nvPr/>
        </p:nvSpPr>
        <p:spPr>
          <a:xfrm>
            <a:off x="7589520" y="3291840"/>
            <a:ext cx="2071939" cy="173736"/>
          </a:xfrm>
          <a:prstGeom prst="rect">
            <a:avLst/>
          </a:prstGeom>
          <a:solidFill>
            <a:srgbClr val="9E9E9E"/>
          </a:solidFill>
          <a:ln w="12700">
            <a:solidFill>
              <a:srgbClr val="9E9E9E"/>
            </a:solidFill>
            <a:prstDash val="solid"/>
          </a:ln>
        </p:spPr>
      </p:sp>
      <p:sp>
        <p:nvSpPr>
          <p:cNvPr id="63" name="Text 56"/>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404040"/>
                </a:solidFill>
                <a:latin typeface="Calibri" pitchFamily="34" charset="0"/>
                <a:ea typeface="Calibri" pitchFamily="34" charset="-122"/>
                <a:cs typeface="Calibri" pitchFamily="34" charset="-120"/>
              </a:rPr>
              <a:t>0.58</a:t>
            </a:r>
            <a:endParaRPr lang="en-US" sz="1000" dirty="0"/>
          </a:p>
        </p:txBody>
      </p:sp>
      <p:sp>
        <p:nvSpPr>
          <p:cNvPr id="64" name="Shape 57"/>
          <p:cNvSpPr/>
          <p:nvPr/>
        </p:nvSpPr>
        <p:spPr>
          <a:xfrm>
            <a:off x="457200" y="3886200"/>
            <a:ext cx="5541264" cy="274320"/>
          </a:xfrm>
          <a:prstGeom prst="rect">
            <a:avLst/>
          </a:prstGeom>
          <a:solidFill>
            <a:srgbClr val="E4803A"/>
          </a:solidFill>
          <a:ln w="12700">
            <a:solidFill>
              <a:srgbClr val="E4803A"/>
            </a:solidFill>
            <a:prstDash val="solid"/>
          </a:ln>
        </p:spPr>
      </p:sp>
      <p:sp>
        <p:nvSpPr>
          <p:cNvPr id="65" name="Text 58"/>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6" name="Shape 59"/>
          <p:cNvSpPr/>
          <p:nvPr/>
        </p:nvSpPr>
        <p:spPr>
          <a:xfrm>
            <a:off x="457200" y="4224528"/>
            <a:ext cx="1783080" cy="1645920"/>
          </a:xfrm>
          <a:prstGeom prst="roundRect">
            <a:avLst>
              <a:gd name="adj" fmla="val 3333"/>
            </a:avLst>
          </a:prstGeom>
          <a:solidFill>
            <a:srgbClr val="F3F3F3"/>
          </a:solidFill>
          <a:ln w="12700">
            <a:solidFill>
              <a:srgbClr val="F3F3F3"/>
            </a:solidFill>
            <a:prstDash val="solid"/>
          </a:ln>
        </p:spPr>
      </p:sp>
      <p:sp>
        <p:nvSpPr>
          <p:cNvPr id="67" name="Shape 60"/>
          <p:cNvSpPr/>
          <p:nvPr/>
        </p:nvSpPr>
        <p:spPr>
          <a:xfrm>
            <a:off x="566928" y="4315968"/>
            <a:ext cx="402336" cy="402336"/>
          </a:xfrm>
          <a:prstGeom prst="ellipse">
            <a:avLst/>
          </a:prstGeom>
          <a:solidFill>
            <a:srgbClr val="2B2B2B"/>
          </a:solidFill>
          <a:ln w="12700">
            <a:solidFill>
              <a:srgbClr val="2B2B2B"/>
            </a:solidFill>
            <a:prstDash val="solid"/>
          </a:ln>
        </p:spPr>
      </p:sp>
      <p:pic>
        <p:nvPicPr>
          <p:cNvPr id="68" name="Image 5" descr="img/icons/target-white.png">    </p:cNvPr>
          <p:cNvPicPr>
            <a:picLocks noChangeAspect="1"/>
          </p:cNvPicPr>
          <p:nvPr/>
        </p:nvPicPr>
        <p:blipFill>
          <a:blip r:embed="rId6"/>
          <a:stretch>
            <a:fillRect/>
          </a:stretch>
        </p:blipFill>
        <p:spPr>
          <a:xfrm>
            <a:off x="655442" y="4404482"/>
            <a:ext cx="225308" cy="225308"/>
          </a:xfrm>
          <a:prstGeom prst="rect">
            <a:avLst/>
          </a:prstGeom>
        </p:spPr>
      </p:pic>
      <p:sp>
        <p:nvSpPr>
          <p:cNvPr id="69" name="Text 61"/>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178 of 180</a:t>
            </a:r>
            <a:endParaRPr lang="en-US" sz="2000" dirty="0"/>
          </a:p>
        </p:txBody>
      </p:sp>
      <p:sp>
        <p:nvSpPr>
          <p:cNvPr id="70" name="Text 62"/>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test images: the right defect type named</a:t>
            </a:r>
            <a:endParaRPr lang="en-US" sz="950" dirty="0"/>
          </a:p>
        </p:txBody>
      </p:sp>
      <p:sp>
        <p:nvSpPr>
          <p:cNvPr id="71" name="Shape 63"/>
          <p:cNvSpPr/>
          <p:nvPr/>
        </p:nvSpPr>
        <p:spPr>
          <a:xfrm>
            <a:off x="2336292" y="4224528"/>
            <a:ext cx="1783080" cy="1645920"/>
          </a:xfrm>
          <a:prstGeom prst="roundRect">
            <a:avLst>
              <a:gd name="adj" fmla="val 3333"/>
            </a:avLst>
          </a:prstGeom>
          <a:solidFill>
            <a:srgbClr val="F3F3F3"/>
          </a:solidFill>
          <a:ln w="12700">
            <a:solidFill>
              <a:srgbClr val="F3F3F3"/>
            </a:solidFill>
            <a:prstDash val="solid"/>
          </a:ln>
        </p:spPr>
      </p:sp>
      <p:sp>
        <p:nvSpPr>
          <p:cNvPr id="72" name="Shape 64"/>
          <p:cNvSpPr/>
          <p:nvPr/>
        </p:nvSpPr>
        <p:spPr>
          <a:xfrm>
            <a:off x="2446020" y="4315968"/>
            <a:ext cx="402336" cy="402336"/>
          </a:xfrm>
          <a:prstGeom prst="ellipse">
            <a:avLst/>
          </a:prstGeom>
          <a:solidFill>
            <a:srgbClr val="2B2B2B"/>
          </a:solidFill>
          <a:ln w="12700">
            <a:solidFill>
              <a:srgbClr val="2B2B2B"/>
            </a:solidFill>
            <a:prstDash val="solid"/>
          </a:ln>
        </p:spPr>
      </p:sp>
      <p:pic>
        <p:nvPicPr>
          <p:cNvPr id="73" name="Image 6" descr="img/icons/scan-search-white.png">    </p:cNvPr>
          <p:cNvPicPr>
            <a:picLocks noChangeAspect="1"/>
          </p:cNvPicPr>
          <p:nvPr/>
        </p:nvPicPr>
        <p:blipFill>
          <a:blip r:embed="rId7"/>
          <a:stretch>
            <a:fillRect/>
          </a:stretch>
        </p:blipFill>
        <p:spPr>
          <a:xfrm>
            <a:off x="2534534" y="4404482"/>
            <a:ext cx="225308" cy="225308"/>
          </a:xfrm>
          <a:prstGeom prst="rect">
            <a:avLst/>
          </a:prstGeom>
        </p:spPr>
      </p:pic>
      <p:sp>
        <p:nvSpPr>
          <p:cNvPr id="74" name="Text 65"/>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Live</a:t>
            </a:r>
            <a:endParaRPr lang="en-US" sz="2000" dirty="0"/>
          </a:p>
        </p:txBody>
      </p:sp>
      <p:sp>
        <p:nvSpPr>
          <p:cNvPr id="75" name="Text 66"/>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404040"/>
                </a:solidFill>
                <a:latin typeface="Calibri" pitchFamily="34" charset="0"/>
                <a:ea typeface="Calibri" pitchFamily="34" charset="-122"/>
                <a:cs typeface="Calibri" pitchFamily="34" charset="-120"/>
              </a:rPr>
              <a:t>anyone can test it now at surface-vision.github.io</a:t>
            </a:r>
            <a:endParaRPr lang="en-US" sz="950" dirty="0"/>
          </a:p>
        </p:txBody>
      </p:sp>
      <p:sp>
        <p:nvSpPr>
          <p:cNvPr id="76" name="Shape 67"/>
          <p:cNvSpPr/>
          <p:nvPr/>
        </p:nvSpPr>
        <p:spPr>
          <a:xfrm>
            <a:off x="4215384" y="4224528"/>
            <a:ext cx="1783080" cy="1645920"/>
          </a:xfrm>
          <a:prstGeom prst="roundRect">
            <a:avLst>
              <a:gd name="adj" fmla="val 3333"/>
            </a:avLst>
          </a:prstGeom>
          <a:solidFill>
            <a:srgbClr val="F3F3F3"/>
          </a:solidFill>
          <a:ln w="12700">
            <a:solidFill>
              <a:srgbClr val="F3F3F3"/>
            </a:solidFill>
            <a:prstDash val="solid"/>
          </a:ln>
        </p:spPr>
      </p:sp>
      <p:sp>
        <p:nvSpPr>
          <p:cNvPr id="77" name="Shape 68"/>
          <p:cNvSpPr/>
          <p:nvPr/>
        </p:nvSpPr>
        <p:spPr>
          <a:xfrm>
            <a:off x="4325112" y="4315968"/>
            <a:ext cx="402336" cy="402336"/>
          </a:xfrm>
          <a:prstGeom prst="ellipse">
            <a:avLst/>
          </a:prstGeom>
          <a:solidFill>
            <a:srgbClr val="2B2B2B"/>
          </a:solidFill>
          <a:ln w="12700">
            <a:solidFill>
              <a:srgbClr val="2B2B2B"/>
            </a:solidFill>
            <a:prstDash val="solid"/>
          </a:ln>
        </p:spPr>
      </p:sp>
      <p:pic>
        <p:nvPicPr>
          <p:cNvPr id="78" name="Image 7" descr="img/icons/archive-white.png">    </p:cNvPr>
          <p:cNvPicPr>
            <a:picLocks noChangeAspect="1"/>
          </p:cNvPicPr>
          <p:nvPr/>
        </p:nvPicPr>
        <p:blipFill>
          <a:blip r:embed="rId8"/>
          <a:stretch>
            <a:fillRect/>
          </a:stretch>
        </p:blipFill>
        <p:spPr>
          <a:xfrm>
            <a:off x="4413626" y="4404482"/>
            <a:ext cx="225308" cy="225308"/>
          </a:xfrm>
          <a:prstGeom prst="rect">
            <a:avLst/>
          </a:prstGeom>
        </p:spPr>
      </p:pic>
      <p:sp>
        <p:nvSpPr>
          <p:cNvPr id="79" name="Text 69"/>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2B2B2B"/>
                </a:solidFill>
                <a:latin typeface="Calibri" pitchFamily="34" charset="0"/>
                <a:ea typeface="Calibri" pitchFamily="34" charset="-122"/>
                <a:cs typeface="Calibri" pitchFamily="34" charset="-120"/>
              </a:rPr>
              <a:t>~10,100</a:t>
            </a:r>
            <a:endParaRPr lang="en-US" sz="2000" dirty="0"/>
          </a:p>
        </p:txBody>
      </p:sp>
      <p:sp>
        <p:nvSpPr>
          <p:cNvPr id="80" name="Shape 70"/>
          <p:cNvSpPr/>
          <p:nvPr/>
        </p:nvSpPr>
        <p:spPr>
          <a:xfrm>
            <a:off x="4325112" y="5212080"/>
            <a:ext cx="277173" cy="164592"/>
          </a:xfrm>
          <a:prstGeom prst="rect">
            <a:avLst/>
          </a:prstGeom>
          <a:solidFill>
            <a:srgbClr val="C4561A"/>
          </a:solidFill>
          <a:ln w="12700">
            <a:solidFill>
              <a:srgbClr val="C4561A"/>
            </a:solidFill>
            <a:prstDash val="solid"/>
          </a:ln>
        </p:spPr>
      </p:sp>
      <p:sp>
        <p:nvSpPr>
          <p:cNvPr id="81" name="Shape 71"/>
          <p:cNvSpPr/>
          <p:nvPr/>
        </p:nvSpPr>
        <p:spPr>
          <a:xfrm>
            <a:off x="4602285" y="5212080"/>
            <a:ext cx="924065" cy="164592"/>
          </a:xfrm>
          <a:prstGeom prst="rect">
            <a:avLst/>
          </a:prstGeom>
          <a:solidFill>
            <a:srgbClr val="D2651F"/>
          </a:solidFill>
          <a:ln w="12700">
            <a:solidFill>
              <a:srgbClr val="D2651F"/>
            </a:solidFill>
            <a:prstDash val="solid"/>
          </a:ln>
        </p:spPr>
      </p:sp>
      <p:sp>
        <p:nvSpPr>
          <p:cNvPr id="82" name="Shape 72"/>
          <p:cNvSpPr/>
          <p:nvPr/>
        </p:nvSpPr>
        <p:spPr>
          <a:xfrm>
            <a:off x="5526350" y="5212080"/>
            <a:ext cx="353242" cy="164592"/>
          </a:xfrm>
          <a:prstGeom prst="rect">
            <a:avLst/>
          </a:prstGeom>
          <a:solidFill>
            <a:srgbClr val="F5BE92"/>
          </a:solidFill>
          <a:ln w="12700">
            <a:solidFill>
              <a:srgbClr val="F5BE92"/>
            </a:solidFill>
            <a:prstDash val="solid"/>
          </a:ln>
        </p:spPr>
      </p:sp>
      <p:sp>
        <p:nvSpPr>
          <p:cNvPr id="83" name="Shape 73"/>
          <p:cNvSpPr/>
          <p:nvPr/>
        </p:nvSpPr>
        <p:spPr>
          <a:xfrm>
            <a:off x="4325112" y="5454396"/>
            <a:ext cx="91440" cy="91440"/>
          </a:xfrm>
          <a:prstGeom prst="rect">
            <a:avLst/>
          </a:prstGeom>
          <a:solidFill>
            <a:srgbClr val="C4561A"/>
          </a:solidFill>
          <a:ln w="12700">
            <a:solidFill>
              <a:srgbClr val="C4561A"/>
            </a:solidFill>
            <a:prstDash val="solid"/>
          </a:ln>
        </p:spPr>
      </p:sp>
      <p:sp>
        <p:nvSpPr>
          <p:cNvPr id="84" name="Text 74"/>
          <p:cNvSpPr txBox="1"/>
          <p:nvPr/>
        </p:nvSpPr>
        <p:spPr>
          <a:xfrm>
            <a:off x="4471416" y="5422392"/>
            <a:ext cx="1463040" cy="146304"/>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Lab 1,800</a:t>
            </a:r>
            <a:endParaRPr lang="en-US" sz="900" dirty="0"/>
          </a:p>
        </p:txBody>
      </p:sp>
      <p:sp>
        <p:nvSpPr>
          <p:cNvPr id="85" name="Shape 75"/>
          <p:cNvSpPr/>
          <p:nvPr/>
        </p:nvSpPr>
        <p:spPr>
          <a:xfrm>
            <a:off x="4325112" y="5596128"/>
            <a:ext cx="91440" cy="91440"/>
          </a:xfrm>
          <a:prstGeom prst="rect">
            <a:avLst/>
          </a:prstGeom>
          <a:solidFill>
            <a:srgbClr val="D2651F"/>
          </a:solidFill>
          <a:ln w="12700">
            <a:solidFill>
              <a:srgbClr val="D2651F"/>
            </a:solidFill>
            <a:prstDash val="solid"/>
          </a:ln>
        </p:spPr>
      </p:sp>
      <p:sp>
        <p:nvSpPr>
          <p:cNvPr id="86" name="Text 76"/>
          <p:cNvSpPr txBox="1"/>
          <p:nvPr/>
        </p:nvSpPr>
        <p:spPr>
          <a:xfrm>
            <a:off x="4471416" y="5564124"/>
            <a:ext cx="1463040" cy="146304"/>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Mill strip 6,001</a:t>
            </a:r>
            <a:endParaRPr lang="en-US" sz="900" dirty="0"/>
          </a:p>
        </p:txBody>
      </p:sp>
      <p:sp>
        <p:nvSpPr>
          <p:cNvPr id="87" name="Shape 77"/>
          <p:cNvSpPr/>
          <p:nvPr/>
        </p:nvSpPr>
        <p:spPr>
          <a:xfrm>
            <a:off x="4325112" y="5737860"/>
            <a:ext cx="91440" cy="91440"/>
          </a:xfrm>
          <a:prstGeom prst="rect">
            <a:avLst/>
          </a:prstGeom>
          <a:solidFill>
            <a:srgbClr val="F5BE92"/>
          </a:solidFill>
          <a:ln w="12700">
            <a:solidFill>
              <a:srgbClr val="F5BE92"/>
            </a:solidFill>
            <a:prstDash val="solid"/>
          </a:ln>
        </p:spPr>
      </p:sp>
      <p:sp>
        <p:nvSpPr>
          <p:cNvPr id="88" name="Text 78"/>
          <p:cNvSpPr txBox="1"/>
          <p:nvPr/>
        </p:nvSpPr>
        <p:spPr>
          <a:xfrm>
            <a:off x="4471416" y="5705856"/>
            <a:ext cx="1463040" cy="146304"/>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Line-scan 2,294</a:t>
            </a:r>
            <a:endParaRPr lang="en-US" sz="900" dirty="0"/>
          </a:p>
        </p:txBody>
      </p:sp>
      <p:sp>
        <p:nvSpPr>
          <p:cNvPr id="89" name="Shape 79"/>
          <p:cNvSpPr/>
          <p:nvPr/>
        </p:nvSpPr>
        <p:spPr>
          <a:xfrm>
            <a:off x="6190488" y="3886200"/>
            <a:ext cx="5541264" cy="274320"/>
          </a:xfrm>
          <a:prstGeom prst="rect">
            <a:avLst/>
          </a:prstGeom>
          <a:solidFill>
            <a:srgbClr val="E4803A"/>
          </a:solidFill>
          <a:ln w="12700">
            <a:solidFill>
              <a:srgbClr val="E4803A"/>
            </a:solidFill>
            <a:prstDash val="solid"/>
          </a:ln>
        </p:spPr>
      </p:sp>
      <p:sp>
        <p:nvSpPr>
          <p:cNvPr id="90" name="Text 80"/>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45720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C997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5720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C997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Prove it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57200">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Edge cameras; targeted labelling with JSL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B63831"/>
          </a:solidFill>
          <a:ln w="12700">
            <a:solidFill>
              <a:srgbClr val="B63831"/>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F2F2F2"/>
          </a:solidFill>
          <a:ln w="12700">
            <a:solidFill>
              <a:srgbClr val="F2F2F2"/>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IMPLEMENTATION  ·  ROADMAP  ·  RISK</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one line for seven months. The month-7 go/no-go is decided on JSL's own alarm and recall numbers.</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Pragati: JSL's digitalisation programme; Phase 2 brings Level-2 process data at Jajpur. KPI targets to be agreed with JSL Quality in P0.</a:t>
            </a:r>
            <a:endParaRPr lang="en-US" sz="900" dirty="0"/>
          </a:p>
        </p:txBody>
      </p:sp>
      <p:sp>
        <p:nvSpPr>
          <p:cNvPr id="22" name="Shape 18"/>
          <p:cNvSpPr/>
          <p:nvPr/>
        </p:nvSpPr>
        <p:spPr>
          <a:xfrm>
            <a:off x="457200" y="1234440"/>
            <a:ext cx="7178040"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24" name="Text 20"/>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m0</a:t>
            </a:r>
            <a:endParaRPr lang="en-US" sz="900" dirty="0"/>
          </a:p>
        </p:txBody>
      </p:sp>
      <p:sp>
        <p:nvSpPr>
          <p:cNvPr id="25" name="Text 21"/>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m4</a:t>
            </a:r>
            <a:endParaRPr lang="en-US" sz="900" dirty="0"/>
          </a:p>
        </p:txBody>
      </p:sp>
      <p:sp>
        <p:nvSpPr>
          <p:cNvPr id="26" name="Text 22"/>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m8</a:t>
            </a:r>
            <a:endParaRPr lang="en-US" sz="900" dirty="0"/>
          </a:p>
        </p:txBody>
      </p:sp>
      <p:sp>
        <p:nvSpPr>
          <p:cNvPr id="27" name="Text 23"/>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m12</a:t>
            </a:r>
            <a:endParaRPr lang="en-US" sz="900" dirty="0"/>
          </a:p>
        </p:txBody>
      </p:sp>
      <p:sp>
        <p:nvSpPr>
          <p:cNvPr id="28" name="Text 24"/>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m16</a:t>
            </a:r>
            <a:endParaRPr lang="en-US" sz="900" dirty="0"/>
          </a:p>
        </p:txBody>
      </p:sp>
      <p:sp>
        <p:nvSpPr>
          <p:cNvPr id="29" name="Text 25"/>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6E6E6E"/>
                </a:solidFill>
                <a:latin typeface="Calibri" pitchFamily="34" charset="0"/>
                <a:ea typeface="Calibri" pitchFamily="34" charset="-122"/>
                <a:cs typeface="Calibri" pitchFamily="34" charset="-120"/>
              </a:rPr>
              <a:t>m20</a:t>
            </a:r>
            <a:endParaRPr lang="en-US" sz="900" dirty="0"/>
          </a:p>
        </p:txBody>
      </p:sp>
      <p:sp>
        <p:nvSpPr>
          <p:cNvPr id="30" name="Text 26"/>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6E6E6E"/>
                </a:solidFill>
                <a:latin typeface="Calibri" pitchFamily="34" charset="0"/>
                <a:ea typeface="Calibri" pitchFamily="34" charset="-122"/>
                <a:cs typeface="Calibri" pitchFamily="34" charset="-120"/>
              </a:rPr>
              <a:t>◆ EXIT GATE</a:t>
            </a:r>
            <a:endParaRPr lang="en-US" sz="900" dirty="0"/>
          </a:p>
        </p:txBody>
      </p:sp>
      <p:sp>
        <p:nvSpPr>
          <p:cNvPr id="31" name="Text 27"/>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P0</a:t>
            </a:r>
            <a:endParaRPr lang="en-US" sz="1100" dirty="0"/>
          </a:p>
        </p:txBody>
      </p:sp>
      <p:sp>
        <p:nvSpPr>
          <p:cNvPr id="32" name="Text 28"/>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Instrument one line</a:t>
            </a:r>
            <a:endParaRPr lang="en-US" sz="950" dirty="0"/>
          </a:p>
        </p:txBody>
      </p:sp>
      <p:sp>
        <p:nvSpPr>
          <p:cNvPr id="33" name="Shape 29"/>
          <p:cNvSpPr/>
          <p:nvPr/>
        </p:nvSpPr>
        <p:spPr>
          <a:xfrm>
            <a:off x="2514600" y="1847088"/>
            <a:ext cx="3246120" cy="182880"/>
          </a:xfrm>
          <a:prstGeom prst="rect">
            <a:avLst/>
          </a:prstGeom>
          <a:solidFill>
            <a:srgbClr val="F3F3F3"/>
          </a:solidFill>
          <a:ln w="12700">
            <a:solidFill>
              <a:srgbClr val="F3F3F3"/>
            </a:solidFill>
            <a:prstDash val="solid"/>
          </a:ln>
        </p:spPr>
      </p:sp>
      <p:sp>
        <p:nvSpPr>
          <p:cNvPr id="34" name="Shape 30"/>
          <p:cNvSpPr/>
          <p:nvPr/>
        </p:nvSpPr>
        <p:spPr>
          <a:xfrm>
            <a:off x="2514600" y="1847088"/>
            <a:ext cx="243459" cy="182880"/>
          </a:xfrm>
          <a:prstGeom prst="rect">
            <a:avLst/>
          </a:prstGeom>
          <a:solidFill>
            <a:srgbClr val="D2651F"/>
          </a:solidFill>
          <a:ln w="12700">
            <a:solidFill>
              <a:srgbClr val="D2651F"/>
            </a:solidFill>
            <a:prstDash val="solid"/>
          </a:ln>
        </p:spPr>
      </p:sp>
      <p:sp>
        <p:nvSpPr>
          <p:cNvPr id="35" name="Shape 31"/>
          <p:cNvSpPr/>
          <p:nvPr/>
        </p:nvSpPr>
        <p:spPr>
          <a:xfrm>
            <a:off x="2675763" y="1856232"/>
            <a:ext cx="164592" cy="164592"/>
          </a:xfrm>
          <a:prstGeom prst="diamond">
            <a:avLst/>
          </a:prstGeom>
          <a:solidFill>
            <a:srgbClr val="2B2B2B"/>
          </a:solidFill>
          <a:ln w="12700">
            <a:solidFill>
              <a:srgbClr val="FFFFFF"/>
            </a:solidFill>
            <a:prstDash val="solid"/>
          </a:ln>
        </p:spPr>
      </p:sp>
      <p:sp>
        <p:nvSpPr>
          <p:cNvPr id="36" name="Text 32"/>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Optics fixed; Pragati L2 data linked</a:t>
            </a:r>
            <a:endParaRPr lang="en-US" sz="900" dirty="0"/>
          </a:p>
        </p:txBody>
      </p:sp>
      <p:sp>
        <p:nvSpPr>
          <p:cNvPr id="37" name="Text 33"/>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P1</a:t>
            </a:r>
            <a:endParaRPr lang="en-US" sz="1100" dirty="0"/>
          </a:p>
        </p:txBody>
      </p:sp>
      <p:sp>
        <p:nvSpPr>
          <p:cNvPr id="38" name="Text 34"/>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Learn JSL strip (5,000 frames)</a:t>
            </a:r>
            <a:endParaRPr lang="en-US" sz="950" dirty="0"/>
          </a:p>
        </p:txBody>
      </p:sp>
      <p:sp>
        <p:nvSpPr>
          <p:cNvPr id="39" name="Shape 35"/>
          <p:cNvSpPr/>
          <p:nvPr/>
        </p:nvSpPr>
        <p:spPr>
          <a:xfrm>
            <a:off x="2514600" y="2194560"/>
            <a:ext cx="3246120" cy="182880"/>
          </a:xfrm>
          <a:prstGeom prst="rect">
            <a:avLst/>
          </a:prstGeom>
          <a:solidFill>
            <a:srgbClr val="F3F3F3"/>
          </a:solidFill>
          <a:ln w="12700">
            <a:solidFill>
              <a:srgbClr val="F3F3F3"/>
            </a:solidFill>
            <a:prstDash val="solid"/>
          </a:ln>
        </p:spPr>
      </p:sp>
      <p:sp>
        <p:nvSpPr>
          <p:cNvPr id="40" name="Shape 36"/>
          <p:cNvSpPr/>
          <p:nvPr/>
        </p:nvSpPr>
        <p:spPr>
          <a:xfrm>
            <a:off x="2758059" y="2194560"/>
            <a:ext cx="405765" cy="182880"/>
          </a:xfrm>
          <a:prstGeom prst="rect">
            <a:avLst/>
          </a:prstGeom>
          <a:solidFill>
            <a:srgbClr val="D2651F"/>
          </a:solidFill>
          <a:ln w="12700">
            <a:solidFill>
              <a:srgbClr val="D2651F"/>
            </a:solidFill>
            <a:prstDash val="solid"/>
          </a:ln>
        </p:spPr>
      </p:sp>
      <p:sp>
        <p:nvSpPr>
          <p:cNvPr id="41" name="Shape 37"/>
          <p:cNvSpPr/>
          <p:nvPr/>
        </p:nvSpPr>
        <p:spPr>
          <a:xfrm>
            <a:off x="3081528" y="2203704"/>
            <a:ext cx="164592" cy="164592"/>
          </a:xfrm>
          <a:prstGeom prst="diamond">
            <a:avLst/>
          </a:prstGeom>
          <a:solidFill>
            <a:srgbClr val="2B2B2B"/>
          </a:solidFill>
          <a:ln w="12700">
            <a:solidFill>
              <a:srgbClr val="FFFFFF"/>
            </a:solidFill>
            <a:prstDash val="solid"/>
          </a:ln>
        </p:spPr>
      </p:sp>
      <p:sp>
        <p:nvSpPr>
          <p:cNvPr id="42" name="Text 38"/>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Clean alarms ≤ 25%, recall ≥ 90%</a:t>
            </a:r>
            <a:endParaRPr lang="en-US" sz="900" dirty="0"/>
          </a:p>
        </p:txBody>
      </p:sp>
      <p:sp>
        <p:nvSpPr>
          <p:cNvPr id="43" name="Text 39"/>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P2</a:t>
            </a:r>
            <a:endParaRPr lang="en-US" sz="1100" dirty="0"/>
          </a:p>
        </p:txBody>
      </p:sp>
      <p:sp>
        <p:nvSpPr>
          <p:cNvPr id="44" name="Text 40"/>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Shadow mode: advises only</a:t>
            </a:r>
            <a:endParaRPr lang="en-US" sz="950" dirty="0"/>
          </a:p>
        </p:txBody>
      </p:sp>
      <p:sp>
        <p:nvSpPr>
          <p:cNvPr id="45" name="Shape 41"/>
          <p:cNvSpPr/>
          <p:nvPr/>
        </p:nvSpPr>
        <p:spPr>
          <a:xfrm>
            <a:off x="2514600" y="2542032"/>
            <a:ext cx="3246120" cy="182880"/>
          </a:xfrm>
          <a:prstGeom prst="rect">
            <a:avLst/>
          </a:prstGeom>
          <a:solidFill>
            <a:srgbClr val="F3F3F3"/>
          </a:solidFill>
          <a:ln w="12700">
            <a:solidFill>
              <a:srgbClr val="F3F3F3"/>
            </a:solidFill>
            <a:prstDash val="solid"/>
          </a:ln>
        </p:spPr>
      </p:sp>
      <p:sp>
        <p:nvSpPr>
          <p:cNvPr id="46" name="Shape 42"/>
          <p:cNvSpPr/>
          <p:nvPr/>
        </p:nvSpPr>
        <p:spPr>
          <a:xfrm>
            <a:off x="3163824" y="2542032"/>
            <a:ext cx="486918" cy="182880"/>
          </a:xfrm>
          <a:prstGeom prst="rect">
            <a:avLst/>
          </a:prstGeom>
          <a:solidFill>
            <a:srgbClr val="D2651F"/>
          </a:solidFill>
          <a:ln w="12700">
            <a:solidFill>
              <a:srgbClr val="D2651F"/>
            </a:solidFill>
            <a:prstDash val="solid"/>
          </a:ln>
        </p:spPr>
      </p:sp>
      <p:sp>
        <p:nvSpPr>
          <p:cNvPr id="47" name="Shape 43"/>
          <p:cNvSpPr/>
          <p:nvPr/>
        </p:nvSpPr>
        <p:spPr>
          <a:xfrm>
            <a:off x="3568446" y="2551176"/>
            <a:ext cx="164592" cy="164592"/>
          </a:xfrm>
          <a:prstGeom prst="diamond">
            <a:avLst/>
          </a:prstGeom>
          <a:solidFill>
            <a:srgbClr val="2B2B2B"/>
          </a:solidFill>
          <a:ln w="12700">
            <a:solidFill>
              <a:srgbClr val="FFFFFF"/>
            </a:solidFill>
            <a:prstDash val="solid"/>
          </a:ln>
        </p:spPr>
      </p:sp>
      <p:sp>
        <p:nvSpPr>
          <p:cNvPr id="48" name="Text 44"/>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 90% operator agreement</a:t>
            </a:r>
            <a:endParaRPr lang="en-US" sz="900" dirty="0"/>
          </a:p>
        </p:txBody>
      </p:sp>
      <p:sp>
        <p:nvSpPr>
          <p:cNvPr id="49" name="Text 45"/>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P3</a:t>
            </a:r>
            <a:endParaRPr lang="en-US" sz="1100" dirty="0"/>
          </a:p>
        </p:txBody>
      </p:sp>
      <p:sp>
        <p:nvSpPr>
          <p:cNvPr id="50" name="Text 46"/>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Auto-hold on severe defects</a:t>
            </a:r>
            <a:endParaRPr lang="en-US" sz="950" dirty="0"/>
          </a:p>
        </p:txBody>
      </p:sp>
      <p:sp>
        <p:nvSpPr>
          <p:cNvPr id="51" name="Shape 47"/>
          <p:cNvSpPr/>
          <p:nvPr/>
        </p:nvSpPr>
        <p:spPr>
          <a:xfrm>
            <a:off x="2514600" y="2889504"/>
            <a:ext cx="3246120" cy="182880"/>
          </a:xfrm>
          <a:prstGeom prst="rect">
            <a:avLst/>
          </a:prstGeom>
          <a:solidFill>
            <a:srgbClr val="F3F3F3"/>
          </a:solidFill>
          <a:ln w="12700">
            <a:solidFill>
              <a:srgbClr val="F3F3F3"/>
            </a:solidFill>
            <a:prstDash val="solid"/>
          </a:ln>
        </p:spPr>
      </p:sp>
      <p:sp>
        <p:nvSpPr>
          <p:cNvPr id="52" name="Shape 48"/>
          <p:cNvSpPr/>
          <p:nvPr/>
        </p:nvSpPr>
        <p:spPr>
          <a:xfrm>
            <a:off x="3650742" y="2889504"/>
            <a:ext cx="811530" cy="182880"/>
          </a:xfrm>
          <a:prstGeom prst="rect">
            <a:avLst/>
          </a:prstGeom>
          <a:solidFill>
            <a:srgbClr val="5C5C5C"/>
          </a:solidFill>
          <a:ln w="12700">
            <a:solidFill>
              <a:srgbClr val="5C5C5C"/>
            </a:solidFill>
            <a:prstDash val="solid"/>
          </a:ln>
        </p:spPr>
      </p:sp>
      <p:sp>
        <p:nvSpPr>
          <p:cNvPr id="53" name="Shape 49"/>
          <p:cNvSpPr/>
          <p:nvPr/>
        </p:nvSpPr>
        <p:spPr>
          <a:xfrm>
            <a:off x="4379976" y="2898648"/>
            <a:ext cx="164592" cy="164592"/>
          </a:xfrm>
          <a:prstGeom prst="diamond">
            <a:avLst/>
          </a:prstGeom>
          <a:solidFill>
            <a:srgbClr val="2B2B2B"/>
          </a:solidFill>
          <a:ln w="12700">
            <a:solidFill>
              <a:srgbClr val="FFFFFF"/>
            </a:solidFill>
            <a:prstDash val="solid"/>
          </a:ln>
        </p:spPr>
      </p:sp>
      <p:sp>
        <p:nvSpPr>
          <p:cNvPr id="54" name="Text 50"/>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Holds trusted; downgrade measured</a:t>
            </a:r>
            <a:endParaRPr lang="en-US" sz="900" dirty="0"/>
          </a:p>
        </p:txBody>
      </p:sp>
      <p:sp>
        <p:nvSpPr>
          <p:cNvPr id="55" name="Text 51"/>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D2651F"/>
                </a:solidFill>
                <a:latin typeface="Calibri" pitchFamily="34" charset="0"/>
                <a:ea typeface="Calibri" pitchFamily="34" charset="-122"/>
                <a:cs typeface="Calibri" pitchFamily="34" charset="-120"/>
              </a:rPr>
              <a:t>P4</a:t>
            </a:r>
            <a:endParaRPr lang="en-US" sz="1100" dirty="0"/>
          </a:p>
        </p:txBody>
      </p:sp>
      <p:sp>
        <p:nvSpPr>
          <p:cNvPr id="56" name="Text 52"/>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Second line and grade</a:t>
            </a:r>
            <a:endParaRPr lang="en-US" sz="950" dirty="0"/>
          </a:p>
        </p:txBody>
      </p:sp>
      <p:sp>
        <p:nvSpPr>
          <p:cNvPr id="57" name="Shape 53"/>
          <p:cNvSpPr/>
          <p:nvPr/>
        </p:nvSpPr>
        <p:spPr>
          <a:xfrm>
            <a:off x="2514600" y="3236976"/>
            <a:ext cx="3246120" cy="182880"/>
          </a:xfrm>
          <a:prstGeom prst="rect">
            <a:avLst/>
          </a:prstGeom>
          <a:solidFill>
            <a:srgbClr val="F3F3F3"/>
          </a:solidFill>
          <a:ln w="12700">
            <a:solidFill>
              <a:srgbClr val="F3F3F3"/>
            </a:solidFill>
            <a:prstDash val="solid"/>
          </a:ln>
        </p:spPr>
      </p:sp>
      <p:sp>
        <p:nvSpPr>
          <p:cNvPr id="58" name="Shape 54"/>
          <p:cNvSpPr/>
          <p:nvPr/>
        </p:nvSpPr>
        <p:spPr>
          <a:xfrm>
            <a:off x="4462272" y="3236976"/>
            <a:ext cx="1298448" cy="182880"/>
          </a:xfrm>
          <a:prstGeom prst="rect">
            <a:avLst/>
          </a:prstGeom>
          <a:solidFill>
            <a:srgbClr val="5C5C5C"/>
          </a:solidFill>
          <a:ln w="12700">
            <a:solidFill>
              <a:srgbClr val="5C5C5C"/>
            </a:solidFill>
            <a:prstDash val="solid"/>
          </a:ln>
        </p:spPr>
      </p:sp>
      <p:sp>
        <p:nvSpPr>
          <p:cNvPr id="59" name="Shape 55"/>
          <p:cNvSpPr/>
          <p:nvPr/>
        </p:nvSpPr>
        <p:spPr>
          <a:xfrm>
            <a:off x="5678424" y="3246120"/>
            <a:ext cx="164592" cy="164592"/>
          </a:xfrm>
          <a:prstGeom prst="diamond">
            <a:avLst/>
          </a:prstGeom>
          <a:solidFill>
            <a:srgbClr val="2B2B2B"/>
          </a:solidFill>
          <a:ln w="12700">
            <a:solidFill>
              <a:srgbClr val="FFFFFF"/>
            </a:solidFill>
            <a:prstDash val="solid"/>
          </a:ln>
        </p:spPr>
      </p:sp>
      <p:sp>
        <p:nvSpPr>
          <p:cNvPr id="60" name="Text 56"/>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404040"/>
                </a:solidFill>
                <a:latin typeface="Calibri" pitchFamily="34" charset="0"/>
                <a:ea typeface="Calibri" pitchFamily="34" charset="-122"/>
                <a:cs typeface="Calibri" pitchFamily="34" charset="-120"/>
              </a:rPr>
              <a:t>Fleet decision on measured value</a:t>
            </a:r>
            <a:endParaRPr lang="en-US" sz="900" dirty="0"/>
          </a:p>
        </p:txBody>
      </p:sp>
      <p:sp>
        <p:nvSpPr>
          <p:cNvPr id="61" name="Shape 57"/>
          <p:cNvSpPr/>
          <p:nvPr/>
        </p:nvSpPr>
        <p:spPr>
          <a:xfrm>
            <a:off x="3641598" y="1755648"/>
            <a:ext cx="22860" cy="1737360"/>
          </a:xfrm>
          <a:prstGeom prst="rect">
            <a:avLst/>
          </a:prstGeom>
          <a:solidFill>
            <a:srgbClr val="C62828"/>
          </a:solidFill>
          <a:ln w="12700">
            <a:solidFill>
              <a:srgbClr val="C62828"/>
            </a:solidFill>
            <a:prstDash val="solid"/>
          </a:ln>
        </p:spPr>
      </p:sp>
      <p:sp>
        <p:nvSpPr>
          <p:cNvPr id="62" name="Text 58"/>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63" name="Shape 59"/>
          <p:cNvSpPr/>
          <p:nvPr/>
        </p:nvSpPr>
        <p:spPr>
          <a:xfrm>
            <a:off x="7863840" y="1234440"/>
            <a:ext cx="3867912" cy="274320"/>
          </a:xfrm>
          <a:prstGeom prst="rect">
            <a:avLst/>
          </a:prstGeom>
          <a:solidFill>
            <a:srgbClr val="E4803A"/>
          </a:solidFill>
          <a:ln w="12700">
            <a:solidFill>
              <a:srgbClr val="E4803A"/>
            </a:solidFill>
            <a:prstDash val="solid"/>
          </a:ln>
        </p:spPr>
      </p:sp>
      <p:sp>
        <p:nvSpPr>
          <p:cNvPr id="64" name="Text 60"/>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scope: in and out</a:t>
            </a:r>
            <a:endParaRPr lang="en-US" sz="1100" dirty="0"/>
          </a:p>
        </p:txBody>
      </p:sp>
      <p:sp>
        <p:nvSpPr>
          <p:cNvPr id="65" name="Text 61"/>
          <p:cNvSpPr txBox="1"/>
          <p:nvPr/>
        </p:nvSpPr>
        <p:spPr>
          <a:xfrm>
            <a:off x="7955280" y="1572768"/>
            <a:ext cx="1828800" cy="201168"/>
          </a:xfrm>
          <a:prstGeom prst="rect">
            <a:avLst/>
          </a:prstGeom>
          <a:noFill/>
          <a:ln/>
        </p:spPr>
        <p:txBody>
          <a:bodyPr wrap="square" lIns="0" tIns="0" rIns="0" bIns="0" rtlCol="0" anchor="t"/>
          <a:lstStyle/>
          <a:p>
            <a:pPr indent="0" marL="0">
              <a:buNone/>
            </a:pPr>
            <a:r>
              <a:rPr lang="en-US" sz="950" b="1" spc="100" kern="0" dirty="0">
                <a:solidFill>
                  <a:srgbClr val="D2651F"/>
                </a:solidFill>
                <a:latin typeface="Calibri" pitchFamily="34" charset="0"/>
                <a:ea typeface="Calibri" pitchFamily="34" charset="-122"/>
                <a:cs typeface="Calibri" pitchFamily="34" charset="-120"/>
              </a:rPr>
              <a:t>IN THE PILOT</a:t>
            </a:r>
            <a:endParaRPr lang="en-US" sz="950" dirty="0"/>
          </a:p>
        </p:txBody>
      </p:sp>
      <p:sp>
        <p:nvSpPr>
          <p:cNvPr id="66" name="Text 62"/>
          <p:cNvSpPr txBox="1"/>
          <p:nvPr/>
        </p:nvSpPr>
        <p:spPr>
          <a:xfrm>
            <a:off x="9921240" y="1572768"/>
            <a:ext cx="1737360" cy="201168"/>
          </a:xfrm>
          <a:prstGeom prst="rect">
            <a:avLst/>
          </a:prstGeom>
          <a:noFill/>
          <a:ln/>
        </p:spPr>
        <p:txBody>
          <a:bodyPr wrap="square" lIns="0" tIns="0" rIns="0" bIns="0" rtlCol="0" anchor="t"/>
          <a:lstStyle/>
          <a:p>
            <a:pPr indent="0" marL="0">
              <a:buNone/>
            </a:pPr>
            <a:r>
              <a:rPr lang="en-US" sz="950" b="1" spc="100" kern="0" dirty="0">
                <a:solidFill>
                  <a:srgbClr val="6E6E6E"/>
                </a:solidFill>
                <a:latin typeface="Calibri" pitchFamily="34" charset="0"/>
                <a:ea typeface="Calibri" pitchFamily="34" charset="-122"/>
                <a:cs typeface="Calibri" pitchFamily="34" charset="-120"/>
              </a:rPr>
              <a:t>LATER</a:t>
            </a:r>
            <a:endParaRPr lang="en-US" sz="950" dirty="0"/>
          </a:p>
        </p:txBody>
      </p:sp>
      <p:sp>
        <p:nvSpPr>
          <p:cNvPr id="67" name="Shape 63"/>
          <p:cNvSpPr/>
          <p:nvPr/>
        </p:nvSpPr>
        <p:spPr>
          <a:xfrm>
            <a:off x="7973568" y="1901952"/>
            <a:ext cx="91440" cy="91440"/>
          </a:xfrm>
          <a:prstGeom prst="ellipse">
            <a:avLst/>
          </a:prstGeom>
          <a:solidFill>
            <a:srgbClr val="D2651F"/>
          </a:solidFill>
          <a:ln w="12700">
            <a:solidFill>
              <a:srgbClr val="D2651F"/>
            </a:solidFill>
            <a:prstDash val="solid"/>
          </a:ln>
        </p:spPr>
      </p:sp>
      <p:sp>
        <p:nvSpPr>
          <p:cNvPr id="68" name="Text 64"/>
          <p:cNvSpPr txBox="1"/>
          <p:nvPr/>
        </p:nvSpPr>
        <p:spPr>
          <a:xfrm>
            <a:off x="8119872" y="1810512"/>
            <a:ext cx="1737360" cy="329184"/>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One 300-series cold-rolled line, both faces</a:t>
            </a:r>
            <a:endParaRPr lang="en-US" sz="950" dirty="0"/>
          </a:p>
        </p:txBody>
      </p:sp>
      <p:sp>
        <p:nvSpPr>
          <p:cNvPr id="69" name="Shape 65"/>
          <p:cNvSpPr/>
          <p:nvPr/>
        </p:nvSpPr>
        <p:spPr>
          <a:xfrm>
            <a:off x="9939528" y="1901952"/>
            <a:ext cx="91440" cy="91440"/>
          </a:xfrm>
          <a:prstGeom prst="ellipse">
            <a:avLst/>
          </a:prstGeom>
          <a:solidFill>
            <a:srgbClr val="9E9E9E"/>
          </a:solidFill>
          <a:ln w="12700">
            <a:solidFill>
              <a:srgbClr val="9E9E9E"/>
            </a:solidFill>
            <a:prstDash val="solid"/>
          </a:ln>
        </p:spPr>
      </p:sp>
      <p:sp>
        <p:nvSpPr>
          <p:cNvPr id="70" name="Text 66"/>
          <p:cNvSpPr txBox="1"/>
          <p:nvPr/>
        </p:nvSpPr>
        <p:spPr>
          <a:xfrm>
            <a:off x="10085832" y="1810512"/>
            <a:ext cx="1645920" cy="329184"/>
          </a:xfrm>
          <a:prstGeom prst="rect">
            <a:avLst/>
          </a:prstGeom>
          <a:noFill/>
          <a:ln/>
        </p:spPr>
        <p:txBody>
          <a:bodyPr wrap="square" lIns="0" tIns="0" rIns="0" bIns="0" rtlCol="0" anchor="ctr"/>
          <a:lstStyle/>
          <a:p>
            <a:pPr indent="0" marL="0">
              <a:buNone/>
            </a:pPr>
            <a:r>
              <a:rPr lang="en-US" sz="950" dirty="0">
                <a:solidFill>
                  <a:srgbClr val="404040"/>
                </a:solidFill>
                <a:latin typeface="Calibri" pitchFamily="34" charset="0"/>
                <a:ea typeface="Calibri" pitchFamily="34" charset="-122"/>
                <a:cs typeface="Calibri" pitchFamily="34" charset="-120"/>
              </a:rPr>
              <a:t>Hot end and caster-side inspection</a:t>
            </a:r>
            <a:endParaRPr lang="en-US" sz="950" dirty="0"/>
          </a:p>
        </p:txBody>
      </p:sp>
      <p:sp>
        <p:nvSpPr>
          <p:cNvPr id="71" name="Shape 67"/>
          <p:cNvSpPr/>
          <p:nvPr/>
        </p:nvSpPr>
        <p:spPr>
          <a:xfrm>
            <a:off x="7973568" y="2267712"/>
            <a:ext cx="91440" cy="91440"/>
          </a:xfrm>
          <a:prstGeom prst="ellipse">
            <a:avLst/>
          </a:prstGeom>
          <a:solidFill>
            <a:srgbClr val="D2651F"/>
          </a:solidFill>
          <a:ln w="12700">
            <a:solidFill>
              <a:srgbClr val="D2651F"/>
            </a:solidFill>
            <a:prstDash val="solid"/>
          </a:ln>
        </p:spPr>
      </p:sp>
      <p:sp>
        <p:nvSpPr>
          <p:cNvPr id="72" name="Text 68"/>
          <p:cNvSpPr txBox="1"/>
          <p:nvPr/>
        </p:nvSpPr>
        <p:spPr>
          <a:xfrm>
            <a:off x="8119872" y="2176272"/>
            <a:ext cx="1737360" cy="329184"/>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2B and BA finishes</a:t>
            </a:r>
            <a:endParaRPr lang="en-US" sz="950" dirty="0"/>
          </a:p>
        </p:txBody>
      </p:sp>
      <p:sp>
        <p:nvSpPr>
          <p:cNvPr id="73" name="Shape 69"/>
          <p:cNvSpPr/>
          <p:nvPr/>
        </p:nvSpPr>
        <p:spPr>
          <a:xfrm>
            <a:off x="9939528" y="2267712"/>
            <a:ext cx="91440" cy="91440"/>
          </a:xfrm>
          <a:prstGeom prst="ellipse">
            <a:avLst/>
          </a:prstGeom>
          <a:solidFill>
            <a:srgbClr val="9E9E9E"/>
          </a:solidFill>
          <a:ln w="12700">
            <a:solidFill>
              <a:srgbClr val="9E9E9E"/>
            </a:solidFill>
            <a:prstDash val="solid"/>
          </a:ln>
        </p:spPr>
      </p:sp>
      <p:sp>
        <p:nvSpPr>
          <p:cNvPr id="74" name="Text 70"/>
          <p:cNvSpPr txBox="1"/>
          <p:nvPr/>
        </p:nvSpPr>
        <p:spPr>
          <a:xfrm>
            <a:off x="10085832" y="2176272"/>
            <a:ext cx="1645920" cy="329184"/>
          </a:xfrm>
          <a:prstGeom prst="rect">
            <a:avLst/>
          </a:prstGeom>
          <a:noFill/>
          <a:ln/>
        </p:spPr>
        <p:txBody>
          <a:bodyPr wrap="square" lIns="0" tIns="0" rIns="0" bIns="0" rtlCol="0" anchor="ctr"/>
          <a:lstStyle/>
          <a:p>
            <a:pPr indent="0" marL="0">
              <a:buNone/>
            </a:pPr>
            <a:r>
              <a:rPr lang="en-US" sz="950" dirty="0">
                <a:solidFill>
                  <a:srgbClr val="404040"/>
                </a:solidFill>
                <a:latin typeface="Calibri" pitchFamily="34" charset="0"/>
                <a:ea typeface="Calibri" pitchFamily="34" charset="-122"/>
                <a:cs typeface="Calibri" pitchFamily="34" charset="-120"/>
              </a:rPr>
              <a:t>Edge cracks: needs edge cameras</a:t>
            </a:r>
            <a:endParaRPr lang="en-US" sz="950" dirty="0"/>
          </a:p>
        </p:txBody>
      </p:sp>
      <p:sp>
        <p:nvSpPr>
          <p:cNvPr id="75" name="Shape 71"/>
          <p:cNvSpPr/>
          <p:nvPr/>
        </p:nvSpPr>
        <p:spPr>
          <a:xfrm>
            <a:off x="7973568" y="2633472"/>
            <a:ext cx="91440" cy="91440"/>
          </a:xfrm>
          <a:prstGeom prst="ellipse">
            <a:avLst/>
          </a:prstGeom>
          <a:solidFill>
            <a:srgbClr val="D2651F"/>
          </a:solidFill>
          <a:ln w="12700">
            <a:solidFill>
              <a:srgbClr val="D2651F"/>
            </a:solidFill>
            <a:prstDash val="solid"/>
          </a:ln>
        </p:spPr>
      </p:sp>
      <p:sp>
        <p:nvSpPr>
          <p:cNvPr id="76" name="Text 72"/>
          <p:cNvSpPr txBox="1"/>
          <p:nvPr/>
        </p:nvSpPr>
        <p:spPr>
          <a:xfrm>
            <a:off x="8119872" y="2542032"/>
            <a:ext cx="1737360" cy="329184"/>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Six defect families, plus unclassified</a:t>
            </a:r>
            <a:endParaRPr lang="en-US" sz="950" dirty="0"/>
          </a:p>
        </p:txBody>
      </p:sp>
      <p:sp>
        <p:nvSpPr>
          <p:cNvPr id="77" name="Shape 73"/>
          <p:cNvSpPr/>
          <p:nvPr/>
        </p:nvSpPr>
        <p:spPr>
          <a:xfrm>
            <a:off x="9939528" y="2633472"/>
            <a:ext cx="91440" cy="91440"/>
          </a:xfrm>
          <a:prstGeom prst="ellipse">
            <a:avLst/>
          </a:prstGeom>
          <a:solidFill>
            <a:srgbClr val="9E9E9E"/>
          </a:solidFill>
          <a:ln w="12700">
            <a:solidFill>
              <a:srgbClr val="9E9E9E"/>
            </a:solidFill>
            <a:prstDash val="solid"/>
          </a:ln>
        </p:spPr>
      </p:sp>
      <p:sp>
        <p:nvSpPr>
          <p:cNvPr id="78" name="Text 74"/>
          <p:cNvSpPr txBox="1"/>
          <p:nvPr/>
        </p:nvSpPr>
        <p:spPr>
          <a:xfrm>
            <a:off x="10085832" y="2542032"/>
            <a:ext cx="1645920" cy="329184"/>
          </a:xfrm>
          <a:prstGeom prst="rect">
            <a:avLst/>
          </a:prstGeom>
          <a:noFill/>
          <a:ln/>
        </p:spPr>
        <p:txBody>
          <a:bodyPr wrap="square" lIns="0" tIns="0" rIns="0" bIns="0" rtlCol="0" anchor="ctr"/>
          <a:lstStyle/>
          <a:p>
            <a:pPr indent="0" marL="0">
              <a:buNone/>
            </a:pPr>
            <a:r>
              <a:rPr lang="en-US" sz="950" dirty="0">
                <a:solidFill>
                  <a:srgbClr val="404040"/>
                </a:solidFill>
                <a:latin typeface="Calibri" pitchFamily="34" charset="0"/>
                <a:ea typeface="Calibri" pitchFamily="34" charset="-122"/>
                <a:cs typeface="Calibri" pitchFamily="34" charset="-120"/>
              </a:rPr>
              <a:t>Automatic process correction</a:t>
            </a:r>
            <a:endParaRPr lang="en-US" sz="950" dirty="0"/>
          </a:p>
        </p:txBody>
      </p:sp>
      <p:sp>
        <p:nvSpPr>
          <p:cNvPr id="79" name="Shape 75"/>
          <p:cNvSpPr/>
          <p:nvPr/>
        </p:nvSpPr>
        <p:spPr>
          <a:xfrm>
            <a:off x="7973568" y="2999232"/>
            <a:ext cx="91440" cy="91440"/>
          </a:xfrm>
          <a:prstGeom prst="ellipse">
            <a:avLst/>
          </a:prstGeom>
          <a:solidFill>
            <a:srgbClr val="D2651F"/>
          </a:solidFill>
          <a:ln w="12700">
            <a:solidFill>
              <a:srgbClr val="D2651F"/>
            </a:solidFill>
            <a:prstDash val="solid"/>
          </a:ln>
        </p:spPr>
      </p:sp>
      <p:sp>
        <p:nvSpPr>
          <p:cNvPr id="80" name="Text 76"/>
          <p:cNvSpPr txBox="1"/>
          <p:nvPr/>
        </p:nvSpPr>
        <p:spPr>
          <a:xfrm>
            <a:off x="8119872" y="2907792"/>
            <a:ext cx="1737360" cy="329184"/>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Read-only until P3; one write path</a:t>
            </a:r>
            <a:endParaRPr lang="en-US" sz="950" dirty="0"/>
          </a:p>
        </p:txBody>
      </p:sp>
      <p:sp>
        <p:nvSpPr>
          <p:cNvPr id="81" name="Shape 77"/>
          <p:cNvSpPr/>
          <p:nvPr/>
        </p:nvSpPr>
        <p:spPr>
          <a:xfrm>
            <a:off x="9939528" y="2999232"/>
            <a:ext cx="91440" cy="91440"/>
          </a:xfrm>
          <a:prstGeom prst="ellipse">
            <a:avLst/>
          </a:prstGeom>
          <a:solidFill>
            <a:srgbClr val="9E9E9E"/>
          </a:solidFill>
          <a:ln w="12700">
            <a:solidFill>
              <a:srgbClr val="9E9E9E"/>
            </a:solidFill>
            <a:prstDash val="solid"/>
          </a:ln>
        </p:spPr>
      </p:sp>
      <p:sp>
        <p:nvSpPr>
          <p:cNvPr id="82" name="Text 78"/>
          <p:cNvSpPr txBox="1"/>
          <p:nvPr/>
        </p:nvSpPr>
        <p:spPr>
          <a:xfrm>
            <a:off x="10085832" y="2907792"/>
            <a:ext cx="1645920" cy="329184"/>
          </a:xfrm>
          <a:prstGeom prst="rect">
            <a:avLst/>
          </a:prstGeom>
          <a:noFill/>
          <a:ln/>
        </p:spPr>
        <p:txBody>
          <a:bodyPr wrap="square" lIns="0" tIns="0" rIns="0" bIns="0" rtlCol="0" anchor="ctr"/>
          <a:lstStyle/>
          <a:p>
            <a:pPr indent="0" marL="0">
              <a:buNone/>
            </a:pPr>
            <a:r>
              <a:rPr lang="en-US" sz="950" dirty="0">
                <a:solidFill>
                  <a:srgbClr val="404040"/>
                </a:solidFill>
                <a:latin typeface="Calibri" pitchFamily="34" charset="0"/>
                <a:ea typeface="Calibri" pitchFamily="34" charset="-122"/>
                <a:cs typeface="Calibri" pitchFamily="34" charset="-120"/>
              </a:rPr>
              <a:t>Other plants: after P4</a:t>
            </a:r>
            <a:endParaRPr lang="en-US" sz="950" dirty="0"/>
          </a:p>
        </p:txBody>
      </p:sp>
      <p:sp>
        <p:nvSpPr>
          <p:cNvPr id="83" name="Shape 79"/>
          <p:cNvSpPr/>
          <p:nvPr/>
        </p:nvSpPr>
        <p:spPr>
          <a:xfrm>
            <a:off x="7955280" y="3310128"/>
            <a:ext cx="3730752" cy="9144"/>
          </a:xfrm>
          <a:prstGeom prst="rect">
            <a:avLst/>
          </a:prstGeom>
          <a:solidFill>
            <a:srgbClr val="D9D9D9"/>
          </a:solidFill>
          <a:ln w="12700">
            <a:solidFill>
              <a:srgbClr val="D9D9D9"/>
            </a:solidFill>
            <a:prstDash val="solid"/>
          </a:ln>
        </p:spPr>
      </p:sp>
      <p:sp>
        <p:nvSpPr>
          <p:cNvPr id="84" name="Text 80"/>
          <p:cNvSpPr txBox="1"/>
          <p:nvPr/>
        </p:nvSpPr>
        <p:spPr>
          <a:xfrm>
            <a:off x="7955280" y="3346704"/>
            <a:ext cx="3749040" cy="237744"/>
          </a:xfrm>
          <a:prstGeom prst="rect">
            <a:avLst/>
          </a:prstGeom>
          <a:noFill/>
          <a:ln/>
        </p:spPr>
        <p:txBody>
          <a:bodyPr wrap="square" lIns="0" tIns="0" rIns="0" bIns="0" rtlCol="0" anchor="ctr"/>
          <a:lstStyle/>
          <a:p>
            <a:pPr indent="0" marL="0">
              <a:buNone/>
            </a:pPr>
            <a:r>
              <a:rPr lang="en-US" sz="950" dirty="0">
                <a:solidFill>
                  <a:srgbClr val="6E6E6E"/>
                </a:solidFill>
                <a:latin typeface="Calibri" pitchFamily="34" charset="0"/>
                <a:ea typeface="Calibri" pitchFamily="34" charset="-122"/>
                <a:cs typeface="Calibri" pitchFamily="34" charset="-120"/>
              </a:rPr>
              <a:t>Decision owner: </a:t>
            </a:r>
            <a:pPr indent="0" marL="0">
              <a:buNone/>
            </a:pPr>
            <a:r>
              <a:rPr lang="en-US" sz="950" b="1" dirty="0">
                <a:solidFill>
                  <a:srgbClr val="1A1A1A"/>
                </a:solidFill>
                <a:latin typeface="Calibri" pitchFamily="34" charset="0"/>
                <a:ea typeface="Calibri" pitchFamily="34" charset="-122"/>
                <a:cs typeface="Calibri" pitchFamily="34" charset="-120"/>
              </a:rPr>
              <a:t>JSL Quality</a:t>
            </a:r>
            <a:pPr indent="0" marL="0">
              <a:buNone/>
            </a:pPr>
            <a:r>
              <a:rPr lang="en-US" sz="950" dirty="0">
                <a:solidFill>
                  <a:srgbClr val="6E6E6E"/>
                </a:solidFill>
                <a:latin typeface="Calibri" pitchFamily="34" charset="0"/>
                <a:ea typeface="Calibri" pitchFamily="34" charset="-122"/>
                <a:cs typeface="Calibri" pitchFamily="34" charset="-120"/>
              </a:rPr>
              <a:t>   Integration: </a:t>
            </a:r>
            <a:pPr indent="0" marL="0">
              <a:buNone/>
            </a:pPr>
            <a:r>
              <a:rPr lang="en-US" sz="950" b="1" dirty="0">
                <a:solidFill>
                  <a:srgbClr val="1A1A1A"/>
                </a:solidFill>
                <a:latin typeface="Calibri" pitchFamily="34" charset="0"/>
                <a:ea typeface="Calibri" pitchFamily="34" charset="-122"/>
                <a:cs typeface="Calibri" pitchFamily="34" charset="-120"/>
              </a:rPr>
              <a:t>Pragati team</a:t>
            </a:r>
            <a:endParaRPr lang="en-US" sz="950" dirty="0"/>
          </a:p>
        </p:txBody>
      </p:sp>
      <p:sp>
        <p:nvSpPr>
          <p:cNvPr id="85" name="Shape 81"/>
          <p:cNvSpPr/>
          <p:nvPr/>
        </p:nvSpPr>
        <p:spPr>
          <a:xfrm>
            <a:off x="457200" y="3730752"/>
            <a:ext cx="5541264" cy="274320"/>
          </a:xfrm>
          <a:prstGeom prst="rect">
            <a:avLst/>
          </a:prstGeom>
          <a:solidFill>
            <a:srgbClr val="E4803A"/>
          </a:solidFill>
          <a:ln w="12700">
            <a:solidFill>
              <a:srgbClr val="E4803A"/>
            </a:solidFill>
            <a:prstDash val="solid"/>
          </a:ln>
        </p:spPr>
      </p:sp>
      <p:sp>
        <p:nvSpPr>
          <p:cNvPr id="86" name="Text 82"/>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41648"/>
          <a:ext cx="5541264" cy="914400"/>
        </p:xfrm>
        <a:graphic>
          <a:graphicData uri="http://schemas.openxmlformats.org/drawingml/2006/table">
            <a:tbl>
              <a:tblPr/>
              <a:tblGrid>
                <a:gridCol w="2240280"/>
                <a:gridCol w="2660904"/>
                <a:gridCol w="64008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Retired</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260604">
                <a:tc>
                  <a:txBody>
                    <a:bodyPr/>
                    <a:lstStyle/>
                    <a:p>
                      <a:pPr indent="0" marL="0">
                        <a:buNone/>
                      </a:pPr>
                      <a:r>
                        <a:rPr lang="en-US" sz="900" b="1" dirty="0">
                          <a:solidFill>
                            <a:srgbClr val="1A1A1A"/>
                          </a:solidFill>
                          <a:latin typeface="Calibri" pitchFamily="34" charset="0"/>
                          <a:ea typeface="Calibri" pitchFamily="34" charset="-122"/>
                          <a:cs typeface="Calibri" pitchFamily="34" charset="-120"/>
                        </a:rPr>
                        <a:t>Misses on JSL's own strip at first</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1A1A1A"/>
                          </a:solidFill>
                          <a:latin typeface="Calibri" pitchFamily="34" charset="0"/>
                          <a:ea typeface="Calibri" pitchFamily="34" charset="-122"/>
                          <a:cs typeface="Calibri" pitchFamily="34" charset="-120"/>
                        </a:rPr>
                        <a:t>Learn from JSL clean and defect images</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00" b="1" dirty="0">
                          <a:solidFill>
                            <a:srgbClr val="D2651F"/>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60604">
                <a:tc>
                  <a:txBody>
                    <a:bodyPr/>
                    <a:lstStyle/>
                    <a:p>
                      <a:pPr indent="0" marL="0">
                        <a:buNone/>
                      </a:pPr>
                      <a:r>
                        <a:rPr lang="en-US" sz="900" b="1" dirty="0">
                          <a:solidFill>
                            <a:srgbClr val="1A1A1A"/>
                          </a:solidFill>
                          <a:latin typeface="Calibri" pitchFamily="34" charset="0"/>
                          <a:ea typeface="Calibri" pitchFamily="34" charset="-122"/>
                          <a:cs typeface="Calibri" pitchFamily="34" charset="-120"/>
                        </a:rPr>
                        <a:t>Mirror-like BA/2B finish hides defects</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1A1A1A"/>
                          </a:solidFill>
                          <a:latin typeface="Calibri" pitchFamily="34" charset="0"/>
                          <a:ea typeface="Calibri" pitchFamily="34" charset="-122"/>
                          <a:cs typeface="Calibri" pitchFamily="34" charset="-120"/>
                        </a:rPr>
                        <a:t>Bright + dark-field light; deflectometry for BA</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00" b="1" dirty="0">
                          <a:solidFill>
                            <a:srgbClr val="D2651F"/>
                          </a:solidFill>
                          <a:latin typeface="Calibri" pitchFamily="34" charset="0"/>
                          <a:ea typeface="Calibri" pitchFamily="34" charset="-122"/>
                          <a:cs typeface="Calibri" pitchFamily="34" charset="-120"/>
                        </a:rPr>
                        <a:t>P0-P1</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60604">
                <a:tc>
                  <a:txBody>
                    <a:bodyPr/>
                    <a:lstStyle/>
                    <a:p>
                      <a:pPr indent="0" marL="0">
                        <a:buNone/>
                      </a:pPr>
                      <a:r>
                        <a:rPr lang="en-US" sz="900" b="1" dirty="0">
                          <a:solidFill>
                            <a:srgbClr val="1A1A1A"/>
                          </a:solidFill>
                          <a:latin typeface="Calibri" pitchFamily="34" charset="0"/>
                          <a:ea typeface="Calibri" pitchFamily="34" charset="-122"/>
                          <a:cs typeface="Calibri" pitchFamily="34" charset="-120"/>
                        </a:rPr>
                        <a:t>Rare defects missed</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1A1A1A"/>
                          </a:solidFill>
                          <a:latin typeface="Calibri" pitchFamily="34" charset="0"/>
                          <a:ea typeface="Calibri" pitchFamily="34" charset="-122"/>
                          <a:cs typeface="Calibri" pitchFamily="34" charset="-120"/>
                        </a:rPr>
                        <a:t>Edge cameras; targeted labelling</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00" b="1" dirty="0">
                          <a:solidFill>
                            <a:srgbClr val="D2651F"/>
                          </a:solidFill>
                          <a:latin typeface="Calibri" pitchFamily="34" charset="0"/>
                          <a:ea typeface="Calibri" pitchFamily="34" charset="-122"/>
                          <a:cs typeface="Calibri" pitchFamily="34" charset="-120"/>
                        </a:rPr>
                        <a:t>P1-P3</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60604">
                <a:tc>
                  <a:txBody>
                    <a:bodyPr/>
                    <a:lstStyle/>
                    <a:p>
                      <a:pPr indent="0" marL="0">
                        <a:buNone/>
                      </a:pPr>
                      <a:r>
                        <a:rPr lang="en-US" sz="900" b="1" dirty="0">
                          <a:solidFill>
                            <a:srgbClr val="1A1A1A"/>
                          </a:solidFill>
                          <a:latin typeface="Calibri" pitchFamily="34" charset="0"/>
                          <a:ea typeface="Calibri" pitchFamily="34" charset="-122"/>
                          <a:cs typeface="Calibri" pitchFamily="34" charset="-120"/>
                        </a:rPr>
                        <a:t>Operators ignore alarms</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1A1A1A"/>
                          </a:solidFill>
                          <a:latin typeface="Calibri" pitchFamily="34" charset="0"/>
                          <a:ea typeface="Calibri" pitchFamily="34" charset="-122"/>
                          <a:cs typeface="Calibri" pitchFamily="34" charset="-120"/>
                        </a:rPr>
                        <a:t>Evidence on every alarm; shadow mode first</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00" b="1" dirty="0">
                          <a:solidFill>
                            <a:srgbClr val="D2651F"/>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60604">
                <a:tc>
                  <a:txBody>
                    <a:bodyPr/>
                    <a:lstStyle/>
                    <a:p>
                      <a:pPr indent="0" marL="0">
                        <a:buNone/>
                      </a:pPr>
                      <a:r>
                        <a:rPr lang="en-US" sz="900" b="1" dirty="0">
                          <a:solidFill>
                            <a:srgbClr val="1A1A1A"/>
                          </a:solidFill>
                          <a:latin typeface="Calibri" pitchFamily="34" charset="0"/>
                          <a:ea typeface="Calibri" pitchFamily="34" charset="-122"/>
                          <a:cs typeface="Calibri" pitchFamily="34" charset="-120"/>
                        </a:rPr>
                        <a:t>Plant network, heat and fumes</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1A1A1A"/>
                          </a:solidFill>
                          <a:latin typeface="Calibri" pitchFamily="34" charset="0"/>
                          <a:ea typeface="Calibri" pitchFamily="34" charset="-122"/>
                          <a:cs typeface="Calibri" pitchFamily="34" charset="-120"/>
                        </a:rPr>
                        <a:t>IEC 62443 zones, runs offline; sealed enclosures</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00" b="1" dirty="0">
                          <a:solidFill>
                            <a:srgbClr val="D2651F"/>
                          </a:solidFill>
                          <a:latin typeface="Calibri" pitchFamily="34" charset="0"/>
                          <a:ea typeface="Calibri" pitchFamily="34" charset="-122"/>
                          <a:cs typeface="Calibri" pitchFamily="34" charset="-120"/>
                        </a:rPr>
                        <a:t>P0</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60604">
                <a:tc>
                  <a:txBody>
                    <a:bodyPr/>
                    <a:lstStyle/>
                    <a:p>
                      <a:pPr indent="0" marL="0">
                        <a:buNone/>
                      </a:pPr>
                      <a:r>
                        <a:rPr lang="en-US" sz="900" b="1" dirty="0">
                          <a:solidFill>
                            <a:srgbClr val="1A1A1A"/>
                          </a:solidFill>
                          <a:latin typeface="Calibri" pitchFamily="34" charset="0"/>
                          <a:ea typeface="Calibri" pitchFamily="34" charset="-122"/>
                          <a:cs typeface="Calibri" pitchFamily="34" charset="-120"/>
                        </a:rPr>
                        <a:t>Quality slips after an update</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00" dirty="0">
                          <a:solidFill>
                            <a:srgbClr val="1A1A1A"/>
                          </a:solidFill>
                          <a:latin typeface="Calibri" pitchFamily="34" charset="0"/>
                          <a:ea typeface="Calibri" pitchFamily="34" charset="-122"/>
                          <a:cs typeface="Calibri" pitchFamily="34" charset="-120"/>
                        </a:rPr>
                        <a:t>Each update must beat the live system first</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900" b="1" dirty="0">
                          <a:solidFill>
                            <a:srgbClr val="D2651F"/>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88" name="Shape 83"/>
          <p:cNvSpPr/>
          <p:nvPr/>
        </p:nvSpPr>
        <p:spPr>
          <a:xfrm>
            <a:off x="6190488" y="3730752"/>
            <a:ext cx="5541264" cy="274320"/>
          </a:xfrm>
          <a:prstGeom prst="rect">
            <a:avLst/>
          </a:prstGeom>
          <a:solidFill>
            <a:srgbClr val="E4803A"/>
          </a:solidFill>
          <a:ln w="12700">
            <a:solidFill>
              <a:srgbClr val="E4803A"/>
            </a:solidFill>
            <a:prstDash val="solid"/>
          </a:ln>
        </p:spPr>
      </p:sp>
      <p:sp>
        <p:nvSpPr>
          <p:cNvPr id="89" name="Text 84"/>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90" name="Shape 85"/>
          <p:cNvSpPr/>
          <p:nvPr/>
        </p:nvSpPr>
        <p:spPr>
          <a:xfrm>
            <a:off x="6190488" y="4059936"/>
            <a:ext cx="1810512" cy="850392"/>
          </a:xfrm>
          <a:prstGeom prst="roundRect">
            <a:avLst>
              <a:gd name="adj" fmla="val 6452"/>
            </a:avLst>
          </a:prstGeom>
          <a:solidFill>
            <a:srgbClr val="F3F3F3"/>
          </a:solidFill>
          <a:ln w="12700">
            <a:solidFill>
              <a:srgbClr val="F3F3F3"/>
            </a:solidFill>
            <a:prstDash val="solid"/>
          </a:ln>
        </p:spPr>
      </p:sp>
      <p:sp>
        <p:nvSpPr>
          <p:cNvPr id="91" name="Text 86"/>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 90%</a:t>
            </a:r>
            <a:endParaRPr lang="en-US" sz="1800" dirty="0"/>
          </a:p>
        </p:txBody>
      </p:sp>
      <p:sp>
        <p:nvSpPr>
          <p:cNvPr id="92" name="Text 87"/>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A1A1A"/>
                </a:solidFill>
                <a:latin typeface="Calibri" pitchFamily="34" charset="0"/>
                <a:ea typeface="Calibri" pitchFamily="34" charset="-122"/>
                <a:cs typeface="Calibri" pitchFamily="34" charset="-120"/>
              </a:rPr>
              <a:t>defective strip flagged</a:t>
            </a:r>
            <a:endParaRPr lang="en-US" sz="900" dirty="0"/>
          </a:p>
        </p:txBody>
      </p:sp>
      <p:sp>
        <p:nvSpPr>
          <p:cNvPr id="93" name="Text 88"/>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b="1" dirty="0">
                <a:solidFill>
                  <a:srgbClr val="C99700"/>
                </a:solidFill>
                <a:latin typeface="Calibri" pitchFamily="34" charset="0"/>
                <a:ea typeface="Calibri" pitchFamily="34" charset="-122"/>
                <a:cs typeface="Calibri" pitchFamily="34" charset="-120"/>
              </a:rPr>
              <a:t>measured 258 of 288 (89.6%)</a:t>
            </a:r>
            <a:endParaRPr lang="en-US" sz="900" dirty="0"/>
          </a:p>
        </p:txBody>
      </p:sp>
      <p:sp>
        <p:nvSpPr>
          <p:cNvPr id="94" name="Shape 89"/>
          <p:cNvSpPr/>
          <p:nvPr/>
        </p:nvSpPr>
        <p:spPr>
          <a:xfrm>
            <a:off x="8055864" y="4059936"/>
            <a:ext cx="1810512" cy="850392"/>
          </a:xfrm>
          <a:prstGeom prst="roundRect">
            <a:avLst>
              <a:gd name="adj" fmla="val 6452"/>
            </a:avLst>
          </a:prstGeom>
          <a:solidFill>
            <a:srgbClr val="F3F3F3"/>
          </a:solidFill>
          <a:ln w="12700">
            <a:solidFill>
              <a:srgbClr val="F3F3F3"/>
            </a:solidFill>
            <a:prstDash val="solid"/>
          </a:ln>
        </p:spPr>
      </p:sp>
      <p:sp>
        <p:nvSpPr>
          <p:cNvPr id="95" name="Text 90"/>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 25%</a:t>
            </a:r>
            <a:endParaRPr lang="en-US" sz="1800" dirty="0"/>
          </a:p>
        </p:txBody>
      </p:sp>
      <p:sp>
        <p:nvSpPr>
          <p:cNvPr id="96" name="Text 91"/>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A1A1A"/>
                </a:solidFill>
                <a:latin typeface="Calibri" pitchFamily="34" charset="0"/>
                <a:ea typeface="Calibri" pitchFamily="34" charset="-122"/>
                <a:cs typeface="Calibri" pitchFamily="34" charset="-120"/>
              </a:rPr>
              <a:t>clean strip wrongly flagged</a:t>
            </a:r>
            <a:endParaRPr lang="en-US" sz="900" dirty="0"/>
          </a:p>
        </p:txBody>
      </p:sp>
      <p:sp>
        <p:nvSpPr>
          <p:cNvPr id="97" name="Text 92"/>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4.7% on mill strip</a:t>
            </a:r>
            <a:endParaRPr lang="en-US" sz="900" dirty="0"/>
          </a:p>
        </p:txBody>
      </p:sp>
      <p:sp>
        <p:nvSpPr>
          <p:cNvPr id="98" name="Shape 93"/>
          <p:cNvSpPr/>
          <p:nvPr/>
        </p:nvSpPr>
        <p:spPr>
          <a:xfrm>
            <a:off x="9921240" y="4059936"/>
            <a:ext cx="1810512" cy="850392"/>
          </a:xfrm>
          <a:prstGeom prst="roundRect">
            <a:avLst>
              <a:gd name="adj" fmla="val 6452"/>
            </a:avLst>
          </a:prstGeom>
          <a:solidFill>
            <a:srgbClr val="F3F3F3"/>
          </a:solidFill>
          <a:ln w="12700">
            <a:solidFill>
              <a:srgbClr val="F3F3F3"/>
            </a:solidFill>
            <a:prstDash val="solid"/>
          </a:ln>
        </p:spPr>
      </p:sp>
      <p:sp>
        <p:nvSpPr>
          <p:cNvPr id="99" name="Text 94"/>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100%</a:t>
            </a:r>
            <a:endParaRPr lang="en-US" sz="1800" dirty="0"/>
          </a:p>
        </p:txBody>
      </p:sp>
      <p:sp>
        <p:nvSpPr>
          <p:cNvPr id="100" name="Text 95"/>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A1A1A"/>
                </a:solidFill>
                <a:latin typeface="Calibri" pitchFamily="34" charset="0"/>
                <a:ea typeface="Calibri" pitchFamily="34" charset="-122"/>
                <a:cs typeface="Calibri" pitchFamily="34" charset="-120"/>
              </a:rPr>
              <a:t>coils with a defect map</a:t>
            </a:r>
            <a:endParaRPr lang="en-US" sz="900" dirty="0"/>
          </a:p>
        </p:txBody>
      </p:sp>
      <p:sp>
        <p:nvSpPr>
          <p:cNvPr id="101" name="Text 96"/>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design target</a:t>
            </a:r>
            <a:endParaRPr lang="en-US" sz="900" dirty="0"/>
          </a:p>
        </p:txBody>
      </p:sp>
      <p:sp>
        <p:nvSpPr>
          <p:cNvPr id="102" name="Shape 97"/>
          <p:cNvSpPr/>
          <p:nvPr/>
        </p:nvSpPr>
        <p:spPr>
          <a:xfrm>
            <a:off x="6190488" y="4974336"/>
            <a:ext cx="1810512" cy="850392"/>
          </a:xfrm>
          <a:prstGeom prst="roundRect">
            <a:avLst>
              <a:gd name="adj" fmla="val 6452"/>
            </a:avLst>
          </a:prstGeom>
          <a:solidFill>
            <a:srgbClr val="F3F3F3"/>
          </a:solidFill>
          <a:ln w="12700">
            <a:solidFill>
              <a:srgbClr val="F3F3F3"/>
            </a:solidFill>
            <a:prstDash val="solid"/>
          </a:ln>
        </p:spPr>
      </p:sp>
      <p:sp>
        <p:nvSpPr>
          <p:cNvPr id="103" name="Text 98"/>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&lt; 0.2 s</a:t>
            </a:r>
            <a:endParaRPr lang="en-US" sz="1800" dirty="0"/>
          </a:p>
        </p:txBody>
      </p:sp>
      <p:sp>
        <p:nvSpPr>
          <p:cNvPr id="104" name="Text 99"/>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A1A1A"/>
                </a:solidFill>
                <a:latin typeface="Calibri" pitchFamily="34" charset="0"/>
                <a:ea typeface="Calibri" pitchFamily="34" charset="-122"/>
                <a:cs typeface="Calibri" pitchFamily="34" charset="-120"/>
              </a:rPr>
              <a:t>defect to operator screen</a:t>
            </a:r>
            <a:endParaRPr lang="en-US" sz="900" dirty="0"/>
          </a:p>
        </p:txBody>
      </p:sp>
      <p:sp>
        <p:nvSpPr>
          <p:cNvPr id="105" name="Text 100"/>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design target</a:t>
            </a:r>
            <a:endParaRPr lang="en-US" sz="900" dirty="0"/>
          </a:p>
        </p:txBody>
      </p:sp>
      <p:sp>
        <p:nvSpPr>
          <p:cNvPr id="106" name="Shape 101"/>
          <p:cNvSpPr/>
          <p:nvPr/>
        </p:nvSpPr>
        <p:spPr>
          <a:xfrm>
            <a:off x="8055864" y="4974336"/>
            <a:ext cx="1810512" cy="850392"/>
          </a:xfrm>
          <a:prstGeom prst="roundRect">
            <a:avLst>
              <a:gd name="adj" fmla="val 6452"/>
            </a:avLst>
          </a:prstGeom>
          <a:solidFill>
            <a:srgbClr val="F3F3F3"/>
          </a:solidFill>
          <a:ln w="12700">
            <a:solidFill>
              <a:srgbClr val="F3F3F3"/>
            </a:solidFill>
            <a:prstDash val="solid"/>
          </a:ln>
        </p:spPr>
      </p:sp>
      <p:sp>
        <p:nvSpPr>
          <p:cNvPr id="107" name="Text 102"/>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 90%</a:t>
            </a:r>
            <a:endParaRPr lang="en-US" sz="1800" dirty="0"/>
          </a:p>
        </p:txBody>
      </p:sp>
      <p:sp>
        <p:nvSpPr>
          <p:cNvPr id="108" name="Text 103"/>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A1A1A"/>
                </a:solidFill>
                <a:latin typeface="Calibri" pitchFamily="34" charset="0"/>
                <a:ea typeface="Calibri" pitchFamily="34" charset="-122"/>
                <a:cs typeface="Calibri" pitchFamily="34" charset="-120"/>
              </a:rPr>
              <a:t>operator agreement, shadow</a:t>
            </a:r>
            <a:endParaRPr lang="en-US" sz="900" dirty="0"/>
          </a:p>
        </p:txBody>
      </p:sp>
      <p:sp>
        <p:nvSpPr>
          <p:cNvPr id="109" name="Text 104"/>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measured in P2</a:t>
            </a:r>
            <a:endParaRPr lang="en-US" sz="900" dirty="0"/>
          </a:p>
        </p:txBody>
      </p:sp>
      <p:sp>
        <p:nvSpPr>
          <p:cNvPr id="110" name="Shape 105"/>
          <p:cNvSpPr/>
          <p:nvPr/>
        </p:nvSpPr>
        <p:spPr>
          <a:xfrm>
            <a:off x="9921240" y="4974336"/>
            <a:ext cx="1810512" cy="850392"/>
          </a:xfrm>
          <a:prstGeom prst="roundRect">
            <a:avLst>
              <a:gd name="adj" fmla="val 6452"/>
            </a:avLst>
          </a:prstGeom>
          <a:solidFill>
            <a:srgbClr val="F3F3F3"/>
          </a:solidFill>
          <a:ln w="12700">
            <a:solidFill>
              <a:srgbClr val="F3F3F3"/>
            </a:solidFill>
            <a:prstDash val="solid"/>
          </a:ln>
        </p:spPr>
      </p:sp>
      <p:sp>
        <p:nvSpPr>
          <p:cNvPr id="111" name="Text 106"/>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2B2B2B"/>
                </a:solidFill>
                <a:latin typeface="Calibri" pitchFamily="34" charset="0"/>
                <a:ea typeface="Calibri" pitchFamily="34" charset="-122"/>
                <a:cs typeface="Calibri" pitchFamily="34" charset="-120"/>
              </a:rPr>
              <a:t>↓ vs today</a:t>
            </a:r>
            <a:endParaRPr lang="en-US" sz="1800" dirty="0"/>
          </a:p>
        </p:txBody>
      </p:sp>
      <p:sp>
        <p:nvSpPr>
          <p:cNvPr id="112" name="Text 107"/>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A1A1A"/>
                </a:solidFill>
                <a:latin typeface="Calibri" pitchFamily="34" charset="0"/>
                <a:ea typeface="Calibri" pitchFamily="34" charset="-122"/>
                <a:cs typeface="Calibri" pitchFamily="34" charset="-120"/>
              </a:rPr>
              <a:t>downgrade rate on the line</a:t>
            </a:r>
            <a:endParaRPr lang="en-US" sz="900" dirty="0"/>
          </a:p>
        </p:txBody>
      </p:sp>
      <p:sp>
        <p:nvSpPr>
          <p:cNvPr id="113" name="Text 108"/>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6E6E6E"/>
                </a:solidFill>
                <a:latin typeface="Calibri" pitchFamily="34" charset="0"/>
                <a:ea typeface="Calibri" pitchFamily="34" charset="-122"/>
                <a:cs typeface="Calibri" pitchFamily="34" charset="-120"/>
              </a:rPr>
              <a:t>measured in P3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E4803A"/>
          </a:solidFill>
          <a:ln w="12700">
            <a:solidFill>
              <a:srgbClr val="E4803A"/>
            </a:solidFill>
            <a:prstDash val="solid"/>
          </a:ln>
        </p:spPr>
      </p:sp>
      <p:pic>
        <p:nvPicPr>
          <p:cNvPr id="3" name="Image 0" descr="img/logo_jsl.jpg">    </p:cNvPr>
          <p:cNvPicPr>
            <a:picLocks noChangeAspect="1"/>
          </p:cNvPicPr>
          <p:nvPr/>
        </p:nvPicPr>
        <p:blipFill>
          <a:blip r:embed="rId1"/>
          <a:stretch>
            <a:fillRect/>
          </a:stretch>
        </p:blipFill>
        <p:spPr>
          <a:xfrm>
            <a:off x="91440" y="73152"/>
            <a:ext cx="2176272" cy="640080"/>
          </a:xfrm>
          <a:prstGeom prst="rect">
            <a:avLst/>
          </a:prstGeom>
        </p:spPr>
      </p:pic>
      <p:pic>
        <p:nvPicPr>
          <p:cNvPr id="4" name="Image 1" descr="img/logo_spark.png">    </p:cNvPr>
          <p:cNvPicPr>
            <a:picLocks noChangeAspect="1"/>
          </p:cNvPicPr>
          <p:nvPr/>
        </p:nvPicPr>
        <p:blipFill>
          <a:blip r:embed="rId2"/>
          <a:stretch>
            <a:fillRect/>
          </a:stretch>
        </p:blipFill>
        <p:spPr>
          <a:xfrm>
            <a:off x="2340864" y="73152"/>
            <a:ext cx="1243584" cy="640080"/>
          </a:xfrm>
          <a:prstGeom prst="rect">
            <a:avLst/>
          </a:prstGeom>
        </p:spPr>
      </p:pic>
      <p:sp>
        <p:nvSpPr>
          <p:cNvPr id="5" name="Shape 1"/>
          <p:cNvSpPr/>
          <p:nvPr/>
        </p:nvSpPr>
        <p:spPr>
          <a:xfrm>
            <a:off x="3785616" y="182880"/>
            <a:ext cx="1307592" cy="420624"/>
          </a:xfrm>
          <a:prstGeom prst="rect">
            <a:avLst/>
          </a:prstGeom>
          <a:solidFill>
            <a:srgbClr val="F2F2F2"/>
          </a:solidFill>
          <a:ln w="12700">
            <a:solidFill>
              <a:srgbClr val="F2F2F2"/>
            </a:solidFill>
            <a:prstDash val="solid"/>
          </a:ln>
        </p:spPr>
      </p:sp>
      <p:sp>
        <p:nvSpPr>
          <p:cNvPr id="6" name="Text 2"/>
          <p:cNvSpPr txBox="1"/>
          <p:nvPr/>
        </p:nvSpPr>
        <p:spPr>
          <a:xfrm>
            <a:off x="3785616"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1  Problem</a:t>
            </a:r>
            <a:endParaRPr lang="en-US" sz="1050" dirty="0"/>
          </a:p>
        </p:txBody>
      </p:sp>
      <p:sp>
        <p:nvSpPr>
          <p:cNvPr id="7" name="Shape 3"/>
          <p:cNvSpPr/>
          <p:nvPr/>
        </p:nvSpPr>
        <p:spPr>
          <a:xfrm>
            <a:off x="5148072" y="182880"/>
            <a:ext cx="1307592" cy="420624"/>
          </a:xfrm>
          <a:prstGeom prst="rect">
            <a:avLst/>
          </a:prstGeom>
          <a:solidFill>
            <a:srgbClr val="F2F2F2"/>
          </a:solidFill>
          <a:ln w="12700">
            <a:solidFill>
              <a:srgbClr val="F2F2F2"/>
            </a:solidFill>
            <a:prstDash val="solid"/>
          </a:ln>
        </p:spPr>
      </p:sp>
      <p:sp>
        <p:nvSpPr>
          <p:cNvPr id="8" name="Text 4"/>
          <p:cNvSpPr txBox="1"/>
          <p:nvPr/>
        </p:nvSpPr>
        <p:spPr>
          <a:xfrm>
            <a:off x="5148072"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2  Insights</a:t>
            </a:r>
            <a:endParaRPr lang="en-US" sz="1050" dirty="0"/>
          </a:p>
        </p:txBody>
      </p:sp>
      <p:sp>
        <p:nvSpPr>
          <p:cNvPr id="9" name="Shape 5"/>
          <p:cNvSpPr/>
          <p:nvPr/>
        </p:nvSpPr>
        <p:spPr>
          <a:xfrm>
            <a:off x="6510528" y="182880"/>
            <a:ext cx="1307592" cy="420624"/>
          </a:xfrm>
          <a:prstGeom prst="rect">
            <a:avLst/>
          </a:prstGeom>
          <a:solidFill>
            <a:srgbClr val="F2F2F2"/>
          </a:solidFill>
          <a:ln w="12700">
            <a:solidFill>
              <a:srgbClr val="F2F2F2"/>
            </a:solidFill>
            <a:prstDash val="solid"/>
          </a:ln>
        </p:spPr>
      </p:sp>
      <p:sp>
        <p:nvSpPr>
          <p:cNvPr id="10" name="Text 6"/>
          <p:cNvSpPr txBox="1"/>
          <p:nvPr/>
        </p:nvSpPr>
        <p:spPr>
          <a:xfrm>
            <a:off x="6510528"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3  Solution</a:t>
            </a:r>
            <a:endParaRPr lang="en-US" sz="1050" dirty="0"/>
          </a:p>
        </p:txBody>
      </p:sp>
      <p:sp>
        <p:nvSpPr>
          <p:cNvPr id="11" name="Shape 7"/>
          <p:cNvSpPr/>
          <p:nvPr/>
        </p:nvSpPr>
        <p:spPr>
          <a:xfrm>
            <a:off x="7872984" y="182880"/>
            <a:ext cx="1307592" cy="420624"/>
          </a:xfrm>
          <a:prstGeom prst="rect">
            <a:avLst/>
          </a:prstGeom>
          <a:solidFill>
            <a:srgbClr val="F2F2F2"/>
          </a:solidFill>
          <a:ln w="12700">
            <a:solidFill>
              <a:srgbClr val="F2F2F2"/>
            </a:solidFill>
            <a:prstDash val="solid"/>
          </a:ln>
        </p:spPr>
      </p:sp>
      <p:sp>
        <p:nvSpPr>
          <p:cNvPr id="12" name="Text 8"/>
          <p:cNvSpPr txBox="1"/>
          <p:nvPr/>
        </p:nvSpPr>
        <p:spPr>
          <a:xfrm>
            <a:off x="7872984" y="182880"/>
            <a:ext cx="1307592" cy="420624"/>
          </a:xfrm>
          <a:prstGeom prst="rect">
            <a:avLst/>
          </a:prstGeom>
          <a:noFill/>
          <a:ln/>
        </p:spPr>
        <p:txBody>
          <a:bodyPr wrap="square" lIns="0" tIns="0" rIns="0" bIns="0" rtlCol="0" anchor="ctr"/>
          <a:lstStyle/>
          <a:p>
            <a:pPr algn="ctr" indent="0" marL="0">
              <a:buNone/>
            </a:pPr>
            <a:r>
              <a:rPr lang="en-US" sz="1050" dirty="0">
                <a:solidFill>
                  <a:srgbClr val="5C5C5C"/>
                </a:solidFill>
                <a:latin typeface="Calibri" pitchFamily="34" charset="0"/>
                <a:ea typeface="Calibri" pitchFamily="34" charset="-122"/>
                <a:cs typeface="Calibri" pitchFamily="34" charset="-120"/>
              </a:rPr>
              <a:t>4  Implementation</a:t>
            </a:r>
            <a:endParaRPr lang="en-US" sz="1050" dirty="0"/>
          </a:p>
        </p:txBody>
      </p:sp>
      <p:sp>
        <p:nvSpPr>
          <p:cNvPr id="13" name="Shape 9"/>
          <p:cNvSpPr/>
          <p:nvPr/>
        </p:nvSpPr>
        <p:spPr>
          <a:xfrm>
            <a:off x="9235440" y="182880"/>
            <a:ext cx="1307592" cy="420624"/>
          </a:xfrm>
          <a:prstGeom prst="rect">
            <a:avLst/>
          </a:prstGeom>
          <a:solidFill>
            <a:srgbClr val="B63831"/>
          </a:solidFill>
          <a:ln w="12700">
            <a:solidFill>
              <a:srgbClr val="B63831"/>
            </a:solidFill>
            <a:prstDash val="solid"/>
          </a:ln>
        </p:spPr>
      </p:sp>
      <p:sp>
        <p:nvSpPr>
          <p:cNvPr id="14" name="Text 10"/>
          <p:cNvSpPr txBox="1"/>
          <p:nvPr/>
        </p:nvSpPr>
        <p:spPr>
          <a:xfrm>
            <a:off x="9235440" y="182880"/>
            <a:ext cx="130759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  Impact</a:t>
            </a:r>
            <a:endParaRPr lang="en-US" sz="1050" dirty="0"/>
          </a:p>
        </p:txBody>
      </p:sp>
      <p:sp>
        <p:nvSpPr>
          <p:cNvPr id="15" name="Text 11"/>
          <p:cNvSpPr txBox="1"/>
          <p:nvPr/>
        </p:nvSpPr>
        <p:spPr>
          <a:xfrm>
            <a:off x="10625328" y="146304"/>
            <a:ext cx="1481328" cy="493776"/>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Team Futuristic</a:t>
            </a:r>
            <a:pPr algn="r" indent="0" marL="0">
              <a:buNone/>
            </a:pPr>
            <a:endParaRPr lang="en-US" sz="1000" dirty="0"/>
          </a:p>
          <a:p>
            <a:pPr algn="r" indent="0" marL="0">
              <a:buNone/>
            </a:pPr>
            <a:r>
              <a:rPr lang="en-US" sz="950" dirty="0">
                <a:solidFill>
                  <a:srgbClr val="FFFFFF"/>
                </a:solidFill>
                <a:latin typeface="Calibri" pitchFamily="34" charset="0"/>
                <a:ea typeface="Calibri" pitchFamily="34" charset="-122"/>
                <a:cs typeface="Calibri" pitchFamily="34" charset="-120"/>
              </a:rPr>
              <a:t>IIT Bombay</a:t>
            </a:r>
            <a:endParaRPr lang="en-US" sz="1000" dirty="0"/>
          </a:p>
        </p:txBody>
      </p:sp>
      <p:sp>
        <p:nvSpPr>
          <p:cNvPr id="16" name="Text 12"/>
          <p:cNvSpPr txBox="1"/>
          <p:nvPr/>
        </p:nvSpPr>
        <p:spPr>
          <a:xfrm>
            <a:off x="457200" y="822960"/>
            <a:ext cx="11274552" cy="384048"/>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At a conservative 1% downgrade rate, each line has ~₹6.7 cr a year at stake; ~₹43 cr across the fleet</a:t>
            </a:r>
            <a:endParaRPr lang="en-US" sz="2000" dirty="0"/>
          </a:p>
        </p:txBody>
      </p:sp>
      <p:sp>
        <p:nvSpPr>
          <p:cNvPr id="17" name="Shape 13"/>
          <p:cNvSpPr/>
          <p:nvPr/>
        </p:nvSpPr>
        <p:spPr>
          <a:xfrm>
            <a:off x="91440" y="1234440"/>
            <a:ext cx="274320" cy="4965192"/>
          </a:xfrm>
          <a:prstGeom prst="rect">
            <a:avLst/>
          </a:prstGeom>
          <a:solidFill>
            <a:srgbClr val="2B2B2B"/>
          </a:solidFill>
          <a:ln w="12700">
            <a:solidFill>
              <a:srgbClr val="2B2B2B"/>
            </a:solidFill>
            <a:prstDash val="solid"/>
          </a:ln>
        </p:spPr>
      </p:sp>
      <p:sp>
        <p:nvSpPr>
          <p:cNvPr id="18" name="Text 14"/>
          <p:cNvSpPr txBox="1"/>
          <p:nvPr/>
        </p:nvSpPr>
        <p:spPr>
          <a:xfrm rot="16200000">
            <a:off x="-2253996" y="3579876"/>
            <a:ext cx="496519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IMPACT  ·  VALUE  ·  ASK</a:t>
            </a:r>
            <a:endParaRPr lang="en-US" sz="1000" dirty="0"/>
          </a:p>
        </p:txBody>
      </p:sp>
      <p:sp>
        <p:nvSpPr>
          <p:cNvPr id="19" name="Shape 15"/>
          <p:cNvSpPr/>
          <p:nvPr/>
        </p:nvSpPr>
        <p:spPr>
          <a:xfrm>
            <a:off x="91440" y="6236208"/>
            <a:ext cx="11640312" cy="420624"/>
          </a:xfrm>
          <a:prstGeom prst="rect">
            <a:avLst/>
          </a:prstGeom>
          <a:solidFill>
            <a:srgbClr val="2B2B2B"/>
          </a:solidFill>
          <a:ln w="12700">
            <a:solidFill>
              <a:srgbClr val="2B2B2B"/>
            </a:solidFill>
            <a:prstDash val="solid"/>
          </a:ln>
        </p:spPr>
      </p:sp>
      <p:sp>
        <p:nvSpPr>
          <p:cNvPr id="20" name="Text 16"/>
          <p:cNvSpPr txBox="1"/>
          <p:nvPr/>
        </p:nvSpPr>
        <p:spPr>
          <a:xfrm>
            <a:off x="256032" y="6236208"/>
            <a:ext cx="1133856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21" name="Text 17"/>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6E6E6E"/>
                </a:solidFill>
                <a:latin typeface="Calibri" pitchFamily="34" charset="0"/>
                <a:ea typeface="Calibri" pitchFamily="34" charset="-122"/>
                <a:cs typeface="Calibri" pitchFamily="34" charset="-120"/>
              </a:rPr>
              <a:t>Inputs: JSL FY26 (INR 167,407/t; 2,565,902 t sold). Base case: a 0.4 Mt line, 1% downgraded at a 10% discount. Value at stake, not a savings forecast: JSL's own data sets the real figure.</a:t>
            </a:r>
            <a:endParaRPr lang="en-US" sz="900" dirty="0"/>
          </a:p>
        </p:txBody>
      </p:sp>
      <p:sp>
        <p:nvSpPr>
          <p:cNvPr id="22" name="Shape 18"/>
          <p:cNvSpPr/>
          <p:nvPr/>
        </p:nvSpPr>
        <p:spPr>
          <a:xfrm>
            <a:off x="457200" y="1234440"/>
            <a:ext cx="3977640" cy="274320"/>
          </a:xfrm>
          <a:prstGeom prst="rect">
            <a:avLst/>
          </a:prstGeom>
          <a:solidFill>
            <a:srgbClr val="E4803A"/>
          </a:solidFill>
          <a:ln w="12700">
            <a:solidFill>
              <a:srgbClr val="E4803A"/>
            </a:solidFill>
            <a:prstDash val="solid"/>
          </a:ln>
        </p:spPr>
      </p:sp>
      <p:sp>
        <p:nvSpPr>
          <p:cNvPr id="23" name="Text 19"/>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24" name="Text 20"/>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40404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384048">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CE5D3"/>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r>
              <a:tr h="384048">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5BE9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C9352"/>
                    </a:solidFill>
                  </a:tcPr>
                </a:tc>
              </a:tr>
              <a:tr h="384048">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C93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4561A"/>
                    </a:solidFill>
                  </a:tcPr>
                </a:tc>
              </a:tr>
            </a:tbl>
          </a:graphicData>
        </a:graphic>
      </p:graphicFrame>
      <p:sp>
        <p:nvSpPr>
          <p:cNvPr id="26" name="Text 21"/>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2B2B2B"/>
                </a:solidFill>
                <a:latin typeface="Calibri" pitchFamily="34" charset="0"/>
                <a:ea typeface="Calibri" pitchFamily="34" charset="-122"/>
                <a:cs typeface="Calibri" pitchFamily="34" charset="-120"/>
              </a:rPr>
              <a:t>Base case (dark): </a:t>
            </a:r>
            <a:pPr indent="0" marL="0">
              <a:buNone/>
            </a:pPr>
            <a:r>
              <a:rPr lang="en-US" sz="950" dirty="0">
                <a:solidFill>
                  <a:srgbClr val="404040"/>
                </a:solidFill>
                <a:latin typeface="Calibri" pitchFamily="34" charset="0"/>
                <a:ea typeface="Calibri" pitchFamily="34" charset="-122"/>
                <a:cs typeface="Calibri" pitchFamily="34" charset="-120"/>
              </a:rPr>
              <a:t>₹6.7 cr a year per line; ~₹43 cr across JSL's 2.57 Mt. Non-prime coil sells 10-30% below prime, so these discounts are conservative.</a:t>
            </a:r>
            <a:endParaRPr lang="en-US" sz="950" dirty="0"/>
          </a:p>
        </p:txBody>
      </p:sp>
      <p:sp>
        <p:nvSpPr>
          <p:cNvPr id="27" name="Shape 22"/>
          <p:cNvSpPr/>
          <p:nvPr/>
        </p:nvSpPr>
        <p:spPr>
          <a:xfrm>
            <a:off x="4617720" y="1234440"/>
            <a:ext cx="7114032" cy="274320"/>
          </a:xfrm>
          <a:prstGeom prst="rect">
            <a:avLst/>
          </a:prstGeom>
          <a:solidFill>
            <a:srgbClr val="E4803A"/>
          </a:solidFill>
          <a:ln w="12700">
            <a:solidFill>
              <a:srgbClr val="E4803A"/>
            </a:solidFill>
            <a:prstDash val="solid"/>
          </a:ln>
        </p:spPr>
      </p:sp>
      <p:sp>
        <p:nvSpPr>
          <p:cNvPr id="28" name="Text 23"/>
          <p:cNvSpPr txBox="1"/>
          <p:nvPr/>
        </p:nvSpPr>
        <p:spPr>
          <a:xfrm>
            <a:off x="4709160" y="1234440"/>
            <a:ext cx="693115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Value levers, and how the pilot measures each</a:t>
            </a:r>
            <a:endParaRPr lang="en-US" sz="11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1554480"/>
          <a:ext cx="7114032" cy="914400"/>
        </p:xfrm>
        <a:graphic>
          <a:graphicData uri="http://schemas.openxmlformats.org/drawingml/2006/table">
            <a:tbl>
              <a:tblPr/>
              <a:tblGrid>
                <a:gridCol w="1691640"/>
                <a:gridCol w="3063240"/>
                <a:gridCol w="2359152"/>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 lever</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How the system creates it</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Measured in the pilot as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2B2B2B"/>
                    </a:solidFill>
                  </a:tcPr>
                </a:tc>
              </a:tr>
              <a:tr h="402336">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Fewer downgrades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defects caught upstream, before more value is added</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downgrade rate by line and grade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Fewer customer claims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 defect map travels with every coil</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claims per 1,000 t shipped</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Less rework</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no re-pickling or re-grinding of defects found late</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rework tonnes per month</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Faster root-cause fixes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each alarm reaches the process that caused it</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hours from defect to corrective action</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402336">
                <a:tc>
                  <a:txBody>
                    <a:bodyPr/>
                    <a:lstStyle/>
                    <a:p>
                      <a:pPr indent="0" marL="0">
                        <a:buNone/>
                      </a:pPr>
                      <a:r>
                        <a:rPr lang="en-US" sz="950" b="1" dirty="0">
                          <a:solidFill>
                            <a:srgbClr val="1A1A1A"/>
                          </a:solidFill>
                          <a:latin typeface="Calibri" pitchFamily="34" charset="0"/>
                          <a:ea typeface="Calibri" pitchFamily="34" charset="-122"/>
                          <a:cs typeface="Calibri" pitchFamily="34" charset="-120"/>
                        </a:rPr>
                        <a:t>Premium orders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documented surface quality for rail, appliances, exports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share of exposed-finish orders</a:t>
                      </a:r>
                      <a:endParaRPr lang="en-US" sz="950" dirty="0">
                        <a:latin typeface="Calibri" charset="0"/>
                        <a:ea typeface="Calibri" charset="0"/>
                        <a:cs typeface="Calibri" charset="0"/>
                      </a:endParaRPr>
                    </a:p>
                  </a:txBody>
                  <a:tcPr marL="45720" marR="45720" marT="27432" marB="2743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30" name="Shape 24"/>
          <p:cNvSpPr/>
          <p:nvPr/>
        </p:nvSpPr>
        <p:spPr>
          <a:xfrm>
            <a:off x="457200" y="4005072"/>
            <a:ext cx="7680960" cy="274320"/>
          </a:xfrm>
          <a:prstGeom prst="rect">
            <a:avLst/>
          </a:prstGeom>
          <a:solidFill>
            <a:srgbClr val="E4803A"/>
          </a:solidFill>
          <a:ln w="12700">
            <a:solidFill>
              <a:srgbClr val="E4803A"/>
            </a:solidFill>
            <a:prstDash val="solid"/>
          </a:ln>
        </p:spPr>
      </p:sp>
      <p:sp>
        <p:nvSpPr>
          <p:cNvPr id="31" name="Text 25"/>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32" name="Shape 26"/>
          <p:cNvSpPr/>
          <p:nvPr/>
        </p:nvSpPr>
        <p:spPr>
          <a:xfrm>
            <a:off x="457200" y="4334256"/>
            <a:ext cx="1234440" cy="1554480"/>
          </a:xfrm>
          <a:prstGeom prst="roundRect">
            <a:avLst>
              <a:gd name="adj" fmla="val 4444"/>
            </a:avLst>
          </a:prstGeom>
          <a:solidFill>
            <a:srgbClr val="F3F3F3"/>
          </a:solidFill>
          <a:ln w="12700">
            <a:solidFill>
              <a:srgbClr val="F3F3F3"/>
            </a:solidFill>
            <a:prstDash val="solid"/>
          </a:ln>
        </p:spPr>
      </p:sp>
      <p:sp>
        <p:nvSpPr>
          <p:cNvPr id="33" name="Shape 27"/>
          <p:cNvSpPr/>
          <p:nvPr/>
        </p:nvSpPr>
        <p:spPr>
          <a:xfrm>
            <a:off x="850392" y="4425696"/>
            <a:ext cx="457200" cy="457200"/>
          </a:xfrm>
          <a:prstGeom prst="ellipse">
            <a:avLst/>
          </a:prstGeom>
          <a:solidFill>
            <a:srgbClr val="D2651F"/>
          </a:solidFill>
          <a:ln w="12700">
            <a:solidFill>
              <a:srgbClr val="D2651F"/>
            </a:solidFill>
            <a:prstDash val="solid"/>
          </a:ln>
        </p:spPr>
      </p:sp>
      <p:pic>
        <p:nvPicPr>
          <p:cNvPr id="34" name="Image 2" descr="img/icons/scan-line-white.png">    </p:cNvPr>
          <p:cNvPicPr>
            <a:picLocks noChangeAspect="1"/>
          </p:cNvPicPr>
          <p:nvPr/>
        </p:nvPicPr>
        <p:blipFill>
          <a:blip r:embed="rId3"/>
          <a:stretch>
            <a:fillRect/>
          </a:stretch>
        </p:blipFill>
        <p:spPr>
          <a:xfrm>
            <a:off x="950976" y="4526280"/>
            <a:ext cx="256032" cy="256032"/>
          </a:xfrm>
          <a:prstGeom prst="rect">
            <a:avLst/>
          </a:prstGeom>
        </p:spPr>
      </p:pic>
      <p:sp>
        <p:nvSpPr>
          <p:cNvPr id="35" name="Text 28"/>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Coverage</a:t>
            </a:r>
            <a:endParaRPr lang="en-US" sz="1050" dirty="0"/>
          </a:p>
        </p:txBody>
      </p:sp>
      <p:sp>
        <p:nvSpPr>
          <p:cNvPr id="36" name="Text 29"/>
          <p:cNvSpPr txBox="1"/>
          <p:nvPr/>
        </p:nvSpPr>
        <p:spPr>
          <a:xfrm>
            <a:off x="521208" y="5157216"/>
            <a:ext cx="1106424" cy="43891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100% of both faces, every coil</a:t>
            </a:r>
            <a:endParaRPr lang="en-US" sz="900" dirty="0"/>
          </a:p>
        </p:txBody>
      </p:sp>
      <p:sp>
        <p:nvSpPr>
          <p:cNvPr id="37" name="Text 30"/>
          <p:cNvSpPr txBox="1"/>
          <p:nvPr/>
        </p:nvSpPr>
        <p:spPr>
          <a:xfrm>
            <a:off x="493776" y="5596128"/>
            <a:ext cx="1161288" cy="256032"/>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today: spot checks</a:t>
            </a:r>
            <a:endParaRPr lang="en-US" sz="900" dirty="0"/>
          </a:p>
        </p:txBody>
      </p:sp>
      <p:sp>
        <p:nvSpPr>
          <p:cNvPr id="38" name="Shape 31"/>
          <p:cNvSpPr/>
          <p:nvPr/>
        </p:nvSpPr>
        <p:spPr>
          <a:xfrm>
            <a:off x="1751076" y="4334256"/>
            <a:ext cx="1234440" cy="1554480"/>
          </a:xfrm>
          <a:prstGeom prst="roundRect">
            <a:avLst>
              <a:gd name="adj" fmla="val 4444"/>
            </a:avLst>
          </a:prstGeom>
          <a:solidFill>
            <a:srgbClr val="F3F3F3"/>
          </a:solidFill>
          <a:ln w="12700">
            <a:solidFill>
              <a:srgbClr val="F3F3F3"/>
            </a:solidFill>
            <a:prstDash val="solid"/>
          </a:ln>
        </p:spPr>
      </p:sp>
      <p:sp>
        <p:nvSpPr>
          <p:cNvPr id="39" name="Shape 32"/>
          <p:cNvSpPr/>
          <p:nvPr/>
        </p:nvSpPr>
        <p:spPr>
          <a:xfrm>
            <a:off x="2144268" y="4425696"/>
            <a:ext cx="457200" cy="457200"/>
          </a:xfrm>
          <a:prstGeom prst="ellipse">
            <a:avLst/>
          </a:prstGeom>
          <a:solidFill>
            <a:srgbClr val="D2651F"/>
          </a:solidFill>
          <a:ln w="12700">
            <a:solidFill>
              <a:srgbClr val="D2651F"/>
            </a:solidFill>
            <a:prstDash val="solid"/>
          </a:ln>
        </p:spPr>
      </p:sp>
      <p:pic>
        <p:nvPicPr>
          <p:cNvPr id="40" name="Image 3" descr="img/icons/users-white.png">    </p:cNvPr>
          <p:cNvPicPr>
            <a:picLocks noChangeAspect="1"/>
          </p:cNvPicPr>
          <p:nvPr/>
        </p:nvPicPr>
        <p:blipFill>
          <a:blip r:embed="rId4"/>
          <a:stretch>
            <a:fillRect/>
          </a:stretch>
        </p:blipFill>
        <p:spPr>
          <a:xfrm>
            <a:off x="2244852" y="4526280"/>
            <a:ext cx="256032" cy="256032"/>
          </a:xfrm>
          <a:prstGeom prst="rect">
            <a:avLst/>
          </a:prstGeom>
        </p:spPr>
      </p:pic>
      <p:sp>
        <p:nvSpPr>
          <p:cNvPr id="41" name="Text 33"/>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Customers</a:t>
            </a:r>
            <a:endParaRPr lang="en-US" sz="1050" dirty="0"/>
          </a:p>
        </p:txBody>
      </p:sp>
      <p:sp>
        <p:nvSpPr>
          <p:cNvPr id="42" name="Text 34"/>
          <p:cNvSpPr txBox="1"/>
          <p:nvPr/>
        </p:nvSpPr>
        <p:spPr>
          <a:xfrm>
            <a:off x="1815084" y="5157216"/>
            <a:ext cx="1106424" cy="43891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Defect map per coil for rail, metro, auto buyers</a:t>
            </a:r>
            <a:endParaRPr lang="en-US" sz="900" dirty="0"/>
          </a:p>
        </p:txBody>
      </p:sp>
      <p:sp>
        <p:nvSpPr>
          <p:cNvPr id="43" name="Text 35"/>
          <p:cNvSpPr txBox="1"/>
          <p:nvPr/>
        </p:nvSpPr>
        <p:spPr>
          <a:xfrm>
            <a:off x="1787652" y="5596128"/>
            <a:ext cx="1161288" cy="256032"/>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Vande Bharat supplier</a:t>
            </a:r>
            <a:endParaRPr lang="en-US" sz="900" dirty="0"/>
          </a:p>
        </p:txBody>
      </p:sp>
      <p:sp>
        <p:nvSpPr>
          <p:cNvPr id="44" name="Shape 36"/>
          <p:cNvSpPr/>
          <p:nvPr/>
        </p:nvSpPr>
        <p:spPr>
          <a:xfrm>
            <a:off x="3044952" y="4334256"/>
            <a:ext cx="1234440" cy="1554480"/>
          </a:xfrm>
          <a:prstGeom prst="roundRect">
            <a:avLst>
              <a:gd name="adj" fmla="val 4444"/>
            </a:avLst>
          </a:prstGeom>
          <a:solidFill>
            <a:srgbClr val="F3F3F3"/>
          </a:solidFill>
          <a:ln w="12700">
            <a:solidFill>
              <a:srgbClr val="F3F3F3"/>
            </a:solidFill>
            <a:prstDash val="solid"/>
          </a:ln>
        </p:spPr>
      </p:sp>
      <p:sp>
        <p:nvSpPr>
          <p:cNvPr id="45" name="Shape 37"/>
          <p:cNvSpPr/>
          <p:nvPr/>
        </p:nvSpPr>
        <p:spPr>
          <a:xfrm>
            <a:off x="3438144" y="4425696"/>
            <a:ext cx="457200" cy="457200"/>
          </a:xfrm>
          <a:prstGeom prst="ellipse">
            <a:avLst/>
          </a:prstGeom>
          <a:solidFill>
            <a:srgbClr val="D2651F"/>
          </a:solidFill>
          <a:ln w="12700">
            <a:solidFill>
              <a:srgbClr val="D2651F"/>
            </a:solidFill>
            <a:prstDash val="solid"/>
          </a:ln>
        </p:spPr>
      </p:sp>
      <p:pic>
        <p:nvPicPr>
          <p:cNvPr id="46" name="Image 4" descr="img/icons/wrench-white.png">    </p:cNvPr>
          <p:cNvPicPr>
            <a:picLocks noChangeAspect="1"/>
          </p:cNvPicPr>
          <p:nvPr/>
        </p:nvPicPr>
        <p:blipFill>
          <a:blip r:embed="rId5"/>
          <a:stretch>
            <a:fillRect/>
          </a:stretch>
        </p:blipFill>
        <p:spPr>
          <a:xfrm>
            <a:off x="3538728" y="4526280"/>
            <a:ext cx="256032" cy="256032"/>
          </a:xfrm>
          <a:prstGeom prst="rect">
            <a:avLst/>
          </a:prstGeom>
        </p:spPr>
      </p:pic>
      <p:sp>
        <p:nvSpPr>
          <p:cNvPr id="47" name="Text 38"/>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Process</a:t>
            </a:r>
            <a:endParaRPr lang="en-US" sz="1050" dirty="0"/>
          </a:p>
        </p:txBody>
      </p:sp>
      <p:sp>
        <p:nvSpPr>
          <p:cNvPr id="48" name="Text 39"/>
          <p:cNvSpPr txBox="1"/>
          <p:nvPr/>
        </p:nvSpPr>
        <p:spPr>
          <a:xfrm>
            <a:off x="3108960" y="5157216"/>
            <a:ext cx="1106424" cy="43891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Defects tied to heat and coil IDs</a:t>
            </a:r>
            <a:endParaRPr lang="en-US" sz="900" dirty="0"/>
          </a:p>
        </p:txBody>
      </p:sp>
      <p:sp>
        <p:nvSpPr>
          <p:cNvPr id="49" name="Text 40"/>
          <p:cNvSpPr txBox="1"/>
          <p:nvPr/>
        </p:nvSpPr>
        <p:spPr>
          <a:xfrm>
            <a:off x="3081528" y="5596128"/>
            <a:ext cx="1161288" cy="256032"/>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6 families, each owned</a:t>
            </a:r>
            <a:endParaRPr lang="en-US" sz="900" dirty="0"/>
          </a:p>
        </p:txBody>
      </p:sp>
      <p:sp>
        <p:nvSpPr>
          <p:cNvPr id="50" name="Shape 41"/>
          <p:cNvSpPr/>
          <p:nvPr/>
        </p:nvSpPr>
        <p:spPr>
          <a:xfrm>
            <a:off x="4338828" y="4334256"/>
            <a:ext cx="1234440" cy="1554480"/>
          </a:xfrm>
          <a:prstGeom prst="roundRect">
            <a:avLst>
              <a:gd name="adj" fmla="val 4444"/>
            </a:avLst>
          </a:prstGeom>
          <a:solidFill>
            <a:srgbClr val="F3F3F3"/>
          </a:solidFill>
          <a:ln w="12700">
            <a:solidFill>
              <a:srgbClr val="F3F3F3"/>
            </a:solidFill>
            <a:prstDash val="solid"/>
          </a:ln>
        </p:spPr>
      </p:sp>
      <p:sp>
        <p:nvSpPr>
          <p:cNvPr id="51" name="Shape 42"/>
          <p:cNvSpPr/>
          <p:nvPr/>
        </p:nvSpPr>
        <p:spPr>
          <a:xfrm>
            <a:off x="4732020" y="4425696"/>
            <a:ext cx="457200" cy="457200"/>
          </a:xfrm>
          <a:prstGeom prst="ellipse">
            <a:avLst/>
          </a:prstGeom>
          <a:solidFill>
            <a:srgbClr val="D2651F"/>
          </a:solidFill>
          <a:ln w="12700">
            <a:solidFill>
              <a:srgbClr val="D2651F"/>
            </a:solidFill>
            <a:prstDash val="solid"/>
          </a:ln>
        </p:spPr>
      </p:sp>
      <p:pic>
        <p:nvPicPr>
          <p:cNvPr id="52" name="Image 5" descr="img/icons/hard-hat-white.png">    </p:cNvPr>
          <p:cNvPicPr>
            <a:picLocks noChangeAspect="1"/>
          </p:cNvPicPr>
          <p:nvPr/>
        </p:nvPicPr>
        <p:blipFill>
          <a:blip r:embed="rId6"/>
          <a:stretch>
            <a:fillRect/>
          </a:stretch>
        </p:blipFill>
        <p:spPr>
          <a:xfrm>
            <a:off x="4832604" y="4526280"/>
            <a:ext cx="256032" cy="256032"/>
          </a:xfrm>
          <a:prstGeom prst="rect">
            <a:avLst/>
          </a:prstGeom>
        </p:spPr>
      </p:pic>
      <p:sp>
        <p:nvSpPr>
          <p:cNvPr id="53" name="Text 43"/>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Safety</a:t>
            </a:r>
            <a:endParaRPr lang="en-US" sz="1050" dirty="0"/>
          </a:p>
        </p:txBody>
      </p:sp>
      <p:sp>
        <p:nvSpPr>
          <p:cNvPr id="54" name="Text 44"/>
          <p:cNvSpPr txBox="1"/>
          <p:nvPr/>
        </p:nvSpPr>
        <p:spPr>
          <a:xfrm>
            <a:off x="4402836" y="5157216"/>
            <a:ext cx="1106424" cy="43891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Severe-defect holds prevent strip breaks</a:t>
            </a:r>
            <a:endParaRPr lang="en-US" sz="900" dirty="0"/>
          </a:p>
        </p:txBody>
      </p:sp>
      <p:sp>
        <p:nvSpPr>
          <p:cNvPr id="55" name="Text 45"/>
          <p:cNvSpPr txBox="1"/>
          <p:nvPr/>
        </p:nvSpPr>
        <p:spPr>
          <a:xfrm>
            <a:off x="4375404" y="5596128"/>
            <a:ext cx="1161288" cy="256032"/>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Ternium's business case</a:t>
            </a:r>
            <a:endParaRPr lang="en-US" sz="900" dirty="0"/>
          </a:p>
        </p:txBody>
      </p:sp>
      <p:sp>
        <p:nvSpPr>
          <p:cNvPr id="56" name="Shape 46"/>
          <p:cNvSpPr/>
          <p:nvPr/>
        </p:nvSpPr>
        <p:spPr>
          <a:xfrm>
            <a:off x="5632704" y="4334256"/>
            <a:ext cx="1234440" cy="1554480"/>
          </a:xfrm>
          <a:prstGeom prst="roundRect">
            <a:avLst>
              <a:gd name="adj" fmla="val 4444"/>
            </a:avLst>
          </a:prstGeom>
          <a:solidFill>
            <a:srgbClr val="F3F3F3"/>
          </a:solidFill>
          <a:ln w="12700">
            <a:solidFill>
              <a:srgbClr val="F3F3F3"/>
            </a:solidFill>
            <a:prstDash val="solid"/>
          </a:ln>
        </p:spPr>
      </p:sp>
      <p:sp>
        <p:nvSpPr>
          <p:cNvPr id="57" name="Shape 47"/>
          <p:cNvSpPr/>
          <p:nvPr/>
        </p:nvSpPr>
        <p:spPr>
          <a:xfrm>
            <a:off x="6025896" y="4425696"/>
            <a:ext cx="457200" cy="457200"/>
          </a:xfrm>
          <a:prstGeom prst="ellipse">
            <a:avLst/>
          </a:prstGeom>
          <a:solidFill>
            <a:srgbClr val="D2651F"/>
          </a:solidFill>
          <a:ln w="12700">
            <a:solidFill>
              <a:srgbClr val="D2651F"/>
            </a:solidFill>
            <a:prstDash val="solid"/>
          </a:ln>
        </p:spPr>
      </p:sp>
      <p:pic>
        <p:nvPicPr>
          <p:cNvPr id="58" name="Image 6" descr="img/icons/leaf-white.png">    </p:cNvPr>
          <p:cNvPicPr>
            <a:picLocks noChangeAspect="1"/>
          </p:cNvPicPr>
          <p:nvPr/>
        </p:nvPicPr>
        <p:blipFill>
          <a:blip r:embed="rId7"/>
          <a:stretch>
            <a:fillRect/>
          </a:stretch>
        </p:blipFill>
        <p:spPr>
          <a:xfrm>
            <a:off x="6126480" y="4526280"/>
            <a:ext cx="256032" cy="256032"/>
          </a:xfrm>
          <a:prstGeom prst="rect">
            <a:avLst/>
          </a:prstGeom>
        </p:spPr>
      </p:pic>
      <p:sp>
        <p:nvSpPr>
          <p:cNvPr id="59" name="Text 48"/>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Sustainability</a:t>
            </a:r>
            <a:endParaRPr lang="en-US" sz="1050" dirty="0"/>
          </a:p>
        </p:txBody>
      </p:sp>
      <p:sp>
        <p:nvSpPr>
          <p:cNvPr id="60" name="Text 49"/>
          <p:cNvSpPr txBox="1"/>
          <p:nvPr/>
        </p:nvSpPr>
        <p:spPr>
          <a:xfrm>
            <a:off x="5696712" y="5157216"/>
            <a:ext cx="1106424" cy="43891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Less rework and remelt; backs net zero</a:t>
            </a:r>
            <a:endParaRPr lang="en-US" sz="900" dirty="0"/>
          </a:p>
        </p:txBody>
      </p:sp>
      <p:sp>
        <p:nvSpPr>
          <p:cNvPr id="61" name="Text 50"/>
          <p:cNvSpPr txBox="1"/>
          <p:nvPr/>
        </p:nvSpPr>
        <p:spPr>
          <a:xfrm>
            <a:off x="5669280" y="5596128"/>
            <a:ext cx="1161288" cy="256032"/>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JSL: 1.76 tCO2e/t, FY26</a:t>
            </a:r>
            <a:endParaRPr lang="en-US" sz="900" dirty="0"/>
          </a:p>
        </p:txBody>
      </p:sp>
      <p:sp>
        <p:nvSpPr>
          <p:cNvPr id="62" name="Shape 51"/>
          <p:cNvSpPr/>
          <p:nvPr/>
        </p:nvSpPr>
        <p:spPr>
          <a:xfrm>
            <a:off x="6926580" y="4334256"/>
            <a:ext cx="1234440" cy="1554480"/>
          </a:xfrm>
          <a:prstGeom prst="roundRect">
            <a:avLst>
              <a:gd name="adj" fmla="val 4444"/>
            </a:avLst>
          </a:prstGeom>
          <a:solidFill>
            <a:srgbClr val="F3F3F3"/>
          </a:solidFill>
          <a:ln w="12700">
            <a:solidFill>
              <a:srgbClr val="F3F3F3"/>
            </a:solidFill>
            <a:prstDash val="solid"/>
          </a:ln>
        </p:spPr>
      </p:sp>
      <p:sp>
        <p:nvSpPr>
          <p:cNvPr id="63" name="Shape 52"/>
          <p:cNvSpPr/>
          <p:nvPr/>
        </p:nvSpPr>
        <p:spPr>
          <a:xfrm>
            <a:off x="7319772" y="4425696"/>
            <a:ext cx="457200" cy="457200"/>
          </a:xfrm>
          <a:prstGeom prst="ellipse">
            <a:avLst/>
          </a:prstGeom>
          <a:solidFill>
            <a:srgbClr val="D2651F"/>
          </a:solidFill>
          <a:ln w="12700">
            <a:solidFill>
              <a:srgbClr val="D2651F"/>
            </a:solidFill>
            <a:prstDash val="solid"/>
          </a:ln>
        </p:spPr>
      </p:sp>
      <p:pic>
        <p:nvPicPr>
          <p:cNvPr id="64" name="Image 7" descr="img/icons/user-check-white.png">    </p:cNvPr>
          <p:cNvPicPr>
            <a:picLocks noChangeAspect="1"/>
          </p:cNvPicPr>
          <p:nvPr/>
        </p:nvPicPr>
        <p:blipFill>
          <a:blip r:embed="rId8"/>
          <a:stretch>
            <a:fillRect/>
          </a:stretch>
        </p:blipFill>
        <p:spPr>
          <a:xfrm>
            <a:off x="7420356" y="4526280"/>
            <a:ext cx="256032" cy="256032"/>
          </a:xfrm>
          <a:prstGeom prst="rect">
            <a:avLst/>
          </a:prstGeom>
        </p:spPr>
      </p:pic>
      <p:sp>
        <p:nvSpPr>
          <p:cNvPr id="65" name="Text 53"/>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2B2B2B"/>
                </a:solidFill>
                <a:latin typeface="Calibri" pitchFamily="34" charset="0"/>
                <a:ea typeface="Calibri" pitchFamily="34" charset="-122"/>
                <a:cs typeface="Calibri" pitchFamily="34" charset="-120"/>
              </a:rPr>
              <a:t>People</a:t>
            </a:r>
            <a:endParaRPr lang="en-US" sz="1050" dirty="0"/>
          </a:p>
        </p:txBody>
      </p:sp>
      <p:sp>
        <p:nvSpPr>
          <p:cNvPr id="66" name="Text 54"/>
          <p:cNvSpPr txBox="1"/>
          <p:nvPr/>
        </p:nvSpPr>
        <p:spPr>
          <a:xfrm>
            <a:off x="6990588" y="5157216"/>
            <a:ext cx="1106424" cy="438912"/>
          </a:xfrm>
          <a:prstGeom prst="rect">
            <a:avLst/>
          </a:prstGeom>
          <a:noFill/>
          <a:ln/>
        </p:spPr>
        <p:txBody>
          <a:bodyPr wrap="square" lIns="0" tIns="0" rIns="0" bIns="0" rtlCol="0" anchor="t"/>
          <a:lstStyle/>
          <a:p>
            <a:pPr algn="ctr" indent="0" marL="0">
              <a:buNone/>
            </a:pPr>
            <a:r>
              <a:rPr lang="en-US" sz="900" dirty="0">
                <a:solidFill>
                  <a:srgbClr val="404040"/>
                </a:solidFill>
                <a:latin typeface="Calibri" pitchFamily="34" charset="0"/>
                <a:ea typeface="Calibri" pitchFamily="34" charset="-122"/>
                <a:cs typeface="Calibri" pitchFamily="34" charset="-120"/>
              </a:rPr>
              <a:t>Inspectors move to decisions</a:t>
            </a:r>
            <a:endParaRPr lang="en-US" sz="900" dirty="0"/>
          </a:p>
        </p:txBody>
      </p:sp>
      <p:sp>
        <p:nvSpPr>
          <p:cNvPr id="67" name="Text 55"/>
          <p:cNvSpPr txBox="1"/>
          <p:nvPr/>
        </p:nvSpPr>
        <p:spPr>
          <a:xfrm>
            <a:off x="6963156" y="5596128"/>
            <a:ext cx="1161288" cy="256032"/>
          </a:xfrm>
          <a:prstGeom prst="rect">
            <a:avLst/>
          </a:prstGeom>
          <a:noFill/>
          <a:ln/>
        </p:spPr>
        <p:txBody>
          <a:bodyPr wrap="square" lIns="0" tIns="0" rIns="0" bIns="0" rtlCol="0" anchor="ctr"/>
          <a:lstStyle/>
          <a:p>
            <a:pPr algn="ctr" indent="0" marL="0">
              <a:buNone/>
            </a:pPr>
            <a:r>
              <a:rPr lang="en-US" sz="900" b="1" dirty="0">
                <a:solidFill>
                  <a:srgbClr val="D2651F"/>
                </a:solidFill>
                <a:latin typeface="Calibri" pitchFamily="34" charset="0"/>
                <a:ea typeface="Calibri" pitchFamily="34" charset="-122"/>
                <a:cs typeface="Calibri" pitchFamily="34" charset="-120"/>
              </a:rPr>
              <a:t>HR AI: 95% self-served</a:t>
            </a:r>
            <a:endParaRPr lang="en-US" sz="900" dirty="0"/>
          </a:p>
        </p:txBody>
      </p:sp>
      <p:sp>
        <p:nvSpPr>
          <p:cNvPr id="68" name="Shape 56"/>
          <p:cNvSpPr/>
          <p:nvPr/>
        </p:nvSpPr>
        <p:spPr>
          <a:xfrm>
            <a:off x="8321040" y="4005072"/>
            <a:ext cx="3410712" cy="1883664"/>
          </a:xfrm>
          <a:prstGeom prst="roundRect">
            <a:avLst>
              <a:gd name="adj" fmla="val 2913"/>
            </a:avLst>
          </a:prstGeom>
          <a:solidFill>
            <a:srgbClr val="2B2B2B"/>
          </a:solidFill>
          <a:ln w="12700">
            <a:solidFill>
              <a:srgbClr val="2B2B2B"/>
            </a:solidFill>
            <a:prstDash val="solid"/>
          </a:ln>
        </p:spPr>
      </p:sp>
      <p:sp>
        <p:nvSpPr>
          <p:cNvPr id="69" name="Text 57"/>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D6D6D6"/>
                </a:solidFill>
                <a:latin typeface="Calibri" pitchFamily="34" charset="0"/>
                <a:ea typeface="Calibri" pitchFamily="34" charset="-122"/>
                <a:cs typeface="Calibri" pitchFamily="34" charset="-120"/>
              </a:rPr>
              <a:t>WHAT WE ASK OF JSL</a:t>
            </a:r>
            <a:endParaRPr lang="en-US" sz="1100" dirty="0"/>
          </a:p>
        </p:txBody>
      </p:sp>
      <p:sp>
        <p:nvSpPr>
          <p:cNvPr id="70" name="Text 58"/>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Vendor quotes for cameras and lighting in P0</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71" name="Text 59"/>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D6D6D6"/>
                </a:solidFill>
                <a:latin typeface="Calibri" pitchFamily="34" charset="0"/>
                <a:ea typeface="Calibri" pitchFamily="34" charset="-122"/>
                <a:cs typeface="Calibri" pitchFamily="34" charset="-120"/>
              </a:rPr>
              <a:t>In return: the measured downgrade rate, the value captured,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2026-09-27T15:43:47Z</dcterms:created>
  <dcterms:modified xsi:type="dcterms:W3CDTF">2026-09-27T15:43:47Z</dcterms:modified>
</cp:coreProperties>
</file>