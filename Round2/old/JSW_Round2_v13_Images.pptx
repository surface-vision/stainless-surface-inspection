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Actual</c:v>
                </c:pt>
              </c:strCache>
            </c:strRef>
          </c:tx>
          <c:spPr>
            <a:solidFill>
              <a:srgbClr val="D2651F"/>
            </a:solidFill>
            <a:effectLst/>
          </c:spPr>
          <c:invertIfNegative val="0"/>
          <c:dLbls>
            <c:numFmt formatCode="0.0;-0.0;;" sourceLinked="0"/>
            <c:txPr>
              <a:bodyPr/>
              <a:lstStyle/>
              <a:p>
                <a:pPr>
                  <a:defRPr b="1" i="0" strike="noStrike" sz="9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Sheet1!$A$2:$A$7</c:f>
              <c:multiLvlStrCache>
                <c:ptCount val="6"/>
                <c:lvl>
                  <c:pt idx="0">
                    <c:v>FY21</c:v>
                  </c:pt>
                  <c:pt idx="1">
                    <c:v>FY22</c:v>
                  </c:pt>
                  <c:pt idx="2">
                    <c:v>FY23</c:v>
                  </c:pt>
                  <c:pt idx="3">
                    <c:v>FY24</c:v>
                  </c:pt>
                  <c:pt idx="4">
                    <c:v>FY25</c:v>
                  </c:pt>
                  <c:pt idx="5">
                    <c:v>FY30F</c:v>
                  </c:pt>
                </c:lvl>
              </c:multiLvlStrCache>
            </c:multiLvlStrRef>
          </c:cat>
          <c:val>
            <c:numRef>
              <c:f>Sheet1!$B$2:$B$7</c:f>
              <c:numCache>
                <c:formatCode>General</c:formatCode>
                <c:ptCount val="6"/>
                <c:pt idx="0">
                  <c:v>2.61</c:v>
                </c:pt>
                <c:pt idx="1">
                  <c:v>3.46</c:v>
                </c:pt>
                <c:pt idx="2">
                  <c:v>3.94</c:v>
                </c:pt>
                <c:pt idx="3">
                  <c:v>4.49</c:v>
                </c:pt>
                <c:pt idx="4">
                  <c:v>4.8</c:v>
                </c:pt>
                <c:pt idx="5">
                  <c:v>0</c:v>
                </c:pt>
              </c:numCache>
            </c:numRef>
          </c:val>
        </c:ser>
        <c:ser>
          <c:idx val="1"/>
          <c:order val="1"/>
          <c:tx>
            <c:strRef>
              <c:f>Sheet1!$C$1</c:f>
              <c:strCache>
                <c:ptCount val="1"/>
                <c:pt idx="0">
                  <c:v>Forecast</c:v>
                </c:pt>
              </c:strCache>
            </c:strRef>
          </c:tx>
          <c:spPr>
            <a:solidFill>
              <a:srgbClr val="F5BE92"/>
            </a:solidFill>
            <a:effectLst/>
          </c:spPr>
          <c:invertIfNegative val="0"/>
          <c:dLbls>
            <c:numFmt formatCode="0.0;-0.0;;" sourceLinked="0"/>
            <c:txPr>
              <a:bodyPr/>
              <a:lstStyle/>
              <a:p>
                <a:pPr>
                  <a:defRPr b="1" i="0" strike="noStrike" sz="9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Sheet1!$A$2:$A$7</c:f>
              <c:multiLvlStrCache>
                <c:ptCount val="6"/>
                <c:lvl>
                  <c:pt idx="0">
                    <c:v>FY21</c:v>
                  </c:pt>
                  <c:pt idx="1">
                    <c:v>FY22</c:v>
                  </c:pt>
                  <c:pt idx="2">
                    <c:v>FY23</c:v>
                  </c:pt>
                  <c:pt idx="3">
                    <c:v>FY24</c:v>
                  </c:pt>
                  <c:pt idx="4">
                    <c:v>FY25</c:v>
                  </c:pt>
                  <c:pt idx="5">
                    <c:v>FY30F</c:v>
                  </c:pt>
                </c:lvl>
              </c:multiLvlStrCache>
            </c:multiLvlStrRef>
          </c:cat>
          <c:val>
            <c:numRef>
              <c:f>Sheet1!$C$2:$C$7</c:f>
              <c:numCache>
                <c:formatCode>General</c:formatCode>
                <c:ptCount val="6"/>
                <c:pt idx="0">
                  <c:v>0</c:v>
                </c:pt>
                <c:pt idx="1">
                  <c:v>0</c:v>
                </c:pt>
                <c:pt idx="2">
                  <c:v>0</c:v>
                </c:pt>
                <c:pt idx="3">
                  <c:v>0</c:v>
                </c:pt>
                <c:pt idx="4">
                  <c:v>0</c:v>
                </c:pt>
                <c:pt idx="5">
                  <c:v>6.8</c:v>
                </c:pt>
              </c:numCache>
            </c:numRef>
          </c:val>
        </c:ser>
        <c:dLbls>
          <c:numFmt formatCode="0.0;-0.0;;" sourceLinked="0"/>
          <c:txPr>
            <a:bodyPr/>
            <a:lstStyle/>
            <a:p>
              <a:pPr>
                <a:defRPr b="1" i="0" strike="noStrike" sz="900" u="none">
                  <a:solidFill>
                    <a:srgbClr val="FFFFFF"/>
                  </a:solidFill>
                  <a:latin typeface="Calibri"/>
                </a:defRPr>
              </a:pPr>
            </a:p>
          </c:txPr>
          <c:dLblPos val="inEnd"/>
          <c:showLegendKey val="0"/>
          <c:showVal val="1"/>
          <c:showCatName val="0"/>
          <c:showSerName val="0"/>
          <c:showPercent val="0"/>
          <c:showBubbleSize val="0"/>
          <c:showLeaderLines val="0"/>
        </c:dLbls>
        <c:gapWidth val="3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404040"/>
                </a:solidFill>
                <a:latin typeface="Calibri"/>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90%</c:v>
                </c:pt>
              </c:strCache>
            </c:strRef>
          </c:tx>
          <c:spPr>
            <a:solidFill>
              <a:schemeClr val="accent1"/>
            </a:solidFill>
            <a:ln w="9525" cap="flat">
              <a:solidFill>
                <a:srgbClr val="F9F9F9"/>
              </a:solidFill>
              <a:prstDash val="solid"/>
              <a:round/>
            </a:ln>
            <a:effectLst/>
          </c:spPr>
          <c:dPt>
            <c:idx val="0"/>
            <c:bubble3D val="0"/>
            <c:spPr>
              <a:solidFill>
                <a:srgbClr val="D2651F"/>
              </a:solidFill>
              <a:ln w="9525" cap="flat">
                <a:solidFill>
                  <a:srgbClr val="FFFFFF"/>
                </a:solidFill>
                <a:prstDash val="solid"/>
                <a:round/>
              </a:ln>
              <a:effectLst/>
            </c:spPr>
          </c:dPt>
          <c:dPt>
            <c:idx val="1"/>
            <c:bubble3D val="0"/>
            <c:spPr>
              <a:solidFill>
                <a:srgbClr val="E3E3E3"/>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c:v>
                </c:pt>
                <c:pt idx="1">
                  <c:v>b</c:v>
                </c:pt>
              </c:strCache>
            </c:strRef>
          </c:cat>
          <c:val>
            <c:numRef>
              <c:f>Sheet1!$B$2:$B$3</c:f>
              <c:numCache>
                <c:ptCount val="2"/>
                <c:pt idx="0">
                  <c:v>89.6</c:v>
                </c:pt>
                <c:pt idx="1">
                  <c:v>10.400000000000006</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4.7%</c:v>
                </c:pt>
              </c:strCache>
            </c:strRef>
          </c:tx>
          <c:spPr>
            <a:solidFill>
              <a:schemeClr val="accent1"/>
            </a:solidFill>
            <a:ln w="9525" cap="flat">
              <a:solidFill>
                <a:srgbClr val="F9F9F9"/>
              </a:solidFill>
              <a:prstDash val="solid"/>
              <a:round/>
            </a:ln>
            <a:effectLst/>
          </c:spPr>
          <c:dPt>
            <c:idx val="0"/>
            <c:bubble3D val="0"/>
            <c:spPr>
              <a:solidFill>
                <a:srgbClr val="D2651F"/>
              </a:solidFill>
              <a:ln w="9525" cap="flat">
                <a:solidFill>
                  <a:srgbClr val="FFFFFF"/>
                </a:solidFill>
                <a:prstDash val="solid"/>
                <a:round/>
              </a:ln>
              <a:effectLst/>
            </c:spPr>
          </c:dPt>
          <c:dPt>
            <c:idx val="1"/>
            <c:bubble3D val="0"/>
            <c:spPr>
              <a:solidFill>
                <a:srgbClr val="E3E3E3"/>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c:v>
                </c:pt>
                <c:pt idx="1">
                  <c:v>b</c:v>
                </c:pt>
              </c:strCache>
            </c:strRef>
          </c:cat>
          <c:val>
            <c:numRef>
              <c:f>Sheet1!$B$2:$B$3</c:f>
              <c:numCache>
                <c:ptCount val="2"/>
                <c:pt idx="0">
                  <c:v>4.7</c:v>
                </c:pt>
                <c:pt idx="1">
                  <c:v>95.3</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six images are real output from our system on steel images it had never seen. The QR opens the live demo in the judge's browser. Four numbers tell the story: on real mill strip it catches 9 in 10 defects and wrongly flags fewer than 1 in 20 clean images; each line has about INR 6.7 crore a year at stake from downgrades even at a conservative 1%; and one line reaches shadow mode in seven months, with a go/no-go before anything touches the mill.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Walk the ribbon left to right: a sliver born at the caster is only seen at finishing, after hot rolling, annealing, pickling and cold rolling have been paid for. Why stainless hurts more: every tonne of 304 carries INR 126,000-165,000 of nickel, and a 2B or BA mill finish cannot be polished back. Why now: Indian stainless demand grew 84% in five years to 4.8 Mt and is heading to 6.8 Mt by FY30, led by rail and metro coaches; imports hit 1.73 Mt in FY25 and DGTR opened an anti-dumping probe on cold-rolled 300/400 series in September 2025, so quality is the domestic producer's moat; BIS certification to IS 6911 has been mandatory for sheet and strip since August 2024; and JSL is adding cold-rolling capacity. The cost-of-quality frame is the output: inspection moves spend from failure to prevention. Photo credits: cold-rolling mill, ThyssenKrupp Steel USA (Free Art License); coil, Methem (public domain); stainless lift interior, Shwun Vounwun3 (CC BY-SA 4.0); all via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Insights, stainless-specific. The six images are real output from our system on images it had never seen; each family is born at a different stage, so a typed detection goes straight to the right owner as a work order. The owner mapping needs a JSL metallurgist's sign-off in P0. Precedent: Outokumpu, Europe's largest stainless producer, switched on an AI surface inspection system at Tornio in October 2024, built to run without internet and scale across sites; Tata Steel Kalinganagar, India's first WEF Lighthouse, uses video analytics for surface defects on cold-rolled products; Parsytec systems on stainless lines use 170 micron cameras with bright and dark field light and make a decision per coil. We copy the offline edge design, an in-house team that owns the system, and the optics spec. The grade matrix output is the pilot grade: 300 series. Photo credits: Outokumpu Tornio mill, Methem (CC BY 3.0); Tata Steel plant, Kharbaan Ghaltaan (CC BY-SA 4.0); Vande Bharat coaches, Ravi Dwivedi (CC BY-SA 4.0); all via Wikimedia Commons. The Vande Bharat photo illustrates a 300-series exposed-surface use; JSL supplies stainless for these coaches.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design choices. One: alarms you can act on. On real mill strip it catches 258 of 288 defects and wrongly flags only 14 of 300 clean images; the pilot repeats this on JSL's own strip before any alarm is trusted. Two: one verdict per coil. Every defect rolls up into accept, downgrade or hold, with limits agreed per grade and finish with JSL Quality. Three: image detail decides what can be seen and what the hardware costs; full detail at 250 m/min needs about 18 processing units, so resolution is a day-one decision with JSL. Four: trust is earned on the shift floor, with evidence on every alarm, four weeks of shadow mode and a weekly review of every override. Images: a real mill-strip defect our system flagged, and a clean mill-strip image that raised no alarm, both from the held-out test set; the screenshot is the live demo's alarm view. Lift photo: Shwun Vounwun3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Stages 2 to 4 are built and running today in the browser demo. Stage 5 has coil rules built, but grade- and finish-specific limits need JSL input. Stages 1 and 6 are the plant-side pilot work. The strip underneath shows where each stage runs: cameras at the line, an edge server beside it that works offline, the plant network behind IEC 62443 zones, and people on screens and work orders. What JSL gets that a standard system does not: alarms it can act on, routing to the owning process, one verdict per coil, and ownership of its own system. Build vs buy: commercial systems are proven but closed and vendor-owned; fully in-house is slowest to prove; hybrid is never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Three public datasets, about 10,100 images, all scored on images the system had never seen. Per defect, four of six families sit at or above the published range; crazing and rolled-in scale are low-contrast textures and are weaker. The honest headline is the second weak spot: on real mill frames the score is 0.57 against 0.75 on the lab benchmark, which is exactly why the pilot starts on JSL's own strip before anything is trusted. Roll marks score 0.20 because public data has only a few dozen examples; edge cameras and targeted labelling with JSL fix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Five phases, 20 months, with a hard go/no-go at month 7 after shadow mode. The system never acts on the mill until P3; before that it only reads data and advises. The pilot scope is deliberately narrow: one 300-series cold-rolled line, both faces, 2B and BA finishes, the six defect families plus unclassified defects. The hot end, edge cracks, automatic process correction and other plants wait until the pilot has proved itself. JSL Quality owns every go/no-go; the Pragati team owns integration, because Pragati Phase 2 already brings Level-2 process data at Jajpur. Mirror-like BA and 2B finishes are handled the way stainless lines already do it: bright and dark-field light, with deflectometry for BA. The plant network is protected by IEC 62443 zones and the system runs offline. Every update must beat the live system on a fixed JSL test set before it ships. Photo: cold-rolling mill, ThyssenKrupp Steel USA (Free Art License),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We size the prize, not the price. At a conservative 1% of volume downgraded at a 10% discount, one 0.4 Mt line puts about INR 6.7 crore a year at stake; across JSL's 2.57 Mt it is about INR 43 crore. Non-prime coil typically sells 10-30% below prime, so the discounts are conservative. The value comes through five levers: fewer downgrades, fewer customer claims, less rework, faster root-cause fixes, and premium exposed-finish orders. Each has a measure the pilot tracks, so the fleet decision rests on JSL's own numbers rather than our assumptions. Beyond the P&amp;L: coverage, customers, process, safety, sustainability and people. Close on the ask. Proof points for the tiles: JSL supplies Vande Bharat and metro coach steel; defect families map to owners on slide 3; strip-break avoidance is the Ternium business case; JSL emission intensity was 1.76 tCO2e per tonne in FY26; JSL's HR AI assistant resolves over 95% of routine queries. Photo credits: coaches, Ravi Dwivedi (CC BY-SA 4.0); mill, ThyssenKrupp Steel USA (FAL); Outokumpu Tornio, Methem (CC BY 3.0); inspector in a pipe, Italsider archive (CC BY-SA 4.0); coil, Methem (public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slideLayout" Target="../slideLayouts/slideLayout1.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2" Type="http://schemas.openxmlformats.org/officeDocument/2006/relationships/chart" Target="/ppt/charts/chart1.xml"/><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jpg"/><Relationship Id="rId10" Type="http://schemas.openxmlformats.org/officeDocument/2006/relationships/image" Target="../media/image-2-10.jpg"/><Relationship Id="rId11" Type="http://schemas.openxmlformats.org/officeDocument/2006/relationships/image" Target="../media/image-2-11.jpg"/><Relationship Id="rId13" Type="http://schemas.openxmlformats.org/officeDocument/2006/relationships/image" Target="../media/image-2-12.png"/><Relationship Id="rId14" Type="http://schemas.openxmlformats.org/officeDocument/2006/relationships/image" Target="../media/image-2-13.png"/><Relationship Id="rId15" Type="http://schemas.openxmlformats.org/officeDocument/2006/relationships/image" Target="../media/image-2-14.png"/><Relationship Id="rId16" Type="http://schemas.openxmlformats.org/officeDocument/2006/relationships/slideLayout" Target="../slideLayouts/slideLayout1.xml"/><Relationship Id="rId1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jpg"/><Relationship Id="rId10" Type="http://schemas.openxmlformats.org/officeDocument/2006/relationships/image" Target="../media/image-3-10.jpg"/><Relationship Id="rId11" Type="http://schemas.openxmlformats.org/officeDocument/2006/relationships/image" Target="../media/image-3-11.png"/><Relationship Id="rId12" Type="http://schemas.openxmlformats.org/officeDocument/2006/relationships/image" Target="../media/image-3-12.jpg"/><Relationship Id="rId13" Type="http://schemas.openxmlformats.org/officeDocument/2006/relationships/slideLayout" Target="../slideLayouts/slideLayout1.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chart" Target="/ppt/charts/chart2.xml"/><Relationship Id="rId5" Type="http://schemas.openxmlformats.org/officeDocument/2006/relationships/chart" Target="/ppt/charts/chart3.xml"/><Relationship Id="rId1" Type="http://schemas.openxmlformats.org/officeDocument/2006/relationships/image" Target="../media/image-4-1.jpg"/><Relationship Id="rId2" Type="http://schemas.openxmlformats.org/officeDocument/2006/relationships/image" Target="../media/image-4-2.png"/><Relationship Id="rId4" Type="http://schemas.openxmlformats.org/officeDocument/2006/relationships/image" Target="../media/image-4-3.png"/><Relationship Id="rId6" Type="http://schemas.openxmlformats.org/officeDocument/2006/relationships/image" Target="../media/image-4-4.jpg"/><Relationship Id="rId7" Type="http://schemas.openxmlformats.org/officeDocument/2006/relationships/image" Target="../media/image-4-5.jpg"/><Relationship Id="rId8" Type="http://schemas.openxmlformats.org/officeDocument/2006/relationships/image" Target="../media/image-4-6.png"/><Relationship Id="rId9" Type="http://schemas.openxmlformats.org/officeDocument/2006/relationships/image" Target="../media/image-4-6.png"/><Relationship Id="rId10" Type="http://schemas.openxmlformats.org/officeDocument/2006/relationships/image" Target="../media/image-4-6.png"/><Relationship Id="rId11" Type="http://schemas.openxmlformats.org/officeDocument/2006/relationships/image" Target="../media/image-4-6.png"/><Relationship Id="rId12" Type="http://schemas.openxmlformats.org/officeDocument/2006/relationships/image" Target="../media/image-4-6.png"/><Relationship Id="rId13" Type="http://schemas.openxmlformats.org/officeDocument/2006/relationships/image" Target="../media/image-4-6.png"/><Relationship Id="rId14" Type="http://schemas.openxmlformats.org/officeDocument/2006/relationships/image" Target="../media/image-4-6.png"/><Relationship Id="rId15" Type="http://schemas.openxmlformats.org/officeDocument/2006/relationships/image" Target="../media/image-4-6.png"/><Relationship Id="rId16" Type="http://schemas.openxmlformats.org/officeDocument/2006/relationships/image" Target="../media/image-4-6.png"/><Relationship Id="rId17" Type="http://schemas.openxmlformats.org/officeDocument/2006/relationships/image" Target="../media/image-4-6.png"/><Relationship Id="rId18" Type="http://schemas.openxmlformats.org/officeDocument/2006/relationships/image" Target="../media/image-4-6.png"/><Relationship Id="rId19" Type="http://schemas.openxmlformats.org/officeDocument/2006/relationships/image" Target="../media/image-4-6.png"/><Relationship Id="rId20" Type="http://schemas.openxmlformats.org/officeDocument/2006/relationships/image" Target="../media/image-4-6.png"/><Relationship Id="rId21" Type="http://schemas.openxmlformats.org/officeDocument/2006/relationships/image" Target="../media/image-4-6.png"/><Relationship Id="rId22" Type="http://schemas.openxmlformats.org/officeDocument/2006/relationships/image" Target="../media/image-4-6.png"/><Relationship Id="rId23" Type="http://schemas.openxmlformats.org/officeDocument/2006/relationships/image" Target="../media/image-4-6.png"/><Relationship Id="rId24" Type="http://schemas.openxmlformats.org/officeDocument/2006/relationships/image" Target="../media/image-4-6.png"/><Relationship Id="rId25" Type="http://schemas.openxmlformats.org/officeDocument/2006/relationships/image" Target="../media/image-4-6.png"/><Relationship Id="rId26" Type="http://schemas.openxmlformats.org/officeDocument/2006/relationships/image" Target="../media/image-4-6.png"/><Relationship Id="rId27" Type="http://schemas.openxmlformats.org/officeDocument/2006/relationships/image" Target="../media/image-4-6.png"/><Relationship Id="rId28" Type="http://schemas.openxmlformats.org/officeDocument/2006/relationships/image" Target="../media/image-4-6.png"/><Relationship Id="rId29" Type="http://schemas.openxmlformats.org/officeDocument/2006/relationships/image" Target="../media/image-4-6.png"/><Relationship Id="rId30" Type="http://schemas.openxmlformats.org/officeDocument/2006/relationships/image" Target="../media/image-4-28.png"/><Relationship Id="rId31" Type="http://schemas.openxmlformats.org/officeDocument/2006/relationships/image" Target="../media/image-4-29.png"/><Relationship Id="rId32" Type="http://schemas.openxmlformats.org/officeDocument/2006/relationships/image" Target="../media/image-4-30.png"/><Relationship Id="rId33" Type="http://schemas.openxmlformats.org/officeDocument/2006/relationships/image" Target="../media/image-4-31.png"/><Relationship Id="rId34" Type="http://schemas.openxmlformats.org/officeDocument/2006/relationships/slideLayout" Target="../slideLayouts/slideLayout1.xml"/><Relationship Id="rId3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7.png"/><Relationship Id="rId12" Type="http://schemas.openxmlformats.org/officeDocument/2006/relationships/image" Target="../media/image-5-12.png"/><Relationship Id="rId13" Type="http://schemas.openxmlformats.org/officeDocument/2006/relationships/image" Target="../media/image-5-4.png"/><Relationship Id="rId14" Type="http://schemas.openxmlformats.org/officeDocument/2006/relationships/slideLayout" Target="../slideLayouts/slideLayout1.xml"/><Relationship Id="rId1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jp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slideLayout" Target="../slideLayouts/slideLayout1.xml"/><Relationship Id="rId1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jpg"/><Relationship Id="rId10" Type="http://schemas.openxmlformats.org/officeDocument/2006/relationships/image" Target="../media/image-8-10.jpg"/><Relationship Id="rId11" Type="http://schemas.openxmlformats.org/officeDocument/2006/relationships/image" Target="../media/image-8-11.jpg"/><Relationship Id="rId12" Type="http://schemas.openxmlformats.org/officeDocument/2006/relationships/image" Target="../media/image-8-12.jpg"/><Relationship Id="rId13" Type="http://schemas.openxmlformats.org/officeDocument/2006/relationships/image" Target="../media/image-8-13.jpg"/><Relationship Id="rId14" Type="http://schemas.openxmlformats.org/officeDocument/2006/relationships/slideLayout" Target="../slideLayouts/slideLayout1.xml"/><Relationship Id="rId1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B2B"/>
        </a:solidFill>
      </p:bgPr>
    </p:bg>
    <p:spTree>
      <p:nvGrpSpPr>
        <p:cNvPr id="1" name=""/>
        <p:cNvGrpSpPr/>
        <p:nvPr/>
      </p:nvGrpSpPr>
      <p:grpSpPr>
        <a:xfrm>
          <a:off x="0" y="0"/>
          <a:ext cx="0" cy="0"/>
          <a:chOff x="0" y="0"/>
          <a:chExt cx="0" cy="0"/>
        </a:xfrm>
      </p:grpSpPr>
      <p:pic>
        <p:nvPicPr>
          <p:cNvPr id="2" name="Image 0" descr="img/cover_coil.jpg">    </p:cNvPr>
          <p:cNvPicPr>
            <a:picLocks noChangeAspect="1"/>
          </p:cNvPicPr>
          <p:nvPr/>
        </p:nvPicPr>
        <p:blipFill>
          <a:blip r:embed="rId1"/>
          <a:srcRect l="0" r="0" t="0" b="0"/>
          <a:stretch/>
        </p:blipFill>
        <p:spPr>
          <a:xfrm>
            <a:off x="7818120" y="786384"/>
            <a:ext cx="4373575" cy="6071616"/>
          </a:xfrm>
          <a:prstGeom prst="rect">
            <a:avLst/>
          </a:prstGeom>
        </p:spPr>
      </p:pic>
      <p:sp>
        <p:nvSpPr>
          <p:cNvPr id="3" name="Shape 0"/>
          <p:cNvSpPr/>
          <p:nvPr/>
        </p:nvSpPr>
        <p:spPr>
          <a:xfrm>
            <a:off x="7818120" y="786384"/>
            <a:ext cx="4373575" cy="6071616"/>
          </a:xfrm>
          <a:prstGeom prst="rect">
            <a:avLst/>
          </a:prstGeom>
          <a:solidFill>
            <a:srgbClr val="2B2B2B">
              <a:alpha val="60000"/>
            </a:srgbClr>
          </a:solidFill>
          <a:ln w="12700">
            <a:solidFill>
              <a:srgbClr val="2B2B2B"/>
            </a:solidFill>
            <a:prstDash val="solid"/>
          </a:ln>
        </p:spPr>
      </p:sp>
      <p:sp>
        <p:nvSpPr>
          <p:cNvPr id="4" name="Shape 1"/>
          <p:cNvSpPr/>
          <p:nvPr/>
        </p:nvSpPr>
        <p:spPr>
          <a:xfrm>
            <a:off x="7818120" y="786384"/>
            <a:ext cx="54864" cy="6071616"/>
          </a:xfrm>
          <a:prstGeom prst="rect">
            <a:avLst/>
          </a:prstGeom>
          <a:solidFill>
            <a:srgbClr val="E4803A"/>
          </a:solidFill>
          <a:ln w="12700">
            <a:solidFill>
              <a:srgbClr val="E4803A"/>
            </a:solidFill>
            <a:prstDash val="solid"/>
          </a:ln>
        </p:spPr>
      </p:sp>
      <p:sp>
        <p:nvSpPr>
          <p:cNvPr id="5" name="Shape 2"/>
          <p:cNvSpPr/>
          <p:nvPr/>
        </p:nvSpPr>
        <p:spPr>
          <a:xfrm>
            <a:off x="0" y="0"/>
            <a:ext cx="12191695" cy="786384"/>
          </a:xfrm>
          <a:prstGeom prst="rect">
            <a:avLst/>
          </a:prstGeom>
          <a:solidFill>
            <a:srgbClr val="E4803A"/>
          </a:solidFill>
          <a:ln w="12700">
            <a:solidFill>
              <a:srgbClr val="E4803A"/>
            </a:solidFill>
            <a:prstDash val="solid"/>
          </a:ln>
        </p:spPr>
      </p:sp>
      <p:pic>
        <p:nvPicPr>
          <p:cNvPr id="6" name="Image 1" descr="img/logo_jsl.jpg">    </p:cNvPr>
          <p:cNvPicPr>
            <a:picLocks noChangeAspect="1"/>
          </p:cNvPicPr>
          <p:nvPr/>
        </p:nvPicPr>
        <p:blipFill>
          <a:blip r:embed="rId2"/>
          <a:stretch>
            <a:fillRect/>
          </a:stretch>
        </p:blipFill>
        <p:spPr>
          <a:xfrm>
            <a:off x="91440" y="73152"/>
            <a:ext cx="2176272" cy="640080"/>
          </a:xfrm>
          <a:prstGeom prst="rect">
            <a:avLst/>
          </a:prstGeom>
        </p:spPr>
      </p:pic>
      <p:pic>
        <p:nvPicPr>
          <p:cNvPr id="7" name="Image 2" descr="img/logo_spark.png">    </p:cNvPr>
          <p:cNvPicPr>
            <a:picLocks noChangeAspect="1"/>
          </p:cNvPicPr>
          <p:nvPr/>
        </p:nvPicPr>
        <p:blipFill>
          <a:blip r:embed="rId3"/>
          <a:stretch>
            <a:fillRect/>
          </a:stretch>
        </p:blipFill>
        <p:spPr>
          <a:xfrm>
            <a:off x="2340864" y="73152"/>
            <a:ext cx="1243584" cy="640080"/>
          </a:xfrm>
          <a:prstGeom prst="rect">
            <a:avLst/>
          </a:prstGeom>
        </p:spPr>
      </p:pic>
      <p:sp>
        <p:nvSpPr>
          <p:cNvPr id="8" name="Text 3"/>
          <p:cNvSpPr txBox="1"/>
          <p:nvPr/>
        </p:nvSpPr>
        <p:spPr>
          <a:xfrm>
            <a:off x="7589520" y="128016"/>
            <a:ext cx="4480560" cy="548640"/>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ROUND 2  ·  PROBLEM STATEMENT 1</a:t>
            </a:r>
            <a:pPr algn="r" indent="0" marL="0">
              <a:buNone/>
            </a:pPr>
            <a:endParaRPr lang="en-US" sz="1000" dirty="0"/>
          </a:p>
          <a:p>
            <a:pPr algn="r" indent="0" marL="0">
              <a:buNone/>
            </a:pPr>
            <a:r>
              <a:rPr lang="en-US" sz="1050" dirty="0">
                <a:solidFill>
                  <a:srgbClr val="FFFFFF"/>
                </a:solidFill>
                <a:latin typeface="Calibri" pitchFamily="34" charset="0"/>
                <a:ea typeface="Calibri" pitchFamily="34" charset="-122"/>
                <a:cs typeface="Calibri" pitchFamily="34" charset="-120"/>
              </a:rPr>
              <a:t>AI surface defect detection</a:t>
            </a:r>
            <a:endParaRPr lang="en-US" sz="1000" dirty="0"/>
          </a:p>
        </p:txBody>
      </p:sp>
      <p:sp>
        <p:nvSpPr>
          <p:cNvPr id="9" name="Text 4"/>
          <p:cNvSpPr txBox="1"/>
          <p:nvPr/>
        </p:nvSpPr>
        <p:spPr>
          <a:xfrm>
            <a:off x="548640" y="1024128"/>
            <a:ext cx="7040880" cy="128016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Catch every strip defect where it is born, not where it is shipped</a:t>
            </a:r>
            <a:endParaRPr lang="en-US" sz="3400" dirty="0"/>
          </a:p>
        </p:txBody>
      </p:sp>
      <p:sp>
        <p:nvSpPr>
          <p:cNvPr id="10" name="Text 5"/>
          <p:cNvSpPr txBox="1"/>
          <p:nvPr/>
        </p:nvSpPr>
        <p:spPr>
          <a:xfrm>
            <a:off x="548640" y="2359152"/>
            <a:ext cx="6858000" cy="640080"/>
          </a:xfrm>
          <a:prstGeom prst="rect">
            <a:avLst/>
          </a:prstGeom>
          <a:noFill/>
          <a:ln/>
        </p:spPr>
        <p:txBody>
          <a:bodyPr wrap="square" lIns="0" tIns="0" rIns="0" bIns="0" rtlCol="0" anchor="t"/>
          <a:lstStyle/>
          <a:p>
            <a:pPr indent="0" marL="0">
              <a:buNone/>
            </a:pPr>
            <a:r>
              <a:rPr lang="en-US" sz="1500" dirty="0">
                <a:solidFill>
                  <a:srgbClr val="D6D6D6"/>
                </a:solidFill>
                <a:latin typeface="Calibri" pitchFamily="34" charset="0"/>
                <a:ea typeface="Calibri" pitchFamily="34" charset="-122"/>
                <a:cs typeface="Calibri" pitchFamily="34" charset="-120"/>
              </a:rPr>
              <a:t>AI surface inspection that finds, grades and routes every stainless strip defect to the process that caused it.</a:t>
            </a:r>
            <a:endParaRPr lang="en-US" sz="1500" dirty="0"/>
          </a:p>
        </p:txBody>
      </p:sp>
      <p:sp>
        <p:nvSpPr>
          <p:cNvPr id="11" name="Shape 6"/>
          <p:cNvSpPr/>
          <p:nvPr/>
        </p:nvSpPr>
        <p:spPr>
          <a:xfrm>
            <a:off x="548640" y="3200400"/>
            <a:ext cx="45720" cy="932688"/>
          </a:xfrm>
          <a:prstGeom prst="rect">
            <a:avLst/>
          </a:prstGeom>
          <a:solidFill>
            <a:srgbClr val="E4803A"/>
          </a:solidFill>
          <a:ln w="12700">
            <a:solidFill>
              <a:srgbClr val="E4803A"/>
            </a:solidFill>
            <a:prstDash val="solid"/>
          </a:ln>
        </p:spPr>
      </p:sp>
      <p:sp>
        <p:nvSpPr>
          <p:cNvPr id="12" name="Text 7"/>
          <p:cNvSpPr txBox="1"/>
          <p:nvPr/>
        </p:nvSpPr>
        <p:spPr>
          <a:xfrm>
            <a:off x="676656" y="3163824"/>
            <a:ext cx="1600200" cy="420624"/>
          </a:xfrm>
          <a:prstGeom prst="rect">
            <a:avLst/>
          </a:prstGeom>
          <a:noFill/>
          <a:ln/>
        </p:spPr>
        <p:txBody>
          <a:bodyPr wrap="square" lIns="0" tIns="0" rIns="0" bIns="0" rtlCol="0" anchor="b"/>
          <a:lstStyle/>
          <a:p>
            <a:pPr indent="0" marL="0">
              <a:buNone/>
            </a:pPr>
            <a:r>
              <a:rPr lang="en-US" sz="2400" b="1" dirty="0">
                <a:solidFill>
                  <a:srgbClr val="E4803A"/>
                </a:solidFill>
                <a:latin typeface="Calibri" pitchFamily="34" charset="0"/>
                <a:ea typeface="Calibri" pitchFamily="34" charset="-122"/>
                <a:cs typeface="Calibri" pitchFamily="34" charset="-120"/>
              </a:rPr>
              <a:t>90%</a:t>
            </a:r>
            <a:endParaRPr lang="en-US" sz="2400" dirty="0"/>
          </a:p>
        </p:txBody>
      </p:sp>
      <p:sp>
        <p:nvSpPr>
          <p:cNvPr id="13" name="Text 8"/>
          <p:cNvSpPr txBox="1"/>
          <p:nvPr/>
        </p:nvSpPr>
        <p:spPr>
          <a:xfrm>
            <a:off x="676656" y="3621024"/>
            <a:ext cx="1627632" cy="548640"/>
          </a:xfrm>
          <a:prstGeom prst="rect">
            <a:avLst/>
          </a:prstGeom>
          <a:noFill/>
          <a:ln/>
        </p:spPr>
        <p:txBody>
          <a:bodyPr wrap="square" lIns="0" tIns="0" rIns="0" bIns="0" rtlCol="0" anchor="t"/>
          <a:lstStyle/>
          <a:p>
            <a:pPr indent="0" marL="0">
              <a:buNone/>
            </a:pPr>
            <a:r>
              <a:rPr lang="en-US" sz="950" dirty="0">
                <a:solidFill>
                  <a:srgbClr val="D6D6D6"/>
                </a:solidFill>
                <a:latin typeface="Calibri" pitchFamily="34" charset="0"/>
                <a:ea typeface="Calibri" pitchFamily="34" charset="-122"/>
                <a:cs typeface="Calibri" pitchFamily="34" charset="-120"/>
              </a:rPr>
              <a:t>of defects caught on real mill</a:t>
            </a:r>
            <a:endParaRPr lang="en-US" sz="950" dirty="0"/>
          </a:p>
          <a:p>
            <a:pPr indent="0" marL="0">
              <a:buNone/>
            </a:pPr>
            <a:r>
              <a:rPr lang="en-US" sz="950" dirty="0">
                <a:solidFill>
                  <a:srgbClr val="D6D6D6"/>
                </a:solidFill>
                <a:latin typeface="Calibri" pitchFamily="34" charset="0"/>
                <a:ea typeface="Calibri" pitchFamily="34" charset="-122"/>
                <a:cs typeface="Calibri" pitchFamily="34" charset="-120"/>
              </a:rPr>
              <a:t>strip it had never seen</a:t>
            </a:r>
            <a:endParaRPr lang="en-US" sz="950" dirty="0"/>
          </a:p>
        </p:txBody>
      </p:sp>
      <p:sp>
        <p:nvSpPr>
          <p:cNvPr id="14" name="Shape 9"/>
          <p:cNvSpPr/>
          <p:nvPr/>
        </p:nvSpPr>
        <p:spPr>
          <a:xfrm>
            <a:off x="2304288" y="3200400"/>
            <a:ext cx="45720" cy="932688"/>
          </a:xfrm>
          <a:prstGeom prst="rect">
            <a:avLst/>
          </a:prstGeom>
          <a:solidFill>
            <a:srgbClr val="E4803A"/>
          </a:solidFill>
          <a:ln w="12700">
            <a:solidFill>
              <a:srgbClr val="E4803A"/>
            </a:solidFill>
            <a:prstDash val="solid"/>
          </a:ln>
        </p:spPr>
      </p:sp>
      <p:sp>
        <p:nvSpPr>
          <p:cNvPr id="15" name="Text 10"/>
          <p:cNvSpPr txBox="1"/>
          <p:nvPr/>
        </p:nvSpPr>
        <p:spPr>
          <a:xfrm>
            <a:off x="2432304" y="3163824"/>
            <a:ext cx="1600200" cy="420624"/>
          </a:xfrm>
          <a:prstGeom prst="rect">
            <a:avLst/>
          </a:prstGeom>
          <a:noFill/>
          <a:ln/>
        </p:spPr>
        <p:txBody>
          <a:bodyPr wrap="square" lIns="0" tIns="0" rIns="0" bIns="0" rtlCol="0" anchor="b"/>
          <a:lstStyle/>
          <a:p>
            <a:pPr indent="0" marL="0">
              <a:buNone/>
            </a:pPr>
            <a:r>
              <a:rPr lang="en-US" sz="2400" b="1" dirty="0">
                <a:solidFill>
                  <a:srgbClr val="E4803A"/>
                </a:solidFill>
                <a:latin typeface="Calibri" pitchFamily="34" charset="0"/>
                <a:ea typeface="Calibri" pitchFamily="34" charset="-122"/>
                <a:cs typeface="Calibri" pitchFamily="34" charset="-120"/>
              </a:rPr>
              <a:t>4.7%</a:t>
            </a:r>
            <a:endParaRPr lang="en-US" sz="2400" dirty="0"/>
          </a:p>
        </p:txBody>
      </p:sp>
      <p:sp>
        <p:nvSpPr>
          <p:cNvPr id="16" name="Text 11"/>
          <p:cNvSpPr txBox="1"/>
          <p:nvPr/>
        </p:nvSpPr>
        <p:spPr>
          <a:xfrm>
            <a:off x="2432304" y="3621024"/>
            <a:ext cx="1627632" cy="548640"/>
          </a:xfrm>
          <a:prstGeom prst="rect">
            <a:avLst/>
          </a:prstGeom>
          <a:noFill/>
          <a:ln/>
        </p:spPr>
        <p:txBody>
          <a:bodyPr wrap="square" lIns="0" tIns="0" rIns="0" bIns="0" rtlCol="0" anchor="t"/>
          <a:lstStyle/>
          <a:p>
            <a:pPr indent="0" marL="0">
              <a:buNone/>
            </a:pPr>
            <a:r>
              <a:rPr lang="en-US" sz="950" dirty="0">
                <a:solidFill>
                  <a:srgbClr val="D6D6D6"/>
                </a:solidFill>
                <a:latin typeface="Calibri" pitchFamily="34" charset="0"/>
                <a:ea typeface="Calibri" pitchFamily="34" charset="-122"/>
                <a:cs typeface="Calibri" pitchFamily="34" charset="-120"/>
              </a:rPr>
              <a:t>of clean strip wrongly flagged,</a:t>
            </a:r>
            <a:endParaRPr lang="en-US" sz="950" dirty="0"/>
          </a:p>
          <a:p>
            <a:pPr indent="0" marL="0">
              <a:buNone/>
            </a:pPr>
            <a:r>
              <a:rPr lang="en-US" sz="950" dirty="0">
                <a:solidFill>
                  <a:srgbClr val="D6D6D6"/>
                </a:solidFill>
                <a:latin typeface="Calibri" pitchFamily="34" charset="0"/>
                <a:ea typeface="Calibri" pitchFamily="34" charset="-122"/>
                <a:cs typeface="Calibri" pitchFamily="34" charset="-120"/>
              </a:rPr>
              <a:t>fewer than 1 in 20</a:t>
            </a:r>
            <a:endParaRPr lang="en-US" sz="950" dirty="0"/>
          </a:p>
        </p:txBody>
      </p:sp>
      <p:sp>
        <p:nvSpPr>
          <p:cNvPr id="17" name="Shape 12"/>
          <p:cNvSpPr/>
          <p:nvPr/>
        </p:nvSpPr>
        <p:spPr>
          <a:xfrm>
            <a:off x="4059936" y="3200400"/>
            <a:ext cx="45720" cy="932688"/>
          </a:xfrm>
          <a:prstGeom prst="rect">
            <a:avLst/>
          </a:prstGeom>
          <a:solidFill>
            <a:srgbClr val="E4803A"/>
          </a:solidFill>
          <a:ln w="12700">
            <a:solidFill>
              <a:srgbClr val="E4803A"/>
            </a:solidFill>
            <a:prstDash val="solid"/>
          </a:ln>
        </p:spPr>
      </p:sp>
      <p:sp>
        <p:nvSpPr>
          <p:cNvPr id="18" name="Text 13"/>
          <p:cNvSpPr txBox="1"/>
          <p:nvPr/>
        </p:nvSpPr>
        <p:spPr>
          <a:xfrm>
            <a:off x="4187952" y="3163824"/>
            <a:ext cx="1600200" cy="420624"/>
          </a:xfrm>
          <a:prstGeom prst="rect">
            <a:avLst/>
          </a:prstGeom>
          <a:noFill/>
          <a:ln/>
        </p:spPr>
        <p:txBody>
          <a:bodyPr wrap="square" lIns="0" tIns="0" rIns="0" bIns="0" rtlCol="0" anchor="b"/>
          <a:lstStyle/>
          <a:p>
            <a:pPr indent="0" marL="0">
              <a:buNone/>
            </a:pPr>
            <a:r>
              <a:rPr lang="en-US" sz="2200" b="1" dirty="0">
                <a:solidFill>
                  <a:srgbClr val="E4803A"/>
                </a:solidFill>
                <a:latin typeface="Calibri" pitchFamily="34" charset="0"/>
                <a:ea typeface="Calibri" pitchFamily="34" charset="-122"/>
                <a:cs typeface="Calibri" pitchFamily="34" charset="-120"/>
              </a:rPr>
              <a:t>~₹6.7 cr</a:t>
            </a:r>
            <a:endParaRPr lang="en-US" sz="2200" dirty="0"/>
          </a:p>
        </p:txBody>
      </p:sp>
      <p:sp>
        <p:nvSpPr>
          <p:cNvPr id="19" name="Text 14"/>
          <p:cNvSpPr txBox="1"/>
          <p:nvPr/>
        </p:nvSpPr>
        <p:spPr>
          <a:xfrm>
            <a:off x="4187952" y="3621024"/>
            <a:ext cx="1627632" cy="548640"/>
          </a:xfrm>
          <a:prstGeom prst="rect">
            <a:avLst/>
          </a:prstGeom>
          <a:noFill/>
          <a:ln/>
        </p:spPr>
        <p:txBody>
          <a:bodyPr wrap="square" lIns="0" tIns="0" rIns="0" bIns="0" rtlCol="0" anchor="t"/>
          <a:lstStyle/>
          <a:p>
            <a:pPr indent="0" marL="0">
              <a:buNone/>
            </a:pPr>
            <a:r>
              <a:rPr lang="en-US" sz="950" dirty="0">
                <a:solidFill>
                  <a:srgbClr val="D6D6D6"/>
                </a:solidFill>
                <a:latin typeface="Calibri" pitchFamily="34" charset="0"/>
                <a:ea typeface="Calibri" pitchFamily="34" charset="-122"/>
                <a:cs typeface="Calibri" pitchFamily="34" charset="-120"/>
              </a:rPr>
              <a:t>a year at stake per line, at a</a:t>
            </a:r>
            <a:endParaRPr lang="en-US" sz="950" dirty="0"/>
          </a:p>
          <a:p>
            <a:pPr indent="0" marL="0">
              <a:buNone/>
            </a:pPr>
            <a:r>
              <a:rPr lang="en-US" sz="950" dirty="0">
                <a:solidFill>
                  <a:srgbClr val="D6D6D6"/>
                </a:solidFill>
                <a:latin typeface="Calibri" pitchFamily="34" charset="0"/>
                <a:ea typeface="Calibri" pitchFamily="34" charset="-122"/>
                <a:cs typeface="Calibri" pitchFamily="34" charset="-120"/>
              </a:rPr>
              <a:t>1% downgrade rate</a:t>
            </a:r>
            <a:endParaRPr lang="en-US" sz="950" dirty="0"/>
          </a:p>
        </p:txBody>
      </p:sp>
      <p:sp>
        <p:nvSpPr>
          <p:cNvPr id="20" name="Shape 15"/>
          <p:cNvSpPr/>
          <p:nvPr/>
        </p:nvSpPr>
        <p:spPr>
          <a:xfrm>
            <a:off x="5815584" y="3200400"/>
            <a:ext cx="45720" cy="932688"/>
          </a:xfrm>
          <a:prstGeom prst="rect">
            <a:avLst/>
          </a:prstGeom>
          <a:solidFill>
            <a:srgbClr val="E4803A"/>
          </a:solidFill>
          <a:ln w="12700">
            <a:solidFill>
              <a:srgbClr val="E4803A"/>
            </a:solidFill>
            <a:prstDash val="solid"/>
          </a:ln>
        </p:spPr>
      </p:sp>
      <p:sp>
        <p:nvSpPr>
          <p:cNvPr id="21" name="Text 16"/>
          <p:cNvSpPr txBox="1"/>
          <p:nvPr/>
        </p:nvSpPr>
        <p:spPr>
          <a:xfrm>
            <a:off x="5943600" y="3163824"/>
            <a:ext cx="1600200" cy="420624"/>
          </a:xfrm>
          <a:prstGeom prst="rect">
            <a:avLst/>
          </a:prstGeom>
          <a:noFill/>
          <a:ln/>
        </p:spPr>
        <p:txBody>
          <a:bodyPr wrap="square" lIns="0" tIns="0" rIns="0" bIns="0" rtlCol="0" anchor="b"/>
          <a:lstStyle/>
          <a:p>
            <a:pPr indent="0" marL="0">
              <a:buNone/>
            </a:pPr>
            <a:r>
              <a:rPr lang="en-US" sz="2200" b="1" dirty="0">
                <a:solidFill>
                  <a:srgbClr val="E4803A"/>
                </a:solidFill>
                <a:latin typeface="Calibri" pitchFamily="34" charset="0"/>
                <a:ea typeface="Calibri" pitchFamily="34" charset="-122"/>
                <a:cs typeface="Calibri" pitchFamily="34" charset="-120"/>
              </a:rPr>
              <a:t>7 months</a:t>
            </a:r>
            <a:endParaRPr lang="en-US" sz="2200" dirty="0"/>
          </a:p>
        </p:txBody>
      </p:sp>
      <p:sp>
        <p:nvSpPr>
          <p:cNvPr id="22" name="Text 17"/>
          <p:cNvSpPr txBox="1"/>
          <p:nvPr/>
        </p:nvSpPr>
        <p:spPr>
          <a:xfrm>
            <a:off x="5943600" y="3621024"/>
            <a:ext cx="1627632" cy="548640"/>
          </a:xfrm>
          <a:prstGeom prst="rect">
            <a:avLst/>
          </a:prstGeom>
          <a:noFill/>
          <a:ln/>
        </p:spPr>
        <p:txBody>
          <a:bodyPr wrap="square" lIns="0" tIns="0" rIns="0" bIns="0" rtlCol="0" anchor="t"/>
          <a:lstStyle/>
          <a:p>
            <a:pPr indent="0" marL="0">
              <a:buNone/>
            </a:pPr>
            <a:r>
              <a:rPr lang="en-US" sz="950" dirty="0">
                <a:solidFill>
                  <a:srgbClr val="D6D6D6"/>
                </a:solidFill>
                <a:latin typeface="Calibri" pitchFamily="34" charset="0"/>
                <a:ea typeface="Calibri" pitchFamily="34" charset="-122"/>
                <a:cs typeface="Calibri" pitchFamily="34" charset="-120"/>
              </a:rPr>
              <a:t>to shadow mode on one line,</a:t>
            </a:r>
            <a:endParaRPr lang="en-US" sz="950" dirty="0"/>
          </a:p>
          <a:p>
            <a:pPr indent="0" marL="0">
              <a:buNone/>
            </a:pPr>
            <a:r>
              <a:rPr lang="en-US" sz="950" dirty="0">
                <a:solidFill>
                  <a:srgbClr val="D6D6D6"/>
                </a:solidFill>
                <a:latin typeface="Calibri" pitchFamily="34" charset="0"/>
                <a:ea typeface="Calibri" pitchFamily="34" charset="-122"/>
                <a:cs typeface="Calibri" pitchFamily="34" charset="-120"/>
              </a:rPr>
              <a:t>go / no-go at month 7</a:t>
            </a:r>
            <a:endParaRPr lang="en-US" sz="950" dirty="0"/>
          </a:p>
        </p:txBody>
      </p:sp>
      <p:sp>
        <p:nvSpPr>
          <p:cNvPr id="23" name="Text 18"/>
          <p:cNvSpPr txBox="1"/>
          <p:nvPr/>
        </p:nvSpPr>
        <p:spPr>
          <a:xfrm>
            <a:off x="548640" y="4407408"/>
            <a:ext cx="6949440" cy="228600"/>
          </a:xfrm>
          <a:prstGeom prst="rect">
            <a:avLst/>
          </a:prstGeom>
          <a:noFill/>
          <a:ln/>
        </p:spPr>
        <p:txBody>
          <a:bodyPr wrap="square" lIns="0" tIns="0" rIns="0" bIns="0" rtlCol="0" anchor="t"/>
          <a:lstStyle/>
          <a:p>
            <a:pPr indent="0" marL="0">
              <a:buNone/>
            </a:pPr>
            <a:r>
              <a:rPr lang="en-US" sz="950" b="1" spc="100" kern="0" dirty="0">
                <a:solidFill>
                  <a:srgbClr val="D6D6D6"/>
                </a:solidFill>
                <a:latin typeface="Calibri" pitchFamily="34" charset="0"/>
                <a:ea typeface="Calibri" pitchFamily="34" charset="-122"/>
                <a:cs typeface="Calibri" pitchFamily="34" charset="-120"/>
              </a:rPr>
              <a:t>REAL OUTPUT FROM OUR SYSTEM, ON STEEL IMAGES IT HAD NEVER SEEN</a:t>
            </a:r>
            <a:endParaRPr lang="en-US" sz="950" dirty="0"/>
          </a:p>
        </p:txBody>
      </p:sp>
      <p:pic>
        <p:nvPicPr>
          <p:cNvPr id="24" name="Image 3" descr="img/det_inclusion.png">    </p:cNvPr>
          <p:cNvPicPr>
            <a:picLocks noChangeAspect="1"/>
          </p:cNvPicPr>
          <p:nvPr/>
        </p:nvPicPr>
        <p:blipFill>
          <a:blip r:embed="rId4"/>
          <a:stretch>
            <a:fillRect/>
          </a:stretch>
        </p:blipFill>
        <p:spPr>
          <a:xfrm>
            <a:off x="548640" y="4681728"/>
            <a:ext cx="1069848" cy="1069848"/>
          </a:xfrm>
          <a:prstGeom prst="rect">
            <a:avLst/>
          </a:prstGeom>
        </p:spPr>
      </p:pic>
      <p:pic>
        <p:nvPicPr>
          <p:cNvPr id="25" name="Image 4" descr="img/det_crazing.png">    </p:cNvPr>
          <p:cNvPicPr>
            <a:picLocks noChangeAspect="1"/>
          </p:cNvPicPr>
          <p:nvPr/>
        </p:nvPicPr>
        <p:blipFill>
          <a:blip r:embed="rId5"/>
          <a:stretch>
            <a:fillRect/>
          </a:stretch>
        </p:blipFill>
        <p:spPr>
          <a:xfrm>
            <a:off x="1709928" y="4681728"/>
            <a:ext cx="1069848" cy="1069848"/>
          </a:xfrm>
          <a:prstGeom prst="rect">
            <a:avLst/>
          </a:prstGeom>
        </p:spPr>
      </p:pic>
      <p:pic>
        <p:nvPicPr>
          <p:cNvPr id="26" name="Image 5" descr="img/det_rolled-in_scale.png">    </p:cNvPr>
          <p:cNvPicPr>
            <a:picLocks noChangeAspect="1"/>
          </p:cNvPicPr>
          <p:nvPr/>
        </p:nvPicPr>
        <p:blipFill>
          <a:blip r:embed="rId6"/>
          <a:stretch>
            <a:fillRect/>
          </a:stretch>
        </p:blipFill>
        <p:spPr>
          <a:xfrm>
            <a:off x="2871216" y="4681728"/>
            <a:ext cx="1069848" cy="1069848"/>
          </a:xfrm>
          <a:prstGeom prst="rect">
            <a:avLst/>
          </a:prstGeom>
        </p:spPr>
      </p:pic>
      <p:pic>
        <p:nvPicPr>
          <p:cNvPr id="27" name="Image 6" descr="img/det_pitted_surface.png">    </p:cNvPr>
          <p:cNvPicPr>
            <a:picLocks noChangeAspect="1"/>
          </p:cNvPicPr>
          <p:nvPr/>
        </p:nvPicPr>
        <p:blipFill>
          <a:blip r:embed="rId7"/>
          <a:stretch>
            <a:fillRect/>
          </a:stretch>
        </p:blipFill>
        <p:spPr>
          <a:xfrm>
            <a:off x="4032504" y="4681728"/>
            <a:ext cx="1069848" cy="1069848"/>
          </a:xfrm>
          <a:prstGeom prst="rect">
            <a:avLst/>
          </a:prstGeom>
        </p:spPr>
      </p:pic>
      <p:pic>
        <p:nvPicPr>
          <p:cNvPr id="28" name="Image 7" descr="img/det_patches.png">    </p:cNvPr>
          <p:cNvPicPr>
            <a:picLocks noChangeAspect="1"/>
          </p:cNvPicPr>
          <p:nvPr/>
        </p:nvPicPr>
        <p:blipFill>
          <a:blip r:embed="rId8"/>
          <a:stretch>
            <a:fillRect/>
          </a:stretch>
        </p:blipFill>
        <p:spPr>
          <a:xfrm>
            <a:off x="5193792" y="4681728"/>
            <a:ext cx="1069848" cy="1069848"/>
          </a:xfrm>
          <a:prstGeom prst="rect">
            <a:avLst/>
          </a:prstGeom>
        </p:spPr>
      </p:pic>
      <p:pic>
        <p:nvPicPr>
          <p:cNvPr id="29" name="Image 8" descr="img/det_scratches.png">    </p:cNvPr>
          <p:cNvPicPr>
            <a:picLocks noChangeAspect="1"/>
          </p:cNvPicPr>
          <p:nvPr/>
        </p:nvPicPr>
        <p:blipFill>
          <a:blip r:embed="rId9"/>
          <a:stretch>
            <a:fillRect/>
          </a:stretch>
        </p:blipFill>
        <p:spPr>
          <a:xfrm>
            <a:off x="6355080" y="4681728"/>
            <a:ext cx="1069848" cy="1069848"/>
          </a:xfrm>
          <a:prstGeom prst="rect">
            <a:avLst/>
          </a:prstGeom>
        </p:spPr>
      </p:pic>
      <p:sp>
        <p:nvSpPr>
          <p:cNvPr id="30" name="Text 19"/>
          <p:cNvSpPr txBox="1"/>
          <p:nvPr/>
        </p:nvSpPr>
        <p:spPr>
          <a:xfrm>
            <a:off x="548640" y="6035040"/>
            <a:ext cx="713232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TEAM  Futuristic   |   Krishna Kanta Mondal  ·  Prathmesh Walimbe   |   IIT Bombay</a:t>
            </a:r>
            <a:endParaRPr lang="en-US" sz="1200" dirty="0"/>
          </a:p>
        </p:txBody>
      </p:sp>
      <p:sp>
        <p:nvSpPr>
          <p:cNvPr id="31" name="Shape 20"/>
          <p:cNvSpPr/>
          <p:nvPr/>
        </p:nvSpPr>
        <p:spPr>
          <a:xfrm>
            <a:off x="8732520" y="3840480"/>
            <a:ext cx="2606040" cy="2331720"/>
          </a:xfrm>
          <a:prstGeom prst="roundRect">
            <a:avLst>
              <a:gd name="adj" fmla="val 2353"/>
            </a:avLst>
          </a:prstGeom>
          <a:solidFill>
            <a:srgbClr val="FFFFFF"/>
          </a:solidFill>
          <a:ln w="12700">
            <a:solidFill>
              <a:srgbClr val="FFFFFF"/>
            </a:solidFill>
            <a:prstDash val="solid"/>
          </a:ln>
        </p:spPr>
      </p:sp>
      <p:pic>
        <p:nvPicPr>
          <p:cNvPr id="32" name="Image 9" descr="qr.png">    </p:cNvPr>
          <p:cNvPicPr>
            <a:picLocks noChangeAspect="1"/>
          </p:cNvPicPr>
          <p:nvPr/>
        </p:nvPicPr>
        <p:blipFill>
          <a:blip r:embed="rId10"/>
          <a:stretch>
            <a:fillRect/>
          </a:stretch>
        </p:blipFill>
        <p:spPr>
          <a:xfrm>
            <a:off x="9418320" y="3931920"/>
            <a:ext cx="1234440" cy="1234440"/>
          </a:xfrm>
          <a:prstGeom prst="rect">
            <a:avLst/>
          </a:prstGeom>
        </p:spPr>
      </p:pic>
      <p:sp>
        <p:nvSpPr>
          <p:cNvPr id="33" name="Text 21"/>
          <p:cNvSpPr txBox="1"/>
          <p:nvPr/>
        </p:nvSpPr>
        <p:spPr>
          <a:xfrm>
            <a:off x="8778240" y="5193792"/>
            <a:ext cx="2514600" cy="228600"/>
          </a:xfrm>
          <a:prstGeom prst="rect">
            <a:avLst/>
          </a:prstGeom>
          <a:noFill/>
          <a:ln/>
        </p:spPr>
        <p:txBody>
          <a:bodyPr wrap="square" lIns="0" tIns="0" rIns="0" bIns="0" rtlCol="0" anchor="t"/>
          <a:lstStyle/>
          <a:p>
            <a:pPr algn="ctr" indent="0" marL="0">
              <a:buNone/>
            </a:pPr>
            <a:r>
              <a:rPr lang="en-US" sz="1000" b="1" dirty="0">
                <a:solidFill>
                  <a:srgbClr val="D2651F"/>
                </a:solidFill>
                <a:latin typeface="Calibri" pitchFamily="34" charset="0"/>
                <a:ea typeface="Calibri" pitchFamily="34" charset="-122"/>
                <a:cs typeface="Calibri" pitchFamily="34" charset="-120"/>
              </a:rPr>
              <a:t>TRY THE LIVE DEMO</a:t>
            </a:r>
            <a:endParaRPr lang="en-US" sz="1000" dirty="0"/>
          </a:p>
        </p:txBody>
      </p:sp>
      <p:sp>
        <p:nvSpPr>
          <p:cNvPr id="34" name="Text 22"/>
          <p:cNvSpPr txBox="1"/>
          <p:nvPr/>
        </p:nvSpPr>
        <p:spPr>
          <a:xfrm>
            <a:off x="8778240" y="5422392"/>
            <a:ext cx="2514600" cy="274320"/>
          </a:xfrm>
          <a:prstGeom prst="rect">
            <a:avLst/>
          </a:prstGeom>
          <a:noFill/>
          <a:ln/>
        </p:spPr>
        <p:txBody>
          <a:bodyPr wrap="square" lIns="0" tIns="0" rIns="0" bIns="0" rtlCol="0" anchor="t"/>
          <a:lstStyle/>
          <a:p>
            <a:pPr algn="ctr" indent="0" marL="0">
              <a:buNone/>
            </a:pPr>
            <a:r>
              <a:rPr lang="en-US" sz="1300" b="1" dirty="0">
                <a:solidFill>
                  <a:srgbClr val="2B2B2B"/>
                </a:solidFill>
                <a:latin typeface="Calibri" pitchFamily="34" charset="0"/>
                <a:ea typeface="Calibri" pitchFamily="34" charset="-122"/>
                <a:cs typeface="Calibri" pitchFamily="34" charset="-120"/>
              </a:rPr>
              <a:t>surface-vision.github.io</a:t>
            </a:r>
            <a:endParaRPr lang="en-US" sz="1300" dirty="0"/>
          </a:p>
        </p:txBody>
      </p:sp>
      <p:sp>
        <p:nvSpPr>
          <p:cNvPr id="35" name="Text 23"/>
          <p:cNvSpPr txBox="1"/>
          <p:nvPr/>
        </p:nvSpPr>
        <p:spPr>
          <a:xfrm>
            <a:off x="8823960" y="5705856"/>
            <a:ext cx="2423160" cy="365760"/>
          </a:xfrm>
          <a:prstGeom prst="rect">
            <a:avLst/>
          </a:prstGeom>
          <a:noFill/>
          <a:ln/>
        </p:spPr>
        <p:txBody>
          <a:bodyPr wrap="square" lIns="0" tIns="0" rIns="0" bIns="0" rtlCol="0" anchor="t"/>
          <a:lstStyle/>
          <a:p>
            <a:pPr algn="ctr" indent="0" marL="0">
              <a:buNone/>
            </a:pPr>
            <a:r>
              <a:rPr lang="en-US" sz="900" dirty="0">
                <a:solidFill>
                  <a:srgbClr val="404040"/>
                </a:solidFill>
                <a:latin typeface="Calibri" pitchFamily="34" charset="0"/>
                <a:ea typeface="Calibri" pitchFamily="34" charset="-122"/>
                <a:cs typeface="Calibri" pitchFamily="34" charset="-120"/>
              </a:rPr>
              <a:t>Runs in your browser. Nothing leaves the page.</a:t>
            </a:r>
            <a:endParaRPr lang="en-US" sz="900" dirty="0"/>
          </a:p>
        </p:txBody>
      </p:sp>
      <p:sp>
        <p:nvSpPr>
          <p:cNvPr id="36" name="Text 24"/>
          <p:cNvSpPr txBox="1"/>
          <p:nvPr/>
        </p:nvSpPr>
        <p:spPr>
          <a:xfrm>
            <a:off x="8001000" y="6510528"/>
            <a:ext cx="4023360" cy="228600"/>
          </a:xfrm>
          <a:prstGeom prst="rect">
            <a:avLst/>
          </a:prstGeom>
          <a:noFill/>
          <a:ln/>
        </p:spPr>
        <p:txBody>
          <a:bodyPr wrap="square" lIns="0" tIns="0" rIns="0" bIns="0" rtlCol="0" anchor="t"/>
          <a:lstStyle/>
          <a:p>
            <a:pPr algn="r" indent="0" marL="0">
              <a:buNone/>
            </a:pPr>
            <a:r>
              <a:rPr lang="en-US" sz="900" dirty="0">
                <a:solidFill>
                  <a:srgbClr val="D6D6D6"/>
                </a:solidFill>
                <a:latin typeface="Calibri" pitchFamily="34" charset="0"/>
                <a:ea typeface="Calibri" pitchFamily="34" charset="-122"/>
                <a:cs typeface="Calibri" pitchFamily="34" charset="-120"/>
              </a:rPr>
              <a:t>Photo: Methem, Wikimedia Commons (public domain)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E4803A"/>
          </a:solidFill>
          <a:ln w="12700">
            <a:solidFill>
              <a:srgbClr val="E4803A"/>
            </a:solidFill>
            <a:prstDash val="solid"/>
          </a:ln>
        </p:spPr>
      </p:sp>
      <p:pic>
        <p:nvPicPr>
          <p:cNvPr id="3" name="Image 0" descr="img/logo_jsl.jpg">    </p:cNvPr>
          <p:cNvPicPr>
            <a:picLocks noChangeAspect="1"/>
          </p:cNvPicPr>
          <p:nvPr/>
        </p:nvPicPr>
        <p:blipFill>
          <a:blip r:embed="rId1"/>
          <a:stretch>
            <a:fillRect/>
          </a:stretch>
        </p:blipFill>
        <p:spPr>
          <a:xfrm>
            <a:off x="91440" y="73152"/>
            <a:ext cx="2176272" cy="640080"/>
          </a:xfrm>
          <a:prstGeom prst="rect">
            <a:avLst/>
          </a:prstGeom>
        </p:spPr>
      </p:pic>
      <p:pic>
        <p:nvPicPr>
          <p:cNvPr id="4" name="Image 1" descr="img/logo_spark.png">    </p:cNvPr>
          <p:cNvPicPr>
            <a:picLocks noChangeAspect="1"/>
          </p:cNvPicPr>
          <p:nvPr/>
        </p:nvPicPr>
        <p:blipFill>
          <a:blip r:embed="rId2"/>
          <a:stretch>
            <a:fillRect/>
          </a:stretch>
        </p:blipFill>
        <p:spPr>
          <a:xfrm>
            <a:off x="2340864" y="73152"/>
            <a:ext cx="1243584" cy="640080"/>
          </a:xfrm>
          <a:prstGeom prst="rect">
            <a:avLst/>
          </a:prstGeom>
        </p:spPr>
      </p:pic>
      <p:sp>
        <p:nvSpPr>
          <p:cNvPr id="5" name="Shape 1"/>
          <p:cNvSpPr/>
          <p:nvPr/>
        </p:nvSpPr>
        <p:spPr>
          <a:xfrm>
            <a:off x="3785616" y="182880"/>
            <a:ext cx="1307592" cy="420624"/>
          </a:xfrm>
          <a:prstGeom prst="rect">
            <a:avLst/>
          </a:prstGeom>
          <a:solidFill>
            <a:srgbClr val="B63831"/>
          </a:solidFill>
          <a:ln w="12700">
            <a:solidFill>
              <a:srgbClr val="B63831"/>
            </a:solidFill>
            <a:prstDash val="solid"/>
          </a:ln>
        </p:spPr>
      </p:sp>
      <p:sp>
        <p:nvSpPr>
          <p:cNvPr id="6" name="Text 2"/>
          <p:cNvSpPr txBox="1"/>
          <p:nvPr/>
        </p:nvSpPr>
        <p:spPr>
          <a:xfrm>
            <a:off x="3785616" y="182880"/>
            <a:ext cx="1307592"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  Problem</a:t>
            </a:r>
            <a:endParaRPr lang="en-US" sz="1050" dirty="0"/>
          </a:p>
        </p:txBody>
      </p:sp>
      <p:sp>
        <p:nvSpPr>
          <p:cNvPr id="7" name="Shape 3"/>
          <p:cNvSpPr/>
          <p:nvPr/>
        </p:nvSpPr>
        <p:spPr>
          <a:xfrm>
            <a:off x="5148072" y="182880"/>
            <a:ext cx="1307592" cy="420624"/>
          </a:xfrm>
          <a:prstGeom prst="rect">
            <a:avLst/>
          </a:prstGeom>
          <a:solidFill>
            <a:srgbClr val="F2F2F2"/>
          </a:solidFill>
          <a:ln w="12700">
            <a:solidFill>
              <a:srgbClr val="F2F2F2"/>
            </a:solidFill>
            <a:prstDash val="solid"/>
          </a:ln>
        </p:spPr>
      </p:sp>
      <p:sp>
        <p:nvSpPr>
          <p:cNvPr id="8" name="Text 4"/>
          <p:cNvSpPr txBox="1"/>
          <p:nvPr/>
        </p:nvSpPr>
        <p:spPr>
          <a:xfrm>
            <a:off x="5148072"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2  Insights</a:t>
            </a:r>
            <a:endParaRPr lang="en-US" sz="1050" dirty="0"/>
          </a:p>
        </p:txBody>
      </p:sp>
      <p:sp>
        <p:nvSpPr>
          <p:cNvPr id="9" name="Shape 5"/>
          <p:cNvSpPr/>
          <p:nvPr/>
        </p:nvSpPr>
        <p:spPr>
          <a:xfrm>
            <a:off x="6510528" y="182880"/>
            <a:ext cx="1307592" cy="420624"/>
          </a:xfrm>
          <a:prstGeom prst="rect">
            <a:avLst/>
          </a:prstGeom>
          <a:solidFill>
            <a:srgbClr val="F2F2F2"/>
          </a:solidFill>
          <a:ln w="12700">
            <a:solidFill>
              <a:srgbClr val="F2F2F2"/>
            </a:solidFill>
            <a:prstDash val="solid"/>
          </a:ln>
        </p:spPr>
      </p:sp>
      <p:sp>
        <p:nvSpPr>
          <p:cNvPr id="10" name="Text 6"/>
          <p:cNvSpPr txBox="1"/>
          <p:nvPr/>
        </p:nvSpPr>
        <p:spPr>
          <a:xfrm>
            <a:off x="6510528"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3  Solution</a:t>
            </a:r>
            <a:endParaRPr lang="en-US" sz="1050" dirty="0"/>
          </a:p>
        </p:txBody>
      </p:sp>
      <p:sp>
        <p:nvSpPr>
          <p:cNvPr id="11" name="Shape 7"/>
          <p:cNvSpPr/>
          <p:nvPr/>
        </p:nvSpPr>
        <p:spPr>
          <a:xfrm>
            <a:off x="7872984" y="182880"/>
            <a:ext cx="1307592" cy="420624"/>
          </a:xfrm>
          <a:prstGeom prst="rect">
            <a:avLst/>
          </a:prstGeom>
          <a:solidFill>
            <a:srgbClr val="F2F2F2"/>
          </a:solidFill>
          <a:ln w="12700">
            <a:solidFill>
              <a:srgbClr val="F2F2F2"/>
            </a:solidFill>
            <a:prstDash val="solid"/>
          </a:ln>
        </p:spPr>
      </p:sp>
      <p:sp>
        <p:nvSpPr>
          <p:cNvPr id="12" name="Text 8"/>
          <p:cNvSpPr txBox="1"/>
          <p:nvPr/>
        </p:nvSpPr>
        <p:spPr>
          <a:xfrm>
            <a:off x="7872984"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4  Implementation</a:t>
            </a:r>
            <a:endParaRPr lang="en-US" sz="1050" dirty="0"/>
          </a:p>
        </p:txBody>
      </p:sp>
      <p:sp>
        <p:nvSpPr>
          <p:cNvPr id="13" name="Shape 9"/>
          <p:cNvSpPr/>
          <p:nvPr/>
        </p:nvSpPr>
        <p:spPr>
          <a:xfrm>
            <a:off x="9235440" y="182880"/>
            <a:ext cx="1307592" cy="420624"/>
          </a:xfrm>
          <a:prstGeom prst="rect">
            <a:avLst/>
          </a:prstGeom>
          <a:solidFill>
            <a:srgbClr val="F2F2F2"/>
          </a:solidFill>
          <a:ln w="12700">
            <a:solidFill>
              <a:srgbClr val="F2F2F2"/>
            </a:solidFill>
            <a:prstDash val="solid"/>
          </a:ln>
        </p:spPr>
      </p:sp>
      <p:sp>
        <p:nvSpPr>
          <p:cNvPr id="14" name="Text 10"/>
          <p:cNvSpPr txBox="1"/>
          <p:nvPr/>
        </p:nvSpPr>
        <p:spPr>
          <a:xfrm>
            <a:off x="9235440"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5  Impact</a:t>
            </a:r>
            <a:endParaRPr lang="en-US" sz="1050" dirty="0"/>
          </a:p>
        </p:txBody>
      </p:sp>
      <p:sp>
        <p:nvSpPr>
          <p:cNvPr id="15" name="Text 11"/>
          <p:cNvSpPr txBox="1"/>
          <p:nvPr/>
        </p:nvSpPr>
        <p:spPr>
          <a:xfrm>
            <a:off x="10625328" y="146304"/>
            <a:ext cx="1481328" cy="49377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Team Futuristic</a:t>
            </a:r>
            <a:pPr algn="r" indent="0" marL="0">
              <a:buNone/>
            </a:pPr>
            <a:endParaRPr lang="en-US" sz="1000" dirty="0"/>
          </a:p>
          <a:p>
            <a:pPr algn="r" indent="0" marL="0">
              <a:buNone/>
            </a:pPr>
            <a:r>
              <a:rPr lang="en-US" sz="950" dirty="0">
                <a:solidFill>
                  <a:srgbClr val="FFFFFF"/>
                </a:solidFill>
                <a:latin typeface="Calibri" pitchFamily="34" charset="0"/>
                <a:ea typeface="Calibri" pitchFamily="34" charset="-122"/>
                <a:cs typeface="Calibri" pitchFamily="34" charset="-120"/>
              </a:rPr>
              <a:t>IIT Bombay</a:t>
            </a:r>
            <a:endParaRPr lang="en-US" sz="1000" dirty="0"/>
          </a:p>
        </p:txBody>
      </p:sp>
      <p:sp>
        <p:nvSpPr>
          <p:cNvPr id="16" name="Text 12"/>
          <p:cNvSpPr txBox="1"/>
          <p:nvPr/>
        </p:nvSpPr>
        <p:spPr>
          <a:xfrm>
            <a:off x="457200" y="822960"/>
            <a:ext cx="11274552" cy="384048"/>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A defect born at the caster is paid for at every later stage, but today it is found only at the end</a:t>
            </a:r>
            <a:endParaRPr lang="en-US" sz="2000" dirty="0"/>
          </a:p>
        </p:txBody>
      </p:sp>
      <p:sp>
        <p:nvSpPr>
          <p:cNvPr id="17" name="Shape 13"/>
          <p:cNvSpPr/>
          <p:nvPr/>
        </p:nvSpPr>
        <p:spPr>
          <a:xfrm>
            <a:off x="91440" y="1234440"/>
            <a:ext cx="274320" cy="4965192"/>
          </a:xfrm>
          <a:prstGeom prst="rect">
            <a:avLst/>
          </a:prstGeom>
          <a:solidFill>
            <a:srgbClr val="2B2B2B"/>
          </a:solidFill>
          <a:ln w="12700">
            <a:solidFill>
              <a:srgbClr val="2B2B2B"/>
            </a:solidFill>
            <a:prstDash val="solid"/>
          </a:ln>
        </p:spPr>
      </p:sp>
      <p:sp>
        <p:nvSpPr>
          <p:cNvPr id="18" name="Text 14"/>
          <p:cNvSpPr txBox="1"/>
          <p:nvPr/>
        </p:nvSpPr>
        <p:spPr>
          <a:xfrm rot="16200000">
            <a:off x="-2253996" y="3579876"/>
            <a:ext cx="4965192"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PROBLEM  ·  WHY NOW</a:t>
            </a:r>
            <a:endParaRPr lang="en-US" sz="1000" dirty="0"/>
          </a:p>
        </p:txBody>
      </p:sp>
      <p:sp>
        <p:nvSpPr>
          <p:cNvPr id="19" name="Shape 15"/>
          <p:cNvSpPr/>
          <p:nvPr/>
        </p:nvSpPr>
        <p:spPr>
          <a:xfrm>
            <a:off x="91440" y="6236208"/>
            <a:ext cx="11640312" cy="420624"/>
          </a:xfrm>
          <a:prstGeom prst="rect">
            <a:avLst/>
          </a:prstGeom>
          <a:solidFill>
            <a:srgbClr val="2B2B2B"/>
          </a:solidFill>
          <a:ln w="12700">
            <a:solidFill>
              <a:srgbClr val="2B2B2B"/>
            </a:solidFill>
            <a:prstDash val="solid"/>
          </a:ln>
        </p:spPr>
      </p:sp>
      <p:sp>
        <p:nvSpPr>
          <p:cNvPr id="20" name="Text 16"/>
          <p:cNvSpPr txBox="1"/>
          <p:nvPr/>
        </p:nvSpPr>
        <p:spPr>
          <a:xfrm>
            <a:off x="256032" y="6236208"/>
            <a:ext cx="1133856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problem is not that defects exist. They are found late, by sampling, and nobody is told which process caused them.</a:t>
            </a:r>
            <a:endParaRPr lang="en-US" sz="1200" dirty="0"/>
          </a:p>
        </p:txBody>
      </p:sp>
      <p:sp>
        <p:nvSpPr>
          <p:cNvPr id="21" name="Text 17"/>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Sources: AMETEK/Ternium; ASSDA; IISE; ASTM A240; LME nickel USD 16,402/t at INR 95.8 (22 Sep 2026); ISSDA; DGTR (Sep 2025); BIS QCO 2024. Photos: Wikimedia Commons (notes).</a:t>
            </a:r>
            <a:endParaRPr lang="en-US" sz="900" dirty="0"/>
          </a:p>
        </p:txBody>
      </p:sp>
      <p:sp>
        <p:nvSpPr>
          <p:cNvPr id="22" name="Shape 18"/>
          <p:cNvSpPr/>
          <p:nvPr/>
        </p:nvSpPr>
        <p:spPr>
          <a:xfrm>
            <a:off x="457200" y="1234440"/>
            <a:ext cx="11274552" cy="274320"/>
          </a:xfrm>
          <a:prstGeom prst="rect">
            <a:avLst/>
          </a:prstGeom>
          <a:solidFill>
            <a:srgbClr val="E4803A"/>
          </a:solidFill>
          <a:ln w="12700">
            <a:solidFill>
              <a:srgbClr val="E4803A"/>
            </a:solidFill>
            <a:prstDash val="solid"/>
          </a:ln>
        </p:spPr>
      </p:sp>
      <p:sp>
        <p:nvSpPr>
          <p:cNvPr id="23" name="Text 19"/>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Where stainless surface defects are born, and where they are seen today</a:t>
            </a:r>
            <a:endParaRPr lang="en-US" sz="1100" dirty="0"/>
          </a:p>
        </p:txBody>
      </p:sp>
      <p:sp>
        <p:nvSpPr>
          <p:cNvPr id="24" name="Shape 20"/>
          <p:cNvSpPr/>
          <p:nvPr/>
        </p:nvSpPr>
        <p:spPr>
          <a:xfrm flipH="1">
            <a:off x="548640" y="1591056"/>
            <a:ext cx="11091672" cy="310896"/>
          </a:xfrm>
          <a:prstGeom prst="rtTriangle">
            <a:avLst/>
          </a:prstGeom>
          <a:solidFill>
            <a:srgbClr val="FCE5D3"/>
          </a:solidFill>
          <a:ln w="12700">
            <a:solidFill>
              <a:srgbClr val="FCE5D3"/>
            </a:solidFill>
            <a:prstDash val="solid"/>
          </a:ln>
        </p:spPr>
      </p:sp>
      <p:sp>
        <p:nvSpPr>
          <p:cNvPr id="25" name="Text 21"/>
          <p:cNvSpPr txBox="1"/>
          <p:nvPr/>
        </p:nvSpPr>
        <p:spPr>
          <a:xfrm>
            <a:off x="8778240" y="1618488"/>
            <a:ext cx="2788920" cy="274320"/>
          </a:xfrm>
          <a:prstGeom prst="rect">
            <a:avLst/>
          </a:prstGeom>
          <a:noFill/>
          <a:ln/>
        </p:spPr>
        <p:txBody>
          <a:bodyPr wrap="square" lIns="0" tIns="0" rIns="0" bIns="0" rtlCol="0" anchor="ctr"/>
          <a:lstStyle/>
          <a:p>
            <a:pPr algn="r" indent="0" marL="0">
              <a:buNone/>
            </a:pPr>
            <a:r>
              <a:rPr lang="en-US" sz="900" b="1" dirty="0">
                <a:solidFill>
                  <a:srgbClr val="2B2B2B"/>
                </a:solidFill>
                <a:latin typeface="Calibri" pitchFamily="34" charset="0"/>
                <a:ea typeface="Calibri" pitchFamily="34" charset="-122"/>
                <a:cs typeface="Calibri" pitchFamily="34" charset="-120"/>
              </a:rPr>
              <a:t>VALUE ADDED KEEPS RISING  →</a:t>
            </a:r>
            <a:endParaRPr lang="en-US" sz="900" dirty="0"/>
          </a:p>
        </p:txBody>
      </p:sp>
      <p:sp>
        <p:nvSpPr>
          <p:cNvPr id="26" name="Shape 22"/>
          <p:cNvSpPr/>
          <p:nvPr/>
        </p:nvSpPr>
        <p:spPr>
          <a:xfrm>
            <a:off x="1714500" y="2304288"/>
            <a:ext cx="1166774" cy="0"/>
          </a:xfrm>
          <a:prstGeom prst="line">
            <a:avLst/>
          </a:prstGeom>
          <a:noFill/>
          <a:ln w="19050">
            <a:solidFill>
              <a:srgbClr val="EC9352"/>
            </a:solidFill>
            <a:prstDash val="dash"/>
            <a:tailEnd type="triangle"/>
          </a:ln>
        </p:spPr>
      </p:sp>
      <p:sp>
        <p:nvSpPr>
          <p:cNvPr id="27" name="Shape 23"/>
          <p:cNvSpPr/>
          <p:nvPr/>
        </p:nvSpPr>
        <p:spPr>
          <a:xfrm>
            <a:off x="1046988" y="2002536"/>
            <a:ext cx="603504" cy="603504"/>
          </a:xfrm>
          <a:prstGeom prst="ellipse">
            <a:avLst/>
          </a:prstGeom>
          <a:solidFill>
            <a:srgbClr val="2B2B2B"/>
          </a:solidFill>
          <a:ln w="12700">
            <a:solidFill>
              <a:srgbClr val="2B2B2B"/>
            </a:solidFill>
            <a:prstDash val="solid"/>
          </a:ln>
        </p:spPr>
      </p:sp>
      <p:pic>
        <p:nvPicPr>
          <p:cNvPr id="28" name="Image 2" descr="img/icons/flame-white.png">    </p:cNvPr>
          <p:cNvPicPr>
            <a:picLocks noChangeAspect="1"/>
          </p:cNvPicPr>
          <p:nvPr/>
        </p:nvPicPr>
        <p:blipFill>
          <a:blip r:embed="rId3"/>
          <a:stretch>
            <a:fillRect/>
          </a:stretch>
        </p:blipFill>
        <p:spPr>
          <a:xfrm>
            <a:off x="1179759" y="2135307"/>
            <a:ext cx="337962" cy="337962"/>
          </a:xfrm>
          <a:prstGeom prst="rect">
            <a:avLst/>
          </a:prstGeom>
        </p:spPr>
      </p:pic>
      <p:sp>
        <p:nvSpPr>
          <p:cNvPr id="29" name="Text 24"/>
          <p:cNvSpPr txBox="1"/>
          <p:nvPr/>
        </p:nvSpPr>
        <p:spPr>
          <a:xfrm>
            <a:off x="457200" y="2679192"/>
            <a:ext cx="1783080" cy="219456"/>
          </a:xfrm>
          <a:prstGeom prst="rect">
            <a:avLst/>
          </a:prstGeom>
          <a:noFill/>
          <a:ln/>
        </p:spPr>
        <p:txBody>
          <a:bodyPr wrap="square" lIns="0" tIns="0" rIns="0" bIns="0" rtlCol="0" anchor="t"/>
          <a:lstStyle/>
          <a:p>
            <a:pPr algn="ctr" indent="0" marL="0">
              <a:buNone/>
            </a:pPr>
            <a:r>
              <a:rPr lang="en-US" sz="1100" b="1" dirty="0">
                <a:solidFill>
                  <a:srgbClr val="2B2B2B"/>
                </a:solidFill>
                <a:latin typeface="Calibri" pitchFamily="34" charset="0"/>
                <a:ea typeface="Calibri" pitchFamily="34" charset="-122"/>
                <a:cs typeface="Calibri" pitchFamily="34" charset="-120"/>
              </a:rPr>
              <a:t>Melt &amp; cast</a:t>
            </a:r>
            <a:endParaRPr lang="en-US" sz="1100" dirty="0"/>
          </a:p>
        </p:txBody>
      </p:sp>
      <p:sp>
        <p:nvSpPr>
          <p:cNvPr id="30" name="Text 25"/>
          <p:cNvSpPr txBox="1"/>
          <p:nvPr/>
        </p:nvSpPr>
        <p:spPr>
          <a:xfrm>
            <a:off x="457200" y="2907792"/>
            <a:ext cx="178308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SMS</a:t>
            </a:r>
            <a:endParaRPr lang="en-US" sz="900" dirty="0"/>
          </a:p>
        </p:txBody>
      </p:sp>
      <p:sp>
        <p:nvSpPr>
          <p:cNvPr id="31" name="Text 26"/>
          <p:cNvSpPr txBox="1"/>
          <p:nvPr/>
        </p:nvSpPr>
        <p:spPr>
          <a:xfrm>
            <a:off x="457200" y="3108960"/>
            <a:ext cx="1783080" cy="329184"/>
          </a:xfrm>
          <a:prstGeom prst="rect">
            <a:avLst/>
          </a:prstGeom>
          <a:noFill/>
          <a:ln/>
        </p:spPr>
        <p:txBody>
          <a:bodyPr wrap="square" lIns="0" tIns="0" rIns="0" bIns="0" rtlCol="0" anchor="t"/>
          <a:lstStyle/>
          <a:p>
            <a:pPr algn="ctr" indent="0" marL="0">
              <a:buNone/>
            </a:pPr>
            <a:r>
              <a:rPr lang="en-US" sz="950" dirty="0">
                <a:solidFill>
                  <a:srgbClr val="1A1A1A"/>
                </a:solidFill>
                <a:latin typeface="Calibri" pitchFamily="34" charset="0"/>
                <a:ea typeface="Calibri" pitchFamily="34" charset="-122"/>
                <a:cs typeface="Calibri" pitchFamily="34" charset="-120"/>
              </a:rPr>
              <a:t>Inclusions, slivers</a:t>
            </a:r>
            <a:endParaRPr lang="en-US" sz="950" dirty="0"/>
          </a:p>
        </p:txBody>
      </p:sp>
      <p:sp>
        <p:nvSpPr>
          <p:cNvPr id="32" name="Shape 27"/>
          <p:cNvSpPr/>
          <p:nvPr/>
        </p:nvSpPr>
        <p:spPr>
          <a:xfrm>
            <a:off x="891540" y="3502152"/>
            <a:ext cx="914400" cy="201168"/>
          </a:xfrm>
          <a:prstGeom prst="roundRect">
            <a:avLst>
              <a:gd name="adj" fmla="val 27273"/>
            </a:avLst>
          </a:prstGeom>
          <a:solidFill>
            <a:srgbClr val="C62828"/>
          </a:solidFill>
          <a:ln w="12700">
            <a:solidFill>
              <a:srgbClr val="C62828"/>
            </a:solidFill>
            <a:prstDash val="solid"/>
          </a:ln>
        </p:spPr>
      </p:sp>
      <p:sp>
        <p:nvSpPr>
          <p:cNvPr id="33" name="Text 28"/>
          <p:cNvSpPr txBox="1"/>
          <p:nvPr/>
        </p:nvSpPr>
        <p:spPr>
          <a:xfrm>
            <a:off x="891540"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 SEEN</a:t>
            </a:r>
            <a:endParaRPr lang="en-US" sz="900" dirty="0"/>
          </a:p>
        </p:txBody>
      </p:sp>
      <p:sp>
        <p:nvSpPr>
          <p:cNvPr id="34" name="Shape 29"/>
          <p:cNvSpPr/>
          <p:nvPr/>
        </p:nvSpPr>
        <p:spPr>
          <a:xfrm>
            <a:off x="3612794" y="2304288"/>
            <a:ext cx="1166774" cy="0"/>
          </a:xfrm>
          <a:prstGeom prst="line">
            <a:avLst/>
          </a:prstGeom>
          <a:noFill/>
          <a:ln w="19050">
            <a:solidFill>
              <a:srgbClr val="EC9352"/>
            </a:solidFill>
            <a:prstDash val="dash"/>
            <a:tailEnd type="triangle"/>
          </a:ln>
        </p:spPr>
      </p:sp>
      <p:sp>
        <p:nvSpPr>
          <p:cNvPr id="35" name="Shape 30"/>
          <p:cNvSpPr/>
          <p:nvPr/>
        </p:nvSpPr>
        <p:spPr>
          <a:xfrm>
            <a:off x="2945282" y="2002536"/>
            <a:ext cx="603504" cy="603504"/>
          </a:xfrm>
          <a:prstGeom prst="ellipse">
            <a:avLst/>
          </a:prstGeom>
          <a:solidFill>
            <a:srgbClr val="2B2B2B"/>
          </a:solidFill>
          <a:ln w="12700">
            <a:solidFill>
              <a:srgbClr val="2B2B2B"/>
            </a:solidFill>
            <a:prstDash val="solid"/>
          </a:ln>
        </p:spPr>
      </p:sp>
      <p:pic>
        <p:nvPicPr>
          <p:cNvPr id="36" name="Image 3" descr="img/icons/factory-white.png">    </p:cNvPr>
          <p:cNvPicPr>
            <a:picLocks noChangeAspect="1"/>
          </p:cNvPicPr>
          <p:nvPr/>
        </p:nvPicPr>
        <p:blipFill>
          <a:blip r:embed="rId4"/>
          <a:stretch>
            <a:fillRect/>
          </a:stretch>
        </p:blipFill>
        <p:spPr>
          <a:xfrm>
            <a:off x="3078053" y="2135307"/>
            <a:ext cx="337962" cy="337962"/>
          </a:xfrm>
          <a:prstGeom prst="rect">
            <a:avLst/>
          </a:prstGeom>
        </p:spPr>
      </p:pic>
      <p:sp>
        <p:nvSpPr>
          <p:cNvPr id="37" name="Text 31"/>
          <p:cNvSpPr txBox="1"/>
          <p:nvPr/>
        </p:nvSpPr>
        <p:spPr>
          <a:xfrm>
            <a:off x="2355494" y="2679192"/>
            <a:ext cx="1783080" cy="219456"/>
          </a:xfrm>
          <a:prstGeom prst="rect">
            <a:avLst/>
          </a:prstGeom>
          <a:noFill/>
          <a:ln/>
        </p:spPr>
        <p:txBody>
          <a:bodyPr wrap="square" lIns="0" tIns="0" rIns="0" bIns="0" rtlCol="0" anchor="t"/>
          <a:lstStyle/>
          <a:p>
            <a:pPr algn="ctr" indent="0" marL="0">
              <a:buNone/>
            </a:pPr>
            <a:r>
              <a:rPr lang="en-US" sz="1100" b="1" dirty="0">
                <a:solidFill>
                  <a:srgbClr val="2B2B2B"/>
                </a:solidFill>
                <a:latin typeface="Calibri" pitchFamily="34" charset="0"/>
                <a:ea typeface="Calibri" pitchFamily="34" charset="-122"/>
                <a:cs typeface="Calibri" pitchFamily="34" charset="-120"/>
              </a:rPr>
              <a:t>Hot rolling</a:t>
            </a:r>
            <a:endParaRPr lang="en-US" sz="1100" dirty="0"/>
          </a:p>
        </p:txBody>
      </p:sp>
      <p:sp>
        <p:nvSpPr>
          <p:cNvPr id="38" name="Text 32"/>
          <p:cNvSpPr txBox="1"/>
          <p:nvPr/>
        </p:nvSpPr>
        <p:spPr>
          <a:xfrm>
            <a:off x="2355494" y="2907792"/>
            <a:ext cx="178308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HSM</a:t>
            </a:r>
            <a:endParaRPr lang="en-US" sz="900" dirty="0"/>
          </a:p>
        </p:txBody>
      </p:sp>
      <p:sp>
        <p:nvSpPr>
          <p:cNvPr id="39" name="Text 33"/>
          <p:cNvSpPr txBox="1"/>
          <p:nvPr/>
        </p:nvSpPr>
        <p:spPr>
          <a:xfrm>
            <a:off x="2355494" y="3108960"/>
            <a:ext cx="1783080" cy="329184"/>
          </a:xfrm>
          <a:prstGeom prst="rect">
            <a:avLst/>
          </a:prstGeom>
          <a:noFill/>
          <a:ln/>
        </p:spPr>
        <p:txBody>
          <a:bodyPr wrap="square" lIns="0" tIns="0" rIns="0" bIns="0" rtlCol="0" anchor="t"/>
          <a:lstStyle/>
          <a:p>
            <a:pPr algn="ctr" indent="0" marL="0">
              <a:buNone/>
            </a:pPr>
            <a:r>
              <a:rPr lang="en-US" sz="950" dirty="0">
                <a:solidFill>
                  <a:srgbClr val="1A1A1A"/>
                </a:solidFill>
                <a:latin typeface="Calibri" pitchFamily="34" charset="0"/>
                <a:ea typeface="Calibri" pitchFamily="34" charset="-122"/>
                <a:cs typeface="Calibri" pitchFamily="34" charset="-120"/>
              </a:rPr>
              <a:t>Scale, pits, edge cracks</a:t>
            </a:r>
            <a:endParaRPr lang="en-US" sz="950" dirty="0"/>
          </a:p>
        </p:txBody>
      </p:sp>
      <p:sp>
        <p:nvSpPr>
          <p:cNvPr id="40" name="Shape 34"/>
          <p:cNvSpPr/>
          <p:nvPr/>
        </p:nvSpPr>
        <p:spPr>
          <a:xfrm>
            <a:off x="2789834" y="3502152"/>
            <a:ext cx="914400" cy="201168"/>
          </a:xfrm>
          <a:prstGeom prst="roundRect">
            <a:avLst>
              <a:gd name="adj" fmla="val 27273"/>
            </a:avLst>
          </a:prstGeom>
          <a:solidFill>
            <a:srgbClr val="C62828"/>
          </a:solidFill>
          <a:ln w="12700">
            <a:solidFill>
              <a:srgbClr val="C62828"/>
            </a:solidFill>
            <a:prstDash val="solid"/>
          </a:ln>
        </p:spPr>
      </p:sp>
      <p:sp>
        <p:nvSpPr>
          <p:cNvPr id="41" name="Text 35"/>
          <p:cNvSpPr txBox="1"/>
          <p:nvPr/>
        </p:nvSpPr>
        <p:spPr>
          <a:xfrm>
            <a:off x="2789834"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 SEEN</a:t>
            </a:r>
            <a:endParaRPr lang="en-US" sz="900" dirty="0"/>
          </a:p>
        </p:txBody>
      </p:sp>
      <p:sp>
        <p:nvSpPr>
          <p:cNvPr id="42" name="Shape 36"/>
          <p:cNvSpPr/>
          <p:nvPr/>
        </p:nvSpPr>
        <p:spPr>
          <a:xfrm>
            <a:off x="5511089" y="2304288"/>
            <a:ext cx="1166774" cy="0"/>
          </a:xfrm>
          <a:prstGeom prst="line">
            <a:avLst/>
          </a:prstGeom>
          <a:noFill/>
          <a:ln w="19050">
            <a:solidFill>
              <a:srgbClr val="EC9352"/>
            </a:solidFill>
            <a:prstDash val="dash"/>
            <a:tailEnd type="triangle"/>
          </a:ln>
        </p:spPr>
      </p:sp>
      <p:sp>
        <p:nvSpPr>
          <p:cNvPr id="43" name="Shape 37"/>
          <p:cNvSpPr/>
          <p:nvPr/>
        </p:nvSpPr>
        <p:spPr>
          <a:xfrm>
            <a:off x="4843577" y="2002536"/>
            <a:ext cx="603504" cy="603504"/>
          </a:xfrm>
          <a:prstGeom prst="ellipse">
            <a:avLst/>
          </a:prstGeom>
          <a:solidFill>
            <a:srgbClr val="2B2B2B"/>
          </a:solidFill>
          <a:ln w="12700">
            <a:solidFill>
              <a:srgbClr val="2B2B2B"/>
            </a:solidFill>
            <a:prstDash val="solid"/>
          </a:ln>
        </p:spPr>
      </p:sp>
      <p:pic>
        <p:nvPicPr>
          <p:cNvPr id="44" name="Image 4" descr="img/icons/droplets-white.png">    </p:cNvPr>
          <p:cNvPicPr>
            <a:picLocks noChangeAspect="1"/>
          </p:cNvPicPr>
          <p:nvPr/>
        </p:nvPicPr>
        <p:blipFill>
          <a:blip r:embed="rId5"/>
          <a:stretch>
            <a:fillRect/>
          </a:stretch>
        </p:blipFill>
        <p:spPr>
          <a:xfrm>
            <a:off x="4976348" y="2135307"/>
            <a:ext cx="337962" cy="337962"/>
          </a:xfrm>
          <a:prstGeom prst="rect">
            <a:avLst/>
          </a:prstGeom>
        </p:spPr>
      </p:pic>
      <p:sp>
        <p:nvSpPr>
          <p:cNvPr id="45" name="Text 38"/>
          <p:cNvSpPr txBox="1"/>
          <p:nvPr/>
        </p:nvSpPr>
        <p:spPr>
          <a:xfrm>
            <a:off x="4253789" y="2679192"/>
            <a:ext cx="1783080" cy="219456"/>
          </a:xfrm>
          <a:prstGeom prst="rect">
            <a:avLst/>
          </a:prstGeom>
          <a:noFill/>
          <a:ln/>
        </p:spPr>
        <p:txBody>
          <a:bodyPr wrap="square" lIns="0" tIns="0" rIns="0" bIns="0" rtlCol="0" anchor="t"/>
          <a:lstStyle/>
          <a:p>
            <a:pPr algn="ctr" indent="0" marL="0">
              <a:buNone/>
            </a:pPr>
            <a:r>
              <a:rPr lang="en-US" sz="1100" b="1" dirty="0">
                <a:solidFill>
                  <a:srgbClr val="2B2B2B"/>
                </a:solidFill>
                <a:latin typeface="Calibri" pitchFamily="34" charset="0"/>
                <a:ea typeface="Calibri" pitchFamily="34" charset="-122"/>
                <a:cs typeface="Calibri" pitchFamily="34" charset="-120"/>
              </a:rPr>
              <a:t>Anneal &amp; pickle</a:t>
            </a:r>
            <a:endParaRPr lang="en-US" sz="1100" dirty="0"/>
          </a:p>
        </p:txBody>
      </p:sp>
      <p:sp>
        <p:nvSpPr>
          <p:cNvPr id="46" name="Text 39"/>
          <p:cNvSpPr txBox="1"/>
          <p:nvPr/>
        </p:nvSpPr>
        <p:spPr>
          <a:xfrm>
            <a:off x="4253789" y="2907792"/>
            <a:ext cx="178308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HRAP</a:t>
            </a:r>
            <a:endParaRPr lang="en-US" sz="900" dirty="0"/>
          </a:p>
        </p:txBody>
      </p:sp>
      <p:sp>
        <p:nvSpPr>
          <p:cNvPr id="47" name="Text 40"/>
          <p:cNvSpPr txBox="1"/>
          <p:nvPr/>
        </p:nvSpPr>
        <p:spPr>
          <a:xfrm>
            <a:off x="4253789" y="3108960"/>
            <a:ext cx="1783080" cy="329184"/>
          </a:xfrm>
          <a:prstGeom prst="rect">
            <a:avLst/>
          </a:prstGeom>
          <a:noFill/>
          <a:ln/>
        </p:spPr>
        <p:txBody>
          <a:bodyPr wrap="square" lIns="0" tIns="0" rIns="0" bIns="0" rtlCol="0" anchor="t"/>
          <a:lstStyle/>
          <a:p>
            <a:pPr algn="ctr" indent="0" marL="0">
              <a:buNone/>
            </a:pPr>
            <a:r>
              <a:rPr lang="en-US" sz="950" dirty="0">
                <a:solidFill>
                  <a:srgbClr val="1A1A1A"/>
                </a:solidFill>
                <a:latin typeface="Calibri" pitchFamily="34" charset="0"/>
                <a:ea typeface="Calibri" pitchFamily="34" charset="-122"/>
                <a:cs typeface="Calibri" pitchFamily="34" charset="-120"/>
              </a:rPr>
              <a:t>Pickling patches</a:t>
            </a:r>
            <a:endParaRPr lang="en-US" sz="950" dirty="0"/>
          </a:p>
        </p:txBody>
      </p:sp>
      <p:sp>
        <p:nvSpPr>
          <p:cNvPr id="48" name="Shape 41"/>
          <p:cNvSpPr/>
          <p:nvPr/>
        </p:nvSpPr>
        <p:spPr>
          <a:xfrm>
            <a:off x="4688129" y="3502152"/>
            <a:ext cx="914400" cy="201168"/>
          </a:xfrm>
          <a:prstGeom prst="roundRect">
            <a:avLst>
              <a:gd name="adj" fmla="val 27273"/>
            </a:avLst>
          </a:prstGeom>
          <a:solidFill>
            <a:srgbClr val="C99700"/>
          </a:solidFill>
          <a:ln w="12700">
            <a:solidFill>
              <a:srgbClr val="C99700"/>
            </a:solidFill>
            <a:prstDash val="solid"/>
          </a:ln>
        </p:spPr>
      </p:sp>
      <p:sp>
        <p:nvSpPr>
          <p:cNvPr id="49" name="Text 42"/>
          <p:cNvSpPr txBox="1"/>
          <p:nvPr/>
        </p:nvSpPr>
        <p:spPr>
          <a:xfrm>
            <a:off x="4688129"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SPOT CHECK</a:t>
            </a:r>
            <a:endParaRPr lang="en-US" sz="900" dirty="0"/>
          </a:p>
        </p:txBody>
      </p:sp>
      <p:sp>
        <p:nvSpPr>
          <p:cNvPr id="50" name="Shape 43"/>
          <p:cNvSpPr/>
          <p:nvPr/>
        </p:nvSpPr>
        <p:spPr>
          <a:xfrm>
            <a:off x="7409383" y="2304288"/>
            <a:ext cx="1166774" cy="0"/>
          </a:xfrm>
          <a:prstGeom prst="line">
            <a:avLst/>
          </a:prstGeom>
          <a:noFill/>
          <a:ln w="19050">
            <a:solidFill>
              <a:srgbClr val="EC9352"/>
            </a:solidFill>
            <a:prstDash val="dash"/>
            <a:tailEnd type="triangle"/>
          </a:ln>
        </p:spPr>
      </p:sp>
      <p:sp>
        <p:nvSpPr>
          <p:cNvPr id="51" name="Shape 44"/>
          <p:cNvSpPr/>
          <p:nvPr/>
        </p:nvSpPr>
        <p:spPr>
          <a:xfrm>
            <a:off x="6741871" y="2002536"/>
            <a:ext cx="603504" cy="603504"/>
          </a:xfrm>
          <a:prstGeom prst="ellipse">
            <a:avLst/>
          </a:prstGeom>
          <a:solidFill>
            <a:srgbClr val="2B2B2B"/>
          </a:solidFill>
          <a:ln w="12700">
            <a:solidFill>
              <a:srgbClr val="2B2B2B"/>
            </a:solidFill>
            <a:prstDash val="solid"/>
          </a:ln>
        </p:spPr>
      </p:sp>
      <p:pic>
        <p:nvPicPr>
          <p:cNvPr id="52" name="Image 5" descr="img/icons/layers-white.png">    </p:cNvPr>
          <p:cNvPicPr>
            <a:picLocks noChangeAspect="1"/>
          </p:cNvPicPr>
          <p:nvPr/>
        </p:nvPicPr>
        <p:blipFill>
          <a:blip r:embed="rId6"/>
          <a:stretch>
            <a:fillRect/>
          </a:stretch>
        </p:blipFill>
        <p:spPr>
          <a:xfrm>
            <a:off x="6874642" y="2135307"/>
            <a:ext cx="337962" cy="337962"/>
          </a:xfrm>
          <a:prstGeom prst="rect">
            <a:avLst/>
          </a:prstGeom>
        </p:spPr>
      </p:pic>
      <p:sp>
        <p:nvSpPr>
          <p:cNvPr id="53" name="Text 45"/>
          <p:cNvSpPr txBox="1"/>
          <p:nvPr/>
        </p:nvSpPr>
        <p:spPr>
          <a:xfrm>
            <a:off x="6152083" y="2679192"/>
            <a:ext cx="1783080" cy="219456"/>
          </a:xfrm>
          <a:prstGeom prst="rect">
            <a:avLst/>
          </a:prstGeom>
          <a:noFill/>
          <a:ln/>
        </p:spPr>
        <p:txBody>
          <a:bodyPr wrap="square" lIns="0" tIns="0" rIns="0" bIns="0" rtlCol="0" anchor="t"/>
          <a:lstStyle/>
          <a:p>
            <a:pPr algn="ctr" indent="0" marL="0">
              <a:buNone/>
            </a:pPr>
            <a:r>
              <a:rPr lang="en-US" sz="1100" b="1" dirty="0">
                <a:solidFill>
                  <a:srgbClr val="2B2B2B"/>
                </a:solidFill>
                <a:latin typeface="Calibri" pitchFamily="34" charset="0"/>
                <a:ea typeface="Calibri" pitchFamily="34" charset="-122"/>
                <a:cs typeface="Calibri" pitchFamily="34" charset="-120"/>
              </a:rPr>
              <a:t>Cold rolling</a:t>
            </a:r>
            <a:endParaRPr lang="en-US" sz="1100" dirty="0"/>
          </a:p>
        </p:txBody>
      </p:sp>
      <p:sp>
        <p:nvSpPr>
          <p:cNvPr id="54" name="Text 46"/>
          <p:cNvSpPr txBox="1"/>
          <p:nvPr/>
        </p:nvSpPr>
        <p:spPr>
          <a:xfrm>
            <a:off x="6152083" y="2907792"/>
            <a:ext cx="178308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CRM</a:t>
            </a:r>
            <a:endParaRPr lang="en-US" sz="900" dirty="0"/>
          </a:p>
        </p:txBody>
      </p:sp>
      <p:sp>
        <p:nvSpPr>
          <p:cNvPr id="55" name="Text 47"/>
          <p:cNvSpPr txBox="1"/>
          <p:nvPr/>
        </p:nvSpPr>
        <p:spPr>
          <a:xfrm>
            <a:off x="6152083" y="3108960"/>
            <a:ext cx="1783080" cy="329184"/>
          </a:xfrm>
          <a:prstGeom prst="rect">
            <a:avLst/>
          </a:prstGeom>
          <a:noFill/>
          <a:ln/>
        </p:spPr>
        <p:txBody>
          <a:bodyPr wrap="square" lIns="0" tIns="0" rIns="0" bIns="0" rtlCol="0" anchor="t"/>
          <a:lstStyle/>
          <a:p>
            <a:pPr algn="ctr" indent="0" marL="0">
              <a:buNone/>
            </a:pPr>
            <a:r>
              <a:rPr lang="en-US" sz="950" dirty="0">
                <a:solidFill>
                  <a:srgbClr val="1A1A1A"/>
                </a:solidFill>
                <a:latin typeface="Calibri" pitchFamily="34" charset="0"/>
                <a:ea typeface="Calibri" pitchFamily="34" charset="-122"/>
                <a:cs typeface="Calibri" pitchFamily="34" charset="-120"/>
              </a:rPr>
              <a:t>Scratches, roll marks</a:t>
            </a:r>
            <a:endParaRPr lang="en-US" sz="950" dirty="0"/>
          </a:p>
        </p:txBody>
      </p:sp>
      <p:sp>
        <p:nvSpPr>
          <p:cNvPr id="56" name="Shape 48"/>
          <p:cNvSpPr/>
          <p:nvPr/>
        </p:nvSpPr>
        <p:spPr>
          <a:xfrm>
            <a:off x="6586423" y="3502152"/>
            <a:ext cx="914400" cy="201168"/>
          </a:xfrm>
          <a:prstGeom prst="roundRect">
            <a:avLst>
              <a:gd name="adj" fmla="val 27273"/>
            </a:avLst>
          </a:prstGeom>
          <a:solidFill>
            <a:srgbClr val="C99700"/>
          </a:solidFill>
          <a:ln w="12700">
            <a:solidFill>
              <a:srgbClr val="C99700"/>
            </a:solidFill>
            <a:prstDash val="solid"/>
          </a:ln>
        </p:spPr>
      </p:sp>
      <p:sp>
        <p:nvSpPr>
          <p:cNvPr id="57" name="Text 49"/>
          <p:cNvSpPr txBox="1"/>
          <p:nvPr/>
        </p:nvSpPr>
        <p:spPr>
          <a:xfrm>
            <a:off x="6586423"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SPOT CHECK</a:t>
            </a:r>
            <a:endParaRPr lang="en-US" sz="900" dirty="0"/>
          </a:p>
        </p:txBody>
      </p:sp>
      <p:sp>
        <p:nvSpPr>
          <p:cNvPr id="58" name="Shape 50"/>
          <p:cNvSpPr/>
          <p:nvPr/>
        </p:nvSpPr>
        <p:spPr>
          <a:xfrm>
            <a:off x="9307678" y="2304288"/>
            <a:ext cx="1166774" cy="0"/>
          </a:xfrm>
          <a:prstGeom prst="line">
            <a:avLst/>
          </a:prstGeom>
          <a:noFill/>
          <a:ln w="19050">
            <a:solidFill>
              <a:srgbClr val="EC9352"/>
            </a:solidFill>
            <a:prstDash val="dash"/>
            <a:tailEnd type="triangle"/>
          </a:ln>
        </p:spPr>
      </p:sp>
      <p:sp>
        <p:nvSpPr>
          <p:cNvPr id="59" name="Shape 51"/>
          <p:cNvSpPr/>
          <p:nvPr/>
        </p:nvSpPr>
        <p:spPr>
          <a:xfrm>
            <a:off x="8640166" y="2002536"/>
            <a:ext cx="603504" cy="603504"/>
          </a:xfrm>
          <a:prstGeom prst="ellipse">
            <a:avLst/>
          </a:prstGeom>
          <a:solidFill>
            <a:srgbClr val="2B2B2B"/>
          </a:solidFill>
          <a:ln w="12700">
            <a:solidFill>
              <a:srgbClr val="2B2B2B"/>
            </a:solidFill>
            <a:prstDash val="solid"/>
          </a:ln>
        </p:spPr>
      </p:sp>
      <p:pic>
        <p:nvPicPr>
          <p:cNvPr id="60" name="Image 6" descr="img/icons/sparkles-white.png">    </p:cNvPr>
          <p:cNvPicPr>
            <a:picLocks noChangeAspect="1"/>
          </p:cNvPicPr>
          <p:nvPr/>
        </p:nvPicPr>
        <p:blipFill>
          <a:blip r:embed="rId7"/>
          <a:stretch>
            <a:fillRect/>
          </a:stretch>
        </p:blipFill>
        <p:spPr>
          <a:xfrm>
            <a:off x="8772936" y="2135307"/>
            <a:ext cx="337962" cy="337962"/>
          </a:xfrm>
          <a:prstGeom prst="rect">
            <a:avLst/>
          </a:prstGeom>
        </p:spPr>
      </p:pic>
      <p:sp>
        <p:nvSpPr>
          <p:cNvPr id="61" name="Text 52"/>
          <p:cNvSpPr txBox="1"/>
          <p:nvPr/>
        </p:nvSpPr>
        <p:spPr>
          <a:xfrm>
            <a:off x="8050378" y="2679192"/>
            <a:ext cx="1783080" cy="219456"/>
          </a:xfrm>
          <a:prstGeom prst="rect">
            <a:avLst/>
          </a:prstGeom>
          <a:noFill/>
          <a:ln/>
        </p:spPr>
        <p:txBody>
          <a:bodyPr wrap="square" lIns="0" tIns="0" rIns="0" bIns="0" rtlCol="0" anchor="t"/>
          <a:lstStyle/>
          <a:p>
            <a:pPr algn="ctr" indent="0" marL="0">
              <a:buNone/>
            </a:pPr>
            <a:r>
              <a:rPr lang="en-US" sz="1100" b="1" dirty="0">
                <a:solidFill>
                  <a:srgbClr val="2B2B2B"/>
                </a:solidFill>
                <a:latin typeface="Calibri" pitchFamily="34" charset="0"/>
                <a:ea typeface="Calibri" pitchFamily="34" charset="-122"/>
                <a:cs typeface="Calibri" pitchFamily="34" charset="-120"/>
              </a:rPr>
              <a:t>Final anneal / BA</a:t>
            </a:r>
            <a:endParaRPr lang="en-US" sz="1100" dirty="0"/>
          </a:p>
        </p:txBody>
      </p:sp>
      <p:sp>
        <p:nvSpPr>
          <p:cNvPr id="62" name="Text 53"/>
          <p:cNvSpPr txBox="1"/>
          <p:nvPr/>
        </p:nvSpPr>
        <p:spPr>
          <a:xfrm>
            <a:off x="8050378" y="2907792"/>
            <a:ext cx="178308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CRAP / BA</a:t>
            </a:r>
            <a:endParaRPr lang="en-US" sz="900" dirty="0"/>
          </a:p>
        </p:txBody>
      </p:sp>
      <p:sp>
        <p:nvSpPr>
          <p:cNvPr id="63" name="Text 54"/>
          <p:cNvSpPr txBox="1"/>
          <p:nvPr/>
        </p:nvSpPr>
        <p:spPr>
          <a:xfrm>
            <a:off x="8050378" y="3108960"/>
            <a:ext cx="1783080" cy="329184"/>
          </a:xfrm>
          <a:prstGeom prst="rect">
            <a:avLst/>
          </a:prstGeom>
          <a:noFill/>
          <a:ln/>
        </p:spPr>
        <p:txBody>
          <a:bodyPr wrap="square" lIns="0" tIns="0" rIns="0" bIns="0" rtlCol="0" anchor="t"/>
          <a:lstStyle/>
          <a:p>
            <a:pPr algn="ctr" indent="0" marL="0">
              <a:buNone/>
            </a:pPr>
            <a:r>
              <a:rPr lang="en-US" sz="950" dirty="0">
                <a:solidFill>
                  <a:srgbClr val="1A1A1A"/>
                </a:solidFill>
                <a:latin typeface="Calibri" pitchFamily="34" charset="0"/>
                <a:ea typeface="Calibri" pitchFamily="34" charset="-122"/>
                <a:cs typeface="Calibri" pitchFamily="34" charset="-120"/>
              </a:rPr>
              <a:t>Stains, BA marks</a:t>
            </a:r>
            <a:endParaRPr lang="en-US" sz="950" dirty="0"/>
          </a:p>
        </p:txBody>
      </p:sp>
      <p:sp>
        <p:nvSpPr>
          <p:cNvPr id="64" name="Shape 55"/>
          <p:cNvSpPr/>
          <p:nvPr/>
        </p:nvSpPr>
        <p:spPr>
          <a:xfrm>
            <a:off x="8484718" y="3502152"/>
            <a:ext cx="914400" cy="201168"/>
          </a:xfrm>
          <a:prstGeom prst="roundRect">
            <a:avLst>
              <a:gd name="adj" fmla="val 27273"/>
            </a:avLst>
          </a:prstGeom>
          <a:solidFill>
            <a:srgbClr val="C99700"/>
          </a:solidFill>
          <a:ln w="12700">
            <a:solidFill>
              <a:srgbClr val="C99700"/>
            </a:solidFill>
            <a:prstDash val="solid"/>
          </a:ln>
        </p:spPr>
      </p:sp>
      <p:sp>
        <p:nvSpPr>
          <p:cNvPr id="65" name="Text 56"/>
          <p:cNvSpPr txBox="1"/>
          <p:nvPr/>
        </p:nvSpPr>
        <p:spPr>
          <a:xfrm>
            <a:off x="8484718"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SAMPLED</a:t>
            </a:r>
            <a:endParaRPr lang="en-US" sz="900" dirty="0"/>
          </a:p>
        </p:txBody>
      </p:sp>
      <p:sp>
        <p:nvSpPr>
          <p:cNvPr id="66" name="Shape 57"/>
          <p:cNvSpPr/>
          <p:nvPr/>
        </p:nvSpPr>
        <p:spPr>
          <a:xfrm>
            <a:off x="10538460" y="2002536"/>
            <a:ext cx="603504" cy="603504"/>
          </a:xfrm>
          <a:prstGeom prst="ellipse">
            <a:avLst/>
          </a:prstGeom>
          <a:solidFill>
            <a:srgbClr val="D2651F"/>
          </a:solidFill>
          <a:ln w="12700">
            <a:solidFill>
              <a:srgbClr val="D2651F"/>
            </a:solidFill>
            <a:prstDash val="solid"/>
          </a:ln>
        </p:spPr>
      </p:sp>
      <p:pic>
        <p:nvPicPr>
          <p:cNvPr id="67" name="Image 7" descr="img/icons/truck-white.png">    </p:cNvPr>
          <p:cNvPicPr>
            <a:picLocks noChangeAspect="1"/>
          </p:cNvPicPr>
          <p:nvPr/>
        </p:nvPicPr>
        <p:blipFill>
          <a:blip r:embed="rId8"/>
          <a:stretch>
            <a:fillRect/>
          </a:stretch>
        </p:blipFill>
        <p:spPr>
          <a:xfrm>
            <a:off x="10671231" y="2135307"/>
            <a:ext cx="337962" cy="337962"/>
          </a:xfrm>
          <a:prstGeom prst="rect">
            <a:avLst/>
          </a:prstGeom>
        </p:spPr>
      </p:pic>
      <p:sp>
        <p:nvSpPr>
          <p:cNvPr id="68" name="Text 58"/>
          <p:cNvSpPr txBox="1"/>
          <p:nvPr/>
        </p:nvSpPr>
        <p:spPr>
          <a:xfrm>
            <a:off x="9948672" y="2679192"/>
            <a:ext cx="1783080" cy="219456"/>
          </a:xfrm>
          <a:prstGeom prst="rect">
            <a:avLst/>
          </a:prstGeom>
          <a:noFill/>
          <a:ln/>
        </p:spPr>
        <p:txBody>
          <a:bodyPr wrap="square" lIns="0" tIns="0" rIns="0" bIns="0" rtlCol="0" anchor="t"/>
          <a:lstStyle/>
          <a:p>
            <a:pPr algn="ctr" indent="0" marL="0">
              <a:buNone/>
            </a:pPr>
            <a:r>
              <a:rPr lang="en-US" sz="1100" b="1" dirty="0">
                <a:solidFill>
                  <a:srgbClr val="2B2B2B"/>
                </a:solidFill>
                <a:latin typeface="Calibri" pitchFamily="34" charset="0"/>
                <a:ea typeface="Calibri" pitchFamily="34" charset="-122"/>
                <a:cs typeface="Calibri" pitchFamily="34" charset="-120"/>
              </a:rPr>
              <a:t>Finish &amp; despatch</a:t>
            </a:r>
            <a:endParaRPr lang="en-US" sz="1100" dirty="0"/>
          </a:p>
        </p:txBody>
      </p:sp>
      <p:sp>
        <p:nvSpPr>
          <p:cNvPr id="69" name="Text 59"/>
          <p:cNvSpPr txBox="1"/>
          <p:nvPr/>
        </p:nvSpPr>
        <p:spPr>
          <a:xfrm>
            <a:off x="9948672" y="2907792"/>
            <a:ext cx="178308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Slit, cut</a:t>
            </a:r>
            <a:endParaRPr lang="en-US" sz="900" dirty="0"/>
          </a:p>
        </p:txBody>
      </p:sp>
      <p:sp>
        <p:nvSpPr>
          <p:cNvPr id="70" name="Text 60"/>
          <p:cNvSpPr txBox="1"/>
          <p:nvPr/>
        </p:nvSpPr>
        <p:spPr>
          <a:xfrm>
            <a:off x="9948672" y="3108960"/>
            <a:ext cx="1783080" cy="329184"/>
          </a:xfrm>
          <a:prstGeom prst="rect">
            <a:avLst/>
          </a:prstGeom>
          <a:noFill/>
          <a:ln/>
        </p:spPr>
        <p:txBody>
          <a:bodyPr wrap="square" lIns="0" tIns="0" rIns="0" bIns="0" rtlCol="0" anchor="t"/>
          <a:lstStyle/>
          <a:p>
            <a:pPr algn="ctr" indent="0" marL="0">
              <a:buNone/>
            </a:pPr>
            <a:r>
              <a:rPr lang="en-US" sz="950" dirty="0">
                <a:solidFill>
                  <a:srgbClr val="1A1A1A"/>
                </a:solidFill>
                <a:latin typeface="Calibri" pitchFamily="34" charset="0"/>
                <a:ea typeface="Calibri" pitchFamily="34" charset="-122"/>
                <a:cs typeface="Calibri" pitchFamily="34" charset="-120"/>
              </a:rPr>
              <a:t>Found here, or by the customer</a:t>
            </a:r>
            <a:endParaRPr lang="en-US" sz="950" dirty="0"/>
          </a:p>
        </p:txBody>
      </p:sp>
      <p:sp>
        <p:nvSpPr>
          <p:cNvPr id="71" name="Shape 61"/>
          <p:cNvSpPr/>
          <p:nvPr/>
        </p:nvSpPr>
        <p:spPr>
          <a:xfrm>
            <a:off x="10383012" y="3502152"/>
            <a:ext cx="914400" cy="201168"/>
          </a:xfrm>
          <a:prstGeom prst="roundRect">
            <a:avLst>
              <a:gd name="adj" fmla="val 27273"/>
            </a:avLst>
          </a:prstGeom>
          <a:solidFill>
            <a:srgbClr val="C62828"/>
          </a:solidFill>
          <a:ln w="12700">
            <a:solidFill>
              <a:srgbClr val="C62828"/>
            </a:solidFill>
            <a:prstDash val="solid"/>
          </a:ln>
        </p:spPr>
      </p:sp>
      <p:sp>
        <p:nvSpPr>
          <p:cNvPr id="72" name="Text 62"/>
          <p:cNvSpPr txBox="1"/>
          <p:nvPr/>
        </p:nvSpPr>
        <p:spPr>
          <a:xfrm>
            <a:off x="10383012"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CLAIMS</a:t>
            </a:r>
            <a:endParaRPr lang="en-US" sz="900" dirty="0"/>
          </a:p>
        </p:txBody>
      </p:sp>
      <p:sp>
        <p:nvSpPr>
          <p:cNvPr id="73" name="Shape 63"/>
          <p:cNvSpPr/>
          <p:nvPr/>
        </p:nvSpPr>
        <p:spPr>
          <a:xfrm>
            <a:off x="457200" y="3931920"/>
            <a:ext cx="3611880" cy="274320"/>
          </a:xfrm>
          <a:prstGeom prst="rect">
            <a:avLst/>
          </a:prstGeom>
          <a:solidFill>
            <a:srgbClr val="E4803A"/>
          </a:solidFill>
          <a:ln w="12700">
            <a:solidFill>
              <a:srgbClr val="E4803A"/>
            </a:solidFill>
            <a:prstDash val="solid"/>
          </a:ln>
        </p:spPr>
      </p:sp>
      <p:sp>
        <p:nvSpPr>
          <p:cNvPr id="74" name="Text 64"/>
          <p:cNvSpPr txBox="1"/>
          <p:nvPr/>
        </p:nvSpPr>
        <p:spPr>
          <a:xfrm>
            <a:off x="548640" y="3931920"/>
            <a:ext cx="3429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it hurts more on stainless</a:t>
            </a:r>
            <a:endParaRPr lang="en-US" sz="1100" dirty="0"/>
          </a:p>
        </p:txBody>
      </p:sp>
      <p:pic>
        <p:nvPicPr>
          <p:cNvPr id="75" name="Image 8" descr="img/photos/mill.jpg">    </p:cNvPr>
          <p:cNvPicPr>
            <a:picLocks noChangeAspect="1"/>
          </p:cNvPicPr>
          <p:nvPr/>
        </p:nvPicPr>
        <p:blipFill>
          <a:blip r:embed="rId9"/>
          <a:srcRect l="0" r="0" t="0" b="0"/>
          <a:stretch/>
        </p:blipFill>
        <p:spPr>
          <a:xfrm>
            <a:off x="457200" y="4261104"/>
            <a:ext cx="1170432" cy="841248"/>
          </a:xfrm>
          <a:prstGeom prst="rect">
            <a:avLst/>
          </a:prstGeom>
        </p:spPr>
      </p:pic>
      <p:sp>
        <p:nvSpPr>
          <p:cNvPr id="76" name="Text 65"/>
          <p:cNvSpPr txBox="1"/>
          <p:nvPr/>
        </p:nvSpPr>
        <p:spPr>
          <a:xfrm>
            <a:off x="457200" y="5120640"/>
            <a:ext cx="1170432" cy="237744"/>
          </a:xfrm>
          <a:prstGeom prst="rect">
            <a:avLst/>
          </a:prstGeom>
          <a:noFill/>
          <a:ln/>
        </p:spPr>
        <p:txBody>
          <a:bodyPr wrap="square" lIns="0" tIns="0" rIns="0" bIns="0" rtlCol="0" anchor="t"/>
          <a:lstStyle/>
          <a:p>
            <a:pPr indent="0" marL="0">
              <a:buNone/>
            </a:pPr>
            <a:r>
              <a:rPr lang="en-US" sz="1200" b="1" dirty="0">
                <a:solidFill>
                  <a:srgbClr val="D2651F"/>
                </a:solidFill>
                <a:latin typeface="Calibri" pitchFamily="34" charset="0"/>
                <a:ea typeface="Calibri" pitchFamily="34" charset="-122"/>
                <a:cs typeface="Calibri" pitchFamily="34" charset="-120"/>
              </a:rPr>
              <a:t>300 m/min</a:t>
            </a:r>
            <a:endParaRPr lang="en-US" sz="1200" dirty="0"/>
          </a:p>
        </p:txBody>
      </p:sp>
      <p:sp>
        <p:nvSpPr>
          <p:cNvPr id="77" name="Text 66"/>
          <p:cNvSpPr txBox="1"/>
          <p:nvPr/>
        </p:nvSpPr>
        <p:spPr>
          <a:xfrm>
            <a:off x="457200" y="5358384"/>
            <a:ext cx="1170432" cy="512064"/>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too fast for the eye to see</a:t>
            </a:r>
            <a:endParaRPr lang="en-US" sz="900" dirty="0"/>
          </a:p>
        </p:txBody>
      </p:sp>
      <p:pic>
        <p:nvPicPr>
          <p:cNvPr id="78" name="Image 9" descr="img/cover_coil.jpg">    </p:cNvPr>
          <p:cNvPicPr>
            <a:picLocks noChangeAspect="1"/>
          </p:cNvPicPr>
          <p:nvPr/>
        </p:nvPicPr>
        <p:blipFill>
          <a:blip r:embed="rId10"/>
          <a:srcRect l="0" r="0" t="0" b="0"/>
          <a:stretch/>
        </p:blipFill>
        <p:spPr>
          <a:xfrm>
            <a:off x="1677924" y="4261104"/>
            <a:ext cx="1170432" cy="841248"/>
          </a:xfrm>
          <a:prstGeom prst="rect">
            <a:avLst/>
          </a:prstGeom>
        </p:spPr>
      </p:pic>
      <p:sp>
        <p:nvSpPr>
          <p:cNvPr id="79" name="Text 67"/>
          <p:cNvSpPr txBox="1"/>
          <p:nvPr/>
        </p:nvSpPr>
        <p:spPr>
          <a:xfrm>
            <a:off x="1677924" y="5120640"/>
            <a:ext cx="1170432" cy="237744"/>
          </a:xfrm>
          <a:prstGeom prst="rect">
            <a:avLst/>
          </a:prstGeom>
          <a:noFill/>
          <a:ln/>
        </p:spPr>
        <p:txBody>
          <a:bodyPr wrap="square" lIns="0" tIns="0" rIns="0" bIns="0" rtlCol="0" anchor="t"/>
          <a:lstStyle/>
          <a:p>
            <a:pPr indent="0" marL="0">
              <a:buNone/>
            </a:pPr>
            <a:r>
              <a:rPr lang="en-US" sz="1100" b="1" dirty="0">
                <a:solidFill>
                  <a:srgbClr val="D2651F"/>
                </a:solidFill>
                <a:latin typeface="Calibri" pitchFamily="34" charset="0"/>
                <a:ea typeface="Calibri" pitchFamily="34" charset="-122"/>
                <a:cs typeface="Calibri" pitchFamily="34" charset="-120"/>
              </a:rPr>
              <a:t>₹126k-165k</a:t>
            </a:r>
            <a:endParaRPr lang="en-US" sz="1100" dirty="0"/>
          </a:p>
        </p:txBody>
      </p:sp>
      <p:sp>
        <p:nvSpPr>
          <p:cNvPr id="80" name="Text 68"/>
          <p:cNvSpPr txBox="1"/>
          <p:nvPr/>
        </p:nvSpPr>
        <p:spPr>
          <a:xfrm>
            <a:off x="1677924" y="5358384"/>
            <a:ext cx="1170432" cy="512064"/>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of nickel in a tonne of 304</a:t>
            </a:r>
            <a:endParaRPr lang="en-US" sz="900" dirty="0"/>
          </a:p>
        </p:txBody>
      </p:sp>
      <p:pic>
        <p:nvPicPr>
          <p:cNvPr id="81" name="Image 10" descr="img/photos/lift.jpg">    </p:cNvPr>
          <p:cNvPicPr>
            <a:picLocks noChangeAspect="1"/>
          </p:cNvPicPr>
          <p:nvPr/>
        </p:nvPicPr>
        <p:blipFill>
          <a:blip r:embed="rId11"/>
          <a:srcRect l="0" r="0" t="0" b="0"/>
          <a:stretch/>
        </p:blipFill>
        <p:spPr>
          <a:xfrm>
            <a:off x="2898648" y="4261104"/>
            <a:ext cx="1170432" cy="841248"/>
          </a:xfrm>
          <a:prstGeom prst="rect">
            <a:avLst/>
          </a:prstGeom>
        </p:spPr>
      </p:pic>
      <p:sp>
        <p:nvSpPr>
          <p:cNvPr id="82" name="Text 69"/>
          <p:cNvSpPr txBox="1"/>
          <p:nvPr/>
        </p:nvSpPr>
        <p:spPr>
          <a:xfrm>
            <a:off x="2898648" y="5120640"/>
            <a:ext cx="1170432" cy="237744"/>
          </a:xfrm>
          <a:prstGeom prst="rect">
            <a:avLst/>
          </a:prstGeom>
          <a:noFill/>
          <a:ln/>
        </p:spPr>
        <p:txBody>
          <a:bodyPr wrap="square" lIns="0" tIns="0" rIns="0" bIns="0" rtlCol="0" anchor="t"/>
          <a:lstStyle/>
          <a:p>
            <a:pPr indent="0" marL="0">
              <a:buNone/>
            </a:pPr>
            <a:r>
              <a:rPr lang="en-US" sz="1200" b="1" dirty="0">
                <a:solidFill>
                  <a:srgbClr val="D2651F"/>
                </a:solidFill>
                <a:latin typeface="Calibri" pitchFamily="34" charset="0"/>
                <a:ea typeface="Calibri" pitchFamily="34" charset="-122"/>
                <a:cs typeface="Calibri" pitchFamily="34" charset="-120"/>
              </a:rPr>
              <a:t>No repair</a:t>
            </a:r>
            <a:endParaRPr lang="en-US" sz="1200" dirty="0"/>
          </a:p>
        </p:txBody>
      </p:sp>
      <p:sp>
        <p:nvSpPr>
          <p:cNvPr id="83" name="Text 70"/>
          <p:cNvSpPr txBox="1"/>
          <p:nvPr/>
        </p:nvSpPr>
        <p:spPr>
          <a:xfrm>
            <a:off x="2898648" y="5358384"/>
            <a:ext cx="1170432" cy="512064"/>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2B/BA damage can't be polished out</a:t>
            </a:r>
            <a:endParaRPr lang="en-US" sz="900" dirty="0"/>
          </a:p>
        </p:txBody>
      </p:sp>
      <p:sp>
        <p:nvSpPr>
          <p:cNvPr id="84" name="Shape 71"/>
          <p:cNvSpPr/>
          <p:nvPr/>
        </p:nvSpPr>
        <p:spPr>
          <a:xfrm>
            <a:off x="4206240" y="3931920"/>
            <a:ext cx="3886200" cy="274320"/>
          </a:xfrm>
          <a:prstGeom prst="rect">
            <a:avLst/>
          </a:prstGeom>
          <a:solidFill>
            <a:srgbClr val="E4803A"/>
          </a:solidFill>
          <a:ln w="12700">
            <a:solidFill>
              <a:srgbClr val="E4803A"/>
            </a:solidFill>
            <a:prstDash val="solid"/>
          </a:ln>
        </p:spPr>
      </p:sp>
      <p:sp>
        <p:nvSpPr>
          <p:cNvPr id="85" name="Text 72"/>
          <p:cNvSpPr txBox="1"/>
          <p:nvPr/>
        </p:nvSpPr>
        <p:spPr>
          <a:xfrm>
            <a:off x="4297680" y="3931920"/>
            <a:ext cx="3703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now</a:t>
            </a:r>
            <a:endParaRPr lang="en-US" sz="1100" dirty="0"/>
          </a:p>
        </p:txBody>
      </p:sp>
      <p:sp>
        <p:nvSpPr>
          <p:cNvPr id="86" name="Text 73"/>
          <p:cNvSpPr txBox="1"/>
          <p:nvPr/>
        </p:nvSpPr>
        <p:spPr>
          <a:xfrm>
            <a:off x="4251960" y="4242816"/>
            <a:ext cx="1920240" cy="201168"/>
          </a:xfrm>
          <a:prstGeom prst="rect">
            <a:avLst/>
          </a:prstGeom>
          <a:noFill/>
          <a:ln/>
        </p:spPr>
        <p:txBody>
          <a:bodyPr wrap="square" lIns="0" tIns="0" rIns="0" bIns="0" rtlCol="0" anchor="t"/>
          <a:lstStyle/>
          <a:p>
            <a:pPr indent="0" marL="0">
              <a:buNone/>
            </a:pPr>
            <a:r>
              <a:rPr lang="en-US" sz="900" b="1" dirty="0">
                <a:solidFill>
                  <a:srgbClr val="2B2B2B"/>
                </a:solidFill>
                <a:latin typeface="Calibri" pitchFamily="34" charset="0"/>
                <a:ea typeface="Calibri" pitchFamily="34" charset="-122"/>
                <a:cs typeface="Calibri" pitchFamily="34" charset="-120"/>
              </a:rPr>
              <a:t>India demand, Mt</a:t>
            </a:r>
            <a:pPr indent="0" marL="0">
              <a:buNone/>
            </a:pPr>
            <a:r>
              <a:rPr lang="en-US" sz="900" b="1" dirty="0">
                <a:solidFill>
                  <a:srgbClr val="D2651F"/>
                </a:solidFill>
                <a:latin typeface="Calibri" pitchFamily="34" charset="0"/>
                <a:ea typeface="Calibri" pitchFamily="34" charset="-122"/>
                <a:cs typeface="Calibri" pitchFamily="34" charset="-120"/>
              </a:rPr>
              <a:t>  +84% in 5 yrs</a:t>
            </a:r>
            <a:endParaRPr lang="en-US" sz="900" dirty="0"/>
          </a:p>
        </p:txBody>
      </p:sp>
      <p:graphicFrame>
        <p:nvGraphicFramePr>
          <p:cNvPr id="87" name="Chart 0" descr=""/>
          <p:cNvGraphicFramePr/>
          <p:nvPr/>
        </p:nvGraphicFramePr>
        <p:xfrm>
          <a:off x="4206240" y="4425696"/>
          <a:ext cx="1965960" cy="1463040"/>
        </p:xfrm>
        <a:graphic xmlns:a="http://schemas.openxmlformats.org/drawingml/2006/main">
          <a:graphicData uri="http://schemas.openxmlformats.org/drawingml/2006/chart">
            <c:chart xmlns:c="http://schemas.openxmlformats.org/drawingml/2006/chart" r:id="rId12"/>
          </a:graphicData>
        </a:graphic>
      </p:graphicFrame>
      <p:pic>
        <p:nvPicPr>
          <p:cNvPr id="88" name="Image 11" descr="img/icons/ship-accent.png">    </p:cNvPr>
          <p:cNvPicPr>
            <a:picLocks noChangeAspect="1"/>
          </p:cNvPicPr>
          <p:nvPr/>
        </p:nvPicPr>
        <p:blipFill>
          <a:blip r:embed="rId13"/>
          <a:stretch>
            <a:fillRect/>
          </a:stretch>
        </p:blipFill>
        <p:spPr>
          <a:xfrm>
            <a:off x="6217920" y="4279392"/>
            <a:ext cx="237744" cy="237744"/>
          </a:xfrm>
          <a:prstGeom prst="rect">
            <a:avLst/>
          </a:prstGeom>
        </p:spPr>
      </p:pic>
      <p:sp>
        <p:nvSpPr>
          <p:cNvPr id="89" name="Text 74"/>
          <p:cNvSpPr txBox="1"/>
          <p:nvPr/>
        </p:nvSpPr>
        <p:spPr>
          <a:xfrm>
            <a:off x="6510528" y="4261104"/>
            <a:ext cx="1572768" cy="219456"/>
          </a:xfrm>
          <a:prstGeom prst="rect">
            <a:avLst/>
          </a:prstGeom>
          <a:noFill/>
          <a:ln/>
        </p:spPr>
        <p:txBody>
          <a:bodyPr wrap="square" lIns="0" tIns="0" rIns="0" bIns="0" rtlCol="0" anchor="t"/>
          <a:lstStyle/>
          <a:p>
            <a:pPr indent="0" marL="0">
              <a:buNone/>
            </a:pPr>
            <a:r>
              <a:rPr lang="en-US" sz="1000" b="1" dirty="0">
                <a:solidFill>
                  <a:srgbClr val="2B2B2B"/>
                </a:solidFill>
                <a:latin typeface="Calibri" pitchFamily="34" charset="0"/>
                <a:ea typeface="Calibri" pitchFamily="34" charset="-122"/>
                <a:cs typeface="Calibri" pitchFamily="34" charset="-120"/>
              </a:rPr>
              <a:t>1.73 Mt imports</a:t>
            </a:r>
            <a:endParaRPr lang="en-US" sz="1000" dirty="0"/>
          </a:p>
        </p:txBody>
      </p:sp>
      <p:sp>
        <p:nvSpPr>
          <p:cNvPr id="90" name="Text 75"/>
          <p:cNvSpPr txBox="1"/>
          <p:nvPr/>
        </p:nvSpPr>
        <p:spPr>
          <a:xfrm>
            <a:off x="6510528" y="4471416"/>
            <a:ext cx="1572768" cy="310896"/>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FY25; anti-dumping probe on cold-rolled 300/400, Sep 2025</a:t>
            </a:r>
            <a:endParaRPr lang="en-US" sz="900" dirty="0"/>
          </a:p>
        </p:txBody>
      </p:sp>
      <p:pic>
        <p:nvPicPr>
          <p:cNvPr id="91" name="Image 12" descr="img/icons/badge-check-accent.png">    </p:cNvPr>
          <p:cNvPicPr>
            <a:picLocks noChangeAspect="1"/>
          </p:cNvPicPr>
          <p:nvPr/>
        </p:nvPicPr>
        <p:blipFill>
          <a:blip r:embed="rId14"/>
          <a:stretch>
            <a:fillRect/>
          </a:stretch>
        </p:blipFill>
        <p:spPr>
          <a:xfrm>
            <a:off x="6217920" y="4818888"/>
            <a:ext cx="237744" cy="237744"/>
          </a:xfrm>
          <a:prstGeom prst="rect">
            <a:avLst/>
          </a:prstGeom>
        </p:spPr>
      </p:pic>
      <p:sp>
        <p:nvSpPr>
          <p:cNvPr id="92" name="Text 76"/>
          <p:cNvSpPr txBox="1"/>
          <p:nvPr/>
        </p:nvSpPr>
        <p:spPr>
          <a:xfrm>
            <a:off x="6510528" y="4800600"/>
            <a:ext cx="1572768" cy="219456"/>
          </a:xfrm>
          <a:prstGeom prst="rect">
            <a:avLst/>
          </a:prstGeom>
          <a:noFill/>
          <a:ln/>
        </p:spPr>
        <p:txBody>
          <a:bodyPr wrap="square" lIns="0" tIns="0" rIns="0" bIns="0" rtlCol="0" anchor="t"/>
          <a:lstStyle/>
          <a:p>
            <a:pPr indent="0" marL="0">
              <a:buNone/>
            </a:pPr>
            <a:r>
              <a:rPr lang="en-US" sz="1000" b="1" dirty="0">
                <a:solidFill>
                  <a:srgbClr val="2B2B2B"/>
                </a:solidFill>
                <a:latin typeface="Calibri" pitchFamily="34" charset="0"/>
                <a:ea typeface="Calibri" pitchFamily="34" charset="-122"/>
                <a:cs typeface="Calibri" pitchFamily="34" charset="-120"/>
              </a:rPr>
              <a:t>IS 6911 mandatory</a:t>
            </a:r>
            <a:endParaRPr lang="en-US" sz="1000" dirty="0"/>
          </a:p>
        </p:txBody>
      </p:sp>
      <p:sp>
        <p:nvSpPr>
          <p:cNvPr id="93" name="Text 77"/>
          <p:cNvSpPr txBox="1"/>
          <p:nvPr/>
        </p:nvSpPr>
        <p:spPr>
          <a:xfrm>
            <a:off x="6510528" y="5010912"/>
            <a:ext cx="1572768" cy="310896"/>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BIS certification for sheet and strip, since Aug 2024</a:t>
            </a:r>
            <a:endParaRPr lang="en-US" sz="900" dirty="0"/>
          </a:p>
        </p:txBody>
      </p:sp>
      <p:pic>
        <p:nvPicPr>
          <p:cNvPr id="94" name="Image 13" descr="img/icons/factory-accent.png">    </p:cNvPr>
          <p:cNvPicPr>
            <a:picLocks noChangeAspect="1"/>
          </p:cNvPicPr>
          <p:nvPr/>
        </p:nvPicPr>
        <p:blipFill>
          <a:blip r:embed="rId15"/>
          <a:stretch>
            <a:fillRect/>
          </a:stretch>
        </p:blipFill>
        <p:spPr>
          <a:xfrm>
            <a:off x="6217920" y="5358384"/>
            <a:ext cx="237744" cy="237744"/>
          </a:xfrm>
          <a:prstGeom prst="rect">
            <a:avLst/>
          </a:prstGeom>
        </p:spPr>
      </p:pic>
      <p:sp>
        <p:nvSpPr>
          <p:cNvPr id="95" name="Text 78"/>
          <p:cNvSpPr txBox="1"/>
          <p:nvPr/>
        </p:nvSpPr>
        <p:spPr>
          <a:xfrm>
            <a:off x="6510528" y="5340096"/>
            <a:ext cx="1572768" cy="219456"/>
          </a:xfrm>
          <a:prstGeom prst="rect">
            <a:avLst/>
          </a:prstGeom>
          <a:noFill/>
          <a:ln/>
        </p:spPr>
        <p:txBody>
          <a:bodyPr wrap="square" lIns="0" tIns="0" rIns="0" bIns="0" rtlCol="0" anchor="t"/>
          <a:lstStyle/>
          <a:p>
            <a:pPr indent="0" marL="0">
              <a:buNone/>
            </a:pPr>
            <a:r>
              <a:rPr lang="en-US" sz="1000" b="1" dirty="0">
                <a:solidFill>
                  <a:srgbClr val="2B2B2B"/>
                </a:solidFill>
                <a:latin typeface="Calibri" pitchFamily="34" charset="0"/>
                <a:ea typeface="Calibri" pitchFamily="34" charset="-122"/>
                <a:cs typeface="Calibri" pitchFamily="34" charset="-120"/>
              </a:rPr>
              <a:t>2.67 MTPA</a:t>
            </a:r>
            <a:endParaRPr lang="en-US" sz="1000" dirty="0"/>
          </a:p>
        </p:txBody>
      </p:sp>
      <p:sp>
        <p:nvSpPr>
          <p:cNvPr id="96" name="Text 79"/>
          <p:cNvSpPr txBox="1"/>
          <p:nvPr/>
        </p:nvSpPr>
        <p:spPr>
          <a:xfrm>
            <a:off x="6510528" y="5550408"/>
            <a:ext cx="1572768" cy="310896"/>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JSL cold rolling by FY28, up from 2.05</a:t>
            </a:r>
            <a:endParaRPr lang="en-US" sz="900" dirty="0"/>
          </a:p>
        </p:txBody>
      </p:sp>
      <p:sp>
        <p:nvSpPr>
          <p:cNvPr id="97" name="Shape 80"/>
          <p:cNvSpPr/>
          <p:nvPr/>
        </p:nvSpPr>
        <p:spPr>
          <a:xfrm>
            <a:off x="8229600" y="3931920"/>
            <a:ext cx="3502152" cy="274320"/>
          </a:xfrm>
          <a:prstGeom prst="rect">
            <a:avLst/>
          </a:prstGeom>
          <a:solidFill>
            <a:srgbClr val="E4803A"/>
          </a:solidFill>
          <a:ln w="12700">
            <a:solidFill>
              <a:srgbClr val="E4803A"/>
            </a:solidFill>
            <a:prstDash val="solid"/>
          </a:ln>
        </p:spPr>
      </p:sp>
      <p:sp>
        <p:nvSpPr>
          <p:cNvPr id="98" name="Text 81"/>
          <p:cNvSpPr txBox="1"/>
          <p:nvPr/>
        </p:nvSpPr>
        <p:spPr>
          <a:xfrm>
            <a:off x="8321040" y="3931920"/>
            <a:ext cx="33192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Cost of quality: where AI moves the money</a:t>
            </a:r>
            <a:endParaRPr lang="en-US" sz="1100" dirty="0"/>
          </a:p>
        </p:txBody>
      </p:sp>
      <p:sp>
        <p:nvSpPr>
          <p:cNvPr id="99" name="Text 82"/>
          <p:cNvSpPr/>
          <p:nvPr/>
        </p:nvSpPr>
        <p:spPr>
          <a:xfrm>
            <a:off x="8275320" y="4261104"/>
            <a:ext cx="3410712" cy="274320"/>
          </a:xfrm>
          <a:prstGeom prst="leftArrow">
            <a:avLst/>
          </a:prstGeom>
          <a:solidFill>
            <a:srgbClr val="D2651F"/>
          </a:solidFill>
          <a:ln>
            <a:solidFill>
              <a:srgbClr val="D2651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spend moves from failure to prevention</a:t>
            </a:r>
            <a:endParaRPr lang="en-US" sz="900" dirty="0"/>
          </a:p>
        </p:txBody>
      </p:sp>
      <p:sp>
        <p:nvSpPr>
          <p:cNvPr id="100" name="Shape 83"/>
          <p:cNvSpPr/>
          <p:nvPr/>
        </p:nvSpPr>
        <p:spPr>
          <a:xfrm>
            <a:off x="8275320" y="4599432"/>
            <a:ext cx="1682496" cy="502920"/>
          </a:xfrm>
          <a:prstGeom prst="roundRect">
            <a:avLst>
              <a:gd name="adj" fmla="val 10909"/>
            </a:avLst>
          </a:prstGeom>
          <a:solidFill>
            <a:srgbClr val="FDEFE4"/>
          </a:solidFill>
          <a:ln w="12700">
            <a:solidFill>
              <a:srgbClr val="FDEFE4"/>
            </a:solidFill>
            <a:prstDash val="solid"/>
          </a:ln>
        </p:spPr>
      </p:sp>
      <p:sp>
        <p:nvSpPr>
          <p:cNvPr id="101" name="Text 84"/>
          <p:cNvSpPr txBox="1"/>
          <p:nvPr/>
        </p:nvSpPr>
        <p:spPr>
          <a:xfrm>
            <a:off x="8339328" y="4626864"/>
            <a:ext cx="1572768" cy="201168"/>
          </a:xfrm>
          <a:prstGeom prst="rect">
            <a:avLst/>
          </a:prstGeom>
          <a:noFill/>
          <a:ln/>
        </p:spPr>
        <p:txBody>
          <a:bodyPr wrap="square" lIns="0" tIns="0" rIns="0" bIns="0" rtlCol="0" anchor="t"/>
          <a:lstStyle/>
          <a:p>
            <a:pPr indent="0" marL="0">
              <a:buNone/>
            </a:pPr>
            <a:r>
              <a:rPr lang="en-US" sz="950" b="1" dirty="0">
                <a:solidFill>
                  <a:srgbClr val="2B2B2B"/>
                </a:solidFill>
                <a:latin typeface="Calibri" pitchFamily="34" charset="0"/>
                <a:ea typeface="Calibri" pitchFamily="34" charset="-122"/>
                <a:cs typeface="Calibri" pitchFamily="34" charset="-120"/>
              </a:rPr>
              <a:t>Prevention</a:t>
            </a:r>
            <a:endParaRPr lang="en-US" sz="950" dirty="0"/>
          </a:p>
        </p:txBody>
      </p:sp>
      <p:sp>
        <p:nvSpPr>
          <p:cNvPr id="102" name="Text 85"/>
          <p:cNvSpPr txBox="1"/>
          <p:nvPr/>
        </p:nvSpPr>
        <p:spPr>
          <a:xfrm>
            <a:off x="8339328" y="4828032"/>
            <a:ext cx="1591056" cy="256032"/>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defect sent to its owner in minutes</a:t>
            </a:r>
            <a:endParaRPr lang="en-US" sz="900" dirty="0"/>
          </a:p>
        </p:txBody>
      </p:sp>
      <p:sp>
        <p:nvSpPr>
          <p:cNvPr id="103" name="Shape 86"/>
          <p:cNvSpPr/>
          <p:nvPr/>
        </p:nvSpPr>
        <p:spPr>
          <a:xfrm>
            <a:off x="10003536" y="4599432"/>
            <a:ext cx="1682496" cy="502920"/>
          </a:xfrm>
          <a:prstGeom prst="roundRect">
            <a:avLst>
              <a:gd name="adj" fmla="val 10909"/>
            </a:avLst>
          </a:prstGeom>
          <a:solidFill>
            <a:srgbClr val="F3F3F3"/>
          </a:solidFill>
          <a:ln w="12700">
            <a:solidFill>
              <a:srgbClr val="F3F3F3"/>
            </a:solidFill>
            <a:prstDash val="solid"/>
          </a:ln>
        </p:spPr>
      </p:sp>
      <p:sp>
        <p:nvSpPr>
          <p:cNvPr id="104" name="Text 87"/>
          <p:cNvSpPr txBox="1"/>
          <p:nvPr/>
        </p:nvSpPr>
        <p:spPr>
          <a:xfrm>
            <a:off x="10067544" y="4626864"/>
            <a:ext cx="1572768" cy="201168"/>
          </a:xfrm>
          <a:prstGeom prst="rect">
            <a:avLst/>
          </a:prstGeom>
          <a:noFill/>
          <a:ln/>
        </p:spPr>
        <p:txBody>
          <a:bodyPr wrap="square" lIns="0" tIns="0" rIns="0" bIns="0" rtlCol="0" anchor="t"/>
          <a:lstStyle/>
          <a:p>
            <a:pPr indent="0" marL="0">
              <a:buNone/>
            </a:pPr>
            <a:r>
              <a:rPr lang="en-US" sz="950" b="1" dirty="0">
                <a:solidFill>
                  <a:srgbClr val="2B2B2B"/>
                </a:solidFill>
                <a:latin typeface="Calibri" pitchFamily="34" charset="0"/>
                <a:ea typeface="Calibri" pitchFamily="34" charset="-122"/>
                <a:cs typeface="Calibri" pitchFamily="34" charset="-120"/>
              </a:rPr>
              <a:t>Internal failure</a:t>
            </a:r>
            <a:endParaRPr lang="en-US" sz="950" dirty="0"/>
          </a:p>
        </p:txBody>
      </p:sp>
      <p:sp>
        <p:nvSpPr>
          <p:cNvPr id="105" name="Text 88"/>
          <p:cNvSpPr txBox="1"/>
          <p:nvPr/>
        </p:nvSpPr>
        <p:spPr>
          <a:xfrm>
            <a:off x="10067544" y="4828032"/>
            <a:ext cx="1591056" cy="256032"/>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caught before more value is added</a:t>
            </a:r>
            <a:endParaRPr lang="en-US" sz="900" dirty="0"/>
          </a:p>
        </p:txBody>
      </p:sp>
      <p:sp>
        <p:nvSpPr>
          <p:cNvPr id="106" name="Shape 89"/>
          <p:cNvSpPr/>
          <p:nvPr/>
        </p:nvSpPr>
        <p:spPr>
          <a:xfrm>
            <a:off x="8275320" y="5148072"/>
            <a:ext cx="1682496" cy="502920"/>
          </a:xfrm>
          <a:prstGeom prst="roundRect">
            <a:avLst>
              <a:gd name="adj" fmla="val 10909"/>
            </a:avLst>
          </a:prstGeom>
          <a:solidFill>
            <a:srgbClr val="FDEFE4"/>
          </a:solidFill>
          <a:ln w="12700">
            <a:solidFill>
              <a:srgbClr val="FDEFE4"/>
            </a:solidFill>
            <a:prstDash val="solid"/>
          </a:ln>
        </p:spPr>
      </p:sp>
      <p:sp>
        <p:nvSpPr>
          <p:cNvPr id="107" name="Text 90"/>
          <p:cNvSpPr txBox="1"/>
          <p:nvPr/>
        </p:nvSpPr>
        <p:spPr>
          <a:xfrm>
            <a:off x="8339328" y="5175504"/>
            <a:ext cx="1572768" cy="201168"/>
          </a:xfrm>
          <a:prstGeom prst="rect">
            <a:avLst/>
          </a:prstGeom>
          <a:noFill/>
          <a:ln/>
        </p:spPr>
        <p:txBody>
          <a:bodyPr wrap="square" lIns="0" tIns="0" rIns="0" bIns="0" rtlCol="0" anchor="t"/>
          <a:lstStyle/>
          <a:p>
            <a:pPr indent="0" marL="0">
              <a:buNone/>
            </a:pPr>
            <a:r>
              <a:rPr lang="en-US" sz="950" b="1" dirty="0">
                <a:solidFill>
                  <a:srgbClr val="2B2B2B"/>
                </a:solidFill>
                <a:latin typeface="Calibri" pitchFamily="34" charset="0"/>
                <a:ea typeface="Calibri" pitchFamily="34" charset="-122"/>
                <a:cs typeface="Calibri" pitchFamily="34" charset="-120"/>
              </a:rPr>
              <a:t>Appraisal</a:t>
            </a:r>
            <a:endParaRPr lang="en-US" sz="950" dirty="0"/>
          </a:p>
        </p:txBody>
      </p:sp>
      <p:sp>
        <p:nvSpPr>
          <p:cNvPr id="108" name="Text 91"/>
          <p:cNvSpPr txBox="1"/>
          <p:nvPr/>
        </p:nvSpPr>
        <p:spPr>
          <a:xfrm>
            <a:off x="8339328" y="5376672"/>
            <a:ext cx="1591056" cy="256032"/>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100% of the surface, every coil</a:t>
            </a:r>
            <a:endParaRPr lang="en-US" sz="900" dirty="0"/>
          </a:p>
        </p:txBody>
      </p:sp>
      <p:sp>
        <p:nvSpPr>
          <p:cNvPr id="109" name="Shape 92"/>
          <p:cNvSpPr/>
          <p:nvPr/>
        </p:nvSpPr>
        <p:spPr>
          <a:xfrm>
            <a:off x="10003536" y="5148072"/>
            <a:ext cx="1682496" cy="502920"/>
          </a:xfrm>
          <a:prstGeom prst="roundRect">
            <a:avLst>
              <a:gd name="adj" fmla="val 10909"/>
            </a:avLst>
          </a:prstGeom>
          <a:solidFill>
            <a:srgbClr val="F3F3F3"/>
          </a:solidFill>
          <a:ln w="12700">
            <a:solidFill>
              <a:srgbClr val="F3F3F3"/>
            </a:solidFill>
            <a:prstDash val="solid"/>
          </a:ln>
        </p:spPr>
      </p:sp>
      <p:sp>
        <p:nvSpPr>
          <p:cNvPr id="110" name="Text 93"/>
          <p:cNvSpPr txBox="1"/>
          <p:nvPr/>
        </p:nvSpPr>
        <p:spPr>
          <a:xfrm>
            <a:off x="10067544" y="5175504"/>
            <a:ext cx="1572768" cy="201168"/>
          </a:xfrm>
          <a:prstGeom prst="rect">
            <a:avLst/>
          </a:prstGeom>
          <a:noFill/>
          <a:ln/>
        </p:spPr>
        <p:txBody>
          <a:bodyPr wrap="square" lIns="0" tIns="0" rIns="0" bIns="0" rtlCol="0" anchor="t"/>
          <a:lstStyle/>
          <a:p>
            <a:pPr indent="0" marL="0">
              <a:buNone/>
            </a:pPr>
            <a:r>
              <a:rPr lang="en-US" sz="950" b="1" dirty="0">
                <a:solidFill>
                  <a:srgbClr val="2B2B2B"/>
                </a:solidFill>
                <a:latin typeface="Calibri" pitchFamily="34" charset="0"/>
                <a:ea typeface="Calibri" pitchFamily="34" charset="-122"/>
                <a:cs typeface="Calibri" pitchFamily="34" charset="-120"/>
              </a:rPr>
              <a:t>External failure</a:t>
            </a:r>
            <a:endParaRPr lang="en-US" sz="950" dirty="0"/>
          </a:p>
        </p:txBody>
      </p:sp>
      <p:sp>
        <p:nvSpPr>
          <p:cNvPr id="111" name="Text 94"/>
          <p:cNvSpPr txBox="1"/>
          <p:nvPr/>
        </p:nvSpPr>
        <p:spPr>
          <a:xfrm>
            <a:off x="10067544" y="5376672"/>
            <a:ext cx="1591056" cy="256032"/>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fewer escapes to customers</a:t>
            </a:r>
            <a:endParaRPr lang="en-US" sz="900" dirty="0"/>
          </a:p>
        </p:txBody>
      </p:sp>
      <p:sp>
        <p:nvSpPr>
          <p:cNvPr id="112" name="Text 95"/>
          <p:cNvSpPr txBox="1"/>
          <p:nvPr/>
        </p:nvSpPr>
        <p:spPr>
          <a:xfrm>
            <a:off x="8275320" y="5696712"/>
            <a:ext cx="3456432" cy="201168"/>
          </a:xfrm>
          <a:prstGeom prst="rect">
            <a:avLst/>
          </a:prstGeom>
          <a:noFill/>
          <a:ln/>
        </p:spPr>
        <p:txBody>
          <a:bodyPr wrap="square" lIns="0" tIns="0" rIns="0" bIns="0" rtlCol="0" anchor="t"/>
          <a:lstStyle/>
          <a:p>
            <a:pPr indent="0" marL="0">
              <a:buNone/>
            </a:pPr>
            <a:r>
              <a:rPr lang="en-US" sz="900" i="1" dirty="0">
                <a:solidFill>
                  <a:srgbClr val="404040"/>
                </a:solidFill>
                <a:latin typeface="Calibri" pitchFamily="34" charset="0"/>
                <a:ea typeface="Calibri" pitchFamily="34" charset="-122"/>
                <a:cs typeface="Calibri" pitchFamily="34" charset="-120"/>
              </a:rPr>
              <a:t>Poor quality costs ~15% of sales in manufacturing (IISE).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E4803A"/>
          </a:solidFill>
          <a:ln w="12700">
            <a:solidFill>
              <a:srgbClr val="E4803A"/>
            </a:solidFill>
            <a:prstDash val="solid"/>
          </a:ln>
        </p:spPr>
      </p:sp>
      <p:pic>
        <p:nvPicPr>
          <p:cNvPr id="3" name="Image 0" descr="img/logo_jsl.jpg">    </p:cNvPr>
          <p:cNvPicPr>
            <a:picLocks noChangeAspect="1"/>
          </p:cNvPicPr>
          <p:nvPr/>
        </p:nvPicPr>
        <p:blipFill>
          <a:blip r:embed="rId1"/>
          <a:stretch>
            <a:fillRect/>
          </a:stretch>
        </p:blipFill>
        <p:spPr>
          <a:xfrm>
            <a:off x="91440" y="73152"/>
            <a:ext cx="2176272" cy="640080"/>
          </a:xfrm>
          <a:prstGeom prst="rect">
            <a:avLst/>
          </a:prstGeom>
        </p:spPr>
      </p:pic>
      <p:pic>
        <p:nvPicPr>
          <p:cNvPr id="4" name="Image 1" descr="img/logo_spark.png">    </p:cNvPr>
          <p:cNvPicPr>
            <a:picLocks noChangeAspect="1"/>
          </p:cNvPicPr>
          <p:nvPr/>
        </p:nvPicPr>
        <p:blipFill>
          <a:blip r:embed="rId2"/>
          <a:stretch>
            <a:fillRect/>
          </a:stretch>
        </p:blipFill>
        <p:spPr>
          <a:xfrm>
            <a:off x="2340864" y="73152"/>
            <a:ext cx="1243584" cy="640080"/>
          </a:xfrm>
          <a:prstGeom prst="rect">
            <a:avLst/>
          </a:prstGeom>
        </p:spPr>
      </p:pic>
      <p:sp>
        <p:nvSpPr>
          <p:cNvPr id="5" name="Shape 1"/>
          <p:cNvSpPr/>
          <p:nvPr/>
        </p:nvSpPr>
        <p:spPr>
          <a:xfrm>
            <a:off x="3785616" y="182880"/>
            <a:ext cx="1307592" cy="420624"/>
          </a:xfrm>
          <a:prstGeom prst="rect">
            <a:avLst/>
          </a:prstGeom>
          <a:solidFill>
            <a:srgbClr val="F2F2F2"/>
          </a:solidFill>
          <a:ln w="12700">
            <a:solidFill>
              <a:srgbClr val="F2F2F2"/>
            </a:solidFill>
            <a:prstDash val="solid"/>
          </a:ln>
        </p:spPr>
      </p:sp>
      <p:sp>
        <p:nvSpPr>
          <p:cNvPr id="6" name="Text 2"/>
          <p:cNvSpPr txBox="1"/>
          <p:nvPr/>
        </p:nvSpPr>
        <p:spPr>
          <a:xfrm>
            <a:off x="3785616"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1  Problem</a:t>
            </a:r>
            <a:endParaRPr lang="en-US" sz="1050" dirty="0"/>
          </a:p>
        </p:txBody>
      </p:sp>
      <p:sp>
        <p:nvSpPr>
          <p:cNvPr id="7" name="Shape 3"/>
          <p:cNvSpPr/>
          <p:nvPr/>
        </p:nvSpPr>
        <p:spPr>
          <a:xfrm>
            <a:off x="5148072" y="182880"/>
            <a:ext cx="1307592" cy="420624"/>
          </a:xfrm>
          <a:prstGeom prst="rect">
            <a:avLst/>
          </a:prstGeom>
          <a:solidFill>
            <a:srgbClr val="B63831"/>
          </a:solidFill>
          <a:ln w="12700">
            <a:solidFill>
              <a:srgbClr val="B63831"/>
            </a:solidFill>
            <a:prstDash val="solid"/>
          </a:ln>
        </p:spPr>
      </p:sp>
      <p:sp>
        <p:nvSpPr>
          <p:cNvPr id="8" name="Text 4"/>
          <p:cNvSpPr txBox="1"/>
          <p:nvPr/>
        </p:nvSpPr>
        <p:spPr>
          <a:xfrm>
            <a:off x="5148072" y="182880"/>
            <a:ext cx="1307592"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  Insights</a:t>
            </a:r>
            <a:endParaRPr lang="en-US" sz="1050" dirty="0"/>
          </a:p>
        </p:txBody>
      </p:sp>
      <p:sp>
        <p:nvSpPr>
          <p:cNvPr id="9" name="Shape 5"/>
          <p:cNvSpPr/>
          <p:nvPr/>
        </p:nvSpPr>
        <p:spPr>
          <a:xfrm>
            <a:off x="6510528" y="182880"/>
            <a:ext cx="1307592" cy="420624"/>
          </a:xfrm>
          <a:prstGeom prst="rect">
            <a:avLst/>
          </a:prstGeom>
          <a:solidFill>
            <a:srgbClr val="F2F2F2"/>
          </a:solidFill>
          <a:ln w="12700">
            <a:solidFill>
              <a:srgbClr val="F2F2F2"/>
            </a:solidFill>
            <a:prstDash val="solid"/>
          </a:ln>
        </p:spPr>
      </p:sp>
      <p:sp>
        <p:nvSpPr>
          <p:cNvPr id="10" name="Text 6"/>
          <p:cNvSpPr txBox="1"/>
          <p:nvPr/>
        </p:nvSpPr>
        <p:spPr>
          <a:xfrm>
            <a:off x="6510528"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3  Solution</a:t>
            </a:r>
            <a:endParaRPr lang="en-US" sz="1050" dirty="0"/>
          </a:p>
        </p:txBody>
      </p:sp>
      <p:sp>
        <p:nvSpPr>
          <p:cNvPr id="11" name="Shape 7"/>
          <p:cNvSpPr/>
          <p:nvPr/>
        </p:nvSpPr>
        <p:spPr>
          <a:xfrm>
            <a:off x="7872984" y="182880"/>
            <a:ext cx="1307592" cy="420624"/>
          </a:xfrm>
          <a:prstGeom prst="rect">
            <a:avLst/>
          </a:prstGeom>
          <a:solidFill>
            <a:srgbClr val="F2F2F2"/>
          </a:solidFill>
          <a:ln w="12700">
            <a:solidFill>
              <a:srgbClr val="F2F2F2"/>
            </a:solidFill>
            <a:prstDash val="solid"/>
          </a:ln>
        </p:spPr>
      </p:sp>
      <p:sp>
        <p:nvSpPr>
          <p:cNvPr id="12" name="Text 8"/>
          <p:cNvSpPr txBox="1"/>
          <p:nvPr/>
        </p:nvSpPr>
        <p:spPr>
          <a:xfrm>
            <a:off x="7872984"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4  Implementation</a:t>
            </a:r>
            <a:endParaRPr lang="en-US" sz="1050" dirty="0"/>
          </a:p>
        </p:txBody>
      </p:sp>
      <p:sp>
        <p:nvSpPr>
          <p:cNvPr id="13" name="Shape 9"/>
          <p:cNvSpPr/>
          <p:nvPr/>
        </p:nvSpPr>
        <p:spPr>
          <a:xfrm>
            <a:off x="9235440" y="182880"/>
            <a:ext cx="1307592" cy="420624"/>
          </a:xfrm>
          <a:prstGeom prst="rect">
            <a:avLst/>
          </a:prstGeom>
          <a:solidFill>
            <a:srgbClr val="F2F2F2"/>
          </a:solidFill>
          <a:ln w="12700">
            <a:solidFill>
              <a:srgbClr val="F2F2F2"/>
            </a:solidFill>
            <a:prstDash val="solid"/>
          </a:ln>
        </p:spPr>
      </p:sp>
      <p:sp>
        <p:nvSpPr>
          <p:cNvPr id="14" name="Text 10"/>
          <p:cNvSpPr txBox="1"/>
          <p:nvPr/>
        </p:nvSpPr>
        <p:spPr>
          <a:xfrm>
            <a:off x="9235440"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5  Impact</a:t>
            </a:r>
            <a:endParaRPr lang="en-US" sz="1050" dirty="0"/>
          </a:p>
        </p:txBody>
      </p:sp>
      <p:sp>
        <p:nvSpPr>
          <p:cNvPr id="15" name="Text 11"/>
          <p:cNvSpPr txBox="1"/>
          <p:nvPr/>
        </p:nvSpPr>
        <p:spPr>
          <a:xfrm>
            <a:off x="10625328" y="146304"/>
            <a:ext cx="1481328" cy="49377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Team Futuristic</a:t>
            </a:r>
            <a:pPr algn="r" indent="0" marL="0">
              <a:buNone/>
            </a:pPr>
            <a:endParaRPr lang="en-US" sz="1000" dirty="0"/>
          </a:p>
          <a:p>
            <a:pPr algn="r" indent="0" marL="0">
              <a:buNone/>
            </a:pPr>
            <a:r>
              <a:rPr lang="en-US" sz="950" dirty="0">
                <a:solidFill>
                  <a:srgbClr val="FFFFFF"/>
                </a:solidFill>
                <a:latin typeface="Calibri" pitchFamily="34" charset="0"/>
                <a:ea typeface="Calibri" pitchFamily="34" charset="-122"/>
                <a:cs typeface="Calibri" pitchFamily="34" charset="-120"/>
              </a:rPr>
              <a:t>IIT Bombay</a:t>
            </a:r>
            <a:endParaRPr lang="en-US" sz="1000" dirty="0"/>
          </a:p>
        </p:txBody>
      </p:sp>
      <p:sp>
        <p:nvSpPr>
          <p:cNvPr id="16" name="Text 12"/>
          <p:cNvSpPr txBox="1"/>
          <p:nvPr/>
        </p:nvSpPr>
        <p:spPr>
          <a:xfrm>
            <a:off x="457200" y="822960"/>
            <a:ext cx="11274552" cy="384048"/>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On stainless the surface is the product, so every defect type must reach the process that caused it</a:t>
            </a:r>
            <a:endParaRPr lang="en-US" sz="2000" dirty="0"/>
          </a:p>
        </p:txBody>
      </p:sp>
      <p:sp>
        <p:nvSpPr>
          <p:cNvPr id="17" name="Shape 13"/>
          <p:cNvSpPr/>
          <p:nvPr/>
        </p:nvSpPr>
        <p:spPr>
          <a:xfrm>
            <a:off x="91440" y="1234440"/>
            <a:ext cx="274320" cy="4965192"/>
          </a:xfrm>
          <a:prstGeom prst="rect">
            <a:avLst/>
          </a:prstGeom>
          <a:solidFill>
            <a:srgbClr val="2B2B2B"/>
          </a:solidFill>
          <a:ln w="12700">
            <a:solidFill>
              <a:srgbClr val="2B2B2B"/>
            </a:solidFill>
            <a:prstDash val="solid"/>
          </a:ln>
        </p:spPr>
      </p:sp>
      <p:sp>
        <p:nvSpPr>
          <p:cNvPr id="18" name="Text 14"/>
          <p:cNvSpPr txBox="1"/>
          <p:nvPr/>
        </p:nvSpPr>
        <p:spPr>
          <a:xfrm rot="16200000">
            <a:off x="-2253996" y="3579876"/>
            <a:ext cx="4965192"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INSIGHTS  ·  OWNERS  ·  PRECEDENT</a:t>
            </a:r>
            <a:endParaRPr lang="en-US" sz="1000" dirty="0"/>
          </a:p>
        </p:txBody>
      </p:sp>
      <p:sp>
        <p:nvSpPr>
          <p:cNvPr id="19" name="Shape 15"/>
          <p:cNvSpPr/>
          <p:nvPr/>
        </p:nvSpPr>
        <p:spPr>
          <a:xfrm>
            <a:off x="91440" y="6236208"/>
            <a:ext cx="11640312" cy="420624"/>
          </a:xfrm>
          <a:prstGeom prst="rect">
            <a:avLst/>
          </a:prstGeom>
          <a:solidFill>
            <a:srgbClr val="2B2B2B"/>
          </a:solidFill>
          <a:ln w="12700">
            <a:solidFill>
              <a:srgbClr val="2B2B2B"/>
            </a:solidFill>
            <a:prstDash val="solid"/>
          </a:ln>
        </p:spPr>
      </p:sp>
      <p:sp>
        <p:nvSpPr>
          <p:cNvPr id="20" name="Text 16"/>
          <p:cNvSpPr txBox="1"/>
          <p:nvPr/>
        </p:nvSpPr>
        <p:spPr>
          <a:xfrm>
            <a:off x="256032" y="6236208"/>
            <a:ext cx="1133856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Classify, don't just alarm: a typed defect becomes a work order for a named owner. The pilot belongs on 300-series cold-rolled strip.</a:t>
            </a:r>
            <a:endParaRPr lang="en-US" sz="1200" dirty="0"/>
          </a:p>
        </p:txBody>
      </p:sp>
      <p:sp>
        <p:nvSpPr>
          <p:cNvPr id="21" name="Text 17"/>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Images: our system on held-out frames. Sources: Nortal/Outokumpu 2024; Tata Steel; Parsytec; Leão 2021; Steel in Translation. Photos: Commons (notes). Owners: team hypothesis. Grade risks: team hypothesis.</a:t>
            </a:r>
            <a:endParaRPr lang="en-US" sz="900" dirty="0"/>
          </a:p>
        </p:txBody>
      </p:sp>
      <p:sp>
        <p:nvSpPr>
          <p:cNvPr id="22" name="Shape 18"/>
          <p:cNvSpPr/>
          <p:nvPr/>
        </p:nvSpPr>
        <p:spPr>
          <a:xfrm>
            <a:off x="457200" y="1234440"/>
            <a:ext cx="11274552" cy="274320"/>
          </a:xfrm>
          <a:prstGeom prst="rect">
            <a:avLst/>
          </a:prstGeom>
          <a:solidFill>
            <a:srgbClr val="E4803A"/>
          </a:solidFill>
          <a:ln w="12700">
            <a:solidFill>
              <a:srgbClr val="E4803A"/>
            </a:solidFill>
            <a:prstDash val="solid"/>
          </a:ln>
        </p:spPr>
      </p:sp>
      <p:sp>
        <p:nvSpPr>
          <p:cNvPr id="23" name="Text 19"/>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Six defect families, each traced to the process that caused it (real output from our system)</a:t>
            </a:r>
            <a:endParaRPr lang="en-US" sz="1100" dirty="0"/>
          </a:p>
        </p:txBody>
      </p:sp>
      <p:sp>
        <p:nvSpPr>
          <p:cNvPr id="24" name="Shape 20"/>
          <p:cNvSpPr/>
          <p:nvPr/>
        </p:nvSpPr>
        <p:spPr>
          <a:xfrm>
            <a:off x="457200" y="1572768"/>
            <a:ext cx="1783080" cy="2432304"/>
          </a:xfrm>
          <a:prstGeom prst="roundRect">
            <a:avLst>
              <a:gd name="adj" fmla="val 3077"/>
            </a:avLst>
          </a:prstGeom>
          <a:solidFill>
            <a:srgbClr val="F3F3F3"/>
          </a:solidFill>
          <a:ln w="12700">
            <a:solidFill>
              <a:srgbClr val="F3F3F3"/>
            </a:solidFill>
            <a:prstDash val="solid"/>
          </a:ln>
        </p:spPr>
      </p:sp>
      <p:pic>
        <p:nvPicPr>
          <p:cNvPr id="25" name="Image 2" descr="img/det_inclusion.png">    </p:cNvPr>
          <p:cNvPicPr>
            <a:picLocks noChangeAspect="1"/>
          </p:cNvPicPr>
          <p:nvPr/>
        </p:nvPicPr>
        <p:blipFill>
          <a:blip r:embed="rId3"/>
          <a:stretch>
            <a:fillRect/>
          </a:stretch>
        </p:blipFill>
        <p:spPr>
          <a:xfrm>
            <a:off x="653796" y="1627632"/>
            <a:ext cx="1389888" cy="1389888"/>
          </a:xfrm>
          <a:prstGeom prst="rect">
            <a:avLst/>
          </a:prstGeom>
        </p:spPr>
      </p:pic>
      <p:sp>
        <p:nvSpPr>
          <p:cNvPr id="26" name="Text 21"/>
          <p:cNvSpPr txBox="1"/>
          <p:nvPr/>
        </p:nvSpPr>
        <p:spPr>
          <a:xfrm>
            <a:off x="548640" y="3063240"/>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Born: </a:t>
            </a:r>
            <a:pPr indent="0" marL="0">
              <a:buNone/>
            </a:pPr>
            <a:r>
              <a:rPr lang="en-US" sz="950" b="1" dirty="0">
                <a:solidFill>
                  <a:srgbClr val="2B2B2B"/>
                </a:solidFill>
                <a:latin typeface="Calibri" pitchFamily="34" charset="0"/>
                <a:ea typeface="Calibri" pitchFamily="34" charset="-122"/>
                <a:cs typeface="Calibri" pitchFamily="34" charset="-120"/>
              </a:rPr>
              <a:t>Caster</a:t>
            </a:r>
            <a:endParaRPr lang="en-US" sz="950" dirty="0"/>
          </a:p>
        </p:txBody>
      </p:sp>
      <p:sp>
        <p:nvSpPr>
          <p:cNvPr id="27" name="Text 22"/>
          <p:cNvSpPr txBox="1"/>
          <p:nvPr/>
        </p:nvSpPr>
        <p:spPr>
          <a:xfrm>
            <a:off x="548640" y="3255264"/>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Owner: </a:t>
            </a:r>
            <a:pPr indent="0" marL="0">
              <a:buNone/>
            </a:pPr>
            <a:r>
              <a:rPr lang="en-US" sz="950" b="1" dirty="0">
                <a:solidFill>
                  <a:srgbClr val="D2651F"/>
                </a:solidFill>
                <a:latin typeface="Calibri" pitchFamily="34" charset="0"/>
                <a:ea typeface="Calibri" pitchFamily="34" charset="-122"/>
                <a:cs typeface="Calibri" pitchFamily="34" charset="-120"/>
              </a:rPr>
              <a:t>SMS</a:t>
            </a:r>
            <a:endParaRPr lang="en-US" sz="950" dirty="0"/>
          </a:p>
        </p:txBody>
      </p:sp>
      <p:sp>
        <p:nvSpPr>
          <p:cNvPr id="28" name="Text 23"/>
          <p:cNvSpPr txBox="1"/>
          <p:nvPr/>
        </p:nvSpPr>
        <p:spPr>
          <a:xfrm>
            <a:off x="548640" y="3456432"/>
            <a:ext cx="1600200" cy="402336"/>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Fix: </a:t>
            </a:r>
            <a:pPr indent="0" marL="0">
              <a:buNone/>
            </a:pPr>
            <a:r>
              <a:rPr lang="en-US" sz="950" dirty="0">
                <a:solidFill>
                  <a:srgbClr val="404040"/>
                </a:solidFill>
                <a:latin typeface="Calibri" pitchFamily="34" charset="0"/>
                <a:ea typeface="Calibri" pitchFamily="34" charset="-122"/>
                <a:cs typeface="Calibri" pitchFamily="34" charset="-120"/>
              </a:rPr>
              <a:t>Tundish level, mould flux</a:t>
            </a:r>
            <a:endParaRPr lang="en-US" sz="950" dirty="0"/>
          </a:p>
        </p:txBody>
      </p:sp>
      <p:sp>
        <p:nvSpPr>
          <p:cNvPr id="29" name="Shape 24"/>
          <p:cNvSpPr/>
          <p:nvPr/>
        </p:nvSpPr>
        <p:spPr>
          <a:xfrm>
            <a:off x="2355494" y="1572768"/>
            <a:ext cx="1783080" cy="2432304"/>
          </a:xfrm>
          <a:prstGeom prst="roundRect">
            <a:avLst>
              <a:gd name="adj" fmla="val 3077"/>
            </a:avLst>
          </a:prstGeom>
          <a:solidFill>
            <a:srgbClr val="F3F3F3"/>
          </a:solidFill>
          <a:ln w="12700">
            <a:solidFill>
              <a:srgbClr val="F3F3F3"/>
            </a:solidFill>
            <a:prstDash val="solid"/>
          </a:ln>
        </p:spPr>
      </p:sp>
      <p:pic>
        <p:nvPicPr>
          <p:cNvPr id="30" name="Image 3" descr="img/det_crazing.png">    </p:cNvPr>
          <p:cNvPicPr>
            <a:picLocks noChangeAspect="1"/>
          </p:cNvPicPr>
          <p:nvPr/>
        </p:nvPicPr>
        <p:blipFill>
          <a:blip r:embed="rId4"/>
          <a:stretch>
            <a:fillRect/>
          </a:stretch>
        </p:blipFill>
        <p:spPr>
          <a:xfrm>
            <a:off x="2552090" y="1627632"/>
            <a:ext cx="1389888" cy="1389888"/>
          </a:xfrm>
          <a:prstGeom prst="rect">
            <a:avLst/>
          </a:prstGeom>
        </p:spPr>
      </p:pic>
      <p:sp>
        <p:nvSpPr>
          <p:cNvPr id="31" name="Text 25"/>
          <p:cNvSpPr txBox="1"/>
          <p:nvPr/>
        </p:nvSpPr>
        <p:spPr>
          <a:xfrm>
            <a:off x="2446934" y="3063240"/>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Born: </a:t>
            </a:r>
            <a:pPr indent="0" marL="0">
              <a:buNone/>
            </a:pPr>
            <a:r>
              <a:rPr lang="en-US" sz="950" b="1" dirty="0">
                <a:solidFill>
                  <a:srgbClr val="2B2B2B"/>
                </a:solidFill>
                <a:latin typeface="Calibri" pitchFamily="34" charset="0"/>
                <a:ea typeface="Calibri" pitchFamily="34" charset="-122"/>
                <a:cs typeface="Calibri" pitchFamily="34" charset="-120"/>
              </a:rPr>
              <a:t>Reheat, hot rolling</a:t>
            </a:r>
            <a:endParaRPr lang="en-US" sz="950" dirty="0"/>
          </a:p>
        </p:txBody>
      </p:sp>
      <p:sp>
        <p:nvSpPr>
          <p:cNvPr id="32" name="Text 26"/>
          <p:cNvSpPr txBox="1"/>
          <p:nvPr/>
        </p:nvSpPr>
        <p:spPr>
          <a:xfrm>
            <a:off x="2446934" y="3255264"/>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Owner: </a:t>
            </a:r>
            <a:pPr indent="0" marL="0">
              <a:buNone/>
            </a:pPr>
            <a:r>
              <a:rPr lang="en-US" sz="950" b="1" dirty="0">
                <a:solidFill>
                  <a:srgbClr val="D2651F"/>
                </a:solidFill>
                <a:latin typeface="Calibri" pitchFamily="34" charset="0"/>
                <a:ea typeface="Calibri" pitchFamily="34" charset="-122"/>
                <a:cs typeface="Calibri" pitchFamily="34" charset="-120"/>
              </a:rPr>
              <a:t>HSM</a:t>
            </a:r>
            <a:endParaRPr lang="en-US" sz="950" dirty="0"/>
          </a:p>
        </p:txBody>
      </p:sp>
      <p:sp>
        <p:nvSpPr>
          <p:cNvPr id="33" name="Text 27"/>
          <p:cNvSpPr txBox="1"/>
          <p:nvPr/>
        </p:nvSpPr>
        <p:spPr>
          <a:xfrm>
            <a:off x="2446934" y="3456432"/>
            <a:ext cx="1600200" cy="402336"/>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Fix: </a:t>
            </a:r>
            <a:pPr indent="0" marL="0">
              <a:buNone/>
            </a:pPr>
            <a:r>
              <a:rPr lang="en-US" sz="950" dirty="0">
                <a:solidFill>
                  <a:srgbClr val="404040"/>
                </a:solidFill>
                <a:latin typeface="Calibri" pitchFamily="34" charset="0"/>
                <a:ea typeface="Calibri" pitchFamily="34" charset="-122"/>
                <a:cs typeface="Calibri" pitchFamily="34" charset="-120"/>
              </a:rPr>
              <a:t>Reheat and coiling temperature</a:t>
            </a:r>
            <a:endParaRPr lang="en-US" sz="950" dirty="0"/>
          </a:p>
        </p:txBody>
      </p:sp>
      <p:sp>
        <p:nvSpPr>
          <p:cNvPr id="34" name="Shape 28"/>
          <p:cNvSpPr/>
          <p:nvPr/>
        </p:nvSpPr>
        <p:spPr>
          <a:xfrm>
            <a:off x="4253789" y="1572768"/>
            <a:ext cx="1783080" cy="2432304"/>
          </a:xfrm>
          <a:prstGeom prst="roundRect">
            <a:avLst>
              <a:gd name="adj" fmla="val 3077"/>
            </a:avLst>
          </a:prstGeom>
          <a:solidFill>
            <a:srgbClr val="F3F3F3"/>
          </a:solidFill>
          <a:ln w="12700">
            <a:solidFill>
              <a:srgbClr val="F3F3F3"/>
            </a:solidFill>
            <a:prstDash val="solid"/>
          </a:ln>
        </p:spPr>
      </p:sp>
      <p:pic>
        <p:nvPicPr>
          <p:cNvPr id="35" name="Image 4" descr="img/det_rolled-in_scale.png">    </p:cNvPr>
          <p:cNvPicPr>
            <a:picLocks noChangeAspect="1"/>
          </p:cNvPicPr>
          <p:nvPr/>
        </p:nvPicPr>
        <p:blipFill>
          <a:blip r:embed="rId5"/>
          <a:stretch>
            <a:fillRect/>
          </a:stretch>
        </p:blipFill>
        <p:spPr>
          <a:xfrm>
            <a:off x="4450385" y="1627632"/>
            <a:ext cx="1389888" cy="1389888"/>
          </a:xfrm>
          <a:prstGeom prst="rect">
            <a:avLst/>
          </a:prstGeom>
        </p:spPr>
      </p:pic>
      <p:sp>
        <p:nvSpPr>
          <p:cNvPr id="36" name="Text 29"/>
          <p:cNvSpPr txBox="1"/>
          <p:nvPr/>
        </p:nvSpPr>
        <p:spPr>
          <a:xfrm>
            <a:off x="4345229" y="3063240"/>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Born: </a:t>
            </a:r>
            <a:pPr indent="0" marL="0">
              <a:buNone/>
            </a:pPr>
            <a:r>
              <a:rPr lang="en-US" sz="950" b="1" dirty="0">
                <a:solidFill>
                  <a:srgbClr val="2B2B2B"/>
                </a:solidFill>
                <a:latin typeface="Calibri" pitchFamily="34" charset="0"/>
                <a:ea typeface="Calibri" pitchFamily="34" charset="-122"/>
                <a:cs typeface="Calibri" pitchFamily="34" charset="-120"/>
              </a:rPr>
              <a:t>Hot rolling</a:t>
            </a:r>
            <a:endParaRPr lang="en-US" sz="950" dirty="0"/>
          </a:p>
        </p:txBody>
      </p:sp>
      <p:sp>
        <p:nvSpPr>
          <p:cNvPr id="37" name="Text 30"/>
          <p:cNvSpPr txBox="1"/>
          <p:nvPr/>
        </p:nvSpPr>
        <p:spPr>
          <a:xfrm>
            <a:off x="4345229" y="3255264"/>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Owner: </a:t>
            </a:r>
            <a:pPr indent="0" marL="0">
              <a:buNone/>
            </a:pPr>
            <a:r>
              <a:rPr lang="en-US" sz="950" b="1" dirty="0">
                <a:solidFill>
                  <a:srgbClr val="D2651F"/>
                </a:solidFill>
                <a:latin typeface="Calibri" pitchFamily="34" charset="0"/>
                <a:ea typeface="Calibri" pitchFamily="34" charset="-122"/>
                <a:cs typeface="Calibri" pitchFamily="34" charset="-120"/>
              </a:rPr>
              <a:t>HSM</a:t>
            </a:r>
            <a:endParaRPr lang="en-US" sz="950" dirty="0"/>
          </a:p>
        </p:txBody>
      </p:sp>
      <p:sp>
        <p:nvSpPr>
          <p:cNvPr id="38" name="Text 31"/>
          <p:cNvSpPr txBox="1"/>
          <p:nvPr/>
        </p:nvSpPr>
        <p:spPr>
          <a:xfrm>
            <a:off x="4345229" y="3456432"/>
            <a:ext cx="1600200" cy="402336"/>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Fix: </a:t>
            </a:r>
            <a:pPr indent="0" marL="0">
              <a:buNone/>
            </a:pPr>
            <a:r>
              <a:rPr lang="en-US" sz="950" dirty="0">
                <a:solidFill>
                  <a:srgbClr val="404040"/>
                </a:solidFill>
                <a:latin typeface="Calibri" pitchFamily="34" charset="0"/>
                <a:ea typeface="Calibri" pitchFamily="34" charset="-122"/>
                <a:cs typeface="Calibri" pitchFamily="34" charset="-120"/>
              </a:rPr>
              <a:t>Descaler pressure, nozzles</a:t>
            </a:r>
            <a:endParaRPr lang="en-US" sz="950" dirty="0"/>
          </a:p>
        </p:txBody>
      </p:sp>
      <p:sp>
        <p:nvSpPr>
          <p:cNvPr id="39" name="Shape 32"/>
          <p:cNvSpPr/>
          <p:nvPr/>
        </p:nvSpPr>
        <p:spPr>
          <a:xfrm>
            <a:off x="6152083" y="1572768"/>
            <a:ext cx="1783080" cy="2432304"/>
          </a:xfrm>
          <a:prstGeom prst="roundRect">
            <a:avLst>
              <a:gd name="adj" fmla="val 3077"/>
            </a:avLst>
          </a:prstGeom>
          <a:solidFill>
            <a:srgbClr val="F3F3F3"/>
          </a:solidFill>
          <a:ln w="12700">
            <a:solidFill>
              <a:srgbClr val="F3F3F3"/>
            </a:solidFill>
            <a:prstDash val="solid"/>
          </a:ln>
        </p:spPr>
      </p:sp>
      <p:pic>
        <p:nvPicPr>
          <p:cNvPr id="40" name="Image 5" descr="img/det_pitted_surface.png">    </p:cNvPr>
          <p:cNvPicPr>
            <a:picLocks noChangeAspect="1"/>
          </p:cNvPicPr>
          <p:nvPr/>
        </p:nvPicPr>
        <p:blipFill>
          <a:blip r:embed="rId6"/>
          <a:stretch>
            <a:fillRect/>
          </a:stretch>
        </p:blipFill>
        <p:spPr>
          <a:xfrm>
            <a:off x="6348679" y="1627632"/>
            <a:ext cx="1389888" cy="1389888"/>
          </a:xfrm>
          <a:prstGeom prst="rect">
            <a:avLst/>
          </a:prstGeom>
        </p:spPr>
      </p:pic>
      <p:sp>
        <p:nvSpPr>
          <p:cNvPr id="41" name="Text 33"/>
          <p:cNvSpPr txBox="1"/>
          <p:nvPr/>
        </p:nvSpPr>
        <p:spPr>
          <a:xfrm>
            <a:off x="6243523" y="3063240"/>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Born: </a:t>
            </a:r>
            <a:pPr indent="0" marL="0">
              <a:buNone/>
            </a:pPr>
            <a:r>
              <a:rPr lang="en-US" sz="950" b="1" dirty="0">
                <a:solidFill>
                  <a:srgbClr val="2B2B2B"/>
                </a:solidFill>
                <a:latin typeface="Calibri" pitchFamily="34" charset="0"/>
                <a:ea typeface="Calibri" pitchFamily="34" charset="-122"/>
                <a:cs typeface="Calibri" pitchFamily="34" charset="-120"/>
              </a:rPr>
              <a:t>Reheat, pickling</a:t>
            </a:r>
            <a:endParaRPr lang="en-US" sz="950" dirty="0"/>
          </a:p>
        </p:txBody>
      </p:sp>
      <p:sp>
        <p:nvSpPr>
          <p:cNvPr id="42" name="Text 34"/>
          <p:cNvSpPr txBox="1"/>
          <p:nvPr/>
        </p:nvSpPr>
        <p:spPr>
          <a:xfrm>
            <a:off x="6243523" y="3255264"/>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Owner: </a:t>
            </a:r>
            <a:pPr indent="0" marL="0">
              <a:buNone/>
            </a:pPr>
            <a:r>
              <a:rPr lang="en-US" sz="950" b="1" dirty="0">
                <a:solidFill>
                  <a:srgbClr val="D2651F"/>
                </a:solidFill>
                <a:latin typeface="Calibri" pitchFamily="34" charset="0"/>
                <a:ea typeface="Calibri" pitchFamily="34" charset="-122"/>
                <a:cs typeface="Calibri" pitchFamily="34" charset="-120"/>
              </a:rPr>
              <a:t>HSM / pickling</a:t>
            </a:r>
            <a:endParaRPr lang="en-US" sz="950" dirty="0"/>
          </a:p>
        </p:txBody>
      </p:sp>
      <p:sp>
        <p:nvSpPr>
          <p:cNvPr id="43" name="Text 35"/>
          <p:cNvSpPr txBox="1"/>
          <p:nvPr/>
        </p:nvSpPr>
        <p:spPr>
          <a:xfrm>
            <a:off x="6243523" y="3456432"/>
            <a:ext cx="1600200" cy="402336"/>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Fix: </a:t>
            </a:r>
            <a:pPr indent="0" marL="0">
              <a:buNone/>
            </a:pPr>
            <a:r>
              <a:rPr lang="en-US" sz="950" dirty="0">
                <a:solidFill>
                  <a:srgbClr val="404040"/>
                </a:solidFill>
                <a:latin typeface="Calibri" pitchFamily="34" charset="0"/>
                <a:ea typeface="Calibri" pitchFamily="34" charset="-122"/>
                <a:cs typeface="Calibri" pitchFamily="34" charset="-120"/>
              </a:rPr>
              <a:t>Furnace atmosphere, over-pickling</a:t>
            </a:r>
            <a:endParaRPr lang="en-US" sz="950" dirty="0"/>
          </a:p>
        </p:txBody>
      </p:sp>
      <p:sp>
        <p:nvSpPr>
          <p:cNvPr id="44" name="Shape 36"/>
          <p:cNvSpPr/>
          <p:nvPr/>
        </p:nvSpPr>
        <p:spPr>
          <a:xfrm>
            <a:off x="8050378" y="1572768"/>
            <a:ext cx="1783080" cy="2432304"/>
          </a:xfrm>
          <a:prstGeom prst="roundRect">
            <a:avLst>
              <a:gd name="adj" fmla="val 3077"/>
            </a:avLst>
          </a:prstGeom>
          <a:solidFill>
            <a:srgbClr val="F3F3F3"/>
          </a:solidFill>
          <a:ln w="12700">
            <a:solidFill>
              <a:srgbClr val="F3F3F3"/>
            </a:solidFill>
            <a:prstDash val="solid"/>
          </a:ln>
        </p:spPr>
      </p:sp>
      <p:pic>
        <p:nvPicPr>
          <p:cNvPr id="45" name="Image 6" descr="img/det_patches.png">    </p:cNvPr>
          <p:cNvPicPr>
            <a:picLocks noChangeAspect="1"/>
          </p:cNvPicPr>
          <p:nvPr/>
        </p:nvPicPr>
        <p:blipFill>
          <a:blip r:embed="rId7"/>
          <a:stretch>
            <a:fillRect/>
          </a:stretch>
        </p:blipFill>
        <p:spPr>
          <a:xfrm>
            <a:off x="8246974" y="1627632"/>
            <a:ext cx="1389888" cy="1389888"/>
          </a:xfrm>
          <a:prstGeom prst="rect">
            <a:avLst/>
          </a:prstGeom>
        </p:spPr>
      </p:pic>
      <p:sp>
        <p:nvSpPr>
          <p:cNvPr id="46" name="Text 37"/>
          <p:cNvSpPr txBox="1"/>
          <p:nvPr/>
        </p:nvSpPr>
        <p:spPr>
          <a:xfrm>
            <a:off x="8141818" y="3063240"/>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Born: </a:t>
            </a:r>
            <a:pPr indent="0" marL="0">
              <a:buNone/>
            </a:pPr>
            <a:r>
              <a:rPr lang="en-US" sz="950" b="1" dirty="0">
                <a:solidFill>
                  <a:srgbClr val="2B2B2B"/>
                </a:solidFill>
                <a:latin typeface="Calibri" pitchFamily="34" charset="0"/>
                <a:ea typeface="Calibri" pitchFamily="34" charset="-122"/>
                <a:cs typeface="Calibri" pitchFamily="34" charset="-120"/>
              </a:rPr>
              <a:t>Anneal &amp; pickle</a:t>
            </a:r>
            <a:endParaRPr lang="en-US" sz="950" dirty="0"/>
          </a:p>
        </p:txBody>
      </p:sp>
      <p:sp>
        <p:nvSpPr>
          <p:cNvPr id="47" name="Text 38"/>
          <p:cNvSpPr txBox="1"/>
          <p:nvPr/>
        </p:nvSpPr>
        <p:spPr>
          <a:xfrm>
            <a:off x="8141818" y="3255264"/>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Owner: </a:t>
            </a:r>
            <a:pPr indent="0" marL="0">
              <a:buNone/>
            </a:pPr>
            <a:r>
              <a:rPr lang="en-US" sz="950" b="1" dirty="0">
                <a:solidFill>
                  <a:srgbClr val="D2651F"/>
                </a:solidFill>
                <a:latin typeface="Calibri" pitchFamily="34" charset="0"/>
                <a:ea typeface="Calibri" pitchFamily="34" charset="-122"/>
                <a:cs typeface="Calibri" pitchFamily="34" charset="-120"/>
              </a:rPr>
              <a:t>Pickling line</a:t>
            </a:r>
            <a:endParaRPr lang="en-US" sz="950" dirty="0"/>
          </a:p>
        </p:txBody>
      </p:sp>
      <p:sp>
        <p:nvSpPr>
          <p:cNvPr id="48" name="Text 39"/>
          <p:cNvSpPr txBox="1"/>
          <p:nvPr/>
        </p:nvSpPr>
        <p:spPr>
          <a:xfrm>
            <a:off x="8141818" y="3456432"/>
            <a:ext cx="1600200" cy="402336"/>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Fix: </a:t>
            </a:r>
            <a:pPr indent="0" marL="0">
              <a:buNone/>
            </a:pPr>
            <a:r>
              <a:rPr lang="en-US" sz="950" dirty="0">
                <a:solidFill>
                  <a:srgbClr val="404040"/>
                </a:solidFill>
                <a:latin typeface="Calibri" pitchFamily="34" charset="0"/>
                <a:ea typeface="Calibri" pitchFamily="34" charset="-122"/>
                <a:cs typeface="Calibri" pitchFamily="34" charset="-120"/>
              </a:rPr>
              <a:t>Acid strength, line speed</a:t>
            </a:r>
            <a:endParaRPr lang="en-US" sz="950" dirty="0"/>
          </a:p>
        </p:txBody>
      </p:sp>
      <p:sp>
        <p:nvSpPr>
          <p:cNvPr id="49" name="Shape 40"/>
          <p:cNvSpPr/>
          <p:nvPr/>
        </p:nvSpPr>
        <p:spPr>
          <a:xfrm>
            <a:off x="9948672" y="1572768"/>
            <a:ext cx="1783080" cy="2432304"/>
          </a:xfrm>
          <a:prstGeom prst="roundRect">
            <a:avLst>
              <a:gd name="adj" fmla="val 3077"/>
            </a:avLst>
          </a:prstGeom>
          <a:solidFill>
            <a:srgbClr val="F3F3F3"/>
          </a:solidFill>
          <a:ln w="12700">
            <a:solidFill>
              <a:srgbClr val="F3F3F3"/>
            </a:solidFill>
            <a:prstDash val="solid"/>
          </a:ln>
        </p:spPr>
      </p:sp>
      <p:pic>
        <p:nvPicPr>
          <p:cNvPr id="50" name="Image 7" descr="img/det_scratches.png">    </p:cNvPr>
          <p:cNvPicPr>
            <a:picLocks noChangeAspect="1"/>
          </p:cNvPicPr>
          <p:nvPr/>
        </p:nvPicPr>
        <p:blipFill>
          <a:blip r:embed="rId8"/>
          <a:stretch>
            <a:fillRect/>
          </a:stretch>
        </p:blipFill>
        <p:spPr>
          <a:xfrm>
            <a:off x="10145268" y="1627632"/>
            <a:ext cx="1389888" cy="1389888"/>
          </a:xfrm>
          <a:prstGeom prst="rect">
            <a:avLst/>
          </a:prstGeom>
        </p:spPr>
      </p:pic>
      <p:sp>
        <p:nvSpPr>
          <p:cNvPr id="51" name="Text 41"/>
          <p:cNvSpPr txBox="1"/>
          <p:nvPr/>
        </p:nvSpPr>
        <p:spPr>
          <a:xfrm>
            <a:off x="10040112" y="3063240"/>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Born: </a:t>
            </a:r>
            <a:pPr indent="0" marL="0">
              <a:buNone/>
            </a:pPr>
            <a:r>
              <a:rPr lang="en-US" sz="950" b="1" dirty="0">
                <a:solidFill>
                  <a:srgbClr val="2B2B2B"/>
                </a:solidFill>
                <a:latin typeface="Calibri" pitchFamily="34" charset="0"/>
                <a:ea typeface="Calibri" pitchFamily="34" charset="-122"/>
                <a:cs typeface="Calibri" pitchFamily="34" charset="-120"/>
              </a:rPr>
              <a:t>Cold rolling, handling</a:t>
            </a:r>
            <a:endParaRPr lang="en-US" sz="950" dirty="0"/>
          </a:p>
        </p:txBody>
      </p:sp>
      <p:sp>
        <p:nvSpPr>
          <p:cNvPr id="52" name="Text 42"/>
          <p:cNvSpPr txBox="1"/>
          <p:nvPr/>
        </p:nvSpPr>
        <p:spPr>
          <a:xfrm>
            <a:off x="10040112" y="3255264"/>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Owner: </a:t>
            </a:r>
            <a:pPr indent="0" marL="0">
              <a:buNone/>
            </a:pPr>
            <a:r>
              <a:rPr lang="en-US" sz="950" b="1" dirty="0">
                <a:solidFill>
                  <a:srgbClr val="D2651F"/>
                </a:solidFill>
                <a:latin typeface="Calibri" pitchFamily="34" charset="0"/>
                <a:ea typeface="Calibri" pitchFamily="34" charset="-122"/>
                <a:cs typeface="Calibri" pitchFamily="34" charset="-120"/>
              </a:rPr>
              <a:t>CRM / logistics</a:t>
            </a:r>
            <a:endParaRPr lang="en-US" sz="950" dirty="0"/>
          </a:p>
        </p:txBody>
      </p:sp>
      <p:sp>
        <p:nvSpPr>
          <p:cNvPr id="53" name="Text 43"/>
          <p:cNvSpPr txBox="1"/>
          <p:nvPr/>
        </p:nvSpPr>
        <p:spPr>
          <a:xfrm>
            <a:off x="10040112" y="3456432"/>
            <a:ext cx="1600200" cy="402336"/>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Fix: </a:t>
            </a:r>
            <a:pPr indent="0" marL="0">
              <a:buNone/>
            </a:pPr>
            <a:r>
              <a:rPr lang="en-US" sz="950" dirty="0">
                <a:solidFill>
                  <a:srgbClr val="404040"/>
                </a:solidFill>
                <a:latin typeface="Calibri" pitchFamily="34" charset="0"/>
                <a:ea typeface="Calibri" pitchFamily="34" charset="-122"/>
                <a:cs typeface="Calibri" pitchFamily="34" charset="-120"/>
              </a:rPr>
              <a:t>Guides, rolls, coil handling</a:t>
            </a:r>
            <a:endParaRPr lang="en-US" sz="950" dirty="0"/>
          </a:p>
        </p:txBody>
      </p:sp>
      <p:sp>
        <p:nvSpPr>
          <p:cNvPr id="54" name="Text 44"/>
          <p:cNvSpPr txBox="1"/>
          <p:nvPr/>
        </p:nvSpPr>
        <p:spPr>
          <a:xfrm>
            <a:off x="457200" y="4050792"/>
            <a:ext cx="2606040" cy="237744"/>
          </a:xfrm>
          <a:prstGeom prst="rect">
            <a:avLst/>
          </a:prstGeom>
          <a:noFill/>
          <a:ln/>
        </p:spPr>
        <p:txBody>
          <a:bodyPr wrap="square" lIns="0" tIns="0" rIns="0" bIns="0" rtlCol="0" anchor="ctr"/>
          <a:lstStyle/>
          <a:p>
            <a:pPr indent="0" marL="0">
              <a:buNone/>
            </a:pPr>
            <a:r>
              <a:rPr lang="en-US" sz="950" b="1" dirty="0">
                <a:solidFill>
                  <a:srgbClr val="2B2B2B"/>
                </a:solidFill>
                <a:latin typeface="Calibri" pitchFamily="34" charset="0"/>
                <a:ea typeface="Calibri" pitchFamily="34" charset="-122"/>
                <a:cs typeface="Calibri" pitchFamily="34" charset="-120"/>
              </a:rPr>
              <a:t>Stainless-only types to add with JSL data:</a:t>
            </a:r>
            <a:endParaRPr lang="en-US" sz="950" dirty="0"/>
          </a:p>
        </p:txBody>
      </p:sp>
      <p:sp>
        <p:nvSpPr>
          <p:cNvPr id="55" name="Shape 45"/>
          <p:cNvSpPr/>
          <p:nvPr/>
        </p:nvSpPr>
        <p:spPr>
          <a:xfrm>
            <a:off x="3090672" y="4069080"/>
            <a:ext cx="548640" cy="201168"/>
          </a:xfrm>
          <a:prstGeom prst="roundRect">
            <a:avLst>
              <a:gd name="adj" fmla="val 27273"/>
            </a:avLst>
          </a:prstGeom>
          <a:solidFill>
            <a:srgbClr val="FDEFE4"/>
          </a:solidFill>
          <a:ln w="12700">
            <a:solidFill>
              <a:srgbClr val="FDEFE4"/>
            </a:solidFill>
            <a:prstDash val="solid"/>
          </a:ln>
        </p:spPr>
      </p:sp>
      <p:sp>
        <p:nvSpPr>
          <p:cNvPr id="56" name="Text 46"/>
          <p:cNvSpPr txBox="1"/>
          <p:nvPr/>
        </p:nvSpPr>
        <p:spPr>
          <a:xfrm>
            <a:off x="3090672" y="4069080"/>
            <a:ext cx="548640" cy="201168"/>
          </a:xfrm>
          <a:prstGeom prst="rect">
            <a:avLst/>
          </a:prstGeom>
          <a:noFill/>
          <a:ln/>
        </p:spPr>
        <p:txBody>
          <a:bodyPr wrap="square" lIns="0" tIns="0" rIns="0" bIns="0" rtlCol="0" anchor="ctr"/>
          <a:lstStyle/>
          <a:p>
            <a:pPr algn="ctr" indent="0" marL="0">
              <a:buNone/>
            </a:pPr>
            <a:r>
              <a:rPr lang="en-US" sz="900" dirty="0">
                <a:solidFill>
                  <a:srgbClr val="2B2B2B"/>
                </a:solidFill>
                <a:latin typeface="Calibri" pitchFamily="34" charset="0"/>
                <a:ea typeface="Calibri" pitchFamily="34" charset="-122"/>
                <a:cs typeface="Calibri" pitchFamily="34" charset="-120"/>
              </a:rPr>
              <a:t>Roping</a:t>
            </a:r>
            <a:endParaRPr lang="en-US" sz="900" dirty="0"/>
          </a:p>
        </p:txBody>
      </p:sp>
      <p:sp>
        <p:nvSpPr>
          <p:cNvPr id="57" name="Shape 47"/>
          <p:cNvSpPr/>
          <p:nvPr/>
        </p:nvSpPr>
        <p:spPr>
          <a:xfrm>
            <a:off x="3712464" y="4069080"/>
            <a:ext cx="1426464" cy="201168"/>
          </a:xfrm>
          <a:prstGeom prst="roundRect">
            <a:avLst>
              <a:gd name="adj" fmla="val 27273"/>
            </a:avLst>
          </a:prstGeom>
          <a:solidFill>
            <a:srgbClr val="FDEFE4"/>
          </a:solidFill>
          <a:ln w="12700">
            <a:solidFill>
              <a:srgbClr val="FDEFE4"/>
            </a:solidFill>
            <a:prstDash val="solid"/>
          </a:ln>
        </p:spPr>
      </p:sp>
      <p:sp>
        <p:nvSpPr>
          <p:cNvPr id="58" name="Text 48"/>
          <p:cNvSpPr txBox="1"/>
          <p:nvPr/>
        </p:nvSpPr>
        <p:spPr>
          <a:xfrm>
            <a:off x="3712464" y="4069080"/>
            <a:ext cx="1426464" cy="201168"/>
          </a:xfrm>
          <a:prstGeom prst="rect">
            <a:avLst/>
          </a:prstGeom>
          <a:noFill/>
          <a:ln/>
        </p:spPr>
        <p:txBody>
          <a:bodyPr wrap="square" lIns="0" tIns="0" rIns="0" bIns="0" rtlCol="0" anchor="ctr"/>
          <a:lstStyle/>
          <a:p>
            <a:pPr algn="ctr" indent="0" marL="0">
              <a:buNone/>
            </a:pPr>
            <a:r>
              <a:rPr lang="en-US" sz="900" dirty="0">
                <a:solidFill>
                  <a:srgbClr val="2B2B2B"/>
                </a:solidFill>
                <a:latin typeface="Calibri" pitchFamily="34" charset="0"/>
                <a:ea typeface="Calibri" pitchFamily="34" charset="-122"/>
                <a:cs typeface="Calibri" pitchFamily="34" charset="-120"/>
              </a:rPr>
              <a:t>Ridging (ferritic 430)</a:t>
            </a:r>
            <a:endParaRPr lang="en-US" sz="900" dirty="0"/>
          </a:p>
        </p:txBody>
      </p:sp>
      <p:sp>
        <p:nvSpPr>
          <p:cNvPr id="59" name="Shape 49"/>
          <p:cNvSpPr/>
          <p:nvPr/>
        </p:nvSpPr>
        <p:spPr>
          <a:xfrm>
            <a:off x="5212080" y="4069080"/>
            <a:ext cx="822960" cy="201168"/>
          </a:xfrm>
          <a:prstGeom prst="roundRect">
            <a:avLst>
              <a:gd name="adj" fmla="val 27273"/>
            </a:avLst>
          </a:prstGeom>
          <a:solidFill>
            <a:srgbClr val="FDEFE4"/>
          </a:solidFill>
          <a:ln w="12700">
            <a:solidFill>
              <a:srgbClr val="FDEFE4"/>
            </a:solidFill>
            <a:prstDash val="solid"/>
          </a:ln>
        </p:spPr>
      </p:sp>
      <p:sp>
        <p:nvSpPr>
          <p:cNvPr id="60" name="Text 50"/>
          <p:cNvSpPr txBox="1"/>
          <p:nvPr/>
        </p:nvSpPr>
        <p:spPr>
          <a:xfrm>
            <a:off x="5212080" y="4069080"/>
            <a:ext cx="822960" cy="201168"/>
          </a:xfrm>
          <a:prstGeom prst="rect">
            <a:avLst/>
          </a:prstGeom>
          <a:noFill/>
          <a:ln/>
        </p:spPr>
        <p:txBody>
          <a:bodyPr wrap="square" lIns="0" tIns="0" rIns="0" bIns="0" rtlCol="0" anchor="ctr"/>
          <a:lstStyle/>
          <a:p>
            <a:pPr algn="ctr" indent="0" marL="0">
              <a:buNone/>
            </a:pPr>
            <a:r>
              <a:rPr lang="en-US" sz="900" dirty="0">
                <a:solidFill>
                  <a:srgbClr val="2B2B2B"/>
                </a:solidFill>
                <a:latin typeface="Calibri" pitchFamily="34" charset="0"/>
                <a:ea typeface="Calibri" pitchFamily="34" charset="-122"/>
                <a:cs typeface="Calibri" pitchFamily="34" charset="-120"/>
              </a:rPr>
              <a:t>Orange peel</a:t>
            </a:r>
            <a:endParaRPr lang="en-US" sz="900" dirty="0"/>
          </a:p>
        </p:txBody>
      </p:sp>
      <p:sp>
        <p:nvSpPr>
          <p:cNvPr id="61" name="Shape 51"/>
          <p:cNvSpPr/>
          <p:nvPr/>
        </p:nvSpPr>
        <p:spPr>
          <a:xfrm>
            <a:off x="6108192" y="4069080"/>
            <a:ext cx="932688" cy="201168"/>
          </a:xfrm>
          <a:prstGeom prst="roundRect">
            <a:avLst>
              <a:gd name="adj" fmla="val 27273"/>
            </a:avLst>
          </a:prstGeom>
          <a:solidFill>
            <a:srgbClr val="FDEFE4"/>
          </a:solidFill>
          <a:ln w="12700">
            <a:solidFill>
              <a:srgbClr val="FDEFE4"/>
            </a:solidFill>
            <a:prstDash val="solid"/>
          </a:ln>
        </p:spPr>
      </p:sp>
      <p:sp>
        <p:nvSpPr>
          <p:cNvPr id="62" name="Text 52"/>
          <p:cNvSpPr txBox="1"/>
          <p:nvPr/>
        </p:nvSpPr>
        <p:spPr>
          <a:xfrm>
            <a:off x="6108192" y="4069080"/>
            <a:ext cx="932688" cy="201168"/>
          </a:xfrm>
          <a:prstGeom prst="rect">
            <a:avLst/>
          </a:prstGeom>
          <a:noFill/>
          <a:ln/>
        </p:spPr>
        <p:txBody>
          <a:bodyPr wrap="square" lIns="0" tIns="0" rIns="0" bIns="0" rtlCol="0" anchor="ctr"/>
          <a:lstStyle/>
          <a:p>
            <a:pPr algn="ctr" indent="0" marL="0">
              <a:buNone/>
            </a:pPr>
            <a:r>
              <a:rPr lang="en-US" sz="900" dirty="0">
                <a:solidFill>
                  <a:srgbClr val="2B2B2B"/>
                </a:solidFill>
                <a:latin typeface="Calibri" pitchFamily="34" charset="0"/>
                <a:ea typeface="Calibri" pitchFamily="34" charset="-122"/>
                <a:cs typeface="Calibri" pitchFamily="34" charset="-120"/>
              </a:rPr>
              <a:t>Anneal colour</a:t>
            </a:r>
            <a:endParaRPr lang="en-US" sz="900" dirty="0"/>
          </a:p>
        </p:txBody>
      </p:sp>
      <p:sp>
        <p:nvSpPr>
          <p:cNvPr id="63" name="Shape 53"/>
          <p:cNvSpPr/>
          <p:nvPr/>
        </p:nvSpPr>
        <p:spPr>
          <a:xfrm>
            <a:off x="7114032" y="4069080"/>
            <a:ext cx="713232" cy="201168"/>
          </a:xfrm>
          <a:prstGeom prst="roundRect">
            <a:avLst>
              <a:gd name="adj" fmla="val 27273"/>
            </a:avLst>
          </a:prstGeom>
          <a:solidFill>
            <a:srgbClr val="FDEFE4"/>
          </a:solidFill>
          <a:ln w="12700">
            <a:solidFill>
              <a:srgbClr val="FDEFE4"/>
            </a:solidFill>
            <a:prstDash val="solid"/>
          </a:ln>
        </p:spPr>
      </p:sp>
      <p:sp>
        <p:nvSpPr>
          <p:cNvPr id="64" name="Text 54"/>
          <p:cNvSpPr txBox="1"/>
          <p:nvPr/>
        </p:nvSpPr>
        <p:spPr>
          <a:xfrm>
            <a:off x="7114032" y="4069080"/>
            <a:ext cx="713232" cy="201168"/>
          </a:xfrm>
          <a:prstGeom prst="rect">
            <a:avLst/>
          </a:prstGeom>
          <a:noFill/>
          <a:ln/>
        </p:spPr>
        <p:txBody>
          <a:bodyPr wrap="square" lIns="0" tIns="0" rIns="0" bIns="0" rtlCol="0" anchor="ctr"/>
          <a:lstStyle/>
          <a:p>
            <a:pPr algn="ctr" indent="0" marL="0">
              <a:buNone/>
            </a:pPr>
            <a:r>
              <a:rPr lang="en-US" sz="900" dirty="0">
                <a:solidFill>
                  <a:srgbClr val="2B2B2B"/>
                </a:solidFill>
                <a:latin typeface="Calibri" pitchFamily="34" charset="0"/>
                <a:ea typeface="Calibri" pitchFamily="34" charset="-122"/>
                <a:cs typeface="Calibri" pitchFamily="34" charset="-120"/>
              </a:rPr>
              <a:t>BA stains</a:t>
            </a:r>
            <a:endParaRPr lang="en-US" sz="900" dirty="0"/>
          </a:p>
        </p:txBody>
      </p:sp>
      <p:sp>
        <p:nvSpPr>
          <p:cNvPr id="65" name="Shape 55"/>
          <p:cNvSpPr/>
          <p:nvPr/>
        </p:nvSpPr>
        <p:spPr>
          <a:xfrm>
            <a:off x="7900416" y="4069080"/>
            <a:ext cx="768096" cy="201168"/>
          </a:xfrm>
          <a:prstGeom prst="roundRect">
            <a:avLst>
              <a:gd name="adj" fmla="val 27273"/>
            </a:avLst>
          </a:prstGeom>
          <a:solidFill>
            <a:srgbClr val="FDEFE4"/>
          </a:solidFill>
          <a:ln w="12700">
            <a:solidFill>
              <a:srgbClr val="FDEFE4"/>
            </a:solidFill>
            <a:prstDash val="solid"/>
          </a:ln>
        </p:spPr>
      </p:sp>
      <p:sp>
        <p:nvSpPr>
          <p:cNvPr id="66" name="Text 56"/>
          <p:cNvSpPr txBox="1"/>
          <p:nvPr/>
        </p:nvSpPr>
        <p:spPr>
          <a:xfrm>
            <a:off x="7900416" y="4069080"/>
            <a:ext cx="768096" cy="201168"/>
          </a:xfrm>
          <a:prstGeom prst="rect">
            <a:avLst/>
          </a:prstGeom>
          <a:noFill/>
          <a:ln/>
        </p:spPr>
        <p:txBody>
          <a:bodyPr wrap="square" lIns="0" tIns="0" rIns="0" bIns="0" rtlCol="0" anchor="ctr"/>
          <a:lstStyle/>
          <a:p>
            <a:pPr algn="ctr" indent="0" marL="0">
              <a:buNone/>
            </a:pPr>
            <a:r>
              <a:rPr lang="en-US" sz="900" dirty="0">
                <a:solidFill>
                  <a:srgbClr val="2B2B2B"/>
                </a:solidFill>
                <a:latin typeface="Calibri" pitchFamily="34" charset="0"/>
                <a:ea typeface="Calibri" pitchFamily="34" charset="-122"/>
                <a:cs typeface="Calibri" pitchFamily="34" charset="-120"/>
              </a:rPr>
              <a:t>Lamination</a:t>
            </a:r>
            <a:endParaRPr lang="en-US" sz="900" dirty="0"/>
          </a:p>
        </p:txBody>
      </p:sp>
      <p:sp>
        <p:nvSpPr>
          <p:cNvPr id="67" name="Shape 57"/>
          <p:cNvSpPr/>
          <p:nvPr/>
        </p:nvSpPr>
        <p:spPr>
          <a:xfrm>
            <a:off x="457200" y="4370832"/>
            <a:ext cx="4572000" cy="274320"/>
          </a:xfrm>
          <a:prstGeom prst="rect">
            <a:avLst/>
          </a:prstGeom>
          <a:solidFill>
            <a:srgbClr val="E4803A"/>
          </a:solidFill>
          <a:ln w="12700">
            <a:solidFill>
              <a:srgbClr val="E4803A"/>
            </a:solidFill>
            <a:prstDash val="solid"/>
          </a:ln>
        </p:spPr>
      </p:sp>
      <p:sp>
        <p:nvSpPr>
          <p:cNvPr id="68" name="Text 58"/>
          <p:cNvSpPr txBox="1"/>
          <p:nvPr/>
        </p:nvSpPr>
        <p:spPr>
          <a:xfrm>
            <a:off x="548640" y="4370832"/>
            <a:ext cx="4389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Precedent: who already does this, and what we copy</a:t>
            </a:r>
            <a:endParaRPr lang="en-US" sz="1100" dirty="0"/>
          </a:p>
        </p:txBody>
      </p:sp>
      <p:pic>
        <p:nvPicPr>
          <p:cNvPr id="69" name="Image 8" descr="img/photos/okp_mill.jpg">    </p:cNvPr>
          <p:cNvPicPr>
            <a:picLocks noChangeAspect="1"/>
          </p:cNvPicPr>
          <p:nvPr/>
        </p:nvPicPr>
        <p:blipFill>
          <a:blip r:embed="rId9"/>
          <a:srcRect l="0" r="0" t="0" b="0"/>
          <a:stretch/>
        </p:blipFill>
        <p:spPr>
          <a:xfrm>
            <a:off x="457200" y="4690872"/>
            <a:ext cx="1481328" cy="548640"/>
          </a:xfrm>
          <a:prstGeom prst="rect">
            <a:avLst/>
          </a:prstGeom>
        </p:spPr>
      </p:pic>
      <p:sp>
        <p:nvSpPr>
          <p:cNvPr id="70" name="Text 59"/>
          <p:cNvSpPr txBox="1"/>
          <p:nvPr/>
        </p:nvSpPr>
        <p:spPr>
          <a:xfrm>
            <a:off x="457200" y="5266944"/>
            <a:ext cx="1499616" cy="365760"/>
          </a:xfrm>
          <a:prstGeom prst="rect">
            <a:avLst/>
          </a:prstGeom>
          <a:noFill/>
          <a:ln/>
        </p:spPr>
        <p:txBody>
          <a:bodyPr wrap="square" lIns="0" tIns="0" rIns="0" bIns="0" rtlCol="0" anchor="t"/>
          <a:lstStyle/>
          <a:p>
            <a:pPr indent="0" marL="0">
              <a:buNone/>
            </a:pPr>
            <a:r>
              <a:rPr lang="en-US" sz="950" b="1" dirty="0">
                <a:solidFill>
                  <a:srgbClr val="2B2B2B"/>
                </a:solidFill>
                <a:latin typeface="Calibri" pitchFamily="34" charset="0"/>
                <a:ea typeface="Calibri" pitchFamily="34" charset="-122"/>
                <a:cs typeface="Calibri" pitchFamily="34" charset="-120"/>
              </a:rPr>
              <a:t>Outokumpu</a:t>
            </a:r>
            <a:pPr indent="0" marL="0">
              <a:buNone/>
            </a:pPr>
            <a:r>
              <a:rPr lang="en-US" sz="900" dirty="0">
                <a:solidFill>
                  <a:srgbClr val="404040"/>
                </a:solidFill>
                <a:latin typeface="Calibri" pitchFamily="34" charset="0"/>
                <a:ea typeface="Calibri" pitchFamily="34" charset="-122"/>
                <a:cs typeface="Calibri" pitchFamily="34" charset="-120"/>
              </a:rPr>
              <a:t>  AI inspection live since 2024</a:t>
            </a:r>
            <a:endParaRPr lang="en-US" sz="950" dirty="0"/>
          </a:p>
        </p:txBody>
      </p:sp>
      <p:sp>
        <p:nvSpPr>
          <p:cNvPr id="71" name="Text 60"/>
          <p:cNvSpPr txBox="1"/>
          <p:nvPr/>
        </p:nvSpPr>
        <p:spPr>
          <a:xfrm>
            <a:off x="457200" y="5632704"/>
            <a:ext cx="1499616" cy="219456"/>
          </a:xfrm>
          <a:prstGeom prst="rect">
            <a:avLst/>
          </a:prstGeom>
          <a:noFill/>
          <a:ln/>
        </p:spPr>
        <p:txBody>
          <a:bodyPr wrap="square" lIns="0" tIns="0" rIns="0" bIns="0" rtlCol="0" anchor="t"/>
          <a:lstStyle/>
          <a:p>
            <a:pPr indent="0" marL="0">
              <a:buNone/>
            </a:pPr>
            <a:r>
              <a:rPr lang="en-US" sz="900" b="1" dirty="0">
                <a:solidFill>
                  <a:srgbClr val="D2651F"/>
                </a:solidFill>
                <a:latin typeface="Calibri" pitchFamily="34" charset="0"/>
                <a:ea typeface="Calibri" pitchFamily="34" charset="-122"/>
                <a:cs typeface="Calibri" pitchFamily="34" charset="-120"/>
              </a:rPr>
              <a:t>Copy: </a:t>
            </a:r>
            <a:pPr indent="0" marL="0">
              <a:buNone/>
            </a:pPr>
            <a:r>
              <a:rPr lang="en-US" sz="900" dirty="0">
                <a:solidFill>
                  <a:srgbClr val="D2651F"/>
                </a:solidFill>
                <a:latin typeface="Calibri" pitchFamily="34" charset="0"/>
                <a:ea typeface="Calibri" pitchFamily="34" charset="-122"/>
                <a:cs typeface="Calibri" pitchFamily="34" charset="-120"/>
              </a:rPr>
              <a:t>offline, multi-site</a:t>
            </a:r>
            <a:endParaRPr lang="en-US" sz="900" dirty="0"/>
          </a:p>
        </p:txBody>
      </p:sp>
      <p:pic>
        <p:nvPicPr>
          <p:cNvPr id="72" name="Image 9" descr="img/photos/tata_view.jpg">    </p:cNvPr>
          <p:cNvPicPr>
            <a:picLocks noChangeAspect="1"/>
          </p:cNvPicPr>
          <p:nvPr/>
        </p:nvPicPr>
        <p:blipFill>
          <a:blip r:embed="rId10"/>
          <a:srcRect l="0" r="0" t="0" b="0"/>
          <a:stretch/>
        </p:blipFill>
        <p:spPr>
          <a:xfrm>
            <a:off x="2002536" y="4690872"/>
            <a:ext cx="1481328" cy="548640"/>
          </a:xfrm>
          <a:prstGeom prst="rect">
            <a:avLst/>
          </a:prstGeom>
        </p:spPr>
      </p:pic>
      <p:sp>
        <p:nvSpPr>
          <p:cNvPr id="73" name="Text 61"/>
          <p:cNvSpPr txBox="1"/>
          <p:nvPr/>
        </p:nvSpPr>
        <p:spPr>
          <a:xfrm>
            <a:off x="2002536" y="5266944"/>
            <a:ext cx="1499616" cy="365760"/>
          </a:xfrm>
          <a:prstGeom prst="rect">
            <a:avLst/>
          </a:prstGeom>
          <a:noFill/>
          <a:ln/>
        </p:spPr>
        <p:txBody>
          <a:bodyPr wrap="square" lIns="0" tIns="0" rIns="0" bIns="0" rtlCol="0" anchor="t"/>
          <a:lstStyle/>
          <a:p>
            <a:pPr indent="0" marL="0">
              <a:buNone/>
            </a:pPr>
            <a:r>
              <a:rPr lang="en-US" sz="950" b="1" dirty="0">
                <a:solidFill>
                  <a:srgbClr val="2B2B2B"/>
                </a:solidFill>
                <a:latin typeface="Calibri" pitchFamily="34" charset="0"/>
                <a:ea typeface="Calibri" pitchFamily="34" charset="-122"/>
                <a:cs typeface="Calibri" pitchFamily="34" charset="-120"/>
              </a:rPr>
              <a:t>Tata Steel</a:t>
            </a:r>
            <a:pPr indent="0" marL="0">
              <a:buNone/>
            </a:pPr>
            <a:r>
              <a:rPr lang="en-US" sz="900" dirty="0">
                <a:solidFill>
                  <a:srgbClr val="404040"/>
                </a:solidFill>
                <a:latin typeface="Calibri" pitchFamily="34" charset="0"/>
                <a:ea typeface="Calibri" pitchFamily="34" charset="-122"/>
                <a:cs typeface="Calibri" pitchFamily="34" charset="-120"/>
              </a:rPr>
              <a:t>  video analytics, cold-rolled strip</a:t>
            </a:r>
            <a:endParaRPr lang="en-US" sz="950" dirty="0"/>
          </a:p>
        </p:txBody>
      </p:sp>
      <p:sp>
        <p:nvSpPr>
          <p:cNvPr id="74" name="Text 62"/>
          <p:cNvSpPr txBox="1"/>
          <p:nvPr/>
        </p:nvSpPr>
        <p:spPr>
          <a:xfrm>
            <a:off x="2002536" y="5632704"/>
            <a:ext cx="1499616" cy="219456"/>
          </a:xfrm>
          <a:prstGeom prst="rect">
            <a:avLst/>
          </a:prstGeom>
          <a:noFill/>
          <a:ln/>
        </p:spPr>
        <p:txBody>
          <a:bodyPr wrap="square" lIns="0" tIns="0" rIns="0" bIns="0" rtlCol="0" anchor="t"/>
          <a:lstStyle/>
          <a:p>
            <a:pPr indent="0" marL="0">
              <a:buNone/>
            </a:pPr>
            <a:r>
              <a:rPr lang="en-US" sz="900" b="1" dirty="0">
                <a:solidFill>
                  <a:srgbClr val="D2651F"/>
                </a:solidFill>
                <a:latin typeface="Calibri" pitchFamily="34" charset="0"/>
                <a:ea typeface="Calibri" pitchFamily="34" charset="-122"/>
                <a:cs typeface="Calibri" pitchFamily="34" charset="-120"/>
              </a:rPr>
              <a:t>Copy: </a:t>
            </a:r>
            <a:pPr indent="0" marL="0">
              <a:buNone/>
            </a:pPr>
            <a:r>
              <a:rPr lang="en-US" sz="900" dirty="0">
                <a:solidFill>
                  <a:srgbClr val="D2651F"/>
                </a:solidFill>
                <a:latin typeface="Calibri" pitchFamily="34" charset="0"/>
                <a:ea typeface="Calibri" pitchFamily="34" charset="-122"/>
                <a:cs typeface="Calibri" pitchFamily="34" charset="-120"/>
              </a:rPr>
              <a:t>in-house team owns it</a:t>
            </a:r>
            <a:endParaRPr lang="en-US" sz="900" dirty="0"/>
          </a:p>
        </p:txBody>
      </p:sp>
      <p:pic>
        <p:nvPicPr>
          <p:cNvPr id="75" name="Image 10" descr="img/proof_gc10.png">    </p:cNvPr>
          <p:cNvPicPr>
            <a:picLocks noChangeAspect="1"/>
          </p:cNvPicPr>
          <p:nvPr/>
        </p:nvPicPr>
        <p:blipFill>
          <a:blip r:embed="rId11"/>
          <a:srcRect l="0" r="0" t="0" b="0"/>
          <a:stretch/>
        </p:blipFill>
        <p:spPr>
          <a:xfrm>
            <a:off x="3547872" y="4690872"/>
            <a:ext cx="1481328" cy="548640"/>
          </a:xfrm>
          <a:prstGeom prst="rect">
            <a:avLst/>
          </a:prstGeom>
        </p:spPr>
      </p:pic>
      <p:sp>
        <p:nvSpPr>
          <p:cNvPr id="76" name="Text 63"/>
          <p:cNvSpPr txBox="1"/>
          <p:nvPr/>
        </p:nvSpPr>
        <p:spPr>
          <a:xfrm>
            <a:off x="3547872" y="5266944"/>
            <a:ext cx="1499616" cy="365760"/>
          </a:xfrm>
          <a:prstGeom prst="rect">
            <a:avLst/>
          </a:prstGeom>
          <a:noFill/>
          <a:ln/>
        </p:spPr>
        <p:txBody>
          <a:bodyPr wrap="square" lIns="0" tIns="0" rIns="0" bIns="0" rtlCol="0" anchor="t"/>
          <a:lstStyle/>
          <a:p>
            <a:pPr indent="0" marL="0">
              <a:buNone/>
            </a:pPr>
            <a:r>
              <a:rPr lang="en-US" sz="950" b="1" dirty="0">
                <a:solidFill>
                  <a:srgbClr val="2B2B2B"/>
                </a:solidFill>
                <a:latin typeface="Calibri" pitchFamily="34" charset="0"/>
                <a:ea typeface="Calibri" pitchFamily="34" charset="-122"/>
                <a:cs typeface="Calibri" pitchFamily="34" charset="-120"/>
              </a:rPr>
              <a:t>Parsytec</a:t>
            </a:r>
            <a:pPr indent="0" marL="0">
              <a:buNone/>
            </a:pPr>
            <a:r>
              <a:rPr lang="en-US" sz="900" dirty="0">
                <a:solidFill>
                  <a:srgbClr val="404040"/>
                </a:solidFill>
                <a:latin typeface="Calibri" pitchFamily="34" charset="0"/>
                <a:ea typeface="Calibri" pitchFamily="34" charset="-122"/>
                <a:cs typeface="Calibri" pitchFamily="34" charset="-120"/>
              </a:rPr>
              <a:t>  bright + dark-field light on stainless</a:t>
            </a:r>
            <a:endParaRPr lang="en-US" sz="950" dirty="0"/>
          </a:p>
        </p:txBody>
      </p:sp>
      <p:sp>
        <p:nvSpPr>
          <p:cNvPr id="77" name="Text 64"/>
          <p:cNvSpPr txBox="1"/>
          <p:nvPr/>
        </p:nvSpPr>
        <p:spPr>
          <a:xfrm>
            <a:off x="3547872" y="5632704"/>
            <a:ext cx="1499616" cy="219456"/>
          </a:xfrm>
          <a:prstGeom prst="rect">
            <a:avLst/>
          </a:prstGeom>
          <a:noFill/>
          <a:ln/>
        </p:spPr>
        <p:txBody>
          <a:bodyPr wrap="square" lIns="0" tIns="0" rIns="0" bIns="0" rtlCol="0" anchor="t"/>
          <a:lstStyle/>
          <a:p>
            <a:pPr indent="0" marL="0">
              <a:buNone/>
            </a:pPr>
            <a:r>
              <a:rPr lang="en-US" sz="900" b="1" dirty="0">
                <a:solidFill>
                  <a:srgbClr val="D2651F"/>
                </a:solidFill>
                <a:latin typeface="Calibri" pitchFamily="34" charset="0"/>
                <a:ea typeface="Calibri" pitchFamily="34" charset="-122"/>
                <a:cs typeface="Calibri" pitchFamily="34" charset="-120"/>
              </a:rPr>
              <a:t>Copy: </a:t>
            </a:r>
            <a:pPr indent="0" marL="0">
              <a:buNone/>
            </a:pPr>
            <a:r>
              <a:rPr lang="en-US" sz="900" dirty="0">
                <a:solidFill>
                  <a:srgbClr val="D2651F"/>
                </a:solidFill>
                <a:latin typeface="Calibri" pitchFamily="34" charset="0"/>
                <a:ea typeface="Calibri" pitchFamily="34" charset="-122"/>
                <a:cs typeface="Calibri" pitchFamily="34" charset="-120"/>
              </a:rPr>
              <a:t>optics spec</a:t>
            </a:r>
            <a:endParaRPr lang="en-US" sz="900" dirty="0"/>
          </a:p>
        </p:txBody>
      </p:sp>
      <p:sp>
        <p:nvSpPr>
          <p:cNvPr id="78" name="Shape 65"/>
          <p:cNvSpPr/>
          <p:nvPr/>
        </p:nvSpPr>
        <p:spPr>
          <a:xfrm>
            <a:off x="5257800" y="4370832"/>
            <a:ext cx="6473952" cy="274320"/>
          </a:xfrm>
          <a:prstGeom prst="rect">
            <a:avLst/>
          </a:prstGeom>
          <a:solidFill>
            <a:srgbClr val="E4803A"/>
          </a:solidFill>
          <a:ln w="12700">
            <a:solidFill>
              <a:srgbClr val="E4803A"/>
            </a:solidFill>
            <a:prstDash val="solid"/>
          </a:ln>
        </p:spPr>
      </p:sp>
      <p:sp>
        <p:nvSpPr>
          <p:cNvPr id="79" name="Text 66"/>
          <p:cNvSpPr txBox="1"/>
          <p:nvPr/>
        </p:nvSpPr>
        <p:spPr>
          <a:xfrm>
            <a:off x="5349240" y="4370832"/>
            <a:ext cx="62910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Grade-by-defect risk: which defects to train for first</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257800" y="4690872"/>
          <a:ext cx="4572000" cy="914400"/>
        </p:xfrm>
        <a:graphic>
          <a:graphicData uri="http://schemas.openxmlformats.org/drawingml/2006/table">
            <a:tbl>
              <a:tblPr/>
              <a:tblGrid>
                <a:gridCol w="1463040"/>
                <a:gridCol w="621792"/>
                <a:gridCol w="621792"/>
                <a:gridCol w="621792"/>
                <a:gridCol w="621792"/>
                <a:gridCol w="621792"/>
              </a:tblGrid>
              <a:tr h="23317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Grade</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Slivers</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Scale</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Scratches</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Edge cracks</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Ridging</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r>
              <a:tr h="233172">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200 series (Cr-Mn)</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BE92"/>
                    </a:solidFill>
                  </a:tcPr>
                </a:tc>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BE9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4561A"/>
                    </a:solidFill>
                  </a:tcPr>
                </a:tc>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BE92"/>
                    </a:solidFill>
                  </a:tcPr>
                </a:tc>
                <a:tc>
                  <a:txBody>
                    <a:bodyPr/>
                    <a:lstStyle/>
                    <a:p>
                      <a:pPr algn="ctr" indent="0" marL="0">
                        <a:buNone/>
                      </a:pPr>
                      <a:r>
                        <a:rPr lang="en-US" sz="950" b="1" dirty="0">
                          <a:solidFill>
                            <a:srgbClr val="6E6E6E"/>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5D3"/>
                    </a:solidFill>
                  </a:tcPr>
                </a:tc>
              </a:tr>
              <a:tr h="233172">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300 series (304, 316)</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DEFE4"/>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4561A"/>
                    </a:solidFill>
                  </a:tcPr>
                </a:tc>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BE9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4561A"/>
                    </a:solidFill>
                  </a:tcPr>
                </a:tc>
                <a:tc>
                  <a:txBody>
                    <a:bodyPr/>
                    <a:lstStyle/>
                    <a:p>
                      <a:pPr algn="ctr" indent="0" marL="0">
                        <a:buNone/>
                      </a:pPr>
                      <a:r>
                        <a:rPr lang="en-US" sz="950" b="1" dirty="0">
                          <a:solidFill>
                            <a:srgbClr val="6E6E6E"/>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5D3"/>
                    </a:solidFill>
                  </a:tcPr>
                </a:tc>
                <a:tc>
                  <a:txBody>
                    <a:bodyPr/>
                    <a:lstStyle/>
                    <a:p>
                      <a:pPr algn="ctr" indent="0" marL="0">
                        <a:buNone/>
                      </a:pPr>
                      <a:r>
                        <a:rPr lang="en-US" sz="950" b="1" dirty="0">
                          <a:solidFill>
                            <a:srgbClr val="6E6E6E"/>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5D3"/>
                    </a:solidFill>
                  </a:tcPr>
                </a:tc>
              </a:tr>
              <a:tr h="233172">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400 series (409, 430)</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4561A"/>
                    </a:solidFill>
                  </a:tcPr>
                </a:tc>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BE92"/>
                    </a:solidFill>
                  </a:tcPr>
                </a:tc>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BE92"/>
                    </a:solidFill>
                  </a:tcPr>
                </a:tc>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BE9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4561A"/>
                    </a:solidFill>
                  </a:tcPr>
                </a:tc>
              </a:tr>
              <a:tr h="233172">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Duplex (2205)</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BE9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4561A"/>
                    </a:solidFill>
                  </a:tcPr>
                </a:tc>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BE9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4561A"/>
                    </a:solidFill>
                  </a:tcPr>
                </a:tc>
                <a:tc>
                  <a:txBody>
                    <a:bodyPr/>
                    <a:lstStyle/>
                    <a:p>
                      <a:pPr algn="ctr" indent="0" marL="0">
                        <a:buNone/>
                      </a:pPr>
                      <a:r>
                        <a:rPr lang="en-US" sz="950" b="1" dirty="0">
                          <a:solidFill>
                            <a:srgbClr val="6E6E6E"/>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5D3"/>
                    </a:solidFill>
                  </a:tcPr>
                </a:tc>
              </a:tr>
            </a:tbl>
          </a:graphicData>
        </a:graphic>
      </p:graphicFrame>
      <p:pic>
        <p:nvPicPr>
          <p:cNvPr id="81" name="Image 11" descr="img/photos/vb_coaches.jpg">    </p:cNvPr>
          <p:cNvPicPr>
            <a:picLocks noChangeAspect="1"/>
          </p:cNvPicPr>
          <p:nvPr/>
        </p:nvPicPr>
        <p:blipFill>
          <a:blip r:embed="rId12"/>
          <a:srcRect l="0" r="0" t="0" b="0"/>
          <a:stretch/>
        </p:blipFill>
        <p:spPr>
          <a:xfrm>
            <a:off x="9966960" y="4690872"/>
            <a:ext cx="1764792" cy="1170432"/>
          </a:xfrm>
          <a:prstGeom prst="rect">
            <a:avLst/>
          </a:prstGeom>
        </p:spPr>
      </p:pic>
      <p:sp>
        <p:nvSpPr>
          <p:cNvPr id="82" name="Shape 67"/>
          <p:cNvSpPr/>
          <p:nvPr/>
        </p:nvSpPr>
        <p:spPr>
          <a:xfrm>
            <a:off x="9966960" y="5294376"/>
            <a:ext cx="1764792" cy="566928"/>
          </a:xfrm>
          <a:prstGeom prst="rect">
            <a:avLst/>
          </a:prstGeom>
          <a:solidFill>
            <a:srgbClr val="2B2B2B">
              <a:alpha val="85000"/>
            </a:srgbClr>
          </a:solidFill>
          <a:ln w="12700">
            <a:solidFill>
              <a:srgbClr val="2B2B2B"/>
            </a:solidFill>
            <a:prstDash val="solid"/>
          </a:ln>
        </p:spPr>
      </p:sp>
      <p:sp>
        <p:nvSpPr>
          <p:cNvPr id="83" name="Text 68"/>
          <p:cNvSpPr txBox="1"/>
          <p:nvPr/>
        </p:nvSpPr>
        <p:spPr>
          <a:xfrm>
            <a:off x="10040112" y="5303520"/>
            <a:ext cx="1645920" cy="54864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Pilot grade: 300 series</a:t>
            </a:r>
            <a:pPr indent="0" marL="0">
              <a:buNone/>
            </a:pPr>
            <a:endParaRPr lang="en-US" sz="1000" dirty="0"/>
          </a:p>
          <a:p>
            <a:pPr indent="0" marL="0">
              <a:buNone/>
            </a:pPr>
            <a:r>
              <a:rPr lang="en-US" sz="900" dirty="0">
                <a:solidFill>
                  <a:srgbClr val="D6D6D6"/>
                </a:solidFill>
                <a:latin typeface="Calibri" pitchFamily="34" charset="0"/>
                <a:ea typeface="Calibri" pitchFamily="34" charset="-122"/>
                <a:cs typeface="Calibri" pitchFamily="34" charset="-120"/>
              </a:rPr>
              <a:t>exposed surfaces, most nickel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E4803A"/>
          </a:solidFill>
          <a:ln w="12700">
            <a:solidFill>
              <a:srgbClr val="E4803A"/>
            </a:solidFill>
            <a:prstDash val="solid"/>
          </a:ln>
        </p:spPr>
      </p:sp>
      <p:pic>
        <p:nvPicPr>
          <p:cNvPr id="3" name="Image 0" descr="img/logo_jsl.jpg">    </p:cNvPr>
          <p:cNvPicPr>
            <a:picLocks noChangeAspect="1"/>
          </p:cNvPicPr>
          <p:nvPr/>
        </p:nvPicPr>
        <p:blipFill>
          <a:blip r:embed="rId1"/>
          <a:stretch>
            <a:fillRect/>
          </a:stretch>
        </p:blipFill>
        <p:spPr>
          <a:xfrm>
            <a:off x="91440" y="73152"/>
            <a:ext cx="2176272" cy="640080"/>
          </a:xfrm>
          <a:prstGeom prst="rect">
            <a:avLst/>
          </a:prstGeom>
        </p:spPr>
      </p:pic>
      <p:pic>
        <p:nvPicPr>
          <p:cNvPr id="4" name="Image 1" descr="img/logo_spark.png">    </p:cNvPr>
          <p:cNvPicPr>
            <a:picLocks noChangeAspect="1"/>
          </p:cNvPicPr>
          <p:nvPr/>
        </p:nvPicPr>
        <p:blipFill>
          <a:blip r:embed="rId2"/>
          <a:stretch>
            <a:fillRect/>
          </a:stretch>
        </p:blipFill>
        <p:spPr>
          <a:xfrm>
            <a:off x="2340864" y="73152"/>
            <a:ext cx="1243584" cy="640080"/>
          </a:xfrm>
          <a:prstGeom prst="rect">
            <a:avLst/>
          </a:prstGeom>
        </p:spPr>
      </p:pic>
      <p:sp>
        <p:nvSpPr>
          <p:cNvPr id="5" name="Shape 1"/>
          <p:cNvSpPr/>
          <p:nvPr/>
        </p:nvSpPr>
        <p:spPr>
          <a:xfrm>
            <a:off x="3785616" y="182880"/>
            <a:ext cx="1307592" cy="420624"/>
          </a:xfrm>
          <a:prstGeom prst="rect">
            <a:avLst/>
          </a:prstGeom>
          <a:solidFill>
            <a:srgbClr val="F2F2F2"/>
          </a:solidFill>
          <a:ln w="12700">
            <a:solidFill>
              <a:srgbClr val="F2F2F2"/>
            </a:solidFill>
            <a:prstDash val="solid"/>
          </a:ln>
        </p:spPr>
      </p:sp>
      <p:sp>
        <p:nvSpPr>
          <p:cNvPr id="6" name="Text 2"/>
          <p:cNvSpPr txBox="1"/>
          <p:nvPr/>
        </p:nvSpPr>
        <p:spPr>
          <a:xfrm>
            <a:off x="3785616"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1  Problem</a:t>
            </a:r>
            <a:endParaRPr lang="en-US" sz="1050" dirty="0"/>
          </a:p>
        </p:txBody>
      </p:sp>
      <p:sp>
        <p:nvSpPr>
          <p:cNvPr id="7" name="Shape 3"/>
          <p:cNvSpPr/>
          <p:nvPr/>
        </p:nvSpPr>
        <p:spPr>
          <a:xfrm>
            <a:off x="5148072" y="182880"/>
            <a:ext cx="1307592" cy="420624"/>
          </a:xfrm>
          <a:prstGeom prst="rect">
            <a:avLst/>
          </a:prstGeom>
          <a:solidFill>
            <a:srgbClr val="B63831"/>
          </a:solidFill>
          <a:ln w="12700">
            <a:solidFill>
              <a:srgbClr val="B63831"/>
            </a:solidFill>
            <a:prstDash val="solid"/>
          </a:ln>
        </p:spPr>
      </p:sp>
      <p:sp>
        <p:nvSpPr>
          <p:cNvPr id="8" name="Text 4"/>
          <p:cNvSpPr txBox="1"/>
          <p:nvPr/>
        </p:nvSpPr>
        <p:spPr>
          <a:xfrm>
            <a:off x="5148072" y="182880"/>
            <a:ext cx="1307592"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  Insights</a:t>
            </a:r>
            <a:endParaRPr lang="en-US" sz="1050" dirty="0"/>
          </a:p>
        </p:txBody>
      </p:sp>
      <p:sp>
        <p:nvSpPr>
          <p:cNvPr id="9" name="Shape 5"/>
          <p:cNvSpPr/>
          <p:nvPr/>
        </p:nvSpPr>
        <p:spPr>
          <a:xfrm>
            <a:off x="6510528" y="182880"/>
            <a:ext cx="1307592" cy="420624"/>
          </a:xfrm>
          <a:prstGeom prst="rect">
            <a:avLst/>
          </a:prstGeom>
          <a:solidFill>
            <a:srgbClr val="F2F2F2"/>
          </a:solidFill>
          <a:ln w="12700">
            <a:solidFill>
              <a:srgbClr val="F2F2F2"/>
            </a:solidFill>
            <a:prstDash val="solid"/>
          </a:ln>
        </p:spPr>
      </p:sp>
      <p:sp>
        <p:nvSpPr>
          <p:cNvPr id="10" name="Text 6"/>
          <p:cNvSpPr txBox="1"/>
          <p:nvPr/>
        </p:nvSpPr>
        <p:spPr>
          <a:xfrm>
            <a:off x="6510528"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3  Solution</a:t>
            </a:r>
            <a:endParaRPr lang="en-US" sz="1050" dirty="0"/>
          </a:p>
        </p:txBody>
      </p:sp>
      <p:sp>
        <p:nvSpPr>
          <p:cNvPr id="11" name="Shape 7"/>
          <p:cNvSpPr/>
          <p:nvPr/>
        </p:nvSpPr>
        <p:spPr>
          <a:xfrm>
            <a:off x="7872984" y="182880"/>
            <a:ext cx="1307592" cy="420624"/>
          </a:xfrm>
          <a:prstGeom prst="rect">
            <a:avLst/>
          </a:prstGeom>
          <a:solidFill>
            <a:srgbClr val="F2F2F2"/>
          </a:solidFill>
          <a:ln w="12700">
            <a:solidFill>
              <a:srgbClr val="F2F2F2"/>
            </a:solidFill>
            <a:prstDash val="solid"/>
          </a:ln>
        </p:spPr>
      </p:sp>
      <p:sp>
        <p:nvSpPr>
          <p:cNvPr id="12" name="Text 8"/>
          <p:cNvSpPr txBox="1"/>
          <p:nvPr/>
        </p:nvSpPr>
        <p:spPr>
          <a:xfrm>
            <a:off x="7872984"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4  Implementation</a:t>
            </a:r>
            <a:endParaRPr lang="en-US" sz="1050" dirty="0"/>
          </a:p>
        </p:txBody>
      </p:sp>
      <p:sp>
        <p:nvSpPr>
          <p:cNvPr id="13" name="Shape 9"/>
          <p:cNvSpPr/>
          <p:nvPr/>
        </p:nvSpPr>
        <p:spPr>
          <a:xfrm>
            <a:off x="9235440" y="182880"/>
            <a:ext cx="1307592" cy="420624"/>
          </a:xfrm>
          <a:prstGeom prst="rect">
            <a:avLst/>
          </a:prstGeom>
          <a:solidFill>
            <a:srgbClr val="F2F2F2"/>
          </a:solidFill>
          <a:ln w="12700">
            <a:solidFill>
              <a:srgbClr val="F2F2F2"/>
            </a:solidFill>
            <a:prstDash val="solid"/>
          </a:ln>
        </p:spPr>
      </p:sp>
      <p:sp>
        <p:nvSpPr>
          <p:cNvPr id="14" name="Text 10"/>
          <p:cNvSpPr txBox="1"/>
          <p:nvPr/>
        </p:nvSpPr>
        <p:spPr>
          <a:xfrm>
            <a:off x="9235440"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5  Impact</a:t>
            </a:r>
            <a:endParaRPr lang="en-US" sz="1050" dirty="0"/>
          </a:p>
        </p:txBody>
      </p:sp>
      <p:sp>
        <p:nvSpPr>
          <p:cNvPr id="15" name="Text 11"/>
          <p:cNvSpPr txBox="1"/>
          <p:nvPr/>
        </p:nvSpPr>
        <p:spPr>
          <a:xfrm>
            <a:off x="10625328" y="146304"/>
            <a:ext cx="1481328" cy="49377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Team Futuristic</a:t>
            </a:r>
            <a:pPr algn="r" indent="0" marL="0">
              <a:buNone/>
            </a:pPr>
            <a:endParaRPr lang="en-US" sz="1000" dirty="0"/>
          </a:p>
          <a:p>
            <a:pPr algn="r" indent="0" marL="0">
              <a:buNone/>
            </a:pPr>
            <a:r>
              <a:rPr lang="en-US" sz="950" dirty="0">
                <a:solidFill>
                  <a:srgbClr val="FFFFFF"/>
                </a:solidFill>
                <a:latin typeface="Calibri" pitchFamily="34" charset="0"/>
                <a:ea typeface="Calibri" pitchFamily="34" charset="-122"/>
                <a:cs typeface="Calibri" pitchFamily="34" charset="-120"/>
              </a:rPr>
              <a:t>IIT Bombay</a:t>
            </a:r>
            <a:endParaRPr lang="en-US" sz="1000" dirty="0"/>
          </a:p>
        </p:txBody>
      </p:sp>
      <p:sp>
        <p:nvSpPr>
          <p:cNvPr id="16" name="Text 12"/>
          <p:cNvSpPr txBox="1"/>
          <p:nvPr/>
        </p:nvSpPr>
        <p:spPr>
          <a:xfrm>
            <a:off x="457200" y="822960"/>
            <a:ext cx="11274552" cy="384048"/>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Four design choices that make the system work on a real line</a:t>
            </a:r>
            <a:endParaRPr lang="en-US" sz="2000" dirty="0"/>
          </a:p>
        </p:txBody>
      </p:sp>
      <p:sp>
        <p:nvSpPr>
          <p:cNvPr id="17" name="Shape 13"/>
          <p:cNvSpPr/>
          <p:nvPr/>
        </p:nvSpPr>
        <p:spPr>
          <a:xfrm>
            <a:off x="91440" y="1234440"/>
            <a:ext cx="274320" cy="4965192"/>
          </a:xfrm>
          <a:prstGeom prst="rect">
            <a:avLst/>
          </a:prstGeom>
          <a:solidFill>
            <a:srgbClr val="2B2B2B"/>
          </a:solidFill>
          <a:ln w="12700">
            <a:solidFill>
              <a:srgbClr val="2B2B2B"/>
            </a:solidFill>
            <a:prstDash val="solid"/>
          </a:ln>
        </p:spPr>
      </p:sp>
      <p:sp>
        <p:nvSpPr>
          <p:cNvPr id="18" name="Text 14"/>
          <p:cNvSpPr txBox="1"/>
          <p:nvPr/>
        </p:nvSpPr>
        <p:spPr>
          <a:xfrm rot="16200000">
            <a:off x="-2253996" y="3579876"/>
            <a:ext cx="4965192"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INSIGHTS  ·  DESIGN CHOICES</a:t>
            </a:r>
            <a:endParaRPr lang="en-US" sz="1000" dirty="0"/>
          </a:p>
        </p:txBody>
      </p:sp>
      <p:sp>
        <p:nvSpPr>
          <p:cNvPr id="19" name="Shape 15"/>
          <p:cNvSpPr/>
          <p:nvPr/>
        </p:nvSpPr>
        <p:spPr>
          <a:xfrm>
            <a:off x="91440" y="6236208"/>
            <a:ext cx="11640312" cy="420624"/>
          </a:xfrm>
          <a:prstGeom prst="rect">
            <a:avLst/>
          </a:prstGeom>
          <a:solidFill>
            <a:srgbClr val="2B2B2B"/>
          </a:solidFill>
          <a:ln w="12700">
            <a:solidFill>
              <a:srgbClr val="2B2B2B"/>
            </a:solidFill>
            <a:prstDash val="solid"/>
          </a:ln>
        </p:spPr>
      </p:sp>
      <p:sp>
        <p:nvSpPr>
          <p:cNvPr id="20" name="Text 16"/>
          <p:cNvSpPr txBox="1"/>
          <p:nvPr/>
        </p:nvSpPr>
        <p:spPr>
          <a:xfrm>
            <a:off x="256032" y="6236208"/>
            <a:ext cx="1133856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Success is decided on the line, not in the lab: JSL's own strip, the right image detail, coil-level rules and operator trust.</a:t>
            </a:r>
            <a:endParaRPr lang="en-US" sz="1200" dirty="0"/>
          </a:p>
        </p:txBody>
      </p:sp>
      <p:sp>
        <p:nvSpPr>
          <p:cNvPr id="21" name="Text 17"/>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Results measured by us on public steel data the system had never seen. Hardware sizing derived from our line-speed benchmark.</a:t>
            </a:r>
            <a:endParaRPr lang="en-US" sz="900" dirty="0"/>
          </a:p>
        </p:txBody>
      </p:sp>
      <p:sp>
        <p:nvSpPr>
          <p:cNvPr id="22" name="Shape 18"/>
          <p:cNvSpPr/>
          <p:nvPr/>
        </p:nvSpPr>
        <p:spPr>
          <a:xfrm>
            <a:off x="457200" y="1234440"/>
            <a:ext cx="5541264" cy="274320"/>
          </a:xfrm>
          <a:prstGeom prst="rect">
            <a:avLst/>
          </a:prstGeom>
          <a:solidFill>
            <a:srgbClr val="E4803A"/>
          </a:solidFill>
          <a:ln w="12700">
            <a:solidFill>
              <a:srgbClr val="E4803A"/>
            </a:solidFill>
            <a:prstDash val="solid"/>
          </a:ln>
        </p:spPr>
      </p:sp>
      <p:sp>
        <p:nvSpPr>
          <p:cNvPr id="23" name="Text 19"/>
          <p:cNvSpPr txBox="1"/>
          <p:nvPr/>
        </p:nvSpPr>
        <p:spPr>
          <a:xfrm>
            <a:off x="548640"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  Alarms you can act on</a:t>
            </a:r>
            <a:endParaRPr lang="en-US" sz="1100" dirty="0"/>
          </a:p>
        </p:txBody>
      </p:sp>
      <p:sp>
        <p:nvSpPr>
          <p:cNvPr id="24" name="Shape 20"/>
          <p:cNvSpPr/>
          <p:nvPr/>
        </p:nvSpPr>
        <p:spPr>
          <a:xfrm>
            <a:off x="457200" y="1508760"/>
            <a:ext cx="5541264" cy="1984248"/>
          </a:xfrm>
          <a:prstGeom prst="roundRect">
            <a:avLst>
              <a:gd name="adj" fmla="val 2765"/>
            </a:avLst>
          </a:prstGeom>
          <a:solidFill>
            <a:srgbClr val="F3F3F3"/>
          </a:solidFill>
          <a:ln w="12700">
            <a:solidFill>
              <a:srgbClr val="F3F3F3"/>
            </a:solidFill>
            <a:prstDash val="solid"/>
          </a:ln>
        </p:spPr>
      </p:sp>
      <p:graphicFrame>
        <p:nvGraphicFramePr>
          <p:cNvPr id="25" name="Chart 0" descr=""/>
          <p:cNvGraphicFramePr/>
          <p:nvPr/>
        </p:nvGraphicFramePr>
        <p:xfrm>
          <a:off x="566928" y="1572768"/>
          <a:ext cx="1188720" cy="1188720"/>
        </p:xfrm>
        <a:graphic xmlns:a="http://schemas.openxmlformats.org/drawingml/2006/main">
          <a:graphicData uri="http://schemas.openxmlformats.org/drawingml/2006/chart">
            <c:chart xmlns:c="http://schemas.openxmlformats.org/drawingml/2006/chart" r:id="rId3"/>
          </a:graphicData>
        </a:graphic>
      </p:graphicFrame>
      <p:sp>
        <p:nvSpPr>
          <p:cNvPr id="26" name="Text 21"/>
          <p:cNvSpPr txBox="1"/>
          <p:nvPr/>
        </p:nvSpPr>
        <p:spPr>
          <a:xfrm>
            <a:off x="566928" y="1975104"/>
            <a:ext cx="1188720" cy="384048"/>
          </a:xfrm>
          <a:prstGeom prst="rect">
            <a:avLst/>
          </a:prstGeom>
          <a:noFill/>
          <a:ln/>
        </p:spPr>
        <p:txBody>
          <a:bodyPr wrap="square" lIns="0" tIns="0" rIns="0" bIns="0" rtlCol="0" anchor="ctr"/>
          <a:lstStyle/>
          <a:p>
            <a:pPr algn="ctr" indent="0" marL="0">
              <a:buNone/>
            </a:pPr>
            <a:r>
              <a:rPr lang="en-US" sz="1600" b="1" dirty="0">
                <a:solidFill>
                  <a:srgbClr val="2B2B2B"/>
                </a:solidFill>
                <a:latin typeface="Calibri" pitchFamily="34" charset="0"/>
                <a:ea typeface="Calibri" pitchFamily="34" charset="-122"/>
                <a:cs typeface="Calibri" pitchFamily="34" charset="-120"/>
              </a:rPr>
              <a:t>90%</a:t>
            </a:r>
            <a:endParaRPr lang="en-US" sz="1600" dirty="0"/>
          </a:p>
        </p:txBody>
      </p:sp>
      <p:sp>
        <p:nvSpPr>
          <p:cNvPr id="27" name="Text 22"/>
          <p:cNvSpPr txBox="1"/>
          <p:nvPr/>
        </p:nvSpPr>
        <p:spPr>
          <a:xfrm>
            <a:off x="521208" y="2788920"/>
            <a:ext cx="1325880" cy="201168"/>
          </a:xfrm>
          <a:prstGeom prst="rect">
            <a:avLst/>
          </a:prstGeom>
          <a:noFill/>
          <a:ln/>
        </p:spPr>
        <p:txBody>
          <a:bodyPr wrap="square" lIns="0" tIns="0" rIns="0" bIns="0" rtlCol="0" anchor="t"/>
          <a:lstStyle/>
          <a:p>
            <a:pPr algn="ctr" indent="0" marL="0">
              <a:buNone/>
            </a:pPr>
            <a:r>
              <a:rPr lang="en-US" sz="900" dirty="0">
                <a:solidFill>
                  <a:srgbClr val="404040"/>
                </a:solidFill>
                <a:latin typeface="Calibri" pitchFamily="34" charset="0"/>
                <a:ea typeface="Calibri" pitchFamily="34" charset="-122"/>
                <a:cs typeface="Calibri" pitchFamily="34" charset="-120"/>
              </a:rPr>
              <a:t>258 of 288 caught</a:t>
            </a:r>
            <a:endParaRPr lang="en-US" sz="900" dirty="0"/>
          </a:p>
        </p:txBody>
      </p:sp>
      <p:pic>
        <p:nvPicPr>
          <p:cNvPr id="28" name="Image 2" descr="img/proof_severstal.png">    </p:cNvPr>
          <p:cNvPicPr>
            <a:picLocks noChangeAspect="1"/>
          </p:cNvPicPr>
          <p:nvPr/>
        </p:nvPicPr>
        <p:blipFill>
          <a:blip r:embed="rId4"/>
          <a:stretch>
            <a:fillRect/>
          </a:stretch>
        </p:blipFill>
        <p:spPr>
          <a:xfrm>
            <a:off x="1828800" y="1609344"/>
            <a:ext cx="1024128" cy="1024128"/>
          </a:xfrm>
          <a:prstGeom prst="rect">
            <a:avLst/>
          </a:prstGeom>
        </p:spPr>
      </p:pic>
      <p:sp>
        <p:nvSpPr>
          <p:cNvPr id="29" name="Text 23"/>
          <p:cNvSpPr txBox="1"/>
          <p:nvPr/>
        </p:nvSpPr>
        <p:spPr>
          <a:xfrm>
            <a:off x="1828800" y="2670048"/>
            <a:ext cx="1024128" cy="274320"/>
          </a:xfrm>
          <a:prstGeom prst="rect">
            <a:avLst/>
          </a:prstGeom>
          <a:noFill/>
          <a:ln/>
        </p:spPr>
        <p:txBody>
          <a:bodyPr wrap="square" lIns="0" tIns="0" rIns="0" bIns="0" rtlCol="0" anchor="t"/>
          <a:lstStyle/>
          <a:p>
            <a:pPr algn="ctr" indent="0" marL="0">
              <a:buNone/>
            </a:pPr>
            <a:r>
              <a:rPr lang="en-US" sz="900" b="1" dirty="0">
                <a:solidFill>
                  <a:srgbClr val="D2651F"/>
                </a:solidFill>
                <a:latin typeface="Calibri" pitchFamily="34" charset="0"/>
                <a:ea typeface="Calibri" pitchFamily="34" charset="-122"/>
                <a:cs typeface="Calibri" pitchFamily="34" charset="-120"/>
              </a:rPr>
              <a:t>defect: flagged</a:t>
            </a:r>
            <a:endParaRPr lang="en-US" sz="900" dirty="0"/>
          </a:p>
        </p:txBody>
      </p:sp>
      <p:graphicFrame>
        <p:nvGraphicFramePr>
          <p:cNvPr id="30" name="Chart 1" descr=""/>
          <p:cNvGraphicFramePr/>
          <p:nvPr/>
        </p:nvGraphicFramePr>
        <p:xfrm>
          <a:off x="3310128" y="1572768"/>
          <a:ext cx="1188720" cy="1188720"/>
        </p:xfrm>
        <a:graphic xmlns:a="http://schemas.openxmlformats.org/drawingml/2006/main">
          <a:graphicData uri="http://schemas.openxmlformats.org/drawingml/2006/chart">
            <c:chart xmlns:c="http://schemas.openxmlformats.org/drawingml/2006/chart" r:id="rId5"/>
          </a:graphicData>
        </a:graphic>
      </p:graphicFrame>
      <p:sp>
        <p:nvSpPr>
          <p:cNvPr id="31" name="Text 24"/>
          <p:cNvSpPr txBox="1"/>
          <p:nvPr/>
        </p:nvSpPr>
        <p:spPr>
          <a:xfrm>
            <a:off x="3310128" y="1975104"/>
            <a:ext cx="1188720" cy="384048"/>
          </a:xfrm>
          <a:prstGeom prst="rect">
            <a:avLst/>
          </a:prstGeom>
          <a:noFill/>
          <a:ln/>
        </p:spPr>
        <p:txBody>
          <a:bodyPr wrap="square" lIns="0" tIns="0" rIns="0" bIns="0" rtlCol="0" anchor="ctr"/>
          <a:lstStyle/>
          <a:p>
            <a:pPr algn="ctr" indent="0" marL="0">
              <a:buNone/>
            </a:pPr>
            <a:r>
              <a:rPr lang="en-US" sz="1600" b="1" dirty="0">
                <a:solidFill>
                  <a:srgbClr val="2B2B2B"/>
                </a:solidFill>
                <a:latin typeface="Calibri" pitchFamily="34" charset="0"/>
                <a:ea typeface="Calibri" pitchFamily="34" charset="-122"/>
                <a:cs typeface="Calibri" pitchFamily="34" charset="-120"/>
              </a:rPr>
              <a:t>4.7%</a:t>
            </a:r>
            <a:endParaRPr lang="en-US" sz="1600" dirty="0"/>
          </a:p>
        </p:txBody>
      </p:sp>
      <p:sp>
        <p:nvSpPr>
          <p:cNvPr id="32" name="Text 25"/>
          <p:cNvSpPr txBox="1"/>
          <p:nvPr/>
        </p:nvSpPr>
        <p:spPr>
          <a:xfrm>
            <a:off x="3264408" y="2788920"/>
            <a:ext cx="1325880" cy="201168"/>
          </a:xfrm>
          <a:prstGeom prst="rect">
            <a:avLst/>
          </a:prstGeom>
          <a:noFill/>
          <a:ln/>
        </p:spPr>
        <p:txBody>
          <a:bodyPr wrap="square" lIns="0" tIns="0" rIns="0" bIns="0" rtlCol="0" anchor="t"/>
          <a:lstStyle/>
          <a:p>
            <a:pPr algn="ctr" indent="0" marL="0">
              <a:buNone/>
            </a:pPr>
            <a:r>
              <a:rPr lang="en-US" sz="900" dirty="0">
                <a:solidFill>
                  <a:srgbClr val="404040"/>
                </a:solidFill>
                <a:latin typeface="Calibri" pitchFamily="34" charset="0"/>
                <a:ea typeface="Calibri" pitchFamily="34" charset="-122"/>
                <a:cs typeface="Calibri" pitchFamily="34" charset="-120"/>
              </a:rPr>
              <a:t>14 of 300 flagged</a:t>
            </a:r>
            <a:endParaRPr lang="en-US" sz="900" dirty="0"/>
          </a:p>
        </p:txBody>
      </p:sp>
      <p:pic>
        <p:nvPicPr>
          <p:cNvPr id="33" name="Image 3" descr="img/mill_clean.jpg">    </p:cNvPr>
          <p:cNvPicPr>
            <a:picLocks noChangeAspect="1"/>
          </p:cNvPicPr>
          <p:nvPr/>
        </p:nvPicPr>
        <p:blipFill>
          <a:blip r:embed="rId6"/>
          <a:stretch>
            <a:fillRect/>
          </a:stretch>
        </p:blipFill>
        <p:spPr>
          <a:xfrm>
            <a:off x="4572000" y="1609344"/>
            <a:ext cx="1024128" cy="1024128"/>
          </a:xfrm>
          <a:prstGeom prst="rect">
            <a:avLst/>
          </a:prstGeom>
        </p:spPr>
      </p:pic>
      <p:sp>
        <p:nvSpPr>
          <p:cNvPr id="34" name="Text 26"/>
          <p:cNvSpPr txBox="1"/>
          <p:nvPr/>
        </p:nvSpPr>
        <p:spPr>
          <a:xfrm>
            <a:off x="4572000" y="2670048"/>
            <a:ext cx="1024128" cy="274320"/>
          </a:xfrm>
          <a:prstGeom prst="rect">
            <a:avLst/>
          </a:prstGeom>
          <a:noFill/>
          <a:ln/>
        </p:spPr>
        <p:txBody>
          <a:bodyPr wrap="square" lIns="0" tIns="0" rIns="0" bIns="0" rtlCol="0" anchor="t"/>
          <a:lstStyle/>
          <a:p>
            <a:pPr algn="ctr" indent="0" marL="0">
              <a:buNone/>
            </a:pPr>
            <a:r>
              <a:rPr lang="en-US" sz="900" b="1" dirty="0">
                <a:solidFill>
                  <a:srgbClr val="D2651F"/>
                </a:solidFill>
                <a:latin typeface="Calibri" pitchFamily="34" charset="0"/>
                <a:ea typeface="Calibri" pitchFamily="34" charset="-122"/>
                <a:cs typeface="Calibri" pitchFamily="34" charset="-120"/>
              </a:rPr>
              <a:t>clean: no alarm</a:t>
            </a:r>
            <a:endParaRPr lang="en-US" sz="900" dirty="0"/>
          </a:p>
        </p:txBody>
      </p:sp>
      <p:sp>
        <p:nvSpPr>
          <p:cNvPr id="35" name="Text 27"/>
          <p:cNvSpPr txBox="1"/>
          <p:nvPr/>
        </p:nvSpPr>
        <p:spPr>
          <a:xfrm>
            <a:off x="594360" y="3163824"/>
            <a:ext cx="5266944" cy="274320"/>
          </a:xfrm>
          <a:prstGeom prst="rect">
            <a:avLst/>
          </a:prstGeom>
          <a:noFill/>
          <a:ln/>
        </p:spPr>
        <p:txBody>
          <a:bodyPr wrap="square" lIns="0" tIns="0" rIns="0" bIns="0" rtlCol="0" anchor="ctr"/>
          <a:lstStyle/>
          <a:p>
            <a:pPr indent="0" marL="0">
              <a:buNone/>
            </a:pPr>
            <a:r>
              <a:rPr lang="en-US" sz="1000" b="1" dirty="0">
                <a:solidFill>
                  <a:srgbClr val="D2651F"/>
                </a:solidFill>
                <a:latin typeface="Calibri" pitchFamily="34" charset="0"/>
                <a:ea typeface="Calibri" pitchFamily="34" charset="-122"/>
                <a:cs typeface="Calibri" pitchFamily="34" charset="-120"/>
              </a:rPr>
              <a:t>So we: </a:t>
            </a:r>
            <a:pPr indent="0" marL="0">
              <a:buNone/>
            </a:pPr>
            <a:r>
              <a:rPr lang="en-US" sz="1000" dirty="0">
                <a:solidFill>
                  <a:srgbClr val="1A1A1A"/>
                </a:solidFill>
                <a:latin typeface="Calibri" pitchFamily="34" charset="0"/>
                <a:ea typeface="Calibri" pitchFamily="34" charset="-122"/>
                <a:cs typeface="Calibri" pitchFamily="34" charset="-120"/>
              </a:rPr>
              <a:t>prove it on JSL's own clean and defective strip before any alarm is trusted.</a:t>
            </a:r>
            <a:endParaRPr lang="en-US" sz="1000" dirty="0"/>
          </a:p>
        </p:txBody>
      </p:sp>
      <p:sp>
        <p:nvSpPr>
          <p:cNvPr id="36" name="Shape 28"/>
          <p:cNvSpPr/>
          <p:nvPr/>
        </p:nvSpPr>
        <p:spPr>
          <a:xfrm>
            <a:off x="6190488" y="1234440"/>
            <a:ext cx="5541264" cy="274320"/>
          </a:xfrm>
          <a:prstGeom prst="rect">
            <a:avLst/>
          </a:prstGeom>
          <a:solidFill>
            <a:srgbClr val="E4803A"/>
          </a:solidFill>
          <a:ln w="12700">
            <a:solidFill>
              <a:srgbClr val="E4803A"/>
            </a:solidFill>
            <a:prstDash val="solid"/>
          </a:ln>
        </p:spPr>
      </p:sp>
      <p:sp>
        <p:nvSpPr>
          <p:cNvPr id="37" name="Text 29"/>
          <p:cNvSpPr txBox="1"/>
          <p:nvPr/>
        </p:nvSpPr>
        <p:spPr>
          <a:xfrm>
            <a:off x="6281928"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2  One verdict per coil, not a stream of alarms</a:t>
            </a:r>
            <a:endParaRPr lang="en-US" sz="1100" dirty="0"/>
          </a:p>
        </p:txBody>
      </p:sp>
      <p:sp>
        <p:nvSpPr>
          <p:cNvPr id="38" name="Shape 30"/>
          <p:cNvSpPr/>
          <p:nvPr/>
        </p:nvSpPr>
        <p:spPr>
          <a:xfrm>
            <a:off x="6190488" y="1508760"/>
            <a:ext cx="5541264" cy="1984248"/>
          </a:xfrm>
          <a:prstGeom prst="roundRect">
            <a:avLst>
              <a:gd name="adj" fmla="val 2765"/>
            </a:avLst>
          </a:prstGeom>
          <a:solidFill>
            <a:srgbClr val="F3F3F3"/>
          </a:solidFill>
          <a:ln w="12700">
            <a:solidFill>
              <a:srgbClr val="F3F3F3"/>
            </a:solidFill>
            <a:prstDash val="solid"/>
          </a:ln>
        </p:spPr>
      </p:sp>
      <p:sp>
        <p:nvSpPr>
          <p:cNvPr id="39" name="Shape 31"/>
          <p:cNvSpPr/>
          <p:nvPr/>
        </p:nvSpPr>
        <p:spPr>
          <a:xfrm>
            <a:off x="6355080" y="1645920"/>
            <a:ext cx="3840480" cy="329184"/>
          </a:xfrm>
          <a:prstGeom prst="rect">
            <a:avLst/>
          </a:prstGeom>
          <a:solidFill>
            <a:srgbClr val="FCE5D3"/>
          </a:solidFill>
          <a:ln w="12700">
            <a:solidFill>
              <a:srgbClr val="FCE5D3"/>
            </a:solidFill>
            <a:prstDash val="solid"/>
          </a:ln>
        </p:spPr>
      </p:sp>
      <p:sp>
        <p:nvSpPr>
          <p:cNvPr id="40" name="Shape 32"/>
          <p:cNvSpPr/>
          <p:nvPr/>
        </p:nvSpPr>
        <p:spPr>
          <a:xfrm>
            <a:off x="6675120" y="1682496"/>
            <a:ext cx="109728" cy="256032"/>
          </a:xfrm>
          <a:prstGeom prst="rect">
            <a:avLst/>
          </a:prstGeom>
          <a:solidFill>
            <a:srgbClr val="2B2B2B"/>
          </a:solidFill>
          <a:ln w="12700">
            <a:solidFill>
              <a:srgbClr val="2B2B2B"/>
            </a:solidFill>
            <a:prstDash val="solid"/>
          </a:ln>
        </p:spPr>
      </p:sp>
      <p:sp>
        <p:nvSpPr>
          <p:cNvPr id="41" name="Shape 33"/>
          <p:cNvSpPr/>
          <p:nvPr/>
        </p:nvSpPr>
        <p:spPr>
          <a:xfrm>
            <a:off x="7360920" y="1682496"/>
            <a:ext cx="109728" cy="256032"/>
          </a:xfrm>
          <a:prstGeom prst="rect">
            <a:avLst/>
          </a:prstGeom>
          <a:solidFill>
            <a:srgbClr val="D2651F"/>
          </a:solidFill>
          <a:ln w="12700">
            <a:solidFill>
              <a:srgbClr val="D2651F"/>
            </a:solidFill>
            <a:prstDash val="solid"/>
          </a:ln>
        </p:spPr>
      </p:sp>
      <p:sp>
        <p:nvSpPr>
          <p:cNvPr id="42" name="Shape 34"/>
          <p:cNvSpPr/>
          <p:nvPr/>
        </p:nvSpPr>
        <p:spPr>
          <a:xfrm>
            <a:off x="8092440" y="1682496"/>
            <a:ext cx="109728" cy="256032"/>
          </a:xfrm>
          <a:prstGeom prst="rect">
            <a:avLst/>
          </a:prstGeom>
          <a:solidFill>
            <a:srgbClr val="2B2B2B"/>
          </a:solidFill>
          <a:ln w="12700">
            <a:solidFill>
              <a:srgbClr val="2B2B2B"/>
            </a:solidFill>
            <a:prstDash val="solid"/>
          </a:ln>
        </p:spPr>
      </p:sp>
      <p:sp>
        <p:nvSpPr>
          <p:cNvPr id="43" name="Shape 35"/>
          <p:cNvSpPr/>
          <p:nvPr/>
        </p:nvSpPr>
        <p:spPr>
          <a:xfrm>
            <a:off x="8869680" y="1682496"/>
            <a:ext cx="109728" cy="256032"/>
          </a:xfrm>
          <a:prstGeom prst="rect">
            <a:avLst/>
          </a:prstGeom>
          <a:solidFill>
            <a:srgbClr val="D2651F"/>
          </a:solidFill>
          <a:ln w="12700">
            <a:solidFill>
              <a:srgbClr val="D2651F"/>
            </a:solidFill>
            <a:prstDash val="solid"/>
          </a:ln>
        </p:spPr>
      </p:sp>
      <p:sp>
        <p:nvSpPr>
          <p:cNvPr id="44" name="Shape 36"/>
          <p:cNvSpPr/>
          <p:nvPr/>
        </p:nvSpPr>
        <p:spPr>
          <a:xfrm>
            <a:off x="9646920" y="1682496"/>
            <a:ext cx="109728" cy="256032"/>
          </a:xfrm>
          <a:prstGeom prst="rect">
            <a:avLst/>
          </a:prstGeom>
          <a:solidFill>
            <a:srgbClr val="2B2B2B"/>
          </a:solidFill>
          <a:ln w="12700">
            <a:solidFill>
              <a:srgbClr val="2B2B2B"/>
            </a:solidFill>
            <a:prstDash val="solid"/>
          </a:ln>
        </p:spPr>
      </p:sp>
      <p:sp>
        <p:nvSpPr>
          <p:cNvPr id="45" name="Text 37"/>
          <p:cNvSpPr txBox="1"/>
          <p:nvPr/>
        </p:nvSpPr>
        <p:spPr>
          <a:xfrm>
            <a:off x="6355080" y="1993392"/>
            <a:ext cx="3886200" cy="182880"/>
          </a:xfrm>
          <a:prstGeom prst="rect">
            <a:avLst/>
          </a:prstGeom>
          <a:noFill/>
          <a:ln/>
        </p:spPr>
        <p:txBody>
          <a:bodyPr wrap="square" lIns="0" tIns="0" rIns="0" bIns="0" rtlCol="0" anchor="t"/>
          <a:lstStyle/>
          <a:p>
            <a:pPr indent="0" marL="0">
              <a:buNone/>
            </a:pPr>
            <a:r>
              <a:rPr lang="en-US" sz="900" i="1" dirty="0">
                <a:solidFill>
                  <a:srgbClr val="6E6E6E"/>
                </a:solidFill>
                <a:latin typeface="Calibri" pitchFamily="34" charset="0"/>
                <a:ea typeface="Calibri" pitchFamily="34" charset="-122"/>
                <a:cs typeface="Calibri" pitchFamily="34" charset="-120"/>
              </a:rPr>
              <a:t>one coil, both faces: every defect with its type, size and position</a:t>
            </a:r>
            <a:endParaRPr lang="en-US" sz="900" dirty="0"/>
          </a:p>
        </p:txBody>
      </p:sp>
      <p:sp>
        <p:nvSpPr>
          <p:cNvPr id="46" name="Shape 38"/>
          <p:cNvSpPr/>
          <p:nvPr/>
        </p:nvSpPr>
        <p:spPr>
          <a:xfrm>
            <a:off x="10259568" y="1709928"/>
            <a:ext cx="146304" cy="219456"/>
          </a:xfrm>
          <a:prstGeom prst="chevron">
            <a:avLst/>
          </a:prstGeom>
          <a:solidFill>
            <a:srgbClr val="D2651F"/>
          </a:solidFill>
          <a:ln w="12700">
            <a:solidFill>
              <a:srgbClr val="D2651F"/>
            </a:solidFill>
            <a:prstDash val="solid"/>
          </a:ln>
        </p:spPr>
      </p:sp>
      <p:sp>
        <p:nvSpPr>
          <p:cNvPr id="47" name="Shape 39"/>
          <p:cNvSpPr/>
          <p:nvPr/>
        </p:nvSpPr>
        <p:spPr>
          <a:xfrm>
            <a:off x="10488168" y="1572768"/>
            <a:ext cx="1115568" cy="201168"/>
          </a:xfrm>
          <a:prstGeom prst="roundRect">
            <a:avLst>
              <a:gd name="adj" fmla="val 27273"/>
            </a:avLst>
          </a:prstGeom>
          <a:solidFill>
            <a:srgbClr val="2E7D32"/>
          </a:solidFill>
          <a:ln w="12700">
            <a:solidFill>
              <a:srgbClr val="2E7D32"/>
            </a:solidFill>
            <a:prstDash val="solid"/>
          </a:ln>
        </p:spPr>
      </p:sp>
      <p:sp>
        <p:nvSpPr>
          <p:cNvPr id="48" name="Text 40"/>
          <p:cNvSpPr txBox="1"/>
          <p:nvPr/>
        </p:nvSpPr>
        <p:spPr>
          <a:xfrm>
            <a:off x="10488168" y="1572768"/>
            <a:ext cx="11155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ACCEPT</a:t>
            </a:r>
            <a:endParaRPr lang="en-US" sz="900" dirty="0"/>
          </a:p>
        </p:txBody>
      </p:sp>
      <p:sp>
        <p:nvSpPr>
          <p:cNvPr id="49" name="Shape 41"/>
          <p:cNvSpPr/>
          <p:nvPr/>
        </p:nvSpPr>
        <p:spPr>
          <a:xfrm>
            <a:off x="10488168" y="1810512"/>
            <a:ext cx="1115568" cy="201168"/>
          </a:xfrm>
          <a:prstGeom prst="roundRect">
            <a:avLst>
              <a:gd name="adj" fmla="val 27273"/>
            </a:avLst>
          </a:prstGeom>
          <a:solidFill>
            <a:srgbClr val="C99700"/>
          </a:solidFill>
          <a:ln w="12700">
            <a:solidFill>
              <a:srgbClr val="C99700"/>
            </a:solidFill>
            <a:prstDash val="solid"/>
          </a:ln>
        </p:spPr>
      </p:sp>
      <p:sp>
        <p:nvSpPr>
          <p:cNvPr id="50" name="Text 42"/>
          <p:cNvSpPr txBox="1"/>
          <p:nvPr/>
        </p:nvSpPr>
        <p:spPr>
          <a:xfrm>
            <a:off x="10488168" y="1810512"/>
            <a:ext cx="11155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DOWNGRADE</a:t>
            </a:r>
            <a:endParaRPr lang="en-US" sz="900" dirty="0"/>
          </a:p>
        </p:txBody>
      </p:sp>
      <p:sp>
        <p:nvSpPr>
          <p:cNvPr id="51" name="Shape 43"/>
          <p:cNvSpPr/>
          <p:nvPr/>
        </p:nvSpPr>
        <p:spPr>
          <a:xfrm>
            <a:off x="10488168" y="2048256"/>
            <a:ext cx="1115568" cy="201168"/>
          </a:xfrm>
          <a:prstGeom prst="roundRect">
            <a:avLst>
              <a:gd name="adj" fmla="val 27273"/>
            </a:avLst>
          </a:prstGeom>
          <a:solidFill>
            <a:srgbClr val="C62828"/>
          </a:solidFill>
          <a:ln w="12700">
            <a:solidFill>
              <a:srgbClr val="C62828"/>
            </a:solidFill>
            <a:prstDash val="solid"/>
          </a:ln>
        </p:spPr>
      </p:sp>
      <p:sp>
        <p:nvSpPr>
          <p:cNvPr id="52" name="Text 44"/>
          <p:cNvSpPr txBox="1"/>
          <p:nvPr/>
        </p:nvSpPr>
        <p:spPr>
          <a:xfrm>
            <a:off x="10488168" y="2048256"/>
            <a:ext cx="11155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HOLD</a:t>
            </a:r>
            <a:endParaRPr lang="en-US" sz="900" dirty="0"/>
          </a:p>
        </p:txBody>
      </p:sp>
      <p:sp>
        <p:nvSpPr>
          <p:cNvPr id="53" name="Text 45"/>
          <p:cNvSpPr txBox="1"/>
          <p:nvPr/>
        </p:nvSpPr>
        <p:spPr>
          <a:xfrm>
            <a:off x="6355080" y="2286000"/>
            <a:ext cx="3886200" cy="457200"/>
          </a:xfrm>
          <a:prstGeom prst="rect">
            <a:avLst/>
          </a:prstGeom>
          <a:noFill/>
          <a:ln/>
        </p:spPr>
        <p:txBody>
          <a:bodyPr wrap="square" lIns="0" tIns="0" rIns="0" bIns="0" rtlCol="0" anchor="t"/>
          <a:lstStyle/>
          <a:p>
            <a:pPr indent="0" marL="0">
              <a:buNone/>
            </a:pPr>
            <a:r>
              <a:rPr lang="en-US" sz="950" dirty="0">
                <a:solidFill>
                  <a:srgbClr val="404040"/>
                </a:solidFill>
                <a:latin typeface="Calibri" pitchFamily="34" charset="0"/>
                <a:ea typeface="Calibri" pitchFamily="34" charset="-122"/>
                <a:cs typeface="Calibri" pitchFamily="34" charset="-120"/>
              </a:rPr>
              <a:t>Limits per grade and finish: </a:t>
            </a:r>
            <a:pPr indent="0" marL="0">
              <a:buNone/>
            </a:pPr>
            <a:r>
              <a:rPr lang="en-US" sz="950" b="1" dirty="0">
                <a:solidFill>
                  <a:srgbClr val="2B2B2B"/>
                </a:solidFill>
                <a:latin typeface="Calibri" pitchFamily="34" charset="0"/>
                <a:ea typeface="Calibri" pitchFamily="34" charset="-122"/>
                <a:cs typeface="Calibri" pitchFamily="34" charset="-120"/>
              </a:rPr>
              <a:t>a light scratch passes on 2B tubes, downgrades a BA panel.</a:t>
            </a:r>
            <a:endParaRPr lang="en-US" sz="950" dirty="0"/>
          </a:p>
        </p:txBody>
      </p:sp>
      <p:pic>
        <p:nvPicPr>
          <p:cNvPr id="54" name="Image 4" descr="img/photos/lift.jpg">    </p:cNvPr>
          <p:cNvPicPr>
            <a:picLocks noChangeAspect="1"/>
          </p:cNvPicPr>
          <p:nvPr/>
        </p:nvPicPr>
        <p:blipFill>
          <a:blip r:embed="rId7"/>
          <a:srcRect l="0" r="0" t="0" b="0"/>
          <a:stretch/>
        </p:blipFill>
        <p:spPr>
          <a:xfrm>
            <a:off x="10424160" y="2359152"/>
            <a:ext cx="1188720" cy="713232"/>
          </a:xfrm>
          <a:prstGeom prst="rect">
            <a:avLst/>
          </a:prstGeom>
        </p:spPr>
      </p:pic>
      <p:sp>
        <p:nvSpPr>
          <p:cNvPr id="55" name="Text 46"/>
          <p:cNvSpPr txBox="1"/>
          <p:nvPr/>
        </p:nvSpPr>
        <p:spPr>
          <a:xfrm>
            <a:off x="6327648" y="3163824"/>
            <a:ext cx="5266944" cy="274320"/>
          </a:xfrm>
          <a:prstGeom prst="rect">
            <a:avLst/>
          </a:prstGeom>
          <a:noFill/>
          <a:ln/>
        </p:spPr>
        <p:txBody>
          <a:bodyPr wrap="square" lIns="0" tIns="0" rIns="0" bIns="0" rtlCol="0" anchor="ctr"/>
          <a:lstStyle/>
          <a:p>
            <a:pPr indent="0" marL="0">
              <a:buNone/>
            </a:pPr>
            <a:r>
              <a:rPr lang="en-US" sz="1000" b="1" dirty="0">
                <a:solidFill>
                  <a:srgbClr val="D2651F"/>
                </a:solidFill>
                <a:latin typeface="Calibri" pitchFamily="34" charset="0"/>
                <a:ea typeface="Calibri" pitchFamily="34" charset="-122"/>
                <a:cs typeface="Calibri" pitchFamily="34" charset="-120"/>
              </a:rPr>
              <a:t>So we: </a:t>
            </a:r>
            <a:pPr indent="0" marL="0">
              <a:buNone/>
            </a:pPr>
            <a:r>
              <a:rPr lang="en-US" sz="1000" dirty="0">
                <a:solidFill>
                  <a:srgbClr val="1A1A1A"/>
                </a:solidFill>
                <a:latin typeface="Calibri" pitchFamily="34" charset="0"/>
                <a:ea typeface="Calibri" pitchFamily="34" charset="-122"/>
                <a:cs typeface="Calibri" pitchFamily="34" charset="-120"/>
              </a:rPr>
              <a:t>agree accept, downgrade and hold limits per grade and finish with JSL Quality in P0.</a:t>
            </a:r>
            <a:endParaRPr lang="en-US" sz="1000" dirty="0"/>
          </a:p>
        </p:txBody>
      </p:sp>
      <p:sp>
        <p:nvSpPr>
          <p:cNvPr id="56" name="Shape 47"/>
          <p:cNvSpPr/>
          <p:nvPr/>
        </p:nvSpPr>
        <p:spPr>
          <a:xfrm>
            <a:off x="457200" y="3630168"/>
            <a:ext cx="5541264" cy="274320"/>
          </a:xfrm>
          <a:prstGeom prst="rect">
            <a:avLst/>
          </a:prstGeom>
          <a:solidFill>
            <a:srgbClr val="E4803A"/>
          </a:solidFill>
          <a:ln w="12700">
            <a:solidFill>
              <a:srgbClr val="E4803A"/>
            </a:solidFill>
            <a:prstDash val="solid"/>
          </a:ln>
        </p:spPr>
      </p:sp>
      <p:sp>
        <p:nvSpPr>
          <p:cNvPr id="57" name="Text 48"/>
          <p:cNvSpPr txBox="1"/>
          <p:nvPr/>
        </p:nvSpPr>
        <p:spPr>
          <a:xfrm>
            <a:off x="548640" y="3630168"/>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  Image detail sets what is seen, and the hardware bill</a:t>
            </a:r>
            <a:endParaRPr lang="en-US" sz="1100" dirty="0"/>
          </a:p>
        </p:txBody>
      </p:sp>
      <p:sp>
        <p:nvSpPr>
          <p:cNvPr id="58" name="Shape 49"/>
          <p:cNvSpPr/>
          <p:nvPr/>
        </p:nvSpPr>
        <p:spPr>
          <a:xfrm>
            <a:off x="457200" y="3904488"/>
            <a:ext cx="5541264" cy="1984248"/>
          </a:xfrm>
          <a:prstGeom prst="roundRect">
            <a:avLst>
              <a:gd name="adj" fmla="val 2765"/>
            </a:avLst>
          </a:prstGeom>
          <a:solidFill>
            <a:srgbClr val="F3F3F3"/>
          </a:solidFill>
          <a:ln w="12700">
            <a:solidFill>
              <a:srgbClr val="F3F3F3"/>
            </a:solidFill>
            <a:prstDash val="solid"/>
          </a:ln>
        </p:spPr>
      </p:sp>
      <p:sp>
        <p:nvSpPr>
          <p:cNvPr id="59" name="Text 50"/>
          <p:cNvSpPr txBox="1"/>
          <p:nvPr/>
        </p:nvSpPr>
        <p:spPr>
          <a:xfrm>
            <a:off x="585216" y="3950208"/>
            <a:ext cx="1691640" cy="219456"/>
          </a:xfrm>
          <a:prstGeom prst="rect">
            <a:avLst/>
          </a:prstGeom>
          <a:noFill/>
          <a:ln/>
        </p:spPr>
        <p:txBody>
          <a:bodyPr wrap="square" lIns="0" tIns="0" rIns="0" bIns="0" rtlCol="0" anchor="t"/>
          <a:lstStyle/>
          <a:p>
            <a:pPr indent="0" marL="0">
              <a:buNone/>
            </a:pPr>
            <a:r>
              <a:rPr lang="en-US" sz="1000" b="1" dirty="0">
                <a:solidFill>
                  <a:srgbClr val="2B2B2B"/>
                </a:solidFill>
                <a:latin typeface="Calibri" pitchFamily="34" charset="0"/>
                <a:ea typeface="Calibri" pitchFamily="34" charset="-122"/>
                <a:cs typeface="Calibri" pitchFamily="34" charset="-120"/>
              </a:rPr>
              <a:t>0.2 mm per pixel</a:t>
            </a:r>
            <a:endParaRPr lang="en-US" sz="1000" dirty="0"/>
          </a:p>
        </p:txBody>
      </p:sp>
      <p:pic>
        <p:nvPicPr>
          <p:cNvPr id="60" name="Image 5" descr="img/icons/cpu-navy.png">    </p:cNvPr>
          <p:cNvPicPr>
            <a:picLocks noChangeAspect="1"/>
          </p:cNvPicPr>
          <p:nvPr/>
        </p:nvPicPr>
        <p:blipFill>
          <a:blip r:embed="rId8"/>
          <a:stretch>
            <a:fillRect/>
          </a:stretch>
        </p:blipFill>
        <p:spPr>
          <a:xfrm>
            <a:off x="585216" y="4206240"/>
            <a:ext cx="192024" cy="192024"/>
          </a:xfrm>
          <a:prstGeom prst="rect">
            <a:avLst/>
          </a:prstGeom>
        </p:spPr>
      </p:pic>
      <p:pic>
        <p:nvPicPr>
          <p:cNvPr id="61" name="Image 6" descr="img/icons/cpu-navy.png">    </p:cNvPr>
          <p:cNvPicPr>
            <a:picLocks noChangeAspect="1"/>
          </p:cNvPicPr>
          <p:nvPr/>
        </p:nvPicPr>
        <p:blipFill>
          <a:blip r:embed="rId9"/>
          <a:stretch>
            <a:fillRect/>
          </a:stretch>
        </p:blipFill>
        <p:spPr>
          <a:xfrm>
            <a:off x="822960" y="4206240"/>
            <a:ext cx="192024" cy="192024"/>
          </a:xfrm>
          <a:prstGeom prst="rect">
            <a:avLst/>
          </a:prstGeom>
        </p:spPr>
      </p:pic>
      <p:pic>
        <p:nvPicPr>
          <p:cNvPr id="62" name="Image 7" descr="img/icons/cpu-navy.png">    </p:cNvPr>
          <p:cNvPicPr>
            <a:picLocks noChangeAspect="1"/>
          </p:cNvPicPr>
          <p:nvPr/>
        </p:nvPicPr>
        <p:blipFill>
          <a:blip r:embed="rId10"/>
          <a:stretch>
            <a:fillRect/>
          </a:stretch>
        </p:blipFill>
        <p:spPr>
          <a:xfrm>
            <a:off x="1060704" y="4206240"/>
            <a:ext cx="192024" cy="192024"/>
          </a:xfrm>
          <a:prstGeom prst="rect">
            <a:avLst/>
          </a:prstGeom>
        </p:spPr>
      </p:pic>
      <p:pic>
        <p:nvPicPr>
          <p:cNvPr id="63" name="Image 8" descr="img/icons/cpu-navy.png">    </p:cNvPr>
          <p:cNvPicPr>
            <a:picLocks noChangeAspect="1"/>
          </p:cNvPicPr>
          <p:nvPr/>
        </p:nvPicPr>
        <p:blipFill>
          <a:blip r:embed="rId11"/>
          <a:stretch>
            <a:fillRect/>
          </a:stretch>
        </p:blipFill>
        <p:spPr>
          <a:xfrm>
            <a:off x="1298448" y="4206240"/>
            <a:ext cx="192024" cy="192024"/>
          </a:xfrm>
          <a:prstGeom prst="rect">
            <a:avLst/>
          </a:prstGeom>
        </p:spPr>
      </p:pic>
      <p:pic>
        <p:nvPicPr>
          <p:cNvPr id="64" name="Image 9" descr="img/icons/cpu-navy.png">    </p:cNvPr>
          <p:cNvPicPr>
            <a:picLocks noChangeAspect="1"/>
          </p:cNvPicPr>
          <p:nvPr/>
        </p:nvPicPr>
        <p:blipFill>
          <a:blip r:embed="rId12"/>
          <a:stretch>
            <a:fillRect/>
          </a:stretch>
        </p:blipFill>
        <p:spPr>
          <a:xfrm>
            <a:off x="1536192" y="4206240"/>
            <a:ext cx="192024" cy="192024"/>
          </a:xfrm>
          <a:prstGeom prst="rect">
            <a:avLst/>
          </a:prstGeom>
        </p:spPr>
      </p:pic>
      <p:pic>
        <p:nvPicPr>
          <p:cNvPr id="65" name="Image 10" descr="img/icons/cpu-navy.png">    </p:cNvPr>
          <p:cNvPicPr>
            <a:picLocks noChangeAspect="1"/>
          </p:cNvPicPr>
          <p:nvPr/>
        </p:nvPicPr>
        <p:blipFill>
          <a:blip r:embed="rId13"/>
          <a:stretch>
            <a:fillRect/>
          </a:stretch>
        </p:blipFill>
        <p:spPr>
          <a:xfrm>
            <a:off x="1773936" y="4206240"/>
            <a:ext cx="192024" cy="192024"/>
          </a:xfrm>
          <a:prstGeom prst="rect">
            <a:avLst/>
          </a:prstGeom>
        </p:spPr>
      </p:pic>
      <p:pic>
        <p:nvPicPr>
          <p:cNvPr id="66" name="Image 11" descr="img/icons/cpu-navy.png">    </p:cNvPr>
          <p:cNvPicPr>
            <a:picLocks noChangeAspect="1"/>
          </p:cNvPicPr>
          <p:nvPr/>
        </p:nvPicPr>
        <p:blipFill>
          <a:blip r:embed="rId14"/>
          <a:stretch>
            <a:fillRect/>
          </a:stretch>
        </p:blipFill>
        <p:spPr>
          <a:xfrm>
            <a:off x="585216" y="4434840"/>
            <a:ext cx="192024" cy="192024"/>
          </a:xfrm>
          <a:prstGeom prst="rect">
            <a:avLst/>
          </a:prstGeom>
        </p:spPr>
      </p:pic>
      <p:pic>
        <p:nvPicPr>
          <p:cNvPr id="67" name="Image 12" descr="img/icons/cpu-navy.png">    </p:cNvPr>
          <p:cNvPicPr>
            <a:picLocks noChangeAspect="1"/>
          </p:cNvPicPr>
          <p:nvPr/>
        </p:nvPicPr>
        <p:blipFill>
          <a:blip r:embed="rId15"/>
          <a:stretch>
            <a:fillRect/>
          </a:stretch>
        </p:blipFill>
        <p:spPr>
          <a:xfrm>
            <a:off x="822960" y="4434840"/>
            <a:ext cx="192024" cy="192024"/>
          </a:xfrm>
          <a:prstGeom prst="rect">
            <a:avLst/>
          </a:prstGeom>
        </p:spPr>
      </p:pic>
      <p:pic>
        <p:nvPicPr>
          <p:cNvPr id="68" name="Image 13" descr="img/icons/cpu-navy.png">    </p:cNvPr>
          <p:cNvPicPr>
            <a:picLocks noChangeAspect="1"/>
          </p:cNvPicPr>
          <p:nvPr/>
        </p:nvPicPr>
        <p:blipFill>
          <a:blip r:embed="rId16"/>
          <a:stretch>
            <a:fillRect/>
          </a:stretch>
        </p:blipFill>
        <p:spPr>
          <a:xfrm>
            <a:off x="1060704" y="4434840"/>
            <a:ext cx="192024" cy="192024"/>
          </a:xfrm>
          <a:prstGeom prst="rect">
            <a:avLst/>
          </a:prstGeom>
        </p:spPr>
      </p:pic>
      <p:pic>
        <p:nvPicPr>
          <p:cNvPr id="69" name="Image 14" descr="img/icons/cpu-navy.png">    </p:cNvPr>
          <p:cNvPicPr>
            <a:picLocks noChangeAspect="1"/>
          </p:cNvPicPr>
          <p:nvPr/>
        </p:nvPicPr>
        <p:blipFill>
          <a:blip r:embed="rId17"/>
          <a:stretch>
            <a:fillRect/>
          </a:stretch>
        </p:blipFill>
        <p:spPr>
          <a:xfrm>
            <a:off x="1298448" y="4434840"/>
            <a:ext cx="192024" cy="192024"/>
          </a:xfrm>
          <a:prstGeom prst="rect">
            <a:avLst/>
          </a:prstGeom>
        </p:spPr>
      </p:pic>
      <p:pic>
        <p:nvPicPr>
          <p:cNvPr id="70" name="Image 15" descr="img/icons/cpu-navy.png">    </p:cNvPr>
          <p:cNvPicPr>
            <a:picLocks noChangeAspect="1"/>
          </p:cNvPicPr>
          <p:nvPr/>
        </p:nvPicPr>
        <p:blipFill>
          <a:blip r:embed="rId18"/>
          <a:stretch>
            <a:fillRect/>
          </a:stretch>
        </p:blipFill>
        <p:spPr>
          <a:xfrm>
            <a:off x="1536192" y="4434840"/>
            <a:ext cx="192024" cy="192024"/>
          </a:xfrm>
          <a:prstGeom prst="rect">
            <a:avLst/>
          </a:prstGeom>
        </p:spPr>
      </p:pic>
      <p:pic>
        <p:nvPicPr>
          <p:cNvPr id="71" name="Image 16" descr="img/icons/cpu-navy.png">    </p:cNvPr>
          <p:cNvPicPr>
            <a:picLocks noChangeAspect="1"/>
          </p:cNvPicPr>
          <p:nvPr/>
        </p:nvPicPr>
        <p:blipFill>
          <a:blip r:embed="rId19"/>
          <a:stretch>
            <a:fillRect/>
          </a:stretch>
        </p:blipFill>
        <p:spPr>
          <a:xfrm>
            <a:off x="1773936" y="4434840"/>
            <a:ext cx="192024" cy="192024"/>
          </a:xfrm>
          <a:prstGeom prst="rect">
            <a:avLst/>
          </a:prstGeom>
        </p:spPr>
      </p:pic>
      <p:pic>
        <p:nvPicPr>
          <p:cNvPr id="72" name="Image 17" descr="img/icons/cpu-navy.png">    </p:cNvPr>
          <p:cNvPicPr>
            <a:picLocks noChangeAspect="1"/>
          </p:cNvPicPr>
          <p:nvPr/>
        </p:nvPicPr>
        <p:blipFill>
          <a:blip r:embed="rId20"/>
          <a:stretch>
            <a:fillRect/>
          </a:stretch>
        </p:blipFill>
        <p:spPr>
          <a:xfrm>
            <a:off x="585216" y="4663440"/>
            <a:ext cx="192024" cy="192024"/>
          </a:xfrm>
          <a:prstGeom prst="rect">
            <a:avLst/>
          </a:prstGeom>
        </p:spPr>
      </p:pic>
      <p:pic>
        <p:nvPicPr>
          <p:cNvPr id="73" name="Image 18" descr="img/icons/cpu-navy.png">    </p:cNvPr>
          <p:cNvPicPr>
            <a:picLocks noChangeAspect="1"/>
          </p:cNvPicPr>
          <p:nvPr/>
        </p:nvPicPr>
        <p:blipFill>
          <a:blip r:embed="rId21"/>
          <a:stretch>
            <a:fillRect/>
          </a:stretch>
        </p:blipFill>
        <p:spPr>
          <a:xfrm>
            <a:off x="822960" y="4663440"/>
            <a:ext cx="192024" cy="192024"/>
          </a:xfrm>
          <a:prstGeom prst="rect">
            <a:avLst/>
          </a:prstGeom>
        </p:spPr>
      </p:pic>
      <p:pic>
        <p:nvPicPr>
          <p:cNvPr id="74" name="Image 19" descr="img/icons/cpu-navy.png">    </p:cNvPr>
          <p:cNvPicPr>
            <a:picLocks noChangeAspect="1"/>
          </p:cNvPicPr>
          <p:nvPr/>
        </p:nvPicPr>
        <p:blipFill>
          <a:blip r:embed="rId22"/>
          <a:stretch>
            <a:fillRect/>
          </a:stretch>
        </p:blipFill>
        <p:spPr>
          <a:xfrm>
            <a:off x="1060704" y="4663440"/>
            <a:ext cx="192024" cy="192024"/>
          </a:xfrm>
          <a:prstGeom prst="rect">
            <a:avLst/>
          </a:prstGeom>
        </p:spPr>
      </p:pic>
      <p:pic>
        <p:nvPicPr>
          <p:cNvPr id="75" name="Image 20" descr="img/icons/cpu-navy.png">    </p:cNvPr>
          <p:cNvPicPr>
            <a:picLocks noChangeAspect="1"/>
          </p:cNvPicPr>
          <p:nvPr/>
        </p:nvPicPr>
        <p:blipFill>
          <a:blip r:embed="rId23"/>
          <a:stretch>
            <a:fillRect/>
          </a:stretch>
        </p:blipFill>
        <p:spPr>
          <a:xfrm>
            <a:off x="1298448" y="4663440"/>
            <a:ext cx="192024" cy="192024"/>
          </a:xfrm>
          <a:prstGeom prst="rect">
            <a:avLst/>
          </a:prstGeom>
        </p:spPr>
      </p:pic>
      <p:pic>
        <p:nvPicPr>
          <p:cNvPr id="76" name="Image 21" descr="img/icons/cpu-navy.png">    </p:cNvPr>
          <p:cNvPicPr>
            <a:picLocks noChangeAspect="1"/>
          </p:cNvPicPr>
          <p:nvPr/>
        </p:nvPicPr>
        <p:blipFill>
          <a:blip r:embed="rId24"/>
          <a:stretch>
            <a:fillRect/>
          </a:stretch>
        </p:blipFill>
        <p:spPr>
          <a:xfrm>
            <a:off x="1536192" y="4663440"/>
            <a:ext cx="192024" cy="192024"/>
          </a:xfrm>
          <a:prstGeom prst="rect">
            <a:avLst/>
          </a:prstGeom>
        </p:spPr>
      </p:pic>
      <p:pic>
        <p:nvPicPr>
          <p:cNvPr id="77" name="Image 22" descr="img/icons/cpu-navy.png">    </p:cNvPr>
          <p:cNvPicPr>
            <a:picLocks noChangeAspect="1"/>
          </p:cNvPicPr>
          <p:nvPr/>
        </p:nvPicPr>
        <p:blipFill>
          <a:blip r:embed="rId25"/>
          <a:stretch>
            <a:fillRect/>
          </a:stretch>
        </p:blipFill>
        <p:spPr>
          <a:xfrm>
            <a:off x="1773936" y="4663440"/>
            <a:ext cx="192024" cy="192024"/>
          </a:xfrm>
          <a:prstGeom prst="rect">
            <a:avLst/>
          </a:prstGeom>
        </p:spPr>
      </p:pic>
      <p:sp>
        <p:nvSpPr>
          <p:cNvPr id="78" name="Text 51"/>
          <p:cNvSpPr txBox="1"/>
          <p:nvPr/>
        </p:nvSpPr>
        <p:spPr>
          <a:xfrm>
            <a:off x="585216" y="4910328"/>
            <a:ext cx="1691640" cy="201168"/>
          </a:xfrm>
          <a:prstGeom prst="rect">
            <a:avLst/>
          </a:prstGeom>
          <a:noFill/>
          <a:ln/>
        </p:spPr>
        <p:txBody>
          <a:bodyPr wrap="square" lIns="0" tIns="0" rIns="0" bIns="0" rtlCol="0" anchor="t"/>
          <a:lstStyle/>
          <a:p>
            <a:pPr indent="0" marL="0">
              <a:buNone/>
            </a:pPr>
            <a:r>
              <a:rPr lang="en-US" sz="1100" b="1" dirty="0">
                <a:solidFill>
                  <a:srgbClr val="1A1A1A"/>
                </a:solidFill>
                <a:latin typeface="Calibri" pitchFamily="34" charset="0"/>
                <a:ea typeface="Calibri" pitchFamily="34" charset="-122"/>
                <a:cs typeface="Calibri" pitchFamily="34" charset="-120"/>
              </a:rPr>
              <a:t>~18 processors</a:t>
            </a:r>
            <a:endParaRPr lang="en-US" sz="1100" dirty="0"/>
          </a:p>
        </p:txBody>
      </p:sp>
      <p:sp>
        <p:nvSpPr>
          <p:cNvPr id="79" name="Text 52"/>
          <p:cNvSpPr txBox="1"/>
          <p:nvPr/>
        </p:nvSpPr>
        <p:spPr>
          <a:xfrm>
            <a:off x="585216" y="5111496"/>
            <a:ext cx="1737360" cy="201168"/>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sees defects from ~0.5 mm</a:t>
            </a:r>
            <a:endParaRPr lang="en-US" sz="900" dirty="0"/>
          </a:p>
        </p:txBody>
      </p:sp>
      <p:sp>
        <p:nvSpPr>
          <p:cNvPr id="80" name="Shape 53"/>
          <p:cNvSpPr/>
          <p:nvPr/>
        </p:nvSpPr>
        <p:spPr>
          <a:xfrm>
            <a:off x="2304288" y="3986784"/>
            <a:ext cx="9144" cy="1298448"/>
          </a:xfrm>
          <a:prstGeom prst="rect">
            <a:avLst/>
          </a:prstGeom>
          <a:solidFill>
            <a:srgbClr val="D9D9D9"/>
          </a:solidFill>
          <a:ln w="12700">
            <a:solidFill>
              <a:srgbClr val="D9D9D9"/>
            </a:solidFill>
            <a:prstDash val="solid"/>
          </a:ln>
        </p:spPr>
      </p:sp>
      <p:sp>
        <p:nvSpPr>
          <p:cNvPr id="81" name="Text 54"/>
          <p:cNvSpPr txBox="1"/>
          <p:nvPr/>
        </p:nvSpPr>
        <p:spPr>
          <a:xfrm>
            <a:off x="2395728" y="3950208"/>
            <a:ext cx="1691640" cy="219456"/>
          </a:xfrm>
          <a:prstGeom prst="rect">
            <a:avLst/>
          </a:prstGeom>
          <a:noFill/>
          <a:ln/>
        </p:spPr>
        <p:txBody>
          <a:bodyPr wrap="square" lIns="0" tIns="0" rIns="0" bIns="0" rtlCol="0" anchor="t"/>
          <a:lstStyle/>
          <a:p>
            <a:pPr indent="0" marL="0">
              <a:buNone/>
            </a:pPr>
            <a:r>
              <a:rPr lang="en-US" sz="1000" b="1" dirty="0">
                <a:solidFill>
                  <a:srgbClr val="404040"/>
                </a:solidFill>
                <a:latin typeface="Calibri" pitchFamily="34" charset="0"/>
                <a:ea typeface="Calibri" pitchFamily="34" charset="-122"/>
                <a:cs typeface="Calibri" pitchFamily="34" charset="-120"/>
              </a:rPr>
              <a:t>0.5 mm per pixel</a:t>
            </a:r>
            <a:endParaRPr lang="en-US" sz="1000" dirty="0"/>
          </a:p>
        </p:txBody>
      </p:sp>
      <p:pic>
        <p:nvPicPr>
          <p:cNvPr id="82" name="Image 23" descr="img/icons/cpu-navy.png">    </p:cNvPr>
          <p:cNvPicPr>
            <a:picLocks noChangeAspect="1"/>
          </p:cNvPicPr>
          <p:nvPr/>
        </p:nvPicPr>
        <p:blipFill>
          <a:blip r:embed="rId26"/>
          <a:stretch>
            <a:fillRect/>
          </a:stretch>
        </p:blipFill>
        <p:spPr>
          <a:xfrm>
            <a:off x="2395728" y="4206240"/>
            <a:ext cx="192024" cy="192024"/>
          </a:xfrm>
          <a:prstGeom prst="rect">
            <a:avLst/>
          </a:prstGeom>
        </p:spPr>
      </p:pic>
      <p:pic>
        <p:nvPicPr>
          <p:cNvPr id="83" name="Image 24" descr="img/icons/cpu-navy.png">    </p:cNvPr>
          <p:cNvPicPr>
            <a:picLocks noChangeAspect="1"/>
          </p:cNvPicPr>
          <p:nvPr/>
        </p:nvPicPr>
        <p:blipFill>
          <a:blip r:embed="rId27"/>
          <a:stretch>
            <a:fillRect/>
          </a:stretch>
        </p:blipFill>
        <p:spPr>
          <a:xfrm>
            <a:off x="2633472" y="4206240"/>
            <a:ext cx="192024" cy="192024"/>
          </a:xfrm>
          <a:prstGeom prst="rect">
            <a:avLst/>
          </a:prstGeom>
        </p:spPr>
      </p:pic>
      <p:pic>
        <p:nvPicPr>
          <p:cNvPr id="84" name="Image 25" descr="img/icons/cpu-navy.png">    </p:cNvPr>
          <p:cNvPicPr>
            <a:picLocks noChangeAspect="1"/>
          </p:cNvPicPr>
          <p:nvPr/>
        </p:nvPicPr>
        <p:blipFill>
          <a:blip r:embed="rId28"/>
          <a:stretch>
            <a:fillRect/>
          </a:stretch>
        </p:blipFill>
        <p:spPr>
          <a:xfrm>
            <a:off x="2871216" y="4206240"/>
            <a:ext cx="192024" cy="192024"/>
          </a:xfrm>
          <a:prstGeom prst="rect">
            <a:avLst/>
          </a:prstGeom>
        </p:spPr>
      </p:pic>
      <p:sp>
        <p:nvSpPr>
          <p:cNvPr id="85" name="Text 55"/>
          <p:cNvSpPr txBox="1"/>
          <p:nvPr/>
        </p:nvSpPr>
        <p:spPr>
          <a:xfrm>
            <a:off x="2395728" y="4910328"/>
            <a:ext cx="1691640" cy="201168"/>
          </a:xfrm>
          <a:prstGeom prst="rect">
            <a:avLst/>
          </a:prstGeom>
          <a:noFill/>
          <a:ln/>
        </p:spPr>
        <p:txBody>
          <a:bodyPr wrap="square" lIns="0" tIns="0" rIns="0" bIns="0" rtlCol="0" anchor="t"/>
          <a:lstStyle/>
          <a:p>
            <a:pPr indent="0" marL="0">
              <a:buNone/>
            </a:pPr>
            <a:r>
              <a:rPr lang="en-US" sz="1100" b="1" dirty="0">
                <a:solidFill>
                  <a:srgbClr val="1A1A1A"/>
                </a:solidFill>
                <a:latin typeface="Calibri" pitchFamily="34" charset="0"/>
                <a:ea typeface="Calibri" pitchFamily="34" charset="-122"/>
                <a:cs typeface="Calibri" pitchFamily="34" charset="-120"/>
              </a:rPr>
              <a:t>~3 processors</a:t>
            </a:r>
            <a:endParaRPr lang="en-US" sz="1100" dirty="0"/>
          </a:p>
        </p:txBody>
      </p:sp>
      <p:sp>
        <p:nvSpPr>
          <p:cNvPr id="86" name="Text 56"/>
          <p:cNvSpPr txBox="1"/>
          <p:nvPr/>
        </p:nvSpPr>
        <p:spPr>
          <a:xfrm>
            <a:off x="2395728" y="5111496"/>
            <a:ext cx="1737360" cy="201168"/>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sees defects from ~1.3 mm</a:t>
            </a:r>
            <a:endParaRPr lang="en-US" sz="900" dirty="0"/>
          </a:p>
        </p:txBody>
      </p:sp>
      <p:sp>
        <p:nvSpPr>
          <p:cNvPr id="87" name="Shape 57"/>
          <p:cNvSpPr/>
          <p:nvPr/>
        </p:nvSpPr>
        <p:spPr>
          <a:xfrm>
            <a:off x="4114800" y="3986784"/>
            <a:ext cx="9144" cy="1298448"/>
          </a:xfrm>
          <a:prstGeom prst="rect">
            <a:avLst/>
          </a:prstGeom>
          <a:solidFill>
            <a:srgbClr val="D9D9D9"/>
          </a:solidFill>
          <a:ln w="12700">
            <a:solidFill>
              <a:srgbClr val="D9D9D9"/>
            </a:solidFill>
            <a:prstDash val="solid"/>
          </a:ln>
        </p:spPr>
      </p:sp>
      <p:sp>
        <p:nvSpPr>
          <p:cNvPr id="88" name="Text 58"/>
          <p:cNvSpPr txBox="1"/>
          <p:nvPr/>
        </p:nvSpPr>
        <p:spPr>
          <a:xfrm>
            <a:off x="4206240" y="3950208"/>
            <a:ext cx="1691640" cy="219456"/>
          </a:xfrm>
          <a:prstGeom prst="rect">
            <a:avLst/>
          </a:prstGeom>
          <a:noFill/>
          <a:ln/>
        </p:spPr>
        <p:txBody>
          <a:bodyPr wrap="square" lIns="0" tIns="0" rIns="0" bIns="0" rtlCol="0" anchor="t"/>
          <a:lstStyle/>
          <a:p>
            <a:pPr indent="0" marL="0">
              <a:buNone/>
            </a:pPr>
            <a:r>
              <a:rPr lang="en-US" sz="1000" b="1" dirty="0">
                <a:solidFill>
                  <a:srgbClr val="404040"/>
                </a:solidFill>
                <a:latin typeface="Calibri" pitchFamily="34" charset="0"/>
                <a:ea typeface="Calibri" pitchFamily="34" charset="-122"/>
                <a:cs typeface="Calibri" pitchFamily="34" charset="-120"/>
              </a:rPr>
              <a:t>1.28 mm per pixel</a:t>
            </a:r>
            <a:endParaRPr lang="en-US" sz="1000" dirty="0"/>
          </a:p>
        </p:txBody>
      </p:sp>
      <p:pic>
        <p:nvPicPr>
          <p:cNvPr id="89" name="Image 26" descr="img/icons/cpu-navy.png">    </p:cNvPr>
          <p:cNvPicPr>
            <a:picLocks noChangeAspect="1"/>
          </p:cNvPicPr>
          <p:nvPr/>
        </p:nvPicPr>
        <p:blipFill>
          <a:blip r:embed="rId29"/>
          <a:stretch>
            <a:fillRect/>
          </a:stretch>
        </p:blipFill>
        <p:spPr>
          <a:xfrm>
            <a:off x="4206240" y="4206240"/>
            <a:ext cx="192024" cy="192024"/>
          </a:xfrm>
          <a:prstGeom prst="rect">
            <a:avLst/>
          </a:prstGeom>
        </p:spPr>
      </p:pic>
      <p:sp>
        <p:nvSpPr>
          <p:cNvPr id="90" name="Text 59"/>
          <p:cNvSpPr txBox="1"/>
          <p:nvPr/>
        </p:nvSpPr>
        <p:spPr>
          <a:xfrm>
            <a:off x="4206240" y="4910328"/>
            <a:ext cx="1691640" cy="201168"/>
          </a:xfrm>
          <a:prstGeom prst="rect">
            <a:avLst/>
          </a:prstGeom>
          <a:noFill/>
          <a:ln/>
        </p:spPr>
        <p:txBody>
          <a:bodyPr wrap="square" lIns="0" tIns="0" rIns="0" bIns="0" rtlCol="0" anchor="t"/>
          <a:lstStyle/>
          <a:p>
            <a:pPr indent="0" marL="0">
              <a:buNone/>
            </a:pPr>
            <a:r>
              <a:rPr lang="en-US" sz="1100" b="1" dirty="0">
                <a:solidFill>
                  <a:srgbClr val="1A1A1A"/>
                </a:solidFill>
                <a:latin typeface="Calibri" pitchFamily="34" charset="0"/>
                <a:ea typeface="Calibri" pitchFamily="34" charset="-122"/>
                <a:cs typeface="Calibri" pitchFamily="34" charset="-120"/>
              </a:rPr>
              <a:t>1 processor</a:t>
            </a:r>
            <a:endParaRPr lang="en-US" sz="1100" dirty="0"/>
          </a:p>
        </p:txBody>
      </p:sp>
      <p:sp>
        <p:nvSpPr>
          <p:cNvPr id="91" name="Text 60"/>
          <p:cNvSpPr txBox="1"/>
          <p:nvPr/>
        </p:nvSpPr>
        <p:spPr>
          <a:xfrm>
            <a:off x="4206240" y="5111496"/>
            <a:ext cx="1737360" cy="201168"/>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fine scratches vanish (~3 mm)</a:t>
            </a:r>
            <a:endParaRPr lang="en-US" sz="900" dirty="0"/>
          </a:p>
        </p:txBody>
      </p:sp>
      <p:sp>
        <p:nvSpPr>
          <p:cNvPr id="92" name="Text 61"/>
          <p:cNvSpPr txBox="1"/>
          <p:nvPr/>
        </p:nvSpPr>
        <p:spPr>
          <a:xfrm>
            <a:off x="585216" y="5330952"/>
            <a:ext cx="5303520" cy="201168"/>
          </a:xfrm>
          <a:prstGeom prst="rect">
            <a:avLst/>
          </a:prstGeom>
          <a:noFill/>
          <a:ln/>
        </p:spPr>
        <p:txBody>
          <a:bodyPr wrap="square" lIns="0" tIns="0" rIns="0" bIns="0" rtlCol="0" anchor="t"/>
          <a:lstStyle/>
          <a:p>
            <a:pPr indent="0" marL="0">
              <a:buNone/>
            </a:pPr>
            <a:r>
              <a:rPr lang="en-US" sz="900" i="1" dirty="0">
                <a:solidFill>
                  <a:srgbClr val="6E6E6E"/>
                </a:solidFill>
                <a:latin typeface="Calibri" pitchFamily="34" charset="0"/>
                <a:ea typeface="Calibri" pitchFamily="34" charset="-122"/>
                <a:cs typeface="Calibri" pitchFamily="34" charset="-120"/>
              </a:rPr>
              <a:t>1.28 m strip at 250 m/min. Processors scale with pixels; a defect needs 2-3 pixels.</a:t>
            </a:r>
            <a:endParaRPr lang="en-US" sz="900" dirty="0"/>
          </a:p>
        </p:txBody>
      </p:sp>
      <p:sp>
        <p:nvSpPr>
          <p:cNvPr id="93" name="Text 62"/>
          <p:cNvSpPr txBox="1"/>
          <p:nvPr/>
        </p:nvSpPr>
        <p:spPr>
          <a:xfrm>
            <a:off x="594360" y="5559552"/>
            <a:ext cx="5266944" cy="274320"/>
          </a:xfrm>
          <a:prstGeom prst="rect">
            <a:avLst/>
          </a:prstGeom>
          <a:noFill/>
          <a:ln/>
        </p:spPr>
        <p:txBody>
          <a:bodyPr wrap="square" lIns="0" tIns="0" rIns="0" bIns="0" rtlCol="0" anchor="ctr"/>
          <a:lstStyle/>
          <a:p>
            <a:pPr indent="0" marL="0">
              <a:buNone/>
            </a:pPr>
            <a:r>
              <a:rPr lang="en-US" sz="1000" b="1" dirty="0">
                <a:solidFill>
                  <a:srgbClr val="D2651F"/>
                </a:solidFill>
                <a:latin typeface="Calibri" pitchFamily="34" charset="0"/>
                <a:ea typeface="Calibri" pitchFamily="34" charset="-122"/>
                <a:cs typeface="Calibri" pitchFamily="34" charset="-120"/>
              </a:rPr>
              <a:t>So we: </a:t>
            </a:r>
            <a:pPr indent="0" marL="0">
              <a:buNone/>
            </a:pPr>
            <a:r>
              <a:rPr lang="en-US" sz="1000" dirty="0">
                <a:solidFill>
                  <a:srgbClr val="1A1A1A"/>
                </a:solidFill>
                <a:latin typeface="Calibri" pitchFamily="34" charset="0"/>
                <a:ea typeface="Calibri" pitchFamily="34" charset="-122"/>
                <a:cs typeface="Calibri" pitchFamily="34" charset="-120"/>
              </a:rPr>
              <a:t>fix the image resolution with JSL first, then size the hardware.</a:t>
            </a:r>
            <a:endParaRPr lang="en-US" sz="1000" dirty="0"/>
          </a:p>
        </p:txBody>
      </p:sp>
      <p:sp>
        <p:nvSpPr>
          <p:cNvPr id="94" name="Shape 63"/>
          <p:cNvSpPr/>
          <p:nvPr/>
        </p:nvSpPr>
        <p:spPr>
          <a:xfrm>
            <a:off x="6190488" y="3630168"/>
            <a:ext cx="5541264" cy="274320"/>
          </a:xfrm>
          <a:prstGeom prst="rect">
            <a:avLst/>
          </a:prstGeom>
          <a:solidFill>
            <a:srgbClr val="E4803A"/>
          </a:solidFill>
          <a:ln w="12700">
            <a:solidFill>
              <a:srgbClr val="E4803A"/>
            </a:solidFill>
            <a:prstDash val="solid"/>
          </a:ln>
        </p:spPr>
      </p:sp>
      <p:sp>
        <p:nvSpPr>
          <p:cNvPr id="95" name="Text 64"/>
          <p:cNvSpPr txBox="1"/>
          <p:nvPr/>
        </p:nvSpPr>
        <p:spPr>
          <a:xfrm>
            <a:off x="6281928" y="3630168"/>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4  Operators act only on alarms they can trust</a:t>
            </a:r>
            <a:endParaRPr lang="en-US" sz="1100" dirty="0"/>
          </a:p>
        </p:txBody>
      </p:sp>
      <p:sp>
        <p:nvSpPr>
          <p:cNvPr id="96" name="Shape 65"/>
          <p:cNvSpPr/>
          <p:nvPr/>
        </p:nvSpPr>
        <p:spPr>
          <a:xfrm>
            <a:off x="6190488" y="3904488"/>
            <a:ext cx="5541264" cy="1984248"/>
          </a:xfrm>
          <a:prstGeom prst="roundRect">
            <a:avLst>
              <a:gd name="adj" fmla="val 2765"/>
            </a:avLst>
          </a:prstGeom>
          <a:solidFill>
            <a:srgbClr val="F3F3F3"/>
          </a:solidFill>
          <a:ln w="12700">
            <a:solidFill>
              <a:srgbClr val="F3F3F3"/>
            </a:solidFill>
            <a:prstDash val="solid"/>
          </a:ln>
        </p:spPr>
      </p:sp>
      <p:pic>
        <p:nvPicPr>
          <p:cNvPr id="97" name="Image 27" descr="img/demo_result.png">    </p:cNvPr>
          <p:cNvPicPr>
            <a:picLocks noChangeAspect="1"/>
          </p:cNvPicPr>
          <p:nvPr/>
        </p:nvPicPr>
        <p:blipFill>
          <a:blip r:embed="rId30"/>
          <a:stretch>
            <a:fillRect/>
          </a:stretch>
        </p:blipFill>
        <p:spPr>
          <a:xfrm>
            <a:off x="6309360" y="3968496"/>
            <a:ext cx="1874520" cy="1490472"/>
          </a:xfrm>
          <a:prstGeom prst="rect">
            <a:avLst/>
          </a:prstGeom>
        </p:spPr>
      </p:pic>
      <p:sp>
        <p:nvSpPr>
          <p:cNvPr id="98" name="Shape 66"/>
          <p:cNvSpPr/>
          <p:nvPr/>
        </p:nvSpPr>
        <p:spPr>
          <a:xfrm>
            <a:off x="8595360" y="4041648"/>
            <a:ext cx="384048" cy="384048"/>
          </a:xfrm>
          <a:prstGeom prst="ellipse">
            <a:avLst/>
          </a:prstGeom>
          <a:solidFill>
            <a:srgbClr val="2B2B2B"/>
          </a:solidFill>
          <a:ln w="12700">
            <a:solidFill>
              <a:srgbClr val="2B2B2B"/>
            </a:solidFill>
            <a:prstDash val="solid"/>
          </a:ln>
        </p:spPr>
      </p:sp>
      <p:pic>
        <p:nvPicPr>
          <p:cNvPr id="99" name="Image 28" descr="img/icons/scan-search-white.png">    </p:cNvPr>
          <p:cNvPicPr>
            <a:picLocks noChangeAspect="1"/>
          </p:cNvPicPr>
          <p:nvPr/>
        </p:nvPicPr>
        <p:blipFill>
          <a:blip r:embed="rId31"/>
          <a:stretch>
            <a:fillRect/>
          </a:stretch>
        </p:blipFill>
        <p:spPr>
          <a:xfrm>
            <a:off x="8679851" y="4126139"/>
            <a:ext cx="215067" cy="215067"/>
          </a:xfrm>
          <a:prstGeom prst="rect">
            <a:avLst/>
          </a:prstGeom>
        </p:spPr>
      </p:pic>
      <p:sp>
        <p:nvSpPr>
          <p:cNvPr id="100" name="Text 67"/>
          <p:cNvSpPr txBox="1"/>
          <p:nvPr/>
        </p:nvSpPr>
        <p:spPr>
          <a:xfrm>
            <a:off x="9070848" y="4041648"/>
            <a:ext cx="2606040" cy="384048"/>
          </a:xfrm>
          <a:prstGeom prst="rect">
            <a:avLst/>
          </a:prstGeom>
          <a:noFill/>
          <a:ln/>
        </p:spPr>
        <p:txBody>
          <a:bodyPr wrap="square" lIns="0" tIns="0" rIns="0" bIns="0" rtlCol="0" anchor="ctr"/>
          <a:lstStyle/>
          <a:p>
            <a:pPr indent="0" marL="0">
              <a:buNone/>
            </a:pPr>
            <a:r>
              <a:rPr lang="en-US" sz="1100" b="1" dirty="0">
                <a:solidFill>
                  <a:srgbClr val="2B2B2B"/>
                </a:solidFill>
                <a:latin typeface="Calibri" pitchFamily="34" charset="0"/>
                <a:ea typeface="Calibri" pitchFamily="34" charset="-122"/>
                <a:cs typeface="Calibri" pitchFamily="34" charset="-120"/>
              </a:rPr>
              <a:t>Evidence on every alarm</a:t>
            </a:r>
            <a:endParaRPr lang="en-US" sz="1100" dirty="0"/>
          </a:p>
        </p:txBody>
      </p:sp>
      <p:sp>
        <p:nvSpPr>
          <p:cNvPr id="101" name="Shape 68"/>
          <p:cNvSpPr/>
          <p:nvPr/>
        </p:nvSpPr>
        <p:spPr>
          <a:xfrm>
            <a:off x="8595360" y="4553712"/>
            <a:ext cx="384048" cy="384048"/>
          </a:xfrm>
          <a:prstGeom prst="ellipse">
            <a:avLst/>
          </a:prstGeom>
          <a:solidFill>
            <a:srgbClr val="2B2B2B"/>
          </a:solidFill>
          <a:ln w="12700">
            <a:solidFill>
              <a:srgbClr val="2B2B2B"/>
            </a:solidFill>
            <a:prstDash val="solid"/>
          </a:ln>
        </p:spPr>
      </p:sp>
      <p:pic>
        <p:nvPicPr>
          <p:cNvPr id="102" name="Image 29" descr="img/icons/user-check-white.png">    </p:cNvPr>
          <p:cNvPicPr>
            <a:picLocks noChangeAspect="1"/>
          </p:cNvPicPr>
          <p:nvPr/>
        </p:nvPicPr>
        <p:blipFill>
          <a:blip r:embed="rId32"/>
          <a:stretch>
            <a:fillRect/>
          </a:stretch>
        </p:blipFill>
        <p:spPr>
          <a:xfrm>
            <a:off x="8679851" y="4638203"/>
            <a:ext cx="215067" cy="215067"/>
          </a:xfrm>
          <a:prstGeom prst="rect">
            <a:avLst/>
          </a:prstGeom>
        </p:spPr>
      </p:pic>
      <p:sp>
        <p:nvSpPr>
          <p:cNvPr id="103" name="Text 69"/>
          <p:cNvSpPr txBox="1"/>
          <p:nvPr/>
        </p:nvSpPr>
        <p:spPr>
          <a:xfrm>
            <a:off x="9070848" y="4553712"/>
            <a:ext cx="2606040" cy="384048"/>
          </a:xfrm>
          <a:prstGeom prst="rect">
            <a:avLst/>
          </a:prstGeom>
          <a:noFill/>
          <a:ln/>
        </p:spPr>
        <p:txBody>
          <a:bodyPr wrap="square" lIns="0" tIns="0" rIns="0" bIns="0" rtlCol="0" anchor="ctr"/>
          <a:lstStyle/>
          <a:p>
            <a:pPr indent="0" marL="0">
              <a:buNone/>
            </a:pPr>
            <a:r>
              <a:rPr lang="en-US" sz="1100" b="1" dirty="0">
                <a:solidFill>
                  <a:srgbClr val="2B2B2B"/>
                </a:solidFill>
                <a:latin typeface="Calibri" pitchFamily="34" charset="0"/>
                <a:ea typeface="Calibri" pitchFamily="34" charset="-122"/>
                <a:cs typeface="Calibri" pitchFamily="34" charset="-120"/>
              </a:rPr>
              <a:t>4 weeks of shadow mode</a:t>
            </a:r>
            <a:endParaRPr lang="en-US" sz="1100" dirty="0"/>
          </a:p>
        </p:txBody>
      </p:sp>
      <p:sp>
        <p:nvSpPr>
          <p:cNvPr id="104" name="Shape 70"/>
          <p:cNvSpPr/>
          <p:nvPr/>
        </p:nvSpPr>
        <p:spPr>
          <a:xfrm>
            <a:off x="8595360" y="5065776"/>
            <a:ext cx="384048" cy="384048"/>
          </a:xfrm>
          <a:prstGeom prst="ellipse">
            <a:avLst/>
          </a:prstGeom>
          <a:solidFill>
            <a:srgbClr val="2B2B2B"/>
          </a:solidFill>
          <a:ln w="12700">
            <a:solidFill>
              <a:srgbClr val="2B2B2B"/>
            </a:solidFill>
            <a:prstDash val="solid"/>
          </a:ln>
        </p:spPr>
      </p:sp>
      <p:pic>
        <p:nvPicPr>
          <p:cNvPr id="105" name="Image 30" descr="img/icons/refresh-cw-white.png">    </p:cNvPr>
          <p:cNvPicPr>
            <a:picLocks noChangeAspect="1"/>
          </p:cNvPicPr>
          <p:nvPr/>
        </p:nvPicPr>
        <p:blipFill>
          <a:blip r:embed="rId33"/>
          <a:stretch>
            <a:fillRect/>
          </a:stretch>
        </p:blipFill>
        <p:spPr>
          <a:xfrm>
            <a:off x="8679851" y="5150267"/>
            <a:ext cx="215067" cy="215067"/>
          </a:xfrm>
          <a:prstGeom prst="rect">
            <a:avLst/>
          </a:prstGeom>
        </p:spPr>
      </p:pic>
      <p:sp>
        <p:nvSpPr>
          <p:cNvPr id="106" name="Text 71"/>
          <p:cNvSpPr txBox="1"/>
          <p:nvPr/>
        </p:nvSpPr>
        <p:spPr>
          <a:xfrm>
            <a:off x="9070848" y="5065776"/>
            <a:ext cx="2606040" cy="384048"/>
          </a:xfrm>
          <a:prstGeom prst="rect">
            <a:avLst/>
          </a:prstGeom>
          <a:noFill/>
          <a:ln/>
        </p:spPr>
        <p:txBody>
          <a:bodyPr wrap="square" lIns="0" tIns="0" rIns="0" bIns="0" rtlCol="0" anchor="ctr"/>
          <a:lstStyle/>
          <a:p>
            <a:pPr indent="0" marL="0">
              <a:buNone/>
            </a:pPr>
            <a:r>
              <a:rPr lang="en-US" sz="1100" b="1" dirty="0">
                <a:solidFill>
                  <a:srgbClr val="2B2B2B"/>
                </a:solidFill>
                <a:latin typeface="Calibri" pitchFamily="34" charset="0"/>
                <a:ea typeface="Calibri" pitchFamily="34" charset="-122"/>
                <a:cs typeface="Calibri" pitchFamily="34" charset="-120"/>
              </a:rPr>
              <a:t>Every override reviewed</a:t>
            </a:r>
            <a:endParaRPr lang="en-US" sz="1100" dirty="0"/>
          </a:p>
        </p:txBody>
      </p:sp>
      <p:sp>
        <p:nvSpPr>
          <p:cNvPr id="107" name="Text 72"/>
          <p:cNvSpPr txBox="1"/>
          <p:nvPr/>
        </p:nvSpPr>
        <p:spPr>
          <a:xfrm>
            <a:off x="6327648" y="5559552"/>
            <a:ext cx="5266944" cy="274320"/>
          </a:xfrm>
          <a:prstGeom prst="rect">
            <a:avLst/>
          </a:prstGeom>
          <a:noFill/>
          <a:ln/>
        </p:spPr>
        <p:txBody>
          <a:bodyPr wrap="square" lIns="0" tIns="0" rIns="0" bIns="0" rtlCol="0" anchor="ctr"/>
          <a:lstStyle/>
          <a:p>
            <a:pPr indent="0" marL="0">
              <a:buNone/>
            </a:pPr>
            <a:r>
              <a:rPr lang="en-US" sz="1000" b="1" dirty="0">
                <a:solidFill>
                  <a:srgbClr val="D2651F"/>
                </a:solidFill>
                <a:latin typeface="Calibri" pitchFamily="34" charset="0"/>
                <a:ea typeface="Calibri" pitchFamily="34" charset="-122"/>
                <a:cs typeface="Calibri" pitchFamily="34" charset="-120"/>
              </a:rPr>
              <a:t>So we: </a:t>
            </a:r>
            <a:pPr indent="0" marL="0">
              <a:buNone/>
            </a:pPr>
            <a:r>
              <a:rPr lang="en-US" sz="1000" dirty="0">
                <a:solidFill>
                  <a:srgbClr val="1A1A1A"/>
                </a:solidFill>
                <a:latin typeface="Calibri" pitchFamily="34" charset="0"/>
                <a:ea typeface="Calibri" pitchFamily="34" charset="-122"/>
                <a:cs typeface="Calibri" pitchFamily="34" charset="-120"/>
              </a:rPr>
              <a:t>earn trust on the shift floor before the system is allowed to act.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E4803A"/>
          </a:solidFill>
          <a:ln w="12700">
            <a:solidFill>
              <a:srgbClr val="E4803A"/>
            </a:solidFill>
            <a:prstDash val="solid"/>
          </a:ln>
        </p:spPr>
      </p:sp>
      <p:pic>
        <p:nvPicPr>
          <p:cNvPr id="3" name="Image 0" descr="img/logo_jsl.jpg">    </p:cNvPr>
          <p:cNvPicPr>
            <a:picLocks noChangeAspect="1"/>
          </p:cNvPicPr>
          <p:nvPr/>
        </p:nvPicPr>
        <p:blipFill>
          <a:blip r:embed="rId1"/>
          <a:stretch>
            <a:fillRect/>
          </a:stretch>
        </p:blipFill>
        <p:spPr>
          <a:xfrm>
            <a:off x="91440" y="73152"/>
            <a:ext cx="2176272" cy="640080"/>
          </a:xfrm>
          <a:prstGeom prst="rect">
            <a:avLst/>
          </a:prstGeom>
        </p:spPr>
      </p:pic>
      <p:pic>
        <p:nvPicPr>
          <p:cNvPr id="4" name="Image 1" descr="img/logo_spark.png">    </p:cNvPr>
          <p:cNvPicPr>
            <a:picLocks noChangeAspect="1"/>
          </p:cNvPicPr>
          <p:nvPr/>
        </p:nvPicPr>
        <p:blipFill>
          <a:blip r:embed="rId2"/>
          <a:stretch>
            <a:fillRect/>
          </a:stretch>
        </p:blipFill>
        <p:spPr>
          <a:xfrm>
            <a:off x="2340864" y="73152"/>
            <a:ext cx="1243584" cy="640080"/>
          </a:xfrm>
          <a:prstGeom prst="rect">
            <a:avLst/>
          </a:prstGeom>
        </p:spPr>
      </p:pic>
      <p:sp>
        <p:nvSpPr>
          <p:cNvPr id="5" name="Shape 1"/>
          <p:cNvSpPr/>
          <p:nvPr/>
        </p:nvSpPr>
        <p:spPr>
          <a:xfrm>
            <a:off x="3785616" y="182880"/>
            <a:ext cx="1307592" cy="420624"/>
          </a:xfrm>
          <a:prstGeom prst="rect">
            <a:avLst/>
          </a:prstGeom>
          <a:solidFill>
            <a:srgbClr val="F2F2F2"/>
          </a:solidFill>
          <a:ln w="12700">
            <a:solidFill>
              <a:srgbClr val="F2F2F2"/>
            </a:solidFill>
            <a:prstDash val="solid"/>
          </a:ln>
        </p:spPr>
      </p:sp>
      <p:sp>
        <p:nvSpPr>
          <p:cNvPr id="6" name="Text 2"/>
          <p:cNvSpPr txBox="1"/>
          <p:nvPr/>
        </p:nvSpPr>
        <p:spPr>
          <a:xfrm>
            <a:off x="3785616"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1  Problem</a:t>
            </a:r>
            <a:endParaRPr lang="en-US" sz="1050" dirty="0"/>
          </a:p>
        </p:txBody>
      </p:sp>
      <p:sp>
        <p:nvSpPr>
          <p:cNvPr id="7" name="Shape 3"/>
          <p:cNvSpPr/>
          <p:nvPr/>
        </p:nvSpPr>
        <p:spPr>
          <a:xfrm>
            <a:off x="5148072" y="182880"/>
            <a:ext cx="1307592" cy="420624"/>
          </a:xfrm>
          <a:prstGeom prst="rect">
            <a:avLst/>
          </a:prstGeom>
          <a:solidFill>
            <a:srgbClr val="F2F2F2"/>
          </a:solidFill>
          <a:ln w="12700">
            <a:solidFill>
              <a:srgbClr val="F2F2F2"/>
            </a:solidFill>
            <a:prstDash val="solid"/>
          </a:ln>
        </p:spPr>
      </p:sp>
      <p:sp>
        <p:nvSpPr>
          <p:cNvPr id="8" name="Text 4"/>
          <p:cNvSpPr txBox="1"/>
          <p:nvPr/>
        </p:nvSpPr>
        <p:spPr>
          <a:xfrm>
            <a:off x="5148072"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2  Insights</a:t>
            </a:r>
            <a:endParaRPr lang="en-US" sz="1050" dirty="0"/>
          </a:p>
        </p:txBody>
      </p:sp>
      <p:sp>
        <p:nvSpPr>
          <p:cNvPr id="9" name="Shape 5"/>
          <p:cNvSpPr/>
          <p:nvPr/>
        </p:nvSpPr>
        <p:spPr>
          <a:xfrm>
            <a:off x="6510528" y="182880"/>
            <a:ext cx="1307592" cy="420624"/>
          </a:xfrm>
          <a:prstGeom prst="rect">
            <a:avLst/>
          </a:prstGeom>
          <a:solidFill>
            <a:srgbClr val="B63831"/>
          </a:solidFill>
          <a:ln w="12700">
            <a:solidFill>
              <a:srgbClr val="B63831"/>
            </a:solidFill>
            <a:prstDash val="solid"/>
          </a:ln>
        </p:spPr>
      </p:sp>
      <p:sp>
        <p:nvSpPr>
          <p:cNvPr id="10" name="Text 6"/>
          <p:cNvSpPr txBox="1"/>
          <p:nvPr/>
        </p:nvSpPr>
        <p:spPr>
          <a:xfrm>
            <a:off x="6510528" y="182880"/>
            <a:ext cx="1307592"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  Solution</a:t>
            </a:r>
            <a:endParaRPr lang="en-US" sz="1050" dirty="0"/>
          </a:p>
        </p:txBody>
      </p:sp>
      <p:sp>
        <p:nvSpPr>
          <p:cNvPr id="11" name="Shape 7"/>
          <p:cNvSpPr/>
          <p:nvPr/>
        </p:nvSpPr>
        <p:spPr>
          <a:xfrm>
            <a:off x="7872984" y="182880"/>
            <a:ext cx="1307592" cy="420624"/>
          </a:xfrm>
          <a:prstGeom prst="rect">
            <a:avLst/>
          </a:prstGeom>
          <a:solidFill>
            <a:srgbClr val="F2F2F2"/>
          </a:solidFill>
          <a:ln w="12700">
            <a:solidFill>
              <a:srgbClr val="F2F2F2"/>
            </a:solidFill>
            <a:prstDash val="solid"/>
          </a:ln>
        </p:spPr>
      </p:sp>
      <p:sp>
        <p:nvSpPr>
          <p:cNvPr id="12" name="Text 8"/>
          <p:cNvSpPr txBox="1"/>
          <p:nvPr/>
        </p:nvSpPr>
        <p:spPr>
          <a:xfrm>
            <a:off x="7872984"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4  Implementation</a:t>
            </a:r>
            <a:endParaRPr lang="en-US" sz="1050" dirty="0"/>
          </a:p>
        </p:txBody>
      </p:sp>
      <p:sp>
        <p:nvSpPr>
          <p:cNvPr id="13" name="Shape 9"/>
          <p:cNvSpPr/>
          <p:nvPr/>
        </p:nvSpPr>
        <p:spPr>
          <a:xfrm>
            <a:off x="9235440" y="182880"/>
            <a:ext cx="1307592" cy="420624"/>
          </a:xfrm>
          <a:prstGeom prst="rect">
            <a:avLst/>
          </a:prstGeom>
          <a:solidFill>
            <a:srgbClr val="F2F2F2"/>
          </a:solidFill>
          <a:ln w="12700">
            <a:solidFill>
              <a:srgbClr val="F2F2F2"/>
            </a:solidFill>
            <a:prstDash val="solid"/>
          </a:ln>
        </p:spPr>
      </p:sp>
      <p:sp>
        <p:nvSpPr>
          <p:cNvPr id="14" name="Text 10"/>
          <p:cNvSpPr txBox="1"/>
          <p:nvPr/>
        </p:nvSpPr>
        <p:spPr>
          <a:xfrm>
            <a:off x="9235440"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5  Impact</a:t>
            </a:r>
            <a:endParaRPr lang="en-US" sz="1050" dirty="0"/>
          </a:p>
        </p:txBody>
      </p:sp>
      <p:sp>
        <p:nvSpPr>
          <p:cNvPr id="15" name="Text 11"/>
          <p:cNvSpPr txBox="1"/>
          <p:nvPr/>
        </p:nvSpPr>
        <p:spPr>
          <a:xfrm>
            <a:off x="10625328" y="146304"/>
            <a:ext cx="1481328" cy="49377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Team Futuristic</a:t>
            </a:r>
            <a:pPr algn="r" indent="0" marL="0">
              <a:buNone/>
            </a:pPr>
            <a:endParaRPr lang="en-US" sz="1000" dirty="0"/>
          </a:p>
          <a:p>
            <a:pPr algn="r" indent="0" marL="0">
              <a:buNone/>
            </a:pPr>
            <a:r>
              <a:rPr lang="en-US" sz="950" dirty="0">
                <a:solidFill>
                  <a:srgbClr val="FFFFFF"/>
                </a:solidFill>
                <a:latin typeface="Calibri" pitchFamily="34" charset="0"/>
                <a:ea typeface="Calibri" pitchFamily="34" charset="-122"/>
                <a:cs typeface="Calibri" pitchFamily="34" charset="-120"/>
              </a:rPr>
              <a:t>IIT Bombay</a:t>
            </a:r>
            <a:endParaRPr lang="en-US" sz="1000" dirty="0"/>
          </a:p>
        </p:txBody>
      </p:sp>
      <p:sp>
        <p:nvSpPr>
          <p:cNvPr id="16" name="Text 12"/>
          <p:cNvSpPr txBox="1"/>
          <p:nvPr/>
        </p:nvSpPr>
        <p:spPr>
          <a:xfrm>
            <a:off x="457200" y="822960"/>
            <a:ext cx="11274552" cy="384048"/>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Detect on the strip, decide at the coil, route to the owner, and learn from every correction</a:t>
            </a:r>
            <a:endParaRPr lang="en-US" sz="2000" dirty="0"/>
          </a:p>
        </p:txBody>
      </p:sp>
      <p:sp>
        <p:nvSpPr>
          <p:cNvPr id="17" name="Shape 13"/>
          <p:cNvSpPr/>
          <p:nvPr/>
        </p:nvSpPr>
        <p:spPr>
          <a:xfrm>
            <a:off x="91440" y="1234440"/>
            <a:ext cx="274320" cy="4965192"/>
          </a:xfrm>
          <a:prstGeom prst="rect">
            <a:avLst/>
          </a:prstGeom>
          <a:solidFill>
            <a:srgbClr val="2B2B2B"/>
          </a:solidFill>
          <a:ln w="12700">
            <a:solidFill>
              <a:srgbClr val="2B2B2B"/>
            </a:solidFill>
            <a:prstDash val="solid"/>
          </a:ln>
        </p:spPr>
      </p:sp>
      <p:sp>
        <p:nvSpPr>
          <p:cNvPr id="18" name="Text 14"/>
          <p:cNvSpPr txBox="1"/>
          <p:nvPr/>
        </p:nvSpPr>
        <p:spPr>
          <a:xfrm rot="16200000">
            <a:off x="-2253996" y="3579876"/>
            <a:ext cx="4965192"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SOLUTION  ·  HOW IT WORKS</a:t>
            </a:r>
            <a:endParaRPr lang="en-US" sz="1000" dirty="0"/>
          </a:p>
        </p:txBody>
      </p:sp>
      <p:sp>
        <p:nvSpPr>
          <p:cNvPr id="19" name="Shape 15"/>
          <p:cNvSpPr/>
          <p:nvPr/>
        </p:nvSpPr>
        <p:spPr>
          <a:xfrm>
            <a:off x="91440" y="6236208"/>
            <a:ext cx="11640312" cy="420624"/>
          </a:xfrm>
          <a:prstGeom prst="rect">
            <a:avLst/>
          </a:prstGeom>
          <a:solidFill>
            <a:srgbClr val="2B2B2B"/>
          </a:solidFill>
          <a:ln w="12700">
            <a:solidFill>
              <a:srgbClr val="2B2B2B"/>
            </a:solidFill>
            <a:prstDash val="solid"/>
          </a:ln>
        </p:spPr>
      </p:sp>
      <p:sp>
        <p:nvSpPr>
          <p:cNvPr id="20" name="Text 16"/>
          <p:cNvSpPr txBox="1"/>
          <p:nvPr/>
        </p:nvSpPr>
        <p:spPr>
          <a:xfrm>
            <a:off x="256032" y="6236208"/>
            <a:ext cx="1133856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Buy proven cameras, own the software: vendor-grade capture, tuned to JSL's grades and wired to JSL's process owners.</a:t>
            </a:r>
            <a:endParaRPr lang="en-US" sz="1200" dirty="0"/>
          </a:p>
        </p:txBody>
      </p:sp>
      <p:sp>
        <p:nvSpPr>
          <p:cNvPr id="21" name="Text 17"/>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BUILT = working in our prototype today, live at surface-vision.github.io.</a:t>
            </a:r>
            <a:endParaRPr lang="en-US" sz="900" dirty="0"/>
          </a:p>
        </p:txBody>
      </p:sp>
      <p:sp>
        <p:nvSpPr>
          <p:cNvPr id="22" name="Shape 18"/>
          <p:cNvSpPr/>
          <p:nvPr/>
        </p:nvSpPr>
        <p:spPr>
          <a:xfrm>
            <a:off x="457200" y="1234440"/>
            <a:ext cx="11274552" cy="274320"/>
          </a:xfrm>
          <a:prstGeom prst="rect">
            <a:avLst/>
          </a:prstGeom>
          <a:solidFill>
            <a:srgbClr val="E4803A"/>
          </a:solidFill>
          <a:ln w="12700">
            <a:solidFill>
              <a:srgbClr val="E4803A"/>
            </a:solidFill>
            <a:prstDash val="solid"/>
          </a:ln>
        </p:spPr>
      </p:sp>
      <p:sp>
        <p:nvSpPr>
          <p:cNvPr id="23" name="Text 19"/>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it works: six stages from camera to corrective action</a:t>
            </a:r>
            <a:endParaRPr lang="en-US" sz="1100" dirty="0"/>
          </a:p>
        </p:txBody>
      </p:sp>
      <p:sp>
        <p:nvSpPr>
          <p:cNvPr id="24" name="Shape 20"/>
          <p:cNvSpPr/>
          <p:nvPr/>
        </p:nvSpPr>
        <p:spPr>
          <a:xfrm>
            <a:off x="457200" y="1572768"/>
            <a:ext cx="1783080" cy="1188720"/>
          </a:xfrm>
          <a:prstGeom prst="roundRect">
            <a:avLst>
              <a:gd name="adj" fmla="val 4615"/>
            </a:avLst>
          </a:prstGeom>
          <a:solidFill>
            <a:srgbClr val="F3F3F3"/>
          </a:solidFill>
          <a:ln w="12700">
            <a:solidFill>
              <a:srgbClr val="F3F3F3"/>
            </a:solidFill>
            <a:prstDash val="solid"/>
          </a:ln>
        </p:spPr>
      </p:sp>
      <p:sp>
        <p:nvSpPr>
          <p:cNvPr id="25" name="Shape 21"/>
          <p:cNvSpPr/>
          <p:nvPr/>
        </p:nvSpPr>
        <p:spPr>
          <a:xfrm>
            <a:off x="566928" y="1627632"/>
            <a:ext cx="420624" cy="420624"/>
          </a:xfrm>
          <a:prstGeom prst="ellipse">
            <a:avLst/>
          </a:prstGeom>
          <a:solidFill>
            <a:srgbClr val="2B2B2B"/>
          </a:solidFill>
          <a:ln w="12700">
            <a:solidFill>
              <a:srgbClr val="2B2B2B"/>
            </a:solidFill>
            <a:prstDash val="solid"/>
          </a:ln>
        </p:spPr>
      </p:sp>
      <p:pic>
        <p:nvPicPr>
          <p:cNvPr id="26" name="Image 2" descr="img/icons/camera-white.png">    </p:cNvPr>
          <p:cNvPicPr>
            <a:picLocks noChangeAspect="1"/>
          </p:cNvPicPr>
          <p:nvPr/>
        </p:nvPicPr>
        <p:blipFill>
          <a:blip r:embed="rId3"/>
          <a:stretch>
            <a:fillRect/>
          </a:stretch>
        </p:blipFill>
        <p:spPr>
          <a:xfrm>
            <a:off x="659465" y="1720169"/>
            <a:ext cx="235549" cy="235549"/>
          </a:xfrm>
          <a:prstGeom prst="rect">
            <a:avLst/>
          </a:prstGeom>
        </p:spPr>
      </p:pic>
      <p:sp>
        <p:nvSpPr>
          <p:cNvPr id="27" name="Text 22"/>
          <p:cNvSpPr txBox="1"/>
          <p:nvPr/>
        </p:nvSpPr>
        <p:spPr>
          <a:xfrm>
            <a:off x="1060704" y="1627632"/>
            <a:ext cx="1143000" cy="420624"/>
          </a:xfrm>
          <a:prstGeom prst="rect">
            <a:avLst/>
          </a:prstGeom>
          <a:noFill/>
          <a:ln/>
        </p:spPr>
        <p:txBody>
          <a:bodyPr wrap="square" lIns="0" tIns="0" rIns="0" bIns="0" rtlCol="0" anchor="ctr"/>
          <a:lstStyle/>
          <a:p>
            <a:pPr indent="0" marL="0">
              <a:buNone/>
            </a:pPr>
            <a:r>
              <a:rPr lang="en-US" sz="1200" b="1" dirty="0">
                <a:solidFill>
                  <a:srgbClr val="2B2B2B"/>
                </a:solidFill>
                <a:latin typeface="Calibri" pitchFamily="34" charset="0"/>
                <a:ea typeface="Calibri" pitchFamily="34" charset="-122"/>
                <a:cs typeface="Calibri" pitchFamily="34" charset="-120"/>
              </a:rPr>
              <a:t>Capture</a:t>
            </a:r>
            <a:endParaRPr lang="en-US" sz="1200" dirty="0"/>
          </a:p>
        </p:txBody>
      </p:sp>
      <p:sp>
        <p:nvSpPr>
          <p:cNvPr id="28" name="Text 23"/>
          <p:cNvSpPr txBox="1"/>
          <p:nvPr/>
        </p:nvSpPr>
        <p:spPr>
          <a:xfrm>
            <a:off x="566928" y="2084832"/>
            <a:ext cx="1600200" cy="402336"/>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Both faces, bright + dark-field light, 0.2 mm detail</a:t>
            </a:r>
            <a:endParaRPr lang="en-US" sz="900" dirty="0"/>
          </a:p>
        </p:txBody>
      </p:sp>
      <p:sp>
        <p:nvSpPr>
          <p:cNvPr id="29" name="Shape 24"/>
          <p:cNvSpPr/>
          <p:nvPr/>
        </p:nvSpPr>
        <p:spPr>
          <a:xfrm>
            <a:off x="566928" y="2505456"/>
            <a:ext cx="822960" cy="201168"/>
          </a:xfrm>
          <a:prstGeom prst="roundRect">
            <a:avLst>
              <a:gd name="adj" fmla="val 27273"/>
            </a:avLst>
          </a:prstGeom>
          <a:solidFill>
            <a:srgbClr val="6E6E6E"/>
          </a:solidFill>
          <a:ln w="12700">
            <a:solidFill>
              <a:srgbClr val="6E6E6E"/>
            </a:solidFill>
            <a:prstDash val="solid"/>
          </a:ln>
        </p:spPr>
      </p:sp>
      <p:sp>
        <p:nvSpPr>
          <p:cNvPr id="30" name="Text 25"/>
          <p:cNvSpPr txBox="1"/>
          <p:nvPr/>
        </p:nvSpPr>
        <p:spPr>
          <a:xfrm>
            <a:off x="566928"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31" name="Shape 26"/>
          <p:cNvSpPr/>
          <p:nvPr/>
        </p:nvSpPr>
        <p:spPr>
          <a:xfrm>
            <a:off x="2253996" y="2011680"/>
            <a:ext cx="91440" cy="201168"/>
          </a:xfrm>
          <a:prstGeom prst="chevron">
            <a:avLst/>
          </a:prstGeom>
          <a:solidFill>
            <a:srgbClr val="D2651F"/>
          </a:solidFill>
          <a:ln w="12700">
            <a:solidFill>
              <a:srgbClr val="D2651F"/>
            </a:solidFill>
            <a:prstDash val="solid"/>
          </a:ln>
        </p:spPr>
      </p:sp>
      <p:sp>
        <p:nvSpPr>
          <p:cNvPr id="32" name="Shape 27"/>
          <p:cNvSpPr/>
          <p:nvPr/>
        </p:nvSpPr>
        <p:spPr>
          <a:xfrm>
            <a:off x="2355494" y="1572768"/>
            <a:ext cx="1783080" cy="1188720"/>
          </a:xfrm>
          <a:prstGeom prst="roundRect">
            <a:avLst>
              <a:gd name="adj" fmla="val 4615"/>
            </a:avLst>
          </a:prstGeom>
          <a:solidFill>
            <a:srgbClr val="F3F3F3"/>
          </a:solidFill>
          <a:ln w="12700">
            <a:solidFill>
              <a:srgbClr val="F3F3F3"/>
            </a:solidFill>
            <a:prstDash val="solid"/>
          </a:ln>
        </p:spPr>
      </p:sp>
      <p:sp>
        <p:nvSpPr>
          <p:cNvPr id="33" name="Shape 28"/>
          <p:cNvSpPr/>
          <p:nvPr/>
        </p:nvSpPr>
        <p:spPr>
          <a:xfrm>
            <a:off x="2465222" y="1627632"/>
            <a:ext cx="420624" cy="420624"/>
          </a:xfrm>
          <a:prstGeom prst="ellipse">
            <a:avLst/>
          </a:prstGeom>
          <a:solidFill>
            <a:srgbClr val="2B2B2B"/>
          </a:solidFill>
          <a:ln w="12700">
            <a:solidFill>
              <a:srgbClr val="2B2B2B"/>
            </a:solidFill>
            <a:prstDash val="solid"/>
          </a:ln>
        </p:spPr>
      </p:sp>
      <p:pic>
        <p:nvPicPr>
          <p:cNvPr id="34" name="Image 3" descr="img/icons/shield-check-white.png">    </p:cNvPr>
          <p:cNvPicPr>
            <a:picLocks noChangeAspect="1"/>
          </p:cNvPicPr>
          <p:nvPr/>
        </p:nvPicPr>
        <p:blipFill>
          <a:blip r:embed="rId4"/>
          <a:stretch>
            <a:fillRect/>
          </a:stretch>
        </p:blipFill>
        <p:spPr>
          <a:xfrm>
            <a:off x="2557760" y="1720169"/>
            <a:ext cx="235549" cy="235549"/>
          </a:xfrm>
          <a:prstGeom prst="rect">
            <a:avLst/>
          </a:prstGeom>
        </p:spPr>
      </p:pic>
      <p:sp>
        <p:nvSpPr>
          <p:cNvPr id="35" name="Text 29"/>
          <p:cNvSpPr txBox="1"/>
          <p:nvPr/>
        </p:nvSpPr>
        <p:spPr>
          <a:xfrm>
            <a:off x="2958998" y="1627632"/>
            <a:ext cx="1143000" cy="420624"/>
          </a:xfrm>
          <a:prstGeom prst="rect">
            <a:avLst/>
          </a:prstGeom>
          <a:noFill/>
          <a:ln/>
        </p:spPr>
        <p:txBody>
          <a:bodyPr wrap="square" lIns="0" tIns="0" rIns="0" bIns="0" rtlCol="0" anchor="ctr"/>
          <a:lstStyle/>
          <a:p>
            <a:pPr indent="0" marL="0">
              <a:buNone/>
            </a:pPr>
            <a:r>
              <a:rPr lang="en-US" sz="1200" b="1" dirty="0">
                <a:solidFill>
                  <a:srgbClr val="2B2B2B"/>
                </a:solidFill>
                <a:latin typeface="Calibri" pitchFamily="34" charset="0"/>
                <a:ea typeface="Calibri" pitchFamily="34" charset="-122"/>
                <a:cs typeface="Calibri" pitchFamily="34" charset="-120"/>
              </a:rPr>
              <a:t>Check</a:t>
            </a:r>
            <a:endParaRPr lang="en-US" sz="1200" dirty="0"/>
          </a:p>
        </p:txBody>
      </p:sp>
      <p:sp>
        <p:nvSpPr>
          <p:cNvPr id="36" name="Text 30"/>
          <p:cNvSpPr txBox="1"/>
          <p:nvPr/>
        </p:nvSpPr>
        <p:spPr>
          <a:xfrm>
            <a:off x="2465222" y="2084832"/>
            <a:ext cx="1600200" cy="402336"/>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Is it usable steel? If not, skip it</a:t>
            </a:r>
            <a:endParaRPr lang="en-US" sz="900" dirty="0"/>
          </a:p>
        </p:txBody>
      </p:sp>
      <p:sp>
        <p:nvSpPr>
          <p:cNvPr id="37" name="Shape 31"/>
          <p:cNvSpPr/>
          <p:nvPr/>
        </p:nvSpPr>
        <p:spPr>
          <a:xfrm>
            <a:off x="2465222" y="2505456"/>
            <a:ext cx="822960" cy="201168"/>
          </a:xfrm>
          <a:prstGeom prst="roundRect">
            <a:avLst>
              <a:gd name="adj" fmla="val 27273"/>
            </a:avLst>
          </a:prstGeom>
          <a:solidFill>
            <a:srgbClr val="2E7D32"/>
          </a:solidFill>
          <a:ln w="12700">
            <a:solidFill>
              <a:srgbClr val="2E7D32"/>
            </a:solidFill>
            <a:prstDash val="solid"/>
          </a:ln>
        </p:spPr>
      </p:sp>
      <p:sp>
        <p:nvSpPr>
          <p:cNvPr id="38" name="Text 32"/>
          <p:cNvSpPr txBox="1"/>
          <p:nvPr/>
        </p:nvSpPr>
        <p:spPr>
          <a:xfrm>
            <a:off x="2465222"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39" name="Shape 33"/>
          <p:cNvSpPr/>
          <p:nvPr/>
        </p:nvSpPr>
        <p:spPr>
          <a:xfrm>
            <a:off x="4152290" y="2011680"/>
            <a:ext cx="91440" cy="201168"/>
          </a:xfrm>
          <a:prstGeom prst="chevron">
            <a:avLst/>
          </a:prstGeom>
          <a:solidFill>
            <a:srgbClr val="D2651F"/>
          </a:solidFill>
          <a:ln w="12700">
            <a:solidFill>
              <a:srgbClr val="D2651F"/>
            </a:solidFill>
            <a:prstDash val="solid"/>
          </a:ln>
        </p:spPr>
      </p:sp>
      <p:sp>
        <p:nvSpPr>
          <p:cNvPr id="40" name="Shape 34"/>
          <p:cNvSpPr/>
          <p:nvPr/>
        </p:nvSpPr>
        <p:spPr>
          <a:xfrm>
            <a:off x="4253789" y="1572768"/>
            <a:ext cx="1783080" cy="1188720"/>
          </a:xfrm>
          <a:prstGeom prst="roundRect">
            <a:avLst>
              <a:gd name="adj" fmla="val 4615"/>
            </a:avLst>
          </a:prstGeom>
          <a:solidFill>
            <a:srgbClr val="F3F3F3"/>
          </a:solidFill>
          <a:ln w="12700">
            <a:solidFill>
              <a:srgbClr val="F3F3F3"/>
            </a:solidFill>
            <a:prstDash val="solid"/>
          </a:ln>
        </p:spPr>
      </p:sp>
      <p:sp>
        <p:nvSpPr>
          <p:cNvPr id="41" name="Shape 35"/>
          <p:cNvSpPr/>
          <p:nvPr/>
        </p:nvSpPr>
        <p:spPr>
          <a:xfrm>
            <a:off x="4363517" y="1627632"/>
            <a:ext cx="420624" cy="420624"/>
          </a:xfrm>
          <a:prstGeom prst="ellipse">
            <a:avLst/>
          </a:prstGeom>
          <a:solidFill>
            <a:srgbClr val="2B2B2B"/>
          </a:solidFill>
          <a:ln w="12700">
            <a:solidFill>
              <a:srgbClr val="2B2B2B"/>
            </a:solidFill>
            <a:prstDash val="solid"/>
          </a:ln>
        </p:spPr>
      </p:sp>
      <p:pic>
        <p:nvPicPr>
          <p:cNvPr id="42" name="Image 4" descr="img/icons/scan-search-white.png">    </p:cNvPr>
          <p:cNvPicPr>
            <a:picLocks noChangeAspect="1"/>
          </p:cNvPicPr>
          <p:nvPr/>
        </p:nvPicPr>
        <p:blipFill>
          <a:blip r:embed="rId5"/>
          <a:stretch>
            <a:fillRect/>
          </a:stretch>
        </p:blipFill>
        <p:spPr>
          <a:xfrm>
            <a:off x="4456054" y="1720169"/>
            <a:ext cx="235549" cy="235549"/>
          </a:xfrm>
          <a:prstGeom prst="rect">
            <a:avLst/>
          </a:prstGeom>
        </p:spPr>
      </p:pic>
      <p:sp>
        <p:nvSpPr>
          <p:cNvPr id="43" name="Text 36"/>
          <p:cNvSpPr txBox="1"/>
          <p:nvPr/>
        </p:nvSpPr>
        <p:spPr>
          <a:xfrm>
            <a:off x="4857293" y="1627632"/>
            <a:ext cx="1143000" cy="420624"/>
          </a:xfrm>
          <a:prstGeom prst="rect">
            <a:avLst/>
          </a:prstGeom>
          <a:noFill/>
          <a:ln/>
        </p:spPr>
        <p:txBody>
          <a:bodyPr wrap="square" lIns="0" tIns="0" rIns="0" bIns="0" rtlCol="0" anchor="ctr"/>
          <a:lstStyle/>
          <a:p>
            <a:pPr indent="0" marL="0">
              <a:buNone/>
            </a:pPr>
            <a:r>
              <a:rPr lang="en-US" sz="1200" b="1" dirty="0">
                <a:solidFill>
                  <a:srgbClr val="2B2B2B"/>
                </a:solidFill>
                <a:latin typeface="Calibri" pitchFamily="34" charset="0"/>
                <a:ea typeface="Calibri" pitchFamily="34" charset="-122"/>
                <a:cs typeface="Calibri" pitchFamily="34" charset="-120"/>
              </a:rPr>
              <a:t>Detect</a:t>
            </a:r>
            <a:endParaRPr lang="en-US" sz="1200" dirty="0"/>
          </a:p>
        </p:txBody>
      </p:sp>
      <p:sp>
        <p:nvSpPr>
          <p:cNvPr id="44" name="Text 37"/>
          <p:cNvSpPr txBox="1"/>
          <p:nvPr/>
        </p:nvSpPr>
        <p:spPr>
          <a:xfrm>
            <a:off x="4363517" y="2084832"/>
            <a:ext cx="1600200" cy="402336"/>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Find and classify every defect</a:t>
            </a:r>
            <a:endParaRPr lang="en-US" sz="900" dirty="0"/>
          </a:p>
        </p:txBody>
      </p:sp>
      <p:sp>
        <p:nvSpPr>
          <p:cNvPr id="45" name="Shape 38"/>
          <p:cNvSpPr/>
          <p:nvPr/>
        </p:nvSpPr>
        <p:spPr>
          <a:xfrm>
            <a:off x="4363517" y="2505456"/>
            <a:ext cx="822960" cy="201168"/>
          </a:xfrm>
          <a:prstGeom prst="roundRect">
            <a:avLst>
              <a:gd name="adj" fmla="val 27273"/>
            </a:avLst>
          </a:prstGeom>
          <a:solidFill>
            <a:srgbClr val="2E7D32"/>
          </a:solidFill>
          <a:ln w="12700">
            <a:solidFill>
              <a:srgbClr val="2E7D32"/>
            </a:solidFill>
            <a:prstDash val="solid"/>
          </a:ln>
        </p:spPr>
      </p:sp>
      <p:sp>
        <p:nvSpPr>
          <p:cNvPr id="46" name="Text 39"/>
          <p:cNvSpPr txBox="1"/>
          <p:nvPr/>
        </p:nvSpPr>
        <p:spPr>
          <a:xfrm>
            <a:off x="4363517"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47" name="Shape 40"/>
          <p:cNvSpPr/>
          <p:nvPr/>
        </p:nvSpPr>
        <p:spPr>
          <a:xfrm>
            <a:off x="6050585" y="2011680"/>
            <a:ext cx="91440" cy="201168"/>
          </a:xfrm>
          <a:prstGeom prst="chevron">
            <a:avLst/>
          </a:prstGeom>
          <a:solidFill>
            <a:srgbClr val="D2651F"/>
          </a:solidFill>
          <a:ln w="12700">
            <a:solidFill>
              <a:srgbClr val="D2651F"/>
            </a:solidFill>
            <a:prstDash val="solid"/>
          </a:ln>
        </p:spPr>
      </p:sp>
      <p:sp>
        <p:nvSpPr>
          <p:cNvPr id="48" name="Shape 41"/>
          <p:cNvSpPr/>
          <p:nvPr/>
        </p:nvSpPr>
        <p:spPr>
          <a:xfrm>
            <a:off x="6152083" y="1572768"/>
            <a:ext cx="1783080" cy="1188720"/>
          </a:xfrm>
          <a:prstGeom prst="roundRect">
            <a:avLst>
              <a:gd name="adj" fmla="val 4615"/>
            </a:avLst>
          </a:prstGeom>
          <a:solidFill>
            <a:srgbClr val="F3F3F3"/>
          </a:solidFill>
          <a:ln w="12700">
            <a:solidFill>
              <a:srgbClr val="F3F3F3"/>
            </a:solidFill>
            <a:prstDash val="solid"/>
          </a:ln>
        </p:spPr>
      </p:sp>
      <p:sp>
        <p:nvSpPr>
          <p:cNvPr id="49" name="Shape 42"/>
          <p:cNvSpPr/>
          <p:nvPr/>
        </p:nvSpPr>
        <p:spPr>
          <a:xfrm>
            <a:off x="6261811" y="1627632"/>
            <a:ext cx="420624" cy="420624"/>
          </a:xfrm>
          <a:prstGeom prst="ellipse">
            <a:avLst/>
          </a:prstGeom>
          <a:solidFill>
            <a:srgbClr val="2B2B2B"/>
          </a:solidFill>
          <a:ln w="12700">
            <a:solidFill>
              <a:srgbClr val="2B2B2B"/>
            </a:solidFill>
            <a:prstDash val="solid"/>
          </a:ln>
        </p:spPr>
      </p:sp>
      <p:pic>
        <p:nvPicPr>
          <p:cNvPr id="50" name="Image 5" descr="img/icons/gauge-white.png">    </p:cNvPr>
          <p:cNvPicPr>
            <a:picLocks noChangeAspect="1"/>
          </p:cNvPicPr>
          <p:nvPr/>
        </p:nvPicPr>
        <p:blipFill>
          <a:blip r:embed="rId6"/>
          <a:stretch>
            <a:fillRect/>
          </a:stretch>
        </p:blipFill>
        <p:spPr>
          <a:xfrm>
            <a:off x="6354348" y="1720169"/>
            <a:ext cx="235549" cy="235549"/>
          </a:xfrm>
          <a:prstGeom prst="rect">
            <a:avLst/>
          </a:prstGeom>
        </p:spPr>
      </p:pic>
      <p:sp>
        <p:nvSpPr>
          <p:cNvPr id="51" name="Text 43"/>
          <p:cNvSpPr txBox="1"/>
          <p:nvPr/>
        </p:nvSpPr>
        <p:spPr>
          <a:xfrm>
            <a:off x="6755587" y="1627632"/>
            <a:ext cx="1143000" cy="420624"/>
          </a:xfrm>
          <a:prstGeom prst="rect">
            <a:avLst/>
          </a:prstGeom>
          <a:noFill/>
          <a:ln/>
        </p:spPr>
        <p:txBody>
          <a:bodyPr wrap="square" lIns="0" tIns="0" rIns="0" bIns="0" rtlCol="0" anchor="ctr"/>
          <a:lstStyle/>
          <a:p>
            <a:pPr indent="0" marL="0">
              <a:buNone/>
            </a:pPr>
            <a:r>
              <a:rPr lang="en-US" sz="1200" b="1" dirty="0">
                <a:solidFill>
                  <a:srgbClr val="2B2B2B"/>
                </a:solidFill>
                <a:latin typeface="Calibri" pitchFamily="34" charset="0"/>
                <a:ea typeface="Calibri" pitchFamily="34" charset="-122"/>
                <a:cs typeface="Calibri" pitchFamily="34" charset="-120"/>
              </a:rPr>
              <a:t>Score</a:t>
            </a:r>
            <a:endParaRPr lang="en-US" sz="1200" dirty="0"/>
          </a:p>
        </p:txBody>
      </p:sp>
      <p:sp>
        <p:nvSpPr>
          <p:cNvPr id="52" name="Text 44"/>
          <p:cNvSpPr txBox="1"/>
          <p:nvPr/>
        </p:nvSpPr>
        <p:spPr>
          <a:xfrm>
            <a:off x="6261811" y="2084832"/>
            <a:ext cx="1600200" cy="402336"/>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Confidence, severity 0-100, coil position</a:t>
            </a:r>
            <a:endParaRPr lang="en-US" sz="900" dirty="0"/>
          </a:p>
        </p:txBody>
      </p:sp>
      <p:sp>
        <p:nvSpPr>
          <p:cNvPr id="53" name="Shape 45"/>
          <p:cNvSpPr/>
          <p:nvPr/>
        </p:nvSpPr>
        <p:spPr>
          <a:xfrm>
            <a:off x="6261811" y="2505456"/>
            <a:ext cx="822960" cy="201168"/>
          </a:xfrm>
          <a:prstGeom prst="roundRect">
            <a:avLst>
              <a:gd name="adj" fmla="val 27273"/>
            </a:avLst>
          </a:prstGeom>
          <a:solidFill>
            <a:srgbClr val="2E7D32"/>
          </a:solidFill>
          <a:ln w="12700">
            <a:solidFill>
              <a:srgbClr val="2E7D32"/>
            </a:solidFill>
            <a:prstDash val="solid"/>
          </a:ln>
        </p:spPr>
      </p:sp>
      <p:sp>
        <p:nvSpPr>
          <p:cNvPr id="54" name="Text 46"/>
          <p:cNvSpPr txBox="1"/>
          <p:nvPr/>
        </p:nvSpPr>
        <p:spPr>
          <a:xfrm>
            <a:off x="6261811"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55" name="Shape 47"/>
          <p:cNvSpPr/>
          <p:nvPr/>
        </p:nvSpPr>
        <p:spPr>
          <a:xfrm>
            <a:off x="7948879" y="2011680"/>
            <a:ext cx="91440" cy="201168"/>
          </a:xfrm>
          <a:prstGeom prst="chevron">
            <a:avLst/>
          </a:prstGeom>
          <a:solidFill>
            <a:srgbClr val="D2651F"/>
          </a:solidFill>
          <a:ln w="12700">
            <a:solidFill>
              <a:srgbClr val="D2651F"/>
            </a:solidFill>
            <a:prstDash val="solid"/>
          </a:ln>
        </p:spPr>
      </p:sp>
      <p:sp>
        <p:nvSpPr>
          <p:cNvPr id="56" name="Shape 48"/>
          <p:cNvSpPr/>
          <p:nvPr/>
        </p:nvSpPr>
        <p:spPr>
          <a:xfrm>
            <a:off x="8050378" y="1572768"/>
            <a:ext cx="1783080" cy="1188720"/>
          </a:xfrm>
          <a:prstGeom prst="roundRect">
            <a:avLst>
              <a:gd name="adj" fmla="val 4615"/>
            </a:avLst>
          </a:prstGeom>
          <a:solidFill>
            <a:srgbClr val="F3F3F3"/>
          </a:solidFill>
          <a:ln w="12700">
            <a:solidFill>
              <a:srgbClr val="F3F3F3"/>
            </a:solidFill>
            <a:prstDash val="solid"/>
          </a:ln>
        </p:spPr>
      </p:sp>
      <p:sp>
        <p:nvSpPr>
          <p:cNvPr id="57" name="Shape 49"/>
          <p:cNvSpPr/>
          <p:nvPr/>
        </p:nvSpPr>
        <p:spPr>
          <a:xfrm>
            <a:off x="8160106" y="1627632"/>
            <a:ext cx="420624" cy="420624"/>
          </a:xfrm>
          <a:prstGeom prst="ellipse">
            <a:avLst/>
          </a:prstGeom>
          <a:solidFill>
            <a:srgbClr val="2B2B2B"/>
          </a:solidFill>
          <a:ln w="12700">
            <a:solidFill>
              <a:srgbClr val="2B2B2B"/>
            </a:solidFill>
            <a:prstDash val="solid"/>
          </a:ln>
        </p:spPr>
      </p:sp>
      <p:pic>
        <p:nvPicPr>
          <p:cNvPr id="58" name="Image 6" descr="img/icons/split-white.png">    </p:cNvPr>
          <p:cNvPicPr>
            <a:picLocks noChangeAspect="1"/>
          </p:cNvPicPr>
          <p:nvPr/>
        </p:nvPicPr>
        <p:blipFill>
          <a:blip r:embed="rId7"/>
          <a:stretch>
            <a:fillRect/>
          </a:stretch>
        </p:blipFill>
        <p:spPr>
          <a:xfrm>
            <a:off x="8252643" y="1720169"/>
            <a:ext cx="235549" cy="235549"/>
          </a:xfrm>
          <a:prstGeom prst="rect">
            <a:avLst/>
          </a:prstGeom>
        </p:spPr>
      </p:pic>
      <p:sp>
        <p:nvSpPr>
          <p:cNvPr id="59" name="Text 50"/>
          <p:cNvSpPr txBox="1"/>
          <p:nvPr/>
        </p:nvSpPr>
        <p:spPr>
          <a:xfrm>
            <a:off x="8653882" y="1627632"/>
            <a:ext cx="1143000" cy="420624"/>
          </a:xfrm>
          <a:prstGeom prst="rect">
            <a:avLst/>
          </a:prstGeom>
          <a:noFill/>
          <a:ln/>
        </p:spPr>
        <p:txBody>
          <a:bodyPr wrap="square" lIns="0" tIns="0" rIns="0" bIns="0" rtlCol="0" anchor="ctr"/>
          <a:lstStyle/>
          <a:p>
            <a:pPr indent="0" marL="0">
              <a:buNone/>
            </a:pPr>
            <a:r>
              <a:rPr lang="en-US" sz="1200" b="1" dirty="0">
                <a:solidFill>
                  <a:srgbClr val="2B2B2B"/>
                </a:solidFill>
                <a:latin typeface="Calibri" pitchFamily="34" charset="0"/>
                <a:ea typeface="Calibri" pitchFamily="34" charset="-122"/>
                <a:cs typeface="Calibri" pitchFamily="34" charset="-120"/>
              </a:rPr>
              <a:t>Decide</a:t>
            </a:r>
            <a:endParaRPr lang="en-US" sz="1200" dirty="0"/>
          </a:p>
        </p:txBody>
      </p:sp>
      <p:sp>
        <p:nvSpPr>
          <p:cNvPr id="60" name="Text 51"/>
          <p:cNvSpPr txBox="1"/>
          <p:nvPr/>
        </p:nvSpPr>
        <p:spPr>
          <a:xfrm>
            <a:off x="8160106" y="2084832"/>
            <a:ext cx="1600200" cy="402336"/>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Accept, downgrade or hold, per grade</a:t>
            </a:r>
            <a:endParaRPr lang="en-US" sz="900" dirty="0"/>
          </a:p>
        </p:txBody>
      </p:sp>
      <p:sp>
        <p:nvSpPr>
          <p:cNvPr id="61" name="Shape 52"/>
          <p:cNvSpPr/>
          <p:nvPr/>
        </p:nvSpPr>
        <p:spPr>
          <a:xfrm>
            <a:off x="8160106" y="2505456"/>
            <a:ext cx="822960" cy="201168"/>
          </a:xfrm>
          <a:prstGeom prst="roundRect">
            <a:avLst>
              <a:gd name="adj" fmla="val 27273"/>
            </a:avLst>
          </a:prstGeom>
          <a:solidFill>
            <a:srgbClr val="C99700"/>
          </a:solidFill>
          <a:ln w="12700">
            <a:solidFill>
              <a:srgbClr val="C99700"/>
            </a:solidFill>
            <a:prstDash val="solid"/>
          </a:ln>
        </p:spPr>
      </p:sp>
      <p:sp>
        <p:nvSpPr>
          <p:cNvPr id="62" name="Text 53"/>
          <p:cNvSpPr txBox="1"/>
          <p:nvPr/>
        </p:nvSpPr>
        <p:spPr>
          <a:xfrm>
            <a:off x="8160106"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PARTIAL</a:t>
            </a:r>
            <a:endParaRPr lang="en-US" sz="900" dirty="0"/>
          </a:p>
        </p:txBody>
      </p:sp>
      <p:sp>
        <p:nvSpPr>
          <p:cNvPr id="63" name="Shape 54"/>
          <p:cNvSpPr/>
          <p:nvPr/>
        </p:nvSpPr>
        <p:spPr>
          <a:xfrm>
            <a:off x="9847174" y="2011680"/>
            <a:ext cx="91440" cy="201168"/>
          </a:xfrm>
          <a:prstGeom prst="chevron">
            <a:avLst/>
          </a:prstGeom>
          <a:solidFill>
            <a:srgbClr val="D2651F"/>
          </a:solidFill>
          <a:ln w="12700">
            <a:solidFill>
              <a:srgbClr val="D2651F"/>
            </a:solidFill>
            <a:prstDash val="solid"/>
          </a:ln>
        </p:spPr>
      </p:sp>
      <p:sp>
        <p:nvSpPr>
          <p:cNvPr id="64" name="Shape 55"/>
          <p:cNvSpPr/>
          <p:nvPr/>
        </p:nvSpPr>
        <p:spPr>
          <a:xfrm>
            <a:off x="9948672" y="1572768"/>
            <a:ext cx="1783080" cy="1188720"/>
          </a:xfrm>
          <a:prstGeom prst="roundRect">
            <a:avLst>
              <a:gd name="adj" fmla="val 4615"/>
            </a:avLst>
          </a:prstGeom>
          <a:solidFill>
            <a:srgbClr val="FDEFE4"/>
          </a:solidFill>
          <a:ln w="12700">
            <a:solidFill>
              <a:srgbClr val="FDEFE4"/>
            </a:solidFill>
            <a:prstDash val="solid"/>
          </a:ln>
        </p:spPr>
      </p:sp>
      <p:sp>
        <p:nvSpPr>
          <p:cNvPr id="65" name="Shape 56"/>
          <p:cNvSpPr/>
          <p:nvPr/>
        </p:nvSpPr>
        <p:spPr>
          <a:xfrm>
            <a:off x="10058400" y="1627632"/>
            <a:ext cx="420624" cy="420624"/>
          </a:xfrm>
          <a:prstGeom prst="ellipse">
            <a:avLst/>
          </a:prstGeom>
          <a:solidFill>
            <a:srgbClr val="2B2B2B"/>
          </a:solidFill>
          <a:ln w="12700">
            <a:solidFill>
              <a:srgbClr val="2B2B2B"/>
            </a:solidFill>
            <a:prstDash val="solid"/>
          </a:ln>
        </p:spPr>
      </p:sp>
      <p:pic>
        <p:nvPicPr>
          <p:cNvPr id="66" name="Image 7" descr="img/icons/refresh-cw-white.png">    </p:cNvPr>
          <p:cNvPicPr>
            <a:picLocks noChangeAspect="1"/>
          </p:cNvPicPr>
          <p:nvPr/>
        </p:nvPicPr>
        <p:blipFill>
          <a:blip r:embed="rId8"/>
          <a:stretch>
            <a:fillRect/>
          </a:stretch>
        </p:blipFill>
        <p:spPr>
          <a:xfrm>
            <a:off x="10150937" y="1720169"/>
            <a:ext cx="235549" cy="235549"/>
          </a:xfrm>
          <a:prstGeom prst="rect">
            <a:avLst/>
          </a:prstGeom>
        </p:spPr>
      </p:pic>
      <p:sp>
        <p:nvSpPr>
          <p:cNvPr id="67" name="Text 57"/>
          <p:cNvSpPr txBox="1"/>
          <p:nvPr/>
        </p:nvSpPr>
        <p:spPr>
          <a:xfrm>
            <a:off x="10552176" y="1627632"/>
            <a:ext cx="1143000" cy="420624"/>
          </a:xfrm>
          <a:prstGeom prst="rect">
            <a:avLst/>
          </a:prstGeom>
          <a:noFill/>
          <a:ln/>
        </p:spPr>
        <p:txBody>
          <a:bodyPr wrap="square" lIns="0" tIns="0" rIns="0" bIns="0" rtlCol="0" anchor="ctr"/>
          <a:lstStyle/>
          <a:p>
            <a:pPr indent="0" marL="0">
              <a:buNone/>
            </a:pPr>
            <a:r>
              <a:rPr lang="en-US" sz="1200" b="1" dirty="0">
                <a:solidFill>
                  <a:srgbClr val="2B2B2B"/>
                </a:solidFill>
                <a:latin typeface="Calibri" pitchFamily="34" charset="0"/>
                <a:ea typeface="Calibri" pitchFamily="34" charset="-122"/>
                <a:cs typeface="Calibri" pitchFamily="34" charset="-120"/>
              </a:rPr>
              <a:t>Act &amp; learn</a:t>
            </a:r>
            <a:endParaRPr lang="en-US" sz="1200" dirty="0"/>
          </a:p>
        </p:txBody>
      </p:sp>
      <p:sp>
        <p:nvSpPr>
          <p:cNvPr id="68" name="Text 58"/>
          <p:cNvSpPr txBox="1"/>
          <p:nvPr/>
        </p:nvSpPr>
        <p:spPr>
          <a:xfrm>
            <a:off x="10058400" y="2084832"/>
            <a:ext cx="1600200" cy="402336"/>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Alert, hold, work order; operator feedback improves it</a:t>
            </a:r>
            <a:endParaRPr lang="en-US" sz="900" dirty="0"/>
          </a:p>
        </p:txBody>
      </p:sp>
      <p:sp>
        <p:nvSpPr>
          <p:cNvPr id="69" name="Shape 59"/>
          <p:cNvSpPr/>
          <p:nvPr/>
        </p:nvSpPr>
        <p:spPr>
          <a:xfrm>
            <a:off x="10058400" y="2505456"/>
            <a:ext cx="822960" cy="201168"/>
          </a:xfrm>
          <a:prstGeom prst="roundRect">
            <a:avLst>
              <a:gd name="adj" fmla="val 27273"/>
            </a:avLst>
          </a:prstGeom>
          <a:solidFill>
            <a:srgbClr val="6E6E6E"/>
          </a:solidFill>
          <a:ln w="12700">
            <a:solidFill>
              <a:srgbClr val="6E6E6E"/>
            </a:solidFill>
            <a:prstDash val="solid"/>
          </a:ln>
        </p:spPr>
      </p:sp>
      <p:sp>
        <p:nvSpPr>
          <p:cNvPr id="70" name="Text 60"/>
          <p:cNvSpPr txBox="1"/>
          <p:nvPr/>
        </p:nvSpPr>
        <p:spPr>
          <a:xfrm>
            <a:off x="10058400"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71" name="Shape 61"/>
          <p:cNvSpPr/>
          <p:nvPr/>
        </p:nvSpPr>
        <p:spPr>
          <a:xfrm>
            <a:off x="457200" y="2816352"/>
            <a:ext cx="1783080" cy="45720"/>
          </a:xfrm>
          <a:prstGeom prst="rect">
            <a:avLst/>
          </a:prstGeom>
          <a:solidFill>
            <a:srgbClr val="6E6E6E"/>
          </a:solidFill>
          <a:ln w="12700">
            <a:solidFill>
              <a:srgbClr val="6E6E6E"/>
            </a:solidFill>
            <a:prstDash val="solid"/>
          </a:ln>
        </p:spPr>
      </p:sp>
      <p:sp>
        <p:nvSpPr>
          <p:cNvPr id="72" name="Text 62"/>
          <p:cNvSpPr txBox="1"/>
          <p:nvPr/>
        </p:nvSpPr>
        <p:spPr>
          <a:xfrm>
            <a:off x="457200" y="2871216"/>
            <a:ext cx="1783080" cy="219456"/>
          </a:xfrm>
          <a:prstGeom prst="rect">
            <a:avLst/>
          </a:prstGeom>
          <a:noFill/>
          <a:ln/>
        </p:spPr>
        <p:txBody>
          <a:bodyPr wrap="square" lIns="0" tIns="0" rIns="0" bIns="0" rtlCol="0" anchor="ctr"/>
          <a:lstStyle/>
          <a:p>
            <a:pPr algn="ctr" indent="0" marL="0">
              <a:buNone/>
            </a:pPr>
            <a:r>
              <a:rPr lang="en-US" sz="900" b="1" dirty="0">
                <a:solidFill>
                  <a:srgbClr val="6E6E6E"/>
                </a:solidFill>
                <a:latin typeface="Calibri" pitchFamily="34" charset="0"/>
                <a:ea typeface="Calibri" pitchFamily="34" charset="-122"/>
                <a:cs typeface="Calibri" pitchFamily="34" charset="-120"/>
              </a:rPr>
              <a:t>At the line: cameras, lights</a:t>
            </a:r>
            <a:endParaRPr lang="en-US" sz="900" dirty="0"/>
          </a:p>
        </p:txBody>
      </p:sp>
      <p:sp>
        <p:nvSpPr>
          <p:cNvPr id="73" name="Shape 63"/>
          <p:cNvSpPr/>
          <p:nvPr/>
        </p:nvSpPr>
        <p:spPr>
          <a:xfrm>
            <a:off x="2355494" y="2816352"/>
            <a:ext cx="5579669" cy="45720"/>
          </a:xfrm>
          <a:prstGeom prst="rect">
            <a:avLst/>
          </a:prstGeom>
          <a:solidFill>
            <a:srgbClr val="D2651F"/>
          </a:solidFill>
          <a:ln w="12700">
            <a:solidFill>
              <a:srgbClr val="D2651F"/>
            </a:solidFill>
            <a:prstDash val="solid"/>
          </a:ln>
        </p:spPr>
      </p:sp>
      <p:sp>
        <p:nvSpPr>
          <p:cNvPr id="74" name="Text 64"/>
          <p:cNvSpPr txBox="1"/>
          <p:nvPr/>
        </p:nvSpPr>
        <p:spPr>
          <a:xfrm>
            <a:off x="2355494" y="2871216"/>
            <a:ext cx="5579669" cy="219456"/>
          </a:xfrm>
          <a:prstGeom prst="rect">
            <a:avLst/>
          </a:prstGeom>
          <a:noFill/>
          <a:ln/>
        </p:spPr>
        <p:txBody>
          <a:bodyPr wrap="square" lIns="0" tIns="0" rIns="0" bIns="0" rtlCol="0" anchor="ctr"/>
          <a:lstStyle/>
          <a:p>
            <a:pPr algn="ctr" indent="0" marL="0">
              <a:buNone/>
            </a:pPr>
            <a:r>
              <a:rPr lang="en-US" sz="900" b="1" dirty="0">
                <a:solidFill>
                  <a:srgbClr val="D2651F"/>
                </a:solidFill>
                <a:latin typeface="Calibri" pitchFamily="34" charset="0"/>
                <a:ea typeface="Calibri" pitchFamily="34" charset="-122"/>
                <a:cs typeface="Calibri" pitchFamily="34" charset="-120"/>
              </a:rPr>
              <a:t>Edge server beside the line, runs offline</a:t>
            </a:r>
            <a:endParaRPr lang="en-US" sz="900" dirty="0"/>
          </a:p>
        </p:txBody>
      </p:sp>
      <p:sp>
        <p:nvSpPr>
          <p:cNvPr id="75" name="Shape 65"/>
          <p:cNvSpPr/>
          <p:nvPr/>
        </p:nvSpPr>
        <p:spPr>
          <a:xfrm>
            <a:off x="8050378" y="2816352"/>
            <a:ext cx="1783080" cy="45720"/>
          </a:xfrm>
          <a:prstGeom prst="rect">
            <a:avLst/>
          </a:prstGeom>
          <a:solidFill>
            <a:srgbClr val="5C5C5C"/>
          </a:solidFill>
          <a:ln w="12700">
            <a:solidFill>
              <a:srgbClr val="5C5C5C"/>
            </a:solidFill>
            <a:prstDash val="solid"/>
          </a:ln>
        </p:spPr>
      </p:sp>
      <p:sp>
        <p:nvSpPr>
          <p:cNvPr id="76" name="Text 66"/>
          <p:cNvSpPr txBox="1"/>
          <p:nvPr/>
        </p:nvSpPr>
        <p:spPr>
          <a:xfrm>
            <a:off x="8050378" y="2871216"/>
            <a:ext cx="1783080" cy="219456"/>
          </a:xfrm>
          <a:prstGeom prst="rect">
            <a:avLst/>
          </a:prstGeom>
          <a:noFill/>
          <a:ln/>
        </p:spPr>
        <p:txBody>
          <a:bodyPr wrap="square" lIns="0" tIns="0" rIns="0" bIns="0" rtlCol="0" anchor="ctr"/>
          <a:lstStyle/>
          <a:p>
            <a:pPr algn="ctr" indent="0" marL="0">
              <a:buNone/>
            </a:pPr>
            <a:r>
              <a:rPr lang="en-US" sz="900" b="1" dirty="0">
                <a:solidFill>
                  <a:srgbClr val="5C5C5C"/>
                </a:solidFill>
                <a:latin typeface="Calibri" pitchFamily="34" charset="0"/>
                <a:ea typeface="Calibri" pitchFamily="34" charset="-122"/>
                <a:cs typeface="Calibri" pitchFamily="34" charset="-120"/>
              </a:rPr>
              <a:t>Plant network (IEC 62443)</a:t>
            </a:r>
            <a:endParaRPr lang="en-US" sz="900" dirty="0"/>
          </a:p>
        </p:txBody>
      </p:sp>
      <p:sp>
        <p:nvSpPr>
          <p:cNvPr id="77" name="Shape 67"/>
          <p:cNvSpPr/>
          <p:nvPr/>
        </p:nvSpPr>
        <p:spPr>
          <a:xfrm>
            <a:off x="9948672" y="2816352"/>
            <a:ext cx="1783080" cy="45720"/>
          </a:xfrm>
          <a:prstGeom prst="rect">
            <a:avLst/>
          </a:prstGeom>
          <a:solidFill>
            <a:srgbClr val="2B2B2B"/>
          </a:solidFill>
          <a:ln w="12700">
            <a:solidFill>
              <a:srgbClr val="2B2B2B"/>
            </a:solidFill>
            <a:prstDash val="solid"/>
          </a:ln>
        </p:spPr>
      </p:sp>
      <p:sp>
        <p:nvSpPr>
          <p:cNvPr id="78" name="Text 68"/>
          <p:cNvSpPr txBox="1"/>
          <p:nvPr/>
        </p:nvSpPr>
        <p:spPr>
          <a:xfrm>
            <a:off x="9948672" y="2871216"/>
            <a:ext cx="1783080" cy="219456"/>
          </a:xfrm>
          <a:prstGeom prst="rect">
            <a:avLst/>
          </a:prstGeom>
          <a:noFill/>
          <a:ln/>
        </p:spPr>
        <p:txBody>
          <a:bodyPr wrap="square" lIns="0" tIns="0" rIns="0" bIns="0" rtlCol="0" anchor="ctr"/>
          <a:lstStyle/>
          <a:p>
            <a:pPr algn="ctr" indent="0" marL="0">
              <a:buNone/>
            </a:pPr>
            <a:r>
              <a:rPr lang="en-US" sz="900" b="1" dirty="0">
                <a:solidFill>
                  <a:srgbClr val="2B2B2B"/>
                </a:solidFill>
                <a:latin typeface="Calibri" pitchFamily="34" charset="0"/>
                <a:ea typeface="Calibri" pitchFamily="34" charset="-122"/>
                <a:cs typeface="Calibri" pitchFamily="34" charset="-120"/>
              </a:rPr>
              <a:t>People: screen, work orders</a:t>
            </a:r>
            <a:endParaRPr lang="en-US" sz="900" dirty="0"/>
          </a:p>
        </p:txBody>
      </p:sp>
      <p:sp>
        <p:nvSpPr>
          <p:cNvPr id="79" name="Shape 69"/>
          <p:cNvSpPr/>
          <p:nvPr/>
        </p:nvSpPr>
        <p:spPr>
          <a:xfrm>
            <a:off x="457200" y="3218688"/>
            <a:ext cx="3429000" cy="274320"/>
          </a:xfrm>
          <a:prstGeom prst="rect">
            <a:avLst/>
          </a:prstGeom>
          <a:solidFill>
            <a:srgbClr val="E4803A"/>
          </a:solidFill>
          <a:ln w="12700">
            <a:solidFill>
              <a:srgbClr val="E4803A"/>
            </a:solidFill>
            <a:prstDash val="solid"/>
          </a:ln>
        </p:spPr>
      </p:sp>
      <p:sp>
        <p:nvSpPr>
          <p:cNvPr id="80" name="Text 70"/>
          <p:cNvSpPr txBox="1"/>
          <p:nvPr/>
        </p:nvSpPr>
        <p:spPr>
          <a:xfrm>
            <a:off x="548640" y="3218688"/>
            <a:ext cx="3246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Running today</a:t>
            </a:r>
            <a:endParaRPr lang="en-US" sz="1100" dirty="0"/>
          </a:p>
        </p:txBody>
      </p:sp>
      <p:sp>
        <p:nvSpPr>
          <p:cNvPr id="81" name="Shape 71"/>
          <p:cNvSpPr/>
          <p:nvPr/>
        </p:nvSpPr>
        <p:spPr>
          <a:xfrm>
            <a:off x="457200" y="3493008"/>
            <a:ext cx="3429000" cy="2395728"/>
          </a:xfrm>
          <a:prstGeom prst="roundRect">
            <a:avLst>
              <a:gd name="adj" fmla="val 2290"/>
            </a:avLst>
          </a:prstGeom>
          <a:solidFill>
            <a:srgbClr val="F3F3F3"/>
          </a:solidFill>
          <a:ln w="12700">
            <a:solidFill>
              <a:srgbClr val="F3F3F3"/>
            </a:solidFill>
            <a:prstDash val="solid"/>
          </a:ln>
        </p:spPr>
      </p:sp>
      <p:pic>
        <p:nvPicPr>
          <p:cNvPr id="82" name="Image 8" descr="img/det_scratches.png">    </p:cNvPr>
          <p:cNvPicPr>
            <a:picLocks noChangeAspect="1"/>
          </p:cNvPicPr>
          <p:nvPr/>
        </p:nvPicPr>
        <p:blipFill>
          <a:blip r:embed="rId9"/>
          <a:stretch>
            <a:fillRect/>
          </a:stretch>
        </p:blipFill>
        <p:spPr>
          <a:xfrm>
            <a:off x="566928" y="3593592"/>
            <a:ext cx="1828800" cy="1828800"/>
          </a:xfrm>
          <a:prstGeom prst="rect">
            <a:avLst/>
          </a:prstGeom>
        </p:spPr>
      </p:pic>
      <p:sp>
        <p:nvSpPr>
          <p:cNvPr id="83" name="Text 72"/>
          <p:cNvSpPr txBox="1"/>
          <p:nvPr/>
        </p:nvSpPr>
        <p:spPr>
          <a:xfrm>
            <a:off x="2487168" y="3611880"/>
            <a:ext cx="1371600" cy="1371600"/>
          </a:xfrm>
          <a:prstGeom prst="rect">
            <a:avLst/>
          </a:prstGeom>
          <a:noFill/>
          <a:ln/>
        </p:spPr>
        <p:txBody>
          <a:bodyPr wrap="square" lIns="0" tIns="0" rIns="0" bIns="0" rtlCol="0" anchor="t"/>
          <a:lstStyle/>
          <a:p>
            <a:pPr indent="0" marL="0">
              <a:buNone/>
            </a:pPr>
            <a:r>
              <a:rPr lang="en-US" sz="950" b="1" dirty="0">
                <a:solidFill>
                  <a:srgbClr val="2B2B2B"/>
                </a:solidFill>
                <a:latin typeface="Calibri" pitchFamily="34" charset="0"/>
                <a:ea typeface="Calibri" pitchFamily="34" charset="-122"/>
                <a:cs typeface="Calibri" pitchFamily="34" charset="-120"/>
              </a:rPr>
              <a:t>Upload a strip image, get:
</a:t>
            </a:r>
            <a:pPr indent="0" marL="0">
              <a:buNone/>
            </a:pPr>
            <a:r>
              <a:rPr lang="en-US" sz="950" dirty="0">
                <a:solidFill>
                  <a:srgbClr val="404040"/>
                </a:solidFill>
                <a:latin typeface="Calibri" pitchFamily="34" charset="0"/>
                <a:ea typeface="Calibri" pitchFamily="34" charset="-122"/>
                <a:cs typeface="Calibri" pitchFamily="34" charset="-120"/>
              </a:rPr>
              <a:t>•  box on the defect</a:t>
            </a:r>
            <a:endParaRPr lang="en-US" sz="950" dirty="0"/>
          </a:p>
          <a:p>
            <a:pPr indent="0" marL="0">
              <a:buNone/>
            </a:pPr>
            <a:r>
              <a:rPr lang="en-US" sz="950" dirty="0">
                <a:solidFill>
                  <a:srgbClr val="404040"/>
                </a:solidFill>
                <a:latin typeface="Calibri" pitchFamily="34" charset="0"/>
                <a:ea typeface="Calibri" pitchFamily="34" charset="-122"/>
                <a:cs typeface="Calibri" pitchFamily="34" charset="-120"/>
              </a:rPr>
              <a:t>•  defect type</a:t>
            </a:r>
            <a:endParaRPr lang="en-US" sz="950" dirty="0"/>
          </a:p>
          <a:p>
            <a:pPr indent="0" marL="0">
              <a:buNone/>
            </a:pPr>
            <a:r>
              <a:rPr lang="en-US" sz="950" dirty="0">
                <a:solidFill>
                  <a:srgbClr val="404040"/>
                </a:solidFill>
                <a:latin typeface="Calibri" pitchFamily="34" charset="0"/>
                <a:ea typeface="Calibri" pitchFamily="34" charset="-122"/>
                <a:cs typeface="Calibri" pitchFamily="34" charset="-120"/>
              </a:rPr>
              <a:t>•  confidence</a:t>
            </a:r>
            <a:endParaRPr lang="en-US" sz="950" dirty="0"/>
          </a:p>
          <a:p>
            <a:pPr indent="0" marL="0">
              <a:buNone/>
            </a:pPr>
            <a:r>
              <a:rPr lang="en-US" sz="950" dirty="0">
                <a:solidFill>
                  <a:srgbClr val="404040"/>
                </a:solidFill>
                <a:latin typeface="Calibri" pitchFamily="34" charset="0"/>
                <a:ea typeface="Calibri" pitchFamily="34" charset="-122"/>
                <a:cs typeface="Calibri" pitchFamily="34" charset="-120"/>
              </a:rPr>
              <a:t>•  severity score</a:t>
            </a:r>
            <a:endParaRPr lang="en-US" sz="950" dirty="0"/>
          </a:p>
        </p:txBody>
      </p:sp>
      <p:sp>
        <p:nvSpPr>
          <p:cNvPr id="84" name="Text 73"/>
          <p:cNvSpPr txBox="1"/>
          <p:nvPr/>
        </p:nvSpPr>
        <p:spPr>
          <a:xfrm>
            <a:off x="2487168" y="4846320"/>
            <a:ext cx="1371600" cy="603504"/>
          </a:xfrm>
          <a:prstGeom prst="rect">
            <a:avLst/>
          </a:prstGeom>
          <a:noFill/>
          <a:ln/>
        </p:spPr>
        <p:txBody>
          <a:bodyPr wrap="square" lIns="0" tIns="0" rIns="0" bIns="0" rtlCol="0" anchor="t"/>
          <a:lstStyle/>
          <a:p>
            <a:pPr indent="0" marL="0">
              <a:buNone/>
            </a:pPr>
            <a:r>
              <a:rPr lang="en-US" sz="900" b="1" dirty="0">
                <a:solidFill>
                  <a:srgbClr val="2B2B2B"/>
                </a:solidFill>
                <a:latin typeface="Calibri" pitchFamily="34" charset="0"/>
                <a:ea typeface="Calibri" pitchFamily="34" charset="-122"/>
                <a:cs typeface="Calibri" pitchFamily="34" charset="-120"/>
              </a:rPr>
              <a:t>16 samples built in</a:t>
            </a:r>
            <a:pPr indent="0" marL="0">
              <a:buNone/>
            </a:pPr>
            <a:r>
              <a:rPr lang="en-US" sz="900" dirty="0">
                <a:solidFill>
                  <a:srgbClr val="404040"/>
                </a:solidFill>
                <a:latin typeface="Calibri" pitchFamily="34" charset="0"/>
                <a:ea typeface="Calibri" pitchFamily="34" charset="-122"/>
                <a:cs typeface="Calibri" pitchFamily="34" charset="-120"/>
              </a:rPr>
              <a:t>, including clean mill strip. Or drop your own photo.</a:t>
            </a:r>
            <a:endParaRPr lang="en-US" sz="900" dirty="0"/>
          </a:p>
        </p:txBody>
      </p:sp>
      <p:sp>
        <p:nvSpPr>
          <p:cNvPr id="85" name="Text 74"/>
          <p:cNvSpPr txBox="1"/>
          <p:nvPr/>
        </p:nvSpPr>
        <p:spPr>
          <a:xfrm>
            <a:off x="566928" y="5504688"/>
            <a:ext cx="3246120" cy="274320"/>
          </a:xfrm>
          <a:prstGeom prst="rect">
            <a:avLst/>
          </a:prstGeom>
          <a:noFill/>
          <a:ln/>
        </p:spPr>
        <p:txBody>
          <a:bodyPr wrap="square" lIns="0" tIns="0" rIns="0" bIns="0" rtlCol="0" anchor="ctr"/>
          <a:lstStyle/>
          <a:p>
            <a:pPr indent="0" marL="0">
              <a:buNone/>
            </a:pPr>
            <a:r>
              <a:rPr lang="en-US" sz="950" b="1" dirty="0">
                <a:solidFill>
                  <a:srgbClr val="D2651F"/>
                </a:solidFill>
                <a:latin typeface="Calibri" pitchFamily="34" charset="0"/>
                <a:ea typeface="Calibri" pitchFamily="34" charset="-122"/>
                <a:cs typeface="Calibri" pitchFamily="34" charset="-120"/>
              </a:rPr>
              <a:t>surface-vision.github.io</a:t>
            </a:r>
            <a:pPr indent="0" marL="0">
              <a:buNone/>
            </a:pPr>
            <a:r>
              <a:rPr lang="en-US" sz="950" dirty="0">
                <a:solidFill>
                  <a:srgbClr val="6E6E6E"/>
                </a:solidFill>
                <a:latin typeface="Calibri" pitchFamily="34" charset="0"/>
                <a:ea typeface="Calibri" pitchFamily="34" charset="-122"/>
                <a:cs typeface="Calibri" pitchFamily="34" charset="-120"/>
              </a:rPr>
              <a:t>  runs in the browser</a:t>
            </a:r>
            <a:endParaRPr lang="en-US" sz="950" dirty="0"/>
          </a:p>
        </p:txBody>
      </p:sp>
      <p:sp>
        <p:nvSpPr>
          <p:cNvPr id="86" name="Shape 75"/>
          <p:cNvSpPr/>
          <p:nvPr/>
        </p:nvSpPr>
        <p:spPr>
          <a:xfrm>
            <a:off x="4041648" y="3218688"/>
            <a:ext cx="3749040" cy="274320"/>
          </a:xfrm>
          <a:prstGeom prst="rect">
            <a:avLst/>
          </a:prstGeom>
          <a:solidFill>
            <a:srgbClr val="E4803A"/>
          </a:solidFill>
          <a:ln w="12700">
            <a:solidFill>
              <a:srgbClr val="E4803A"/>
            </a:solidFill>
            <a:prstDash val="solid"/>
          </a:ln>
        </p:spPr>
      </p:sp>
      <p:sp>
        <p:nvSpPr>
          <p:cNvPr id="87" name="Text 76"/>
          <p:cNvSpPr txBox="1"/>
          <p:nvPr/>
        </p:nvSpPr>
        <p:spPr>
          <a:xfrm>
            <a:off x="4133088" y="3218688"/>
            <a:ext cx="3566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JSL gets that a standard system does not</a:t>
            </a:r>
            <a:endParaRPr lang="en-US" sz="1100" dirty="0"/>
          </a:p>
        </p:txBody>
      </p:sp>
      <p:sp>
        <p:nvSpPr>
          <p:cNvPr id="88" name="Shape 77"/>
          <p:cNvSpPr/>
          <p:nvPr/>
        </p:nvSpPr>
        <p:spPr>
          <a:xfrm>
            <a:off x="4041648" y="3566160"/>
            <a:ext cx="1828800" cy="1097280"/>
          </a:xfrm>
          <a:prstGeom prst="roundRect">
            <a:avLst>
              <a:gd name="adj" fmla="val 5000"/>
            </a:avLst>
          </a:prstGeom>
          <a:solidFill>
            <a:srgbClr val="F3F3F3"/>
          </a:solidFill>
          <a:ln w="12700">
            <a:solidFill>
              <a:srgbClr val="F3F3F3"/>
            </a:solidFill>
            <a:prstDash val="solid"/>
          </a:ln>
        </p:spPr>
      </p:sp>
      <p:sp>
        <p:nvSpPr>
          <p:cNvPr id="89" name="Shape 78"/>
          <p:cNvSpPr/>
          <p:nvPr/>
        </p:nvSpPr>
        <p:spPr>
          <a:xfrm>
            <a:off x="4700016" y="3657600"/>
            <a:ext cx="512064" cy="512064"/>
          </a:xfrm>
          <a:prstGeom prst="ellipse">
            <a:avLst/>
          </a:prstGeom>
          <a:solidFill>
            <a:srgbClr val="D2651F"/>
          </a:solidFill>
          <a:ln w="12700">
            <a:solidFill>
              <a:srgbClr val="D2651F"/>
            </a:solidFill>
            <a:prstDash val="solid"/>
          </a:ln>
        </p:spPr>
      </p:sp>
      <p:pic>
        <p:nvPicPr>
          <p:cNvPr id="90" name="Image 9" descr="img/icons/target-white.png">    </p:cNvPr>
          <p:cNvPicPr>
            <a:picLocks noChangeAspect="1"/>
          </p:cNvPicPr>
          <p:nvPr/>
        </p:nvPicPr>
        <p:blipFill>
          <a:blip r:embed="rId10"/>
          <a:stretch>
            <a:fillRect/>
          </a:stretch>
        </p:blipFill>
        <p:spPr>
          <a:xfrm>
            <a:off x="4812670" y="3770254"/>
            <a:ext cx="286756" cy="286756"/>
          </a:xfrm>
          <a:prstGeom prst="rect">
            <a:avLst/>
          </a:prstGeom>
        </p:spPr>
      </p:pic>
      <p:sp>
        <p:nvSpPr>
          <p:cNvPr id="91" name="Text 79"/>
          <p:cNvSpPr txBox="1"/>
          <p:nvPr/>
        </p:nvSpPr>
        <p:spPr>
          <a:xfrm>
            <a:off x="4087368" y="4187952"/>
            <a:ext cx="1737360" cy="237744"/>
          </a:xfrm>
          <a:prstGeom prst="rect">
            <a:avLst/>
          </a:prstGeom>
          <a:noFill/>
          <a:ln/>
        </p:spPr>
        <p:txBody>
          <a:bodyPr wrap="square" lIns="0" tIns="0" rIns="0" bIns="0" rtlCol="0" anchor="t"/>
          <a:lstStyle/>
          <a:p>
            <a:pPr algn="ctr" indent="0" marL="0">
              <a:buNone/>
            </a:pPr>
            <a:r>
              <a:rPr lang="en-US" sz="1050" b="1" dirty="0">
                <a:solidFill>
                  <a:srgbClr val="2B2B2B"/>
                </a:solidFill>
                <a:latin typeface="Calibri" pitchFamily="34" charset="0"/>
                <a:ea typeface="Calibri" pitchFamily="34" charset="-122"/>
                <a:cs typeface="Calibri" pitchFamily="34" charset="-120"/>
              </a:rPr>
              <a:t>Alarms you can act on</a:t>
            </a:r>
            <a:endParaRPr lang="en-US" sz="1050" dirty="0"/>
          </a:p>
        </p:txBody>
      </p:sp>
      <p:sp>
        <p:nvSpPr>
          <p:cNvPr id="92" name="Text 80"/>
          <p:cNvSpPr txBox="1"/>
          <p:nvPr/>
        </p:nvSpPr>
        <p:spPr>
          <a:xfrm>
            <a:off x="4087368" y="4407408"/>
            <a:ext cx="1737360" cy="219456"/>
          </a:xfrm>
          <a:prstGeom prst="rect">
            <a:avLst/>
          </a:prstGeom>
          <a:noFill/>
          <a:ln/>
        </p:spPr>
        <p:txBody>
          <a:bodyPr wrap="square" lIns="0" tIns="0" rIns="0" bIns="0" rtlCol="0" anchor="t"/>
          <a:lstStyle/>
          <a:p>
            <a:pPr algn="ctr" indent="0" marL="0">
              <a:buNone/>
            </a:pPr>
            <a:r>
              <a:rPr lang="en-US" sz="900" dirty="0">
                <a:solidFill>
                  <a:srgbClr val="404040"/>
                </a:solidFill>
                <a:latin typeface="Calibri" pitchFamily="34" charset="0"/>
                <a:ea typeface="Calibri" pitchFamily="34" charset="-122"/>
                <a:cs typeface="Calibri" pitchFamily="34" charset="-120"/>
              </a:rPr>
              <a:t>4.7% false alarms</a:t>
            </a:r>
            <a:endParaRPr lang="en-US" sz="900" dirty="0"/>
          </a:p>
        </p:txBody>
      </p:sp>
      <p:sp>
        <p:nvSpPr>
          <p:cNvPr id="93" name="Shape 81"/>
          <p:cNvSpPr/>
          <p:nvPr/>
        </p:nvSpPr>
        <p:spPr>
          <a:xfrm>
            <a:off x="5943600" y="3566160"/>
            <a:ext cx="1828800" cy="1097280"/>
          </a:xfrm>
          <a:prstGeom prst="roundRect">
            <a:avLst>
              <a:gd name="adj" fmla="val 5000"/>
            </a:avLst>
          </a:prstGeom>
          <a:solidFill>
            <a:srgbClr val="F3F3F3"/>
          </a:solidFill>
          <a:ln w="12700">
            <a:solidFill>
              <a:srgbClr val="F3F3F3"/>
            </a:solidFill>
            <a:prstDash val="solid"/>
          </a:ln>
        </p:spPr>
      </p:sp>
      <p:sp>
        <p:nvSpPr>
          <p:cNvPr id="94" name="Shape 82"/>
          <p:cNvSpPr/>
          <p:nvPr/>
        </p:nvSpPr>
        <p:spPr>
          <a:xfrm>
            <a:off x="6601968" y="3657600"/>
            <a:ext cx="512064" cy="512064"/>
          </a:xfrm>
          <a:prstGeom prst="ellipse">
            <a:avLst/>
          </a:prstGeom>
          <a:solidFill>
            <a:srgbClr val="D2651F"/>
          </a:solidFill>
          <a:ln w="12700">
            <a:solidFill>
              <a:srgbClr val="D2651F"/>
            </a:solidFill>
            <a:prstDash val="solid"/>
          </a:ln>
        </p:spPr>
      </p:sp>
      <p:pic>
        <p:nvPicPr>
          <p:cNvPr id="95" name="Image 10" descr="img/icons/split-white.png">    </p:cNvPr>
          <p:cNvPicPr>
            <a:picLocks noChangeAspect="1"/>
          </p:cNvPicPr>
          <p:nvPr/>
        </p:nvPicPr>
        <p:blipFill>
          <a:blip r:embed="rId11"/>
          <a:stretch>
            <a:fillRect/>
          </a:stretch>
        </p:blipFill>
        <p:spPr>
          <a:xfrm>
            <a:off x="6714622" y="3770254"/>
            <a:ext cx="286756" cy="286756"/>
          </a:xfrm>
          <a:prstGeom prst="rect">
            <a:avLst/>
          </a:prstGeom>
        </p:spPr>
      </p:pic>
      <p:sp>
        <p:nvSpPr>
          <p:cNvPr id="96" name="Text 83"/>
          <p:cNvSpPr txBox="1"/>
          <p:nvPr/>
        </p:nvSpPr>
        <p:spPr>
          <a:xfrm>
            <a:off x="5989320" y="4187952"/>
            <a:ext cx="1737360" cy="237744"/>
          </a:xfrm>
          <a:prstGeom prst="rect">
            <a:avLst/>
          </a:prstGeom>
          <a:noFill/>
          <a:ln/>
        </p:spPr>
        <p:txBody>
          <a:bodyPr wrap="square" lIns="0" tIns="0" rIns="0" bIns="0" rtlCol="0" anchor="t"/>
          <a:lstStyle/>
          <a:p>
            <a:pPr algn="ctr" indent="0" marL="0">
              <a:buNone/>
            </a:pPr>
            <a:r>
              <a:rPr lang="en-US" sz="1050" b="1" dirty="0">
                <a:solidFill>
                  <a:srgbClr val="2B2B2B"/>
                </a:solidFill>
                <a:latin typeface="Calibri" pitchFamily="34" charset="0"/>
                <a:ea typeface="Calibri" pitchFamily="34" charset="-122"/>
                <a:cs typeface="Calibri" pitchFamily="34" charset="-120"/>
              </a:rPr>
              <a:t>Root-cause routing</a:t>
            </a:r>
            <a:endParaRPr lang="en-US" sz="1050" dirty="0"/>
          </a:p>
        </p:txBody>
      </p:sp>
      <p:sp>
        <p:nvSpPr>
          <p:cNvPr id="97" name="Text 84"/>
          <p:cNvSpPr txBox="1"/>
          <p:nvPr/>
        </p:nvSpPr>
        <p:spPr>
          <a:xfrm>
            <a:off x="5989320" y="4407408"/>
            <a:ext cx="1737360" cy="219456"/>
          </a:xfrm>
          <a:prstGeom prst="rect">
            <a:avLst/>
          </a:prstGeom>
          <a:noFill/>
          <a:ln/>
        </p:spPr>
        <p:txBody>
          <a:bodyPr wrap="square" lIns="0" tIns="0" rIns="0" bIns="0" rtlCol="0" anchor="t"/>
          <a:lstStyle/>
          <a:p>
            <a:pPr algn="ctr" indent="0" marL="0">
              <a:buNone/>
            </a:pPr>
            <a:r>
              <a:rPr lang="en-US" sz="900" dirty="0">
                <a:solidFill>
                  <a:srgbClr val="404040"/>
                </a:solidFill>
                <a:latin typeface="Calibri" pitchFamily="34" charset="0"/>
                <a:ea typeface="Calibri" pitchFamily="34" charset="-122"/>
                <a:cs typeface="Calibri" pitchFamily="34" charset="-120"/>
              </a:rPr>
              <a:t>a work order per alarm</a:t>
            </a:r>
            <a:endParaRPr lang="en-US" sz="900" dirty="0"/>
          </a:p>
        </p:txBody>
      </p:sp>
      <p:sp>
        <p:nvSpPr>
          <p:cNvPr id="98" name="Shape 85"/>
          <p:cNvSpPr/>
          <p:nvPr/>
        </p:nvSpPr>
        <p:spPr>
          <a:xfrm>
            <a:off x="4041648" y="4736592"/>
            <a:ext cx="1828800" cy="1097280"/>
          </a:xfrm>
          <a:prstGeom prst="roundRect">
            <a:avLst>
              <a:gd name="adj" fmla="val 5000"/>
            </a:avLst>
          </a:prstGeom>
          <a:solidFill>
            <a:srgbClr val="F3F3F3"/>
          </a:solidFill>
          <a:ln w="12700">
            <a:solidFill>
              <a:srgbClr val="F3F3F3"/>
            </a:solidFill>
            <a:prstDash val="solid"/>
          </a:ln>
        </p:spPr>
      </p:sp>
      <p:sp>
        <p:nvSpPr>
          <p:cNvPr id="99" name="Shape 86"/>
          <p:cNvSpPr/>
          <p:nvPr/>
        </p:nvSpPr>
        <p:spPr>
          <a:xfrm>
            <a:off x="4700016" y="4828032"/>
            <a:ext cx="512064" cy="512064"/>
          </a:xfrm>
          <a:prstGeom prst="ellipse">
            <a:avLst/>
          </a:prstGeom>
          <a:solidFill>
            <a:srgbClr val="D2651F"/>
          </a:solidFill>
          <a:ln w="12700">
            <a:solidFill>
              <a:srgbClr val="D2651F"/>
            </a:solidFill>
            <a:prstDash val="solid"/>
          </a:ln>
        </p:spPr>
      </p:sp>
      <p:pic>
        <p:nvPicPr>
          <p:cNvPr id="100" name="Image 11" descr="img/icons/layers-white.png">    </p:cNvPr>
          <p:cNvPicPr>
            <a:picLocks noChangeAspect="1"/>
          </p:cNvPicPr>
          <p:nvPr/>
        </p:nvPicPr>
        <p:blipFill>
          <a:blip r:embed="rId12"/>
          <a:stretch>
            <a:fillRect/>
          </a:stretch>
        </p:blipFill>
        <p:spPr>
          <a:xfrm>
            <a:off x="4812670" y="4940686"/>
            <a:ext cx="286756" cy="286756"/>
          </a:xfrm>
          <a:prstGeom prst="rect">
            <a:avLst/>
          </a:prstGeom>
        </p:spPr>
      </p:pic>
      <p:sp>
        <p:nvSpPr>
          <p:cNvPr id="101" name="Text 87"/>
          <p:cNvSpPr txBox="1"/>
          <p:nvPr/>
        </p:nvSpPr>
        <p:spPr>
          <a:xfrm>
            <a:off x="4087368" y="5358384"/>
            <a:ext cx="1737360" cy="237744"/>
          </a:xfrm>
          <a:prstGeom prst="rect">
            <a:avLst/>
          </a:prstGeom>
          <a:noFill/>
          <a:ln/>
        </p:spPr>
        <p:txBody>
          <a:bodyPr wrap="square" lIns="0" tIns="0" rIns="0" bIns="0" rtlCol="0" anchor="t"/>
          <a:lstStyle/>
          <a:p>
            <a:pPr algn="ctr" indent="0" marL="0">
              <a:buNone/>
            </a:pPr>
            <a:r>
              <a:rPr lang="en-US" sz="1050" b="1" dirty="0">
                <a:solidFill>
                  <a:srgbClr val="2B2B2B"/>
                </a:solidFill>
                <a:latin typeface="Calibri" pitchFamily="34" charset="0"/>
                <a:ea typeface="Calibri" pitchFamily="34" charset="-122"/>
                <a:cs typeface="Calibri" pitchFamily="34" charset="-120"/>
              </a:rPr>
              <a:t>One verdict per coil</a:t>
            </a:r>
            <a:endParaRPr lang="en-US" sz="1050" dirty="0"/>
          </a:p>
        </p:txBody>
      </p:sp>
      <p:sp>
        <p:nvSpPr>
          <p:cNvPr id="102" name="Text 88"/>
          <p:cNvSpPr txBox="1"/>
          <p:nvPr/>
        </p:nvSpPr>
        <p:spPr>
          <a:xfrm>
            <a:off x="4087368" y="5577840"/>
            <a:ext cx="1737360" cy="219456"/>
          </a:xfrm>
          <a:prstGeom prst="rect">
            <a:avLst/>
          </a:prstGeom>
          <a:noFill/>
          <a:ln/>
        </p:spPr>
        <p:txBody>
          <a:bodyPr wrap="square" lIns="0" tIns="0" rIns="0" bIns="0" rtlCol="0" anchor="t"/>
          <a:lstStyle/>
          <a:p>
            <a:pPr algn="ctr" indent="0" marL="0">
              <a:buNone/>
            </a:pPr>
            <a:r>
              <a:rPr lang="en-US" sz="900" dirty="0">
                <a:solidFill>
                  <a:srgbClr val="404040"/>
                </a:solidFill>
                <a:latin typeface="Calibri" pitchFamily="34" charset="0"/>
                <a:ea typeface="Calibri" pitchFamily="34" charset="-122"/>
                <a:cs typeface="Calibri" pitchFamily="34" charset="-120"/>
              </a:rPr>
              <a:t>accept · downgrade · hold</a:t>
            </a:r>
            <a:endParaRPr lang="en-US" sz="900" dirty="0"/>
          </a:p>
        </p:txBody>
      </p:sp>
      <p:sp>
        <p:nvSpPr>
          <p:cNvPr id="103" name="Shape 89"/>
          <p:cNvSpPr/>
          <p:nvPr/>
        </p:nvSpPr>
        <p:spPr>
          <a:xfrm>
            <a:off x="5943600" y="4736592"/>
            <a:ext cx="1828800" cy="1097280"/>
          </a:xfrm>
          <a:prstGeom prst="roundRect">
            <a:avLst>
              <a:gd name="adj" fmla="val 5000"/>
            </a:avLst>
          </a:prstGeom>
          <a:solidFill>
            <a:srgbClr val="F3F3F3"/>
          </a:solidFill>
          <a:ln w="12700">
            <a:solidFill>
              <a:srgbClr val="F3F3F3"/>
            </a:solidFill>
            <a:prstDash val="solid"/>
          </a:ln>
        </p:spPr>
      </p:sp>
      <p:sp>
        <p:nvSpPr>
          <p:cNvPr id="104" name="Shape 90"/>
          <p:cNvSpPr/>
          <p:nvPr/>
        </p:nvSpPr>
        <p:spPr>
          <a:xfrm>
            <a:off x="6601968" y="4828032"/>
            <a:ext cx="512064" cy="512064"/>
          </a:xfrm>
          <a:prstGeom prst="ellipse">
            <a:avLst/>
          </a:prstGeom>
          <a:solidFill>
            <a:srgbClr val="D2651F"/>
          </a:solidFill>
          <a:ln w="12700">
            <a:solidFill>
              <a:srgbClr val="D2651F"/>
            </a:solidFill>
            <a:prstDash val="solid"/>
          </a:ln>
        </p:spPr>
      </p:sp>
      <p:pic>
        <p:nvPicPr>
          <p:cNvPr id="105" name="Image 12" descr="img/icons/shield-check-white.png">    </p:cNvPr>
          <p:cNvPicPr>
            <a:picLocks noChangeAspect="1"/>
          </p:cNvPicPr>
          <p:nvPr/>
        </p:nvPicPr>
        <p:blipFill>
          <a:blip r:embed="rId13"/>
          <a:stretch>
            <a:fillRect/>
          </a:stretch>
        </p:blipFill>
        <p:spPr>
          <a:xfrm>
            <a:off x="6714622" y="4940686"/>
            <a:ext cx="286756" cy="286756"/>
          </a:xfrm>
          <a:prstGeom prst="rect">
            <a:avLst/>
          </a:prstGeom>
        </p:spPr>
      </p:pic>
      <p:sp>
        <p:nvSpPr>
          <p:cNvPr id="106" name="Text 91"/>
          <p:cNvSpPr txBox="1"/>
          <p:nvPr/>
        </p:nvSpPr>
        <p:spPr>
          <a:xfrm>
            <a:off x="5989320" y="5358384"/>
            <a:ext cx="1737360" cy="237744"/>
          </a:xfrm>
          <a:prstGeom prst="rect">
            <a:avLst/>
          </a:prstGeom>
          <a:noFill/>
          <a:ln/>
        </p:spPr>
        <p:txBody>
          <a:bodyPr wrap="square" lIns="0" tIns="0" rIns="0" bIns="0" rtlCol="0" anchor="t"/>
          <a:lstStyle/>
          <a:p>
            <a:pPr algn="ctr" indent="0" marL="0">
              <a:buNone/>
            </a:pPr>
            <a:r>
              <a:rPr lang="en-US" sz="1050" b="1" dirty="0">
                <a:solidFill>
                  <a:srgbClr val="2B2B2B"/>
                </a:solidFill>
                <a:latin typeface="Calibri" pitchFamily="34" charset="0"/>
                <a:ea typeface="Calibri" pitchFamily="34" charset="-122"/>
                <a:cs typeface="Calibri" pitchFamily="34" charset="-120"/>
              </a:rPr>
              <a:t>JSL owns the system</a:t>
            </a:r>
            <a:endParaRPr lang="en-US" sz="1050" dirty="0"/>
          </a:p>
        </p:txBody>
      </p:sp>
      <p:sp>
        <p:nvSpPr>
          <p:cNvPr id="107" name="Text 92"/>
          <p:cNvSpPr txBox="1"/>
          <p:nvPr/>
        </p:nvSpPr>
        <p:spPr>
          <a:xfrm>
            <a:off x="5989320" y="5577840"/>
            <a:ext cx="1737360" cy="219456"/>
          </a:xfrm>
          <a:prstGeom prst="rect">
            <a:avLst/>
          </a:prstGeom>
          <a:noFill/>
          <a:ln/>
        </p:spPr>
        <p:txBody>
          <a:bodyPr wrap="square" lIns="0" tIns="0" rIns="0" bIns="0" rtlCol="0" anchor="t"/>
          <a:lstStyle/>
          <a:p>
            <a:pPr algn="ctr" indent="0" marL="0">
              <a:buNone/>
            </a:pPr>
            <a:r>
              <a:rPr lang="en-US" sz="900" dirty="0">
                <a:solidFill>
                  <a:srgbClr val="404040"/>
                </a:solidFill>
                <a:latin typeface="Calibri" pitchFamily="34" charset="0"/>
                <a:ea typeface="Calibri" pitchFamily="34" charset="-122"/>
                <a:cs typeface="Calibri" pitchFamily="34" charset="-120"/>
              </a:rPr>
              <a:t>no vendor lock-in</a:t>
            </a:r>
            <a:endParaRPr lang="en-US" sz="900" dirty="0"/>
          </a:p>
        </p:txBody>
      </p:sp>
      <p:sp>
        <p:nvSpPr>
          <p:cNvPr id="108" name="Shape 93"/>
          <p:cNvSpPr/>
          <p:nvPr/>
        </p:nvSpPr>
        <p:spPr>
          <a:xfrm>
            <a:off x="7955280" y="3218688"/>
            <a:ext cx="3776472" cy="274320"/>
          </a:xfrm>
          <a:prstGeom prst="rect">
            <a:avLst/>
          </a:prstGeom>
          <a:solidFill>
            <a:srgbClr val="E4803A"/>
          </a:solidFill>
          <a:ln w="12700">
            <a:solidFill>
              <a:srgbClr val="E4803A"/>
            </a:solidFill>
            <a:prstDash val="solid"/>
          </a:ln>
        </p:spPr>
      </p:sp>
      <p:sp>
        <p:nvSpPr>
          <p:cNvPr id="109" name="Text 94"/>
          <p:cNvSpPr txBox="1"/>
          <p:nvPr/>
        </p:nvSpPr>
        <p:spPr>
          <a:xfrm>
            <a:off x="8046720" y="3218688"/>
            <a:ext cx="359359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Build vs buy</a:t>
            </a:r>
            <a:endParaRPr lang="en-US" sz="1100" dirty="0"/>
          </a:p>
        </p:txBody>
      </p:sp>
      <p:sp>
        <p:nvSpPr>
          <p:cNvPr id="110" name="Text 95"/>
          <p:cNvSpPr txBox="1"/>
          <p:nvPr/>
        </p:nvSpPr>
        <p:spPr>
          <a:xfrm>
            <a:off x="9400032" y="3529584"/>
            <a:ext cx="548640" cy="384048"/>
          </a:xfrm>
          <a:prstGeom prst="rect">
            <a:avLst/>
          </a:prstGeom>
          <a:noFill/>
          <a:ln/>
        </p:spPr>
        <p:txBody>
          <a:bodyPr wrap="square" lIns="0" tIns="0" rIns="0" bIns="0" rtlCol="0" anchor="b"/>
          <a:lstStyle/>
          <a:p>
            <a:pPr algn="ctr" indent="0" marL="0">
              <a:buNone/>
            </a:pPr>
            <a:r>
              <a:rPr lang="en-US" sz="900" b="1" dirty="0">
                <a:solidFill>
                  <a:srgbClr val="404040"/>
                </a:solidFill>
                <a:latin typeface="Calibri" pitchFamily="34" charset="0"/>
                <a:ea typeface="Calibri" pitchFamily="34" charset="-122"/>
                <a:cs typeface="Calibri" pitchFamily="34" charset="-120"/>
              </a:rPr>
              <a:t>Cost per line</a:t>
            </a:r>
            <a:endParaRPr lang="en-US" sz="900" dirty="0"/>
          </a:p>
        </p:txBody>
      </p:sp>
      <p:sp>
        <p:nvSpPr>
          <p:cNvPr id="111" name="Text 96"/>
          <p:cNvSpPr txBox="1"/>
          <p:nvPr/>
        </p:nvSpPr>
        <p:spPr>
          <a:xfrm>
            <a:off x="9976104" y="3529584"/>
            <a:ext cx="548640" cy="384048"/>
          </a:xfrm>
          <a:prstGeom prst="rect">
            <a:avLst/>
          </a:prstGeom>
          <a:noFill/>
          <a:ln/>
        </p:spPr>
        <p:txBody>
          <a:bodyPr wrap="square" lIns="0" tIns="0" rIns="0" bIns="0" rtlCol="0" anchor="b"/>
          <a:lstStyle/>
          <a:p>
            <a:pPr algn="ctr" indent="0" marL="0">
              <a:buNone/>
            </a:pPr>
            <a:r>
              <a:rPr lang="en-US" sz="900" b="1" dirty="0">
                <a:solidFill>
                  <a:srgbClr val="404040"/>
                </a:solidFill>
                <a:latin typeface="Calibri" pitchFamily="34" charset="0"/>
                <a:ea typeface="Calibri" pitchFamily="34" charset="-122"/>
                <a:cs typeface="Calibri" pitchFamily="34" charset="-120"/>
              </a:rPr>
              <a:t>Proven at speed</a:t>
            </a:r>
            <a:endParaRPr lang="en-US" sz="900" dirty="0"/>
          </a:p>
        </p:txBody>
      </p:sp>
      <p:sp>
        <p:nvSpPr>
          <p:cNvPr id="112" name="Text 97"/>
          <p:cNvSpPr txBox="1"/>
          <p:nvPr/>
        </p:nvSpPr>
        <p:spPr>
          <a:xfrm>
            <a:off x="10552176" y="3529584"/>
            <a:ext cx="548640" cy="384048"/>
          </a:xfrm>
          <a:prstGeom prst="rect">
            <a:avLst/>
          </a:prstGeom>
          <a:noFill/>
          <a:ln/>
        </p:spPr>
        <p:txBody>
          <a:bodyPr wrap="square" lIns="0" tIns="0" rIns="0" bIns="0" rtlCol="0" anchor="b"/>
          <a:lstStyle/>
          <a:p>
            <a:pPr algn="ctr" indent="0" marL="0">
              <a:buNone/>
            </a:pPr>
            <a:r>
              <a:rPr lang="en-US" sz="900" b="1" dirty="0">
                <a:solidFill>
                  <a:srgbClr val="404040"/>
                </a:solidFill>
                <a:latin typeface="Calibri" pitchFamily="34" charset="0"/>
                <a:ea typeface="Calibri" pitchFamily="34" charset="-122"/>
                <a:cs typeface="Calibri" pitchFamily="34" charset="-120"/>
              </a:rPr>
              <a:t>Tuned to JSL grades</a:t>
            </a:r>
            <a:endParaRPr lang="en-US" sz="900" dirty="0"/>
          </a:p>
        </p:txBody>
      </p:sp>
      <p:sp>
        <p:nvSpPr>
          <p:cNvPr id="113" name="Text 98"/>
          <p:cNvSpPr txBox="1"/>
          <p:nvPr/>
        </p:nvSpPr>
        <p:spPr>
          <a:xfrm>
            <a:off x="11128248" y="3529584"/>
            <a:ext cx="548640" cy="384048"/>
          </a:xfrm>
          <a:prstGeom prst="rect">
            <a:avLst/>
          </a:prstGeom>
          <a:noFill/>
          <a:ln/>
        </p:spPr>
        <p:txBody>
          <a:bodyPr wrap="square" lIns="0" tIns="0" rIns="0" bIns="0" rtlCol="0" anchor="b"/>
          <a:lstStyle/>
          <a:p>
            <a:pPr algn="ctr" indent="0" marL="0">
              <a:buNone/>
            </a:pPr>
            <a:r>
              <a:rPr lang="en-US" sz="900" b="1" dirty="0">
                <a:solidFill>
                  <a:srgbClr val="404040"/>
                </a:solidFill>
                <a:latin typeface="Calibri" pitchFamily="34" charset="0"/>
                <a:ea typeface="Calibri" pitchFamily="34" charset="-122"/>
                <a:cs typeface="Calibri" pitchFamily="34" charset="-120"/>
              </a:rPr>
              <a:t>JSL owns the system</a:t>
            </a:r>
            <a:endParaRPr lang="en-US" sz="900" dirty="0"/>
          </a:p>
        </p:txBody>
      </p:sp>
      <p:sp>
        <p:nvSpPr>
          <p:cNvPr id="114" name="Text 99"/>
          <p:cNvSpPr txBox="1"/>
          <p:nvPr/>
        </p:nvSpPr>
        <p:spPr>
          <a:xfrm>
            <a:off x="8046720" y="4023360"/>
            <a:ext cx="1371600" cy="182880"/>
          </a:xfrm>
          <a:prstGeom prst="rect">
            <a:avLst/>
          </a:prstGeom>
          <a:noFill/>
          <a:ln/>
        </p:spPr>
        <p:txBody>
          <a:bodyPr wrap="square" lIns="0" tIns="0" rIns="0" bIns="0" rtlCol="0" anchor="t"/>
          <a:lstStyle/>
          <a:p>
            <a:pPr indent="0" marL="0">
              <a:buNone/>
            </a:pPr>
            <a:r>
              <a:rPr lang="en-US" sz="1000" b="1" dirty="0">
                <a:solidFill>
                  <a:srgbClr val="1A1A1A"/>
                </a:solidFill>
                <a:latin typeface="Calibri" pitchFamily="34" charset="0"/>
                <a:ea typeface="Calibri" pitchFamily="34" charset="-122"/>
                <a:cs typeface="Calibri" pitchFamily="34" charset="-120"/>
              </a:rPr>
              <a:t>Commercial</a:t>
            </a:r>
            <a:endParaRPr lang="en-US" sz="1000" dirty="0"/>
          </a:p>
        </p:txBody>
      </p:sp>
      <p:sp>
        <p:nvSpPr>
          <p:cNvPr id="115" name="Text 100"/>
          <p:cNvSpPr txBox="1"/>
          <p:nvPr/>
        </p:nvSpPr>
        <p:spPr>
          <a:xfrm>
            <a:off x="8046720" y="4206240"/>
            <a:ext cx="1371600" cy="182880"/>
          </a:xfrm>
          <a:prstGeom prst="rect">
            <a:avLst/>
          </a:prstGeom>
          <a:noFill/>
          <a:ln/>
        </p:spPr>
        <p:txBody>
          <a:bodyPr wrap="square" lIns="0" tIns="0" rIns="0" bIns="0" rtlCol="0" anchor="t"/>
          <a:lstStyle/>
          <a:p>
            <a:pPr indent="0" marL="0">
              <a:buNone/>
            </a:pPr>
            <a:r>
              <a:rPr lang="en-US" sz="900" dirty="0">
                <a:solidFill>
                  <a:srgbClr val="6E6E6E"/>
                </a:solidFill>
                <a:latin typeface="Calibri" pitchFamily="34" charset="0"/>
                <a:ea typeface="Calibri" pitchFamily="34" charset="-122"/>
                <a:cs typeface="Calibri" pitchFamily="34" charset="-120"/>
              </a:rPr>
              <a:t>proven; the vendor owns it</a:t>
            </a:r>
            <a:endParaRPr lang="en-US" sz="900" dirty="0"/>
          </a:p>
        </p:txBody>
      </p:sp>
      <p:sp>
        <p:nvSpPr>
          <p:cNvPr id="116" name="Shape 101"/>
          <p:cNvSpPr/>
          <p:nvPr/>
        </p:nvSpPr>
        <p:spPr>
          <a:xfrm>
            <a:off x="9582912" y="4096512"/>
            <a:ext cx="182880" cy="182880"/>
          </a:xfrm>
          <a:prstGeom prst="ellipse">
            <a:avLst/>
          </a:prstGeom>
          <a:solidFill>
            <a:srgbClr val="C62828"/>
          </a:solidFill>
          <a:ln w="12700">
            <a:solidFill>
              <a:srgbClr val="C62828"/>
            </a:solidFill>
            <a:prstDash val="solid"/>
          </a:ln>
        </p:spPr>
      </p:sp>
      <p:sp>
        <p:nvSpPr>
          <p:cNvPr id="117" name="Shape 102"/>
          <p:cNvSpPr/>
          <p:nvPr/>
        </p:nvSpPr>
        <p:spPr>
          <a:xfrm>
            <a:off x="10158984" y="4096512"/>
            <a:ext cx="182880" cy="182880"/>
          </a:xfrm>
          <a:prstGeom prst="ellipse">
            <a:avLst/>
          </a:prstGeom>
          <a:solidFill>
            <a:srgbClr val="2E7D32"/>
          </a:solidFill>
          <a:ln w="12700">
            <a:solidFill>
              <a:srgbClr val="2E7D32"/>
            </a:solidFill>
            <a:prstDash val="solid"/>
          </a:ln>
        </p:spPr>
      </p:sp>
      <p:sp>
        <p:nvSpPr>
          <p:cNvPr id="118" name="Shape 103"/>
          <p:cNvSpPr/>
          <p:nvPr/>
        </p:nvSpPr>
        <p:spPr>
          <a:xfrm>
            <a:off x="10735056" y="4096512"/>
            <a:ext cx="182880" cy="182880"/>
          </a:xfrm>
          <a:prstGeom prst="ellipse">
            <a:avLst/>
          </a:prstGeom>
          <a:solidFill>
            <a:srgbClr val="C99700"/>
          </a:solidFill>
          <a:ln w="12700">
            <a:solidFill>
              <a:srgbClr val="C99700"/>
            </a:solidFill>
            <a:prstDash val="solid"/>
          </a:ln>
        </p:spPr>
      </p:sp>
      <p:sp>
        <p:nvSpPr>
          <p:cNvPr id="119" name="Shape 104"/>
          <p:cNvSpPr/>
          <p:nvPr/>
        </p:nvSpPr>
        <p:spPr>
          <a:xfrm>
            <a:off x="11311128" y="4096512"/>
            <a:ext cx="182880" cy="182880"/>
          </a:xfrm>
          <a:prstGeom prst="ellipse">
            <a:avLst/>
          </a:prstGeom>
          <a:solidFill>
            <a:srgbClr val="C62828"/>
          </a:solidFill>
          <a:ln w="12700">
            <a:solidFill>
              <a:srgbClr val="C62828"/>
            </a:solidFill>
            <a:prstDash val="solid"/>
          </a:ln>
        </p:spPr>
      </p:sp>
      <p:sp>
        <p:nvSpPr>
          <p:cNvPr id="120" name="Text 105"/>
          <p:cNvSpPr txBox="1"/>
          <p:nvPr/>
        </p:nvSpPr>
        <p:spPr>
          <a:xfrm>
            <a:off x="8046720" y="4498848"/>
            <a:ext cx="1371600" cy="182880"/>
          </a:xfrm>
          <a:prstGeom prst="rect">
            <a:avLst/>
          </a:prstGeom>
          <a:noFill/>
          <a:ln/>
        </p:spPr>
        <p:txBody>
          <a:bodyPr wrap="square" lIns="0" tIns="0" rIns="0" bIns="0" rtlCol="0" anchor="t"/>
          <a:lstStyle/>
          <a:p>
            <a:pPr indent="0" marL="0">
              <a:buNone/>
            </a:pPr>
            <a:r>
              <a:rPr lang="en-US" sz="1000" b="1" dirty="0">
                <a:solidFill>
                  <a:srgbClr val="1A1A1A"/>
                </a:solidFill>
                <a:latin typeface="Calibri" pitchFamily="34" charset="0"/>
                <a:ea typeface="Calibri" pitchFamily="34" charset="-122"/>
                <a:cs typeface="Calibri" pitchFamily="34" charset="-120"/>
              </a:rPr>
              <a:t>Fully in-house</a:t>
            </a:r>
            <a:endParaRPr lang="en-US" sz="1000" dirty="0"/>
          </a:p>
        </p:txBody>
      </p:sp>
      <p:sp>
        <p:nvSpPr>
          <p:cNvPr id="121" name="Text 106"/>
          <p:cNvSpPr txBox="1"/>
          <p:nvPr/>
        </p:nvSpPr>
        <p:spPr>
          <a:xfrm>
            <a:off x="8046720" y="4681728"/>
            <a:ext cx="1371600" cy="182880"/>
          </a:xfrm>
          <a:prstGeom prst="rect">
            <a:avLst/>
          </a:prstGeom>
          <a:noFill/>
          <a:ln/>
        </p:spPr>
        <p:txBody>
          <a:bodyPr wrap="square" lIns="0" tIns="0" rIns="0" bIns="0" rtlCol="0" anchor="t"/>
          <a:lstStyle/>
          <a:p>
            <a:pPr indent="0" marL="0">
              <a:buNone/>
            </a:pPr>
            <a:r>
              <a:rPr lang="en-US" sz="900" dirty="0">
                <a:solidFill>
                  <a:srgbClr val="6E6E6E"/>
                </a:solidFill>
                <a:latin typeface="Calibri" pitchFamily="34" charset="0"/>
                <a:ea typeface="Calibri" pitchFamily="34" charset="-122"/>
                <a:cs typeface="Calibri" pitchFamily="34" charset="-120"/>
              </a:rPr>
              <a:t>JSL owns it; slow to prove</a:t>
            </a:r>
            <a:endParaRPr lang="en-US" sz="900" dirty="0"/>
          </a:p>
        </p:txBody>
      </p:sp>
      <p:sp>
        <p:nvSpPr>
          <p:cNvPr id="122" name="Shape 107"/>
          <p:cNvSpPr/>
          <p:nvPr/>
        </p:nvSpPr>
        <p:spPr>
          <a:xfrm>
            <a:off x="9582912" y="4572000"/>
            <a:ext cx="182880" cy="182880"/>
          </a:xfrm>
          <a:prstGeom prst="ellipse">
            <a:avLst/>
          </a:prstGeom>
          <a:solidFill>
            <a:srgbClr val="2E7D32"/>
          </a:solidFill>
          <a:ln w="12700">
            <a:solidFill>
              <a:srgbClr val="2E7D32"/>
            </a:solidFill>
            <a:prstDash val="solid"/>
          </a:ln>
        </p:spPr>
      </p:sp>
      <p:sp>
        <p:nvSpPr>
          <p:cNvPr id="123" name="Shape 108"/>
          <p:cNvSpPr/>
          <p:nvPr/>
        </p:nvSpPr>
        <p:spPr>
          <a:xfrm>
            <a:off x="10158984" y="4572000"/>
            <a:ext cx="182880" cy="182880"/>
          </a:xfrm>
          <a:prstGeom prst="ellipse">
            <a:avLst/>
          </a:prstGeom>
          <a:solidFill>
            <a:srgbClr val="C62828"/>
          </a:solidFill>
          <a:ln w="12700">
            <a:solidFill>
              <a:srgbClr val="C62828"/>
            </a:solidFill>
            <a:prstDash val="solid"/>
          </a:ln>
        </p:spPr>
      </p:sp>
      <p:sp>
        <p:nvSpPr>
          <p:cNvPr id="124" name="Shape 109"/>
          <p:cNvSpPr/>
          <p:nvPr/>
        </p:nvSpPr>
        <p:spPr>
          <a:xfrm>
            <a:off x="10735056" y="4572000"/>
            <a:ext cx="182880" cy="182880"/>
          </a:xfrm>
          <a:prstGeom prst="ellipse">
            <a:avLst/>
          </a:prstGeom>
          <a:solidFill>
            <a:srgbClr val="2E7D32"/>
          </a:solidFill>
          <a:ln w="12700">
            <a:solidFill>
              <a:srgbClr val="2E7D32"/>
            </a:solidFill>
            <a:prstDash val="solid"/>
          </a:ln>
        </p:spPr>
      </p:sp>
      <p:sp>
        <p:nvSpPr>
          <p:cNvPr id="125" name="Shape 110"/>
          <p:cNvSpPr/>
          <p:nvPr/>
        </p:nvSpPr>
        <p:spPr>
          <a:xfrm>
            <a:off x="11311128" y="4572000"/>
            <a:ext cx="182880" cy="182880"/>
          </a:xfrm>
          <a:prstGeom prst="ellipse">
            <a:avLst/>
          </a:prstGeom>
          <a:solidFill>
            <a:srgbClr val="2E7D32"/>
          </a:solidFill>
          <a:ln w="12700">
            <a:solidFill>
              <a:srgbClr val="2E7D32"/>
            </a:solidFill>
            <a:prstDash val="solid"/>
          </a:ln>
        </p:spPr>
      </p:sp>
      <p:sp>
        <p:nvSpPr>
          <p:cNvPr id="126" name="Shape 111"/>
          <p:cNvSpPr/>
          <p:nvPr/>
        </p:nvSpPr>
        <p:spPr>
          <a:xfrm>
            <a:off x="7973568" y="4919472"/>
            <a:ext cx="3739896" cy="457200"/>
          </a:xfrm>
          <a:prstGeom prst="roundRect">
            <a:avLst>
              <a:gd name="adj" fmla="val 12000"/>
            </a:avLst>
          </a:prstGeom>
          <a:solidFill>
            <a:srgbClr val="FDEFE4"/>
          </a:solidFill>
          <a:ln w="12700">
            <a:solidFill>
              <a:srgbClr val="FDEFE4"/>
            </a:solidFill>
            <a:prstDash val="solid"/>
          </a:ln>
        </p:spPr>
      </p:sp>
      <p:sp>
        <p:nvSpPr>
          <p:cNvPr id="127" name="Text 112"/>
          <p:cNvSpPr txBox="1"/>
          <p:nvPr/>
        </p:nvSpPr>
        <p:spPr>
          <a:xfrm>
            <a:off x="8046720" y="4974336"/>
            <a:ext cx="1371600" cy="182880"/>
          </a:xfrm>
          <a:prstGeom prst="rect">
            <a:avLst/>
          </a:prstGeom>
          <a:noFill/>
          <a:ln/>
        </p:spPr>
        <p:txBody>
          <a:bodyPr wrap="square" lIns="0" tIns="0" rIns="0" bIns="0" rtlCol="0" anchor="t"/>
          <a:lstStyle/>
          <a:p>
            <a:pPr indent="0" marL="0">
              <a:buNone/>
            </a:pPr>
            <a:r>
              <a:rPr lang="en-US" sz="1000" b="1" dirty="0">
                <a:solidFill>
                  <a:srgbClr val="D2651F"/>
                </a:solidFill>
                <a:latin typeface="Calibri" pitchFamily="34" charset="0"/>
                <a:ea typeface="Calibri" pitchFamily="34" charset="-122"/>
                <a:cs typeface="Calibri" pitchFamily="34" charset="-120"/>
              </a:rPr>
              <a:t>Hybrid (recommended)</a:t>
            </a:r>
            <a:endParaRPr lang="en-US" sz="1000" dirty="0"/>
          </a:p>
        </p:txBody>
      </p:sp>
      <p:sp>
        <p:nvSpPr>
          <p:cNvPr id="128" name="Text 113"/>
          <p:cNvSpPr txBox="1"/>
          <p:nvPr/>
        </p:nvSpPr>
        <p:spPr>
          <a:xfrm>
            <a:off x="8046720" y="5157216"/>
            <a:ext cx="1371600" cy="182880"/>
          </a:xfrm>
          <a:prstGeom prst="rect">
            <a:avLst/>
          </a:prstGeom>
          <a:noFill/>
          <a:ln/>
        </p:spPr>
        <p:txBody>
          <a:bodyPr wrap="square" lIns="0" tIns="0" rIns="0" bIns="0" rtlCol="0" anchor="t"/>
          <a:lstStyle/>
          <a:p>
            <a:pPr indent="0" marL="0">
              <a:buNone/>
            </a:pPr>
            <a:r>
              <a:rPr lang="en-US" sz="900" dirty="0">
                <a:solidFill>
                  <a:srgbClr val="6E6E6E"/>
                </a:solidFill>
                <a:latin typeface="Calibri" pitchFamily="34" charset="0"/>
                <a:ea typeface="Calibri" pitchFamily="34" charset="-122"/>
                <a:cs typeface="Calibri" pitchFamily="34" charset="-120"/>
              </a:rPr>
              <a:t>vendor cameras, JSL software</a:t>
            </a:r>
            <a:endParaRPr lang="en-US" sz="900" dirty="0"/>
          </a:p>
        </p:txBody>
      </p:sp>
      <p:sp>
        <p:nvSpPr>
          <p:cNvPr id="129" name="Shape 114"/>
          <p:cNvSpPr/>
          <p:nvPr/>
        </p:nvSpPr>
        <p:spPr>
          <a:xfrm>
            <a:off x="9582912" y="5047488"/>
            <a:ext cx="182880" cy="182880"/>
          </a:xfrm>
          <a:prstGeom prst="ellipse">
            <a:avLst/>
          </a:prstGeom>
          <a:solidFill>
            <a:srgbClr val="2E7D32"/>
          </a:solidFill>
          <a:ln w="12700">
            <a:solidFill>
              <a:srgbClr val="2E7D32"/>
            </a:solidFill>
            <a:prstDash val="solid"/>
          </a:ln>
        </p:spPr>
      </p:sp>
      <p:sp>
        <p:nvSpPr>
          <p:cNvPr id="130" name="Shape 115"/>
          <p:cNvSpPr/>
          <p:nvPr/>
        </p:nvSpPr>
        <p:spPr>
          <a:xfrm>
            <a:off x="10158984" y="5047488"/>
            <a:ext cx="182880" cy="182880"/>
          </a:xfrm>
          <a:prstGeom prst="ellipse">
            <a:avLst/>
          </a:prstGeom>
          <a:solidFill>
            <a:srgbClr val="C99700"/>
          </a:solidFill>
          <a:ln w="12700">
            <a:solidFill>
              <a:srgbClr val="C99700"/>
            </a:solidFill>
            <a:prstDash val="solid"/>
          </a:ln>
        </p:spPr>
      </p:sp>
      <p:sp>
        <p:nvSpPr>
          <p:cNvPr id="131" name="Shape 116"/>
          <p:cNvSpPr/>
          <p:nvPr/>
        </p:nvSpPr>
        <p:spPr>
          <a:xfrm>
            <a:off x="10735056" y="5047488"/>
            <a:ext cx="182880" cy="182880"/>
          </a:xfrm>
          <a:prstGeom prst="ellipse">
            <a:avLst/>
          </a:prstGeom>
          <a:solidFill>
            <a:srgbClr val="2E7D32"/>
          </a:solidFill>
          <a:ln w="12700">
            <a:solidFill>
              <a:srgbClr val="2E7D32"/>
            </a:solidFill>
            <a:prstDash val="solid"/>
          </a:ln>
        </p:spPr>
      </p:sp>
      <p:sp>
        <p:nvSpPr>
          <p:cNvPr id="132" name="Shape 117"/>
          <p:cNvSpPr/>
          <p:nvPr/>
        </p:nvSpPr>
        <p:spPr>
          <a:xfrm>
            <a:off x="11311128" y="5047488"/>
            <a:ext cx="182880" cy="182880"/>
          </a:xfrm>
          <a:prstGeom prst="ellipse">
            <a:avLst/>
          </a:prstGeom>
          <a:solidFill>
            <a:srgbClr val="2E7D32"/>
          </a:solidFill>
          <a:ln w="12700">
            <a:solidFill>
              <a:srgbClr val="2E7D32"/>
            </a:solidFill>
            <a:prstDash val="solid"/>
          </a:ln>
        </p:spPr>
      </p:sp>
      <p:sp>
        <p:nvSpPr>
          <p:cNvPr id="133" name="Shape 118"/>
          <p:cNvSpPr/>
          <p:nvPr/>
        </p:nvSpPr>
        <p:spPr>
          <a:xfrm>
            <a:off x="8065008" y="5477256"/>
            <a:ext cx="128016" cy="128016"/>
          </a:xfrm>
          <a:prstGeom prst="ellipse">
            <a:avLst/>
          </a:prstGeom>
          <a:solidFill>
            <a:srgbClr val="2E7D32"/>
          </a:solidFill>
          <a:ln w="12700">
            <a:solidFill>
              <a:srgbClr val="2E7D32"/>
            </a:solidFill>
            <a:prstDash val="solid"/>
          </a:ln>
        </p:spPr>
      </p:sp>
      <p:sp>
        <p:nvSpPr>
          <p:cNvPr id="134" name="Text 119"/>
          <p:cNvSpPr txBox="1"/>
          <p:nvPr/>
        </p:nvSpPr>
        <p:spPr>
          <a:xfrm>
            <a:off x="8229600" y="5431536"/>
            <a:ext cx="594360" cy="201168"/>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strong</a:t>
            </a:r>
            <a:endParaRPr lang="en-US" sz="900" dirty="0"/>
          </a:p>
        </p:txBody>
      </p:sp>
      <p:sp>
        <p:nvSpPr>
          <p:cNvPr id="135" name="Shape 120"/>
          <p:cNvSpPr/>
          <p:nvPr/>
        </p:nvSpPr>
        <p:spPr>
          <a:xfrm>
            <a:off x="8842248" y="5477256"/>
            <a:ext cx="128016" cy="128016"/>
          </a:xfrm>
          <a:prstGeom prst="ellipse">
            <a:avLst/>
          </a:prstGeom>
          <a:solidFill>
            <a:srgbClr val="C99700"/>
          </a:solidFill>
          <a:ln w="12700">
            <a:solidFill>
              <a:srgbClr val="C99700"/>
            </a:solidFill>
            <a:prstDash val="solid"/>
          </a:ln>
        </p:spPr>
      </p:sp>
      <p:sp>
        <p:nvSpPr>
          <p:cNvPr id="136" name="Text 121"/>
          <p:cNvSpPr txBox="1"/>
          <p:nvPr/>
        </p:nvSpPr>
        <p:spPr>
          <a:xfrm>
            <a:off x="9006840" y="5431536"/>
            <a:ext cx="594360" cy="201168"/>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partial</a:t>
            </a:r>
            <a:endParaRPr lang="en-US" sz="900" dirty="0"/>
          </a:p>
        </p:txBody>
      </p:sp>
      <p:sp>
        <p:nvSpPr>
          <p:cNvPr id="137" name="Shape 122"/>
          <p:cNvSpPr/>
          <p:nvPr/>
        </p:nvSpPr>
        <p:spPr>
          <a:xfrm>
            <a:off x="9619488" y="5477256"/>
            <a:ext cx="128016" cy="128016"/>
          </a:xfrm>
          <a:prstGeom prst="ellipse">
            <a:avLst/>
          </a:prstGeom>
          <a:solidFill>
            <a:srgbClr val="C62828"/>
          </a:solidFill>
          <a:ln w="12700">
            <a:solidFill>
              <a:srgbClr val="C62828"/>
            </a:solidFill>
            <a:prstDash val="solid"/>
          </a:ln>
        </p:spPr>
      </p:sp>
      <p:sp>
        <p:nvSpPr>
          <p:cNvPr id="138" name="Text 123"/>
          <p:cNvSpPr txBox="1"/>
          <p:nvPr/>
        </p:nvSpPr>
        <p:spPr>
          <a:xfrm>
            <a:off x="9784080" y="5431536"/>
            <a:ext cx="594360" cy="201168"/>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weak</a:t>
            </a:r>
            <a:endParaRPr lang="en-US" sz="900" dirty="0"/>
          </a:p>
        </p:txBody>
      </p:sp>
      <p:sp>
        <p:nvSpPr>
          <p:cNvPr id="139" name="Text 124"/>
          <p:cNvSpPr txBox="1"/>
          <p:nvPr/>
        </p:nvSpPr>
        <p:spPr>
          <a:xfrm>
            <a:off x="8046720" y="5641848"/>
            <a:ext cx="3657600" cy="219456"/>
          </a:xfrm>
          <a:prstGeom prst="rect">
            <a:avLst/>
          </a:prstGeom>
          <a:noFill/>
          <a:ln/>
        </p:spPr>
        <p:txBody>
          <a:bodyPr wrap="square" lIns="0" tIns="0" rIns="0" bIns="0" rtlCol="0" anchor="ctr"/>
          <a:lstStyle/>
          <a:p>
            <a:pPr indent="0" marL="0">
              <a:buNone/>
            </a:pPr>
            <a:r>
              <a:rPr lang="en-US" sz="1000" b="1" dirty="0">
                <a:solidFill>
                  <a:srgbClr val="D2651F"/>
                </a:solidFill>
                <a:latin typeface="Calibri" pitchFamily="34" charset="0"/>
                <a:ea typeface="Calibri" pitchFamily="34" charset="-122"/>
                <a:cs typeface="Calibri" pitchFamily="34" charset="-120"/>
              </a:rPr>
              <a:t>Output: hybrid is never weak.</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E4803A"/>
          </a:solidFill>
          <a:ln w="12700">
            <a:solidFill>
              <a:srgbClr val="E4803A"/>
            </a:solidFill>
            <a:prstDash val="solid"/>
          </a:ln>
        </p:spPr>
      </p:sp>
      <p:pic>
        <p:nvPicPr>
          <p:cNvPr id="3" name="Image 0" descr="img/logo_jsl.jpg">    </p:cNvPr>
          <p:cNvPicPr>
            <a:picLocks noChangeAspect="1"/>
          </p:cNvPicPr>
          <p:nvPr/>
        </p:nvPicPr>
        <p:blipFill>
          <a:blip r:embed="rId1"/>
          <a:stretch>
            <a:fillRect/>
          </a:stretch>
        </p:blipFill>
        <p:spPr>
          <a:xfrm>
            <a:off x="91440" y="73152"/>
            <a:ext cx="2176272" cy="640080"/>
          </a:xfrm>
          <a:prstGeom prst="rect">
            <a:avLst/>
          </a:prstGeom>
        </p:spPr>
      </p:pic>
      <p:pic>
        <p:nvPicPr>
          <p:cNvPr id="4" name="Image 1" descr="img/logo_spark.png">    </p:cNvPr>
          <p:cNvPicPr>
            <a:picLocks noChangeAspect="1"/>
          </p:cNvPicPr>
          <p:nvPr/>
        </p:nvPicPr>
        <p:blipFill>
          <a:blip r:embed="rId2"/>
          <a:stretch>
            <a:fillRect/>
          </a:stretch>
        </p:blipFill>
        <p:spPr>
          <a:xfrm>
            <a:off x="2340864" y="73152"/>
            <a:ext cx="1243584" cy="640080"/>
          </a:xfrm>
          <a:prstGeom prst="rect">
            <a:avLst/>
          </a:prstGeom>
        </p:spPr>
      </p:pic>
      <p:sp>
        <p:nvSpPr>
          <p:cNvPr id="5" name="Shape 1"/>
          <p:cNvSpPr/>
          <p:nvPr/>
        </p:nvSpPr>
        <p:spPr>
          <a:xfrm>
            <a:off x="3785616" y="182880"/>
            <a:ext cx="1307592" cy="420624"/>
          </a:xfrm>
          <a:prstGeom prst="rect">
            <a:avLst/>
          </a:prstGeom>
          <a:solidFill>
            <a:srgbClr val="F2F2F2"/>
          </a:solidFill>
          <a:ln w="12700">
            <a:solidFill>
              <a:srgbClr val="F2F2F2"/>
            </a:solidFill>
            <a:prstDash val="solid"/>
          </a:ln>
        </p:spPr>
      </p:sp>
      <p:sp>
        <p:nvSpPr>
          <p:cNvPr id="6" name="Text 2"/>
          <p:cNvSpPr txBox="1"/>
          <p:nvPr/>
        </p:nvSpPr>
        <p:spPr>
          <a:xfrm>
            <a:off x="3785616"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1  Problem</a:t>
            </a:r>
            <a:endParaRPr lang="en-US" sz="1050" dirty="0"/>
          </a:p>
        </p:txBody>
      </p:sp>
      <p:sp>
        <p:nvSpPr>
          <p:cNvPr id="7" name="Shape 3"/>
          <p:cNvSpPr/>
          <p:nvPr/>
        </p:nvSpPr>
        <p:spPr>
          <a:xfrm>
            <a:off x="5148072" y="182880"/>
            <a:ext cx="1307592" cy="420624"/>
          </a:xfrm>
          <a:prstGeom prst="rect">
            <a:avLst/>
          </a:prstGeom>
          <a:solidFill>
            <a:srgbClr val="F2F2F2"/>
          </a:solidFill>
          <a:ln w="12700">
            <a:solidFill>
              <a:srgbClr val="F2F2F2"/>
            </a:solidFill>
            <a:prstDash val="solid"/>
          </a:ln>
        </p:spPr>
      </p:sp>
      <p:sp>
        <p:nvSpPr>
          <p:cNvPr id="8" name="Text 4"/>
          <p:cNvSpPr txBox="1"/>
          <p:nvPr/>
        </p:nvSpPr>
        <p:spPr>
          <a:xfrm>
            <a:off x="5148072"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2  Insights</a:t>
            </a:r>
            <a:endParaRPr lang="en-US" sz="1050" dirty="0"/>
          </a:p>
        </p:txBody>
      </p:sp>
      <p:sp>
        <p:nvSpPr>
          <p:cNvPr id="9" name="Shape 5"/>
          <p:cNvSpPr/>
          <p:nvPr/>
        </p:nvSpPr>
        <p:spPr>
          <a:xfrm>
            <a:off x="6510528" y="182880"/>
            <a:ext cx="1307592" cy="420624"/>
          </a:xfrm>
          <a:prstGeom prst="rect">
            <a:avLst/>
          </a:prstGeom>
          <a:solidFill>
            <a:srgbClr val="B63831"/>
          </a:solidFill>
          <a:ln w="12700">
            <a:solidFill>
              <a:srgbClr val="B63831"/>
            </a:solidFill>
            <a:prstDash val="solid"/>
          </a:ln>
        </p:spPr>
      </p:sp>
      <p:sp>
        <p:nvSpPr>
          <p:cNvPr id="10" name="Text 6"/>
          <p:cNvSpPr txBox="1"/>
          <p:nvPr/>
        </p:nvSpPr>
        <p:spPr>
          <a:xfrm>
            <a:off x="6510528" y="182880"/>
            <a:ext cx="1307592"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  Solution</a:t>
            </a:r>
            <a:endParaRPr lang="en-US" sz="1050" dirty="0"/>
          </a:p>
        </p:txBody>
      </p:sp>
      <p:sp>
        <p:nvSpPr>
          <p:cNvPr id="11" name="Shape 7"/>
          <p:cNvSpPr/>
          <p:nvPr/>
        </p:nvSpPr>
        <p:spPr>
          <a:xfrm>
            <a:off x="7872984" y="182880"/>
            <a:ext cx="1307592" cy="420624"/>
          </a:xfrm>
          <a:prstGeom prst="rect">
            <a:avLst/>
          </a:prstGeom>
          <a:solidFill>
            <a:srgbClr val="F2F2F2"/>
          </a:solidFill>
          <a:ln w="12700">
            <a:solidFill>
              <a:srgbClr val="F2F2F2"/>
            </a:solidFill>
            <a:prstDash val="solid"/>
          </a:ln>
        </p:spPr>
      </p:sp>
      <p:sp>
        <p:nvSpPr>
          <p:cNvPr id="12" name="Text 8"/>
          <p:cNvSpPr txBox="1"/>
          <p:nvPr/>
        </p:nvSpPr>
        <p:spPr>
          <a:xfrm>
            <a:off x="7872984"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4  Implementation</a:t>
            </a:r>
            <a:endParaRPr lang="en-US" sz="1050" dirty="0"/>
          </a:p>
        </p:txBody>
      </p:sp>
      <p:sp>
        <p:nvSpPr>
          <p:cNvPr id="13" name="Shape 9"/>
          <p:cNvSpPr/>
          <p:nvPr/>
        </p:nvSpPr>
        <p:spPr>
          <a:xfrm>
            <a:off x="9235440" y="182880"/>
            <a:ext cx="1307592" cy="420624"/>
          </a:xfrm>
          <a:prstGeom prst="rect">
            <a:avLst/>
          </a:prstGeom>
          <a:solidFill>
            <a:srgbClr val="F2F2F2"/>
          </a:solidFill>
          <a:ln w="12700">
            <a:solidFill>
              <a:srgbClr val="F2F2F2"/>
            </a:solidFill>
            <a:prstDash val="solid"/>
          </a:ln>
        </p:spPr>
      </p:sp>
      <p:sp>
        <p:nvSpPr>
          <p:cNvPr id="14" name="Text 10"/>
          <p:cNvSpPr txBox="1"/>
          <p:nvPr/>
        </p:nvSpPr>
        <p:spPr>
          <a:xfrm>
            <a:off x="9235440"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5  Impact</a:t>
            </a:r>
            <a:endParaRPr lang="en-US" sz="1050" dirty="0"/>
          </a:p>
        </p:txBody>
      </p:sp>
      <p:sp>
        <p:nvSpPr>
          <p:cNvPr id="15" name="Text 11"/>
          <p:cNvSpPr txBox="1"/>
          <p:nvPr/>
        </p:nvSpPr>
        <p:spPr>
          <a:xfrm>
            <a:off x="10625328" y="146304"/>
            <a:ext cx="1481328" cy="49377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Team Futuristic</a:t>
            </a:r>
            <a:pPr algn="r" indent="0" marL="0">
              <a:buNone/>
            </a:pPr>
            <a:endParaRPr lang="en-US" sz="1000" dirty="0"/>
          </a:p>
          <a:p>
            <a:pPr algn="r" indent="0" marL="0">
              <a:buNone/>
            </a:pPr>
            <a:r>
              <a:rPr lang="en-US" sz="950" dirty="0">
                <a:solidFill>
                  <a:srgbClr val="FFFFFF"/>
                </a:solidFill>
                <a:latin typeface="Calibri" pitchFamily="34" charset="0"/>
                <a:ea typeface="Calibri" pitchFamily="34" charset="-122"/>
                <a:cs typeface="Calibri" pitchFamily="34" charset="-120"/>
              </a:rPr>
              <a:t>IIT Bombay</a:t>
            </a:r>
            <a:endParaRPr lang="en-US" sz="1000" dirty="0"/>
          </a:p>
        </p:txBody>
      </p:sp>
      <p:sp>
        <p:nvSpPr>
          <p:cNvPr id="16" name="Text 12"/>
          <p:cNvSpPr txBox="1"/>
          <p:nvPr/>
        </p:nvSpPr>
        <p:spPr>
          <a:xfrm>
            <a:off x="457200" y="822960"/>
            <a:ext cx="11274552" cy="384048"/>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It already works on public steel data; the pilot's job is to prove it on JSL's own strip</a:t>
            </a:r>
            <a:endParaRPr lang="en-US" sz="2000" dirty="0"/>
          </a:p>
        </p:txBody>
      </p:sp>
      <p:sp>
        <p:nvSpPr>
          <p:cNvPr id="17" name="Shape 13"/>
          <p:cNvSpPr/>
          <p:nvPr/>
        </p:nvSpPr>
        <p:spPr>
          <a:xfrm>
            <a:off x="91440" y="1234440"/>
            <a:ext cx="274320" cy="4965192"/>
          </a:xfrm>
          <a:prstGeom prst="rect">
            <a:avLst/>
          </a:prstGeom>
          <a:solidFill>
            <a:srgbClr val="2B2B2B"/>
          </a:solidFill>
          <a:ln w="12700">
            <a:solidFill>
              <a:srgbClr val="2B2B2B"/>
            </a:solidFill>
            <a:prstDash val="solid"/>
          </a:ln>
        </p:spPr>
      </p:sp>
      <p:sp>
        <p:nvSpPr>
          <p:cNvPr id="18" name="Text 14"/>
          <p:cNvSpPr txBox="1"/>
          <p:nvPr/>
        </p:nvSpPr>
        <p:spPr>
          <a:xfrm rot="16200000">
            <a:off x="-2253996" y="3579876"/>
            <a:ext cx="4965192"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SOLUTION  ·  PROOF</a:t>
            </a:r>
            <a:endParaRPr lang="en-US" sz="1000" dirty="0"/>
          </a:p>
        </p:txBody>
      </p:sp>
      <p:sp>
        <p:nvSpPr>
          <p:cNvPr id="19" name="Shape 15"/>
          <p:cNvSpPr/>
          <p:nvPr/>
        </p:nvSpPr>
        <p:spPr>
          <a:xfrm>
            <a:off x="91440" y="6236208"/>
            <a:ext cx="11640312" cy="420624"/>
          </a:xfrm>
          <a:prstGeom prst="rect">
            <a:avLst/>
          </a:prstGeom>
          <a:solidFill>
            <a:srgbClr val="2B2B2B"/>
          </a:solidFill>
          <a:ln w="12700">
            <a:solidFill>
              <a:srgbClr val="2B2B2B"/>
            </a:solidFill>
            <a:prstDash val="solid"/>
          </a:ln>
        </p:spPr>
      </p:sp>
      <p:sp>
        <p:nvSpPr>
          <p:cNvPr id="20" name="Text 16"/>
          <p:cNvSpPr txBox="1"/>
          <p:nvPr/>
        </p:nvSpPr>
        <p:spPr>
          <a:xfrm>
            <a:off x="256032" y="6236208"/>
            <a:ext cx="1133856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Strong on four of six defect families today. Every weak spot is known, and each has a fix in the pilot plan.</a:t>
            </a:r>
            <a:endParaRPr lang="en-US" sz="1200" dirty="0"/>
          </a:p>
        </p:txBody>
      </p:sp>
      <p:sp>
        <p:nvSpPr>
          <p:cNvPr id="21" name="Text 17"/>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Datasets: NEU-DET (Northeastern Univ.); Severstal steel defects (Kaggle); GC10-DET (Lv et al. 2020, CC BY 4.0). All scores on held-out images the system had never seen.</a:t>
            </a:r>
            <a:endParaRPr lang="en-US" sz="900" dirty="0"/>
          </a:p>
        </p:txBody>
      </p:sp>
      <p:sp>
        <p:nvSpPr>
          <p:cNvPr id="22" name="Shape 18"/>
          <p:cNvSpPr/>
          <p:nvPr/>
        </p:nvSpPr>
        <p:spPr>
          <a:xfrm>
            <a:off x="457200" y="1234440"/>
            <a:ext cx="5541264" cy="274320"/>
          </a:xfrm>
          <a:prstGeom prst="rect">
            <a:avLst/>
          </a:prstGeom>
          <a:solidFill>
            <a:srgbClr val="E4803A"/>
          </a:solidFill>
          <a:ln w="12700">
            <a:solidFill>
              <a:srgbClr val="E4803A"/>
            </a:solidFill>
            <a:prstDash val="solid"/>
          </a:ln>
        </p:spPr>
      </p:sp>
      <p:sp>
        <p:nvSpPr>
          <p:cNvPr id="23" name="Text 19"/>
          <p:cNvSpPr txBox="1"/>
          <p:nvPr/>
        </p:nvSpPr>
        <p:spPr>
          <a:xfrm>
            <a:off x="548640"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Tested on three public steel datasets</a:t>
            </a:r>
            <a:endParaRPr lang="en-US" sz="1100" dirty="0"/>
          </a:p>
        </p:txBody>
      </p:sp>
      <p:sp>
        <p:nvSpPr>
          <p:cNvPr id="24" name="Shape 20"/>
          <p:cNvSpPr/>
          <p:nvPr/>
        </p:nvSpPr>
        <p:spPr>
          <a:xfrm>
            <a:off x="457200" y="1572768"/>
            <a:ext cx="1783080" cy="2148840"/>
          </a:xfrm>
          <a:prstGeom prst="roundRect">
            <a:avLst>
              <a:gd name="adj" fmla="val 3077"/>
            </a:avLst>
          </a:prstGeom>
          <a:solidFill>
            <a:srgbClr val="F3F3F3"/>
          </a:solidFill>
          <a:ln w="12700">
            <a:solidFill>
              <a:srgbClr val="F3F3F3"/>
            </a:solidFill>
            <a:prstDash val="solid"/>
          </a:ln>
        </p:spPr>
      </p:sp>
      <p:sp>
        <p:nvSpPr>
          <p:cNvPr id="25" name="Shape 21"/>
          <p:cNvSpPr/>
          <p:nvPr/>
        </p:nvSpPr>
        <p:spPr>
          <a:xfrm>
            <a:off x="539496" y="1645920"/>
            <a:ext cx="1600200" cy="1078992"/>
          </a:xfrm>
          <a:prstGeom prst="rect">
            <a:avLst/>
          </a:prstGeom>
          <a:solidFill>
            <a:srgbClr val="FFFFFF"/>
          </a:solidFill>
          <a:ln w="12700">
            <a:solidFill>
              <a:srgbClr val="FFFFFF"/>
            </a:solidFill>
            <a:prstDash val="solid"/>
          </a:ln>
        </p:spPr>
      </p:sp>
      <p:pic>
        <p:nvPicPr>
          <p:cNvPr id="26" name="Image 2" descr="img/det_patches.png">    </p:cNvPr>
          <p:cNvPicPr>
            <a:picLocks noChangeAspect="1"/>
          </p:cNvPicPr>
          <p:nvPr/>
        </p:nvPicPr>
        <p:blipFill>
          <a:blip r:embed="rId3"/>
          <a:stretch>
            <a:fillRect/>
          </a:stretch>
        </p:blipFill>
        <p:spPr>
          <a:xfrm>
            <a:off x="836676" y="1682496"/>
            <a:ext cx="1005840" cy="1005840"/>
          </a:xfrm>
          <a:prstGeom prst="rect">
            <a:avLst/>
          </a:prstGeom>
        </p:spPr>
      </p:pic>
      <p:sp>
        <p:nvSpPr>
          <p:cNvPr id="27" name="Text 22"/>
          <p:cNvSpPr txBox="1"/>
          <p:nvPr/>
        </p:nvSpPr>
        <p:spPr>
          <a:xfrm>
            <a:off x="539496" y="2761488"/>
            <a:ext cx="1655064" cy="237744"/>
          </a:xfrm>
          <a:prstGeom prst="rect">
            <a:avLst/>
          </a:prstGeom>
          <a:noFill/>
          <a:ln/>
        </p:spPr>
        <p:txBody>
          <a:bodyPr wrap="square" lIns="0" tIns="0" rIns="0" bIns="0" rtlCol="0" anchor="t"/>
          <a:lstStyle/>
          <a:p>
            <a:pPr indent="0" marL="0">
              <a:buNone/>
            </a:pPr>
            <a:r>
              <a:rPr lang="en-US" sz="1100" b="1" dirty="0">
                <a:solidFill>
                  <a:srgbClr val="2B2B2B"/>
                </a:solidFill>
                <a:latin typeface="Calibri" pitchFamily="34" charset="0"/>
                <a:ea typeface="Calibri" pitchFamily="34" charset="-122"/>
                <a:cs typeface="Calibri" pitchFamily="34" charset="-120"/>
              </a:rPr>
              <a:t>NEU-DET</a:t>
            </a:r>
            <a:endParaRPr lang="en-US" sz="1100" dirty="0"/>
          </a:p>
        </p:txBody>
      </p:sp>
      <p:sp>
        <p:nvSpPr>
          <p:cNvPr id="28" name="Text 23"/>
          <p:cNvSpPr txBox="1"/>
          <p:nvPr/>
        </p:nvSpPr>
        <p:spPr>
          <a:xfrm>
            <a:off x="539496" y="2999232"/>
            <a:ext cx="1673352" cy="219456"/>
          </a:xfrm>
          <a:prstGeom prst="rect">
            <a:avLst/>
          </a:prstGeom>
          <a:noFill/>
          <a:ln/>
        </p:spPr>
        <p:txBody>
          <a:bodyPr wrap="square" lIns="0" tIns="0" rIns="0" bIns="0" rtlCol="0" anchor="t"/>
          <a:lstStyle/>
          <a:p>
            <a:pPr indent="0" marL="0">
              <a:buNone/>
            </a:pPr>
            <a:r>
              <a:rPr lang="en-US" sz="900" b="1" dirty="0">
                <a:solidFill>
                  <a:srgbClr val="D2651F"/>
                </a:solidFill>
                <a:latin typeface="Calibri" pitchFamily="34" charset="0"/>
                <a:ea typeface="Calibri" pitchFamily="34" charset="-122"/>
                <a:cs typeface="Calibri" pitchFamily="34" charset="-120"/>
              </a:rPr>
              <a:t>1,800 images, 6 types</a:t>
            </a:r>
            <a:endParaRPr lang="en-US" sz="900" dirty="0"/>
          </a:p>
        </p:txBody>
      </p:sp>
      <p:sp>
        <p:nvSpPr>
          <p:cNvPr id="29" name="Text 24"/>
          <p:cNvSpPr txBox="1"/>
          <p:nvPr/>
        </p:nvSpPr>
        <p:spPr>
          <a:xfrm>
            <a:off x="539496" y="3227832"/>
            <a:ext cx="1673352" cy="603504"/>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University benchmark, hot-rolled strip</a:t>
            </a:r>
            <a:endParaRPr lang="en-US" sz="900" dirty="0"/>
          </a:p>
        </p:txBody>
      </p:sp>
      <p:sp>
        <p:nvSpPr>
          <p:cNvPr id="30" name="Shape 25"/>
          <p:cNvSpPr/>
          <p:nvPr/>
        </p:nvSpPr>
        <p:spPr>
          <a:xfrm>
            <a:off x="2336292" y="1572768"/>
            <a:ext cx="1783080" cy="2148840"/>
          </a:xfrm>
          <a:prstGeom prst="roundRect">
            <a:avLst>
              <a:gd name="adj" fmla="val 3077"/>
            </a:avLst>
          </a:prstGeom>
          <a:solidFill>
            <a:srgbClr val="F3F3F3"/>
          </a:solidFill>
          <a:ln w="12700">
            <a:solidFill>
              <a:srgbClr val="F3F3F3"/>
            </a:solidFill>
            <a:prstDash val="solid"/>
          </a:ln>
        </p:spPr>
      </p:sp>
      <p:sp>
        <p:nvSpPr>
          <p:cNvPr id="31" name="Shape 26"/>
          <p:cNvSpPr/>
          <p:nvPr/>
        </p:nvSpPr>
        <p:spPr>
          <a:xfrm>
            <a:off x="2418588" y="1645920"/>
            <a:ext cx="1600200" cy="1078992"/>
          </a:xfrm>
          <a:prstGeom prst="rect">
            <a:avLst/>
          </a:prstGeom>
          <a:solidFill>
            <a:srgbClr val="FFFFFF"/>
          </a:solidFill>
          <a:ln w="12700">
            <a:solidFill>
              <a:srgbClr val="FFFFFF"/>
            </a:solidFill>
            <a:prstDash val="solid"/>
          </a:ln>
        </p:spPr>
      </p:sp>
      <p:pic>
        <p:nvPicPr>
          <p:cNvPr id="32" name="Image 3" descr="img/proof_severstal.png">    </p:cNvPr>
          <p:cNvPicPr>
            <a:picLocks noChangeAspect="1"/>
          </p:cNvPicPr>
          <p:nvPr/>
        </p:nvPicPr>
        <p:blipFill>
          <a:blip r:embed="rId4"/>
          <a:stretch>
            <a:fillRect/>
          </a:stretch>
        </p:blipFill>
        <p:spPr>
          <a:xfrm>
            <a:off x="2715768" y="1682496"/>
            <a:ext cx="1005840" cy="1005840"/>
          </a:xfrm>
          <a:prstGeom prst="rect">
            <a:avLst/>
          </a:prstGeom>
        </p:spPr>
      </p:pic>
      <p:sp>
        <p:nvSpPr>
          <p:cNvPr id="33" name="Text 27"/>
          <p:cNvSpPr txBox="1"/>
          <p:nvPr/>
        </p:nvSpPr>
        <p:spPr>
          <a:xfrm>
            <a:off x="2418588" y="2761488"/>
            <a:ext cx="1655064" cy="237744"/>
          </a:xfrm>
          <a:prstGeom prst="rect">
            <a:avLst/>
          </a:prstGeom>
          <a:noFill/>
          <a:ln/>
        </p:spPr>
        <p:txBody>
          <a:bodyPr wrap="square" lIns="0" tIns="0" rIns="0" bIns="0" rtlCol="0" anchor="t"/>
          <a:lstStyle/>
          <a:p>
            <a:pPr indent="0" marL="0">
              <a:buNone/>
            </a:pPr>
            <a:r>
              <a:rPr lang="en-US" sz="1100" b="1" dirty="0">
                <a:solidFill>
                  <a:srgbClr val="2B2B2B"/>
                </a:solidFill>
                <a:latin typeface="Calibri" pitchFamily="34" charset="0"/>
                <a:ea typeface="Calibri" pitchFamily="34" charset="-122"/>
                <a:cs typeface="Calibri" pitchFamily="34" charset="-120"/>
              </a:rPr>
              <a:t>Severstal</a:t>
            </a:r>
            <a:endParaRPr lang="en-US" sz="1100" dirty="0"/>
          </a:p>
        </p:txBody>
      </p:sp>
      <p:sp>
        <p:nvSpPr>
          <p:cNvPr id="34" name="Text 28"/>
          <p:cNvSpPr txBox="1"/>
          <p:nvPr/>
        </p:nvSpPr>
        <p:spPr>
          <a:xfrm>
            <a:off x="2418588" y="2999232"/>
            <a:ext cx="1673352" cy="219456"/>
          </a:xfrm>
          <a:prstGeom prst="rect">
            <a:avLst/>
          </a:prstGeom>
          <a:noFill/>
          <a:ln/>
        </p:spPr>
        <p:txBody>
          <a:bodyPr wrap="square" lIns="0" tIns="0" rIns="0" bIns="0" rtlCol="0" anchor="t"/>
          <a:lstStyle/>
          <a:p>
            <a:pPr indent="0" marL="0">
              <a:buNone/>
            </a:pPr>
            <a:r>
              <a:rPr lang="en-US" sz="900" b="1" dirty="0">
                <a:solidFill>
                  <a:srgbClr val="D2651F"/>
                </a:solidFill>
                <a:latin typeface="Calibri" pitchFamily="34" charset="0"/>
                <a:ea typeface="Calibri" pitchFamily="34" charset="-122"/>
                <a:cs typeface="Calibri" pitchFamily="34" charset="-120"/>
              </a:rPr>
              <a:t>12,568 real mill frames</a:t>
            </a:r>
            <a:endParaRPr lang="en-US" sz="900" dirty="0"/>
          </a:p>
        </p:txBody>
      </p:sp>
      <p:sp>
        <p:nvSpPr>
          <p:cNvPr id="35" name="Text 29"/>
          <p:cNvSpPr txBox="1"/>
          <p:nvPr/>
        </p:nvSpPr>
        <p:spPr>
          <a:xfrm>
            <a:off x="2418588" y="3227832"/>
            <a:ext cx="1673352" cy="603504"/>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Production strip from a steel mill</a:t>
            </a:r>
            <a:endParaRPr lang="en-US" sz="900" dirty="0"/>
          </a:p>
        </p:txBody>
      </p:sp>
      <p:sp>
        <p:nvSpPr>
          <p:cNvPr id="36" name="Shape 30"/>
          <p:cNvSpPr/>
          <p:nvPr/>
        </p:nvSpPr>
        <p:spPr>
          <a:xfrm>
            <a:off x="4215384" y="1572768"/>
            <a:ext cx="1783080" cy="2148840"/>
          </a:xfrm>
          <a:prstGeom prst="roundRect">
            <a:avLst>
              <a:gd name="adj" fmla="val 3077"/>
            </a:avLst>
          </a:prstGeom>
          <a:solidFill>
            <a:srgbClr val="F3F3F3"/>
          </a:solidFill>
          <a:ln w="12700">
            <a:solidFill>
              <a:srgbClr val="F3F3F3"/>
            </a:solidFill>
            <a:prstDash val="solid"/>
          </a:ln>
        </p:spPr>
      </p:sp>
      <p:sp>
        <p:nvSpPr>
          <p:cNvPr id="37" name="Shape 31"/>
          <p:cNvSpPr/>
          <p:nvPr/>
        </p:nvSpPr>
        <p:spPr>
          <a:xfrm>
            <a:off x="4297680" y="1645920"/>
            <a:ext cx="1600200" cy="1078992"/>
          </a:xfrm>
          <a:prstGeom prst="rect">
            <a:avLst/>
          </a:prstGeom>
          <a:solidFill>
            <a:srgbClr val="FFFFFF"/>
          </a:solidFill>
          <a:ln w="12700">
            <a:solidFill>
              <a:srgbClr val="FFFFFF"/>
            </a:solidFill>
            <a:prstDash val="solid"/>
          </a:ln>
        </p:spPr>
      </p:sp>
      <p:pic>
        <p:nvPicPr>
          <p:cNvPr id="38" name="Image 4" descr="img/proof_gc10.png">    </p:cNvPr>
          <p:cNvPicPr>
            <a:picLocks noChangeAspect="1"/>
          </p:cNvPicPr>
          <p:nvPr/>
        </p:nvPicPr>
        <p:blipFill>
          <a:blip r:embed="rId5"/>
          <a:stretch>
            <a:fillRect/>
          </a:stretch>
        </p:blipFill>
        <p:spPr>
          <a:xfrm>
            <a:off x="4297680" y="1645920"/>
            <a:ext cx="1600200" cy="1078992"/>
          </a:xfrm>
          <a:prstGeom prst="rect">
            <a:avLst/>
          </a:prstGeom>
        </p:spPr>
      </p:pic>
      <p:sp>
        <p:nvSpPr>
          <p:cNvPr id="39" name="Text 32"/>
          <p:cNvSpPr txBox="1"/>
          <p:nvPr/>
        </p:nvSpPr>
        <p:spPr>
          <a:xfrm>
            <a:off x="4297680" y="2761488"/>
            <a:ext cx="1655064" cy="237744"/>
          </a:xfrm>
          <a:prstGeom prst="rect">
            <a:avLst/>
          </a:prstGeom>
          <a:noFill/>
          <a:ln/>
        </p:spPr>
        <p:txBody>
          <a:bodyPr wrap="square" lIns="0" tIns="0" rIns="0" bIns="0" rtlCol="0" anchor="t"/>
          <a:lstStyle/>
          <a:p>
            <a:pPr indent="0" marL="0">
              <a:buNone/>
            </a:pPr>
            <a:r>
              <a:rPr lang="en-US" sz="1100" b="1" dirty="0">
                <a:solidFill>
                  <a:srgbClr val="2B2B2B"/>
                </a:solidFill>
                <a:latin typeface="Calibri" pitchFamily="34" charset="0"/>
                <a:ea typeface="Calibri" pitchFamily="34" charset="-122"/>
                <a:cs typeface="Calibri" pitchFamily="34" charset="-120"/>
              </a:rPr>
              <a:t>GC10-DET</a:t>
            </a:r>
            <a:endParaRPr lang="en-US" sz="1100" dirty="0"/>
          </a:p>
        </p:txBody>
      </p:sp>
      <p:sp>
        <p:nvSpPr>
          <p:cNvPr id="40" name="Text 33"/>
          <p:cNvSpPr txBox="1"/>
          <p:nvPr/>
        </p:nvSpPr>
        <p:spPr>
          <a:xfrm>
            <a:off x="4297680" y="2999232"/>
            <a:ext cx="1673352" cy="219456"/>
          </a:xfrm>
          <a:prstGeom prst="rect">
            <a:avLst/>
          </a:prstGeom>
          <a:noFill/>
          <a:ln/>
        </p:spPr>
        <p:txBody>
          <a:bodyPr wrap="square" lIns="0" tIns="0" rIns="0" bIns="0" rtlCol="0" anchor="t"/>
          <a:lstStyle/>
          <a:p>
            <a:pPr indent="0" marL="0">
              <a:buNone/>
            </a:pPr>
            <a:r>
              <a:rPr lang="en-US" sz="900" b="1" dirty="0">
                <a:solidFill>
                  <a:srgbClr val="D2651F"/>
                </a:solidFill>
                <a:latin typeface="Calibri" pitchFamily="34" charset="0"/>
                <a:ea typeface="Calibri" pitchFamily="34" charset="-122"/>
                <a:cs typeface="Calibri" pitchFamily="34" charset="-120"/>
              </a:rPr>
              <a:t>2,294 frames, 10 types</a:t>
            </a:r>
            <a:endParaRPr lang="en-US" sz="900" dirty="0"/>
          </a:p>
        </p:txBody>
      </p:sp>
      <p:sp>
        <p:nvSpPr>
          <p:cNvPr id="41" name="Text 34"/>
          <p:cNvSpPr txBox="1"/>
          <p:nvPr/>
        </p:nvSpPr>
        <p:spPr>
          <a:xfrm>
            <a:off x="4297680" y="3227832"/>
            <a:ext cx="1673352" cy="603504"/>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Full-width line-scan camera frames (roll marks shown)</a:t>
            </a:r>
            <a:endParaRPr lang="en-US" sz="900" dirty="0"/>
          </a:p>
        </p:txBody>
      </p:sp>
      <p:sp>
        <p:nvSpPr>
          <p:cNvPr id="42" name="Shape 35"/>
          <p:cNvSpPr/>
          <p:nvPr/>
        </p:nvSpPr>
        <p:spPr>
          <a:xfrm>
            <a:off x="6190488" y="1234440"/>
            <a:ext cx="5541264" cy="274320"/>
          </a:xfrm>
          <a:prstGeom prst="rect">
            <a:avLst/>
          </a:prstGeom>
          <a:solidFill>
            <a:srgbClr val="E4803A"/>
          </a:solidFill>
          <a:ln w="12700">
            <a:solidFill>
              <a:srgbClr val="E4803A"/>
            </a:solidFill>
            <a:prstDash val="solid"/>
          </a:ln>
        </p:spPr>
      </p:sp>
      <p:sp>
        <p:nvSpPr>
          <p:cNvPr id="43" name="Text 36"/>
          <p:cNvSpPr txBox="1"/>
          <p:nvPr/>
        </p:nvSpPr>
        <p:spPr>
          <a:xfrm>
            <a:off x="6281928"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well it finds each defect type (accuracy, held-out images)</a:t>
            </a:r>
            <a:endParaRPr lang="en-US" sz="1100" dirty="0"/>
          </a:p>
        </p:txBody>
      </p:sp>
      <p:sp>
        <p:nvSpPr>
          <p:cNvPr id="44" name="Shape 37"/>
          <p:cNvSpPr/>
          <p:nvPr/>
        </p:nvSpPr>
        <p:spPr>
          <a:xfrm>
            <a:off x="10085832" y="1591056"/>
            <a:ext cx="356616" cy="2011680"/>
          </a:xfrm>
          <a:prstGeom prst="rect">
            <a:avLst/>
          </a:prstGeom>
          <a:solidFill>
            <a:srgbClr val="FDEFE4"/>
          </a:solidFill>
          <a:ln w="12700">
            <a:solidFill>
              <a:srgbClr val="FDEFE4"/>
            </a:solidFill>
            <a:prstDash val="solid"/>
          </a:ln>
        </p:spPr>
      </p:sp>
      <p:sp>
        <p:nvSpPr>
          <p:cNvPr id="45" name="Text 38"/>
          <p:cNvSpPr txBox="1"/>
          <p:nvPr/>
        </p:nvSpPr>
        <p:spPr>
          <a:xfrm>
            <a:off x="9811512" y="3584448"/>
            <a:ext cx="905256" cy="164592"/>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published range</a:t>
            </a:r>
            <a:endParaRPr lang="en-US" sz="900" dirty="0"/>
          </a:p>
        </p:txBody>
      </p:sp>
      <p:sp>
        <p:nvSpPr>
          <p:cNvPr id="46" name="Text 39"/>
          <p:cNvSpPr txBox="1"/>
          <p:nvPr/>
        </p:nvSpPr>
        <p:spPr>
          <a:xfrm>
            <a:off x="6281928" y="1645920"/>
            <a:ext cx="1280160" cy="256032"/>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Patches</a:t>
            </a:r>
            <a:endParaRPr lang="en-US" sz="1000" dirty="0"/>
          </a:p>
        </p:txBody>
      </p:sp>
      <p:sp>
        <p:nvSpPr>
          <p:cNvPr id="47" name="Shape 40"/>
          <p:cNvSpPr/>
          <p:nvPr/>
        </p:nvSpPr>
        <p:spPr>
          <a:xfrm>
            <a:off x="7589520" y="1691640"/>
            <a:ext cx="3359323" cy="173736"/>
          </a:xfrm>
          <a:prstGeom prst="rect">
            <a:avLst/>
          </a:prstGeom>
          <a:solidFill>
            <a:srgbClr val="D2651F"/>
          </a:solidFill>
          <a:ln w="12700">
            <a:solidFill>
              <a:srgbClr val="D2651F"/>
            </a:solidFill>
            <a:prstDash val="solid"/>
          </a:ln>
        </p:spPr>
      </p:sp>
      <p:sp>
        <p:nvSpPr>
          <p:cNvPr id="48" name="Text 41"/>
          <p:cNvSpPr txBox="1"/>
          <p:nvPr/>
        </p:nvSpPr>
        <p:spPr>
          <a:xfrm>
            <a:off x="11003707" y="1645920"/>
            <a:ext cx="457200" cy="256032"/>
          </a:xfrm>
          <a:prstGeom prst="rect">
            <a:avLst/>
          </a:prstGeom>
          <a:noFill/>
          <a:ln/>
        </p:spPr>
        <p:txBody>
          <a:bodyPr wrap="square" lIns="0" tIns="0" rIns="0" bIns="0" rtlCol="0" anchor="ctr"/>
          <a:lstStyle/>
          <a:p>
            <a:pPr indent="0" marL="0">
              <a:buNone/>
            </a:pPr>
            <a:r>
              <a:rPr lang="en-US" sz="1000" b="1" dirty="0">
                <a:solidFill>
                  <a:srgbClr val="1A1A1A"/>
                </a:solidFill>
                <a:latin typeface="Calibri" pitchFamily="34" charset="0"/>
                <a:ea typeface="Calibri" pitchFamily="34" charset="-122"/>
                <a:cs typeface="Calibri" pitchFamily="34" charset="-120"/>
              </a:rPr>
              <a:t>0.94</a:t>
            </a:r>
            <a:endParaRPr lang="en-US" sz="1000" dirty="0"/>
          </a:p>
        </p:txBody>
      </p:sp>
      <p:sp>
        <p:nvSpPr>
          <p:cNvPr id="49" name="Text 42"/>
          <p:cNvSpPr txBox="1"/>
          <p:nvPr/>
        </p:nvSpPr>
        <p:spPr>
          <a:xfrm>
            <a:off x="6281928" y="1965960"/>
            <a:ext cx="1280160" cy="256032"/>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Inclusion</a:t>
            </a:r>
            <a:endParaRPr lang="en-US" sz="1000" dirty="0"/>
          </a:p>
        </p:txBody>
      </p:sp>
      <p:sp>
        <p:nvSpPr>
          <p:cNvPr id="50" name="Shape 43"/>
          <p:cNvSpPr/>
          <p:nvPr/>
        </p:nvSpPr>
        <p:spPr>
          <a:xfrm>
            <a:off x="7589520" y="2011680"/>
            <a:ext cx="2835097" cy="173736"/>
          </a:xfrm>
          <a:prstGeom prst="rect">
            <a:avLst/>
          </a:prstGeom>
          <a:solidFill>
            <a:srgbClr val="D2651F"/>
          </a:solidFill>
          <a:ln w="12700">
            <a:solidFill>
              <a:srgbClr val="D2651F"/>
            </a:solidFill>
            <a:prstDash val="solid"/>
          </a:ln>
        </p:spPr>
      </p:sp>
      <p:sp>
        <p:nvSpPr>
          <p:cNvPr id="51" name="Text 44"/>
          <p:cNvSpPr txBox="1"/>
          <p:nvPr/>
        </p:nvSpPr>
        <p:spPr>
          <a:xfrm>
            <a:off x="10479481" y="1965960"/>
            <a:ext cx="457200" cy="256032"/>
          </a:xfrm>
          <a:prstGeom prst="rect">
            <a:avLst/>
          </a:prstGeom>
          <a:noFill/>
          <a:ln/>
        </p:spPr>
        <p:txBody>
          <a:bodyPr wrap="square" lIns="0" tIns="0" rIns="0" bIns="0" rtlCol="0" anchor="ctr"/>
          <a:lstStyle/>
          <a:p>
            <a:pPr indent="0" marL="0">
              <a:buNone/>
            </a:pPr>
            <a:r>
              <a:rPr lang="en-US" sz="1000" b="1" dirty="0">
                <a:solidFill>
                  <a:srgbClr val="1A1A1A"/>
                </a:solidFill>
                <a:latin typeface="Calibri" pitchFamily="34" charset="0"/>
                <a:ea typeface="Calibri" pitchFamily="34" charset="-122"/>
                <a:cs typeface="Calibri" pitchFamily="34" charset="-120"/>
              </a:rPr>
              <a:t>0.80</a:t>
            </a:r>
            <a:endParaRPr lang="en-US" sz="1000" dirty="0"/>
          </a:p>
        </p:txBody>
      </p:sp>
      <p:sp>
        <p:nvSpPr>
          <p:cNvPr id="52" name="Text 45"/>
          <p:cNvSpPr txBox="1"/>
          <p:nvPr/>
        </p:nvSpPr>
        <p:spPr>
          <a:xfrm>
            <a:off x="6281928" y="2286000"/>
            <a:ext cx="1280160" cy="256032"/>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Scratches</a:t>
            </a:r>
            <a:endParaRPr lang="en-US" sz="1000" dirty="0"/>
          </a:p>
        </p:txBody>
      </p:sp>
      <p:sp>
        <p:nvSpPr>
          <p:cNvPr id="53" name="Shape 46"/>
          <p:cNvSpPr/>
          <p:nvPr/>
        </p:nvSpPr>
        <p:spPr>
          <a:xfrm>
            <a:off x="7589520" y="2331720"/>
            <a:ext cx="2831531" cy="173736"/>
          </a:xfrm>
          <a:prstGeom prst="rect">
            <a:avLst/>
          </a:prstGeom>
          <a:solidFill>
            <a:srgbClr val="D2651F"/>
          </a:solidFill>
          <a:ln w="12700">
            <a:solidFill>
              <a:srgbClr val="D2651F"/>
            </a:solidFill>
            <a:prstDash val="solid"/>
          </a:ln>
        </p:spPr>
      </p:sp>
      <p:sp>
        <p:nvSpPr>
          <p:cNvPr id="54" name="Text 47"/>
          <p:cNvSpPr txBox="1"/>
          <p:nvPr/>
        </p:nvSpPr>
        <p:spPr>
          <a:xfrm>
            <a:off x="10475915" y="2286000"/>
            <a:ext cx="457200" cy="256032"/>
          </a:xfrm>
          <a:prstGeom prst="rect">
            <a:avLst/>
          </a:prstGeom>
          <a:noFill/>
          <a:ln/>
        </p:spPr>
        <p:txBody>
          <a:bodyPr wrap="square" lIns="0" tIns="0" rIns="0" bIns="0" rtlCol="0" anchor="ctr"/>
          <a:lstStyle/>
          <a:p>
            <a:pPr indent="0" marL="0">
              <a:buNone/>
            </a:pPr>
            <a:r>
              <a:rPr lang="en-US" sz="1000" b="1" dirty="0">
                <a:solidFill>
                  <a:srgbClr val="1A1A1A"/>
                </a:solidFill>
                <a:latin typeface="Calibri" pitchFamily="34" charset="0"/>
                <a:ea typeface="Calibri" pitchFamily="34" charset="-122"/>
                <a:cs typeface="Calibri" pitchFamily="34" charset="-120"/>
              </a:rPr>
              <a:t>0.79</a:t>
            </a:r>
            <a:endParaRPr lang="en-US" sz="1000" dirty="0"/>
          </a:p>
        </p:txBody>
      </p:sp>
      <p:sp>
        <p:nvSpPr>
          <p:cNvPr id="55" name="Text 48"/>
          <p:cNvSpPr txBox="1"/>
          <p:nvPr/>
        </p:nvSpPr>
        <p:spPr>
          <a:xfrm>
            <a:off x="6281928" y="2606040"/>
            <a:ext cx="1280160" cy="256032"/>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Pitted surface</a:t>
            </a:r>
            <a:endParaRPr lang="en-US" sz="1000" dirty="0"/>
          </a:p>
        </p:txBody>
      </p:sp>
      <p:sp>
        <p:nvSpPr>
          <p:cNvPr id="56" name="Shape 49"/>
          <p:cNvSpPr/>
          <p:nvPr/>
        </p:nvSpPr>
        <p:spPr>
          <a:xfrm>
            <a:off x="7589520" y="2651760"/>
            <a:ext cx="2720980" cy="173736"/>
          </a:xfrm>
          <a:prstGeom prst="rect">
            <a:avLst/>
          </a:prstGeom>
          <a:solidFill>
            <a:srgbClr val="D2651F"/>
          </a:solidFill>
          <a:ln w="12700">
            <a:solidFill>
              <a:srgbClr val="D2651F"/>
            </a:solidFill>
            <a:prstDash val="solid"/>
          </a:ln>
        </p:spPr>
      </p:sp>
      <p:sp>
        <p:nvSpPr>
          <p:cNvPr id="57" name="Text 50"/>
          <p:cNvSpPr txBox="1"/>
          <p:nvPr/>
        </p:nvSpPr>
        <p:spPr>
          <a:xfrm>
            <a:off x="10365364" y="2606040"/>
            <a:ext cx="457200" cy="256032"/>
          </a:xfrm>
          <a:prstGeom prst="rect">
            <a:avLst/>
          </a:prstGeom>
          <a:noFill/>
          <a:ln/>
        </p:spPr>
        <p:txBody>
          <a:bodyPr wrap="square" lIns="0" tIns="0" rIns="0" bIns="0" rtlCol="0" anchor="ctr"/>
          <a:lstStyle/>
          <a:p>
            <a:pPr indent="0" marL="0">
              <a:buNone/>
            </a:pPr>
            <a:r>
              <a:rPr lang="en-US" sz="1000" b="1" dirty="0">
                <a:solidFill>
                  <a:srgbClr val="1A1A1A"/>
                </a:solidFill>
                <a:latin typeface="Calibri" pitchFamily="34" charset="0"/>
                <a:ea typeface="Calibri" pitchFamily="34" charset="-122"/>
                <a:cs typeface="Calibri" pitchFamily="34" charset="-120"/>
              </a:rPr>
              <a:t>0.76</a:t>
            </a:r>
            <a:endParaRPr lang="en-US" sz="1000" dirty="0"/>
          </a:p>
        </p:txBody>
      </p:sp>
      <p:sp>
        <p:nvSpPr>
          <p:cNvPr id="58" name="Text 51"/>
          <p:cNvSpPr txBox="1"/>
          <p:nvPr/>
        </p:nvSpPr>
        <p:spPr>
          <a:xfrm>
            <a:off x="6281928" y="2926080"/>
            <a:ext cx="1280160" cy="256032"/>
          </a:xfrm>
          <a:prstGeom prst="rect">
            <a:avLst/>
          </a:prstGeom>
          <a:noFill/>
          <a:ln/>
        </p:spPr>
        <p:txBody>
          <a:bodyPr wrap="square" lIns="0" tIns="0" rIns="0" bIns="0" rtlCol="0" anchor="ctr"/>
          <a:lstStyle/>
          <a:p>
            <a:pPr indent="0" marL="0">
              <a:buNone/>
            </a:pPr>
            <a:r>
              <a:rPr lang="en-US" sz="1000" b="1" dirty="0">
                <a:solidFill>
                  <a:srgbClr val="1A1A1A"/>
                </a:solidFill>
                <a:latin typeface="Calibri" pitchFamily="34" charset="0"/>
                <a:ea typeface="Calibri" pitchFamily="34" charset="-122"/>
                <a:cs typeface="Calibri" pitchFamily="34" charset="-120"/>
              </a:rPr>
              <a:t>Rolled-in scale</a:t>
            </a:r>
            <a:endParaRPr lang="en-US" sz="1000" dirty="0"/>
          </a:p>
        </p:txBody>
      </p:sp>
      <p:sp>
        <p:nvSpPr>
          <p:cNvPr id="59" name="Shape 52"/>
          <p:cNvSpPr/>
          <p:nvPr/>
        </p:nvSpPr>
        <p:spPr>
          <a:xfrm>
            <a:off x="7589520" y="2971800"/>
            <a:ext cx="2128998" cy="173736"/>
          </a:xfrm>
          <a:prstGeom prst="rect">
            <a:avLst/>
          </a:prstGeom>
          <a:solidFill>
            <a:srgbClr val="9E9E9E"/>
          </a:solidFill>
          <a:ln w="12700">
            <a:solidFill>
              <a:srgbClr val="9E9E9E"/>
            </a:solidFill>
            <a:prstDash val="solid"/>
          </a:ln>
        </p:spPr>
      </p:sp>
      <p:sp>
        <p:nvSpPr>
          <p:cNvPr id="60" name="Text 53"/>
          <p:cNvSpPr txBox="1"/>
          <p:nvPr/>
        </p:nvSpPr>
        <p:spPr>
          <a:xfrm>
            <a:off x="9773382" y="2926080"/>
            <a:ext cx="457200" cy="256032"/>
          </a:xfrm>
          <a:prstGeom prst="rect">
            <a:avLst/>
          </a:prstGeom>
          <a:noFill/>
          <a:ln/>
        </p:spPr>
        <p:txBody>
          <a:bodyPr wrap="square" lIns="0" tIns="0" rIns="0" bIns="0" rtlCol="0" anchor="ctr"/>
          <a:lstStyle/>
          <a:p>
            <a:pPr indent="0" marL="0">
              <a:buNone/>
            </a:pPr>
            <a:r>
              <a:rPr lang="en-US" sz="1000" b="1" dirty="0">
                <a:solidFill>
                  <a:srgbClr val="404040"/>
                </a:solidFill>
                <a:latin typeface="Calibri" pitchFamily="34" charset="0"/>
                <a:ea typeface="Calibri" pitchFamily="34" charset="-122"/>
                <a:cs typeface="Calibri" pitchFamily="34" charset="-120"/>
              </a:rPr>
              <a:t>0.60</a:t>
            </a:r>
            <a:endParaRPr lang="en-US" sz="1000" dirty="0"/>
          </a:p>
        </p:txBody>
      </p:sp>
      <p:sp>
        <p:nvSpPr>
          <p:cNvPr id="61" name="Text 54"/>
          <p:cNvSpPr txBox="1"/>
          <p:nvPr/>
        </p:nvSpPr>
        <p:spPr>
          <a:xfrm>
            <a:off x="6281928" y="3246120"/>
            <a:ext cx="1280160" cy="256032"/>
          </a:xfrm>
          <a:prstGeom prst="rect">
            <a:avLst/>
          </a:prstGeom>
          <a:noFill/>
          <a:ln/>
        </p:spPr>
        <p:txBody>
          <a:bodyPr wrap="square" lIns="0" tIns="0" rIns="0" bIns="0" rtlCol="0" anchor="ctr"/>
          <a:lstStyle/>
          <a:p>
            <a:pPr indent="0" marL="0">
              <a:buNone/>
            </a:pPr>
            <a:r>
              <a:rPr lang="en-US" sz="1000" b="1" dirty="0">
                <a:solidFill>
                  <a:srgbClr val="1A1A1A"/>
                </a:solidFill>
                <a:latin typeface="Calibri" pitchFamily="34" charset="0"/>
                <a:ea typeface="Calibri" pitchFamily="34" charset="-122"/>
                <a:cs typeface="Calibri" pitchFamily="34" charset="-120"/>
              </a:rPr>
              <a:t>Crazing</a:t>
            </a:r>
            <a:endParaRPr lang="en-US" sz="1000" dirty="0"/>
          </a:p>
        </p:txBody>
      </p:sp>
      <p:sp>
        <p:nvSpPr>
          <p:cNvPr id="62" name="Shape 55"/>
          <p:cNvSpPr/>
          <p:nvPr/>
        </p:nvSpPr>
        <p:spPr>
          <a:xfrm>
            <a:off x="7589520" y="3291840"/>
            <a:ext cx="2071939" cy="173736"/>
          </a:xfrm>
          <a:prstGeom prst="rect">
            <a:avLst/>
          </a:prstGeom>
          <a:solidFill>
            <a:srgbClr val="9E9E9E"/>
          </a:solidFill>
          <a:ln w="12700">
            <a:solidFill>
              <a:srgbClr val="9E9E9E"/>
            </a:solidFill>
            <a:prstDash val="solid"/>
          </a:ln>
        </p:spPr>
      </p:sp>
      <p:sp>
        <p:nvSpPr>
          <p:cNvPr id="63" name="Text 56"/>
          <p:cNvSpPr txBox="1"/>
          <p:nvPr/>
        </p:nvSpPr>
        <p:spPr>
          <a:xfrm>
            <a:off x="9716323" y="3246120"/>
            <a:ext cx="457200" cy="256032"/>
          </a:xfrm>
          <a:prstGeom prst="rect">
            <a:avLst/>
          </a:prstGeom>
          <a:noFill/>
          <a:ln/>
        </p:spPr>
        <p:txBody>
          <a:bodyPr wrap="square" lIns="0" tIns="0" rIns="0" bIns="0" rtlCol="0" anchor="ctr"/>
          <a:lstStyle/>
          <a:p>
            <a:pPr indent="0" marL="0">
              <a:buNone/>
            </a:pPr>
            <a:r>
              <a:rPr lang="en-US" sz="1000" b="1" dirty="0">
                <a:solidFill>
                  <a:srgbClr val="404040"/>
                </a:solidFill>
                <a:latin typeface="Calibri" pitchFamily="34" charset="0"/>
                <a:ea typeface="Calibri" pitchFamily="34" charset="-122"/>
                <a:cs typeface="Calibri" pitchFamily="34" charset="-120"/>
              </a:rPr>
              <a:t>0.58</a:t>
            </a:r>
            <a:endParaRPr lang="en-US" sz="1000" dirty="0"/>
          </a:p>
        </p:txBody>
      </p:sp>
      <p:sp>
        <p:nvSpPr>
          <p:cNvPr id="64" name="Shape 57"/>
          <p:cNvSpPr/>
          <p:nvPr/>
        </p:nvSpPr>
        <p:spPr>
          <a:xfrm>
            <a:off x="457200" y="3886200"/>
            <a:ext cx="5541264" cy="274320"/>
          </a:xfrm>
          <a:prstGeom prst="rect">
            <a:avLst/>
          </a:prstGeom>
          <a:solidFill>
            <a:srgbClr val="E4803A"/>
          </a:solidFill>
          <a:ln w="12700">
            <a:solidFill>
              <a:srgbClr val="E4803A"/>
            </a:solidFill>
            <a:prstDash val="solid"/>
          </a:ln>
        </p:spPr>
      </p:sp>
      <p:sp>
        <p:nvSpPr>
          <p:cNvPr id="65" name="Text 58"/>
          <p:cNvSpPr txBox="1"/>
          <p:nvPr/>
        </p:nvSpPr>
        <p:spPr>
          <a:xfrm>
            <a:off x="548640" y="388620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Headline results</a:t>
            </a:r>
            <a:endParaRPr lang="en-US" sz="1100" dirty="0"/>
          </a:p>
        </p:txBody>
      </p:sp>
      <p:sp>
        <p:nvSpPr>
          <p:cNvPr id="66" name="Shape 59"/>
          <p:cNvSpPr/>
          <p:nvPr/>
        </p:nvSpPr>
        <p:spPr>
          <a:xfrm>
            <a:off x="457200" y="4224528"/>
            <a:ext cx="1783080" cy="1645920"/>
          </a:xfrm>
          <a:prstGeom prst="roundRect">
            <a:avLst>
              <a:gd name="adj" fmla="val 3333"/>
            </a:avLst>
          </a:prstGeom>
          <a:solidFill>
            <a:srgbClr val="F3F3F3"/>
          </a:solidFill>
          <a:ln w="12700">
            <a:solidFill>
              <a:srgbClr val="F3F3F3"/>
            </a:solidFill>
            <a:prstDash val="solid"/>
          </a:ln>
        </p:spPr>
      </p:sp>
      <p:sp>
        <p:nvSpPr>
          <p:cNvPr id="67" name="Shape 60"/>
          <p:cNvSpPr/>
          <p:nvPr/>
        </p:nvSpPr>
        <p:spPr>
          <a:xfrm>
            <a:off x="566928" y="4315968"/>
            <a:ext cx="402336" cy="402336"/>
          </a:xfrm>
          <a:prstGeom prst="ellipse">
            <a:avLst/>
          </a:prstGeom>
          <a:solidFill>
            <a:srgbClr val="2B2B2B"/>
          </a:solidFill>
          <a:ln w="12700">
            <a:solidFill>
              <a:srgbClr val="2B2B2B"/>
            </a:solidFill>
            <a:prstDash val="solid"/>
          </a:ln>
        </p:spPr>
      </p:sp>
      <p:pic>
        <p:nvPicPr>
          <p:cNvPr id="68" name="Image 5" descr="img/icons/target-white.png">    </p:cNvPr>
          <p:cNvPicPr>
            <a:picLocks noChangeAspect="1"/>
          </p:cNvPicPr>
          <p:nvPr/>
        </p:nvPicPr>
        <p:blipFill>
          <a:blip r:embed="rId6"/>
          <a:stretch>
            <a:fillRect/>
          </a:stretch>
        </p:blipFill>
        <p:spPr>
          <a:xfrm>
            <a:off x="655442" y="4404482"/>
            <a:ext cx="225308" cy="225308"/>
          </a:xfrm>
          <a:prstGeom prst="rect">
            <a:avLst/>
          </a:prstGeom>
        </p:spPr>
      </p:pic>
      <p:sp>
        <p:nvSpPr>
          <p:cNvPr id="69" name="Text 61"/>
          <p:cNvSpPr txBox="1"/>
          <p:nvPr/>
        </p:nvSpPr>
        <p:spPr>
          <a:xfrm>
            <a:off x="566928" y="4773168"/>
            <a:ext cx="1645920" cy="402336"/>
          </a:xfrm>
          <a:prstGeom prst="rect">
            <a:avLst/>
          </a:prstGeom>
          <a:noFill/>
          <a:ln/>
        </p:spPr>
        <p:txBody>
          <a:bodyPr wrap="square" lIns="0" tIns="0" rIns="0" bIns="0" rtlCol="0" anchor="ctr"/>
          <a:lstStyle/>
          <a:p>
            <a:pPr indent="0" marL="0">
              <a:buNone/>
            </a:pPr>
            <a:r>
              <a:rPr lang="en-US" sz="2000" b="1" dirty="0">
                <a:solidFill>
                  <a:srgbClr val="2B2B2B"/>
                </a:solidFill>
                <a:latin typeface="Calibri" pitchFamily="34" charset="0"/>
                <a:ea typeface="Calibri" pitchFamily="34" charset="-122"/>
                <a:cs typeface="Calibri" pitchFamily="34" charset="-120"/>
              </a:rPr>
              <a:t>178 of 180</a:t>
            </a:r>
            <a:endParaRPr lang="en-US" sz="2000" dirty="0"/>
          </a:p>
        </p:txBody>
      </p:sp>
      <p:sp>
        <p:nvSpPr>
          <p:cNvPr id="70" name="Text 62"/>
          <p:cNvSpPr txBox="1"/>
          <p:nvPr/>
        </p:nvSpPr>
        <p:spPr>
          <a:xfrm>
            <a:off x="566928" y="5193792"/>
            <a:ext cx="1600200" cy="603504"/>
          </a:xfrm>
          <a:prstGeom prst="rect">
            <a:avLst/>
          </a:prstGeom>
          <a:noFill/>
          <a:ln/>
        </p:spPr>
        <p:txBody>
          <a:bodyPr wrap="square" lIns="0" tIns="0" rIns="0" bIns="0" rtlCol="0" anchor="t"/>
          <a:lstStyle/>
          <a:p>
            <a:pPr indent="0" marL="0">
              <a:buNone/>
            </a:pPr>
            <a:r>
              <a:rPr lang="en-US" sz="950" dirty="0">
                <a:solidFill>
                  <a:srgbClr val="404040"/>
                </a:solidFill>
                <a:latin typeface="Calibri" pitchFamily="34" charset="0"/>
                <a:ea typeface="Calibri" pitchFamily="34" charset="-122"/>
                <a:cs typeface="Calibri" pitchFamily="34" charset="-120"/>
              </a:rPr>
              <a:t>test images: the right defect type named</a:t>
            </a:r>
            <a:endParaRPr lang="en-US" sz="950" dirty="0"/>
          </a:p>
        </p:txBody>
      </p:sp>
      <p:sp>
        <p:nvSpPr>
          <p:cNvPr id="71" name="Shape 63"/>
          <p:cNvSpPr/>
          <p:nvPr/>
        </p:nvSpPr>
        <p:spPr>
          <a:xfrm>
            <a:off x="2336292" y="4224528"/>
            <a:ext cx="1783080" cy="1645920"/>
          </a:xfrm>
          <a:prstGeom prst="roundRect">
            <a:avLst>
              <a:gd name="adj" fmla="val 3333"/>
            </a:avLst>
          </a:prstGeom>
          <a:solidFill>
            <a:srgbClr val="F3F3F3"/>
          </a:solidFill>
          <a:ln w="12700">
            <a:solidFill>
              <a:srgbClr val="F3F3F3"/>
            </a:solidFill>
            <a:prstDash val="solid"/>
          </a:ln>
        </p:spPr>
      </p:sp>
      <p:sp>
        <p:nvSpPr>
          <p:cNvPr id="72" name="Shape 64"/>
          <p:cNvSpPr/>
          <p:nvPr/>
        </p:nvSpPr>
        <p:spPr>
          <a:xfrm>
            <a:off x="2446020" y="4315968"/>
            <a:ext cx="402336" cy="402336"/>
          </a:xfrm>
          <a:prstGeom prst="ellipse">
            <a:avLst/>
          </a:prstGeom>
          <a:solidFill>
            <a:srgbClr val="2B2B2B"/>
          </a:solidFill>
          <a:ln w="12700">
            <a:solidFill>
              <a:srgbClr val="2B2B2B"/>
            </a:solidFill>
            <a:prstDash val="solid"/>
          </a:ln>
        </p:spPr>
      </p:sp>
      <p:pic>
        <p:nvPicPr>
          <p:cNvPr id="73" name="Image 6" descr="img/icons/scan-search-white.png">    </p:cNvPr>
          <p:cNvPicPr>
            <a:picLocks noChangeAspect="1"/>
          </p:cNvPicPr>
          <p:nvPr/>
        </p:nvPicPr>
        <p:blipFill>
          <a:blip r:embed="rId7"/>
          <a:stretch>
            <a:fillRect/>
          </a:stretch>
        </p:blipFill>
        <p:spPr>
          <a:xfrm>
            <a:off x="2534534" y="4404482"/>
            <a:ext cx="225308" cy="225308"/>
          </a:xfrm>
          <a:prstGeom prst="rect">
            <a:avLst/>
          </a:prstGeom>
        </p:spPr>
      </p:pic>
      <p:sp>
        <p:nvSpPr>
          <p:cNvPr id="74" name="Text 65"/>
          <p:cNvSpPr txBox="1"/>
          <p:nvPr/>
        </p:nvSpPr>
        <p:spPr>
          <a:xfrm>
            <a:off x="2446020" y="4773168"/>
            <a:ext cx="1645920" cy="402336"/>
          </a:xfrm>
          <a:prstGeom prst="rect">
            <a:avLst/>
          </a:prstGeom>
          <a:noFill/>
          <a:ln/>
        </p:spPr>
        <p:txBody>
          <a:bodyPr wrap="square" lIns="0" tIns="0" rIns="0" bIns="0" rtlCol="0" anchor="ctr"/>
          <a:lstStyle/>
          <a:p>
            <a:pPr indent="0" marL="0">
              <a:buNone/>
            </a:pPr>
            <a:r>
              <a:rPr lang="en-US" sz="2000" b="1" dirty="0">
                <a:solidFill>
                  <a:srgbClr val="2B2B2B"/>
                </a:solidFill>
                <a:latin typeface="Calibri" pitchFamily="34" charset="0"/>
                <a:ea typeface="Calibri" pitchFamily="34" charset="-122"/>
                <a:cs typeface="Calibri" pitchFamily="34" charset="-120"/>
              </a:rPr>
              <a:t>Live</a:t>
            </a:r>
            <a:endParaRPr lang="en-US" sz="2000" dirty="0"/>
          </a:p>
        </p:txBody>
      </p:sp>
      <p:sp>
        <p:nvSpPr>
          <p:cNvPr id="75" name="Text 66"/>
          <p:cNvSpPr txBox="1"/>
          <p:nvPr/>
        </p:nvSpPr>
        <p:spPr>
          <a:xfrm>
            <a:off x="2446020" y="5193792"/>
            <a:ext cx="1600200" cy="603504"/>
          </a:xfrm>
          <a:prstGeom prst="rect">
            <a:avLst/>
          </a:prstGeom>
          <a:noFill/>
          <a:ln/>
        </p:spPr>
        <p:txBody>
          <a:bodyPr wrap="square" lIns="0" tIns="0" rIns="0" bIns="0" rtlCol="0" anchor="t"/>
          <a:lstStyle/>
          <a:p>
            <a:pPr indent="0" marL="0">
              <a:buNone/>
            </a:pPr>
            <a:r>
              <a:rPr lang="en-US" sz="950" dirty="0">
                <a:solidFill>
                  <a:srgbClr val="404040"/>
                </a:solidFill>
                <a:latin typeface="Calibri" pitchFamily="34" charset="0"/>
                <a:ea typeface="Calibri" pitchFamily="34" charset="-122"/>
                <a:cs typeface="Calibri" pitchFamily="34" charset="-120"/>
              </a:rPr>
              <a:t>anyone can test it now at surface-vision.github.io</a:t>
            </a:r>
            <a:endParaRPr lang="en-US" sz="950" dirty="0"/>
          </a:p>
        </p:txBody>
      </p:sp>
      <p:sp>
        <p:nvSpPr>
          <p:cNvPr id="76" name="Shape 67"/>
          <p:cNvSpPr/>
          <p:nvPr/>
        </p:nvSpPr>
        <p:spPr>
          <a:xfrm>
            <a:off x="4215384" y="4224528"/>
            <a:ext cx="1783080" cy="1645920"/>
          </a:xfrm>
          <a:prstGeom prst="roundRect">
            <a:avLst>
              <a:gd name="adj" fmla="val 3333"/>
            </a:avLst>
          </a:prstGeom>
          <a:solidFill>
            <a:srgbClr val="F3F3F3"/>
          </a:solidFill>
          <a:ln w="12700">
            <a:solidFill>
              <a:srgbClr val="F3F3F3"/>
            </a:solidFill>
            <a:prstDash val="solid"/>
          </a:ln>
        </p:spPr>
      </p:sp>
      <p:sp>
        <p:nvSpPr>
          <p:cNvPr id="77" name="Shape 68"/>
          <p:cNvSpPr/>
          <p:nvPr/>
        </p:nvSpPr>
        <p:spPr>
          <a:xfrm>
            <a:off x="4325112" y="4315968"/>
            <a:ext cx="402336" cy="402336"/>
          </a:xfrm>
          <a:prstGeom prst="ellipse">
            <a:avLst/>
          </a:prstGeom>
          <a:solidFill>
            <a:srgbClr val="2B2B2B"/>
          </a:solidFill>
          <a:ln w="12700">
            <a:solidFill>
              <a:srgbClr val="2B2B2B"/>
            </a:solidFill>
            <a:prstDash val="solid"/>
          </a:ln>
        </p:spPr>
      </p:sp>
      <p:pic>
        <p:nvPicPr>
          <p:cNvPr id="78" name="Image 7" descr="img/icons/archive-white.png">    </p:cNvPr>
          <p:cNvPicPr>
            <a:picLocks noChangeAspect="1"/>
          </p:cNvPicPr>
          <p:nvPr/>
        </p:nvPicPr>
        <p:blipFill>
          <a:blip r:embed="rId8"/>
          <a:stretch>
            <a:fillRect/>
          </a:stretch>
        </p:blipFill>
        <p:spPr>
          <a:xfrm>
            <a:off x="4413626" y="4404482"/>
            <a:ext cx="225308" cy="225308"/>
          </a:xfrm>
          <a:prstGeom prst="rect">
            <a:avLst/>
          </a:prstGeom>
        </p:spPr>
      </p:pic>
      <p:sp>
        <p:nvSpPr>
          <p:cNvPr id="79" name="Text 69"/>
          <p:cNvSpPr txBox="1"/>
          <p:nvPr/>
        </p:nvSpPr>
        <p:spPr>
          <a:xfrm>
            <a:off x="4325112" y="4773168"/>
            <a:ext cx="1645920" cy="402336"/>
          </a:xfrm>
          <a:prstGeom prst="rect">
            <a:avLst/>
          </a:prstGeom>
          <a:noFill/>
          <a:ln/>
        </p:spPr>
        <p:txBody>
          <a:bodyPr wrap="square" lIns="0" tIns="0" rIns="0" bIns="0" rtlCol="0" anchor="ctr"/>
          <a:lstStyle/>
          <a:p>
            <a:pPr indent="0" marL="0">
              <a:buNone/>
            </a:pPr>
            <a:r>
              <a:rPr lang="en-US" sz="2000" b="1" dirty="0">
                <a:solidFill>
                  <a:srgbClr val="2B2B2B"/>
                </a:solidFill>
                <a:latin typeface="Calibri" pitchFamily="34" charset="0"/>
                <a:ea typeface="Calibri" pitchFamily="34" charset="-122"/>
                <a:cs typeface="Calibri" pitchFamily="34" charset="-120"/>
              </a:rPr>
              <a:t>~10,100</a:t>
            </a:r>
            <a:endParaRPr lang="en-US" sz="2000" dirty="0"/>
          </a:p>
        </p:txBody>
      </p:sp>
      <p:sp>
        <p:nvSpPr>
          <p:cNvPr id="80" name="Shape 70"/>
          <p:cNvSpPr/>
          <p:nvPr/>
        </p:nvSpPr>
        <p:spPr>
          <a:xfrm>
            <a:off x="4325112" y="5212080"/>
            <a:ext cx="277173" cy="164592"/>
          </a:xfrm>
          <a:prstGeom prst="rect">
            <a:avLst/>
          </a:prstGeom>
          <a:solidFill>
            <a:srgbClr val="C4561A"/>
          </a:solidFill>
          <a:ln w="12700">
            <a:solidFill>
              <a:srgbClr val="C4561A"/>
            </a:solidFill>
            <a:prstDash val="solid"/>
          </a:ln>
        </p:spPr>
      </p:sp>
      <p:sp>
        <p:nvSpPr>
          <p:cNvPr id="81" name="Shape 71"/>
          <p:cNvSpPr/>
          <p:nvPr/>
        </p:nvSpPr>
        <p:spPr>
          <a:xfrm>
            <a:off x="4602285" y="5212080"/>
            <a:ext cx="924065" cy="164592"/>
          </a:xfrm>
          <a:prstGeom prst="rect">
            <a:avLst/>
          </a:prstGeom>
          <a:solidFill>
            <a:srgbClr val="D2651F"/>
          </a:solidFill>
          <a:ln w="12700">
            <a:solidFill>
              <a:srgbClr val="D2651F"/>
            </a:solidFill>
            <a:prstDash val="solid"/>
          </a:ln>
        </p:spPr>
      </p:sp>
      <p:sp>
        <p:nvSpPr>
          <p:cNvPr id="82" name="Shape 72"/>
          <p:cNvSpPr/>
          <p:nvPr/>
        </p:nvSpPr>
        <p:spPr>
          <a:xfrm>
            <a:off x="5526350" y="5212080"/>
            <a:ext cx="353242" cy="164592"/>
          </a:xfrm>
          <a:prstGeom prst="rect">
            <a:avLst/>
          </a:prstGeom>
          <a:solidFill>
            <a:srgbClr val="F5BE92"/>
          </a:solidFill>
          <a:ln w="12700">
            <a:solidFill>
              <a:srgbClr val="F5BE92"/>
            </a:solidFill>
            <a:prstDash val="solid"/>
          </a:ln>
        </p:spPr>
      </p:sp>
      <p:sp>
        <p:nvSpPr>
          <p:cNvPr id="83" name="Shape 73"/>
          <p:cNvSpPr/>
          <p:nvPr/>
        </p:nvSpPr>
        <p:spPr>
          <a:xfrm>
            <a:off x="4325112" y="5454396"/>
            <a:ext cx="91440" cy="91440"/>
          </a:xfrm>
          <a:prstGeom prst="rect">
            <a:avLst/>
          </a:prstGeom>
          <a:solidFill>
            <a:srgbClr val="C4561A"/>
          </a:solidFill>
          <a:ln w="12700">
            <a:solidFill>
              <a:srgbClr val="C4561A"/>
            </a:solidFill>
            <a:prstDash val="solid"/>
          </a:ln>
        </p:spPr>
      </p:sp>
      <p:sp>
        <p:nvSpPr>
          <p:cNvPr id="84" name="Text 74"/>
          <p:cNvSpPr txBox="1"/>
          <p:nvPr/>
        </p:nvSpPr>
        <p:spPr>
          <a:xfrm>
            <a:off x="4471416" y="5422392"/>
            <a:ext cx="1463040" cy="146304"/>
          </a:xfrm>
          <a:prstGeom prst="rect">
            <a:avLst/>
          </a:prstGeom>
          <a:noFill/>
          <a:ln/>
        </p:spPr>
        <p:txBody>
          <a:bodyPr wrap="square" lIns="0" tIns="0" rIns="0" bIns="0" rtlCol="0" anchor="ctr"/>
          <a:lstStyle/>
          <a:p>
            <a:pPr indent="0" marL="0">
              <a:buNone/>
            </a:pPr>
            <a:r>
              <a:rPr lang="en-US" sz="900" dirty="0">
                <a:solidFill>
                  <a:srgbClr val="404040"/>
                </a:solidFill>
                <a:latin typeface="Calibri" pitchFamily="34" charset="0"/>
                <a:ea typeface="Calibri" pitchFamily="34" charset="-122"/>
                <a:cs typeface="Calibri" pitchFamily="34" charset="-120"/>
              </a:rPr>
              <a:t>Lab 1,800</a:t>
            </a:r>
            <a:endParaRPr lang="en-US" sz="900" dirty="0"/>
          </a:p>
        </p:txBody>
      </p:sp>
      <p:sp>
        <p:nvSpPr>
          <p:cNvPr id="85" name="Shape 75"/>
          <p:cNvSpPr/>
          <p:nvPr/>
        </p:nvSpPr>
        <p:spPr>
          <a:xfrm>
            <a:off x="4325112" y="5596128"/>
            <a:ext cx="91440" cy="91440"/>
          </a:xfrm>
          <a:prstGeom prst="rect">
            <a:avLst/>
          </a:prstGeom>
          <a:solidFill>
            <a:srgbClr val="D2651F"/>
          </a:solidFill>
          <a:ln w="12700">
            <a:solidFill>
              <a:srgbClr val="D2651F"/>
            </a:solidFill>
            <a:prstDash val="solid"/>
          </a:ln>
        </p:spPr>
      </p:sp>
      <p:sp>
        <p:nvSpPr>
          <p:cNvPr id="86" name="Text 76"/>
          <p:cNvSpPr txBox="1"/>
          <p:nvPr/>
        </p:nvSpPr>
        <p:spPr>
          <a:xfrm>
            <a:off x="4471416" y="5564124"/>
            <a:ext cx="1463040" cy="146304"/>
          </a:xfrm>
          <a:prstGeom prst="rect">
            <a:avLst/>
          </a:prstGeom>
          <a:noFill/>
          <a:ln/>
        </p:spPr>
        <p:txBody>
          <a:bodyPr wrap="square" lIns="0" tIns="0" rIns="0" bIns="0" rtlCol="0" anchor="ctr"/>
          <a:lstStyle/>
          <a:p>
            <a:pPr indent="0" marL="0">
              <a:buNone/>
            </a:pPr>
            <a:r>
              <a:rPr lang="en-US" sz="900" dirty="0">
                <a:solidFill>
                  <a:srgbClr val="404040"/>
                </a:solidFill>
                <a:latin typeface="Calibri" pitchFamily="34" charset="0"/>
                <a:ea typeface="Calibri" pitchFamily="34" charset="-122"/>
                <a:cs typeface="Calibri" pitchFamily="34" charset="-120"/>
              </a:rPr>
              <a:t>Mill strip 6,001</a:t>
            </a:r>
            <a:endParaRPr lang="en-US" sz="900" dirty="0"/>
          </a:p>
        </p:txBody>
      </p:sp>
      <p:sp>
        <p:nvSpPr>
          <p:cNvPr id="87" name="Shape 77"/>
          <p:cNvSpPr/>
          <p:nvPr/>
        </p:nvSpPr>
        <p:spPr>
          <a:xfrm>
            <a:off x="4325112" y="5737860"/>
            <a:ext cx="91440" cy="91440"/>
          </a:xfrm>
          <a:prstGeom prst="rect">
            <a:avLst/>
          </a:prstGeom>
          <a:solidFill>
            <a:srgbClr val="F5BE92"/>
          </a:solidFill>
          <a:ln w="12700">
            <a:solidFill>
              <a:srgbClr val="F5BE92"/>
            </a:solidFill>
            <a:prstDash val="solid"/>
          </a:ln>
        </p:spPr>
      </p:sp>
      <p:sp>
        <p:nvSpPr>
          <p:cNvPr id="88" name="Text 78"/>
          <p:cNvSpPr txBox="1"/>
          <p:nvPr/>
        </p:nvSpPr>
        <p:spPr>
          <a:xfrm>
            <a:off x="4471416" y="5705856"/>
            <a:ext cx="1463040" cy="146304"/>
          </a:xfrm>
          <a:prstGeom prst="rect">
            <a:avLst/>
          </a:prstGeom>
          <a:noFill/>
          <a:ln/>
        </p:spPr>
        <p:txBody>
          <a:bodyPr wrap="square" lIns="0" tIns="0" rIns="0" bIns="0" rtlCol="0" anchor="ctr"/>
          <a:lstStyle/>
          <a:p>
            <a:pPr indent="0" marL="0">
              <a:buNone/>
            </a:pPr>
            <a:r>
              <a:rPr lang="en-US" sz="900" dirty="0">
                <a:solidFill>
                  <a:srgbClr val="404040"/>
                </a:solidFill>
                <a:latin typeface="Calibri" pitchFamily="34" charset="0"/>
                <a:ea typeface="Calibri" pitchFamily="34" charset="-122"/>
                <a:cs typeface="Calibri" pitchFamily="34" charset="-120"/>
              </a:rPr>
              <a:t>Line-scan 2,294</a:t>
            </a:r>
            <a:endParaRPr lang="en-US" sz="900" dirty="0"/>
          </a:p>
        </p:txBody>
      </p:sp>
      <p:sp>
        <p:nvSpPr>
          <p:cNvPr id="89" name="Shape 79"/>
          <p:cNvSpPr/>
          <p:nvPr/>
        </p:nvSpPr>
        <p:spPr>
          <a:xfrm>
            <a:off x="6190488" y="3886200"/>
            <a:ext cx="5541264" cy="274320"/>
          </a:xfrm>
          <a:prstGeom prst="rect">
            <a:avLst/>
          </a:prstGeom>
          <a:solidFill>
            <a:srgbClr val="E4803A"/>
          </a:solidFill>
          <a:ln w="12700">
            <a:solidFill>
              <a:srgbClr val="E4803A"/>
            </a:solidFill>
            <a:prstDash val="solid"/>
          </a:ln>
        </p:spPr>
      </p:sp>
      <p:sp>
        <p:nvSpPr>
          <p:cNvPr id="90" name="Text 80"/>
          <p:cNvSpPr txBox="1"/>
          <p:nvPr/>
        </p:nvSpPr>
        <p:spPr>
          <a:xfrm>
            <a:off x="6281928" y="388620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Known weak spots, and the fix for each</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190488" y="4224528"/>
          <a:ext cx="5541264" cy="914400"/>
        </p:xfrm>
        <a:graphic>
          <a:graphicData uri="http://schemas.openxmlformats.org/drawingml/2006/table">
            <a:tbl>
              <a:tblPr/>
              <a:tblGrid>
                <a:gridCol w="2514600"/>
                <a:gridCol w="960120"/>
                <a:gridCol w="2066544"/>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Weak spot</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Today (0-1)</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Fix in the pilot</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r>
              <a:tr h="457200">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Low-contrast texture: crazing, rolled-in scale</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C99700"/>
                          </a:solidFill>
                          <a:latin typeface="Calibri" pitchFamily="34" charset="0"/>
                          <a:ea typeface="Calibri" pitchFamily="34" charset="-122"/>
                          <a:cs typeface="Calibri" pitchFamily="34" charset="-120"/>
                        </a:rPr>
                        <a:t>0.58-0.60</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Angled lighting; JSL labels in P1</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457200">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Real mill frames are harder than the lab benchmark</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C99700"/>
                          </a:solidFill>
                          <a:latin typeface="Calibri" pitchFamily="34" charset="0"/>
                          <a:ea typeface="Calibri" pitchFamily="34" charset="-122"/>
                          <a:cs typeface="Calibri" pitchFamily="34" charset="-120"/>
                        </a:rPr>
                        <a:t>0.57 vs 0.75</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Prove it on JSL's own strip in P1</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457200">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Roll marks and edge cracks: few examples</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0.20</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Edge cameras; targeted labelling with JSL</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E4803A"/>
          </a:solidFill>
          <a:ln w="12700">
            <a:solidFill>
              <a:srgbClr val="E4803A"/>
            </a:solidFill>
            <a:prstDash val="solid"/>
          </a:ln>
        </p:spPr>
      </p:sp>
      <p:pic>
        <p:nvPicPr>
          <p:cNvPr id="3" name="Image 0" descr="img/logo_jsl.jpg">    </p:cNvPr>
          <p:cNvPicPr>
            <a:picLocks noChangeAspect="1"/>
          </p:cNvPicPr>
          <p:nvPr/>
        </p:nvPicPr>
        <p:blipFill>
          <a:blip r:embed="rId1"/>
          <a:stretch>
            <a:fillRect/>
          </a:stretch>
        </p:blipFill>
        <p:spPr>
          <a:xfrm>
            <a:off x="91440" y="73152"/>
            <a:ext cx="2176272" cy="640080"/>
          </a:xfrm>
          <a:prstGeom prst="rect">
            <a:avLst/>
          </a:prstGeom>
        </p:spPr>
      </p:pic>
      <p:pic>
        <p:nvPicPr>
          <p:cNvPr id="4" name="Image 1" descr="img/logo_spark.png">    </p:cNvPr>
          <p:cNvPicPr>
            <a:picLocks noChangeAspect="1"/>
          </p:cNvPicPr>
          <p:nvPr/>
        </p:nvPicPr>
        <p:blipFill>
          <a:blip r:embed="rId2"/>
          <a:stretch>
            <a:fillRect/>
          </a:stretch>
        </p:blipFill>
        <p:spPr>
          <a:xfrm>
            <a:off x="2340864" y="73152"/>
            <a:ext cx="1243584" cy="640080"/>
          </a:xfrm>
          <a:prstGeom prst="rect">
            <a:avLst/>
          </a:prstGeom>
        </p:spPr>
      </p:pic>
      <p:sp>
        <p:nvSpPr>
          <p:cNvPr id="5" name="Shape 1"/>
          <p:cNvSpPr/>
          <p:nvPr/>
        </p:nvSpPr>
        <p:spPr>
          <a:xfrm>
            <a:off x="3785616" y="182880"/>
            <a:ext cx="1307592" cy="420624"/>
          </a:xfrm>
          <a:prstGeom prst="rect">
            <a:avLst/>
          </a:prstGeom>
          <a:solidFill>
            <a:srgbClr val="F2F2F2"/>
          </a:solidFill>
          <a:ln w="12700">
            <a:solidFill>
              <a:srgbClr val="F2F2F2"/>
            </a:solidFill>
            <a:prstDash val="solid"/>
          </a:ln>
        </p:spPr>
      </p:sp>
      <p:sp>
        <p:nvSpPr>
          <p:cNvPr id="6" name="Text 2"/>
          <p:cNvSpPr txBox="1"/>
          <p:nvPr/>
        </p:nvSpPr>
        <p:spPr>
          <a:xfrm>
            <a:off x="3785616"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1  Problem</a:t>
            </a:r>
            <a:endParaRPr lang="en-US" sz="1050" dirty="0"/>
          </a:p>
        </p:txBody>
      </p:sp>
      <p:sp>
        <p:nvSpPr>
          <p:cNvPr id="7" name="Shape 3"/>
          <p:cNvSpPr/>
          <p:nvPr/>
        </p:nvSpPr>
        <p:spPr>
          <a:xfrm>
            <a:off x="5148072" y="182880"/>
            <a:ext cx="1307592" cy="420624"/>
          </a:xfrm>
          <a:prstGeom prst="rect">
            <a:avLst/>
          </a:prstGeom>
          <a:solidFill>
            <a:srgbClr val="F2F2F2"/>
          </a:solidFill>
          <a:ln w="12700">
            <a:solidFill>
              <a:srgbClr val="F2F2F2"/>
            </a:solidFill>
            <a:prstDash val="solid"/>
          </a:ln>
        </p:spPr>
      </p:sp>
      <p:sp>
        <p:nvSpPr>
          <p:cNvPr id="8" name="Text 4"/>
          <p:cNvSpPr txBox="1"/>
          <p:nvPr/>
        </p:nvSpPr>
        <p:spPr>
          <a:xfrm>
            <a:off x="5148072"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2  Insights</a:t>
            </a:r>
            <a:endParaRPr lang="en-US" sz="1050" dirty="0"/>
          </a:p>
        </p:txBody>
      </p:sp>
      <p:sp>
        <p:nvSpPr>
          <p:cNvPr id="9" name="Shape 5"/>
          <p:cNvSpPr/>
          <p:nvPr/>
        </p:nvSpPr>
        <p:spPr>
          <a:xfrm>
            <a:off x="6510528" y="182880"/>
            <a:ext cx="1307592" cy="420624"/>
          </a:xfrm>
          <a:prstGeom prst="rect">
            <a:avLst/>
          </a:prstGeom>
          <a:solidFill>
            <a:srgbClr val="F2F2F2"/>
          </a:solidFill>
          <a:ln w="12700">
            <a:solidFill>
              <a:srgbClr val="F2F2F2"/>
            </a:solidFill>
            <a:prstDash val="solid"/>
          </a:ln>
        </p:spPr>
      </p:sp>
      <p:sp>
        <p:nvSpPr>
          <p:cNvPr id="10" name="Text 6"/>
          <p:cNvSpPr txBox="1"/>
          <p:nvPr/>
        </p:nvSpPr>
        <p:spPr>
          <a:xfrm>
            <a:off x="6510528"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3  Solution</a:t>
            </a:r>
            <a:endParaRPr lang="en-US" sz="1050" dirty="0"/>
          </a:p>
        </p:txBody>
      </p:sp>
      <p:sp>
        <p:nvSpPr>
          <p:cNvPr id="11" name="Shape 7"/>
          <p:cNvSpPr/>
          <p:nvPr/>
        </p:nvSpPr>
        <p:spPr>
          <a:xfrm>
            <a:off x="7872984" y="182880"/>
            <a:ext cx="1307592" cy="420624"/>
          </a:xfrm>
          <a:prstGeom prst="rect">
            <a:avLst/>
          </a:prstGeom>
          <a:solidFill>
            <a:srgbClr val="B63831"/>
          </a:solidFill>
          <a:ln w="12700">
            <a:solidFill>
              <a:srgbClr val="B63831"/>
            </a:solidFill>
            <a:prstDash val="solid"/>
          </a:ln>
        </p:spPr>
      </p:sp>
      <p:sp>
        <p:nvSpPr>
          <p:cNvPr id="12" name="Text 8"/>
          <p:cNvSpPr txBox="1"/>
          <p:nvPr/>
        </p:nvSpPr>
        <p:spPr>
          <a:xfrm>
            <a:off x="7872984" y="182880"/>
            <a:ext cx="1307592"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  Implementation</a:t>
            </a:r>
            <a:endParaRPr lang="en-US" sz="1050" dirty="0"/>
          </a:p>
        </p:txBody>
      </p:sp>
      <p:sp>
        <p:nvSpPr>
          <p:cNvPr id="13" name="Shape 9"/>
          <p:cNvSpPr/>
          <p:nvPr/>
        </p:nvSpPr>
        <p:spPr>
          <a:xfrm>
            <a:off x="9235440" y="182880"/>
            <a:ext cx="1307592" cy="420624"/>
          </a:xfrm>
          <a:prstGeom prst="rect">
            <a:avLst/>
          </a:prstGeom>
          <a:solidFill>
            <a:srgbClr val="F2F2F2"/>
          </a:solidFill>
          <a:ln w="12700">
            <a:solidFill>
              <a:srgbClr val="F2F2F2"/>
            </a:solidFill>
            <a:prstDash val="solid"/>
          </a:ln>
        </p:spPr>
      </p:sp>
      <p:sp>
        <p:nvSpPr>
          <p:cNvPr id="14" name="Text 10"/>
          <p:cNvSpPr txBox="1"/>
          <p:nvPr/>
        </p:nvSpPr>
        <p:spPr>
          <a:xfrm>
            <a:off x="9235440"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5  Impact</a:t>
            </a:r>
            <a:endParaRPr lang="en-US" sz="1050" dirty="0"/>
          </a:p>
        </p:txBody>
      </p:sp>
      <p:sp>
        <p:nvSpPr>
          <p:cNvPr id="15" name="Text 11"/>
          <p:cNvSpPr txBox="1"/>
          <p:nvPr/>
        </p:nvSpPr>
        <p:spPr>
          <a:xfrm>
            <a:off x="10625328" y="146304"/>
            <a:ext cx="1481328" cy="49377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Team Futuristic</a:t>
            </a:r>
            <a:pPr algn="r" indent="0" marL="0">
              <a:buNone/>
            </a:pPr>
            <a:endParaRPr lang="en-US" sz="1000" dirty="0"/>
          </a:p>
          <a:p>
            <a:pPr algn="r" indent="0" marL="0">
              <a:buNone/>
            </a:pPr>
            <a:r>
              <a:rPr lang="en-US" sz="950" dirty="0">
                <a:solidFill>
                  <a:srgbClr val="FFFFFF"/>
                </a:solidFill>
                <a:latin typeface="Calibri" pitchFamily="34" charset="0"/>
                <a:ea typeface="Calibri" pitchFamily="34" charset="-122"/>
                <a:cs typeface="Calibri" pitchFamily="34" charset="-120"/>
              </a:rPr>
              <a:t>IIT Bombay</a:t>
            </a:r>
            <a:endParaRPr lang="en-US" sz="1000" dirty="0"/>
          </a:p>
        </p:txBody>
      </p:sp>
      <p:sp>
        <p:nvSpPr>
          <p:cNvPr id="16" name="Text 12"/>
          <p:cNvSpPr txBox="1"/>
          <p:nvPr/>
        </p:nvSpPr>
        <p:spPr>
          <a:xfrm>
            <a:off x="457200" y="822960"/>
            <a:ext cx="11274552" cy="384048"/>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Seven months to shadow mode on one line, and nothing touches the mill until trust is earned</a:t>
            </a:r>
            <a:endParaRPr lang="en-US" sz="2000" dirty="0"/>
          </a:p>
        </p:txBody>
      </p:sp>
      <p:sp>
        <p:nvSpPr>
          <p:cNvPr id="17" name="Shape 13"/>
          <p:cNvSpPr/>
          <p:nvPr/>
        </p:nvSpPr>
        <p:spPr>
          <a:xfrm>
            <a:off x="91440" y="1234440"/>
            <a:ext cx="274320" cy="4965192"/>
          </a:xfrm>
          <a:prstGeom prst="rect">
            <a:avLst/>
          </a:prstGeom>
          <a:solidFill>
            <a:srgbClr val="2B2B2B"/>
          </a:solidFill>
          <a:ln w="12700">
            <a:solidFill>
              <a:srgbClr val="2B2B2B"/>
            </a:solidFill>
            <a:prstDash val="solid"/>
          </a:ln>
        </p:spPr>
      </p:sp>
      <p:sp>
        <p:nvSpPr>
          <p:cNvPr id="18" name="Text 14"/>
          <p:cNvSpPr txBox="1"/>
          <p:nvPr/>
        </p:nvSpPr>
        <p:spPr>
          <a:xfrm rot="16200000">
            <a:off x="-2253996" y="3579876"/>
            <a:ext cx="4965192"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IMPLEMENTATION  ·  ROADMAP  ·  RISK</a:t>
            </a:r>
            <a:endParaRPr lang="en-US" sz="1000" dirty="0"/>
          </a:p>
        </p:txBody>
      </p:sp>
      <p:sp>
        <p:nvSpPr>
          <p:cNvPr id="19" name="Shape 15"/>
          <p:cNvSpPr/>
          <p:nvPr/>
        </p:nvSpPr>
        <p:spPr>
          <a:xfrm>
            <a:off x="91440" y="6236208"/>
            <a:ext cx="11640312" cy="420624"/>
          </a:xfrm>
          <a:prstGeom prst="rect">
            <a:avLst/>
          </a:prstGeom>
          <a:solidFill>
            <a:srgbClr val="2B2B2B"/>
          </a:solidFill>
          <a:ln w="12700">
            <a:solidFill>
              <a:srgbClr val="2B2B2B"/>
            </a:solidFill>
            <a:prstDash val="solid"/>
          </a:ln>
        </p:spPr>
      </p:sp>
      <p:sp>
        <p:nvSpPr>
          <p:cNvPr id="20" name="Text 16"/>
          <p:cNvSpPr txBox="1"/>
          <p:nvPr/>
        </p:nvSpPr>
        <p:spPr>
          <a:xfrm>
            <a:off x="256032" y="6236208"/>
            <a:ext cx="1133856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Commit one line for seven months. The month-7 go/no-go is decided on JSL's own alarm and recall numbers.</a:t>
            </a:r>
            <a:endParaRPr lang="en-US" sz="1200" dirty="0"/>
          </a:p>
        </p:txBody>
      </p:sp>
      <p:sp>
        <p:nvSpPr>
          <p:cNvPr id="21" name="Text 17"/>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Pragati: JSL's digitalisation programme; Phase 2 brings Level-2 process data at Jajpur. KPI targets to be agreed with JSL Quality in P0.</a:t>
            </a:r>
            <a:endParaRPr lang="en-US" sz="900" dirty="0"/>
          </a:p>
        </p:txBody>
      </p:sp>
      <p:sp>
        <p:nvSpPr>
          <p:cNvPr id="22" name="Shape 18"/>
          <p:cNvSpPr/>
          <p:nvPr/>
        </p:nvSpPr>
        <p:spPr>
          <a:xfrm>
            <a:off x="457200" y="1234440"/>
            <a:ext cx="7178040" cy="274320"/>
          </a:xfrm>
          <a:prstGeom prst="rect">
            <a:avLst/>
          </a:prstGeom>
          <a:solidFill>
            <a:srgbClr val="E4803A"/>
          </a:solidFill>
          <a:ln w="12700">
            <a:solidFill>
              <a:srgbClr val="E4803A"/>
            </a:solidFill>
            <a:prstDash val="solid"/>
          </a:ln>
        </p:spPr>
      </p:sp>
      <p:sp>
        <p:nvSpPr>
          <p:cNvPr id="23" name="Text 19"/>
          <p:cNvSpPr txBox="1"/>
          <p:nvPr/>
        </p:nvSpPr>
        <p:spPr>
          <a:xfrm>
            <a:off x="548640" y="1234440"/>
            <a:ext cx="6995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Stage-gate roadmap (months)</a:t>
            </a:r>
            <a:endParaRPr lang="en-US" sz="1100" dirty="0"/>
          </a:p>
        </p:txBody>
      </p:sp>
      <p:sp>
        <p:nvSpPr>
          <p:cNvPr id="24" name="Text 20"/>
          <p:cNvSpPr txBox="1"/>
          <p:nvPr/>
        </p:nvSpPr>
        <p:spPr>
          <a:xfrm>
            <a:off x="2331720" y="1554480"/>
            <a:ext cx="36576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m0</a:t>
            </a:r>
            <a:endParaRPr lang="en-US" sz="900" dirty="0"/>
          </a:p>
        </p:txBody>
      </p:sp>
      <p:sp>
        <p:nvSpPr>
          <p:cNvPr id="25" name="Text 21"/>
          <p:cNvSpPr txBox="1"/>
          <p:nvPr/>
        </p:nvSpPr>
        <p:spPr>
          <a:xfrm>
            <a:off x="2980944" y="1554480"/>
            <a:ext cx="36576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m4</a:t>
            </a:r>
            <a:endParaRPr lang="en-US" sz="900" dirty="0"/>
          </a:p>
        </p:txBody>
      </p:sp>
      <p:sp>
        <p:nvSpPr>
          <p:cNvPr id="26" name="Text 22"/>
          <p:cNvSpPr txBox="1"/>
          <p:nvPr/>
        </p:nvSpPr>
        <p:spPr>
          <a:xfrm>
            <a:off x="3630168" y="1554480"/>
            <a:ext cx="36576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m8</a:t>
            </a:r>
            <a:endParaRPr lang="en-US" sz="900" dirty="0"/>
          </a:p>
        </p:txBody>
      </p:sp>
      <p:sp>
        <p:nvSpPr>
          <p:cNvPr id="27" name="Text 23"/>
          <p:cNvSpPr txBox="1"/>
          <p:nvPr/>
        </p:nvSpPr>
        <p:spPr>
          <a:xfrm>
            <a:off x="4279392" y="1554480"/>
            <a:ext cx="36576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m12</a:t>
            </a:r>
            <a:endParaRPr lang="en-US" sz="900" dirty="0"/>
          </a:p>
        </p:txBody>
      </p:sp>
      <p:sp>
        <p:nvSpPr>
          <p:cNvPr id="28" name="Text 24"/>
          <p:cNvSpPr txBox="1"/>
          <p:nvPr/>
        </p:nvSpPr>
        <p:spPr>
          <a:xfrm>
            <a:off x="4928616" y="1554480"/>
            <a:ext cx="36576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m16</a:t>
            </a:r>
            <a:endParaRPr lang="en-US" sz="900" dirty="0"/>
          </a:p>
        </p:txBody>
      </p:sp>
      <p:sp>
        <p:nvSpPr>
          <p:cNvPr id="29" name="Text 25"/>
          <p:cNvSpPr txBox="1"/>
          <p:nvPr/>
        </p:nvSpPr>
        <p:spPr>
          <a:xfrm>
            <a:off x="5577840" y="1554480"/>
            <a:ext cx="36576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m20</a:t>
            </a:r>
            <a:endParaRPr lang="en-US" sz="900" dirty="0"/>
          </a:p>
        </p:txBody>
      </p:sp>
      <p:sp>
        <p:nvSpPr>
          <p:cNvPr id="30" name="Text 26"/>
          <p:cNvSpPr txBox="1"/>
          <p:nvPr/>
        </p:nvSpPr>
        <p:spPr>
          <a:xfrm>
            <a:off x="5943600" y="1554480"/>
            <a:ext cx="1645920" cy="182880"/>
          </a:xfrm>
          <a:prstGeom prst="rect">
            <a:avLst/>
          </a:prstGeom>
          <a:noFill/>
          <a:ln/>
        </p:spPr>
        <p:txBody>
          <a:bodyPr wrap="square" lIns="0" tIns="0" rIns="0" bIns="0" rtlCol="0" anchor="t"/>
          <a:lstStyle/>
          <a:p>
            <a:pPr indent="0" marL="0">
              <a:buNone/>
            </a:pPr>
            <a:r>
              <a:rPr lang="en-US" sz="900" b="1" dirty="0">
                <a:solidFill>
                  <a:srgbClr val="6E6E6E"/>
                </a:solidFill>
                <a:latin typeface="Calibri" pitchFamily="34" charset="0"/>
                <a:ea typeface="Calibri" pitchFamily="34" charset="-122"/>
                <a:cs typeface="Calibri" pitchFamily="34" charset="-120"/>
              </a:rPr>
              <a:t>◆ EXIT GATE</a:t>
            </a:r>
            <a:endParaRPr lang="en-US" sz="900" dirty="0"/>
          </a:p>
        </p:txBody>
      </p:sp>
      <p:pic>
        <p:nvPicPr>
          <p:cNvPr id="31" name="Image 2" descr="img/icons/camera-accent.png">    </p:cNvPr>
          <p:cNvPicPr>
            <a:picLocks noChangeAspect="1"/>
          </p:cNvPicPr>
          <p:nvPr/>
        </p:nvPicPr>
        <p:blipFill>
          <a:blip r:embed="rId3"/>
          <a:stretch>
            <a:fillRect/>
          </a:stretch>
        </p:blipFill>
        <p:spPr>
          <a:xfrm>
            <a:off x="512064" y="1828800"/>
            <a:ext cx="219456" cy="219456"/>
          </a:xfrm>
          <a:prstGeom prst="rect">
            <a:avLst/>
          </a:prstGeom>
        </p:spPr>
      </p:pic>
      <p:sp>
        <p:nvSpPr>
          <p:cNvPr id="32" name="Text 27"/>
          <p:cNvSpPr txBox="1"/>
          <p:nvPr/>
        </p:nvSpPr>
        <p:spPr>
          <a:xfrm>
            <a:off x="768096" y="1783080"/>
            <a:ext cx="292608" cy="310896"/>
          </a:xfrm>
          <a:prstGeom prst="rect">
            <a:avLst/>
          </a:prstGeom>
          <a:noFill/>
          <a:ln/>
        </p:spPr>
        <p:txBody>
          <a:bodyPr wrap="square" lIns="0" tIns="0" rIns="0" bIns="0" rtlCol="0" anchor="ctr"/>
          <a:lstStyle/>
          <a:p>
            <a:pPr indent="0" marL="0">
              <a:buNone/>
            </a:pPr>
            <a:r>
              <a:rPr lang="en-US" sz="1100" b="1" dirty="0">
                <a:solidFill>
                  <a:srgbClr val="D2651F"/>
                </a:solidFill>
                <a:latin typeface="Calibri" pitchFamily="34" charset="0"/>
                <a:ea typeface="Calibri" pitchFamily="34" charset="-122"/>
                <a:cs typeface="Calibri" pitchFamily="34" charset="-120"/>
              </a:rPr>
              <a:t>P0</a:t>
            </a:r>
            <a:endParaRPr lang="en-US" sz="1100" dirty="0"/>
          </a:p>
        </p:txBody>
      </p:sp>
      <p:sp>
        <p:nvSpPr>
          <p:cNvPr id="33" name="Text 28"/>
          <p:cNvSpPr txBox="1"/>
          <p:nvPr/>
        </p:nvSpPr>
        <p:spPr>
          <a:xfrm>
            <a:off x="1060704" y="1783080"/>
            <a:ext cx="1444752" cy="310896"/>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Instrument one line</a:t>
            </a:r>
            <a:endParaRPr lang="en-US" sz="950" dirty="0"/>
          </a:p>
        </p:txBody>
      </p:sp>
      <p:sp>
        <p:nvSpPr>
          <p:cNvPr id="34" name="Shape 29"/>
          <p:cNvSpPr/>
          <p:nvPr/>
        </p:nvSpPr>
        <p:spPr>
          <a:xfrm>
            <a:off x="2514600" y="1847088"/>
            <a:ext cx="3246120" cy="182880"/>
          </a:xfrm>
          <a:prstGeom prst="rect">
            <a:avLst/>
          </a:prstGeom>
          <a:solidFill>
            <a:srgbClr val="F3F3F3"/>
          </a:solidFill>
          <a:ln w="12700">
            <a:solidFill>
              <a:srgbClr val="F3F3F3"/>
            </a:solidFill>
            <a:prstDash val="solid"/>
          </a:ln>
        </p:spPr>
      </p:sp>
      <p:sp>
        <p:nvSpPr>
          <p:cNvPr id="35" name="Shape 30"/>
          <p:cNvSpPr/>
          <p:nvPr/>
        </p:nvSpPr>
        <p:spPr>
          <a:xfrm>
            <a:off x="2514600" y="1847088"/>
            <a:ext cx="243459" cy="182880"/>
          </a:xfrm>
          <a:prstGeom prst="rect">
            <a:avLst/>
          </a:prstGeom>
          <a:solidFill>
            <a:srgbClr val="D2651F"/>
          </a:solidFill>
          <a:ln w="12700">
            <a:solidFill>
              <a:srgbClr val="D2651F"/>
            </a:solidFill>
            <a:prstDash val="solid"/>
          </a:ln>
        </p:spPr>
      </p:sp>
      <p:sp>
        <p:nvSpPr>
          <p:cNvPr id="36" name="Shape 31"/>
          <p:cNvSpPr/>
          <p:nvPr/>
        </p:nvSpPr>
        <p:spPr>
          <a:xfrm>
            <a:off x="2675763" y="1856232"/>
            <a:ext cx="164592" cy="164592"/>
          </a:xfrm>
          <a:prstGeom prst="diamond">
            <a:avLst/>
          </a:prstGeom>
          <a:solidFill>
            <a:srgbClr val="2B2B2B"/>
          </a:solidFill>
          <a:ln w="12700">
            <a:solidFill>
              <a:srgbClr val="FFFFFF"/>
            </a:solidFill>
            <a:prstDash val="solid"/>
          </a:ln>
        </p:spPr>
      </p:sp>
      <p:sp>
        <p:nvSpPr>
          <p:cNvPr id="37" name="Text 32"/>
          <p:cNvSpPr txBox="1"/>
          <p:nvPr/>
        </p:nvSpPr>
        <p:spPr>
          <a:xfrm>
            <a:off x="5943600" y="1783080"/>
            <a:ext cx="1691640" cy="310896"/>
          </a:xfrm>
          <a:prstGeom prst="rect">
            <a:avLst/>
          </a:prstGeom>
          <a:noFill/>
          <a:ln/>
        </p:spPr>
        <p:txBody>
          <a:bodyPr wrap="square" lIns="0" tIns="0" rIns="0" bIns="0" rtlCol="0" anchor="ctr"/>
          <a:lstStyle/>
          <a:p>
            <a:pPr indent="0" marL="0">
              <a:buNone/>
            </a:pPr>
            <a:r>
              <a:rPr lang="en-US" sz="900" dirty="0">
                <a:solidFill>
                  <a:srgbClr val="404040"/>
                </a:solidFill>
                <a:latin typeface="Calibri" pitchFamily="34" charset="0"/>
                <a:ea typeface="Calibri" pitchFamily="34" charset="-122"/>
                <a:cs typeface="Calibri" pitchFamily="34" charset="-120"/>
              </a:rPr>
              <a:t>Optics fixed; Pragati L2 data linked</a:t>
            </a:r>
            <a:endParaRPr lang="en-US" sz="900" dirty="0"/>
          </a:p>
        </p:txBody>
      </p:sp>
      <p:pic>
        <p:nvPicPr>
          <p:cNvPr id="38" name="Image 3" descr="img/icons/layers-accent.png">    </p:cNvPr>
          <p:cNvPicPr>
            <a:picLocks noChangeAspect="1"/>
          </p:cNvPicPr>
          <p:nvPr/>
        </p:nvPicPr>
        <p:blipFill>
          <a:blip r:embed="rId4"/>
          <a:stretch>
            <a:fillRect/>
          </a:stretch>
        </p:blipFill>
        <p:spPr>
          <a:xfrm>
            <a:off x="512064" y="2176272"/>
            <a:ext cx="219456" cy="219456"/>
          </a:xfrm>
          <a:prstGeom prst="rect">
            <a:avLst/>
          </a:prstGeom>
        </p:spPr>
      </p:pic>
      <p:sp>
        <p:nvSpPr>
          <p:cNvPr id="39" name="Text 33"/>
          <p:cNvSpPr txBox="1"/>
          <p:nvPr/>
        </p:nvSpPr>
        <p:spPr>
          <a:xfrm>
            <a:off x="768096" y="2130552"/>
            <a:ext cx="292608" cy="310896"/>
          </a:xfrm>
          <a:prstGeom prst="rect">
            <a:avLst/>
          </a:prstGeom>
          <a:noFill/>
          <a:ln/>
        </p:spPr>
        <p:txBody>
          <a:bodyPr wrap="square" lIns="0" tIns="0" rIns="0" bIns="0" rtlCol="0" anchor="ctr"/>
          <a:lstStyle/>
          <a:p>
            <a:pPr indent="0" marL="0">
              <a:buNone/>
            </a:pPr>
            <a:r>
              <a:rPr lang="en-US" sz="1100" b="1" dirty="0">
                <a:solidFill>
                  <a:srgbClr val="D2651F"/>
                </a:solidFill>
                <a:latin typeface="Calibri" pitchFamily="34" charset="0"/>
                <a:ea typeface="Calibri" pitchFamily="34" charset="-122"/>
                <a:cs typeface="Calibri" pitchFamily="34" charset="-120"/>
              </a:rPr>
              <a:t>P1</a:t>
            </a:r>
            <a:endParaRPr lang="en-US" sz="1100" dirty="0"/>
          </a:p>
        </p:txBody>
      </p:sp>
      <p:sp>
        <p:nvSpPr>
          <p:cNvPr id="40" name="Text 34"/>
          <p:cNvSpPr txBox="1"/>
          <p:nvPr/>
        </p:nvSpPr>
        <p:spPr>
          <a:xfrm>
            <a:off x="1060704" y="2130552"/>
            <a:ext cx="1444752" cy="310896"/>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Learn JSL strip</a:t>
            </a:r>
            <a:endParaRPr lang="en-US" sz="950" dirty="0"/>
          </a:p>
        </p:txBody>
      </p:sp>
      <p:sp>
        <p:nvSpPr>
          <p:cNvPr id="41" name="Shape 35"/>
          <p:cNvSpPr/>
          <p:nvPr/>
        </p:nvSpPr>
        <p:spPr>
          <a:xfrm>
            <a:off x="2514600" y="2194560"/>
            <a:ext cx="3246120" cy="182880"/>
          </a:xfrm>
          <a:prstGeom prst="rect">
            <a:avLst/>
          </a:prstGeom>
          <a:solidFill>
            <a:srgbClr val="F3F3F3"/>
          </a:solidFill>
          <a:ln w="12700">
            <a:solidFill>
              <a:srgbClr val="F3F3F3"/>
            </a:solidFill>
            <a:prstDash val="solid"/>
          </a:ln>
        </p:spPr>
      </p:sp>
      <p:sp>
        <p:nvSpPr>
          <p:cNvPr id="42" name="Shape 36"/>
          <p:cNvSpPr/>
          <p:nvPr/>
        </p:nvSpPr>
        <p:spPr>
          <a:xfrm>
            <a:off x="2758059" y="2194560"/>
            <a:ext cx="405765" cy="182880"/>
          </a:xfrm>
          <a:prstGeom prst="rect">
            <a:avLst/>
          </a:prstGeom>
          <a:solidFill>
            <a:srgbClr val="D2651F"/>
          </a:solidFill>
          <a:ln w="12700">
            <a:solidFill>
              <a:srgbClr val="D2651F"/>
            </a:solidFill>
            <a:prstDash val="solid"/>
          </a:ln>
        </p:spPr>
      </p:sp>
      <p:sp>
        <p:nvSpPr>
          <p:cNvPr id="43" name="Shape 37"/>
          <p:cNvSpPr/>
          <p:nvPr/>
        </p:nvSpPr>
        <p:spPr>
          <a:xfrm>
            <a:off x="3081528" y="2203704"/>
            <a:ext cx="164592" cy="164592"/>
          </a:xfrm>
          <a:prstGeom prst="diamond">
            <a:avLst/>
          </a:prstGeom>
          <a:solidFill>
            <a:srgbClr val="2B2B2B"/>
          </a:solidFill>
          <a:ln w="12700">
            <a:solidFill>
              <a:srgbClr val="FFFFFF"/>
            </a:solidFill>
            <a:prstDash val="solid"/>
          </a:ln>
        </p:spPr>
      </p:sp>
      <p:sp>
        <p:nvSpPr>
          <p:cNvPr id="44" name="Text 38"/>
          <p:cNvSpPr txBox="1"/>
          <p:nvPr/>
        </p:nvSpPr>
        <p:spPr>
          <a:xfrm>
            <a:off x="5943600" y="2130552"/>
            <a:ext cx="1691640" cy="310896"/>
          </a:xfrm>
          <a:prstGeom prst="rect">
            <a:avLst/>
          </a:prstGeom>
          <a:noFill/>
          <a:ln/>
        </p:spPr>
        <p:txBody>
          <a:bodyPr wrap="square" lIns="0" tIns="0" rIns="0" bIns="0" rtlCol="0" anchor="ctr"/>
          <a:lstStyle/>
          <a:p>
            <a:pPr indent="0" marL="0">
              <a:buNone/>
            </a:pPr>
            <a:r>
              <a:rPr lang="en-US" sz="900" dirty="0">
                <a:solidFill>
                  <a:srgbClr val="404040"/>
                </a:solidFill>
                <a:latin typeface="Calibri" pitchFamily="34" charset="0"/>
                <a:ea typeface="Calibri" pitchFamily="34" charset="-122"/>
                <a:cs typeface="Calibri" pitchFamily="34" charset="-120"/>
              </a:rPr>
              <a:t>Clean alarms ≤ 25%, recall ≥ 90%</a:t>
            </a:r>
            <a:endParaRPr lang="en-US" sz="900" dirty="0"/>
          </a:p>
        </p:txBody>
      </p:sp>
      <p:pic>
        <p:nvPicPr>
          <p:cNvPr id="45" name="Image 4" descr="img/icons/scan-search-accent.png">    </p:cNvPr>
          <p:cNvPicPr>
            <a:picLocks noChangeAspect="1"/>
          </p:cNvPicPr>
          <p:nvPr/>
        </p:nvPicPr>
        <p:blipFill>
          <a:blip r:embed="rId5"/>
          <a:stretch>
            <a:fillRect/>
          </a:stretch>
        </p:blipFill>
        <p:spPr>
          <a:xfrm>
            <a:off x="512064" y="2523744"/>
            <a:ext cx="219456" cy="219456"/>
          </a:xfrm>
          <a:prstGeom prst="rect">
            <a:avLst/>
          </a:prstGeom>
        </p:spPr>
      </p:pic>
      <p:sp>
        <p:nvSpPr>
          <p:cNvPr id="46" name="Text 39"/>
          <p:cNvSpPr txBox="1"/>
          <p:nvPr/>
        </p:nvSpPr>
        <p:spPr>
          <a:xfrm>
            <a:off x="768096" y="2478024"/>
            <a:ext cx="292608" cy="310896"/>
          </a:xfrm>
          <a:prstGeom prst="rect">
            <a:avLst/>
          </a:prstGeom>
          <a:noFill/>
          <a:ln/>
        </p:spPr>
        <p:txBody>
          <a:bodyPr wrap="square" lIns="0" tIns="0" rIns="0" bIns="0" rtlCol="0" anchor="ctr"/>
          <a:lstStyle/>
          <a:p>
            <a:pPr indent="0" marL="0">
              <a:buNone/>
            </a:pPr>
            <a:r>
              <a:rPr lang="en-US" sz="1100" b="1" dirty="0">
                <a:solidFill>
                  <a:srgbClr val="D2651F"/>
                </a:solidFill>
                <a:latin typeface="Calibri" pitchFamily="34" charset="0"/>
                <a:ea typeface="Calibri" pitchFamily="34" charset="-122"/>
                <a:cs typeface="Calibri" pitchFamily="34" charset="-120"/>
              </a:rPr>
              <a:t>P2</a:t>
            </a:r>
            <a:endParaRPr lang="en-US" sz="1100" dirty="0"/>
          </a:p>
        </p:txBody>
      </p:sp>
      <p:sp>
        <p:nvSpPr>
          <p:cNvPr id="47" name="Text 40"/>
          <p:cNvSpPr txBox="1"/>
          <p:nvPr/>
        </p:nvSpPr>
        <p:spPr>
          <a:xfrm>
            <a:off x="1060704" y="2478024"/>
            <a:ext cx="1444752" cy="310896"/>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Shadow mode: advises only</a:t>
            </a:r>
            <a:endParaRPr lang="en-US" sz="950" dirty="0"/>
          </a:p>
        </p:txBody>
      </p:sp>
      <p:sp>
        <p:nvSpPr>
          <p:cNvPr id="48" name="Shape 41"/>
          <p:cNvSpPr/>
          <p:nvPr/>
        </p:nvSpPr>
        <p:spPr>
          <a:xfrm>
            <a:off x="2514600" y="2542032"/>
            <a:ext cx="3246120" cy="182880"/>
          </a:xfrm>
          <a:prstGeom prst="rect">
            <a:avLst/>
          </a:prstGeom>
          <a:solidFill>
            <a:srgbClr val="F3F3F3"/>
          </a:solidFill>
          <a:ln w="12700">
            <a:solidFill>
              <a:srgbClr val="F3F3F3"/>
            </a:solidFill>
            <a:prstDash val="solid"/>
          </a:ln>
        </p:spPr>
      </p:sp>
      <p:sp>
        <p:nvSpPr>
          <p:cNvPr id="49" name="Shape 42"/>
          <p:cNvSpPr/>
          <p:nvPr/>
        </p:nvSpPr>
        <p:spPr>
          <a:xfrm>
            <a:off x="3163824" y="2542032"/>
            <a:ext cx="486918" cy="182880"/>
          </a:xfrm>
          <a:prstGeom prst="rect">
            <a:avLst/>
          </a:prstGeom>
          <a:solidFill>
            <a:srgbClr val="D2651F"/>
          </a:solidFill>
          <a:ln w="12700">
            <a:solidFill>
              <a:srgbClr val="D2651F"/>
            </a:solidFill>
            <a:prstDash val="solid"/>
          </a:ln>
        </p:spPr>
      </p:sp>
      <p:sp>
        <p:nvSpPr>
          <p:cNvPr id="50" name="Shape 43"/>
          <p:cNvSpPr/>
          <p:nvPr/>
        </p:nvSpPr>
        <p:spPr>
          <a:xfrm>
            <a:off x="3568446" y="2551176"/>
            <a:ext cx="164592" cy="164592"/>
          </a:xfrm>
          <a:prstGeom prst="diamond">
            <a:avLst/>
          </a:prstGeom>
          <a:solidFill>
            <a:srgbClr val="2B2B2B"/>
          </a:solidFill>
          <a:ln w="12700">
            <a:solidFill>
              <a:srgbClr val="FFFFFF"/>
            </a:solidFill>
            <a:prstDash val="solid"/>
          </a:ln>
        </p:spPr>
      </p:sp>
      <p:sp>
        <p:nvSpPr>
          <p:cNvPr id="51" name="Text 44"/>
          <p:cNvSpPr txBox="1"/>
          <p:nvPr/>
        </p:nvSpPr>
        <p:spPr>
          <a:xfrm>
            <a:off x="5943600" y="2478024"/>
            <a:ext cx="1691640" cy="310896"/>
          </a:xfrm>
          <a:prstGeom prst="rect">
            <a:avLst/>
          </a:prstGeom>
          <a:noFill/>
          <a:ln/>
        </p:spPr>
        <p:txBody>
          <a:bodyPr wrap="square" lIns="0" tIns="0" rIns="0" bIns="0" rtlCol="0" anchor="ctr"/>
          <a:lstStyle/>
          <a:p>
            <a:pPr indent="0" marL="0">
              <a:buNone/>
            </a:pPr>
            <a:r>
              <a:rPr lang="en-US" sz="900" dirty="0">
                <a:solidFill>
                  <a:srgbClr val="404040"/>
                </a:solidFill>
                <a:latin typeface="Calibri" pitchFamily="34" charset="0"/>
                <a:ea typeface="Calibri" pitchFamily="34" charset="-122"/>
                <a:cs typeface="Calibri" pitchFamily="34" charset="-120"/>
              </a:rPr>
              <a:t>≥ 90% operator agreement</a:t>
            </a:r>
            <a:endParaRPr lang="en-US" sz="900" dirty="0"/>
          </a:p>
        </p:txBody>
      </p:sp>
      <p:pic>
        <p:nvPicPr>
          <p:cNvPr id="52" name="Image 5" descr="img/icons/shield-check-accent.png">    </p:cNvPr>
          <p:cNvPicPr>
            <a:picLocks noChangeAspect="1"/>
          </p:cNvPicPr>
          <p:nvPr/>
        </p:nvPicPr>
        <p:blipFill>
          <a:blip r:embed="rId6"/>
          <a:stretch>
            <a:fillRect/>
          </a:stretch>
        </p:blipFill>
        <p:spPr>
          <a:xfrm>
            <a:off x="512064" y="2871216"/>
            <a:ext cx="219456" cy="219456"/>
          </a:xfrm>
          <a:prstGeom prst="rect">
            <a:avLst/>
          </a:prstGeom>
        </p:spPr>
      </p:pic>
      <p:sp>
        <p:nvSpPr>
          <p:cNvPr id="53" name="Text 45"/>
          <p:cNvSpPr txBox="1"/>
          <p:nvPr/>
        </p:nvSpPr>
        <p:spPr>
          <a:xfrm>
            <a:off x="768096" y="2825496"/>
            <a:ext cx="292608" cy="310896"/>
          </a:xfrm>
          <a:prstGeom prst="rect">
            <a:avLst/>
          </a:prstGeom>
          <a:noFill/>
          <a:ln/>
        </p:spPr>
        <p:txBody>
          <a:bodyPr wrap="square" lIns="0" tIns="0" rIns="0" bIns="0" rtlCol="0" anchor="ctr"/>
          <a:lstStyle/>
          <a:p>
            <a:pPr indent="0" marL="0">
              <a:buNone/>
            </a:pPr>
            <a:r>
              <a:rPr lang="en-US" sz="1100" b="1" dirty="0">
                <a:solidFill>
                  <a:srgbClr val="D2651F"/>
                </a:solidFill>
                <a:latin typeface="Calibri" pitchFamily="34" charset="0"/>
                <a:ea typeface="Calibri" pitchFamily="34" charset="-122"/>
                <a:cs typeface="Calibri" pitchFamily="34" charset="-120"/>
              </a:rPr>
              <a:t>P3</a:t>
            </a:r>
            <a:endParaRPr lang="en-US" sz="1100" dirty="0"/>
          </a:p>
        </p:txBody>
      </p:sp>
      <p:sp>
        <p:nvSpPr>
          <p:cNvPr id="54" name="Text 46"/>
          <p:cNvSpPr txBox="1"/>
          <p:nvPr/>
        </p:nvSpPr>
        <p:spPr>
          <a:xfrm>
            <a:off x="1060704" y="2825496"/>
            <a:ext cx="1444752" cy="310896"/>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Auto-hold on severe defects</a:t>
            </a:r>
            <a:endParaRPr lang="en-US" sz="950" dirty="0"/>
          </a:p>
        </p:txBody>
      </p:sp>
      <p:sp>
        <p:nvSpPr>
          <p:cNvPr id="55" name="Shape 47"/>
          <p:cNvSpPr/>
          <p:nvPr/>
        </p:nvSpPr>
        <p:spPr>
          <a:xfrm>
            <a:off x="2514600" y="2889504"/>
            <a:ext cx="3246120" cy="182880"/>
          </a:xfrm>
          <a:prstGeom prst="rect">
            <a:avLst/>
          </a:prstGeom>
          <a:solidFill>
            <a:srgbClr val="F3F3F3"/>
          </a:solidFill>
          <a:ln w="12700">
            <a:solidFill>
              <a:srgbClr val="F3F3F3"/>
            </a:solidFill>
            <a:prstDash val="solid"/>
          </a:ln>
        </p:spPr>
      </p:sp>
      <p:sp>
        <p:nvSpPr>
          <p:cNvPr id="56" name="Shape 48"/>
          <p:cNvSpPr/>
          <p:nvPr/>
        </p:nvSpPr>
        <p:spPr>
          <a:xfrm>
            <a:off x="3650742" y="2889504"/>
            <a:ext cx="811530" cy="182880"/>
          </a:xfrm>
          <a:prstGeom prst="rect">
            <a:avLst/>
          </a:prstGeom>
          <a:solidFill>
            <a:srgbClr val="5C5C5C"/>
          </a:solidFill>
          <a:ln w="12700">
            <a:solidFill>
              <a:srgbClr val="5C5C5C"/>
            </a:solidFill>
            <a:prstDash val="solid"/>
          </a:ln>
        </p:spPr>
      </p:sp>
      <p:sp>
        <p:nvSpPr>
          <p:cNvPr id="57" name="Shape 49"/>
          <p:cNvSpPr/>
          <p:nvPr/>
        </p:nvSpPr>
        <p:spPr>
          <a:xfrm>
            <a:off x="4379976" y="2898648"/>
            <a:ext cx="164592" cy="164592"/>
          </a:xfrm>
          <a:prstGeom prst="diamond">
            <a:avLst/>
          </a:prstGeom>
          <a:solidFill>
            <a:srgbClr val="2B2B2B"/>
          </a:solidFill>
          <a:ln w="12700">
            <a:solidFill>
              <a:srgbClr val="FFFFFF"/>
            </a:solidFill>
            <a:prstDash val="solid"/>
          </a:ln>
        </p:spPr>
      </p:sp>
      <p:sp>
        <p:nvSpPr>
          <p:cNvPr id="58" name="Text 50"/>
          <p:cNvSpPr txBox="1"/>
          <p:nvPr/>
        </p:nvSpPr>
        <p:spPr>
          <a:xfrm>
            <a:off x="5943600" y="2825496"/>
            <a:ext cx="1691640" cy="310896"/>
          </a:xfrm>
          <a:prstGeom prst="rect">
            <a:avLst/>
          </a:prstGeom>
          <a:noFill/>
          <a:ln/>
        </p:spPr>
        <p:txBody>
          <a:bodyPr wrap="square" lIns="0" tIns="0" rIns="0" bIns="0" rtlCol="0" anchor="ctr"/>
          <a:lstStyle/>
          <a:p>
            <a:pPr indent="0" marL="0">
              <a:buNone/>
            </a:pPr>
            <a:r>
              <a:rPr lang="en-US" sz="900" dirty="0">
                <a:solidFill>
                  <a:srgbClr val="404040"/>
                </a:solidFill>
                <a:latin typeface="Calibri" pitchFamily="34" charset="0"/>
                <a:ea typeface="Calibri" pitchFamily="34" charset="-122"/>
                <a:cs typeface="Calibri" pitchFamily="34" charset="-120"/>
              </a:rPr>
              <a:t>Holds trusted; downgrade measured</a:t>
            </a:r>
            <a:endParaRPr lang="en-US" sz="900" dirty="0"/>
          </a:p>
        </p:txBody>
      </p:sp>
      <p:pic>
        <p:nvPicPr>
          <p:cNvPr id="59" name="Image 6" descr="img/icons/factory-accent.png">    </p:cNvPr>
          <p:cNvPicPr>
            <a:picLocks noChangeAspect="1"/>
          </p:cNvPicPr>
          <p:nvPr/>
        </p:nvPicPr>
        <p:blipFill>
          <a:blip r:embed="rId7"/>
          <a:stretch>
            <a:fillRect/>
          </a:stretch>
        </p:blipFill>
        <p:spPr>
          <a:xfrm>
            <a:off x="512064" y="3218688"/>
            <a:ext cx="219456" cy="219456"/>
          </a:xfrm>
          <a:prstGeom prst="rect">
            <a:avLst/>
          </a:prstGeom>
        </p:spPr>
      </p:pic>
      <p:sp>
        <p:nvSpPr>
          <p:cNvPr id="60" name="Text 51"/>
          <p:cNvSpPr txBox="1"/>
          <p:nvPr/>
        </p:nvSpPr>
        <p:spPr>
          <a:xfrm>
            <a:off x="768096" y="3172968"/>
            <a:ext cx="292608" cy="310896"/>
          </a:xfrm>
          <a:prstGeom prst="rect">
            <a:avLst/>
          </a:prstGeom>
          <a:noFill/>
          <a:ln/>
        </p:spPr>
        <p:txBody>
          <a:bodyPr wrap="square" lIns="0" tIns="0" rIns="0" bIns="0" rtlCol="0" anchor="ctr"/>
          <a:lstStyle/>
          <a:p>
            <a:pPr indent="0" marL="0">
              <a:buNone/>
            </a:pPr>
            <a:r>
              <a:rPr lang="en-US" sz="1100" b="1" dirty="0">
                <a:solidFill>
                  <a:srgbClr val="D2651F"/>
                </a:solidFill>
                <a:latin typeface="Calibri" pitchFamily="34" charset="0"/>
                <a:ea typeface="Calibri" pitchFamily="34" charset="-122"/>
                <a:cs typeface="Calibri" pitchFamily="34" charset="-120"/>
              </a:rPr>
              <a:t>P4</a:t>
            </a:r>
            <a:endParaRPr lang="en-US" sz="1100" dirty="0"/>
          </a:p>
        </p:txBody>
      </p:sp>
      <p:sp>
        <p:nvSpPr>
          <p:cNvPr id="61" name="Text 52"/>
          <p:cNvSpPr txBox="1"/>
          <p:nvPr/>
        </p:nvSpPr>
        <p:spPr>
          <a:xfrm>
            <a:off x="1060704" y="3172968"/>
            <a:ext cx="1444752" cy="310896"/>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Second line and grade</a:t>
            </a:r>
            <a:endParaRPr lang="en-US" sz="950" dirty="0"/>
          </a:p>
        </p:txBody>
      </p:sp>
      <p:sp>
        <p:nvSpPr>
          <p:cNvPr id="62" name="Shape 53"/>
          <p:cNvSpPr/>
          <p:nvPr/>
        </p:nvSpPr>
        <p:spPr>
          <a:xfrm>
            <a:off x="2514600" y="3236976"/>
            <a:ext cx="3246120" cy="182880"/>
          </a:xfrm>
          <a:prstGeom prst="rect">
            <a:avLst/>
          </a:prstGeom>
          <a:solidFill>
            <a:srgbClr val="F3F3F3"/>
          </a:solidFill>
          <a:ln w="12700">
            <a:solidFill>
              <a:srgbClr val="F3F3F3"/>
            </a:solidFill>
            <a:prstDash val="solid"/>
          </a:ln>
        </p:spPr>
      </p:sp>
      <p:sp>
        <p:nvSpPr>
          <p:cNvPr id="63" name="Shape 54"/>
          <p:cNvSpPr/>
          <p:nvPr/>
        </p:nvSpPr>
        <p:spPr>
          <a:xfrm>
            <a:off x="4462272" y="3236976"/>
            <a:ext cx="1298448" cy="182880"/>
          </a:xfrm>
          <a:prstGeom prst="rect">
            <a:avLst/>
          </a:prstGeom>
          <a:solidFill>
            <a:srgbClr val="5C5C5C"/>
          </a:solidFill>
          <a:ln w="12700">
            <a:solidFill>
              <a:srgbClr val="5C5C5C"/>
            </a:solidFill>
            <a:prstDash val="solid"/>
          </a:ln>
        </p:spPr>
      </p:sp>
      <p:sp>
        <p:nvSpPr>
          <p:cNvPr id="64" name="Shape 55"/>
          <p:cNvSpPr/>
          <p:nvPr/>
        </p:nvSpPr>
        <p:spPr>
          <a:xfrm>
            <a:off x="5678424" y="3246120"/>
            <a:ext cx="164592" cy="164592"/>
          </a:xfrm>
          <a:prstGeom prst="diamond">
            <a:avLst/>
          </a:prstGeom>
          <a:solidFill>
            <a:srgbClr val="2B2B2B"/>
          </a:solidFill>
          <a:ln w="12700">
            <a:solidFill>
              <a:srgbClr val="FFFFFF"/>
            </a:solidFill>
            <a:prstDash val="solid"/>
          </a:ln>
        </p:spPr>
      </p:sp>
      <p:sp>
        <p:nvSpPr>
          <p:cNvPr id="65" name="Text 56"/>
          <p:cNvSpPr txBox="1"/>
          <p:nvPr/>
        </p:nvSpPr>
        <p:spPr>
          <a:xfrm>
            <a:off x="5943600" y="3172968"/>
            <a:ext cx="1691640" cy="310896"/>
          </a:xfrm>
          <a:prstGeom prst="rect">
            <a:avLst/>
          </a:prstGeom>
          <a:noFill/>
          <a:ln/>
        </p:spPr>
        <p:txBody>
          <a:bodyPr wrap="square" lIns="0" tIns="0" rIns="0" bIns="0" rtlCol="0" anchor="ctr"/>
          <a:lstStyle/>
          <a:p>
            <a:pPr indent="0" marL="0">
              <a:buNone/>
            </a:pPr>
            <a:r>
              <a:rPr lang="en-US" sz="900" dirty="0">
                <a:solidFill>
                  <a:srgbClr val="404040"/>
                </a:solidFill>
                <a:latin typeface="Calibri" pitchFamily="34" charset="0"/>
                <a:ea typeface="Calibri" pitchFamily="34" charset="-122"/>
                <a:cs typeface="Calibri" pitchFamily="34" charset="-120"/>
              </a:rPr>
              <a:t>Fleet decision on measured value</a:t>
            </a:r>
            <a:endParaRPr lang="en-US" sz="900" dirty="0"/>
          </a:p>
        </p:txBody>
      </p:sp>
      <p:sp>
        <p:nvSpPr>
          <p:cNvPr id="66" name="Shape 57"/>
          <p:cNvSpPr/>
          <p:nvPr/>
        </p:nvSpPr>
        <p:spPr>
          <a:xfrm>
            <a:off x="3641598" y="1755648"/>
            <a:ext cx="22860" cy="1737360"/>
          </a:xfrm>
          <a:prstGeom prst="rect">
            <a:avLst/>
          </a:prstGeom>
          <a:solidFill>
            <a:srgbClr val="C62828"/>
          </a:solidFill>
          <a:ln w="12700">
            <a:solidFill>
              <a:srgbClr val="C62828"/>
            </a:solidFill>
            <a:prstDash val="solid"/>
          </a:ln>
        </p:spPr>
      </p:sp>
      <p:sp>
        <p:nvSpPr>
          <p:cNvPr id="67" name="Text 58"/>
          <p:cNvSpPr txBox="1"/>
          <p:nvPr/>
        </p:nvSpPr>
        <p:spPr>
          <a:xfrm>
            <a:off x="3056382" y="3502152"/>
            <a:ext cx="1188720" cy="182880"/>
          </a:xfrm>
          <a:prstGeom prst="rect">
            <a:avLst/>
          </a:prstGeom>
          <a:noFill/>
          <a:ln/>
        </p:spPr>
        <p:txBody>
          <a:bodyPr wrap="square" lIns="0" tIns="0" rIns="0" bIns="0" rtlCol="0" anchor="t"/>
          <a:lstStyle/>
          <a:p>
            <a:pPr indent="0" marL="0">
              <a:buNone/>
            </a:pPr>
            <a:r>
              <a:rPr lang="en-US" sz="900" b="1" dirty="0">
                <a:solidFill>
                  <a:srgbClr val="C62828"/>
                </a:solidFill>
                <a:latin typeface="Calibri" pitchFamily="34" charset="0"/>
                <a:ea typeface="Calibri" pitchFamily="34" charset="-122"/>
                <a:cs typeface="Calibri" pitchFamily="34" charset="-120"/>
              </a:rPr>
              <a:t>pilot go / no-go</a:t>
            </a:r>
            <a:endParaRPr lang="en-US" sz="900" dirty="0"/>
          </a:p>
        </p:txBody>
      </p:sp>
      <p:sp>
        <p:nvSpPr>
          <p:cNvPr id="68" name="Shape 59"/>
          <p:cNvSpPr/>
          <p:nvPr/>
        </p:nvSpPr>
        <p:spPr>
          <a:xfrm>
            <a:off x="7863840" y="1234440"/>
            <a:ext cx="3867912" cy="274320"/>
          </a:xfrm>
          <a:prstGeom prst="rect">
            <a:avLst/>
          </a:prstGeom>
          <a:solidFill>
            <a:srgbClr val="E4803A"/>
          </a:solidFill>
          <a:ln w="12700">
            <a:solidFill>
              <a:srgbClr val="E4803A"/>
            </a:solidFill>
            <a:prstDash val="solid"/>
          </a:ln>
        </p:spPr>
      </p:sp>
      <p:sp>
        <p:nvSpPr>
          <p:cNvPr id="69" name="Text 60"/>
          <p:cNvSpPr txBox="1"/>
          <p:nvPr/>
        </p:nvSpPr>
        <p:spPr>
          <a:xfrm>
            <a:off x="7955280" y="1234440"/>
            <a:ext cx="36850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Pilot scope: in and out</a:t>
            </a:r>
            <a:endParaRPr lang="en-US" sz="1100" dirty="0"/>
          </a:p>
        </p:txBody>
      </p:sp>
      <p:pic>
        <p:nvPicPr>
          <p:cNvPr id="70" name="Image 7" descr="img/photos/mill.jpg">    </p:cNvPr>
          <p:cNvPicPr>
            <a:picLocks noChangeAspect="1"/>
          </p:cNvPicPr>
          <p:nvPr/>
        </p:nvPicPr>
        <p:blipFill>
          <a:blip r:embed="rId8"/>
          <a:srcRect l="0" r="0" t="0" b="0"/>
          <a:stretch/>
        </p:blipFill>
        <p:spPr>
          <a:xfrm>
            <a:off x="7863840" y="1517904"/>
            <a:ext cx="3867912" cy="658368"/>
          </a:xfrm>
          <a:prstGeom prst="rect">
            <a:avLst/>
          </a:prstGeom>
        </p:spPr>
      </p:pic>
      <p:sp>
        <p:nvSpPr>
          <p:cNvPr id="71" name="Shape 61"/>
          <p:cNvSpPr/>
          <p:nvPr/>
        </p:nvSpPr>
        <p:spPr>
          <a:xfrm>
            <a:off x="7863840" y="1920240"/>
            <a:ext cx="3867912" cy="256032"/>
          </a:xfrm>
          <a:prstGeom prst="rect">
            <a:avLst/>
          </a:prstGeom>
          <a:solidFill>
            <a:srgbClr val="2B2B2B">
              <a:alpha val="80000"/>
            </a:srgbClr>
          </a:solidFill>
          <a:ln w="12700">
            <a:solidFill>
              <a:srgbClr val="2B2B2B"/>
            </a:solidFill>
            <a:prstDash val="solid"/>
          </a:ln>
        </p:spPr>
      </p:sp>
      <p:sp>
        <p:nvSpPr>
          <p:cNvPr id="72" name="Text 62"/>
          <p:cNvSpPr txBox="1"/>
          <p:nvPr/>
        </p:nvSpPr>
        <p:spPr>
          <a:xfrm>
            <a:off x="7955280" y="1920240"/>
            <a:ext cx="3657600"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One 300-series cold-rolled line</a:t>
            </a:r>
            <a:endParaRPr lang="en-US" sz="1050" dirty="0"/>
          </a:p>
        </p:txBody>
      </p:sp>
      <p:sp>
        <p:nvSpPr>
          <p:cNvPr id="73" name="Text 63"/>
          <p:cNvSpPr txBox="1"/>
          <p:nvPr/>
        </p:nvSpPr>
        <p:spPr>
          <a:xfrm>
            <a:off x="7955280" y="2240280"/>
            <a:ext cx="1828800" cy="182880"/>
          </a:xfrm>
          <a:prstGeom prst="rect">
            <a:avLst/>
          </a:prstGeom>
          <a:noFill/>
          <a:ln/>
        </p:spPr>
        <p:txBody>
          <a:bodyPr wrap="square" lIns="0" tIns="0" rIns="0" bIns="0" rtlCol="0" anchor="t"/>
          <a:lstStyle/>
          <a:p>
            <a:pPr indent="0" marL="0">
              <a:buNone/>
            </a:pPr>
            <a:r>
              <a:rPr lang="en-US" sz="900" b="1" spc="100" kern="0" dirty="0">
                <a:solidFill>
                  <a:srgbClr val="D2651F"/>
                </a:solidFill>
                <a:latin typeface="Calibri" pitchFamily="34" charset="0"/>
                <a:ea typeface="Calibri" pitchFamily="34" charset="-122"/>
                <a:cs typeface="Calibri" pitchFamily="34" charset="-120"/>
              </a:rPr>
              <a:t>IN THE PILOT</a:t>
            </a:r>
            <a:endParaRPr lang="en-US" sz="900" dirty="0"/>
          </a:p>
        </p:txBody>
      </p:sp>
      <p:sp>
        <p:nvSpPr>
          <p:cNvPr id="74" name="Text 64"/>
          <p:cNvSpPr txBox="1"/>
          <p:nvPr/>
        </p:nvSpPr>
        <p:spPr>
          <a:xfrm>
            <a:off x="9921240" y="2240280"/>
            <a:ext cx="1737360" cy="182880"/>
          </a:xfrm>
          <a:prstGeom prst="rect">
            <a:avLst/>
          </a:prstGeom>
          <a:noFill/>
          <a:ln/>
        </p:spPr>
        <p:txBody>
          <a:bodyPr wrap="square" lIns="0" tIns="0" rIns="0" bIns="0" rtlCol="0" anchor="t"/>
          <a:lstStyle/>
          <a:p>
            <a:pPr indent="0" marL="0">
              <a:buNone/>
            </a:pPr>
            <a:r>
              <a:rPr lang="en-US" sz="900" b="1" spc="100" kern="0" dirty="0">
                <a:solidFill>
                  <a:srgbClr val="6E6E6E"/>
                </a:solidFill>
                <a:latin typeface="Calibri" pitchFamily="34" charset="0"/>
                <a:ea typeface="Calibri" pitchFamily="34" charset="-122"/>
                <a:cs typeface="Calibri" pitchFamily="34" charset="-120"/>
              </a:rPr>
              <a:t>LATER</a:t>
            </a:r>
            <a:endParaRPr lang="en-US" sz="900" dirty="0"/>
          </a:p>
        </p:txBody>
      </p:sp>
      <p:sp>
        <p:nvSpPr>
          <p:cNvPr id="75" name="Shape 65"/>
          <p:cNvSpPr/>
          <p:nvPr/>
        </p:nvSpPr>
        <p:spPr>
          <a:xfrm>
            <a:off x="7973568" y="2523744"/>
            <a:ext cx="91440" cy="91440"/>
          </a:xfrm>
          <a:prstGeom prst="ellipse">
            <a:avLst/>
          </a:prstGeom>
          <a:solidFill>
            <a:srgbClr val="D2651F"/>
          </a:solidFill>
          <a:ln w="12700">
            <a:solidFill>
              <a:srgbClr val="D2651F"/>
            </a:solidFill>
            <a:prstDash val="solid"/>
          </a:ln>
        </p:spPr>
      </p:sp>
      <p:sp>
        <p:nvSpPr>
          <p:cNvPr id="76" name="Text 66"/>
          <p:cNvSpPr txBox="1"/>
          <p:nvPr/>
        </p:nvSpPr>
        <p:spPr>
          <a:xfrm>
            <a:off x="8119872" y="2450592"/>
            <a:ext cx="1737360" cy="237744"/>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Both faces, 2B + BA</a:t>
            </a:r>
            <a:endParaRPr lang="en-US" sz="950" dirty="0"/>
          </a:p>
        </p:txBody>
      </p:sp>
      <p:sp>
        <p:nvSpPr>
          <p:cNvPr id="77" name="Shape 67"/>
          <p:cNvSpPr/>
          <p:nvPr/>
        </p:nvSpPr>
        <p:spPr>
          <a:xfrm>
            <a:off x="9939528" y="2523744"/>
            <a:ext cx="91440" cy="91440"/>
          </a:xfrm>
          <a:prstGeom prst="ellipse">
            <a:avLst/>
          </a:prstGeom>
          <a:solidFill>
            <a:srgbClr val="9E9E9E"/>
          </a:solidFill>
          <a:ln w="12700">
            <a:solidFill>
              <a:srgbClr val="9E9E9E"/>
            </a:solidFill>
            <a:prstDash val="solid"/>
          </a:ln>
        </p:spPr>
      </p:sp>
      <p:sp>
        <p:nvSpPr>
          <p:cNvPr id="78" name="Text 68"/>
          <p:cNvSpPr txBox="1"/>
          <p:nvPr/>
        </p:nvSpPr>
        <p:spPr>
          <a:xfrm>
            <a:off x="10085832" y="2450592"/>
            <a:ext cx="1645920" cy="237744"/>
          </a:xfrm>
          <a:prstGeom prst="rect">
            <a:avLst/>
          </a:prstGeom>
          <a:noFill/>
          <a:ln/>
        </p:spPr>
        <p:txBody>
          <a:bodyPr wrap="square" lIns="0" tIns="0" rIns="0" bIns="0" rtlCol="0" anchor="ctr"/>
          <a:lstStyle/>
          <a:p>
            <a:pPr indent="0" marL="0">
              <a:buNone/>
            </a:pPr>
            <a:r>
              <a:rPr lang="en-US" sz="950" dirty="0">
                <a:solidFill>
                  <a:srgbClr val="404040"/>
                </a:solidFill>
                <a:latin typeface="Calibri" pitchFamily="34" charset="0"/>
                <a:ea typeface="Calibri" pitchFamily="34" charset="-122"/>
                <a:cs typeface="Calibri" pitchFamily="34" charset="-120"/>
              </a:rPr>
              <a:t>Hot end, caster side</a:t>
            </a:r>
            <a:endParaRPr lang="en-US" sz="950" dirty="0"/>
          </a:p>
        </p:txBody>
      </p:sp>
      <p:sp>
        <p:nvSpPr>
          <p:cNvPr id="79" name="Shape 69"/>
          <p:cNvSpPr/>
          <p:nvPr/>
        </p:nvSpPr>
        <p:spPr>
          <a:xfrm>
            <a:off x="7973568" y="2798064"/>
            <a:ext cx="91440" cy="91440"/>
          </a:xfrm>
          <a:prstGeom prst="ellipse">
            <a:avLst/>
          </a:prstGeom>
          <a:solidFill>
            <a:srgbClr val="D2651F"/>
          </a:solidFill>
          <a:ln w="12700">
            <a:solidFill>
              <a:srgbClr val="D2651F"/>
            </a:solidFill>
            <a:prstDash val="solid"/>
          </a:ln>
        </p:spPr>
      </p:sp>
      <p:sp>
        <p:nvSpPr>
          <p:cNvPr id="80" name="Text 70"/>
          <p:cNvSpPr txBox="1"/>
          <p:nvPr/>
        </p:nvSpPr>
        <p:spPr>
          <a:xfrm>
            <a:off x="8119872" y="2724912"/>
            <a:ext cx="1737360" cy="237744"/>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6 defect families</a:t>
            </a:r>
            <a:endParaRPr lang="en-US" sz="950" dirty="0"/>
          </a:p>
        </p:txBody>
      </p:sp>
      <p:sp>
        <p:nvSpPr>
          <p:cNvPr id="81" name="Shape 71"/>
          <p:cNvSpPr/>
          <p:nvPr/>
        </p:nvSpPr>
        <p:spPr>
          <a:xfrm>
            <a:off x="9939528" y="2798064"/>
            <a:ext cx="91440" cy="91440"/>
          </a:xfrm>
          <a:prstGeom prst="ellipse">
            <a:avLst/>
          </a:prstGeom>
          <a:solidFill>
            <a:srgbClr val="9E9E9E"/>
          </a:solidFill>
          <a:ln w="12700">
            <a:solidFill>
              <a:srgbClr val="9E9E9E"/>
            </a:solidFill>
            <a:prstDash val="solid"/>
          </a:ln>
        </p:spPr>
      </p:sp>
      <p:sp>
        <p:nvSpPr>
          <p:cNvPr id="82" name="Text 72"/>
          <p:cNvSpPr txBox="1"/>
          <p:nvPr/>
        </p:nvSpPr>
        <p:spPr>
          <a:xfrm>
            <a:off x="10085832" y="2724912"/>
            <a:ext cx="1645920" cy="237744"/>
          </a:xfrm>
          <a:prstGeom prst="rect">
            <a:avLst/>
          </a:prstGeom>
          <a:noFill/>
          <a:ln/>
        </p:spPr>
        <p:txBody>
          <a:bodyPr wrap="square" lIns="0" tIns="0" rIns="0" bIns="0" rtlCol="0" anchor="ctr"/>
          <a:lstStyle/>
          <a:p>
            <a:pPr indent="0" marL="0">
              <a:buNone/>
            </a:pPr>
            <a:r>
              <a:rPr lang="en-US" sz="950" dirty="0">
                <a:solidFill>
                  <a:srgbClr val="404040"/>
                </a:solidFill>
                <a:latin typeface="Calibri" pitchFamily="34" charset="0"/>
                <a:ea typeface="Calibri" pitchFamily="34" charset="-122"/>
                <a:cs typeface="Calibri" pitchFamily="34" charset="-120"/>
              </a:rPr>
              <a:t>Edge cracks</a:t>
            </a:r>
            <a:endParaRPr lang="en-US" sz="950" dirty="0"/>
          </a:p>
        </p:txBody>
      </p:sp>
      <p:sp>
        <p:nvSpPr>
          <p:cNvPr id="83" name="Shape 73"/>
          <p:cNvSpPr/>
          <p:nvPr/>
        </p:nvSpPr>
        <p:spPr>
          <a:xfrm>
            <a:off x="7973568" y="3072384"/>
            <a:ext cx="91440" cy="91440"/>
          </a:xfrm>
          <a:prstGeom prst="ellipse">
            <a:avLst/>
          </a:prstGeom>
          <a:solidFill>
            <a:srgbClr val="D2651F"/>
          </a:solidFill>
          <a:ln w="12700">
            <a:solidFill>
              <a:srgbClr val="D2651F"/>
            </a:solidFill>
            <a:prstDash val="solid"/>
          </a:ln>
        </p:spPr>
      </p:sp>
      <p:sp>
        <p:nvSpPr>
          <p:cNvPr id="84" name="Text 74"/>
          <p:cNvSpPr txBox="1"/>
          <p:nvPr/>
        </p:nvSpPr>
        <p:spPr>
          <a:xfrm>
            <a:off x="8119872" y="2999232"/>
            <a:ext cx="1737360" cy="237744"/>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Read-only until P3</a:t>
            </a:r>
            <a:endParaRPr lang="en-US" sz="950" dirty="0"/>
          </a:p>
        </p:txBody>
      </p:sp>
      <p:sp>
        <p:nvSpPr>
          <p:cNvPr id="85" name="Shape 75"/>
          <p:cNvSpPr/>
          <p:nvPr/>
        </p:nvSpPr>
        <p:spPr>
          <a:xfrm>
            <a:off x="9939528" y="3072384"/>
            <a:ext cx="91440" cy="91440"/>
          </a:xfrm>
          <a:prstGeom prst="ellipse">
            <a:avLst/>
          </a:prstGeom>
          <a:solidFill>
            <a:srgbClr val="9E9E9E"/>
          </a:solidFill>
          <a:ln w="12700">
            <a:solidFill>
              <a:srgbClr val="9E9E9E"/>
            </a:solidFill>
            <a:prstDash val="solid"/>
          </a:ln>
        </p:spPr>
      </p:sp>
      <p:sp>
        <p:nvSpPr>
          <p:cNvPr id="86" name="Text 76"/>
          <p:cNvSpPr txBox="1"/>
          <p:nvPr/>
        </p:nvSpPr>
        <p:spPr>
          <a:xfrm>
            <a:off x="10085832" y="2999232"/>
            <a:ext cx="1645920" cy="237744"/>
          </a:xfrm>
          <a:prstGeom prst="rect">
            <a:avLst/>
          </a:prstGeom>
          <a:noFill/>
          <a:ln/>
        </p:spPr>
        <p:txBody>
          <a:bodyPr wrap="square" lIns="0" tIns="0" rIns="0" bIns="0" rtlCol="0" anchor="ctr"/>
          <a:lstStyle/>
          <a:p>
            <a:pPr indent="0" marL="0">
              <a:buNone/>
            </a:pPr>
            <a:r>
              <a:rPr lang="en-US" sz="950" dirty="0">
                <a:solidFill>
                  <a:srgbClr val="404040"/>
                </a:solidFill>
                <a:latin typeface="Calibri" pitchFamily="34" charset="0"/>
                <a:ea typeface="Calibri" pitchFamily="34" charset="-122"/>
                <a:cs typeface="Calibri" pitchFamily="34" charset="-120"/>
              </a:rPr>
              <a:t>Other plants</a:t>
            </a:r>
            <a:endParaRPr lang="en-US" sz="950" dirty="0"/>
          </a:p>
        </p:txBody>
      </p:sp>
      <p:sp>
        <p:nvSpPr>
          <p:cNvPr id="87" name="Text 77"/>
          <p:cNvSpPr txBox="1"/>
          <p:nvPr/>
        </p:nvSpPr>
        <p:spPr>
          <a:xfrm>
            <a:off x="7955280" y="3328416"/>
            <a:ext cx="3749040" cy="237744"/>
          </a:xfrm>
          <a:prstGeom prst="rect">
            <a:avLst/>
          </a:prstGeom>
          <a:noFill/>
          <a:ln/>
        </p:spPr>
        <p:txBody>
          <a:bodyPr wrap="square" lIns="0" tIns="0" rIns="0" bIns="0" rtlCol="0" anchor="ctr"/>
          <a:lstStyle/>
          <a:p>
            <a:pPr indent="0" marL="0">
              <a:buNone/>
            </a:pPr>
            <a:r>
              <a:rPr lang="en-US" sz="950" dirty="0">
                <a:solidFill>
                  <a:srgbClr val="6E6E6E"/>
                </a:solidFill>
                <a:latin typeface="Calibri" pitchFamily="34" charset="0"/>
                <a:ea typeface="Calibri" pitchFamily="34" charset="-122"/>
                <a:cs typeface="Calibri" pitchFamily="34" charset="-120"/>
              </a:rPr>
              <a:t>Owner: </a:t>
            </a:r>
            <a:pPr indent="0" marL="0">
              <a:buNone/>
            </a:pPr>
            <a:r>
              <a:rPr lang="en-US" sz="950" b="1" dirty="0">
                <a:solidFill>
                  <a:srgbClr val="1A1A1A"/>
                </a:solidFill>
                <a:latin typeface="Calibri" pitchFamily="34" charset="0"/>
                <a:ea typeface="Calibri" pitchFamily="34" charset="-122"/>
                <a:cs typeface="Calibri" pitchFamily="34" charset="-120"/>
              </a:rPr>
              <a:t>JSL Quality</a:t>
            </a:r>
            <a:pPr indent="0" marL="0">
              <a:buNone/>
            </a:pPr>
            <a:r>
              <a:rPr lang="en-US" sz="950" dirty="0">
                <a:solidFill>
                  <a:srgbClr val="6E6E6E"/>
                </a:solidFill>
                <a:latin typeface="Calibri" pitchFamily="34" charset="0"/>
                <a:ea typeface="Calibri" pitchFamily="34" charset="-122"/>
                <a:cs typeface="Calibri" pitchFamily="34" charset="-120"/>
              </a:rPr>
              <a:t>   Integration: </a:t>
            </a:r>
            <a:pPr indent="0" marL="0">
              <a:buNone/>
            </a:pPr>
            <a:r>
              <a:rPr lang="en-US" sz="950" b="1" dirty="0">
                <a:solidFill>
                  <a:srgbClr val="1A1A1A"/>
                </a:solidFill>
                <a:latin typeface="Calibri" pitchFamily="34" charset="0"/>
                <a:ea typeface="Calibri" pitchFamily="34" charset="-122"/>
                <a:cs typeface="Calibri" pitchFamily="34" charset="-120"/>
              </a:rPr>
              <a:t>Pragati team</a:t>
            </a:r>
            <a:endParaRPr lang="en-US" sz="950" dirty="0"/>
          </a:p>
        </p:txBody>
      </p:sp>
      <p:sp>
        <p:nvSpPr>
          <p:cNvPr id="88" name="Shape 78"/>
          <p:cNvSpPr/>
          <p:nvPr/>
        </p:nvSpPr>
        <p:spPr>
          <a:xfrm>
            <a:off x="457200" y="3730752"/>
            <a:ext cx="5541264" cy="274320"/>
          </a:xfrm>
          <a:prstGeom prst="rect">
            <a:avLst/>
          </a:prstGeom>
          <a:solidFill>
            <a:srgbClr val="E4803A"/>
          </a:solidFill>
          <a:ln w="12700">
            <a:solidFill>
              <a:srgbClr val="E4803A"/>
            </a:solidFill>
            <a:prstDash val="solid"/>
          </a:ln>
        </p:spPr>
      </p:sp>
      <p:sp>
        <p:nvSpPr>
          <p:cNvPr id="89" name="Text 79"/>
          <p:cNvSpPr txBox="1"/>
          <p:nvPr/>
        </p:nvSpPr>
        <p:spPr>
          <a:xfrm>
            <a:off x="548640" y="3730752"/>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Top risks: where they sit, and when each is retired</a:t>
            </a:r>
            <a:endParaRPr lang="en-US" sz="1100" dirty="0"/>
          </a:p>
        </p:txBody>
      </p:sp>
      <p:sp>
        <p:nvSpPr>
          <p:cNvPr id="90" name="Shape 80"/>
          <p:cNvSpPr/>
          <p:nvPr/>
        </p:nvSpPr>
        <p:spPr>
          <a:xfrm>
            <a:off x="868680" y="4114800"/>
            <a:ext cx="484632" cy="484632"/>
          </a:xfrm>
          <a:prstGeom prst="rect">
            <a:avLst/>
          </a:prstGeom>
          <a:solidFill>
            <a:srgbClr val="F5BE92"/>
          </a:solidFill>
          <a:ln w="12700">
            <a:solidFill>
              <a:srgbClr val="F5BE92"/>
            </a:solidFill>
            <a:prstDash val="solid"/>
          </a:ln>
        </p:spPr>
      </p:sp>
      <p:sp>
        <p:nvSpPr>
          <p:cNvPr id="91" name="Shape 81"/>
          <p:cNvSpPr/>
          <p:nvPr/>
        </p:nvSpPr>
        <p:spPr>
          <a:xfrm>
            <a:off x="1380744" y="4114800"/>
            <a:ext cx="484632" cy="484632"/>
          </a:xfrm>
          <a:prstGeom prst="rect">
            <a:avLst/>
          </a:prstGeom>
          <a:solidFill>
            <a:srgbClr val="EC9352"/>
          </a:solidFill>
          <a:ln w="12700">
            <a:solidFill>
              <a:srgbClr val="EC9352"/>
            </a:solidFill>
            <a:prstDash val="solid"/>
          </a:ln>
        </p:spPr>
      </p:sp>
      <p:sp>
        <p:nvSpPr>
          <p:cNvPr id="92" name="Shape 82"/>
          <p:cNvSpPr/>
          <p:nvPr/>
        </p:nvSpPr>
        <p:spPr>
          <a:xfrm>
            <a:off x="1892808" y="4114800"/>
            <a:ext cx="484632" cy="484632"/>
          </a:xfrm>
          <a:prstGeom prst="rect">
            <a:avLst/>
          </a:prstGeom>
          <a:solidFill>
            <a:srgbClr val="C4561A"/>
          </a:solidFill>
          <a:ln w="12700">
            <a:solidFill>
              <a:srgbClr val="C4561A"/>
            </a:solidFill>
            <a:prstDash val="solid"/>
          </a:ln>
        </p:spPr>
      </p:sp>
      <p:sp>
        <p:nvSpPr>
          <p:cNvPr id="93" name="Shape 83"/>
          <p:cNvSpPr/>
          <p:nvPr/>
        </p:nvSpPr>
        <p:spPr>
          <a:xfrm>
            <a:off x="868680" y="4626864"/>
            <a:ext cx="484632" cy="484632"/>
          </a:xfrm>
          <a:prstGeom prst="rect">
            <a:avLst/>
          </a:prstGeom>
          <a:solidFill>
            <a:srgbClr val="FCE5D3"/>
          </a:solidFill>
          <a:ln w="12700">
            <a:solidFill>
              <a:srgbClr val="FCE5D3"/>
            </a:solidFill>
            <a:prstDash val="solid"/>
          </a:ln>
        </p:spPr>
      </p:sp>
      <p:sp>
        <p:nvSpPr>
          <p:cNvPr id="94" name="Shape 84"/>
          <p:cNvSpPr/>
          <p:nvPr/>
        </p:nvSpPr>
        <p:spPr>
          <a:xfrm>
            <a:off x="1380744" y="4626864"/>
            <a:ext cx="484632" cy="484632"/>
          </a:xfrm>
          <a:prstGeom prst="rect">
            <a:avLst/>
          </a:prstGeom>
          <a:solidFill>
            <a:srgbClr val="F5BE92"/>
          </a:solidFill>
          <a:ln w="12700">
            <a:solidFill>
              <a:srgbClr val="F5BE92"/>
            </a:solidFill>
            <a:prstDash val="solid"/>
          </a:ln>
        </p:spPr>
      </p:sp>
      <p:sp>
        <p:nvSpPr>
          <p:cNvPr id="95" name="Shape 85"/>
          <p:cNvSpPr/>
          <p:nvPr/>
        </p:nvSpPr>
        <p:spPr>
          <a:xfrm>
            <a:off x="1892808" y="4626864"/>
            <a:ext cx="484632" cy="484632"/>
          </a:xfrm>
          <a:prstGeom prst="rect">
            <a:avLst/>
          </a:prstGeom>
          <a:solidFill>
            <a:srgbClr val="EC9352"/>
          </a:solidFill>
          <a:ln w="12700">
            <a:solidFill>
              <a:srgbClr val="EC9352"/>
            </a:solidFill>
            <a:prstDash val="solid"/>
          </a:ln>
        </p:spPr>
      </p:sp>
      <p:sp>
        <p:nvSpPr>
          <p:cNvPr id="96" name="Shape 86"/>
          <p:cNvSpPr/>
          <p:nvPr/>
        </p:nvSpPr>
        <p:spPr>
          <a:xfrm>
            <a:off x="868680" y="5138928"/>
            <a:ext cx="484632" cy="484632"/>
          </a:xfrm>
          <a:prstGeom prst="rect">
            <a:avLst/>
          </a:prstGeom>
          <a:solidFill>
            <a:srgbClr val="F3F3F3"/>
          </a:solidFill>
          <a:ln w="12700">
            <a:solidFill>
              <a:srgbClr val="F3F3F3"/>
            </a:solidFill>
            <a:prstDash val="solid"/>
          </a:ln>
        </p:spPr>
      </p:sp>
      <p:sp>
        <p:nvSpPr>
          <p:cNvPr id="97" name="Shape 87"/>
          <p:cNvSpPr/>
          <p:nvPr/>
        </p:nvSpPr>
        <p:spPr>
          <a:xfrm>
            <a:off x="1380744" y="5138928"/>
            <a:ext cx="484632" cy="484632"/>
          </a:xfrm>
          <a:prstGeom prst="rect">
            <a:avLst/>
          </a:prstGeom>
          <a:solidFill>
            <a:srgbClr val="FCE5D3"/>
          </a:solidFill>
          <a:ln w="12700">
            <a:solidFill>
              <a:srgbClr val="FCE5D3"/>
            </a:solidFill>
            <a:prstDash val="solid"/>
          </a:ln>
        </p:spPr>
      </p:sp>
      <p:sp>
        <p:nvSpPr>
          <p:cNvPr id="98" name="Shape 88"/>
          <p:cNvSpPr/>
          <p:nvPr/>
        </p:nvSpPr>
        <p:spPr>
          <a:xfrm>
            <a:off x="1892808" y="5138928"/>
            <a:ext cx="484632" cy="484632"/>
          </a:xfrm>
          <a:prstGeom prst="rect">
            <a:avLst/>
          </a:prstGeom>
          <a:solidFill>
            <a:srgbClr val="F5BE92"/>
          </a:solidFill>
          <a:ln w="12700">
            <a:solidFill>
              <a:srgbClr val="F5BE92"/>
            </a:solidFill>
            <a:prstDash val="solid"/>
          </a:ln>
        </p:spPr>
      </p:sp>
      <p:sp>
        <p:nvSpPr>
          <p:cNvPr id="99" name="Text 89"/>
          <p:cNvSpPr txBox="1"/>
          <p:nvPr/>
        </p:nvSpPr>
        <p:spPr>
          <a:xfrm>
            <a:off x="502920" y="4270248"/>
            <a:ext cx="347472" cy="182880"/>
          </a:xfrm>
          <a:prstGeom prst="rect">
            <a:avLst/>
          </a:prstGeom>
          <a:noFill/>
          <a:ln/>
        </p:spPr>
        <p:txBody>
          <a:bodyPr wrap="square" lIns="0" tIns="0" rIns="0" bIns="0" rtlCol="0" anchor="t"/>
          <a:lstStyle/>
          <a:p>
            <a:pPr indent="0" marL="0">
              <a:buNone/>
            </a:pPr>
            <a:r>
              <a:rPr lang="en-US" sz="900" dirty="0">
                <a:solidFill>
                  <a:srgbClr val="6E6E6E"/>
                </a:solidFill>
                <a:latin typeface="Calibri" pitchFamily="34" charset="0"/>
                <a:ea typeface="Calibri" pitchFamily="34" charset="-122"/>
                <a:cs typeface="Calibri" pitchFamily="34" charset="-120"/>
              </a:rPr>
              <a:t>High</a:t>
            </a:r>
            <a:endParaRPr lang="en-US" sz="900" dirty="0"/>
          </a:p>
        </p:txBody>
      </p:sp>
      <p:sp>
        <p:nvSpPr>
          <p:cNvPr id="100" name="Text 90"/>
          <p:cNvSpPr txBox="1"/>
          <p:nvPr/>
        </p:nvSpPr>
        <p:spPr>
          <a:xfrm>
            <a:off x="502920" y="4782312"/>
            <a:ext cx="347472" cy="182880"/>
          </a:xfrm>
          <a:prstGeom prst="rect">
            <a:avLst/>
          </a:prstGeom>
          <a:noFill/>
          <a:ln/>
        </p:spPr>
        <p:txBody>
          <a:bodyPr wrap="square" lIns="0" tIns="0" rIns="0" bIns="0" rtlCol="0" anchor="t"/>
          <a:lstStyle/>
          <a:p>
            <a:pPr indent="0" marL="0">
              <a:buNone/>
            </a:pPr>
            <a:r>
              <a:rPr lang="en-US" sz="900" dirty="0">
                <a:solidFill>
                  <a:srgbClr val="6E6E6E"/>
                </a:solidFill>
                <a:latin typeface="Calibri" pitchFamily="34" charset="0"/>
                <a:ea typeface="Calibri" pitchFamily="34" charset="-122"/>
                <a:cs typeface="Calibri" pitchFamily="34" charset="-120"/>
              </a:rPr>
              <a:t>Med</a:t>
            </a:r>
            <a:endParaRPr lang="en-US" sz="900" dirty="0"/>
          </a:p>
        </p:txBody>
      </p:sp>
      <p:sp>
        <p:nvSpPr>
          <p:cNvPr id="101" name="Text 91"/>
          <p:cNvSpPr txBox="1"/>
          <p:nvPr/>
        </p:nvSpPr>
        <p:spPr>
          <a:xfrm>
            <a:off x="502920" y="5294376"/>
            <a:ext cx="347472" cy="182880"/>
          </a:xfrm>
          <a:prstGeom prst="rect">
            <a:avLst/>
          </a:prstGeom>
          <a:noFill/>
          <a:ln/>
        </p:spPr>
        <p:txBody>
          <a:bodyPr wrap="square" lIns="0" tIns="0" rIns="0" bIns="0" rtlCol="0" anchor="t"/>
          <a:lstStyle/>
          <a:p>
            <a:pPr indent="0" marL="0">
              <a:buNone/>
            </a:pPr>
            <a:r>
              <a:rPr lang="en-US" sz="900" dirty="0">
                <a:solidFill>
                  <a:srgbClr val="6E6E6E"/>
                </a:solidFill>
                <a:latin typeface="Calibri" pitchFamily="34" charset="0"/>
                <a:ea typeface="Calibri" pitchFamily="34" charset="-122"/>
                <a:cs typeface="Calibri" pitchFamily="34" charset="-120"/>
              </a:rPr>
              <a:t>Low</a:t>
            </a:r>
            <a:endParaRPr lang="en-US" sz="900" dirty="0"/>
          </a:p>
        </p:txBody>
      </p:sp>
      <p:sp>
        <p:nvSpPr>
          <p:cNvPr id="102" name="Text 92"/>
          <p:cNvSpPr txBox="1"/>
          <p:nvPr/>
        </p:nvSpPr>
        <p:spPr>
          <a:xfrm>
            <a:off x="868680" y="5650992"/>
            <a:ext cx="512064" cy="164592"/>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Low</a:t>
            </a:r>
            <a:endParaRPr lang="en-US" sz="900" dirty="0"/>
          </a:p>
        </p:txBody>
      </p:sp>
      <p:sp>
        <p:nvSpPr>
          <p:cNvPr id="103" name="Text 93"/>
          <p:cNvSpPr txBox="1"/>
          <p:nvPr/>
        </p:nvSpPr>
        <p:spPr>
          <a:xfrm>
            <a:off x="1380744" y="5650992"/>
            <a:ext cx="512064" cy="164592"/>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Med</a:t>
            </a:r>
            <a:endParaRPr lang="en-US" sz="900" dirty="0"/>
          </a:p>
        </p:txBody>
      </p:sp>
      <p:sp>
        <p:nvSpPr>
          <p:cNvPr id="104" name="Text 94"/>
          <p:cNvSpPr txBox="1"/>
          <p:nvPr/>
        </p:nvSpPr>
        <p:spPr>
          <a:xfrm>
            <a:off x="1892808" y="5650992"/>
            <a:ext cx="512064" cy="164592"/>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High</a:t>
            </a:r>
            <a:endParaRPr lang="en-US" sz="900" dirty="0"/>
          </a:p>
        </p:txBody>
      </p:sp>
      <p:sp>
        <p:nvSpPr>
          <p:cNvPr id="105" name="Text 95"/>
          <p:cNvSpPr txBox="1"/>
          <p:nvPr/>
        </p:nvSpPr>
        <p:spPr>
          <a:xfrm>
            <a:off x="502920" y="5815584"/>
            <a:ext cx="2011680" cy="182880"/>
          </a:xfrm>
          <a:prstGeom prst="rect">
            <a:avLst/>
          </a:prstGeom>
          <a:noFill/>
          <a:ln/>
        </p:spPr>
        <p:txBody>
          <a:bodyPr wrap="square" lIns="0" tIns="0" rIns="0" bIns="0" rtlCol="0" anchor="t"/>
          <a:lstStyle/>
          <a:p>
            <a:pPr indent="0" marL="0">
              <a:buNone/>
            </a:pPr>
            <a:r>
              <a:rPr lang="en-US" sz="900" i="1" dirty="0">
                <a:solidFill>
                  <a:srgbClr val="6E6E6E"/>
                </a:solidFill>
                <a:latin typeface="Calibri" pitchFamily="34" charset="0"/>
                <a:ea typeface="Calibri" pitchFamily="34" charset="-122"/>
                <a:cs typeface="Calibri" pitchFamily="34" charset="-120"/>
              </a:rPr>
              <a:t>likelihood ↑   impact →</a:t>
            </a:r>
            <a:endParaRPr lang="en-US" sz="900" dirty="0"/>
          </a:p>
        </p:txBody>
      </p:sp>
      <p:sp>
        <p:nvSpPr>
          <p:cNvPr id="106" name="Shape 96"/>
          <p:cNvSpPr/>
          <p:nvPr/>
        </p:nvSpPr>
        <p:spPr>
          <a:xfrm>
            <a:off x="2011680" y="4224528"/>
            <a:ext cx="256032" cy="256032"/>
          </a:xfrm>
          <a:prstGeom prst="ellipse">
            <a:avLst/>
          </a:prstGeom>
          <a:solidFill>
            <a:srgbClr val="2B2B2B"/>
          </a:solidFill>
          <a:ln w="12700">
            <a:solidFill>
              <a:srgbClr val="2B2B2B"/>
            </a:solidFill>
            <a:prstDash val="solid"/>
          </a:ln>
        </p:spPr>
      </p:sp>
      <p:sp>
        <p:nvSpPr>
          <p:cNvPr id="107" name="Text 97"/>
          <p:cNvSpPr txBox="1"/>
          <p:nvPr/>
        </p:nvSpPr>
        <p:spPr>
          <a:xfrm>
            <a:off x="2011680" y="422452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8" name="Shape 98"/>
          <p:cNvSpPr/>
          <p:nvPr/>
        </p:nvSpPr>
        <p:spPr>
          <a:xfrm>
            <a:off x="2011680" y="4736592"/>
            <a:ext cx="256032" cy="256032"/>
          </a:xfrm>
          <a:prstGeom prst="ellipse">
            <a:avLst/>
          </a:prstGeom>
          <a:solidFill>
            <a:srgbClr val="2B2B2B"/>
          </a:solidFill>
          <a:ln w="12700">
            <a:solidFill>
              <a:srgbClr val="2B2B2B"/>
            </a:solidFill>
            <a:prstDash val="solid"/>
          </a:ln>
        </p:spPr>
      </p:sp>
      <p:sp>
        <p:nvSpPr>
          <p:cNvPr id="109" name="Text 99"/>
          <p:cNvSpPr txBox="1"/>
          <p:nvPr/>
        </p:nvSpPr>
        <p:spPr>
          <a:xfrm>
            <a:off x="2011680" y="473659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10" name="Shape 100"/>
          <p:cNvSpPr/>
          <p:nvPr/>
        </p:nvSpPr>
        <p:spPr>
          <a:xfrm>
            <a:off x="1499616" y="4224528"/>
            <a:ext cx="256032" cy="256032"/>
          </a:xfrm>
          <a:prstGeom prst="ellipse">
            <a:avLst/>
          </a:prstGeom>
          <a:solidFill>
            <a:srgbClr val="2B2B2B"/>
          </a:solidFill>
          <a:ln w="12700">
            <a:solidFill>
              <a:srgbClr val="2B2B2B"/>
            </a:solidFill>
            <a:prstDash val="solid"/>
          </a:ln>
        </p:spPr>
      </p:sp>
      <p:sp>
        <p:nvSpPr>
          <p:cNvPr id="111" name="Text 101"/>
          <p:cNvSpPr txBox="1"/>
          <p:nvPr/>
        </p:nvSpPr>
        <p:spPr>
          <a:xfrm>
            <a:off x="1499616" y="422452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12" name="Shape 102"/>
          <p:cNvSpPr/>
          <p:nvPr/>
        </p:nvSpPr>
        <p:spPr>
          <a:xfrm>
            <a:off x="1499616" y="4736592"/>
            <a:ext cx="256032" cy="256032"/>
          </a:xfrm>
          <a:prstGeom prst="ellipse">
            <a:avLst/>
          </a:prstGeom>
          <a:solidFill>
            <a:srgbClr val="2B2B2B"/>
          </a:solidFill>
          <a:ln w="12700">
            <a:solidFill>
              <a:srgbClr val="2B2B2B"/>
            </a:solidFill>
            <a:prstDash val="solid"/>
          </a:ln>
        </p:spPr>
      </p:sp>
      <p:sp>
        <p:nvSpPr>
          <p:cNvPr id="113" name="Text 103"/>
          <p:cNvSpPr txBox="1"/>
          <p:nvPr/>
        </p:nvSpPr>
        <p:spPr>
          <a:xfrm>
            <a:off x="1499616" y="473659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14" name="Shape 104"/>
          <p:cNvSpPr/>
          <p:nvPr/>
        </p:nvSpPr>
        <p:spPr>
          <a:xfrm>
            <a:off x="1499616" y="5248656"/>
            <a:ext cx="256032" cy="256032"/>
          </a:xfrm>
          <a:prstGeom prst="ellipse">
            <a:avLst/>
          </a:prstGeom>
          <a:solidFill>
            <a:srgbClr val="2B2B2B"/>
          </a:solidFill>
          <a:ln w="12700">
            <a:solidFill>
              <a:srgbClr val="2B2B2B"/>
            </a:solidFill>
            <a:prstDash val="solid"/>
          </a:ln>
        </p:spPr>
      </p:sp>
      <p:sp>
        <p:nvSpPr>
          <p:cNvPr id="115" name="Text 105"/>
          <p:cNvSpPr txBox="1"/>
          <p:nvPr/>
        </p:nvSpPr>
        <p:spPr>
          <a:xfrm>
            <a:off x="1499616" y="524865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16" name="Shape 106"/>
          <p:cNvSpPr/>
          <p:nvPr/>
        </p:nvSpPr>
        <p:spPr>
          <a:xfrm>
            <a:off x="2011680" y="5248656"/>
            <a:ext cx="256032" cy="256032"/>
          </a:xfrm>
          <a:prstGeom prst="ellipse">
            <a:avLst/>
          </a:prstGeom>
          <a:solidFill>
            <a:srgbClr val="2B2B2B"/>
          </a:solidFill>
          <a:ln w="12700">
            <a:solidFill>
              <a:srgbClr val="2B2B2B"/>
            </a:solidFill>
            <a:prstDash val="solid"/>
          </a:ln>
        </p:spPr>
      </p:sp>
      <p:sp>
        <p:nvSpPr>
          <p:cNvPr id="117" name="Text 107"/>
          <p:cNvSpPr txBox="1"/>
          <p:nvPr/>
        </p:nvSpPr>
        <p:spPr>
          <a:xfrm>
            <a:off x="2011680" y="524865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118" name="Shape 108"/>
          <p:cNvSpPr/>
          <p:nvPr/>
        </p:nvSpPr>
        <p:spPr>
          <a:xfrm>
            <a:off x="2542032" y="4114800"/>
            <a:ext cx="201168" cy="201168"/>
          </a:xfrm>
          <a:prstGeom prst="ellipse">
            <a:avLst/>
          </a:prstGeom>
          <a:solidFill>
            <a:srgbClr val="2B2B2B"/>
          </a:solidFill>
          <a:ln w="12700">
            <a:solidFill>
              <a:srgbClr val="2B2B2B"/>
            </a:solidFill>
            <a:prstDash val="solid"/>
          </a:ln>
        </p:spPr>
      </p:sp>
      <p:sp>
        <p:nvSpPr>
          <p:cNvPr id="119" name="Text 109"/>
          <p:cNvSpPr txBox="1"/>
          <p:nvPr/>
        </p:nvSpPr>
        <p:spPr>
          <a:xfrm>
            <a:off x="2542032" y="411480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20" name="Text 110"/>
          <p:cNvSpPr txBox="1"/>
          <p:nvPr/>
        </p:nvSpPr>
        <p:spPr>
          <a:xfrm>
            <a:off x="2816352" y="4087368"/>
            <a:ext cx="2331720" cy="256032"/>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Misses on JSL's strip at first</a:t>
            </a:r>
            <a:endParaRPr lang="en-US" sz="950" dirty="0"/>
          </a:p>
        </p:txBody>
      </p:sp>
      <p:sp>
        <p:nvSpPr>
          <p:cNvPr id="121" name="Shape 111"/>
          <p:cNvSpPr/>
          <p:nvPr/>
        </p:nvSpPr>
        <p:spPr>
          <a:xfrm>
            <a:off x="5230368" y="4123944"/>
            <a:ext cx="713232" cy="201168"/>
          </a:xfrm>
          <a:prstGeom prst="roundRect">
            <a:avLst>
              <a:gd name="adj" fmla="val 27273"/>
            </a:avLst>
          </a:prstGeom>
          <a:solidFill>
            <a:srgbClr val="D2651F"/>
          </a:solidFill>
          <a:ln w="12700">
            <a:solidFill>
              <a:srgbClr val="D2651F"/>
            </a:solidFill>
            <a:prstDash val="solid"/>
          </a:ln>
        </p:spPr>
      </p:sp>
      <p:sp>
        <p:nvSpPr>
          <p:cNvPr id="122" name="Text 112"/>
          <p:cNvSpPr txBox="1"/>
          <p:nvPr/>
        </p:nvSpPr>
        <p:spPr>
          <a:xfrm>
            <a:off x="5230368" y="4123944"/>
            <a:ext cx="713232"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retire P1</a:t>
            </a:r>
            <a:endParaRPr lang="en-US" sz="900" dirty="0"/>
          </a:p>
        </p:txBody>
      </p:sp>
      <p:sp>
        <p:nvSpPr>
          <p:cNvPr id="123" name="Shape 113"/>
          <p:cNvSpPr/>
          <p:nvPr/>
        </p:nvSpPr>
        <p:spPr>
          <a:xfrm>
            <a:off x="2542032" y="4398264"/>
            <a:ext cx="201168" cy="201168"/>
          </a:xfrm>
          <a:prstGeom prst="ellipse">
            <a:avLst/>
          </a:prstGeom>
          <a:solidFill>
            <a:srgbClr val="2B2B2B"/>
          </a:solidFill>
          <a:ln w="12700">
            <a:solidFill>
              <a:srgbClr val="2B2B2B"/>
            </a:solidFill>
            <a:prstDash val="solid"/>
          </a:ln>
        </p:spPr>
      </p:sp>
      <p:sp>
        <p:nvSpPr>
          <p:cNvPr id="124" name="Text 114"/>
          <p:cNvSpPr txBox="1"/>
          <p:nvPr/>
        </p:nvSpPr>
        <p:spPr>
          <a:xfrm>
            <a:off x="2542032" y="4398264"/>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25" name="Text 115"/>
          <p:cNvSpPr txBox="1"/>
          <p:nvPr/>
        </p:nvSpPr>
        <p:spPr>
          <a:xfrm>
            <a:off x="2816352" y="4370832"/>
            <a:ext cx="2331720" cy="256032"/>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Mirror-like BA/2B hides defects</a:t>
            </a:r>
            <a:endParaRPr lang="en-US" sz="950" dirty="0"/>
          </a:p>
        </p:txBody>
      </p:sp>
      <p:sp>
        <p:nvSpPr>
          <p:cNvPr id="126" name="Shape 116"/>
          <p:cNvSpPr/>
          <p:nvPr/>
        </p:nvSpPr>
        <p:spPr>
          <a:xfrm>
            <a:off x="5230368" y="4407408"/>
            <a:ext cx="713232" cy="201168"/>
          </a:xfrm>
          <a:prstGeom prst="roundRect">
            <a:avLst>
              <a:gd name="adj" fmla="val 27273"/>
            </a:avLst>
          </a:prstGeom>
          <a:solidFill>
            <a:srgbClr val="D2651F"/>
          </a:solidFill>
          <a:ln w="12700">
            <a:solidFill>
              <a:srgbClr val="D2651F"/>
            </a:solidFill>
            <a:prstDash val="solid"/>
          </a:ln>
        </p:spPr>
      </p:sp>
      <p:sp>
        <p:nvSpPr>
          <p:cNvPr id="127" name="Text 117"/>
          <p:cNvSpPr txBox="1"/>
          <p:nvPr/>
        </p:nvSpPr>
        <p:spPr>
          <a:xfrm>
            <a:off x="5230368" y="4407408"/>
            <a:ext cx="713232"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retire P0-P1</a:t>
            </a:r>
            <a:endParaRPr lang="en-US" sz="900" dirty="0"/>
          </a:p>
        </p:txBody>
      </p:sp>
      <p:sp>
        <p:nvSpPr>
          <p:cNvPr id="128" name="Shape 118"/>
          <p:cNvSpPr/>
          <p:nvPr/>
        </p:nvSpPr>
        <p:spPr>
          <a:xfrm>
            <a:off x="2542032" y="4681728"/>
            <a:ext cx="201168" cy="201168"/>
          </a:xfrm>
          <a:prstGeom prst="ellipse">
            <a:avLst/>
          </a:prstGeom>
          <a:solidFill>
            <a:srgbClr val="2B2B2B"/>
          </a:solidFill>
          <a:ln w="12700">
            <a:solidFill>
              <a:srgbClr val="2B2B2B"/>
            </a:solidFill>
            <a:prstDash val="solid"/>
          </a:ln>
        </p:spPr>
      </p:sp>
      <p:sp>
        <p:nvSpPr>
          <p:cNvPr id="129" name="Text 119"/>
          <p:cNvSpPr txBox="1"/>
          <p:nvPr/>
        </p:nvSpPr>
        <p:spPr>
          <a:xfrm>
            <a:off x="2542032" y="4681728"/>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30" name="Text 120"/>
          <p:cNvSpPr txBox="1"/>
          <p:nvPr/>
        </p:nvSpPr>
        <p:spPr>
          <a:xfrm>
            <a:off x="2816352" y="4654296"/>
            <a:ext cx="2331720" cy="256032"/>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Rare defects missed</a:t>
            </a:r>
            <a:endParaRPr lang="en-US" sz="950" dirty="0"/>
          </a:p>
        </p:txBody>
      </p:sp>
      <p:sp>
        <p:nvSpPr>
          <p:cNvPr id="131" name="Shape 121"/>
          <p:cNvSpPr/>
          <p:nvPr/>
        </p:nvSpPr>
        <p:spPr>
          <a:xfrm>
            <a:off x="5230368" y="4690872"/>
            <a:ext cx="713232" cy="201168"/>
          </a:xfrm>
          <a:prstGeom prst="roundRect">
            <a:avLst>
              <a:gd name="adj" fmla="val 27273"/>
            </a:avLst>
          </a:prstGeom>
          <a:solidFill>
            <a:srgbClr val="D2651F"/>
          </a:solidFill>
          <a:ln w="12700">
            <a:solidFill>
              <a:srgbClr val="D2651F"/>
            </a:solidFill>
            <a:prstDash val="solid"/>
          </a:ln>
        </p:spPr>
      </p:sp>
      <p:sp>
        <p:nvSpPr>
          <p:cNvPr id="132" name="Text 122"/>
          <p:cNvSpPr txBox="1"/>
          <p:nvPr/>
        </p:nvSpPr>
        <p:spPr>
          <a:xfrm>
            <a:off x="5230368" y="4690872"/>
            <a:ext cx="713232"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retire P1-P3</a:t>
            </a:r>
            <a:endParaRPr lang="en-US" sz="900" dirty="0"/>
          </a:p>
        </p:txBody>
      </p:sp>
      <p:sp>
        <p:nvSpPr>
          <p:cNvPr id="133" name="Shape 123"/>
          <p:cNvSpPr/>
          <p:nvPr/>
        </p:nvSpPr>
        <p:spPr>
          <a:xfrm>
            <a:off x="2542032" y="4965192"/>
            <a:ext cx="201168" cy="201168"/>
          </a:xfrm>
          <a:prstGeom prst="ellipse">
            <a:avLst/>
          </a:prstGeom>
          <a:solidFill>
            <a:srgbClr val="2B2B2B"/>
          </a:solidFill>
          <a:ln w="12700">
            <a:solidFill>
              <a:srgbClr val="2B2B2B"/>
            </a:solidFill>
            <a:prstDash val="solid"/>
          </a:ln>
        </p:spPr>
      </p:sp>
      <p:sp>
        <p:nvSpPr>
          <p:cNvPr id="134" name="Text 124"/>
          <p:cNvSpPr txBox="1"/>
          <p:nvPr/>
        </p:nvSpPr>
        <p:spPr>
          <a:xfrm>
            <a:off x="2542032" y="4965192"/>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35" name="Text 125"/>
          <p:cNvSpPr txBox="1"/>
          <p:nvPr/>
        </p:nvSpPr>
        <p:spPr>
          <a:xfrm>
            <a:off x="2816352" y="4937760"/>
            <a:ext cx="2331720" cy="256032"/>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Operators ignore alarms</a:t>
            </a:r>
            <a:endParaRPr lang="en-US" sz="950" dirty="0"/>
          </a:p>
        </p:txBody>
      </p:sp>
      <p:sp>
        <p:nvSpPr>
          <p:cNvPr id="136" name="Shape 126"/>
          <p:cNvSpPr/>
          <p:nvPr/>
        </p:nvSpPr>
        <p:spPr>
          <a:xfrm>
            <a:off x="5230368" y="4974336"/>
            <a:ext cx="713232" cy="201168"/>
          </a:xfrm>
          <a:prstGeom prst="roundRect">
            <a:avLst>
              <a:gd name="adj" fmla="val 27273"/>
            </a:avLst>
          </a:prstGeom>
          <a:solidFill>
            <a:srgbClr val="D2651F"/>
          </a:solidFill>
          <a:ln w="12700">
            <a:solidFill>
              <a:srgbClr val="D2651F"/>
            </a:solidFill>
            <a:prstDash val="solid"/>
          </a:ln>
        </p:spPr>
      </p:sp>
      <p:sp>
        <p:nvSpPr>
          <p:cNvPr id="137" name="Text 127"/>
          <p:cNvSpPr txBox="1"/>
          <p:nvPr/>
        </p:nvSpPr>
        <p:spPr>
          <a:xfrm>
            <a:off x="5230368" y="4974336"/>
            <a:ext cx="713232"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retire P2</a:t>
            </a:r>
            <a:endParaRPr lang="en-US" sz="900" dirty="0"/>
          </a:p>
        </p:txBody>
      </p:sp>
      <p:sp>
        <p:nvSpPr>
          <p:cNvPr id="138" name="Shape 128"/>
          <p:cNvSpPr/>
          <p:nvPr/>
        </p:nvSpPr>
        <p:spPr>
          <a:xfrm>
            <a:off x="2542032" y="5248656"/>
            <a:ext cx="201168" cy="201168"/>
          </a:xfrm>
          <a:prstGeom prst="ellipse">
            <a:avLst/>
          </a:prstGeom>
          <a:solidFill>
            <a:srgbClr val="2B2B2B"/>
          </a:solidFill>
          <a:ln w="12700">
            <a:solidFill>
              <a:srgbClr val="2B2B2B"/>
            </a:solidFill>
            <a:prstDash val="solid"/>
          </a:ln>
        </p:spPr>
      </p:sp>
      <p:sp>
        <p:nvSpPr>
          <p:cNvPr id="139" name="Text 129"/>
          <p:cNvSpPr txBox="1"/>
          <p:nvPr/>
        </p:nvSpPr>
        <p:spPr>
          <a:xfrm>
            <a:off x="2542032" y="5248656"/>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40" name="Text 130"/>
          <p:cNvSpPr txBox="1"/>
          <p:nvPr/>
        </p:nvSpPr>
        <p:spPr>
          <a:xfrm>
            <a:off x="2816352" y="5221224"/>
            <a:ext cx="2331720" cy="256032"/>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Plant network, heat, fumes</a:t>
            </a:r>
            <a:endParaRPr lang="en-US" sz="950" dirty="0"/>
          </a:p>
        </p:txBody>
      </p:sp>
      <p:sp>
        <p:nvSpPr>
          <p:cNvPr id="141" name="Shape 131"/>
          <p:cNvSpPr/>
          <p:nvPr/>
        </p:nvSpPr>
        <p:spPr>
          <a:xfrm>
            <a:off x="5230368" y="5257800"/>
            <a:ext cx="713232" cy="201168"/>
          </a:xfrm>
          <a:prstGeom prst="roundRect">
            <a:avLst>
              <a:gd name="adj" fmla="val 27273"/>
            </a:avLst>
          </a:prstGeom>
          <a:solidFill>
            <a:srgbClr val="D2651F"/>
          </a:solidFill>
          <a:ln w="12700">
            <a:solidFill>
              <a:srgbClr val="D2651F"/>
            </a:solidFill>
            <a:prstDash val="solid"/>
          </a:ln>
        </p:spPr>
      </p:sp>
      <p:sp>
        <p:nvSpPr>
          <p:cNvPr id="142" name="Text 132"/>
          <p:cNvSpPr txBox="1"/>
          <p:nvPr/>
        </p:nvSpPr>
        <p:spPr>
          <a:xfrm>
            <a:off x="5230368" y="5257800"/>
            <a:ext cx="713232"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retire P0</a:t>
            </a:r>
            <a:endParaRPr lang="en-US" sz="900" dirty="0"/>
          </a:p>
        </p:txBody>
      </p:sp>
      <p:sp>
        <p:nvSpPr>
          <p:cNvPr id="143" name="Shape 133"/>
          <p:cNvSpPr/>
          <p:nvPr/>
        </p:nvSpPr>
        <p:spPr>
          <a:xfrm>
            <a:off x="2542032" y="5532120"/>
            <a:ext cx="201168" cy="201168"/>
          </a:xfrm>
          <a:prstGeom prst="ellipse">
            <a:avLst/>
          </a:prstGeom>
          <a:solidFill>
            <a:srgbClr val="2B2B2B"/>
          </a:solidFill>
          <a:ln w="12700">
            <a:solidFill>
              <a:srgbClr val="2B2B2B"/>
            </a:solidFill>
            <a:prstDash val="solid"/>
          </a:ln>
        </p:spPr>
      </p:sp>
      <p:sp>
        <p:nvSpPr>
          <p:cNvPr id="144" name="Text 134"/>
          <p:cNvSpPr txBox="1"/>
          <p:nvPr/>
        </p:nvSpPr>
        <p:spPr>
          <a:xfrm>
            <a:off x="2542032" y="553212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45" name="Text 135"/>
          <p:cNvSpPr txBox="1"/>
          <p:nvPr/>
        </p:nvSpPr>
        <p:spPr>
          <a:xfrm>
            <a:off x="2816352" y="5504688"/>
            <a:ext cx="2331720" cy="256032"/>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Quality slips after an update</a:t>
            </a:r>
            <a:endParaRPr lang="en-US" sz="950" dirty="0"/>
          </a:p>
        </p:txBody>
      </p:sp>
      <p:sp>
        <p:nvSpPr>
          <p:cNvPr id="146" name="Shape 136"/>
          <p:cNvSpPr/>
          <p:nvPr/>
        </p:nvSpPr>
        <p:spPr>
          <a:xfrm>
            <a:off x="5230368" y="5541264"/>
            <a:ext cx="713232" cy="201168"/>
          </a:xfrm>
          <a:prstGeom prst="roundRect">
            <a:avLst>
              <a:gd name="adj" fmla="val 27273"/>
            </a:avLst>
          </a:prstGeom>
          <a:solidFill>
            <a:srgbClr val="D2651F"/>
          </a:solidFill>
          <a:ln w="12700">
            <a:solidFill>
              <a:srgbClr val="D2651F"/>
            </a:solidFill>
            <a:prstDash val="solid"/>
          </a:ln>
        </p:spPr>
      </p:sp>
      <p:sp>
        <p:nvSpPr>
          <p:cNvPr id="147" name="Text 137"/>
          <p:cNvSpPr txBox="1"/>
          <p:nvPr/>
        </p:nvSpPr>
        <p:spPr>
          <a:xfrm>
            <a:off x="5230368" y="5541264"/>
            <a:ext cx="713232"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retire P2+</a:t>
            </a:r>
            <a:endParaRPr lang="en-US" sz="900" dirty="0"/>
          </a:p>
        </p:txBody>
      </p:sp>
      <p:sp>
        <p:nvSpPr>
          <p:cNvPr id="148" name="Shape 138"/>
          <p:cNvSpPr/>
          <p:nvPr/>
        </p:nvSpPr>
        <p:spPr>
          <a:xfrm>
            <a:off x="6190488" y="3730752"/>
            <a:ext cx="5541264" cy="274320"/>
          </a:xfrm>
          <a:prstGeom prst="rect">
            <a:avLst/>
          </a:prstGeom>
          <a:solidFill>
            <a:srgbClr val="E4803A"/>
          </a:solidFill>
          <a:ln w="12700">
            <a:solidFill>
              <a:srgbClr val="E4803A"/>
            </a:solidFill>
            <a:prstDash val="solid"/>
          </a:ln>
        </p:spPr>
      </p:sp>
      <p:sp>
        <p:nvSpPr>
          <p:cNvPr id="149" name="Text 139"/>
          <p:cNvSpPr txBox="1"/>
          <p:nvPr/>
        </p:nvSpPr>
        <p:spPr>
          <a:xfrm>
            <a:off x="6281928" y="3730752"/>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Pilot KPIs: how JSL will know it works</a:t>
            </a:r>
            <a:endParaRPr lang="en-US" sz="1100" dirty="0"/>
          </a:p>
        </p:txBody>
      </p:sp>
      <p:sp>
        <p:nvSpPr>
          <p:cNvPr id="150" name="Shape 140"/>
          <p:cNvSpPr/>
          <p:nvPr/>
        </p:nvSpPr>
        <p:spPr>
          <a:xfrm>
            <a:off x="6190488" y="4059936"/>
            <a:ext cx="1810512" cy="850392"/>
          </a:xfrm>
          <a:prstGeom prst="roundRect">
            <a:avLst>
              <a:gd name="adj" fmla="val 6452"/>
            </a:avLst>
          </a:prstGeom>
          <a:solidFill>
            <a:srgbClr val="F3F3F3"/>
          </a:solidFill>
          <a:ln w="12700">
            <a:solidFill>
              <a:srgbClr val="F3F3F3"/>
            </a:solidFill>
            <a:prstDash val="solid"/>
          </a:ln>
        </p:spPr>
      </p:sp>
      <p:sp>
        <p:nvSpPr>
          <p:cNvPr id="151" name="Shape 141"/>
          <p:cNvSpPr/>
          <p:nvPr/>
        </p:nvSpPr>
        <p:spPr>
          <a:xfrm>
            <a:off x="7562088" y="4151376"/>
            <a:ext cx="347472" cy="347472"/>
          </a:xfrm>
          <a:prstGeom prst="ellipse">
            <a:avLst/>
          </a:prstGeom>
          <a:solidFill>
            <a:srgbClr val="D2651F"/>
          </a:solidFill>
          <a:ln w="12700">
            <a:solidFill>
              <a:srgbClr val="D2651F"/>
            </a:solidFill>
            <a:prstDash val="solid"/>
          </a:ln>
        </p:spPr>
      </p:sp>
      <p:pic>
        <p:nvPicPr>
          <p:cNvPr id="152" name="Image 8" descr="img/icons/target-white.png">    </p:cNvPr>
          <p:cNvPicPr>
            <a:picLocks noChangeAspect="1"/>
          </p:cNvPicPr>
          <p:nvPr/>
        </p:nvPicPr>
        <p:blipFill>
          <a:blip r:embed="rId9"/>
          <a:stretch>
            <a:fillRect/>
          </a:stretch>
        </p:blipFill>
        <p:spPr>
          <a:xfrm>
            <a:off x="7638532" y="4227820"/>
            <a:ext cx="194584" cy="194584"/>
          </a:xfrm>
          <a:prstGeom prst="rect">
            <a:avLst/>
          </a:prstGeom>
        </p:spPr>
      </p:pic>
      <p:sp>
        <p:nvSpPr>
          <p:cNvPr id="153" name="Text 142"/>
          <p:cNvSpPr txBox="1"/>
          <p:nvPr/>
        </p:nvSpPr>
        <p:spPr>
          <a:xfrm>
            <a:off x="6281928" y="4114800"/>
            <a:ext cx="1280160" cy="365760"/>
          </a:xfrm>
          <a:prstGeom prst="rect">
            <a:avLst/>
          </a:prstGeom>
          <a:noFill/>
          <a:ln/>
        </p:spPr>
        <p:txBody>
          <a:bodyPr wrap="square" lIns="0" tIns="0" rIns="0" bIns="0" rtlCol="0" anchor="ctr"/>
          <a:lstStyle/>
          <a:p>
            <a:pPr indent="0" marL="0">
              <a:buNone/>
            </a:pPr>
            <a:r>
              <a:rPr lang="en-US" sz="1800" b="1" dirty="0">
                <a:solidFill>
                  <a:srgbClr val="2B2B2B"/>
                </a:solidFill>
                <a:latin typeface="Calibri" pitchFamily="34" charset="0"/>
                <a:ea typeface="Calibri" pitchFamily="34" charset="-122"/>
                <a:cs typeface="Calibri" pitchFamily="34" charset="-120"/>
              </a:rPr>
              <a:t>≥ 90%</a:t>
            </a:r>
            <a:endParaRPr lang="en-US" sz="1800" dirty="0"/>
          </a:p>
        </p:txBody>
      </p:sp>
      <p:sp>
        <p:nvSpPr>
          <p:cNvPr id="154" name="Text 143"/>
          <p:cNvSpPr txBox="1"/>
          <p:nvPr/>
        </p:nvSpPr>
        <p:spPr>
          <a:xfrm>
            <a:off x="6281928" y="4498848"/>
            <a:ext cx="1691640" cy="182880"/>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defects flagged</a:t>
            </a:r>
            <a:endParaRPr lang="en-US" sz="950" dirty="0"/>
          </a:p>
        </p:txBody>
      </p:sp>
      <p:sp>
        <p:nvSpPr>
          <p:cNvPr id="155" name="Text 144"/>
          <p:cNvSpPr txBox="1"/>
          <p:nvPr/>
        </p:nvSpPr>
        <p:spPr>
          <a:xfrm>
            <a:off x="6281928" y="4681728"/>
            <a:ext cx="1691640" cy="182880"/>
          </a:xfrm>
          <a:prstGeom prst="rect">
            <a:avLst/>
          </a:prstGeom>
          <a:noFill/>
          <a:ln/>
        </p:spPr>
        <p:txBody>
          <a:bodyPr wrap="square" lIns="0" tIns="0" rIns="0" bIns="0" rtlCol="0" anchor="t"/>
          <a:lstStyle/>
          <a:p>
            <a:pPr indent="0" marL="0">
              <a:buNone/>
            </a:pPr>
            <a:r>
              <a:rPr lang="en-US" sz="900" b="1" dirty="0">
                <a:solidFill>
                  <a:srgbClr val="C99700"/>
                </a:solidFill>
                <a:latin typeface="Calibri" pitchFamily="34" charset="0"/>
                <a:ea typeface="Calibri" pitchFamily="34" charset="-122"/>
                <a:cs typeface="Calibri" pitchFamily="34" charset="-120"/>
              </a:rPr>
              <a:t>now 89.6%</a:t>
            </a:r>
            <a:endParaRPr lang="en-US" sz="900" dirty="0"/>
          </a:p>
        </p:txBody>
      </p:sp>
      <p:sp>
        <p:nvSpPr>
          <p:cNvPr id="156" name="Shape 145"/>
          <p:cNvSpPr/>
          <p:nvPr/>
        </p:nvSpPr>
        <p:spPr>
          <a:xfrm>
            <a:off x="8055864" y="4059936"/>
            <a:ext cx="1810512" cy="850392"/>
          </a:xfrm>
          <a:prstGeom prst="roundRect">
            <a:avLst>
              <a:gd name="adj" fmla="val 6452"/>
            </a:avLst>
          </a:prstGeom>
          <a:solidFill>
            <a:srgbClr val="F3F3F3"/>
          </a:solidFill>
          <a:ln w="12700">
            <a:solidFill>
              <a:srgbClr val="F3F3F3"/>
            </a:solidFill>
            <a:prstDash val="solid"/>
          </a:ln>
        </p:spPr>
      </p:sp>
      <p:sp>
        <p:nvSpPr>
          <p:cNvPr id="157" name="Shape 146"/>
          <p:cNvSpPr/>
          <p:nvPr/>
        </p:nvSpPr>
        <p:spPr>
          <a:xfrm>
            <a:off x="9427464" y="4151376"/>
            <a:ext cx="347472" cy="347472"/>
          </a:xfrm>
          <a:prstGeom prst="ellipse">
            <a:avLst/>
          </a:prstGeom>
          <a:solidFill>
            <a:srgbClr val="D2651F"/>
          </a:solidFill>
          <a:ln w="12700">
            <a:solidFill>
              <a:srgbClr val="D2651F"/>
            </a:solidFill>
            <a:prstDash val="solid"/>
          </a:ln>
        </p:spPr>
      </p:sp>
      <p:pic>
        <p:nvPicPr>
          <p:cNvPr id="158" name="Image 9" descr="img/icons/shield-check-white.png">    </p:cNvPr>
          <p:cNvPicPr>
            <a:picLocks noChangeAspect="1"/>
          </p:cNvPicPr>
          <p:nvPr/>
        </p:nvPicPr>
        <p:blipFill>
          <a:blip r:embed="rId10"/>
          <a:stretch>
            <a:fillRect/>
          </a:stretch>
        </p:blipFill>
        <p:spPr>
          <a:xfrm>
            <a:off x="9503908" y="4227820"/>
            <a:ext cx="194584" cy="194584"/>
          </a:xfrm>
          <a:prstGeom prst="rect">
            <a:avLst/>
          </a:prstGeom>
        </p:spPr>
      </p:pic>
      <p:sp>
        <p:nvSpPr>
          <p:cNvPr id="159" name="Text 147"/>
          <p:cNvSpPr txBox="1"/>
          <p:nvPr/>
        </p:nvSpPr>
        <p:spPr>
          <a:xfrm>
            <a:off x="8147304" y="4114800"/>
            <a:ext cx="1280160" cy="365760"/>
          </a:xfrm>
          <a:prstGeom prst="rect">
            <a:avLst/>
          </a:prstGeom>
          <a:noFill/>
          <a:ln/>
        </p:spPr>
        <p:txBody>
          <a:bodyPr wrap="square" lIns="0" tIns="0" rIns="0" bIns="0" rtlCol="0" anchor="ctr"/>
          <a:lstStyle/>
          <a:p>
            <a:pPr indent="0" marL="0">
              <a:buNone/>
            </a:pPr>
            <a:r>
              <a:rPr lang="en-US" sz="1800" b="1" dirty="0">
                <a:solidFill>
                  <a:srgbClr val="2B2B2B"/>
                </a:solidFill>
                <a:latin typeface="Calibri" pitchFamily="34" charset="0"/>
                <a:ea typeface="Calibri" pitchFamily="34" charset="-122"/>
                <a:cs typeface="Calibri" pitchFamily="34" charset="-120"/>
              </a:rPr>
              <a:t>≤ 25%</a:t>
            </a:r>
            <a:endParaRPr lang="en-US" sz="1800" dirty="0"/>
          </a:p>
        </p:txBody>
      </p:sp>
      <p:sp>
        <p:nvSpPr>
          <p:cNvPr id="160" name="Text 148"/>
          <p:cNvSpPr txBox="1"/>
          <p:nvPr/>
        </p:nvSpPr>
        <p:spPr>
          <a:xfrm>
            <a:off x="8147304" y="4498848"/>
            <a:ext cx="1691640" cy="182880"/>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clean strip flagged</a:t>
            </a:r>
            <a:endParaRPr lang="en-US" sz="950" dirty="0"/>
          </a:p>
        </p:txBody>
      </p:sp>
      <p:sp>
        <p:nvSpPr>
          <p:cNvPr id="161" name="Text 149"/>
          <p:cNvSpPr txBox="1"/>
          <p:nvPr/>
        </p:nvSpPr>
        <p:spPr>
          <a:xfrm>
            <a:off x="8147304" y="4681728"/>
            <a:ext cx="1691640" cy="182880"/>
          </a:xfrm>
          <a:prstGeom prst="rect">
            <a:avLst/>
          </a:prstGeom>
          <a:noFill/>
          <a:ln/>
        </p:spPr>
        <p:txBody>
          <a:bodyPr wrap="square" lIns="0" tIns="0" rIns="0" bIns="0" rtlCol="0" anchor="t"/>
          <a:lstStyle/>
          <a:p>
            <a:pPr indent="0" marL="0">
              <a:buNone/>
            </a:pPr>
            <a:r>
              <a:rPr lang="en-US" sz="900" b="1" dirty="0">
                <a:solidFill>
                  <a:srgbClr val="2E7D32"/>
                </a:solidFill>
                <a:latin typeface="Calibri" pitchFamily="34" charset="0"/>
                <a:ea typeface="Calibri" pitchFamily="34" charset="-122"/>
                <a:cs typeface="Calibri" pitchFamily="34" charset="-120"/>
              </a:rPr>
              <a:t>now 4.7%</a:t>
            </a:r>
            <a:endParaRPr lang="en-US" sz="900" dirty="0"/>
          </a:p>
        </p:txBody>
      </p:sp>
      <p:sp>
        <p:nvSpPr>
          <p:cNvPr id="162" name="Shape 150"/>
          <p:cNvSpPr/>
          <p:nvPr/>
        </p:nvSpPr>
        <p:spPr>
          <a:xfrm>
            <a:off x="9921240" y="4059936"/>
            <a:ext cx="1810512" cy="850392"/>
          </a:xfrm>
          <a:prstGeom prst="roundRect">
            <a:avLst>
              <a:gd name="adj" fmla="val 6452"/>
            </a:avLst>
          </a:prstGeom>
          <a:solidFill>
            <a:srgbClr val="F3F3F3"/>
          </a:solidFill>
          <a:ln w="12700">
            <a:solidFill>
              <a:srgbClr val="F3F3F3"/>
            </a:solidFill>
            <a:prstDash val="solid"/>
          </a:ln>
        </p:spPr>
      </p:sp>
      <p:sp>
        <p:nvSpPr>
          <p:cNvPr id="163" name="Shape 151"/>
          <p:cNvSpPr/>
          <p:nvPr/>
        </p:nvSpPr>
        <p:spPr>
          <a:xfrm>
            <a:off x="11292840" y="4151376"/>
            <a:ext cx="347472" cy="347472"/>
          </a:xfrm>
          <a:prstGeom prst="ellipse">
            <a:avLst/>
          </a:prstGeom>
          <a:solidFill>
            <a:srgbClr val="5C5C5C"/>
          </a:solidFill>
          <a:ln w="12700">
            <a:solidFill>
              <a:srgbClr val="5C5C5C"/>
            </a:solidFill>
            <a:prstDash val="solid"/>
          </a:ln>
        </p:spPr>
      </p:sp>
      <p:pic>
        <p:nvPicPr>
          <p:cNvPr id="164" name="Image 10" descr="img/icons/scan-line-white.png">    </p:cNvPr>
          <p:cNvPicPr>
            <a:picLocks noChangeAspect="1"/>
          </p:cNvPicPr>
          <p:nvPr/>
        </p:nvPicPr>
        <p:blipFill>
          <a:blip r:embed="rId11"/>
          <a:stretch>
            <a:fillRect/>
          </a:stretch>
        </p:blipFill>
        <p:spPr>
          <a:xfrm>
            <a:off x="11369284" y="4227820"/>
            <a:ext cx="194584" cy="194584"/>
          </a:xfrm>
          <a:prstGeom prst="rect">
            <a:avLst/>
          </a:prstGeom>
        </p:spPr>
      </p:pic>
      <p:sp>
        <p:nvSpPr>
          <p:cNvPr id="165" name="Text 152"/>
          <p:cNvSpPr txBox="1"/>
          <p:nvPr/>
        </p:nvSpPr>
        <p:spPr>
          <a:xfrm>
            <a:off x="10012680" y="4114800"/>
            <a:ext cx="1280160" cy="365760"/>
          </a:xfrm>
          <a:prstGeom prst="rect">
            <a:avLst/>
          </a:prstGeom>
          <a:noFill/>
          <a:ln/>
        </p:spPr>
        <p:txBody>
          <a:bodyPr wrap="square" lIns="0" tIns="0" rIns="0" bIns="0" rtlCol="0" anchor="ctr"/>
          <a:lstStyle/>
          <a:p>
            <a:pPr indent="0" marL="0">
              <a:buNone/>
            </a:pPr>
            <a:r>
              <a:rPr lang="en-US" sz="1800" b="1" dirty="0">
                <a:solidFill>
                  <a:srgbClr val="2B2B2B"/>
                </a:solidFill>
                <a:latin typeface="Calibri" pitchFamily="34" charset="0"/>
                <a:ea typeface="Calibri" pitchFamily="34" charset="-122"/>
                <a:cs typeface="Calibri" pitchFamily="34" charset="-120"/>
              </a:rPr>
              <a:t>100%</a:t>
            </a:r>
            <a:endParaRPr lang="en-US" sz="1800" dirty="0"/>
          </a:p>
        </p:txBody>
      </p:sp>
      <p:sp>
        <p:nvSpPr>
          <p:cNvPr id="166" name="Text 153"/>
          <p:cNvSpPr txBox="1"/>
          <p:nvPr/>
        </p:nvSpPr>
        <p:spPr>
          <a:xfrm>
            <a:off x="10012680" y="4498848"/>
            <a:ext cx="1691640" cy="182880"/>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coils mapped</a:t>
            </a:r>
            <a:endParaRPr lang="en-US" sz="950" dirty="0"/>
          </a:p>
        </p:txBody>
      </p:sp>
      <p:sp>
        <p:nvSpPr>
          <p:cNvPr id="167" name="Text 154"/>
          <p:cNvSpPr txBox="1"/>
          <p:nvPr/>
        </p:nvSpPr>
        <p:spPr>
          <a:xfrm>
            <a:off x="10012680" y="4681728"/>
            <a:ext cx="1691640" cy="182880"/>
          </a:xfrm>
          <a:prstGeom prst="rect">
            <a:avLst/>
          </a:prstGeom>
          <a:noFill/>
          <a:ln/>
        </p:spPr>
        <p:txBody>
          <a:bodyPr wrap="square" lIns="0" tIns="0" rIns="0" bIns="0" rtlCol="0" anchor="t"/>
          <a:lstStyle/>
          <a:p>
            <a:pPr indent="0" marL="0">
              <a:buNone/>
            </a:pPr>
            <a:r>
              <a:rPr lang="en-US" sz="900" dirty="0">
                <a:solidFill>
                  <a:srgbClr val="6E6E6E"/>
                </a:solidFill>
                <a:latin typeface="Calibri" pitchFamily="34" charset="0"/>
                <a:ea typeface="Calibri" pitchFamily="34" charset="-122"/>
                <a:cs typeface="Calibri" pitchFamily="34" charset="-120"/>
              </a:rPr>
              <a:t>target</a:t>
            </a:r>
            <a:endParaRPr lang="en-US" sz="900" dirty="0"/>
          </a:p>
        </p:txBody>
      </p:sp>
      <p:sp>
        <p:nvSpPr>
          <p:cNvPr id="168" name="Shape 155"/>
          <p:cNvSpPr/>
          <p:nvPr/>
        </p:nvSpPr>
        <p:spPr>
          <a:xfrm>
            <a:off x="6190488" y="4974336"/>
            <a:ext cx="1810512" cy="850392"/>
          </a:xfrm>
          <a:prstGeom prst="roundRect">
            <a:avLst>
              <a:gd name="adj" fmla="val 6452"/>
            </a:avLst>
          </a:prstGeom>
          <a:solidFill>
            <a:srgbClr val="F3F3F3"/>
          </a:solidFill>
          <a:ln w="12700">
            <a:solidFill>
              <a:srgbClr val="F3F3F3"/>
            </a:solidFill>
            <a:prstDash val="solid"/>
          </a:ln>
        </p:spPr>
      </p:sp>
      <p:sp>
        <p:nvSpPr>
          <p:cNvPr id="169" name="Shape 156"/>
          <p:cNvSpPr/>
          <p:nvPr/>
        </p:nvSpPr>
        <p:spPr>
          <a:xfrm>
            <a:off x="7562088" y="5065776"/>
            <a:ext cx="347472" cy="347472"/>
          </a:xfrm>
          <a:prstGeom prst="ellipse">
            <a:avLst/>
          </a:prstGeom>
          <a:solidFill>
            <a:srgbClr val="5C5C5C"/>
          </a:solidFill>
          <a:ln w="12700">
            <a:solidFill>
              <a:srgbClr val="5C5C5C"/>
            </a:solidFill>
            <a:prstDash val="solid"/>
          </a:ln>
        </p:spPr>
      </p:sp>
      <p:pic>
        <p:nvPicPr>
          <p:cNvPr id="170" name="Image 11" descr="img/icons/clock-white.png">    </p:cNvPr>
          <p:cNvPicPr>
            <a:picLocks noChangeAspect="1"/>
          </p:cNvPicPr>
          <p:nvPr/>
        </p:nvPicPr>
        <p:blipFill>
          <a:blip r:embed="rId12"/>
          <a:stretch>
            <a:fillRect/>
          </a:stretch>
        </p:blipFill>
        <p:spPr>
          <a:xfrm>
            <a:off x="7638532" y="5142220"/>
            <a:ext cx="194584" cy="194584"/>
          </a:xfrm>
          <a:prstGeom prst="rect">
            <a:avLst/>
          </a:prstGeom>
        </p:spPr>
      </p:pic>
      <p:sp>
        <p:nvSpPr>
          <p:cNvPr id="171" name="Text 157"/>
          <p:cNvSpPr txBox="1"/>
          <p:nvPr/>
        </p:nvSpPr>
        <p:spPr>
          <a:xfrm>
            <a:off x="6281928" y="5029200"/>
            <a:ext cx="1280160" cy="365760"/>
          </a:xfrm>
          <a:prstGeom prst="rect">
            <a:avLst/>
          </a:prstGeom>
          <a:noFill/>
          <a:ln/>
        </p:spPr>
        <p:txBody>
          <a:bodyPr wrap="square" lIns="0" tIns="0" rIns="0" bIns="0" rtlCol="0" anchor="ctr"/>
          <a:lstStyle/>
          <a:p>
            <a:pPr indent="0" marL="0">
              <a:buNone/>
            </a:pPr>
            <a:r>
              <a:rPr lang="en-US" sz="1800" b="1" dirty="0">
                <a:solidFill>
                  <a:srgbClr val="2B2B2B"/>
                </a:solidFill>
                <a:latin typeface="Calibri" pitchFamily="34" charset="0"/>
                <a:ea typeface="Calibri" pitchFamily="34" charset="-122"/>
                <a:cs typeface="Calibri" pitchFamily="34" charset="-120"/>
              </a:rPr>
              <a:t>&lt; 0.2 s</a:t>
            </a:r>
            <a:endParaRPr lang="en-US" sz="1800" dirty="0"/>
          </a:p>
        </p:txBody>
      </p:sp>
      <p:sp>
        <p:nvSpPr>
          <p:cNvPr id="172" name="Text 158"/>
          <p:cNvSpPr txBox="1"/>
          <p:nvPr/>
        </p:nvSpPr>
        <p:spPr>
          <a:xfrm>
            <a:off x="6281928" y="5413248"/>
            <a:ext cx="1691640" cy="182880"/>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to the operator</a:t>
            </a:r>
            <a:endParaRPr lang="en-US" sz="950" dirty="0"/>
          </a:p>
        </p:txBody>
      </p:sp>
      <p:sp>
        <p:nvSpPr>
          <p:cNvPr id="173" name="Text 159"/>
          <p:cNvSpPr txBox="1"/>
          <p:nvPr/>
        </p:nvSpPr>
        <p:spPr>
          <a:xfrm>
            <a:off x="6281928" y="5596128"/>
            <a:ext cx="1691640" cy="182880"/>
          </a:xfrm>
          <a:prstGeom prst="rect">
            <a:avLst/>
          </a:prstGeom>
          <a:noFill/>
          <a:ln/>
        </p:spPr>
        <p:txBody>
          <a:bodyPr wrap="square" lIns="0" tIns="0" rIns="0" bIns="0" rtlCol="0" anchor="t"/>
          <a:lstStyle/>
          <a:p>
            <a:pPr indent="0" marL="0">
              <a:buNone/>
            </a:pPr>
            <a:r>
              <a:rPr lang="en-US" sz="900" dirty="0">
                <a:solidFill>
                  <a:srgbClr val="6E6E6E"/>
                </a:solidFill>
                <a:latin typeface="Calibri" pitchFamily="34" charset="0"/>
                <a:ea typeface="Calibri" pitchFamily="34" charset="-122"/>
                <a:cs typeface="Calibri" pitchFamily="34" charset="-120"/>
              </a:rPr>
              <a:t>target</a:t>
            </a:r>
            <a:endParaRPr lang="en-US" sz="900" dirty="0"/>
          </a:p>
        </p:txBody>
      </p:sp>
      <p:sp>
        <p:nvSpPr>
          <p:cNvPr id="174" name="Shape 160"/>
          <p:cNvSpPr/>
          <p:nvPr/>
        </p:nvSpPr>
        <p:spPr>
          <a:xfrm>
            <a:off x="8055864" y="4974336"/>
            <a:ext cx="1810512" cy="850392"/>
          </a:xfrm>
          <a:prstGeom prst="roundRect">
            <a:avLst>
              <a:gd name="adj" fmla="val 6452"/>
            </a:avLst>
          </a:prstGeom>
          <a:solidFill>
            <a:srgbClr val="F3F3F3"/>
          </a:solidFill>
          <a:ln w="12700">
            <a:solidFill>
              <a:srgbClr val="F3F3F3"/>
            </a:solidFill>
            <a:prstDash val="solid"/>
          </a:ln>
        </p:spPr>
      </p:sp>
      <p:sp>
        <p:nvSpPr>
          <p:cNvPr id="175" name="Shape 161"/>
          <p:cNvSpPr/>
          <p:nvPr/>
        </p:nvSpPr>
        <p:spPr>
          <a:xfrm>
            <a:off x="9427464" y="5065776"/>
            <a:ext cx="347472" cy="347472"/>
          </a:xfrm>
          <a:prstGeom prst="ellipse">
            <a:avLst/>
          </a:prstGeom>
          <a:solidFill>
            <a:srgbClr val="5C5C5C"/>
          </a:solidFill>
          <a:ln w="12700">
            <a:solidFill>
              <a:srgbClr val="5C5C5C"/>
            </a:solidFill>
            <a:prstDash val="solid"/>
          </a:ln>
        </p:spPr>
      </p:sp>
      <p:pic>
        <p:nvPicPr>
          <p:cNvPr id="176" name="Image 12" descr="img/icons/user-check-white.png">    </p:cNvPr>
          <p:cNvPicPr>
            <a:picLocks noChangeAspect="1"/>
          </p:cNvPicPr>
          <p:nvPr/>
        </p:nvPicPr>
        <p:blipFill>
          <a:blip r:embed="rId13"/>
          <a:stretch>
            <a:fillRect/>
          </a:stretch>
        </p:blipFill>
        <p:spPr>
          <a:xfrm>
            <a:off x="9503908" y="5142220"/>
            <a:ext cx="194584" cy="194584"/>
          </a:xfrm>
          <a:prstGeom prst="rect">
            <a:avLst/>
          </a:prstGeom>
        </p:spPr>
      </p:pic>
      <p:sp>
        <p:nvSpPr>
          <p:cNvPr id="177" name="Text 162"/>
          <p:cNvSpPr txBox="1"/>
          <p:nvPr/>
        </p:nvSpPr>
        <p:spPr>
          <a:xfrm>
            <a:off x="8147304" y="5029200"/>
            <a:ext cx="1280160" cy="365760"/>
          </a:xfrm>
          <a:prstGeom prst="rect">
            <a:avLst/>
          </a:prstGeom>
          <a:noFill/>
          <a:ln/>
        </p:spPr>
        <p:txBody>
          <a:bodyPr wrap="square" lIns="0" tIns="0" rIns="0" bIns="0" rtlCol="0" anchor="ctr"/>
          <a:lstStyle/>
          <a:p>
            <a:pPr indent="0" marL="0">
              <a:buNone/>
            </a:pPr>
            <a:r>
              <a:rPr lang="en-US" sz="1800" b="1" dirty="0">
                <a:solidFill>
                  <a:srgbClr val="2B2B2B"/>
                </a:solidFill>
                <a:latin typeface="Calibri" pitchFamily="34" charset="0"/>
                <a:ea typeface="Calibri" pitchFamily="34" charset="-122"/>
                <a:cs typeface="Calibri" pitchFamily="34" charset="-120"/>
              </a:rPr>
              <a:t>≥ 90%</a:t>
            </a:r>
            <a:endParaRPr lang="en-US" sz="1800" dirty="0"/>
          </a:p>
        </p:txBody>
      </p:sp>
      <p:sp>
        <p:nvSpPr>
          <p:cNvPr id="178" name="Text 163"/>
          <p:cNvSpPr txBox="1"/>
          <p:nvPr/>
        </p:nvSpPr>
        <p:spPr>
          <a:xfrm>
            <a:off x="8147304" y="5413248"/>
            <a:ext cx="1691640" cy="182880"/>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operator agreement</a:t>
            </a:r>
            <a:endParaRPr lang="en-US" sz="950" dirty="0"/>
          </a:p>
        </p:txBody>
      </p:sp>
      <p:sp>
        <p:nvSpPr>
          <p:cNvPr id="179" name="Text 164"/>
          <p:cNvSpPr txBox="1"/>
          <p:nvPr/>
        </p:nvSpPr>
        <p:spPr>
          <a:xfrm>
            <a:off x="8147304" y="5596128"/>
            <a:ext cx="1691640" cy="182880"/>
          </a:xfrm>
          <a:prstGeom prst="rect">
            <a:avLst/>
          </a:prstGeom>
          <a:noFill/>
          <a:ln/>
        </p:spPr>
        <p:txBody>
          <a:bodyPr wrap="square" lIns="0" tIns="0" rIns="0" bIns="0" rtlCol="0" anchor="t"/>
          <a:lstStyle/>
          <a:p>
            <a:pPr indent="0" marL="0">
              <a:buNone/>
            </a:pPr>
            <a:r>
              <a:rPr lang="en-US" sz="900" dirty="0">
                <a:solidFill>
                  <a:srgbClr val="6E6E6E"/>
                </a:solidFill>
                <a:latin typeface="Calibri" pitchFamily="34" charset="0"/>
                <a:ea typeface="Calibri" pitchFamily="34" charset="-122"/>
                <a:cs typeface="Calibri" pitchFamily="34" charset="-120"/>
              </a:rPr>
              <a:t>in P2</a:t>
            </a:r>
            <a:endParaRPr lang="en-US" sz="900" dirty="0"/>
          </a:p>
        </p:txBody>
      </p:sp>
      <p:sp>
        <p:nvSpPr>
          <p:cNvPr id="180" name="Shape 165"/>
          <p:cNvSpPr/>
          <p:nvPr/>
        </p:nvSpPr>
        <p:spPr>
          <a:xfrm>
            <a:off x="9921240" y="4974336"/>
            <a:ext cx="1810512" cy="850392"/>
          </a:xfrm>
          <a:prstGeom prst="roundRect">
            <a:avLst>
              <a:gd name="adj" fmla="val 6452"/>
            </a:avLst>
          </a:prstGeom>
          <a:solidFill>
            <a:srgbClr val="F3F3F3"/>
          </a:solidFill>
          <a:ln w="12700">
            <a:solidFill>
              <a:srgbClr val="F3F3F3"/>
            </a:solidFill>
            <a:prstDash val="solid"/>
          </a:ln>
        </p:spPr>
      </p:sp>
      <p:sp>
        <p:nvSpPr>
          <p:cNvPr id="181" name="Shape 166"/>
          <p:cNvSpPr/>
          <p:nvPr/>
        </p:nvSpPr>
        <p:spPr>
          <a:xfrm>
            <a:off x="11292840" y="5065776"/>
            <a:ext cx="347472" cy="347472"/>
          </a:xfrm>
          <a:prstGeom prst="ellipse">
            <a:avLst/>
          </a:prstGeom>
          <a:solidFill>
            <a:srgbClr val="5C5C5C"/>
          </a:solidFill>
          <a:ln w="12700">
            <a:solidFill>
              <a:srgbClr val="5C5C5C"/>
            </a:solidFill>
            <a:prstDash val="solid"/>
          </a:ln>
        </p:spPr>
      </p:sp>
      <p:pic>
        <p:nvPicPr>
          <p:cNvPr id="182" name="Image 13" descr="img/icons/trending-up-white.png">    </p:cNvPr>
          <p:cNvPicPr>
            <a:picLocks noChangeAspect="1"/>
          </p:cNvPicPr>
          <p:nvPr/>
        </p:nvPicPr>
        <p:blipFill>
          <a:blip r:embed="rId14"/>
          <a:stretch>
            <a:fillRect/>
          </a:stretch>
        </p:blipFill>
        <p:spPr>
          <a:xfrm>
            <a:off x="11369284" y="5142220"/>
            <a:ext cx="194584" cy="194584"/>
          </a:xfrm>
          <a:prstGeom prst="rect">
            <a:avLst/>
          </a:prstGeom>
        </p:spPr>
      </p:pic>
      <p:sp>
        <p:nvSpPr>
          <p:cNvPr id="183" name="Text 167"/>
          <p:cNvSpPr txBox="1"/>
          <p:nvPr/>
        </p:nvSpPr>
        <p:spPr>
          <a:xfrm>
            <a:off x="10012680" y="5029200"/>
            <a:ext cx="1280160" cy="365760"/>
          </a:xfrm>
          <a:prstGeom prst="rect">
            <a:avLst/>
          </a:prstGeom>
          <a:noFill/>
          <a:ln/>
        </p:spPr>
        <p:txBody>
          <a:bodyPr wrap="square" lIns="0" tIns="0" rIns="0" bIns="0" rtlCol="0" anchor="ctr"/>
          <a:lstStyle/>
          <a:p>
            <a:pPr indent="0" marL="0">
              <a:buNone/>
            </a:pPr>
            <a:r>
              <a:rPr lang="en-US" sz="1800" b="1" dirty="0">
                <a:solidFill>
                  <a:srgbClr val="2B2B2B"/>
                </a:solidFill>
                <a:latin typeface="Calibri" pitchFamily="34" charset="0"/>
                <a:ea typeface="Calibri" pitchFamily="34" charset="-122"/>
                <a:cs typeface="Calibri" pitchFamily="34" charset="-120"/>
              </a:rPr>
              <a:t>↓</a:t>
            </a:r>
            <a:endParaRPr lang="en-US" sz="1800" dirty="0"/>
          </a:p>
        </p:txBody>
      </p:sp>
      <p:sp>
        <p:nvSpPr>
          <p:cNvPr id="184" name="Text 168"/>
          <p:cNvSpPr txBox="1"/>
          <p:nvPr/>
        </p:nvSpPr>
        <p:spPr>
          <a:xfrm>
            <a:off x="10012680" y="5413248"/>
            <a:ext cx="1691640" cy="182880"/>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downgrade rate</a:t>
            </a:r>
            <a:endParaRPr lang="en-US" sz="950" dirty="0"/>
          </a:p>
        </p:txBody>
      </p:sp>
      <p:sp>
        <p:nvSpPr>
          <p:cNvPr id="185" name="Text 169"/>
          <p:cNvSpPr txBox="1"/>
          <p:nvPr/>
        </p:nvSpPr>
        <p:spPr>
          <a:xfrm>
            <a:off x="10012680" y="5596128"/>
            <a:ext cx="1691640" cy="182880"/>
          </a:xfrm>
          <a:prstGeom prst="rect">
            <a:avLst/>
          </a:prstGeom>
          <a:noFill/>
          <a:ln/>
        </p:spPr>
        <p:txBody>
          <a:bodyPr wrap="square" lIns="0" tIns="0" rIns="0" bIns="0" rtlCol="0" anchor="t"/>
          <a:lstStyle/>
          <a:p>
            <a:pPr indent="0" marL="0">
              <a:buNone/>
            </a:pPr>
            <a:r>
              <a:rPr lang="en-US" sz="900" dirty="0">
                <a:solidFill>
                  <a:srgbClr val="6E6E6E"/>
                </a:solidFill>
                <a:latin typeface="Calibri" pitchFamily="34" charset="0"/>
                <a:ea typeface="Calibri" pitchFamily="34" charset="-122"/>
                <a:cs typeface="Calibri" pitchFamily="34" charset="-120"/>
              </a:rPr>
              <a:t>in P3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E4803A"/>
          </a:solidFill>
          <a:ln w="12700">
            <a:solidFill>
              <a:srgbClr val="E4803A"/>
            </a:solidFill>
            <a:prstDash val="solid"/>
          </a:ln>
        </p:spPr>
      </p:sp>
      <p:pic>
        <p:nvPicPr>
          <p:cNvPr id="3" name="Image 0" descr="img/logo_jsl.jpg">    </p:cNvPr>
          <p:cNvPicPr>
            <a:picLocks noChangeAspect="1"/>
          </p:cNvPicPr>
          <p:nvPr/>
        </p:nvPicPr>
        <p:blipFill>
          <a:blip r:embed="rId1"/>
          <a:stretch>
            <a:fillRect/>
          </a:stretch>
        </p:blipFill>
        <p:spPr>
          <a:xfrm>
            <a:off x="91440" y="73152"/>
            <a:ext cx="2176272" cy="640080"/>
          </a:xfrm>
          <a:prstGeom prst="rect">
            <a:avLst/>
          </a:prstGeom>
        </p:spPr>
      </p:pic>
      <p:pic>
        <p:nvPicPr>
          <p:cNvPr id="4" name="Image 1" descr="img/logo_spark.png">    </p:cNvPr>
          <p:cNvPicPr>
            <a:picLocks noChangeAspect="1"/>
          </p:cNvPicPr>
          <p:nvPr/>
        </p:nvPicPr>
        <p:blipFill>
          <a:blip r:embed="rId2"/>
          <a:stretch>
            <a:fillRect/>
          </a:stretch>
        </p:blipFill>
        <p:spPr>
          <a:xfrm>
            <a:off x="2340864" y="73152"/>
            <a:ext cx="1243584" cy="640080"/>
          </a:xfrm>
          <a:prstGeom prst="rect">
            <a:avLst/>
          </a:prstGeom>
        </p:spPr>
      </p:pic>
      <p:sp>
        <p:nvSpPr>
          <p:cNvPr id="5" name="Shape 1"/>
          <p:cNvSpPr/>
          <p:nvPr/>
        </p:nvSpPr>
        <p:spPr>
          <a:xfrm>
            <a:off x="3785616" y="182880"/>
            <a:ext cx="1307592" cy="420624"/>
          </a:xfrm>
          <a:prstGeom prst="rect">
            <a:avLst/>
          </a:prstGeom>
          <a:solidFill>
            <a:srgbClr val="F2F2F2"/>
          </a:solidFill>
          <a:ln w="12700">
            <a:solidFill>
              <a:srgbClr val="F2F2F2"/>
            </a:solidFill>
            <a:prstDash val="solid"/>
          </a:ln>
        </p:spPr>
      </p:sp>
      <p:sp>
        <p:nvSpPr>
          <p:cNvPr id="6" name="Text 2"/>
          <p:cNvSpPr txBox="1"/>
          <p:nvPr/>
        </p:nvSpPr>
        <p:spPr>
          <a:xfrm>
            <a:off x="3785616"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1  Problem</a:t>
            </a:r>
            <a:endParaRPr lang="en-US" sz="1050" dirty="0"/>
          </a:p>
        </p:txBody>
      </p:sp>
      <p:sp>
        <p:nvSpPr>
          <p:cNvPr id="7" name="Shape 3"/>
          <p:cNvSpPr/>
          <p:nvPr/>
        </p:nvSpPr>
        <p:spPr>
          <a:xfrm>
            <a:off x="5148072" y="182880"/>
            <a:ext cx="1307592" cy="420624"/>
          </a:xfrm>
          <a:prstGeom prst="rect">
            <a:avLst/>
          </a:prstGeom>
          <a:solidFill>
            <a:srgbClr val="F2F2F2"/>
          </a:solidFill>
          <a:ln w="12700">
            <a:solidFill>
              <a:srgbClr val="F2F2F2"/>
            </a:solidFill>
            <a:prstDash val="solid"/>
          </a:ln>
        </p:spPr>
      </p:sp>
      <p:sp>
        <p:nvSpPr>
          <p:cNvPr id="8" name="Text 4"/>
          <p:cNvSpPr txBox="1"/>
          <p:nvPr/>
        </p:nvSpPr>
        <p:spPr>
          <a:xfrm>
            <a:off x="5148072"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2  Insights</a:t>
            </a:r>
            <a:endParaRPr lang="en-US" sz="1050" dirty="0"/>
          </a:p>
        </p:txBody>
      </p:sp>
      <p:sp>
        <p:nvSpPr>
          <p:cNvPr id="9" name="Shape 5"/>
          <p:cNvSpPr/>
          <p:nvPr/>
        </p:nvSpPr>
        <p:spPr>
          <a:xfrm>
            <a:off x="6510528" y="182880"/>
            <a:ext cx="1307592" cy="420624"/>
          </a:xfrm>
          <a:prstGeom prst="rect">
            <a:avLst/>
          </a:prstGeom>
          <a:solidFill>
            <a:srgbClr val="F2F2F2"/>
          </a:solidFill>
          <a:ln w="12700">
            <a:solidFill>
              <a:srgbClr val="F2F2F2"/>
            </a:solidFill>
            <a:prstDash val="solid"/>
          </a:ln>
        </p:spPr>
      </p:sp>
      <p:sp>
        <p:nvSpPr>
          <p:cNvPr id="10" name="Text 6"/>
          <p:cNvSpPr txBox="1"/>
          <p:nvPr/>
        </p:nvSpPr>
        <p:spPr>
          <a:xfrm>
            <a:off x="6510528"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3  Solution</a:t>
            </a:r>
            <a:endParaRPr lang="en-US" sz="1050" dirty="0"/>
          </a:p>
        </p:txBody>
      </p:sp>
      <p:sp>
        <p:nvSpPr>
          <p:cNvPr id="11" name="Shape 7"/>
          <p:cNvSpPr/>
          <p:nvPr/>
        </p:nvSpPr>
        <p:spPr>
          <a:xfrm>
            <a:off x="7872984" y="182880"/>
            <a:ext cx="1307592" cy="420624"/>
          </a:xfrm>
          <a:prstGeom prst="rect">
            <a:avLst/>
          </a:prstGeom>
          <a:solidFill>
            <a:srgbClr val="F2F2F2"/>
          </a:solidFill>
          <a:ln w="12700">
            <a:solidFill>
              <a:srgbClr val="F2F2F2"/>
            </a:solidFill>
            <a:prstDash val="solid"/>
          </a:ln>
        </p:spPr>
      </p:sp>
      <p:sp>
        <p:nvSpPr>
          <p:cNvPr id="12" name="Text 8"/>
          <p:cNvSpPr txBox="1"/>
          <p:nvPr/>
        </p:nvSpPr>
        <p:spPr>
          <a:xfrm>
            <a:off x="7872984"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4  Implementation</a:t>
            </a:r>
            <a:endParaRPr lang="en-US" sz="1050" dirty="0"/>
          </a:p>
        </p:txBody>
      </p:sp>
      <p:sp>
        <p:nvSpPr>
          <p:cNvPr id="13" name="Shape 9"/>
          <p:cNvSpPr/>
          <p:nvPr/>
        </p:nvSpPr>
        <p:spPr>
          <a:xfrm>
            <a:off x="9235440" y="182880"/>
            <a:ext cx="1307592" cy="420624"/>
          </a:xfrm>
          <a:prstGeom prst="rect">
            <a:avLst/>
          </a:prstGeom>
          <a:solidFill>
            <a:srgbClr val="B63831"/>
          </a:solidFill>
          <a:ln w="12700">
            <a:solidFill>
              <a:srgbClr val="B63831"/>
            </a:solidFill>
            <a:prstDash val="solid"/>
          </a:ln>
        </p:spPr>
      </p:sp>
      <p:sp>
        <p:nvSpPr>
          <p:cNvPr id="14" name="Text 10"/>
          <p:cNvSpPr txBox="1"/>
          <p:nvPr/>
        </p:nvSpPr>
        <p:spPr>
          <a:xfrm>
            <a:off x="9235440" y="182880"/>
            <a:ext cx="1307592"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  Impact</a:t>
            </a:r>
            <a:endParaRPr lang="en-US" sz="1050" dirty="0"/>
          </a:p>
        </p:txBody>
      </p:sp>
      <p:sp>
        <p:nvSpPr>
          <p:cNvPr id="15" name="Text 11"/>
          <p:cNvSpPr txBox="1"/>
          <p:nvPr/>
        </p:nvSpPr>
        <p:spPr>
          <a:xfrm>
            <a:off x="10625328" y="146304"/>
            <a:ext cx="1481328" cy="49377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Team Futuristic</a:t>
            </a:r>
            <a:pPr algn="r" indent="0" marL="0">
              <a:buNone/>
            </a:pPr>
            <a:endParaRPr lang="en-US" sz="1000" dirty="0"/>
          </a:p>
          <a:p>
            <a:pPr algn="r" indent="0" marL="0">
              <a:buNone/>
            </a:pPr>
            <a:r>
              <a:rPr lang="en-US" sz="950" dirty="0">
                <a:solidFill>
                  <a:srgbClr val="FFFFFF"/>
                </a:solidFill>
                <a:latin typeface="Calibri" pitchFamily="34" charset="0"/>
                <a:ea typeface="Calibri" pitchFamily="34" charset="-122"/>
                <a:cs typeface="Calibri" pitchFamily="34" charset="-120"/>
              </a:rPr>
              <a:t>IIT Bombay</a:t>
            </a:r>
            <a:endParaRPr lang="en-US" sz="1000" dirty="0"/>
          </a:p>
        </p:txBody>
      </p:sp>
      <p:sp>
        <p:nvSpPr>
          <p:cNvPr id="16" name="Text 12"/>
          <p:cNvSpPr txBox="1"/>
          <p:nvPr/>
        </p:nvSpPr>
        <p:spPr>
          <a:xfrm>
            <a:off x="457200" y="822960"/>
            <a:ext cx="11274552" cy="384048"/>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At a conservative 1% downgrade rate, each line has ~₹6.7 cr a year at stake; ~₹43 cr across the fleet</a:t>
            </a:r>
            <a:endParaRPr lang="en-US" sz="2000" dirty="0"/>
          </a:p>
        </p:txBody>
      </p:sp>
      <p:sp>
        <p:nvSpPr>
          <p:cNvPr id="17" name="Shape 13"/>
          <p:cNvSpPr/>
          <p:nvPr/>
        </p:nvSpPr>
        <p:spPr>
          <a:xfrm>
            <a:off x="91440" y="1234440"/>
            <a:ext cx="274320" cy="4965192"/>
          </a:xfrm>
          <a:prstGeom prst="rect">
            <a:avLst/>
          </a:prstGeom>
          <a:solidFill>
            <a:srgbClr val="2B2B2B"/>
          </a:solidFill>
          <a:ln w="12700">
            <a:solidFill>
              <a:srgbClr val="2B2B2B"/>
            </a:solidFill>
            <a:prstDash val="solid"/>
          </a:ln>
        </p:spPr>
      </p:sp>
      <p:sp>
        <p:nvSpPr>
          <p:cNvPr id="18" name="Text 14"/>
          <p:cNvSpPr txBox="1"/>
          <p:nvPr/>
        </p:nvSpPr>
        <p:spPr>
          <a:xfrm rot="16200000">
            <a:off x="-2253996" y="3579876"/>
            <a:ext cx="4965192"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IMPACT  ·  VALUE  ·  ASK</a:t>
            </a:r>
            <a:endParaRPr lang="en-US" sz="1000" dirty="0"/>
          </a:p>
        </p:txBody>
      </p:sp>
      <p:sp>
        <p:nvSpPr>
          <p:cNvPr id="19" name="Shape 15"/>
          <p:cNvSpPr/>
          <p:nvPr/>
        </p:nvSpPr>
        <p:spPr>
          <a:xfrm>
            <a:off x="91440" y="6236208"/>
            <a:ext cx="11640312" cy="420624"/>
          </a:xfrm>
          <a:prstGeom prst="rect">
            <a:avLst/>
          </a:prstGeom>
          <a:solidFill>
            <a:srgbClr val="2B2B2B"/>
          </a:solidFill>
          <a:ln w="12700">
            <a:solidFill>
              <a:srgbClr val="2B2B2B"/>
            </a:solidFill>
            <a:prstDash val="solid"/>
          </a:ln>
        </p:spPr>
      </p:sp>
      <p:sp>
        <p:nvSpPr>
          <p:cNvPr id="20" name="Text 16"/>
          <p:cNvSpPr txBox="1"/>
          <p:nvPr/>
        </p:nvSpPr>
        <p:spPr>
          <a:xfrm>
            <a:off x="256032" y="6236208"/>
            <a:ext cx="1133856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Recommendation: approve a 7-month pilot on one 300-series cold-rolled line. JSL's own downgrade rate decides fleet rollout.</a:t>
            </a:r>
            <a:endParaRPr lang="en-US" sz="1200" dirty="0"/>
          </a:p>
        </p:txBody>
      </p:sp>
      <p:sp>
        <p:nvSpPr>
          <p:cNvPr id="21" name="Text 17"/>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Inputs: JSL FY26 (INR 167,407/t; 2,565,902 t sold). Base case: a 0.4 Mt line, 1% downgraded at a 10% discount. Value at stake, not a savings forecast: JSL's own data sets the real figure.</a:t>
            </a:r>
            <a:endParaRPr lang="en-US" sz="900" dirty="0"/>
          </a:p>
        </p:txBody>
      </p:sp>
      <p:sp>
        <p:nvSpPr>
          <p:cNvPr id="22" name="Shape 18"/>
          <p:cNvSpPr/>
          <p:nvPr/>
        </p:nvSpPr>
        <p:spPr>
          <a:xfrm>
            <a:off x="457200" y="1234440"/>
            <a:ext cx="3977640" cy="274320"/>
          </a:xfrm>
          <a:prstGeom prst="rect">
            <a:avLst/>
          </a:prstGeom>
          <a:solidFill>
            <a:srgbClr val="E4803A"/>
          </a:solidFill>
          <a:ln w="12700">
            <a:solidFill>
              <a:srgbClr val="E4803A"/>
            </a:solidFill>
            <a:prstDash val="solid"/>
          </a:ln>
        </p:spPr>
      </p:sp>
      <p:sp>
        <p:nvSpPr>
          <p:cNvPr id="23" name="Text 19"/>
          <p:cNvSpPr txBox="1"/>
          <p:nvPr/>
        </p:nvSpPr>
        <p:spPr>
          <a:xfrm>
            <a:off x="548640" y="1234440"/>
            <a:ext cx="37947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Loss pool per line, ₹ cr a year</a:t>
            </a:r>
            <a:endParaRPr lang="en-US" sz="1100" dirty="0"/>
          </a:p>
        </p:txBody>
      </p:sp>
      <p:sp>
        <p:nvSpPr>
          <p:cNvPr id="24" name="Text 20"/>
          <p:cNvSpPr txBox="1"/>
          <p:nvPr/>
        </p:nvSpPr>
        <p:spPr>
          <a:xfrm>
            <a:off x="457200" y="1554480"/>
            <a:ext cx="3977640" cy="219456"/>
          </a:xfrm>
          <a:prstGeom prst="rect">
            <a:avLst/>
          </a:prstGeom>
          <a:noFill/>
          <a:ln/>
        </p:spPr>
        <p:txBody>
          <a:bodyPr wrap="square" lIns="0" tIns="0" rIns="0" bIns="0" rtlCol="0" anchor="t"/>
          <a:lstStyle/>
          <a:p>
            <a:pPr indent="0" marL="0">
              <a:buNone/>
            </a:pPr>
            <a:r>
              <a:rPr lang="en-US" sz="950" i="1" dirty="0">
                <a:solidFill>
                  <a:srgbClr val="404040"/>
                </a:solidFill>
                <a:latin typeface="Calibri" pitchFamily="34" charset="0"/>
                <a:ea typeface="Calibri" pitchFamily="34" charset="-122"/>
                <a:cs typeface="Calibri" pitchFamily="34" charset="-120"/>
              </a:rPr>
              <a:t>0.4 Mt × downgrade rate × price discount × ₹167,407/t</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3977640" cy="914400"/>
        </p:xfrm>
        <a:graphic>
          <a:graphicData uri="http://schemas.openxmlformats.org/drawingml/2006/table">
            <a:tbl>
              <a:tblPr/>
              <a:tblGrid>
                <a:gridCol w="1234440"/>
                <a:gridCol w="914400"/>
                <a:gridCol w="914400"/>
                <a:gridCol w="9144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Downgraded</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10% off</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15% off</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20% off</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r>
              <a:tr h="384048">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0.5% of volume</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rgbClr val="1A1A1A"/>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5D3"/>
                    </a:solidFill>
                  </a:tcPr>
                </a:tc>
                <a:tc>
                  <a:txBody>
                    <a:bodyPr/>
                    <a:lstStyle/>
                    <a:p>
                      <a:pPr algn="ctr" indent="0" marL="0">
                        <a:buNone/>
                      </a:pPr>
                      <a:r>
                        <a:rPr lang="en-US" sz="1200" b="1" dirty="0">
                          <a:solidFill>
                            <a:srgbClr val="1A1A1A"/>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5D3"/>
                    </a:solidFill>
                  </a:tcPr>
                </a:tc>
                <a:tc>
                  <a:txBody>
                    <a:bodyPr/>
                    <a:lstStyle/>
                    <a:p>
                      <a:pPr algn="ctr" indent="0" marL="0">
                        <a:buNone/>
                      </a:pPr>
                      <a:r>
                        <a:rPr lang="en-US" sz="1200" b="1" dirty="0">
                          <a:solidFill>
                            <a:srgbClr val="1A1A1A"/>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BE92"/>
                    </a:solidFill>
                  </a:tcPr>
                </a:tc>
              </a:tr>
              <a:tr h="384048">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1.0% of volume</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algn="ctr" indent="0" marL="0">
                        <a:buNone/>
                      </a:pPr>
                      <a:r>
                        <a:rPr lang="en-US" sz="1200" b="1" dirty="0">
                          <a:solidFill>
                            <a:srgbClr val="1A1A1A"/>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BE9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C9352"/>
                    </a:solidFill>
                  </a:tcPr>
                </a:tc>
              </a:tr>
              <a:tr h="384048">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2.0% of volume</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C93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20.1</a:t>
                      </a:r>
                      <a:endParaRPr lang="en-US" sz="12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4561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26.8</a:t>
                      </a:r>
                      <a:endParaRPr lang="en-US" sz="12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4561A"/>
                    </a:solidFill>
                  </a:tcPr>
                </a:tc>
              </a:tr>
            </a:tbl>
          </a:graphicData>
        </a:graphic>
      </p:graphicFrame>
      <p:sp>
        <p:nvSpPr>
          <p:cNvPr id="26" name="Text 21"/>
          <p:cNvSpPr txBox="1"/>
          <p:nvPr/>
        </p:nvSpPr>
        <p:spPr>
          <a:xfrm>
            <a:off x="457200" y="3310128"/>
            <a:ext cx="3977640" cy="566928"/>
          </a:xfrm>
          <a:prstGeom prst="rect">
            <a:avLst/>
          </a:prstGeom>
          <a:noFill/>
          <a:ln/>
        </p:spPr>
        <p:txBody>
          <a:bodyPr wrap="square" lIns="0" tIns="0" rIns="0" bIns="0" rtlCol="0" anchor="t"/>
          <a:lstStyle/>
          <a:p>
            <a:pPr indent="0" marL="0">
              <a:buNone/>
            </a:pPr>
            <a:r>
              <a:rPr lang="en-US" sz="950" b="1" dirty="0">
                <a:solidFill>
                  <a:srgbClr val="2B2B2B"/>
                </a:solidFill>
                <a:latin typeface="Calibri" pitchFamily="34" charset="0"/>
                <a:ea typeface="Calibri" pitchFamily="34" charset="-122"/>
                <a:cs typeface="Calibri" pitchFamily="34" charset="-120"/>
              </a:rPr>
              <a:t>Base case (dark): </a:t>
            </a:r>
            <a:pPr indent="0" marL="0">
              <a:buNone/>
            </a:pPr>
            <a:r>
              <a:rPr lang="en-US" sz="950" dirty="0">
                <a:solidFill>
                  <a:srgbClr val="404040"/>
                </a:solidFill>
                <a:latin typeface="Calibri" pitchFamily="34" charset="0"/>
                <a:ea typeface="Calibri" pitchFamily="34" charset="-122"/>
                <a:cs typeface="Calibri" pitchFamily="34" charset="-120"/>
              </a:rPr>
              <a:t>₹6.7 cr a year per line, ~₹43 cr across 2.57 Mt. Non-prime coil sells 10-30% below prime.</a:t>
            </a:r>
            <a:endParaRPr lang="en-US" sz="950" dirty="0"/>
          </a:p>
        </p:txBody>
      </p:sp>
      <p:sp>
        <p:nvSpPr>
          <p:cNvPr id="27" name="Shape 22"/>
          <p:cNvSpPr/>
          <p:nvPr/>
        </p:nvSpPr>
        <p:spPr>
          <a:xfrm>
            <a:off x="4617720" y="1234440"/>
            <a:ext cx="7114032" cy="274320"/>
          </a:xfrm>
          <a:prstGeom prst="rect">
            <a:avLst/>
          </a:prstGeom>
          <a:solidFill>
            <a:srgbClr val="E4803A"/>
          </a:solidFill>
          <a:ln w="12700">
            <a:solidFill>
              <a:srgbClr val="E4803A"/>
            </a:solidFill>
            <a:prstDash val="solid"/>
          </a:ln>
        </p:spPr>
      </p:sp>
      <p:sp>
        <p:nvSpPr>
          <p:cNvPr id="28" name="Text 23"/>
          <p:cNvSpPr txBox="1"/>
          <p:nvPr/>
        </p:nvSpPr>
        <p:spPr>
          <a:xfrm>
            <a:off x="4709160" y="1234440"/>
            <a:ext cx="693115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Where the value comes from, and how the pilot measures it</a:t>
            </a:r>
            <a:endParaRPr lang="en-US" sz="1100" dirty="0"/>
          </a:p>
        </p:txBody>
      </p:sp>
      <p:sp>
        <p:nvSpPr>
          <p:cNvPr id="29" name="Shape 24"/>
          <p:cNvSpPr/>
          <p:nvPr/>
        </p:nvSpPr>
        <p:spPr>
          <a:xfrm>
            <a:off x="4709160" y="2084832"/>
            <a:ext cx="1417320" cy="960120"/>
          </a:xfrm>
          <a:prstGeom prst="roundRect">
            <a:avLst>
              <a:gd name="adj" fmla="val 5714"/>
            </a:avLst>
          </a:prstGeom>
          <a:solidFill>
            <a:srgbClr val="D2651F"/>
          </a:solidFill>
          <a:ln w="12700">
            <a:solidFill>
              <a:srgbClr val="D2651F"/>
            </a:solidFill>
            <a:prstDash val="solid"/>
          </a:ln>
        </p:spPr>
      </p:sp>
      <p:sp>
        <p:nvSpPr>
          <p:cNvPr id="30" name="Text 25"/>
          <p:cNvSpPr txBox="1"/>
          <p:nvPr/>
        </p:nvSpPr>
        <p:spPr>
          <a:xfrm>
            <a:off x="4709160" y="2084832"/>
            <a:ext cx="1417320" cy="9601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~₹6.7 cr</a:t>
            </a:r>
            <a:pPr algn="ctr" indent="0" marL="0">
              <a:buNone/>
            </a:pPr>
            <a:endParaRPr lang="en-US" sz="1000" dirty="0"/>
          </a:p>
          <a:p>
            <a:pPr algn="ctr" indent="0" marL="0">
              <a:buNone/>
            </a:pPr>
            <a:r>
              <a:rPr lang="en-US" sz="950" dirty="0">
                <a:solidFill>
                  <a:srgbClr val="FFFFFF"/>
                </a:solidFill>
                <a:latin typeface="Calibri" pitchFamily="34" charset="0"/>
                <a:ea typeface="Calibri" pitchFamily="34" charset="-122"/>
                <a:cs typeface="Calibri" pitchFamily="34" charset="-120"/>
              </a:rPr>
              <a:t>a year at stake</a:t>
            </a:r>
            <a:endParaRPr lang="en-US" sz="1000" dirty="0"/>
          </a:p>
          <a:p>
            <a:pPr algn="ctr" indent="0" marL="0">
              <a:buNone/>
            </a:pPr>
            <a:r>
              <a:rPr lang="en-US" sz="950" dirty="0">
                <a:solidFill>
                  <a:srgbClr val="FFFFFF"/>
                </a:solidFill>
                <a:latin typeface="Calibri" pitchFamily="34" charset="0"/>
                <a:ea typeface="Calibri" pitchFamily="34" charset="-122"/>
                <a:cs typeface="Calibri" pitchFamily="34" charset="-120"/>
              </a:rPr>
              <a:t>per line</a:t>
            </a:r>
            <a:endParaRPr lang="en-US" sz="1000" dirty="0"/>
          </a:p>
        </p:txBody>
      </p:sp>
      <p:sp>
        <p:nvSpPr>
          <p:cNvPr id="31" name="Shape 26"/>
          <p:cNvSpPr/>
          <p:nvPr/>
        </p:nvSpPr>
        <p:spPr>
          <a:xfrm>
            <a:off x="6126480" y="2555748"/>
            <a:ext cx="228600" cy="18288"/>
          </a:xfrm>
          <a:prstGeom prst="rect">
            <a:avLst/>
          </a:prstGeom>
          <a:solidFill>
            <a:srgbClr val="9E9E9E"/>
          </a:solidFill>
          <a:ln w="12700">
            <a:solidFill>
              <a:srgbClr val="9E9E9E"/>
            </a:solidFill>
            <a:prstDash val="solid"/>
          </a:ln>
        </p:spPr>
      </p:sp>
      <p:sp>
        <p:nvSpPr>
          <p:cNvPr id="32" name="Shape 27"/>
          <p:cNvSpPr/>
          <p:nvPr/>
        </p:nvSpPr>
        <p:spPr>
          <a:xfrm>
            <a:off x="6355080" y="1755648"/>
            <a:ext cx="18288" cy="1755648"/>
          </a:xfrm>
          <a:prstGeom prst="rect">
            <a:avLst/>
          </a:prstGeom>
          <a:solidFill>
            <a:srgbClr val="9E9E9E"/>
          </a:solidFill>
          <a:ln w="12700">
            <a:solidFill>
              <a:srgbClr val="9E9E9E"/>
            </a:solidFill>
            <a:prstDash val="solid"/>
          </a:ln>
        </p:spPr>
      </p:sp>
      <p:sp>
        <p:nvSpPr>
          <p:cNvPr id="33" name="Shape 28"/>
          <p:cNvSpPr/>
          <p:nvPr/>
        </p:nvSpPr>
        <p:spPr>
          <a:xfrm>
            <a:off x="6355080" y="1755648"/>
            <a:ext cx="228600" cy="18288"/>
          </a:xfrm>
          <a:prstGeom prst="rect">
            <a:avLst/>
          </a:prstGeom>
          <a:solidFill>
            <a:srgbClr val="9E9E9E"/>
          </a:solidFill>
          <a:ln w="12700">
            <a:solidFill>
              <a:srgbClr val="9E9E9E"/>
            </a:solidFill>
            <a:prstDash val="solid"/>
          </a:ln>
        </p:spPr>
      </p:sp>
      <p:sp>
        <p:nvSpPr>
          <p:cNvPr id="34" name="Shape 29"/>
          <p:cNvSpPr/>
          <p:nvPr/>
        </p:nvSpPr>
        <p:spPr>
          <a:xfrm>
            <a:off x="6583680" y="1572768"/>
            <a:ext cx="5074920" cy="384048"/>
          </a:xfrm>
          <a:prstGeom prst="roundRect">
            <a:avLst>
              <a:gd name="adj" fmla="val 14286"/>
            </a:avLst>
          </a:prstGeom>
          <a:solidFill>
            <a:srgbClr val="F3F3F3"/>
          </a:solidFill>
          <a:ln w="12700">
            <a:solidFill>
              <a:srgbClr val="F3F3F3"/>
            </a:solidFill>
            <a:prstDash val="solid"/>
          </a:ln>
        </p:spPr>
      </p:sp>
      <p:sp>
        <p:nvSpPr>
          <p:cNvPr id="35" name="Shape 30"/>
          <p:cNvSpPr/>
          <p:nvPr/>
        </p:nvSpPr>
        <p:spPr>
          <a:xfrm>
            <a:off x="6647688" y="1618488"/>
            <a:ext cx="292608" cy="292608"/>
          </a:xfrm>
          <a:prstGeom prst="ellipse">
            <a:avLst/>
          </a:prstGeom>
          <a:solidFill>
            <a:srgbClr val="D2651F"/>
          </a:solidFill>
          <a:ln w="12700">
            <a:solidFill>
              <a:srgbClr val="D2651F"/>
            </a:solidFill>
            <a:prstDash val="solid"/>
          </a:ln>
        </p:spPr>
      </p:sp>
      <p:pic>
        <p:nvPicPr>
          <p:cNvPr id="36" name="Image 2" descr="img/icons/coins-white.png">    </p:cNvPr>
          <p:cNvPicPr>
            <a:picLocks noChangeAspect="1"/>
          </p:cNvPicPr>
          <p:nvPr/>
        </p:nvPicPr>
        <p:blipFill>
          <a:blip r:embed="rId3"/>
          <a:stretch>
            <a:fillRect/>
          </a:stretch>
        </p:blipFill>
        <p:spPr>
          <a:xfrm>
            <a:off x="6712062" y="1682862"/>
            <a:ext cx="163860" cy="163860"/>
          </a:xfrm>
          <a:prstGeom prst="rect">
            <a:avLst/>
          </a:prstGeom>
        </p:spPr>
      </p:pic>
      <p:sp>
        <p:nvSpPr>
          <p:cNvPr id="37" name="Text 31"/>
          <p:cNvSpPr txBox="1"/>
          <p:nvPr/>
        </p:nvSpPr>
        <p:spPr>
          <a:xfrm>
            <a:off x="7022592" y="1572768"/>
            <a:ext cx="2011680" cy="384048"/>
          </a:xfrm>
          <a:prstGeom prst="rect">
            <a:avLst/>
          </a:prstGeom>
          <a:noFill/>
          <a:ln/>
        </p:spPr>
        <p:txBody>
          <a:bodyPr wrap="square" lIns="0" tIns="0" rIns="0" bIns="0" rtlCol="0" anchor="ctr"/>
          <a:lstStyle/>
          <a:p>
            <a:pPr indent="0" marL="0">
              <a:buNone/>
            </a:pPr>
            <a:r>
              <a:rPr lang="en-US" sz="1050" b="1" dirty="0">
                <a:solidFill>
                  <a:srgbClr val="2B2B2B"/>
                </a:solidFill>
                <a:latin typeface="Calibri" pitchFamily="34" charset="0"/>
                <a:ea typeface="Calibri" pitchFamily="34" charset="-122"/>
                <a:cs typeface="Calibri" pitchFamily="34" charset="-120"/>
              </a:rPr>
              <a:t>Fewer downgrades</a:t>
            </a:r>
            <a:endParaRPr lang="en-US" sz="1050" dirty="0"/>
          </a:p>
        </p:txBody>
      </p:sp>
      <p:sp>
        <p:nvSpPr>
          <p:cNvPr id="38" name="Text 32"/>
          <p:cNvSpPr txBox="1"/>
          <p:nvPr/>
        </p:nvSpPr>
        <p:spPr>
          <a:xfrm>
            <a:off x="9052560" y="1572768"/>
            <a:ext cx="2560320" cy="384048"/>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measure: </a:t>
            </a:r>
            <a:pPr indent="0" marL="0">
              <a:buNone/>
            </a:pPr>
            <a:r>
              <a:rPr lang="en-US" sz="900" dirty="0">
                <a:solidFill>
                  <a:srgbClr val="404040"/>
                </a:solidFill>
                <a:latin typeface="Calibri" pitchFamily="34" charset="0"/>
                <a:ea typeface="Calibri" pitchFamily="34" charset="-122"/>
                <a:cs typeface="Calibri" pitchFamily="34" charset="-120"/>
              </a:rPr>
              <a:t>downgrade rate by line and grade</a:t>
            </a:r>
            <a:endParaRPr lang="en-US" sz="900" dirty="0"/>
          </a:p>
        </p:txBody>
      </p:sp>
      <p:sp>
        <p:nvSpPr>
          <p:cNvPr id="39" name="Shape 33"/>
          <p:cNvSpPr/>
          <p:nvPr/>
        </p:nvSpPr>
        <p:spPr>
          <a:xfrm>
            <a:off x="6355080" y="2194560"/>
            <a:ext cx="228600" cy="18288"/>
          </a:xfrm>
          <a:prstGeom prst="rect">
            <a:avLst/>
          </a:prstGeom>
          <a:solidFill>
            <a:srgbClr val="9E9E9E"/>
          </a:solidFill>
          <a:ln w="12700">
            <a:solidFill>
              <a:srgbClr val="9E9E9E"/>
            </a:solidFill>
            <a:prstDash val="solid"/>
          </a:ln>
        </p:spPr>
      </p:sp>
      <p:sp>
        <p:nvSpPr>
          <p:cNvPr id="40" name="Shape 34"/>
          <p:cNvSpPr/>
          <p:nvPr/>
        </p:nvSpPr>
        <p:spPr>
          <a:xfrm>
            <a:off x="6583680" y="2011680"/>
            <a:ext cx="5074920" cy="384048"/>
          </a:xfrm>
          <a:prstGeom prst="roundRect">
            <a:avLst>
              <a:gd name="adj" fmla="val 14286"/>
            </a:avLst>
          </a:prstGeom>
          <a:solidFill>
            <a:srgbClr val="F3F3F3"/>
          </a:solidFill>
          <a:ln w="12700">
            <a:solidFill>
              <a:srgbClr val="F3F3F3"/>
            </a:solidFill>
            <a:prstDash val="solid"/>
          </a:ln>
        </p:spPr>
      </p:sp>
      <p:sp>
        <p:nvSpPr>
          <p:cNvPr id="41" name="Shape 35"/>
          <p:cNvSpPr/>
          <p:nvPr/>
        </p:nvSpPr>
        <p:spPr>
          <a:xfrm>
            <a:off x="6647688" y="2057400"/>
            <a:ext cx="292608" cy="292608"/>
          </a:xfrm>
          <a:prstGeom prst="ellipse">
            <a:avLst/>
          </a:prstGeom>
          <a:solidFill>
            <a:srgbClr val="D2651F"/>
          </a:solidFill>
          <a:ln w="12700">
            <a:solidFill>
              <a:srgbClr val="D2651F"/>
            </a:solidFill>
            <a:prstDash val="solid"/>
          </a:ln>
        </p:spPr>
      </p:sp>
      <p:pic>
        <p:nvPicPr>
          <p:cNvPr id="42" name="Image 3" descr="img/icons/users-white.png">    </p:cNvPr>
          <p:cNvPicPr>
            <a:picLocks noChangeAspect="1"/>
          </p:cNvPicPr>
          <p:nvPr/>
        </p:nvPicPr>
        <p:blipFill>
          <a:blip r:embed="rId4"/>
          <a:stretch>
            <a:fillRect/>
          </a:stretch>
        </p:blipFill>
        <p:spPr>
          <a:xfrm>
            <a:off x="6712062" y="2121774"/>
            <a:ext cx="163860" cy="163860"/>
          </a:xfrm>
          <a:prstGeom prst="rect">
            <a:avLst/>
          </a:prstGeom>
        </p:spPr>
      </p:pic>
      <p:sp>
        <p:nvSpPr>
          <p:cNvPr id="43" name="Text 36"/>
          <p:cNvSpPr txBox="1"/>
          <p:nvPr/>
        </p:nvSpPr>
        <p:spPr>
          <a:xfrm>
            <a:off x="7022592" y="2011680"/>
            <a:ext cx="2011680" cy="384048"/>
          </a:xfrm>
          <a:prstGeom prst="rect">
            <a:avLst/>
          </a:prstGeom>
          <a:noFill/>
          <a:ln/>
        </p:spPr>
        <p:txBody>
          <a:bodyPr wrap="square" lIns="0" tIns="0" rIns="0" bIns="0" rtlCol="0" anchor="ctr"/>
          <a:lstStyle/>
          <a:p>
            <a:pPr indent="0" marL="0">
              <a:buNone/>
            </a:pPr>
            <a:r>
              <a:rPr lang="en-US" sz="1050" b="1" dirty="0">
                <a:solidFill>
                  <a:srgbClr val="2B2B2B"/>
                </a:solidFill>
                <a:latin typeface="Calibri" pitchFamily="34" charset="0"/>
                <a:ea typeface="Calibri" pitchFamily="34" charset="-122"/>
                <a:cs typeface="Calibri" pitchFamily="34" charset="-120"/>
              </a:rPr>
              <a:t>Fewer customer claims</a:t>
            </a:r>
            <a:endParaRPr lang="en-US" sz="1050" dirty="0"/>
          </a:p>
        </p:txBody>
      </p:sp>
      <p:sp>
        <p:nvSpPr>
          <p:cNvPr id="44" name="Text 37"/>
          <p:cNvSpPr txBox="1"/>
          <p:nvPr/>
        </p:nvSpPr>
        <p:spPr>
          <a:xfrm>
            <a:off x="9052560" y="2011680"/>
            <a:ext cx="2560320" cy="384048"/>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measure: </a:t>
            </a:r>
            <a:pPr indent="0" marL="0">
              <a:buNone/>
            </a:pPr>
            <a:r>
              <a:rPr lang="en-US" sz="900" dirty="0">
                <a:solidFill>
                  <a:srgbClr val="404040"/>
                </a:solidFill>
                <a:latin typeface="Calibri" pitchFamily="34" charset="0"/>
                <a:ea typeface="Calibri" pitchFamily="34" charset="-122"/>
                <a:cs typeface="Calibri" pitchFamily="34" charset="-120"/>
              </a:rPr>
              <a:t>claims per 1,000 t shipped</a:t>
            </a:r>
            <a:endParaRPr lang="en-US" sz="900" dirty="0"/>
          </a:p>
        </p:txBody>
      </p:sp>
      <p:sp>
        <p:nvSpPr>
          <p:cNvPr id="45" name="Shape 38"/>
          <p:cNvSpPr/>
          <p:nvPr/>
        </p:nvSpPr>
        <p:spPr>
          <a:xfrm>
            <a:off x="6355080" y="2633472"/>
            <a:ext cx="228600" cy="18288"/>
          </a:xfrm>
          <a:prstGeom prst="rect">
            <a:avLst/>
          </a:prstGeom>
          <a:solidFill>
            <a:srgbClr val="9E9E9E"/>
          </a:solidFill>
          <a:ln w="12700">
            <a:solidFill>
              <a:srgbClr val="9E9E9E"/>
            </a:solidFill>
            <a:prstDash val="solid"/>
          </a:ln>
        </p:spPr>
      </p:sp>
      <p:sp>
        <p:nvSpPr>
          <p:cNvPr id="46" name="Shape 39"/>
          <p:cNvSpPr/>
          <p:nvPr/>
        </p:nvSpPr>
        <p:spPr>
          <a:xfrm>
            <a:off x="6583680" y="2450592"/>
            <a:ext cx="5074920" cy="384048"/>
          </a:xfrm>
          <a:prstGeom prst="roundRect">
            <a:avLst>
              <a:gd name="adj" fmla="val 14286"/>
            </a:avLst>
          </a:prstGeom>
          <a:solidFill>
            <a:srgbClr val="F3F3F3"/>
          </a:solidFill>
          <a:ln w="12700">
            <a:solidFill>
              <a:srgbClr val="F3F3F3"/>
            </a:solidFill>
            <a:prstDash val="solid"/>
          </a:ln>
        </p:spPr>
      </p:sp>
      <p:sp>
        <p:nvSpPr>
          <p:cNvPr id="47" name="Shape 40"/>
          <p:cNvSpPr/>
          <p:nvPr/>
        </p:nvSpPr>
        <p:spPr>
          <a:xfrm>
            <a:off x="6647688" y="2496312"/>
            <a:ext cx="292608" cy="292608"/>
          </a:xfrm>
          <a:prstGeom prst="ellipse">
            <a:avLst/>
          </a:prstGeom>
          <a:solidFill>
            <a:srgbClr val="D2651F"/>
          </a:solidFill>
          <a:ln w="12700">
            <a:solidFill>
              <a:srgbClr val="D2651F"/>
            </a:solidFill>
            <a:prstDash val="solid"/>
          </a:ln>
        </p:spPr>
      </p:sp>
      <p:pic>
        <p:nvPicPr>
          <p:cNvPr id="48" name="Image 4" descr="img/icons/refresh-cw-white.png">    </p:cNvPr>
          <p:cNvPicPr>
            <a:picLocks noChangeAspect="1"/>
          </p:cNvPicPr>
          <p:nvPr/>
        </p:nvPicPr>
        <p:blipFill>
          <a:blip r:embed="rId5"/>
          <a:stretch>
            <a:fillRect/>
          </a:stretch>
        </p:blipFill>
        <p:spPr>
          <a:xfrm>
            <a:off x="6712062" y="2560686"/>
            <a:ext cx="163860" cy="163860"/>
          </a:xfrm>
          <a:prstGeom prst="rect">
            <a:avLst/>
          </a:prstGeom>
        </p:spPr>
      </p:pic>
      <p:sp>
        <p:nvSpPr>
          <p:cNvPr id="49" name="Text 41"/>
          <p:cNvSpPr txBox="1"/>
          <p:nvPr/>
        </p:nvSpPr>
        <p:spPr>
          <a:xfrm>
            <a:off x="7022592" y="2450592"/>
            <a:ext cx="2011680" cy="384048"/>
          </a:xfrm>
          <a:prstGeom prst="rect">
            <a:avLst/>
          </a:prstGeom>
          <a:noFill/>
          <a:ln/>
        </p:spPr>
        <p:txBody>
          <a:bodyPr wrap="square" lIns="0" tIns="0" rIns="0" bIns="0" rtlCol="0" anchor="ctr"/>
          <a:lstStyle/>
          <a:p>
            <a:pPr indent="0" marL="0">
              <a:buNone/>
            </a:pPr>
            <a:r>
              <a:rPr lang="en-US" sz="1050" b="1" dirty="0">
                <a:solidFill>
                  <a:srgbClr val="2B2B2B"/>
                </a:solidFill>
                <a:latin typeface="Calibri" pitchFamily="34" charset="0"/>
                <a:ea typeface="Calibri" pitchFamily="34" charset="-122"/>
                <a:cs typeface="Calibri" pitchFamily="34" charset="-120"/>
              </a:rPr>
              <a:t>Less rework</a:t>
            </a:r>
            <a:endParaRPr lang="en-US" sz="1050" dirty="0"/>
          </a:p>
        </p:txBody>
      </p:sp>
      <p:sp>
        <p:nvSpPr>
          <p:cNvPr id="50" name="Text 42"/>
          <p:cNvSpPr txBox="1"/>
          <p:nvPr/>
        </p:nvSpPr>
        <p:spPr>
          <a:xfrm>
            <a:off x="9052560" y="2450592"/>
            <a:ext cx="2560320" cy="384048"/>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measure: </a:t>
            </a:r>
            <a:pPr indent="0" marL="0">
              <a:buNone/>
            </a:pPr>
            <a:r>
              <a:rPr lang="en-US" sz="900" dirty="0">
                <a:solidFill>
                  <a:srgbClr val="404040"/>
                </a:solidFill>
                <a:latin typeface="Calibri" pitchFamily="34" charset="0"/>
                <a:ea typeface="Calibri" pitchFamily="34" charset="-122"/>
                <a:cs typeface="Calibri" pitchFamily="34" charset="-120"/>
              </a:rPr>
              <a:t>rework tonnes per month</a:t>
            </a:r>
            <a:endParaRPr lang="en-US" sz="900" dirty="0"/>
          </a:p>
        </p:txBody>
      </p:sp>
      <p:sp>
        <p:nvSpPr>
          <p:cNvPr id="51" name="Shape 43"/>
          <p:cNvSpPr/>
          <p:nvPr/>
        </p:nvSpPr>
        <p:spPr>
          <a:xfrm>
            <a:off x="6355080" y="3072384"/>
            <a:ext cx="228600" cy="18288"/>
          </a:xfrm>
          <a:prstGeom prst="rect">
            <a:avLst/>
          </a:prstGeom>
          <a:solidFill>
            <a:srgbClr val="9E9E9E"/>
          </a:solidFill>
          <a:ln w="12700">
            <a:solidFill>
              <a:srgbClr val="9E9E9E"/>
            </a:solidFill>
            <a:prstDash val="solid"/>
          </a:ln>
        </p:spPr>
      </p:sp>
      <p:sp>
        <p:nvSpPr>
          <p:cNvPr id="52" name="Shape 44"/>
          <p:cNvSpPr/>
          <p:nvPr/>
        </p:nvSpPr>
        <p:spPr>
          <a:xfrm>
            <a:off x="6583680" y="2889504"/>
            <a:ext cx="5074920" cy="384048"/>
          </a:xfrm>
          <a:prstGeom prst="roundRect">
            <a:avLst>
              <a:gd name="adj" fmla="val 14286"/>
            </a:avLst>
          </a:prstGeom>
          <a:solidFill>
            <a:srgbClr val="F3F3F3"/>
          </a:solidFill>
          <a:ln w="12700">
            <a:solidFill>
              <a:srgbClr val="F3F3F3"/>
            </a:solidFill>
            <a:prstDash val="solid"/>
          </a:ln>
        </p:spPr>
      </p:sp>
      <p:sp>
        <p:nvSpPr>
          <p:cNvPr id="53" name="Shape 45"/>
          <p:cNvSpPr/>
          <p:nvPr/>
        </p:nvSpPr>
        <p:spPr>
          <a:xfrm>
            <a:off x="6647688" y="2935224"/>
            <a:ext cx="292608" cy="292608"/>
          </a:xfrm>
          <a:prstGeom prst="ellipse">
            <a:avLst/>
          </a:prstGeom>
          <a:solidFill>
            <a:srgbClr val="D2651F"/>
          </a:solidFill>
          <a:ln w="12700">
            <a:solidFill>
              <a:srgbClr val="D2651F"/>
            </a:solidFill>
            <a:prstDash val="solid"/>
          </a:ln>
        </p:spPr>
      </p:sp>
      <p:pic>
        <p:nvPicPr>
          <p:cNvPr id="54" name="Image 5" descr="img/icons/wrench-white.png">    </p:cNvPr>
          <p:cNvPicPr>
            <a:picLocks noChangeAspect="1"/>
          </p:cNvPicPr>
          <p:nvPr/>
        </p:nvPicPr>
        <p:blipFill>
          <a:blip r:embed="rId6"/>
          <a:stretch>
            <a:fillRect/>
          </a:stretch>
        </p:blipFill>
        <p:spPr>
          <a:xfrm>
            <a:off x="6712062" y="2999598"/>
            <a:ext cx="163860" cy="163860"/>
          </a:xfrm>
          <a:prstGeom prst="rect">
            <a:avLst/>
          </a:prstGeom>
        </p:spPr>
      </p:pic>
      <p:sp>
        <p:nvSpPr>
          <p:cNvPr id="55" name="Text 46"/>
          <p:cNvSpPr txBox="1"/>
          <p:nvPr/>
        </p:nvSpPr>
        <p:spPr>
          <a:xfrm>
            <a:off x="7022592" y="2889504"/>
            <a:ext cx="2011680" cy="384048"/>
          </a:xfrm>
          <a:prstGeom prst="rect">
            <a:avLst/>
          </a:prstGeom>
          <a:noFill/>
          <a:ln/>
        </p:spPr>
        <p:txBody>
          <a:bodyPr wrap="square" lIns="0" tIns="0" rIns="0" bIns="0" rtlCol="0" anchor="ctr"/>
          <a:lstStyle/>
          <a:p>
            <a:pPr indent="0" marL="0">
              <a:buNone/>
            </a:pPr>
            <a:r>
              <a:rPr lang="en-US" sz="1050" b="1" dirty="0">
                <a:solidFill>
                  <a:srgbClr val="2B2B2B"/>
                </a:solidFill>
                <a:latin typeface="Calibri" pitchFamily="34" charset="0"/>
                <a:ea typeface="Calibri" pitchFamily="34" charset="-122"/>
                <a:cs typeface="Calibri" pitchFamily="34" charset="-120"/>
              </a:rPr>
              <a:t>Faster root-cause fixes</a:t>
            </a:r>
            <a:endParaRPr lang="en-US" sz="1050" dirty="0"/>
          </a:p>
        </p:txBody>
      </p:sp>
      <p:sp>
        <p:nvSpPr>
          <p:cNvPr id="56" name="Text 47"/>
          <p:cNvSpPr txBox="1"/>
          <p:nvPr/>
        </p:nvSpPr>
        <p:spPr>
          <a:xfrm>
            <a:off x="9052560" y="2889504"/>
            <a:ext cx="2560320" cy="384048"/>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measure: </a:t>
            </a:r>
            <a:pPr indent="0" marL="0">
              <a:buNone/>
            </a:pPr>
            <a:r>
              <a:rPr lang="en-US" sz="900" dirty="0">
                <a:solidFill>
                  <a:srgbClr val="404040"/>
                </a:solidFill>
                <a:latin typeface="Calibri" pitchFamily="34" charset="0"/>
                <a:ea typeface="Calibri" pitchFamily="34" charset="-122"/>
                <a:cs typeface="Calibri" pitchFamily="34" charset="-120"/>
              </a:rPr>
              <a:t>hours from defect to fix</a:t>
            </a:r>
            <a:endParaRPr lang="en-US" sz="900" dirty="0"/>
          </a:p>
        </p:txBody>
      </p:sp>
      <p:sp>
        <p:nvSpPr>
          <p:cNvPr id="57" name="Shape 48"/>
          <p:cNvSpPr/>
          <p:nvPr/>
        </p:nvSpPr>
        <p:spPr>
          <a:xfrm>
            <a:off x="6355080" y="3511296"/>
            <a:ext cx="228600" cy="18288"/>
          </a:xfrm>
          <a:prstGeom prst="rect">
            <a:avLst/>
          </a:prstGeom>
          <a:solidFill>
            <a:srgbClr val="9E9E9E"/>
          </a:solidFill>
          <a:ln w="12700">
            <a:solidFill>
              <a:srgbClr val="9E9E9E"/>
            </a:solidFill>
            <a:prstDash val="solid"/>
          </a:ln>
        </p:spPr>
      </p:sp>
      <p:sp>
        <p:nvSpPr>
          <p:cNvPr id="58" name="Shape 49"/>
          <p:cNvSpPr/>
          <p:nvPr/>
        </p:nvSpPr>
        <p:spPr>
          <a:xfrm>
            <a:off x="6583680" y="3328416"/>
            <a:ext cx="5074920" cy="384048"/>
          </a:xfrm>
          <a:prstGeom prst="roundRect">
            <a:avLst>
              <a:gd name="adj" fmla="val 14286"/>
            </a:avLst>
          </a:prstGeom>
          <a:solidFill>
            <a:srgbClr val="F3F3F3"/>
          </a:solidFill>
          <a:ln w="12700">
            <a:solidFill>
              <a:srgbClr val="F3F3F3"/>
            </a:solidFill>
            <a:prstDash val="solid"/>
          </a:ln>
        </p:spPr>
      </p:sp>
      <p:sp>
        <p:nvSpPr>
          <p:cNvPr id="59" name="Shape 50"/>
          <p:cNvSpPr/>
          <p:nvPr/>
        </p:nvSpPr>
        <p:spPr>
          <a:xfrm>
            <a:off x="6647688" y="3374136"/>
            <a:ext cx="292608" cy="292608"/>
          </a:xfrm>
          <a:prstGeom prst="ellipse">
            <a:avLst/>
          </a:prstGeom>
          <a:solidFill>
            <a:srgbClr val="D2651F"/>
          </a:solidFill>
          <a:ln w="12700">
            <a:solidFill>
              <a:srgbClr val="D2651F"/>
            </a:solidFill>
            <a:prstDash val="solid"/>
          </a:ln>
        </p:spPr>
      </p:sp>
      <p:pic>
        <p:nvPicPr>
          <p:cNvPr id="60" name="Image 6" descr="img/icons/trending-up-white.png">    </p:cNvPr>
          <p:cNvPicPr>
            <a:picLocks noChangeAspect="1"/>
          </p:cNvPicPr>
          <p:nvPr/>
        </p:nvPicPr>
        <p:blipFill>
          <a:blip r:embed="rId7"/>
          <a:stretch>
            <a:fillRect/>
          </a:stretch>
        </p:blipFill>
        <p:spPr>
          <a:xfrm>
            <a:off x="6712062" y="3438510"/>
            <a:ext cx="163860" cy="163860"/>
          </a:xfrm>
          <a:prstGeom prst="rect">
            <a:avLst/>
          </a:prstGeom>
        </p:spPr>
      </p:pic>
      <p:sp>
        <p:nvSpPr>
          <p:cNvPr id="61" name="Text 51"/>
          <p:cNvSpPr txBox="1"/>
          <p:nvPr/>
        </p:nvSpPr>
        <p:spPr>
          <a:xfrm>
            <a:off x="7022592" y="3328416"/>
            <a:ext cx="2011680" cy="384048"/>
          </a:xfrm>
          <a:prstGeom prst="rect">
            <a:avLst/>
          </a:prstGeom>
          <a:noFill/>
          <a:ln/>
        </p:spPr>
        <p:txBody>
          <a:bodyPr wrap="square" lIns="0" tIns="0" rIns="0" bIns="0" rtlCol="0" anchor="ctr"/>
          <a:lstStyle/>
          <a:p>
            <a:pPr indent="0" marL="0">
              <a:buNone/>
            </a:pPr>
            <a:r>
              <a:rPr lang="en-US" sz="1050" b="1" dirty="0">
                <a:solidFill>
                  <a:srgbClr val="2B2B2B"/>
                </a:solidFill>
                <a:latin typeface="Calibri" pitchFamily="34" charset="0"/>
                <a:ea typeface="Calibri" pitchFamily="34" charset="-122"/>
                <a:cs typeface="Calibri" pitchFamily="34" charset="-120"/>
              </a:rPr>
              <a:t>Premium orders</a:t>
            </a:r>
            <a:endParaRPr lang="en-US" sz="1050" dirty="0"/>
          </a:p>
        </p:txBody>
      </p:sp>
      <p:sp>
        <p:nvSpPr>
          <p:cNvPr id="62" name="Text 52"/>
          <p:cNvSpPr txBox="1"/>
          <p:nvPr/>
        </p:nvSpPr>
        <p:spPr>
          <a:xfrm>
            <a:off x="9052560" y="3328416"/>
            <a:ext cx="2560320" cy="384048"/>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measure: </a:t>
            </a:r>
            <a:pPr indent="0" marL="0">
              <a:buNone/>
            </a:pPr>
            <a:r>
              <a:rPr lang="en-US" sz="900" dirty="0">
                <a:solidFill>
                  <a:srgbClr val="404040"/>
                </a:solidFill>
                <a:latin typeface="Calibri" pitchFamily="34" charset="0"/>
                <a:ea typeface="Calibri" pitchFamily="34" charset="-122"/>
                <a:cs typeface="Calibri" pitchFamily="34" charset="-120"/>
              </a:rPr>
              <a:t>share of exposed-finish orders</a:t>
            </a:r>
            <a:endParaRPr lang="en-US" sz="900" dirty="0"/>
          </a:p>
        </p:txBody>
      </p:sp>
      <p:sp>
        <p:nvSpPr>
          <p:cNvPr id="63" name="Shape 53"/>
          <p:cNvSpPr/>
          <p:nvPr/>
        </p:nvSpPr>
        <p:spPr>
          <a:xfrm>
            <a:off x="457200" y="4005072"/>
            <a:ext cx="7680960" cy="274320"/>
          </a:xfrm>
          <a:prstGeom prst="rect">
            <a:avLst/>
          </a:prstGeom>
          <a:solidFill>
            <a:srgbClr val="E4803A"/>
          </a:solidFill>
          <a:ln w="12700">
            <a:solidFill>
              <a:srgbClr val="E4803A"/>
            </a:solidFill>
            <a:prstDash val="solid"/>
          </a:ln>
        </p:spPr>
      </p:sp>
      <p:sp>
        <p:nvSpPr>
          <p:cNvPr id="64" name="Text 54"/>
          <p:cNvSpPr txBox="1"/>
          <p:nvPr/>
        </p:nvSpPr>
        <p:spPr>
          <a:xfrm>
            <a:off x="548640" y="4005072"/>
            <a:ext cx="74980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Impact beyond the P&amp;L</a:t>
            </a:r>
            <a:endParaRPr lang="en-US" sz="1100" dirty="0"/>
          </a:p>
        </p:txBody>
      </p:sp>
      <p:sp>
        <p:nvSpPr>
          <p:cNvPr id="65" name="Shape 55"/>
          <p:cNvSpPr/>
          <p:nvPr/>
        </p:nvSpPr>
        <p:spPr>
          <a:xfrm>
            <a:off x="457200" y="4334256"/>
            <a:ext cx="1234440" cy="1554480"/>
          </a:xfrm>
          <a:prstGeom prst="roundRect">
            <a:avLst>
              <a:gd name="adj" fmla="val 4444"/>
            </a:avLst>
          </a:prstGeom>
          <a:solidFill>
            <a:srgbClr val="F3F3F3"/>
          </a:solidFill>
          <a:ln w="12700">
            <a:solidFill>
              <a:srgbClr val="F3F3F3"/>
            </a:solidFill>
            <a:prstDash val="solid"/>
          </a:ln>
        </p:spPr>
      </p:sp>
      <p:pic>
        <p:nvPicPr>
          <p:cNvPr id="66" name="Image 7" descr="img/det_scratches.png">    </p:cNvPr>
          <p:cNvPicPr>
            <a:picLocks noChangeAspect="1"/>
          </p:cNvPicPr>
          <p:nvPr/>
        </p:nvPicPr>
        <p:blipFill>
          <a:blip r:embed="rId8"/>
          <a:srcRect l="0" r="0" t="0" b="0"/>
          <a:stretch/>
        </p:blipFill>
        <p:spPr>
          <a:xfrm>
            <a:off x="512064" y="4389120"/>
            <a:ext cx="1124712" cy="841248"/>
          </a:xfrm>
          <a:prstGeom prst="rect">
            <a:avLst/>
          </a:prstGeom>
        </p:spPr>
      </p:pic>
      <p:sp>
        <p:nvSpPr>
          <p:cNvPr id="67" name="Text 56"/>
          <p:cNvSpPr txBox="1"/>
          <p:nvPr/>
        </p:nvSpPr>
        <p:spPr>
          <a:xfrm>
            <a:off x="493776" y="5266944"/>
            <a:ext cx="1161288" cy="237744"/>
          </a:xfrm>
          <a:prstGeom prst="rect">
            <a:avLst/>
          </a:prstGeom>
          <a:noFill/>
          <a:ln/>
        </p:spPr>
        <p:txBody>
          <a:bodyPr wrap="square" lIns="0" tIns="0" rIns="0" bIns="0" rtlCol="0" anchor="t"/>
          <a:lstStyle/>
          <a:p>
            <a:pPr algn="ctr" indent="0" marL="0">
              <a:buNone/>
            </a:pPr>
            <a:r>
              <a:rPr lang="en-US" sz="1050" b="1" dirty="0">
                <a:solidFill>
                  <a:srgbClr val="2B2B2B"/>
                </a:solidFill>
                <a:latin typeface="Calibri" pitchFamily="34" charset="0"/>
                <a:ea typeface="Calibri" pitchFamily="34" charset="-122"/>
                <a:cs typeface="Calibri" pitchFamily="34" charset="-120"/>
              </a:rPr>
              <a:t>Coverage</a:t>
            </a:r>
            <a:endParaRPr lang="en-US" sz="1050" dirty="0"/>
          </a:p>
        </p:txBody>
      </p:sp>
      <p:sp>
        <p:nvSpPr>
          <p:cNvPr id="68" name="Text 57"/>
          <p:cNvSpPr txBox="1"/>
          <p:nvPr/>
        </p:nvSpPr>
        <p:spPr>
          <a:xfrm>
            <a:off x="502920" y="5504688"/>
            <a:ext cx="1143000" cy="347472"/>
          </a:xfrm>
          <a:prstGeom prst="rect">
            <a:avLst/>
          </a:prstGeom>
          <a:noFill/>
          <a:ln/>
        </p:spPr>
        <p:txBody>
          <a:bodyPr wrap="square" lIns="0" tIns="0" rIns="0" bIns="0" rtlCol="0" anchor="t"/>
          <a:lstStyle/>
          <a:p>
            <a:pPr algn="ctr" indent="0" marL="0">
              <a:buNone/>
            </a:pPr>
            <a:r>
              <a:rPr lang="en-US" sz="900" dirty="0">
                <a:solidFill>
                  <a:srgbClr val="404040"/>
                </a:solidFill>
                <a:latin typeface="Calibri" pitchFamily="34" charset="0"/>
                <a:ea typeface="Calibri" pitchFamily="34" charset="-122"/>
                <a:cs typeface="Calibri" pitchFamily="34" charset="-120"/>
              </a:rPr>
              <a:t>every coil, both faces</a:t>
            </a:r>
            <a:endParaRPr lang="en-US" sz="900" dirty="0"/>
          </a:p>
        </p:txBody>
      </p:sp>
      <p:sp>
        <p:nvSpPr>
          <p:cNvPr id="69" name="Shape 58"/>
          <p:cNvSpPr/>
          <p:nvPr/>
        </p:nvSpPr>
        <p:spPr>
          <a:xfrm>
            <a:off x="1751076" y="4334256"/>
            <a:ext cx="1234440" cy="1554480"/>
          </a:xfrm>
          <a:prstGeom prst="roundRect">
            <a:avLst>
              <a:gd name="adj" fmla="val 4444"/>
            </a:avLst>
          </a:prstGeom>
          <a:solidFill>
            <a:srgbClr val="F3F3F3"/>
          </a:solidFill>
          <a:ln w="12700">
            <a:solidFill>
              <a:srgbClr val="F3F3F3"/>
            </a:solidFill>
            <a:prstDash val="solid"/>
          </a:ln>
        </p:spPr>
      </p:sp>
      <p:pic>
        <p:nvPicPr>
          <p:cNvPr id="70" name="Image 8" descr="img/photos/vb_coaches.jpg">    </p:cNvPr>
          <p:cNvPicPr>
            <a:picLocks noChangeAspect="1"/>
          </p:cNvPicPr>
          <p:nvPr/>
        </p:nvPicPr>
        <p:blipFill>
          <a:blip r:embed="rId9"/>
          <a:srcRect l="0" r="0" t="0" b="0"/>
          <a:stretch/>
        </p:blipFill>
        <p:spPr>
          <a:xfrm>
            <a:off x="1805940" y="4389120"/>
            <a:ext cx="1124712" cy="841248"/>
          </a:xfrm>
          <a:prstGeom prst="rect">
            <a:avLst/>
          </a:prstGeom>
        </p:spPr>
      </p:pic>
      <p:sp>
        <p:nvSpPr>
          <p:cNvPr id="71" name="Text 59"/>
          <p:cNvSpPr txBox="1"/>
          <p:nvPr/>
        </p:nvSpPr>
        <p:spPr>
          <a:xfrm>
            <a:off x="1787652" y="5266944"/>
            <a:ext cx="1161288" cy="237744"/>
          </a:xfrm>
          <a:prstGeom prst="rect">
            <a:avLst/>
          </a:prstGeom>
          <a:noFill/>
          <a:ln/>
        </p:spPr>
        <p:txBody>
          <a:bodyPr wrap="square" lIns="0" tIns="0" rIns="0" bIns="0" rtlCol="0" anchor="t"/>
          <a:lstStyle/>
          <a:p>
            <a:pPr algn="ctr" indent="0" marL="0">
              <a:buNone/>
            </a:pPr>
            <a:r>
              <a:rPr lang="en-US" sz="1050" b="1" dirty="0">
                <a:solidFill>
                  <a:srgbClr val="2B2B2B"/>
                </a:solidFill>
                <a:latin typeface="Calibri" pitchFamily="34" charset="0"/>
                <a:ea typeface="Calibri" pitchFamily="34" charset="-122"/>
                <a:cs typeface="Calibri" pitchFamily="34" charset="-120"/>
              </a:rPr>
              <a:t>Customers</a:t>
            </a:r>
            <a:endParaRPr lang="en-US" sz="1050" dirty="0"/>
          </a:p>
        </p:txBody>
      </p:sp>
      <p:sp>
        <p:nvSpPr>
          <p:cNvPr id="72" name="Text 60"/>
          <p:cNvSpPr txBox="1"/>
          <p:nvPr/>
        </p:nvSpPr>
        <p:spPr>
          <a:xfrm>
            <a:off x="1796796" y="5504688"/>
            <a:ext cx="1143000" cy="347472"/>
          </a:xfrm>
          <a:prstGeom prst="rect">
            <a:avLst/>
          </a:prstGeom>
          <a:noFill/>
          <a:ln/>
        </p:spPr>
        <p:txBody>
          <a:bodyPr wrap="square" lIns="0" tIns="0" rIns="0" bIns="0" rtlCol="0" anchor="t"/>
          <a:lstStyle/>
          <a:p>
            <a:pPr algn="ctr" indent="0" marL="0">
              <a:buNone/>
            </a:pPr>
            <a:r>
              <a:rPr lang="en-US" sz="900" dirty="0">
                <a:solidFill>
                  <a:srgbClr val="404040"/>
                </a:solidFill>
                <a:latin typeface="Calibri" pitchFamily="34" charset="0"/>
                <a:ea typeface="Calibri" pitchFamily="34" charset="-122"/>
                <a:cs typeface="Calibri" pitchFamily="34" charset="-120"/>
              </a:rPr>
              <a:t>a defect map per coil</a:t>
            </a:r>
            <a:endParaRPr lang="en-US" sz="900" dirty="0"/>
          </a:p>
        </p:txBody>
      </p:sp>
      <p:sp>
        <p:nvSpPr>
          <p:cNvPr id="73" name="Shape 61"/>
          <p:cNvSpPr/>
          <p:nvPr/>
        </p:nvSpPr>
        <p:spPr>
          <a:xfrm>
            <a:off x="3044952" y="4334256"/>
            <a:ext cx="1234440" cy="1554480"/>
          </a:xfrm>
          <a:prstGeom prst="roundRect">
            <a:avLst>
              <a:gd name="adj" fmla="val 4444"/>
            </a:avLst>
          </a:prstGeom>
          <a:solidFill>
            <a:srgbClr val="F3F3F3"/>
          </a:solidFill>
          <a:ln w="12700">
            <a:solidFill>
              <a:srgbClr val="F3F3F3"/>
            </a:solidFill>
            <a:prstDash val="solid"/>
          </a:ln>
        </p:spPr>
      </p:sp>
      <p:pic>
        <p:nvPicPr>
          <p:cNvPr id="74" name="Image 9" descr="img/photos/mill.jpg">    </p:cNvPr>
          <p:cNvPicPr>
            <a:picLocks noChangeAspect="1"/>
          </p:cNvPicPr>
          <p:nvPr/>
        </p:nvPicPr>
        <p:blipFill>
          <a:blip r:embed="rId10"/>
          <a:srcRect l="0" r="0" t="0" b="0"/>
          <a:stretch/>
        </p:blipFill>
        <p:spPr>
          <a:xfrm>
            <a:off x="3099816" y="4389120"/>
            <a:ext cx="1124712" cy="841248"/>
          </a:xfrm>
          <a:prstGeom prst="rect">
            <a:avLst/>
          </a:prstGeom>
        </p:spPr>
      </p:pic>
      <p:sp>
        <p:nvSpPr>
          <p:cNvPr id="75" name="Text 62"/>
          <p:cNvSpPr txBox="1"/>
          <p:nvPr/>
        </p:nvSpPr>
        <p:spPr>
          <a:xfrm>
            <a:off x="3081528" y="5266944"/>
            <a:ext cx="1161288" cy="237744"/>
          </a:xfrm>
          <a:prstGeom prst="rect">
            <a:avLst/>
          </a:prstGeom>
          <a:noFill/>
          <a:ln/>
        </p:spPr>
        <p:txBody>
          <a:bodyPr wrap="square" lIns="0" tIns="0" rIns="0" bIns="0" rtlCol="0" anchor="t"/>
          <a:lstStyle/>
          <a:p>
            <a:pPr algn="ctr" indent="0" marL="0">
              <a:buNone/>
            </a:pPr>
            <a:r>
              <a:rPr lang="en-US" sz="1050" b="1" dirty="0">
                <a:solidFill>
                  <a:srgbClr val="2B2B2B"/>
                </a:solidFill>
                <a:latin typeface="Calibri" pitchFamily="34" charset="0"/>
                <a:ea typeface="Calibri" pitchFamily="34" charset="-122"/>
                <a:cs typeface="Calibri" pitchFamily="34" charset="-120"/>
              </a:rPr>
              <a:t>Process</a:t>
            </a:r>
            <a:endParaRPr lang="en-US" sz="1050" dirty="0"/>
          </a:p>
        </p:txBody>
      </p:sp>
      <p:sp>
        <p:nvSpPr>
          <p:cNvPr id="76" name="Text 63"/>
          <p:cNvSpPr txBox="1"/>
          <p:nvPr/>
        </p:nvSpPr>
        <p:spPr>
          <a:xfrm>
            <a:off x="3090672" y="5504688"/>
            <a:ext cx="1143000" cy="347472"/>
          </a:xfrm>
          <a:prstGeom prst="rect">
            <a:avLst/>
          </a:prstGeom>
          <a:noFill/>
          <a:ln/>
        </p:spPr>
        <p:txBody>
          <a:bodyPr wrap="square" lIns="0" tIns="0" rIns="0" bIns="0" rtlCol="0" anchor="t"/>
          <a:lstStyle/>
          <a:p>
            <a:pPr algn="ctr" indent="0" marL="0">
              <a:buNone/>
            </a:pPr>
            <a:r>
              <a:rPr lang="en-US" sz="900" dirty="0">
                <a:solidFill>
                  <a:srgbClr val="404040"/>
                </a:solidFill>
                <a:latin typeface="Calibri" pitchFamily="34" charset="0"/>
                <a:ea typeface="Calibri" pitchFamily="34" charset="-122"/>
                <a:cs typeface="Calibri" pitchFamily="34" charset="-120"/>
              </a:rPr>
              <a:t>defect tied to its heat</a:t>
            </a:r>
            <a:endParaRPr lang="en-US" sz="900" dirty="0"/>
          </a:p>
        </p:txBody>
      </p:sp>
      <p:sp>
        <p:nvSpPr>
          <p:cNvPr id="77" name="Shape 64"/>
          <p:cNvSpPr/>
          <p:nvPr/>
        </p:nvSpPr>
        <p:spPr>
          <a:xfrm>
            <a:off x="4338828" y="4334256"/>
            <a:ext cx="1234440" cy="1554480"/>
          </a:xfrm>
          <a:prstGeom prst="roundRect">
            <a:avLst>
              <a:gd name="adj" fmla="val 4444"/>
            </a:avLst>
          </a:prstGeom>
          <a:solidFill>
            <a:srgbClr val="F3F3F3"/>
          </a:solidFill>
          <a:ln w="12700">
            <a:solidFill>
              <a:srgbClr val="F3F3F3"/>
            </a:solidFill>
            <a:prstDash val="solid"/>
          </a:ln>
        </p:spPr>
      </p:sp>
      <p:pic>
        <p:nvPicPr>
          <p:cNvPr id="78" name="Image 10" descr="img/cover_coil.jpg">    </p:cNvPr>
          <p:cNvPicPr>
            <a:picLocks noChangeAspect="1"/>
          </p:cNvPicPr>
          <p:nvPr/>
        </p:nvPicPr>
        <p:blipFill>
          <a:blip r:embed="rId11"/>
          <a:srcRect l="0" r="0" t="0" b="0"/>
          <a:stretch/>
        </p:blipFill>
        <p:spPr>
          <a:xfrm>
            <a:off x="4393692" y="4389120"/>
            <a:ext cx="1124712" cy="841248"/>
          </a:xfrm>
          <a:prstGeom prst="rect">
            <a:avLst/>
          </a:prstGeom>
        </p:spPr>
      </p:pic>
      <p:sp>
        <p:nvSpPr>
          <p:cNvPr id="79" name="Text 65"/>
          <p:cNvSpPr txBox="1"/>
          <p:nvPr/>
        </p:nvSpPr>
        <p:spPr>
          <a:xfrm>
            <a:off x="4375404" y="5266944"/>
            <a:ext cx="1161288" cy="237744"/>
          </a:xfrm>
          <a:prstGeom prst="rect">
            <a:avLst/>
          </a:prstGeom>
          <a:noFill/>
          <a:ln/>
        </p:spPr>
        <p:txBody>
          <a:bodyPr wrap="square" lIns="0" tIns="0" rIns="0" bIns="0" rtlCol="0" anchor="t"/>
          <a:lstStyle/>
          <a:p>
            <a:pPr algn="ctr" indent="0" marL="0">
              <a:buNone/>
            </a:pPr>
            <a:r>
              <a:rPr lang="en-US" sz="1050" b="1" dirty="0">
                <a:solidFill>
                  <a:srgbClr val="2B2B2B"/>
                </a:solidFill>
                <a:latin typeface="Calibri" pitchFamily="34" charset="0"/>
                <a:ea typeface="Calibri" pitchFamily="34" charset="-122"/>
                <a:cs typeface="Calibri" pitchFamily="34" charset="-120"/>
              </a:rPr>
              <a:t>Safety</a:t>
            </a:r>
            <a:endParaRPr lang="en-US" sz="1050" dirty="0"/>
          </a:p>
        </p:txBody>
      </p:sp>
      <p:sp>
        <p:nvSpPr>
          <p:cNvPr id="80" name="Text 66"/>
          <p:cNvSpPr txBox="1"/>
          <p:nvPr/>
        </p:nvSpPr>
        <p:spPr>
          <a:xfrm>
            <a:off x="4384548" y="5504688"/>
            <a:ext cx="1143000" cy="347472"/>
          </a:xfrm>
          <a:prstGeom prst="rect">
            <a:avLst/>
          </a:prstGeom>
          <a:noFill/>
          <a:ln/>
        </p:spPr>
        <p:txBody>
          <a:bodyPr wrap="square" lIns="0" tIns="0" rIns="0" bIns="0" rtlCol="0" anchor="t"/>
          <a:lstStyle/>
          <a:p>
            <a:pPr algn="ctr" indent="0" marL="0">
              <a:buNone/>
            </a:pPr>
            <a:r>
              <a:rPr lang="en-US" sz="900" dirty="0">
                <a:solidFill>
                  <a:srgbClr val="404040"/>
                </a:solidFill>
                <a:latin typeface="Calibri" pitchFamily="34" charset="0"/>
                <a:ea typeface="Calibri" pitchFamily="34" charset="-122"/>
                <a:cs typeface="Calibri" pitchFamily="34" charset="-120"/>
              </a:rPr>
              <a:t>hold before a strip break</a:t>
            </a:r>
            <a:endParaRPr lang="en-US" sz="900" dirty="0"/>
          </a:p>
        </p:txBody>
      </p:sp>
      <p:sp>
        <p:nvSpPr>
          <p:cNvPr id="81" name="Shape 67"/>
          <p:cNvSpPr/>
          <p:nvPr/>
        </p:nvSpPr>
        <p:spPr>
          <a:xfrm>
            <a:off x="5632704" y="4334256"/>
            <a:ext cx="1234440" cy="1554480"/>
          </a:xfrm>
          <a:prstGeom prst="roundRect">
            <a:avLst>
              <a:gd name="adj" fmla="val 4444"/>
            </a:avLst>
          </a:prstGeom>
          <a:solidFill>
            <a:srgbClr val="F3F3F3"/>
          </a:solidFill>
          <a:ln w="12700">
            <a:solidFill>
              <a:srgbClr val="F3F3F3"/>
            </a:solidFill>
            <a:prstDash val="solid"/>
          </a:ln>
        </p:spPr>
      </p:sp>
      <p:pic>
        <p:nvPicPr>
          <p:cNvPr id="82" name="Image 11" descr="img/photos/okp_mill.jpg">    </p:cNvPr>
          <p:cNvPicPr>
            <a:picLocks noChangeAspect="1"/>
          </p:cNvPicPr>
          <p:nvPr/>
        </p:nvPicPr>
        <p:blipFill>
          <a:blip r:embed="rId12"/>
          <a:srcRect l="0" r="0" t="0" b="0"/>
          <a:stretch/>
        </p:blipFill>
        <p:spPr>
          <a:xfrm>
            <a:off x="5687568" y="4389120"/>
            <a:ext cx="1124712" cy="841248"/>
          </a:xfrm>
          <a:prstGeom prst="rect">
            <a:avLst/>
          </a:prstGeom>
        </p:spPr>
      </p:pic>
      <p:sp>
        <p:nvSpPr>
          <p:cNvPr id="83" name="Text 68"/>
          <p:cNvSpPr txBox="1"/>
          <p:nvPr/>
        </p:nvSpPr>
        <p:spPr>
          <a:xfrm>
            <a:off x="5669280" y="5266944"/>
            <a:ext cx="1161288" cy="237744"/>
          </a:xfrm>
          <a:prstGeom prst="rect">
            <a:avLst/>
          </a:prstGeom>
          <a:noFill/>
          <a:ln/>
        </p:spPr>
        <p:txBody>
          <a:bodyPr wrap="square" lIns="0" tIns="0" rIns="0" bIns="0" rtlCol="0" anchor="t"/>
          <a:lstStyle/>
          <a:p>
            <a:pPr algn="ctr" indent="0" marL="0">
              <a:buNone/>
            </a:pPr>
            <a:r>
              <a:rPr lang="en-US" sz="1050" b="1" dirty="0">
                <a:solidFill>
                  <a:srgbClr val="2B2B2B"/>
                </a:solidFill>
                <a:latin typeface="Calibri" pitchFamily="34" charset="0"/>
                <a:ea typeface="Calibri" pitchFamily="34" charset="-122"/>
                <a:cs typeface="Calibri" pitchFamily="34" charset="-120"/>
              </a:rPr>
              <a:t>Sustainability</a:t>
            </a:r>
            <a:endParaRPr lang="en-US" sz="1050" dirty="0"/>
          </a:p>
        </p:txBody>
      </p:sp>
      <p:sp>
        <p:nvSpPr>
          <p:cNvPr id="84" name="Text 69"/>
          <p:cNvSpPr txBox="1"/>
          <p:nvPr/>
        </p:nvSpPr>
        <p:spPr>
          <a:xfrm>
            <a:off x="5678424" y="5504688"/>
            <a:ext cx="1143000" cy="347472"/>
          </a:xfrm>
          <a:prstGeom prst="rect">
            <a:avLst/>
          </a:prstGeom>
          <a:noFill/>
          <a:ln/>
        </p:spPr>
        <p:txBody>
          <a:bodyPr wrap="square" lIns="0" tIns="0" rIns="0" bIns="0" rtlCol="0" anchor="t"/>
          <a:lstStyle/>
          <a:p>
            <a:pPr algn="ctr" indent="0" marL="0">
              <a:buNone/>
            </a:pPr>
            <a:r>
              <a:rPr lang="en-US" sz="900" dirty="0">
                <a:solidFill>
                  <a:srgbClr val="404040"/>
                </a:solidFill>
                <a:latin typeface="Calibri" pitchFamily="34" charset="0"/>
                <a:ea typeface="Calibri" pitchFamily="34" charset="-122"/>
                <a:cs typeface="Calibri" pitchFamily="34" charset="-120"/>
              </a:rPr>
              <a:t>less rework and remelt</a:t>
            </a:r>
            <a:endParaRPr lang="en-US" sz="900" dirty="0"/>
          </a:p>
        </p:txBody>
      </p:sp>
      <p:sp>
        <p:nvSpPr>
          <p:cNvPr id="85" name="Shape 70"/>
          <p:cNvSpPr/>
          <p:nvPr/>
        </p:nvSpPr>
        <p:spPr>
          <a:xfrm>
            <a:off x="6926580" y="4334256"/>
            <a:ext cx="1234440" cy="1554480"/>
          </a:xfrm>
          <a:prstGeom prst="roundRect">
            <a:avLst>
              <a:gd name="adj" fmla="val 4444"/>
            </a:avLst>
          </a:prstGeom>
          <a:solidFill>
            <a:srgbClr val="F3F3F3"/>
          </a:solidFill>
          <a:ln w="12700">
            <a:solidFill>
              <a:srgbClr val="F3F3F3"/>
            </a:solidFill>
            <a:prstDash val="solid"/>
          </a:ln>
        </p:spPr>
      </p:sp>
      <p:pic>
        <p:nvPicPr>
          <p:cNvPr id="86" name="Image 12" descr="img/photos/worker.jpg">    </p:cNvPr>
          <p:cNvPicPr>
            <a:picLocks noChangeAspect="1"/>
          </p:cNvPicPr>
          <p:nvPr/>
        </p:nvPicPr>
        <p:blipFill>
          <a:blip r:embed="rId13"/>
          <a:srcRect l="0" r="0" t="0" b="0"/>
          <a:stretch/>
        </p:blipFill>
        <p:spPr>
          <a:xfrm>
            <a:off x="6981444" y="4389120"/>
            <a:ext cx="1124712" cy="841248"/>
          </a:xfrm>
          <a:prstGeom prst="rect">
            <a:avLst/>
          </a:prstGeom>
        </p:spPr>
      </p:pic>
      <p:sp>
        <p:nvSpPr>
          <p:cNvPr id="87" name="Text 71"/>
          <p:cNvSpPr txBox="1"/>
          <p:nvPr/>
        </p:nvSpPr>
        <p:spPr>
          <a:xfrm>
            <a:off x="6963156" y="5266944"/>
            <a:ext cx="1161288" cy="237744"/>
          </a:xfrm>
          <a:prstGeom prst="rect">
            <a:avLst/>
          </a:prstGeom>
          <a:noFill/>
          <a:ln/>
        </p:spPr>
        <p:txBody>
          <a:bodyPr wrap="square" lIns="0" tIns="0" rIns="0" bIns="0" rtlCol="0" anchor="t"/>
          <a:lstStyle/>
          <a:p>
            <a:pPr algn="ctr" indent="0" marL="0">
              <a:buNone/>
            </a:pPr>
            <a:r>
              <a:rPr lang="en-US" sz="1050" b="1" dirty="0">
                <a:solidFill>
                  <a:srgbClr val="2B2B2B"/>
                </a:solidFill>
                <a:latin typeface="Calibri" pitchFamily="34" charset="0"/>
                <a:ea typeface="Calibri" pitchFamily="34" charset="-122"/>
                <a:cs typeface="Calibri" pitchFamily="34" charset="-120"/>
              </a:rPr>
              <a:t>People</a:t>
            </a:r>
            <a:endParaRPr lang="en-US" sz="1050" dirty="0"/>
          </a:p>
        </p:txBody>
      </p:sp>
      <p:sp>
        <p:nvSpPr>
          <p:cNvPr id="88" name="Text 72"/>
          <p:cNvSpPr txBox="1"/>
          <p:nvPr/>
        </p:nvSpPr>
        <p:spPr>
          <a:xfrm>
            <a:off x="6972300" y="5504688"/>
            <a:ext cx="1143000" cy="347472"/>
          </a:xfrm>
          <a:prstGeom prst="rect">
            <a:avLst/>
          </a:prstGeom>
          <a:noFill/>
          <a:ln/>
        </p:spPr>
        <p:txBody>
          <a:bodyPr wrap="square" lIns="0" tIns="0" rIns="0" bIns="0" rtlCol="0" anchor="t"/>
          <a:lstStyle/>
          <a:p>
            <a:pPr algn="ctr" indent="0" marL="0">
              <a:buNone/>
            </a:pPr>
            <a:r>
              <a:rPr lang="en-US" sz="900" dirty="0">
                <a:solidFill>
                  <a:srgbClr val="404040"/>
                </a:solidFill>
                <a:latin typeface="Calibri" pitchFamily="34" charset="0"/>
                <a:ea typeface="Calibri" pitchFamily="34" charset="-122"/>
                <a:cs typeface="Calibri" pitchFamily="34" charset="-120"/>
              </a:rPr>
              <a:t>inspectors decide, not search</a:t>
            </a:r>
            <a:endParaRPr lang="en-US" sz="900" dirty="0"/>
          </a:p>
        </p:txBody>
      </p:sp>
      <p:sp>
        <p:nvSpPr>
          <p:cNvPr id="89" name="Shape 73"/>
          <p:cNvSpPr/>
          <p:nvPr/>
        </p:nvSpPr>
        <p:spPr>
          <a:xfrm>
            <a:off x="8321040" y="4005072"/>
            <a:ext cx="3410712" cy="1883664"/>
          </a:xfrm>
          <a:prstGeom prst="roundRect">
            <a:avLst>
              <a:gd name="adj" fmla="val 2913"/>
            </a:avLst>
          </a:prstGeom>
          <a:solidFill>
            <a:srgbClr val="2B2B2B"/>
          </a:solidFill>
          <a:ln w="12700">
            <a:solidFill>
              <a:srgbClr val="2B2B2B"/>
            </a:solidFill>
            <a:prstDash val="solid"/>
          </a:ln>
        </p:spPr>
      </p:sp>
      <p:sp>
        <p:nvSpPr>
          <p:cNvPr id="90" name="Text 74"/>
          <p:cNvSpPr txBox="1"/>
          <p:nvPr/>
        </p:nvSpPr>
        <p:spPr>
          <a:xfrm>
            <a:off x="8458200" y="4078224"/>
            <a:ext cx="3200400" cy="237744"/>
          </a:xfrm>
          <a:prstGeom prst="rect">
            <a:avLst/>
          </a:prstGeom>
          <a:noFill/>
          <a:ln/>
        </p:spPr>
        <p:txBody>
          <a:bodyPr wrap="square" lIns="0" tIns="0" rIns="0" bIns="0" rtlCol="0" anchor="t"/>
          <a:lstStyle/>
          <a:p>
            <a:pPr indent="0" marL="0">
              <a:buNone/>
            </a:pPr>
            <a:r>
              <a:rPr lang="en-US" sz="1100" b="1" dirty="0">
                <a:solidFill>
                  <a:srgbClr val="D6D6D6"/>
                </a:solidFill>
                <a:latin typeface="Calibri" pitchFamily="34" charset="0"/>
                <a:ea typeface="Calibri" pitchFamily="34" charset="-122"/>
                <a:cs typeface="Calibri" pitchFamily="34" charset="-120"/>
              </a:rPr>
              <a:t>WHAT WE ASK OF JSL</a:t>
            </a:r>
            <a:endParaRPr lang="en-US" sz="1100" dirty="0"/>
          </a:p>
        </p:txBody>
      </p:sp>
      <p:sp>
        <p:nvSpPr>
          <p:cNvPr id="91" name="Text 75"/>
          <p:cNvSpPr txBox="1"/>
          <p:nvPr/>
        </p:nvSpPr>
        <p:spPr>
          <a:xfrm>
            <a:off x="8458200" y="4352544"/>
            <a:ext cx="3200400" cy="96012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One 300-series cold-rolled line, 7 months</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Vendor quotes for cameras and lighting in P0</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Downgrade rate by line and grade</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A metallurgist at 20% for root causes</a:t>
            </a:r>
            <a:endParaRPr lang="en-US" sz="1000" dirty="0"/>
          </a:p>
        </p:txBody>
      </p:sp>
      <p:sp>
        <p:nvSpPr>
          <p:cNvPr id="92" name="Text 76"/>
          <p:cNvSpPr txBox="1"/>
          <p:nvPr/>
        </p:nvSpPr>
        <p:spPr>
          <a:xfrm>
            <a:off x="8458200" y="5340096"/>
            <a:ext cx="3200400" cy="475488"/>
          </a:xfrm>
          <a:prstGeom prst="rect">
            <a:avLst/>
          </a:prstGeom>
          <a:noFill/>
          <a:ln/>
        </p:spPr>
        <p:txBody>
          <a:bodyPr wrap="square" lIns="0" tIns="0" rIns="0" bIns="0" rtlCol="0" anchor="t"/>
          <a:lstStyle/>
          <a:p>
            <a:pPr indent="0" marL="0">
              <a:buNone/>
            </a:pPr>
            <a:r>
              <a:rPr lang="en-US" sz="950" b="1" dirty="0">
                <a:solidFill>
                  <a:srgbClr val="D6D6D6"/>
                </a:solidFill>
                <a:latin typeface="Calibri" pitchFamily="34" charset="0"/>
                <a:ea typeface="Calibri" pitchFamily="34" charset="-122"/>
                <a:cs typeface="Calibri" pitchFamily="34" charset="-120"/>
              </a:rPr>
              <a:t>In return: the measured downgrade rate, the value captured, and a go / no-go at month 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Stainless Spark Round 2 - AI Surface Defect Detection</dc:title>
  <dc:subject>PptxGenJS Presentation</dc:subject>
  <dc:creator>PptxGenJS</dc:creator>
  <cp:lastModifiedBy>PptxGenJS</cp:lastModifiedBy>
  <cp:revision>1</cp:revision>
  <dcterms:created xsi:type="dcterms:W3CDTF">2026-09-27T15:58:40Z</dcterms:created>
  <dcterms:modified xsi:type="dcterms:W3CDTF">2026-09-27T15:58:40Z</dcterms:modified>
</cp:coreProperties>
</file>