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NEU-DET only</c:v>
                </c:pt>
              </c:strCache>
            </c:strRef>
          </c:tx>
          <c:spPr>
            <a:solidFill>
              <a:srgbClr val="9AA7B4"/>
            </a:solidFill>
            <a:effectLst/>
          </c:spPr>
          <c:invertIfNegative val="0"/>
          <c:dLbls>
            <c:numFmt formatCode="0.0" sourceLinked="0"/>
            <c:txPr>
              <a:bodyPr/>
              <a:lstStyle/>
              <a:p>
                <a:pPr>
                  <a:defRPr b="0" i="0" strike="noStrike" sz="900" u="none">
                    <a:solidFill>
                      <a:srgbClr val="141C24"/>
                    </a:solidFill>
                    <a:latin typeface="Calibri"/>
                  </a:defRPr>
                </a:pPr>
              </a:p>
            </c:txPr>
            <c:showLegendKey val="0"/>
            <c:showVal val="1"/>
            <c:showCatName val="0"/>
            <c:showSerName val="0"/>
            <c:showPercent val="0"/>
            <c:showBubbleSize val="0"/>
            <c:showLeaderLines val="0"/>
          </c:dLbls>
          <c:cat>
            <c:multiLvlStrRef>
              <c:f>Sheet1!$A$2:$A$4</c:f>
              <c:multiLvlStrCache>
                <c:ptCount val="3"/>
                <c:lvl>
                  <c:pt idx="0">
                    <c:v>Clean frames flagged %</c:v>
                  </c:pt>
                  <c:pt idx="1">
                    <c:v>Defect recall %</c:v>
                  </c:pt>
                  <c:pt idx="2">
                    <c:v>Cross-domain AUC x100</c:v>
                  </c:pt>
                </c:lvl>
              </c:multiLvlStrCache>
            </c:multiLvlStrRef>
          </c:cat>
          <c:val>
            <c:numRef>
              <c:f>Sheet1!$B$2:$B$4</c:f>
              <c:numCache>
                <c:formatCode>General</c:formatCode>
                <c:ptCount val="3"/>
                <c:pt idx="0">
                  <c:v>93.7</c:v>
                </c:pt>
                <c:pt idx="1">
                  <c:v>72</c:v>
                </c:pt>
                <c:pt idx="2">
                  <c:v>60.8</c:v>
                </c:pt>
              </c:numCache>
            </c:numRef>
          </c:val>
        </c:ser>
        <c:ser>
          <c:idx val="1"/>
          <c:order val="1"/>
          <c:tx>
            <c:strRef>
              <c:f>Sheet1!$C$1</c:f>
              <c:strCache>
                <c:ptCount val="1"/>
                <c:pt idx="0">
                  <c:v>+ Severstal joint training</c:v>
                </c:pt>
              </c:strCache>
            </c:strRef>
          </c:tx>
          <c:spPr>
            <a:solidFill>
              <a:srgbClr val="0086C3"/>
            </a:solidFill>
            <a:effectLst/>
          </c:spPr>
          <c:invertIfNegative val="0"/>
          <c:dLbls>
            <c:numFmt formatCode="0.0" sourceLinked="0"/>
            <c:txPr>
              <a:bodyPr/>
              <a:lstStyle/>
              <a:p>
                <a:pPr>
                  <a:defRPr b="0" i="0" strike="noStrike" sz="900" u="none">
                    <a:solidFill>
                      <a:srgbClr val="141C24"/>
                    </a:solidFill>
                    <a:latin typeface="Calibri"/>
                  </a:defRPr>
                </a:pPr>
              </a:p>
            </c:txPr>
            <c:showLegendKey val="0"/>
            <c:showVal val="1"/>
            <c:showCatName val="0"/>
            <c:showSerName val="0"/>
            <c:showPercent val="0"/>
            <c:showBubbleSize val="0"/>
            <c:showLeaderLines val="0"/>
          </c:dLbls>
          <c:cat>
            <c:multiLvlStrRef>
              <c:f>Sheet1!$A$2:$A$4</c:f>
              <c:multiLvlStrCache>
                <c:ptCount val="3"/>
                <c:lvl>
                  <c:pt idx="0">
                    <c:v>Clean frames flagged %</c:v>
                  </c:pt>
                  <c:pt idx="1">
                    <c:v>Defect recall %</c:v>
                  </c:pt>
                  <c:pt idx="2">
                    <c:v>Cross-domain AUC x100</c:v>
                  </c:pt>
                </c:lvl>
              </c:multiLvlStrCache>
            </c:multiLvlStrRef>
          </c:cat>
          <c:val>
            <c:numRef>
              <c:f>Sheet1!$C$2:$C$4</c:f>
              <c:numCache>
                <c:formatCode>General</c:formatCode>
                <c:ptCount val="3"/>
                <c:pt idx="0">
                  <c:v>32.5</c:v>
                </c:pt>
                <c:pt idx="1">
                  <c:v>86.6</c:v>
                </c:pt>
                <c:pt idx="2">
                  <c:v>95.8</c:v>
                </c:pt>
              </c:numCache>
            </c:numRef>
          </c:val>
        </c:ser>
        <c:dLbls>
          <c:numFmt formatCode="0.0" sourceLinked="0"/>
          <c:txPr>
            <a:bodyPr/>
            <a:lstStyle/>
            <a:p>
              <a:pPr>
                <a:defRPr b="0" i="0" strike="noStrike" sz="900" u="none">
                  <a:solidFill>
                    <a:srgbClr val="141C24"/>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34150"/>
                </a:solidFill>
                <a:latin typeface="Calibri"/>
              </a:defRPr>
            </a:pPr>
            <a:endParaRPr lang="en-US"/>
          </a:p>
        </c:txPr>
        <c:crossAx val="2094734552"/>
        <c:crosses val="autoZero"/>
        <c:auto val="1"/>
        <c:lblAlgn val="ctr"/>
        <c:noMultiLvlLbl val="1"/>
      </c:catAx>
      <c:valAx>
        <c:axId val="2094734552"/>
        <c:scaling>
          <c:orientation val="minMax"/>
          <c:max val="1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Open by pointing at the QR: the detector is live at surface-vision.github.io and runs in the judge's browser. The four numbers are the story in one line: it is accurate within the published band, we fixed the false-alarm problem on real clean steel, it costs a fraction of a commercial system, and one line pays back in about two years even at a conservative downgrade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Walk the chain left to right. The key point: a sliver born at the caster is only seen at finishing, after hot rolling, annealing, pickling and cold rolling have all been paid for. Nickel is why this hurts more on stainless: at today's LME price (USD 16,402/t, INR 95.8/USD) there is INR 1.26-1.65 lakh of nickel in every tonne of 304. The PAF table is the framework: AI inspection is an appraisal cost that moves spend out of internal and external failure. The "seen today" row is typical practice; we found no public statement of JSL's inspection coverage, so we ask for it in P0 instead of assuming.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Insights, stainless-specific. First, the finish is the product and cannot be polished back. Second, JSL is growing cold rolling by about 30% by FY28 and leaning on the 300 series, so the share of surface-critical tonnes rises. The matrix is our framework for choosing what to train first. It is a hypothesis from the metallurgy literature and we say so; P0 re-scores it with JSL's defect records. Its output is the pilot grade: 300 series. The routing table turns detection into action: every class maps to a process owner and a first corrective action. Crazing and patches attributions are reasoned, not sourced, and need a JSL metallurgist's 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findings from our own experiments. One: domain shift is the real risk. On real clean steel the NEU-DET-only model flagged 93.7% of frames; joint training on Severstal positives and negatives brought that to 32.5% and AUC from 0.608 to 0.958, with no loss in-domain. Two: we tested bigger models, 640 px and TTA, and none helped. Three: the throughput arithmetic is the real bill: 3,064 inferences a second at 250 m/min at full resolution. The accelerator count is for the laptop-class GPU we measured; a data-centre GPU will need fewer, sized in P0. Four: calibration and the OOD gate are what make alarms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Stages 2 to 4 are built and running today, including in the browser demo. Stage 5 has coil rules built, but grade- and finish-specific limits need JSL input. Stages 1 and 6 are plant-side and are the pilot work. The innovations are what make this more than a benchmark model: clean-strip training, root-cause routing, an anomaly channel for unlabelled defects, and self-supervised learning from JSL's own unlabelled coil images. Build vs buy: commercial systems are proven but cost USD 1-3M per line (industry range, unverified) and keep the model closed. Fully in-house is cheapest but takes longest to prove. Hybrid, meaning industrial cameras and lighting plus our model, is never weak on any criterion.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Five phases, 20 months, with a hard go/no-go at month 7 after shadow mode. The mill is never touched by the system until P3; everything before that is read-only. The cost table is our estimate, around INR 2.5-4.2 crore per line, against a commercial range of USD 1-3M, which is about INR 9.6-28.7 crore. We will replace the estimate with vendor quotes in P0. The RACI keeps JSL Quality accountable for every go/no-go.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and risk. The top-right of the map is domain transfer and low-contrast defects; both are retired in P0 and P1, before any money is spent on integration. The honest gap is the clean-strip alarm rate: we measured 32.5% on Severstal against a 25% P1 target, which is exactly why P1 fine-tunes on JSL's own strip. Rare classes like roll marks (AP50 0.20) and edge cracks need JSL data and edge cameras; the anomaly channel covers what is never labelled.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We scoped the business case to one line, which is where the capex is spent. At a conservative 1% of volume downgraded at a 10% discount, one 0.4 Mt line loses INR 6.7 crore a year. Recovering 30% of it, less INR 0.5 crore run cost, pays back INR 3.35 crore in about 2.2 years; a commercial system at the same benefit takes about 12.7 years. That is why the hybrid build matters. The tornado shows the two numbers that dominate are the downgrade rate and how much we recover, and neither is public. So the ask is not only budget; it is JSL's own downgrade data, and the pilot is designed to measure it. Across the fleet, the same rates protect about INR 13 crore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A5A"/>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274320"/>
          </a:xfrm>
          <a:prstGeom prst="rect">
            <a:avLst/>
          </a:prstGeom>
          <a:noFill/>
          <a:ln/>
        </p:spPr>
        <p:txBody>
          <a:bodyPr wrap="square" lIns="0" tIns="0" rIns="0" bIns="0" rtlCol="0" anchor="t"/>
          <a:lstStyle/>
          <a:p>
            <a:pPr indent="0" marL="0">
              <a:buNone/>
            </a:pPr>
            <a:r>
              <a:rPr lang="en-US" sz="1100" b="1" spc="100" kern="0" dirty="0">
                <a:solidFill>
                  <a:srgbClr val="BFD2E2"/>
                </a:solidFill>
                <a:latin typeface="Calibri" pitchFamily="34" charset="0"/>
                <a:ea typeface="Calibri" pitchFamily="34" charset="-122"/>
                <a:cs typeface="Calibri" pitchFamily="34" charset="-120"/>
              </a:rPr>
              <a:t>JINDAL STAINLESS  |  STAINLESS SPARK: ENGINEERING INNOVATION, BUILDING FUTURES  |  ROUND 2  |  PROBLEM STATEMENT 1</a:t>
            </a:r>
            <a:endParaRPr lang="en-US" sz="1100" dirty="0"/>
          </a:p>
        </p:txBody>
      </p:sp>
      <p:sp>
        <p:nvSpPr>
          <p:cNvPr id="3" name="Text 1"/>
          <p:cNvSpPr txBox="1"/>
          <p:nvPr/>
        </p:nvSpPr>
        <p:spPr>
          <a:xfrm>
            <a:off x="548640" y="914400"/>
            <a:ext cx="7863840" cy="128016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Catch every strip defect where it is born, not where it is shipped</a:t>
            </a:r>
            <a:endParaRPr lang="en-US" sz="3400" dirty="0"/>
          </a:p>
        </p:txBody>
      </p:sp>
      <p:sp>
        <p:nvSpPr>
          <p:cNvPr id="4" name="Text 2"/>
          <p:cNvSpPr txBox="1"/>
          <p:nvPr/>
        </p:nvSpPr>
        <p:spPr>
          <a:xfrm>
            <a:off x="548640" y="2377440"/>
            <a:ext cx="7498080" cy="868680"/>
          </a:xfrm>
          <a:prstGeom prst="rect">
            <a:avLst/>
          </a:prstGeom>
          <a:noFill/>
          <a:ln/>
        </p:spPr>
        <p:txBody>
          <a:bodyPr wrap="square" lIns="0" tIns="0" rIns="0" bIns="0" rtlCol="0" anchor="t"/>
          <a:lstStyle/>
          <a:p>
            <a:pPr indent="0" marL="0">
              <a:buNone/>
            </a:pPr>
            <a:r>
              <a:rPr lang="en-US" sz="1500" dirty="0">
                <a:solidFill>
                  <a:srgbClr val="BFD2E2"/>
                </a:solidFill>
                <a:latin typeface="Calibri" pitchFamily="34" charset="0"/>
                <a:ea typeface="Calibri" pitchFamily="34" charset="-122"/>
                <a:cs typeface="Calibri" pitchFamily="34" charset="-120"/>
              </a:rPr>
              <a:t>AI surface inspection for stainless strip that detects, classifies and scores every defect at line speed, then routes it to the process that caused it. Built, validated on three public steel datasets, and running live today.</a:t>
            </a:r>
            <a:endParaRPr lang="en-US" sz="1500" dirty="0"/>
          </a:p>
        </p:txBody>
      </p:sp>
      <p:sp>
        <p:nvSpPr>
          <p:cNvPr id="5" name="Text 3"/>
          <p:cNvSpPr txBox="1"/>
          <p:nvPr/>
        </p:nvSpPr>
        <p:spPr>
          <a:xfrm>
            <a:off x="548640" y="3520440"/>
            <a:ext cx="1828800" cy="457200"/>
          </a:xfrm>
          <a:prstGeom prst="rect">
            <a:avLst/>
          </a:prstGeom>
          <a:noFill/>
          <a:ln/>
        </p:spPr>
        <p:txBody>
          <a:bodyPr wrap="square" lIns="0" tIns="0" rIns="0" bIns="0" rtlCol="0" anchor="b"/>
          <a:lstStyle/>
          <a:p>
            <a:pPr indent="0" marL="0">
              <a:buNone/>
            </a:pPr>
            <a:r>
              <a:rPr lang="en-US" sz="2400" b="1" dirty="0">
                <a:solidFill>
                  <a:srgbClr val="FFFFFF"/>
                </a:solidFill>
                <a:latin typeface="Calibri" pitchFamily="34" charset="0"/>
                <a:ea typeface="Calibri" pitchFamily="34" charset="-122"/>
                <a:cs typeface="Calibri" pitchFamily="34" charset="-120"/>
              </a:rPr>
              <a:t>0.764</a:t>
            </a:r>
            <a:endParaRPr lang="en-US" sz="2400" dirty="0"/>
          </a:p>
        </p:txBody>
      </p:sp>
      <p:sp>
        <p:nvSpPr>
          <p:cNvPr id="6" name="Text 4"/>
          <p:cNvSpPr txBox="1"/>
          <p:nvPr/>
        </p:nvSpPr>
        <p:spPr>
          <a:xfrm>
            <a:off x="548640" y="4023360"/>
            <a:ext cx="1828800" cy="640080"/>
          </a:xfrm>
          <a:prstGeom prst="rect">
            <a:avLst/>
          </a:prstGeom>
          <a:noFill/>
          <a:ln/>
        </p:spPr>
        <p:txBody>
          <a:bodyPr wrap="square" lIns="0" tIns="0" rIns="0" bIns="0" rtlCol="0" anchor="t"/>
          <a:lstStyle/>
          <a:p>
            <a:pPr indent="0" marL="0">
              <a:buNone/>
            </a:pPr>
            <a:r>
              <a:rPr lang="en-US" sz="1000" dirty="0">
                <a:solidFill>
                  <a:srgbClr val="BFD2E2"/>
                </a:solidFill>
                <a:latin typeface="Calibri" pitchFamily="34" charset="0"/>
                <a:ea typeface="Calibri" pitchFamily="34" charset="-122"/>
                <a:cs typeface="Calibri" pitchFamily="34" charset="-120"/>
              </a:rPr>
              <a:t>mAP50 on a held-out test split,</a:t>
            </a:r>
            <a:endParaRPr lang="en-US" sz="1000" dirty="0"/>
          </a:p>
          <a:p>
            <a:pPr indent="0" marL="0">
              <a:buNone/>
            </a:pPr>
            <a:r>
              <a:rPr lang="en-US" sz="1000" dirty="0">
                <a:solidFill>
                  <a:srgbClr val="BFD2E2"/>
                </a:solidFill>
                <a:latin typeface="Calibri" pitchFamily="34" charset="0"/>
                <a:ea typeface="Calibri" pitchFamily="34" charset="-122"/>
                <a:cs typeface="Calibri" pitchFamily="34" charset="-120"/>
              </a:rPr>
              <a:t>joint model (published: 0.70-0.80)</a:t>
            </a:r>
            <a:endParaRPr lang="en-US" sz="1000" dirty="0"/>
          </a:p>
        </p:txBody>
      </p:sp>
      <p:sp>
        <p:nvSpPr>
          <p:cNvPr id="7" name="Text 5"/>
          <p:cNvSpPr txBox="1"/>
          <p:nvPr/>
        </p:nvSpPr>
        <p:spPr>
          <a:xfrm>
            <a:off x="2468880" y="3520440"/>
            <a:ext cx="1828800" cy="457200"/>
          </a:xfrm>
          <a:prstGeom prst="rect">
            <a:avLst/>
          </a:prstGeom>
          <a:noFill/>
          <a:ln/>
        </p:spPr>
        <p:txBody>
          <a:bodyPr wrap="square" lIns="0" tIns="0" rIns="0" bIns="0" rtlCol="0" anchor="b"/>
          <a:lstStyle/>
          <a:p>
            <a:pPr indent="0" marL="0">
              <a:buNone/>
            </a:pPr>
            <a:r>
              <a:rPr lang="en-US" sz="1900" b="1" dirty="0">
                <a:solidFill>
                  <a:srgbClr val="FFFFFF"/>
                </a:solidFill>
                <a:latin typeface="Calibri" pitchFamily="34" charset="0"/>
                <a:ea typeface="Calibri" pitchFamily="34" charset="-122"/>
                <a:cs typeface="Calibri" pitchFamily="34" charset="-120"/>
              </a:rPr>
              <a:t>93.7% to 32.5%</a:t>
            </a:r>
            <a:endParaRPr lang="en-US" sz="1900" dirty="0"/>
          </a:p>
        </p:txBody>
      </p:sp>
      <p:sp>
        <p:nvSpPr>
          <p:cNvPr id="8" name="Text 6"/>
          <p:cNvSpPr txBox="1"/>
          <p:nvPr/>
        </p:nvSpPr>
        <p:spPr>
          <a:xfrm>
            <a:off x="2468880" y="4023360"/>
            <a:ext cx="1828800" cy="640080"/>
          </a:xfrm>
          <a:prstGeom prst="rect">
            <a:avLst/>
          </a:prstGeom>
          <a:noFill/>
          <a:ln/>
        </p:spPr>
        <p:txBody>
          <a:bodyPr wrap="square" lIns="0" tIns="0" rIns="0" bIns="0" rtlCol="0" anchor="t"/>
          <a:lstStyle/>
          <a:p>
            <a:pPr indent="0" marL="0">
              <a:buNone/>
            </a:pPr>
            <a:r>
              <a:rPr lang="en-US" sz="1000" dirty="0">
                <a:solidFill>
                  <a:srgbClr val="BFD2E2"/>
                </a:solidFill>
                <a:latin typeface="Calibri" pitchFamily="34" charset="0"/>
                <a:ea typeface="Calibri" pitchFamily="34" charset="-122"/>
                <a:cs typeface="Calibri" pitchFamily="34" charset="-120"/>
              </a:rPr>
              <a:t>clean steel wrongly flagged,</a:t>
            </a:r>
            <a:endParaRPr lang="en-US" sz="1000" dirty="0"/>
          </a:p>
          <a:p>
            <a:pPr indent="0" marL="0">
              <a:buNone/>
            </a:pPr>
            <a:r>
              <a:rPr lang="en-US" sz="1000" dirty="0">
                <a:solidFill>
                  <a:srgbClr val="BFD2E2"/>
                </a:solidFill>
                <a:latin typeface="Calibri" pitchFamily="34" charset="0"/>
                <a:ea typeface="Calibri" pitchFamily="34" charset="-122"/>
                <a:cs typeface="Calibri" pitchFamily="34" charset="-120"/>
              </a:rPr>
              <a:t>before vs after clean-strip training</a:t>
            </a:r>
            <a:endParaRPr lang="en-US" sz="1000" dirty="0"/>
          </a:p>
        </p:txBody>
      </p:sp>
      <p:sp>
        <p:nvSpPr>
          <p:cNvPr id="9" name="Text 7"/>
          <p:cNvSpPr txBox="1"/>
          <p:nvPr/>
        </p:nvSpPr>
        <p:spPr>
          <a:xfrm>
            <a:off x="4389120" y="3520440"/>
            <a:ext cx="1828800" cy="457200"/>
          </a:xfrm>
          <a:prstGeom prst="rect">
            <a:avLst/>
          </a:prstGeom>
          <a:noFill/>
          <a:ln/>
        </p:spPr>
        <p:txBody>
          <a:bodyPr wrap="square" lIns="0" tIns="0" rIns="0" bIns="0" rtlCol="0" anchor="b"/>
          <a:lstStyle/>
          <a:p>
            <a:pPr indent="0" marL="0">
              <a:buNone/>
            </a:pPr>
            <a:r>
              <a:rPr lang="en-US" sz="1800" b="1" dirty="0">
                <a:solidFill>
                  <a:srgbClr val="FFFFFF"/>
                </a:solidFill>
                <a:latin typeface="Calibri" pitchFamily="34" charset="0"/>
                <a:ea typeface="Calibri" pitchFamily="34" charset="-122"/>
                <a:cs typeface="Calibri" pitchFamily="34" charset="-120"/>
              </a:rPr>
              <a:t>INR 2.5-4.2 cr</a:t>
            </a:r>
            <a:endParaRPr lang="en-US" sz="1800" dirty="0"/>
          </a:p>
        </p:txBody>
      </p:sp>
      <p:sp>
        <p:nvSpPr>
          <p:cNvPr id="10" name="Text 8"/>
          <p:cNvSpPr txBox="1"/>
          <p:nvPr/>
        </p:nvSpPr>
        <p:spPr>
          <a:xfrm>
            <a:off x="4389120" y="4023360"/>
            <a:ext cx="1828800" cy="640080"/>
          </a:xfrm>
          <a:prstGeom prst="rect">
            <a:avLst/>
          </a:prstGeom>
          <a:noFill/>
          <a:ln/>
        </p:spPr>
        <p:txBody>
          <a:bodyPr wrap="square" lIns="0" tIns="0" rIns="0" bIns="0" rtlCol="0" anchor="t"/>
          <a:lstStyle/>
          <a:p>
            <a:pPr indent="0" marL="0">
              <a:buNone/>
            </a:pPr>
            <a:r>
              <a:rPr lang="en-US" sz="1000" dirty="0">
                <a:solidFill>
                  <a:srgbClr val="BFD2E2"/>
                </a:solidFill>
                <a:latin typeface="Calibri" pitchFamily="34" charset="0"/>
                <a:ea typeface="Calibri" pitchFamily="34" charset="-122"/>
                <a:cs typeface="Calibri" pitchFamily="34" charset="-120"/>
              </a:rPr>
              <a:t>per line, estimated, vs USD 1-3M</a:t>
            </a:r>
            <a:endParaRPr lang="en-US" sz="1000" dirty="0"/>
          </a:p>
          <a:p>
            <a:pPr indent="0" marL="0">
              <a:buNone/>
            </a:pPr>
            <a:r>
              <a:rPr lang="en-US" sz="1000" dirty="0">
                <a:solidFill>
                  <a:srgbClr val="BFD2E2"/>
                </a:solidFill>
                <a:latin typeface="Calibri" pitchFamily="34" charset="0"/>
                <a:ea typeface="Calibri" pitchFamily="34" charset="-122"/>
                <a:cs typeface="Calibri" pitchFamily="34" charset="-120"/>
              </a:rPr>
              <a:t>for a commercial system</a:t>
            </a:r>
            <a:endParaRPr lang="en-US" sz="1000" dirty="0"/>
          </a:p>
        </p:txBody>
      </p:sp>
      <p:sp>
        <p:nvSpPr>
          <p:cNvPr id="11" name="Text 9"/>
          <p:cNvSpPr txBox="1"/>
          <p:nvPr/>
        </p:nvSpPr>
        <p:spPr>
          <a:xfrm>
            <a:off x="6309360" y="3520440"/>
            <a:ext cx="1828800" cy="457200"/>
          </a:xfrm>
          <a:prstGeom prst="rect">
            <a:avLst/>
          </a:prstGeom>
          <a:noFill/>
          <a:ln/>
        </p:spPr>
        <p:txBody>
          <a:bodyPr wrap="square" lIns="0" tIns="0" rIns="0" bIns="0" rtlCol="0" anchor="b"/>
          <a:lstStyle/>
          <a:p>
            <a:pPr indent="0" marL="0">
              <a:buNone/>
            </a:pPr>
            <a:r>
              <a:rPr lang="en-US" sz="2200" b="1" dirty="0">
                <a:solidFill>
                  <a:srgbClr val="FFFFFF"/>
                </a:solidFill>
                <a:latin typeface="Calibri" pitchFamily="34" charset="0"/>
                <a:ea typeface="Calibri" pitchFamily="34" charset="-122"/>
                <a:cs typeface="Calibri" pitchFamily="34" charset="-120"/>
              </a:rPr>
              <a:t>~2.2 years</a:t>
            </a:r>
            <a:endParaRPr lang="en-US" sz="2200" dirty="0"/>
          </a:p>
        </p:txBody>
      </p:sp>
      <p:sp>
        <p:nvSpPr>
          <p:cNvPr id="12" name="Text 10"/>
          <p:cNvSpPr txBox="1"/>
          <p:nvPr/>
        </p:nvSpPr>
        <p:spPr>
          <a:xfrm>
            <a:off x="6309360" y="4023360"/>
            <a:ext cx="1828800" cy="640080"/>
          </a:xfrm>
          <a:prstGeom prst="rect">
            <a:avLst/>
          </a:prstGeom>
          <a:noFill/>
          <a:ln/>
        </p:spPr>
        <p:txBody>
          <a:bodyPr wrap="square" lIns="0" tIns="0" rIns="0" bIns="0" rtlCol="0" anchor="t"/>
          <a:lstStyle/>
          <a:p>
            <a:pPr indent="0" marL="0">
              <a:buNone/>
            </a:pPr>
            <a:r>
              <a:rPr lang="en-US" sz="1000" dirty="0">
                <a:solidFill>
                  <a:srgbClr val="BFD2E2"/>
                </a:solidFill>
                <a:latin typeface="Calibri" pitchFamily="34" charset="0"/>
                <a:ea typeface="Calibri" pitchFamily="34" charset="-122"/>
                <a:cs typeface="Calibri" pitchFamily="34" charset="-120"/>
              </a:rPr>
              <a:t>payback for one line at a</a:t>
            </a:r>
            <a:endParaRPr lang="en-US" sz="1000" dirty="0"/>
          </a:p>
          <a:p>
            <a:pPr indent="0" marL="0">
              <a:buNone/>
            </a:pPr>
            <a:r>
              <a:rPr lang="en-US" sz="1000" dirty="0">
                <a:solidFill>
                  <a:srgbClr val="BFD2E2"/>
                </a:solidFill>
                <a:latin typeface="Calibri" pitchFamily="34" charset="0"/>
                <a:ea typeface="Calibri" pitchFamily="34" charset="-122"/>
                <a:cs typeface="Calibri" pitchFamily="34" charset="-120"/>
              </a:rPr>
              <a:t>conservative 1% downgrade rate</a:t>
            </a:r>
            <a:endParaRPr lang="en-US" sz="1000" dirty="0"/>
          </a:p>
        </p:txBody>
      </p:sp>
      <p:sp>
        <p:nvSpPr>
          <p:cNvPr id="13" name="Shape 11"/>
          <p:cNvSpPr/>
          <p:nvPr/>
        </p:nvSpPr>
        <p:spPr>
          <a:xfrm>
            <a:off x="8732520" y="914400"/>
            <a:ext cx="2926080" cy="3749040"/>
          </a:xfrm>
          <a:prstGeom prst="roundRect">
            <a:avLst>
              <a:gd name="adj" fmla="val 1875"/>
            </a:avLst>
          </a:prstGeom>
          <a:solidFill>
            <a:srgbClr val="FFFFFF"/>
          </a:solidFill>
          <a:ln w="12700">
            <a:solidFill>
              <a:srgbClr val="FFFFFF"/>
            </a:solidFill>
            <a:prstDash val="solid"/>
          </a:ln>
        </p:spPr>
      </p:sp>
      <p:pic>
        <p:nvPicPr>
          <p:cNvPr id="14" name="Image 0" descr="qr.png">    </p:cNvPr>
          <p:cNvPicPr>
            <a:picLocks noChangeAspect="1"/>
          </p:cNvPicPr>
          <p:nvPr/>
        </p:nvPicPr>
        <p:blipFill>
          <a:blip r:embed="rId1"/>
          <a:stretch>
            <a:fillRect/>
          </a:stretch>
        </p:blipFill>
        <p:spPr>
          <a:xfrm>
            <a:off x="9326880" y="1097280"/>
            <a:ext cx="1737360" cy="1737360"/>
          </a:xfrm>
          <a:prstGeom prst="rect">
            <a:avLst/>
          </a:prstGeom>
        </p:spPr>
      </p:pic>
      <p:sp>
        <p:nvSpPr>
          <p:cNvPr id="15" name="Text 12"/>
          <p:cNvSpPr txBox="1"/>
          <p:nvPr/>
        </p:nvSpPr>
        <p:spPr>
          <a:xfrm>
            <a:off x="8869680" y="2926080"/>
            <a:ext cx="2651760" cy="274320"/>
          </a:xfrm>
          <a:prstGeom prst="rect">
            <a:avLst/>
          </a:prstGeom>
          <a:noFill/>
          <a:ln/>
        </p:spPr>
        <p:txBody>
          <a:bodyPr wrap="square" lIns="0" tIns="0" rIns="0" bIns="0" rtlCol="0" anchor="t"/>
          <a:lstStyle/>
          <a:p>
            <a:pPr algn="ctr" indent="0" marL="0">
              <a:buNone/>
            </a:pPr>
            <a:r>
              <a:rPr lang="en-US" sz="1100" b="1" dirty="0">
                <a:solidFill>
                  <a:srgbClr val="0086C3"/>
                </a:solidFill>
                <a:latin typeface="Calibri" pitchFamily="34" charset="0"/>
                <a:ea typeface="Calibri" pitchFamily="34" charset="-122"/>
                <a:cs typeface="Calibri" pitchFamily="34" charset="-120"/>
              </a:rPr>
              <a:t>TRY THE LIVE DEMO</a:t>
            </a:r>
            <a:endParaRPr lang="en-US" sz="1100" dirty="0"/>
          </a:p>
        </p:txBody>
      </p:sp>
      <p:sp>
        <p:nvSpPr>
          <p:cNvPr id="16" name="Text 13"/>
          <p:cNvSpPr txBox="1"/>
          <p:nvPr/>
        </p:nvSpPr>
        <p:spPr>
          <a:xfrm>
            <a:off x="8869680" y="3200400"/>
            <a:ext cx="2651760" cy="320040"/>
          </a:xfrm>
          <a:prstGeom prst="rect">
            <a:avLst/>
          </a:prstGeom>
          <a:noFill/>
          <a:ln/>
        </p:spPr>
        <p:txBody>
          <a:bodyPr wrap="square" lIns="0" tIns="0" rIns="0" bIns="0" rtlCol="0" anchor="t"/>
          <a:lstStyle/>
          <a:p>
            <a:pPr algn="ctr" indent="0" marL="0">
              <a:buNone/>
            </a:pPr>
            <a:r>
              <a:rPr lang="en-US" sz="1500" b="1" dirty="0">
                <a:solidFill>
                  <a:srgbClr val="143A5A"/>
                </a:solidFill>
                <a:latin typeface="Calibri" pitchFamily="34" charset="0"/>
                <a:ea typeface="Calibri" pitchFamily="34" charset="-122"/>
                <a:cs typeface="Calibri" pitchFamily="34" charset="-120"/>
              </a:rPr>
              <a:t>surface-vision.github.io</a:t>
            </a:r>
            <a:endParaRPr lang="en-US" sz="1500" dirty="0"/>
          </a:p>
        </p:txBody>
      </p:sp>
      <p:sp>
        <p:nvSpPr>
          <p:cNvPr id="17" name="Text 14"/>
          <p:cNvSpPr txBox="1"/>
          <p:nvPr/>
        </p:nvSpPr>
        <p:spPr>
          <a:xfrm>
            <a:off x="8961120" y="3566160"/>
            <a:ext cx="2468880" cy="914400"/>
          </a:xfrm>
          <a:prstGeom prst="rect">
            <a:avLst/>
          </a:prstGeom>
          <a:noFill/>
          <a:ln/>
        </p:spPr>
        <p:txBody>
          <a:bodyPr wrap="square" lIns="0" tIns="0" rIns="0" bIns="0" rtlCol="0" anchor="t"/>
          <a:lstStyle/>
          <a:p>
            <a:pPr algn="ctr" indent="0" marL="0">
              <a:buNone/>
            </a:pPr>
            <a:r>
              <a:rPr lang="en-US" sz="1000" dirty="0">
                <a:solidFill>
                  <a:srgbClr val="334150"/>
                </a:solidFill>
                <a:latin typeface="Calibri" pitchFamily="34" charset="0"/>
                <a:ea typeface="Calibri" pitchFamily="34" charset="-122"/>
                <a:cs typeface="Calibri" pitchFamily="34" charset="-120"/>
              </a:rPr>
              <a:t>The trained detector runs in your browser. Upload a strip image to get box, type, confidence and severity. Nothing leaves the page.</a:t>
            </a:r>
            <a:endParaRPr lang="en-US" sz="1000" dirty="0"/>
          </a:p>
        </p:txBody>
      </p:sp>
      <p:sp>
        <p:nvSpPr>
          <p:cNvPr id="18" name="Shape 15"/>
          <p:cNvSpPr/>
          <p:nvPr/>
        </p:nvSpPr>
        <p:spPr>
          <a:xfrm>
            <a:off x="548640" y="4983480"/>
            <a:ext cx="2148840" cy="566928"/>
          </a:xfrm>
          <a:prstGeom prst="roundRect">
            <a:avLst>
              <a:gd name="adj" fmla="val 9677"/>
            </a:avLst>
          </a:prstGeom>
          <a:solidFill>
            <a:srgbClr val="2B5B80"/>
          </a:solidFill>
          <a:ln w="12700">
            <a:solidFill>
              <a:srgbClr val="2B5B80"/>
            </a:solidFill>
            <a:prstDash val="solid"/>
          </a:ln>
        </p:spPr>
      </p:sp>
      <p:sp>
        <p:nvSpPr>
          <p:cNvPr id="19" name="Text 16"/>
          <p:cNvSpPr txBox="1"/>
          <p:nvPr/>
        </p:nvSpPr>
        <p:spPr>
          <a:xfrm>
            <a:off x="658368" y="5020056"/>
            <a:ext cx="2011680" cy="256032"/>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1  Problem</a:t>
            </a:r>
            <a:endParaRPr lang="en-US" sz="1200" dirty="0"/>
          </a:p>
        </p:txBody>
      </p:sp>
      <p:sp>
        <p:nvSpPr>
          <p:cNvPr id="20" name="Text 17"/>
          <p:cNvSpPr txBox="1"/>
          <p:nvPr/>
        </p:nvSpPr>
        <p:spPr>
          <a:xfrm>
            <a:off x="658368" y="5266944"/>
            <a:ext cx="2011680" cy="237744"/>
          </a:xfrm>
          <a:prstGeom prst="rect">
            <a:avLst/>
          </a:prstGeom>
          <a:noFill/>
          <a:ln/>
        </p:spPr>
        <p:txBody>
          <a:bodyPr wrap="square" lIns="0" tIns="0" rIns="0" bIns="0" rtlCol="0" anchor="t"/>
          <a:lstStyle/>
          <a:p>
            <a:pPr indent="0" marL="0">
              <a:buNone/>
            </a:pPr>
            <a:r>
              <a:rPr lang="en-US" sz="1000" dirty="0">
                <a:solidFill>
                  <a:srgbClr val="BFD2E2"/>
                </a:solidFill>
                <a:latin typeface="Calibri" pitchFamily="34" charset="0"/>
                <a:ea typeface="Calibri" pitchFamily="34" charset="-122"/>
                <a:cs typeface="Calibri" pitchFamily="34" charset="-120"/>
              </a:rPr>
              <a:t>Where is value lost?</a:t>
            </a:r>
            <a:endParaRPr lang="en-US" sz="1000" dirty="0"/>
          </a:p>
        </p:txBody>
      </p:sp>
      <p:sp>
        <p:nvSpPr>
          <p:cNvPr id="21" name="Shape 18"/>
          <p:cNvSpPr/>
          <p:nvPr/>
        </p:nvSpPr>
        <p:spPr>
          <a:xfrm>
            <a:off x="2788920" y="4983480"/>
            <a:ext cx="2148840" cy="566928"/>
          </a:xfrm>
          <a:prstGeom prst="roundRect">
            <a:avLst>
              <a:gd name="adj" fmla="val 9677"/>
            </a:avLst>
          </a:prstGeom>
          <a:solidFill>
            <a:srgbClr val="2B5B80"/>
          </a:solidFill>
          <a:ln w="12700">
            <a:solidFill>
              <a:srgbClr val="2B5B80"/>
            </a:solidFill>
            <a:prstDash val="solid"/>
          </a:ln>
        </p:spPr>
      </p:sp>
      <p:sp>
        <p:nvSpPr>
          <p:cNvPr id="22" name="Text 19"/>
          <p:cNvSpPr txBox="1"/>
          <p:nvPr/>
        </p:nvSpPr>
        <p:spPr>
          <a:xfrm>
            <a:off x="2898648" y="5020056"/>
            <a:ext cx="2011680" cy="256032"/>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2  Insights</a:t>
            </a:r>
            <a:endParaRPr lang="en-US" sz="1200" dirty="0"/>
          </a:p>
        </p:txBody>
      </p:sp>
      <p:sp>
        <p:nvSpPr>
          <p:cNvPr id="23" name="Text 20"/>
          <p:cNvSpPr txBox="1"/>
          <p:nvPr/>
        </p:nvSpPr>
        <p:spPr>
          <a:xfrm>
            <a:off x="2898648" y="5266944"/>
            <a:ext cx="2011680" cy="237744"/>
          </a:xfrm>
          <a:prstGeom prst="rect">
            <a:avLst/>
          </a:prstGeom>
          <a:noFill/>
          <a:ln/>
        </p:spPr>
        <p:txBody>
          <a:bodyPr wrap="square" lIns="0" tIns="0" rIns="0" bIns="0" rtlCol="0" anchor="t"/>
          <a:lstStyle/>
          <a:p>
            <a:pPr indent="0" marL="0">
              <a:buNone/>
            </a:pPr>
            <a:r>
              <a:rPr lang="en-US" sz="1000" dirty="0">
                <a:solidFill>
                  <a:srgbClr val="BFD2E2"/>
                </a:solidFill>
                <a:latin typeface="Calibri" pitchFamily="34" charset="0"/>
                <a:ea typeface="Calibri" pitchFamily="34" charset="-122"/>
                <a:cs typeface="Calibri" pitchFamily="34" charset="-120"/>
              </a:rPr>
              <a:t>What did we learn?</a:t>
            </a:r>
            <a:endParaRPr lang="en-US" sz="1000" dirty="0"/>
          </a:p>
        </p:txBody>
      </p:sp>
      <p:sp>
        <p:nvSpPr>
          <p:cNvPr id="24" name="Shape 21"/>
          <p:cNvSpPr/>
          <p:nvPr/>
        </p:nvSpPr>
        <p:spPr>
          <a:xfrm>
            <a:off x="5029200" y="4983480"/>
            <a:ext cx="2148840" cy="566928"/>
          </a:xfrm>
          <a:prstGeom prst="roundRect">
            <a:avLst>
              <a:gd name="adj" fmla="val 9677"/>
            </a:avLst>
          </a:prstGeom>
          <a:solidFill>
            <a:srgbClr val="2B5B80"/>
          </a:solidFill>
          <a:ln w="12700">
            <a:solidFill>
              <a:srgbClr val="2B5B80"/>
            </a:solidFill>
            <a:prstDash val="solid"/>
          </a:ln>
        </p:spPr>
      </p:sp>
      <p:sp>
        <p:nvSpPr>
          <p:cNvPr id="25" name="Text 22"/>
          <p:cNvSpPr txBox="1"/>
          <p:nvPr/>
        </p:nvSpPr>
        <p:spPr>
          <a:xfrm>
            <a:off x="5138928" y="5020056"/>
            <a:ext cx="2011680" cy="256032"/>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3  Solution</a:t>
            </a:r>
            <a:endParaRPr lang="en-US" sz="1200" dirty="0"/>
          </a:p>
        </p:txBody>
      </p:sp>
      <p:sp>
        <p:nvSpPr>
          <p:cNvPr id="26" name="Text 23"/>
          <p:cNvSpPr txBox="1"/>
          <p:nvPr/>
        </p:nvSpPr>
        <p:spPr>
          <a:xfrm>
            <a:off x="5138928" y="5266944"/>
            <a:ext cx="2011680" cy="237744"/>
          </a:xfrm>
          <a:prstGeom prst="rect">
            <a:avLst/>
          </a:prstGeom>
          <a:noFill/>
          <a:ln/>
        </p:spPr>
        <p:txBody>
          <a:bodyPr wrap="square" lIns="0" tIns="0" rIns="0" bIns="0" rtlCol="0" anchor="t"/>
          <a:lstStyle/>
          <a:p>
            <a:pPr indent="0" marL="0">
              <a:buNone/>
            </a:pPr>
            <a:r>
              <a:rPr lang="en-US" sz="1000" dirty="0">
                <a:solidFill>
                  <a:srgbClr val="BFD2E2"/>
                </a:solidFill>
                <a:latin typeface="Calibri" pitchFamily="34" charset="0"/>
                <a:ea typeface="Calibri" pitchFamily="34" charset="-122"/>
                <a:cs typeface="Calibri" pitchFamily="34" charset="-120"/>
              </a:rPr>
              <a:t>What do we build?</a:t>
            </a:r>
            <a:endParaRPr lang="en-US" sz="1000" dirty="0"/>
          </a:p>
        </p:txBody>
      </p:sp>
      <p:sp>
        <p:nvSpPr>
          <p:cNvPr id="27" name="Shape 24"/>
          <p:cNvSpPr/>
          <p:nvPr/>
        </p:nvSpPr>
        <p:spPr>
          <a:xfrm>
            <a:off x="7269480" y="4983480"/>
            <a:ext cx="2148840" cy="566928"/>
          </a:xfrm>
          <a:prstGeom prst="roundRect">
            <a:avLst>
              <a:gd name="adj" fmla="val 9677"/>
            </a:avLst>
          </a:prstGeom>
          <a:solidFill>
            <a:srgbClr val="2B5B80"/>
          </a:solidFill>
          <a:ln w="12700">
            <a:solidFill>
              <a:srgbClr val="2B5B80"/>
            </a:solidFill>
            <a:prstDash val="solid"/>
          </a:ln>
        </p:spPr>
      </p:sp>
      <p:sp>
        <p:nvSpPr>
          <p:cNvPr id="28" name="Text 25"/>
          <p:cNvSpPr txBox="1"/>
          <p:nvPr/>
        </p:nvSpPr>
        <p:spPr>
          <a:xfrm>
            <a:off x="7379208" y="5020056"/>
            <a:ext cx="2011680" cy="256032"/>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4  Implementation</a:t>
            </a:r>
            <a:endParaRPr lang="en-US" sz="1200" dirty="0"/>
          </a:p>
        </p:txBody>
      </p:sp>
      <p:sp>
        <p:nvSpPr>
          <p:cNvPr id="29" name="Text 26"/>
          <p:cNvSpPr txBox="1"/>
          <p:nvPr/>
        </p:nvSpPr>
        <p:spPr>
          <a:xfrm>
            <a:off x="7379208" y="5266944"/>
            <a:ext cx="2011680" cy="237744"/>
          </a:xfrm>
          <a:prstGeom prst="rect">
            <a:avLst/>
          </a:prstGeom>
          <a:noFill/>
          <a:ln/>
        </p:spPr>
        <p:txBody>
          <a:bodyPr wrap="square" lIns="0" tIns="0" rIns="0" bIns="0" rtlCol="0" anchor="t"/>
          <a:lstStyle/>
          <a:p>
            <a:pPr indent="0" marL="0">
              <a:buNone/>
            </a:pPr>
            <a:r>
              <a:rPr lang="en-US" sz="1000" dirty="0">
                <a:solidFill>
                  <a:srgbClr val="BFD2E2"/>
                </a:solidFill>
                <a:latin typeface="Calibri" pitchFamily="34" charset="0"/>
                <a:ea typeface="Calibri" pitchFamily="34" charset="-122"/>
                <a:cs typeface="Calibri" pitchFamily="34" charset="-120"/>
              </a:rPr>
              <a:t>How does JSL deploy it?</a:t>
            </a:r>
            <a:endParaRPr lang="en-US" sz="1000" dirty="0"/>
          </a:p>
        </p:txBody>
      </p:sp>
      <p:sp>
        <p:nvSpPr>
          <p:cNvPr id="30" name="Shape 27"/>
          <p:cNvSpPr/>
          <p:nvPr/>
        </p:nvSpPr>
        <p:spPr>
          <a:xfrm>
            <a:off x="9509760" y="4983480"/>
            <a:ext cx="2148840" cy="566928"/>
          </a:xfrm>
          <a:prstGeom prst="roundRect">
            <a:avLst>
              <a:gd name="adj" fmla="val 9677"/>
            </a:avLst>
          </a:prstGeom>
          <a:solidFill>
            <a:srgbClr val="2B5B80"/>
          </a:solidFill>
          <a:ln w="12700">
            <a:solidFill>
              <a:srgbClr val="2B5B80"/>
            </a:solidFill>
            <a:prstDash val="solid"/>
          </a:ln>
        </p:spPr>
      </p:sp>
      <p:sp>
        <p:nvSpPr>
          <p:cNvPr id="31" name="Text 28"/>
          <p:cNvSpPr txBox="1"/>
          <p:nvPr/>
        </p:nvSpPr>
        <p:spPr>
          <a:xfrm>
            <a:off x="9619488" y="5020056"/>
            <a:ext cx="2011680" cy="256032"/>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5  Impact</a:t>
            </a:r>
            <a:endParaRPr lang="en-US" sz="1200" dirty="0"/>
          </a:p>
        </p:txBody>
      </p:sp>
      <p:sp>
        <p:nvSpPr>
          <p:cNvPr id="32" name="Text 29"/>
          <p:cNvSpPr txBox="1"/>
          <p:nvPr/>
        </p:nvSpPr>
        <p:spPr>
          <a:xfrm>
            <a:off x="9619488" y="5266944"/>
            <a:ext cx="2011680" cy="237744"/>
          </a:xfrm>
          <a:prstGeom prst="rect">
            <a:avLst/>
          </a:prstGeom>
          <a:noFill/>
          <a:ln/>
        </p:spPr>
        <p:txBody>
          <a:bodyPr wrap="square" lIns="0" tIns="0" rIns="0" bIns="0" rtlCol="0" anchor="t"/>
          <a:lstStyle/>
          <a:p>
            <a:pPr indent="0" marL="0">
              <a:buNone/>
            </a:pPr>
            <a:r>
              <a:rPr lang="en-US" sz="1000" dirty="0">
                <a:solidFill>
                  <a:srgbClr val="BFD2E2"/>
                </a:solidFill>
                <a:latin typeface="Calibri" pitchFamily="34" charset="0"/>
                <a:ea typeface="Calibri" pitchFamily="34" charset="-122"/>
                <a:cs typeface="Calibri" pitchFamily="34" charset="-120"/>
              </a:rPr>
              <a:t>What is it worth?</a:t>
            </a:r>
            <a:endParaRPr lang="en-US" sz="1000" dirty="0"/>
          </a:p>
        </p:txBody>
      </p:sp>
      <p:sp>
        <p:nvSpPr>
          <p:cNvPr id="33" name="Text 30"/>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TEAM  [TEAM NAME]   |   [Member 1]  ·  [Member 2]  ·  [Member 3]  ·  [Member 4]   |   [INSTITUTION]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143A5A"/>
          </a:solidFill>
          <a:ln w="12700">
            <a:solidFill>
              <a:srgbClr val="143A5A"/>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NAME]</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A defect born at the caster is paid for at every later stage, but today it is found at the end of the line</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problem is not that defects exist. They are found late and by sampling, and nobody is told which process caused them.</a:t>
            </a:r>
            <a:endParaRPr lang="en-US" sz="1200" dirty="0"/>
          </a:p>
        </p:txBody>
      </p:sp>
      <p:sp>
        <p:nvSpPr>
          <p:cNvPr id="16" name="Text 14"/>
          <p:cNvSpPr txBox="1"/>
          <p:nvPr/>
        </p:nvSpPr>
        <p:spPr>
          <a:xfrm>
            <a:off x="457200" y="5989320"/>
            <a:ext cx="11274552" cy="219456"/>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Sources: AMETEK Surface Vision, Ternium case study (2020); IISE, Measuring the Cost of Quality; ASTM A240 (304: 8.0-10.5% Ni); LME nickel USD 16,402/t and INR 95.8/USD, 22 Sep 2026; JSL FY26 results.</a:t>
            </a:r>
            <a:endParaRPr lang="en-US" sz="900" dirty="0"/>
          </a:p>
        </p:txBody>
      </p:sp>
      <p:sp>
        <p:nvSpPr>
          <p:cNvPr id="17" name="Shape 15"/>
          <p:cNvSpPr/>
          <p:nvPr/>
        </p:nvSpPr>
        <p:spPr>
          <a:xfrm>
            <a:off x="457200" y="1234440"/>
            <a:ext cx="7635240"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74523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Where stainless surface defects are born, and where they are found without automated inspection</a:t>
            </a:r>
            <a:endParaRPr lang="en-US" sz="1100" dirty="0"/>
          </a:p>
        </p:txBody>
      </p:sp>
      <p:sp>
        <p:nvSpPr>
          <p:cNvPr id="19" name="Text 17"/>
          <p:cNvSpPr txBox="1"/>
          <p:nvPr/>
        </p:nvSpPr>
        <p:spPr>
          <a:xfrm>
            <a:off x="502920" y="1600200"/>
            <a:ext cx="1188720" cy="164592"/>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BORN HERE</a:t>
            </a:r>
            <a:endParaRPr lang="en-US" sz="900" dirty="0"/>
          </a:p>
        </p:txBody>
      </p:sp>
      <p:sp>
        <p:nvSpPr>
          <p:cNvPr id="20" name="Text 18"/>
          <p:cNvSpPr txBox="1"/>
          <p:nvPr/>
        </p:nvSpPr>
        <p:spPr>
          <a:xfrm>
            <a:off x="502920" y="1764792"/>
            <a:ext cx="1188720" cy="457200"/>
          </a:xfrm>
          <a:prstGeom prst="rect">
            <a:avLst/>
          </a:prstGeom>
          <a:noFill/>
          <a:ln/>
        </p:spPr>
        <p:txBody>
          <a:bodyPr wrap="square" lIns="0" tIns="0" rIns="0" bIns="0" rtlCol="0" anchor="t"/>
          <a:lstStyle/>
          <a:p>
            <a:pPr indent="0" marL="0">
              <a:buNone/>
            </a:pPr>
            <a:r>
              <a:rPr lang="en-US" sz="950" dirty="0">
                <a:solidFill>
                  <a:srgbClr val="141C24"/>
                </a:solidFill>
                <a:latin typeface="Calibri" pitchFamily="34" charset="0"/>
                <a:ea typeface="Calibri" pitchFamily="34" charset="-122"/>
                <a:cs typeface="Calibri" pitchFamily="34" charset="-120"/>
              </a:rPr>
              <a:t>Inclusions, slivers</a:t>
            </a:r>
            <a:endParaRPr lang="en-US" sz="950" dirty="0"/>
          </a:p>
        </p:txBody>
      </p:sp>
      <p:sp>
        <p:nvSpPr>
          <p:cNvPr id="21" name="Shape 19"/>
          <p:cNvSpPr/>
          <p:nvPr/>
        </p:nvSpPr>
        <p:spPr>
          <a:xfrm>
            <a:off x="502920" y="2258568"/>
            <a:ext cx="1188720" cy="566928"/>
          </a:xfrm>
          <a:prstGeom prst="roundRect">
            <a:avLst>
              <a:gd name="adj" fmla="val 9677"/>
            </a:avLst>
          </a:prstGeom>
          <a:solidFill>
            <a:srgbClr val="143A5A"/>
          </a:solidFill>
          <a:ln w="12700">
            <a:solidFill>
              <a:srgbClr val="143A5A"/>
            </a:solidFill>
            <a:prstDash val="solid"/>
          </a:ln>
        </p:spPr>
      </p:sp>
      <p:sp>
        <p:nvSpPr>
          <p:cNvPr id="22" name="Text 20"/>
          <p:cNvSpPr txBox="1"/>
          <p:nvPr/>
        </p:nvSpPr>
        <p:spPr>
          <a:xfrm>
            <a:off x="548640" y="2295144"/>
            <a:ext cx="1097280" cy="274320"/>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Melt &amp; cast</a:t>
            </a:r>
            <a:endParaRPr lang="en-US" sz="1100" dirty="0"/>
          </a:p>
        </p:txBody>
      </p:sp>
      <p:sp>
        <p:nvSpPr>
          <p:cNvPr id="23" name="Text 21"/>
          <p:cNvSpPr txBox="1"/>
          <p:nvPr/>
        </p:nvSpPr>
        <p:spPr>
          <a:xfrm>
            <a:off x="548640" y="2551176"/>
            <a:ext cx="1097280" cy="219456"/>
          </a:xfrm>
          <a:prstGeom prst="rect">
            <a:avLst/>
          </a:prstGeom>
          <a:noFill/>
          <a:ln/>
        </p:spPr>
        <p:txBody>
          <a:bodyPr wrap="square" lIns="0" tIns="0" rIns="0" bIns="0" rtlCol="0" anchor="t"/>
          <a:lstStyle/>
          <a:p>
            <a:pPr algn="ctr" indent="0" marL="0">
              <a:buNone/>
            </a:pPr>
            <a:r>
              <a:rPr lang="en-US" sz="950" dirty="0">
                <a:solidFill>
                  <a:srgbClr val="BFD2E2"/>
                </a:solidFill>
                <a:latin typeface="Calibri" pitchFamily="34" charset="0"/>
                <a:ea typeface="Calibri" pitchFamily="34" charset="-122"/>
                <a:cs typeface="Calibri" pitchFamily="34" charset="-120"/>
              </a:rPr>
              <a:t>SMS</a:t>
            </a:r>
            <a:endParaRPr lang="en-US" sz="950" dirty="0"/>
          </a:p>
        </p:txBody>
      </p:sp>
      <p:sp>
        <p:nvSpPr>
          <p:cNvPr id="24" name="Text 22"/>
          <p:cNvSpPr txBox="1"/>
          <p:nvPr/>
        </p:nvSpPr>
        <p:spPr>
          <a:xfrm>
            <a:off x="502920" y="2898648"/>
            <a:ext cx="1188720" cy="164592"/>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SEEN TODAY</a:t>
            </a:r>
            <a:endParaRPr lang="en-US" sz="900" dirty="0"/>
          </a:p>
        </p:txBody>
      </p:sp>
      <p:sp>
        <p:nvSpPr>
          <p:cNvPr id="25" name="Text 23"/>
          <p:cNvSpPr txBox="1"/>
          <p:nvPr/>
        </p:nvSpPr>
        <p:spPr>
          <a:xfrm>
            <a:off x="502920" y="3063240"/>
            <a:ext cx="1188720" cy="201168"/>
          </a:xfrm>
          <a:prstGeom prst="rect">
            <a:avLst/>
          </a:prstGeom>
          <a:noFill/>
          <a:ln/>
        </p:spPr>
        <p:txBody>
          <a:bodyPr wrap="square" lIns="0" tIns="0" rIns="0" bIns="0" rtlCol="0" anchor="t"/>
          <a:lstStyle/>
          <a:p>
            <a:pPr indent="0" marL="0">
              <a:buNone/>
            </a:pPr>
            <a:r>
              <a:rPr lang="en-US" sz="1000" b="1" dirty="0">
                <a:solidFill>
                  <a:srgbClr val="C62828"/>
                </a:solidFill>
                <a:latin typeface="Calibri" pitchFamily="34" charset="0"/>
                <a:ea typeface="Calibri" pitchFamily="34" charset="-122"/>
                <a:cs typeface="Calibri" pitchFamily="34" charset="-120"/>
              </a:rPr>
              <a:t>none</a:t>
            </a:r>
            <a:endParaRPr lang="en-US" sz="1000" dirty="0"/>
          </a:p>
        </p:txBody>
      </p:sp>
      <p:sp>
        <p:nvSpPr>
          <p:cNvPr id="26" name="Text 24"/>
          <p:cNvSpPr txBox="1"/>
          <p:nvPr/>
        </p:nvSpPr>
        <p:spPr>
          <a:xfrm>
            <a:off x="1764792" y="1600200"/>
            <a:ext cx="1188720" cy="164592"/>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BORN HERE</a:t>
            </a:r>
            <a:endParaRPr lang="en-US" sz="900" dirty="0"/>
          </a:p>
        </p:txBody>
      </p:sp>
      <p:sp>
        <p:nvSpPr>
          <p:cNvPr id="27" name="Text 25"/>
          <p:cNvSpPr txBox="1"/>
          <p:nvPr/>
        </p:nvSpPr>
        <p:spPr>
          <a:xfrm>
            <a:off x="1764792" y="1764792"/>
            <a:ext cx="1188720" cy="457200"/>
          </a:xfrm>
          <a:prstGeom prst="rect">
            <a:avLst/>
          </a:prstGeom>
          <a:noFill/>
          <a:ln/>
        </p:spPr>
        <p:txBody>
          <a:bodyPr wrap="square" lIns="0" tIns="0" rIns="0" bIns="0" rtlCol="0" anchor="t"/>
          <a:lstStyle/>
          <a:p>
            <a:pPr indent="0" marL="0">
              <a:buNone/>
            </a:pPr>
            <a:r>
              <a:rPr lang="en-US" sz="950" dirty="0">
                <a:solidFill>
                  <a:srgbClr val="141C24"/>
                </a:solidFill>
                <a:latin typeface="Calibri" pitchFamily="34" charset="0"/>
                <a:ea typeface="Calibri" pitchFamily="34" charset="-122"/>
                <a:cs typeface="Calibri" pitchFamily="34" charset="-120"/>
              </a:rPr>
              <a:t>Rolled-in scale, pits, edge cracks</a:t>
            </a:r>
            <a:endParaRPr lang="en-US" sz="950" dirty="0"/>
          </a:p>
        </p:txBody>
      </p:sp>
      <p:sp>
        <p:nvSpPr>
          <p:cNvPr id="28" name="Shape 26"/>
          <p:cNvSpPr/>
          <p:nvPr/>
        </p:nvSpPr>
        <p:spPr>
          <a:xfrm>
            <a:off x="1764792" y="2258568"/>
            <a:ext cx="1188720" cy="566928"/>
          </a:xfrm>
          <a:prstGeom prst="roundRect">
            <a:avLst>
              <a:gd name="adj" fmla="val 9677"/>
            </a:avLst>
          </a:prstGeom>
          <a:solidFill>
            <a:srgbClr val="143A5A"/>
          </a:solidFill>
          <a:ln w="12700">
            <a:solidFill>
              <a:srgbClr val="143A5A"/>
            </a:solidFill>
            <a:prstDash val="solid"/>
          </a:ln>
        </p:spPr>
      </p:sp>
      <p:sp>
        <p:nvSpPr>
          <p:cNvPr id="29" name="Text 27"/>
          <p:cNvSpPr txBox="1"/>
          <p:nvPr/>
        </p:nvSpPr>
        <p:spPr>
          <a:xfrm>
            <a:off x="1810512" y="2295144"/>
            <a:ext cx="1097280" cy="274320"/>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Hot rolling</a:t>
            </a:r>
            <a:endParaRPr lang="en-US" sz="1100" dirty="0"/>
          </a:p>
        </p:txBody>
      </p:sp>
      <p:sp>
        <p:nvSpPr>
          <p:cNvPr id="30" name="Text 28"/>
          <p:cNvSpPr txBox="1"/>
          <p:nvPr/>
        </p:nvSpPr>
        <p:spPr>
          <a:xfrm>
            <a:off x="1810512" y="2551176"/>
            <a:ext cx="1097280" cy="219456"/>
          </a:xfrm>
          <a:prstGeom prst="rect">
            <a:avLst/>
          </a:prstGeom>
          <a:noFill/>
          <a:ln/>
        </p:spPr>
        <p:txBody>
          <a:bodyPr wrap="square" lIns="0" tIns="0" rIns="0" bIns="0" rtlCol="0" anchor="t"/>
          <a:lstStyle/>
          <a:p>
            <a:pPr algn="ctr" indent="0" marL="0">
              <a:buNone/>
            </a:pPr>
            <a:r>
              <a:rPr lang="en-US" sz="950" dirty="0">
                <a:solidFill>
                  <a:srgbClr val="BFD2E2"/>
                </a:solidFill>
                <a:latin typeface="Calibri" pitchFamily="34" charset="0"/>
                <a:ea typeface="Calibri" pitchFamily="34" charset="-122"/>
                <a:cs typeface="Calibri" pitchFamily="34" charset="-120"/>
              </a:rPr>
              <a:t>HSM</a:t>
            </a:r>
            <a:endParaRPr lang="en-US" sz="950" dirty="0"/>
          </a:p>
        </p:txBody>
      </p:sp>
      <p:sp>
        <p:nvSpPr>
          <p:cNvPr id="31" name="Text 29"/>
          <p:cNvSpPr txBox="1"/>
          <p:nvPr/>
        </p:nvSpPr>
        <p:spPr>
          <a:xfrm>
            <a:off x="1764792" y="2898648"/>
            <a:ext cx="1188720" cy="164592"/>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SEEN TODAY</a:t>
            </a:r>
            <a:endParaRPr lang="en-US" sz="900" dirty="0"/>
          </a:p>
        </p:txBody>
      </p:sp>
      <p:sp>
        <p:nvSpPr>
          <p:cNvPr id="32" name="Text 30"/>
          <p:cNvSpPr txBox="1"/>
          <p:nvPr/>
        </p:nvSpPr>
        <p:spPr>
          <a:xfrm>
            <a:off x="1764792" y="3063240"/>
            <a:ext cx="1188720" cy="201168"/>
          </a:xfrm>
          <a:prstGeom prst="rect">
            <a:avLst/>
          </a:prstGeom>
          <a:noFill/>
          <a:ln/>
        </p:spPr>
        <p:txBody>
          <a:bodyPr wrap="square" lIns="0" tIns="0" rIns="0" bIns="0" rtlCol="0" anchor="t"/>
          <a:lstStyle/>
          <a:p>
            <a:pPr indent="0" marL="0">
              <a:buNone/>
            </a:pPr>
            <a:r>
              <a:rPr lang="en-US" sz="1000" b="1" dirty="0">
                <a:solidFill>
                  <a:srgbClr val="C62828"/>
                </a:solidFill>
                <a:latin typeface="Calibri" pitchFamily="34" charset="0"/>
                <a:ea typeface="Calibri" pitchFamily="34" charset="-122"/>
                <a:cs typeface="Calibri" pitchFamily="34" charset="-120"/>
              </a:rPr>
              <a:t>none</a:t>
            </a:r>
            <a:endParaRPr lang="en-US" sz="1000" dirty="0"/>
          </a:p>
        </p:txBody>
      </p:sp>
      <p:sp>
        <p:nvSpPr>
          <p:cNvPr id="33" name="Text 31"/>
          <p:cNvSpPr txBox="1"/>
          <p:nvPr/>
        </p:nvSpPr>
        <p:spPr>
          <a:xfrm>
            <a:off x="3026664" y="1600200"/>
            <a:ext cx="1188720" cy="164592"/>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BORN HERE</a:t>
            </a:r>
            <a:endParaRPr lang="en-US" sz="900" dirty="0"/>
          </a:p>
        </p:txBody>
      </p:sp>
      <p:sp>
        <p:nvSpPr>
          <p:cNvPr id="34" name="Text 32"/>
          <p:cNvSpPr txBox="1"/>
          <p:nvPr/>
        </p:nvSpPr>
        <p:spPr>
          <a:xfrm>
            <a:off x="3026664" y="1764792"/>
            <a:ext cx="1188720" cy="457200"/>
          </a:xfrm>
          <a:prstGeom prst="rect">
            <a:avLst/>
          </a:prstGeom>
          <a:noFill/>
          <a:ln/>
        </p:spPr>
        <p:txBody>
          <a:bodyPr wrap="square" lIns="0" tIns="0" rIns="0" bIns="0" rtlCol="0" anchor="t"/>
          <a:lstStyle/>
          <a:p>
            <a:pPr indent="0" marL="0">
              <a:buNone/>
            </a:pPr>
            <a:r>
              <a:rPr lang="en-US" sz="950" dirty="0">
                <a:solidFill>
                  <a:srgbClr val="141C24"/>
                </a:solidFill>
                <a:latin typeface="Calibri" pitchFamily="34" charset="0"/>
                <a:ea typeface="Calibri" pitchFamily="34" charset="-122"/>
                <a:cs typeface="Calibri" pitchFamily="34" charset="-120"/>
              </a:rPr>
              <a:t>Pickling patches, over / under-pickle</a:t>
            </a:r>
            <a:endParaRPr lang="en-US" sz="950" dirty="0"/>
          </a:p>
        </p:txBody>
      </p:sp>
      <p:sp>
        <p:nvSpPr>
          <p:cNvPr id="35" name="Shape 33"/>
          <p:cNvSpPr/>
          <p:nvPr/>
        </p:nvSpPr>
        <p:spPr>
          <a:xfrm>
            <a:off x="3026664" y="2258568"/>
            <a:ext cx="1188720" cy="566928"/>
          </a:xfrm>
          <a:prstGeom prst="roundRect">
            <a:avLst>
              <a:gd name="adj" fmla="val 9677"/>
            </a:avLst>
          </a:prstGeom>
          <a:solidFill>
            <a:srgbClr val="143A5A"/>
          </a:solidFill>
          <a:ln w="12700">
            <a:solidFill>
              <a:srgbClr val="143A5A"/>
            </a:solidFill>
            <a:prstDash val="solid"/>
          </a:ln>
        </p:spPr>
      </p:sp>
      <p:sp>
        <p:nvSpPr>
          <p:cNvPr id="36" name="Text 34"/>
          <p:cNvSpPr txBox="1"/>
          <p:nvPr/>
        </p:nvSpPr>
        <p:spPr>
          <a:xfrm>
            <a:off x="3072384" y="2295144"/>
            <a:ext cx="1097280" cy="274320"/>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Anneal &amp; pickle</a:t>
            </a:r>
            <a:endParaRPr lang="en-US" sz="1100" dirty="0"/>
          </a:p>
        </p:txBody>
      </p:sp>
      <p:sp>
        <p:nvSpPr>
          <p:cNvPr id="37" name="Text 35"/>
          <p:cNvSpPr txBox="1"/>
          <p:nvPr/>
        </p:nvSpPr>
        <p:spPr>
          <a:xfrm>
            <a:off x="3072384" y="2551176"/>
            <a:ext cx="1097280" cy="219456"/>
          </a:xfrm>
          <a:prstGeom prst="rect">
            <a:avLst/>
          </a:prstGeom>
          <a:noFill/>
          <a:ln/>
        </p:spPr>
        <p:txBody>
          <a:bodyPr wrap="square" lIns="0" tIns="0" rIns="0" bIns="0" rtlCol="0" anchor="t"/>
          <a:lstStyle/>
          <a:p>
            <a:pPr algn="ctr" indent="0" marL="0">
              <a:buNone/>
            </a:pPr>
            <a:r>
              <a:rPr lang="en-US" sz="950" dirty="0">
                <a:solidFill>
                  <a:srgbClr val="BFD2E2"/>
                </a:solidFill>
                <a:latin typeface="Calibri" pitchFamily="34" charset="0"/>
                <a:ea typeface="Calibri" pitchFamily="34" charset="-122"/>
                <a:cs typeface="Calibri" pitchFamily="34" charset="-120"/>
              </a:rPr>
              <a:t>HRAP</a:t>
            </a:r>
            <a:endParaRPr lang="en-US" sz="950" dirty="0"/>
          </a:p>
        </p:txBody>
      </p:sp>
      <p:sp>
        <p:nvSpPr>
          <p:cNvPr id="38" name="Text 36"/>
          <p:cNvSpPr txBox="1"/>
          <p:nvPr/>
        </p:nvSpPr>
        <p:spPr>
          <a:xfrm>
            <a:off x="3026664" y="2898648"/>
            <a:ext cx="1188720" cy="164592"/>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SEEN TODAY</a:t>
            </a:r>
            <a:endParaRPr lang="en-US" sz="900" dirty="0"/>
          </a:p>
        </p:txBody>
      </p:sp>
      <p:sp>
        <p:nvSpPr>
          <p:cNvPr id="39" name="Text 37"/>
          <p:cNvSpPr txBox="1"/>
          <p:nvPr/>
        </p:nvSpPr>
        <p:spPr>
          <a:xfrm>
            <a:off x="3026664" y="3063240"/>
            <a:ext cx="1188720" cy="201168"/>
          </a:xfrm>
          <a:prstGeom prst="rect">
            <a:avLst/>
          </a:prstGeom>
          <a:noFill/>
          <a:ln/>
        </p:spPr>
        <p:txBody>
          <a:bodyPr wrap="square" lIns="0" tIns="0" rIns="0" bIns="0" rtlCol="0" anchor="t"/>
          <a:lstStyle/>
          <a:p>
            <a:pPr indent="0" marL="0">
              <a:buNone/>
            </a:pPr>
            <a:r>
              <a:rPr lang="en-US" sz="1000" b="1" dirty="0">
                <a:solidFill>
                  <a:srgbClr val="B77900"/>
                </a:solidFill>
                <a:latin typeface="Calibri" pitchFamily="34" charset="0"/>
                <a:ea typeface="Calibri" pitchFamily="34" charset="-122"/>
                <a:cs typeface="Calibri" pitchFamily="34" charset="-120"/>
              </a:rPr>
              <a:t>spot check</a:t>
            </a:r>
            <a:endParaRPr lang="en-US" sz="1000" dirty="0"/>
          </a:p>
        </p:txBody>
      </p:sp>
      <p:sp>
        <p:nvSpPr>
          <p:cNvPr id="40" name="Text 38"/>
          <p:cNvSpPr txBox="1"/>
          <p:nvPr/>
        </p:nvSpPr>
        <p:spPr>
          <a:xfrm>
            <a:off x="4288536" y="1600200"/>
            <a:ext cx="1188720" cy="164592"/>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BORN HERE</a:t>
            </a:r>
            <a:endParaRPr lang="en-US" sz="900" dirty="0"/>
          </a:p>
        </p:txBody>
      </p:sp>
      <p:sp>
        <p:nvSpPr>
          <p:cNvPr id="41" name="Text 39"/>
          <p:cNvSpPr txBox="1"/>
          <p:nvPr/>
        </p:nvSpPr>
        <p:spPr>
          <a:xfrm>
            <a:off x="4288536" y="1764792"/>
            <a:ext cx="1188720" cy="457200"/>
          </a:xfrm>
          <a:prstGeom prst="rect">
            <a:avLst/>
          </a:prstGeom>
          <a:noFill/>
          <a:ln/>
        </p:spPr>
        <p:txBody>
          <a:bodyPr wrap="square" lIns="0" tIns="0" rIns="0" bIns="0" rtlCol="0" anchor="t"/>
          <a:lstStyle/>
          <a:p>
            <a:pPr indent="0" marL="0">
              <a:buNone/>
            </a:pPr>
            <a:r>
              <a:rPr lang="en-US" sz="950" dirty="0">
                <a:solidFill>
                  <a:srgbClr val="141C24"/>
                </a:solidFill>
                <a:latin typeface="Calibri" pitchFamily="34" charset="0"/>
                <a:ea typeface="Calibri" pitchFamily="34" charset="-122"/>
                <a:cs typeface="Calibri" pitchFamily="34" charset="-120"/>
              </a:rPr>
              <a:t>Scratches, roll marks, crazing</a:t>
            </a:r>
            <a:endParaRPr lang="en-US" sz="950" dirty="0"/>
          </a:p>
        </p:txBody>
      </p:sp>
      <p:sp>
        <p:nvSpPr>
          <p:cNvPr id="42" name="Shape 40"/>
          <p:cNvSpPr/>
          <p:nvPr/>
        </p:nvSpPr>
        <p:spPr>
          <a:xfrm>
            <a:off x="4288536" y="2258568"/>
            <a:ext cx="1188720" cy="566928"/>
          </a:xfrm>
          <a:prstGeom prst="roundRect">
            <a:avLst>
              <a:gd name="adj" fmla="val 9677"/>
            </a:avLst>
          </a:prstGeom>
          <a:solidFill>
            <a:srgbClr val="143A5A"/>
          </a:solidFill>
          <a:ln w="12700">
            <a:solidFill>
              <a:srgbClr val="143A5A"/>
            </a:solidFill>
            <a:prstDash val="solid"/>
          </a:ln>
        </p:spPr>
      </p:sp>
      <p:sp>
        <p:nvSpPr>
          <p:cNvPr id="43" name="Text 41"/>
          <p:cNvSpPr txBox="1"/>
          <p:nvPr/>
        </p:nvSpPr>
        <p:spPr>
          <a:xfrm>
            <a:off x="4334256" y="2295144"/>
            <a:ext cx="1097280" cy="274320"/>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Cold rolling</a:t>
            </a:r>
            <a:endParaRPr lang="en-US" sz="1100" dirty="0"/>
          </a:p>
        </p:txBody>
      </p:sp>
      <p:sp>
        <p:nvSpPr>
          <p:cNvPr id="44" name="Text 42"/>
          <p:cNvSpPr txBox="1"/>
          <p:nvPr/>
        </p:nvSpPr>
        <p:spPr>
          <a:xfrm>
            <a:off x="4334256" y="2551176"/>
            <a:ext cx="1097280" cy="219456"/>
          </a:xfrm>
          <a:prstGeom prst="rect">
            <a:avLst/>
          </a:prstGeom>
          <a:noFill/>
          <a:ln/>
        </p:spPr>
        <p:txBody>
          <a:bodyPr wrap="square" lIns="0" tIns="0" rIns="0" bIns="0" rtlCol="0" anchor="t"/>
          <a:lstStyle/>
          <a:p>
            <a:pPr algn="ctr" indent="0" marL="0">
              <a:buNone/>
            </a:pPr>
            <a:r>
              <a:rPr lang="en-US" sz="950" dirty="0">
                <a:solidFill>
                  <a:srgbClr val="BFD2E2"/>
                </a:solidFill>
                <a:latin typeface="Calibri" pitchFamily="34" charset="0"/>
                <a:ea typeface="Calibri" pitchFamily="34" charset="-122"/>
                <a:cs typeface="Calibri" pitchFamily="34" charset="-120"/>
              </a:rPr>
              <a:t>CRM</a:t>
            </a:r>
            <a:endParaRPr lang="en-US" sz="950" dirty="0"/>
          </a:p>
        </p:txBody>
      </p:sp>
      <p:sp>
        <p:nvSpPr>
          <p:cNvPr id="45" name="Text 43"/>
          <p:cNvSpPr txBox="1"/>
          <p:nvPr/>
        </p:nvSpPr>
        <p:spPr>
          <a:xfrm>
            <a:off x="4288536" y="2898648"/>
            <a:ext cx="1188720" cy="164592"/>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SEEN TODAY</a:t>
            </a:r>
            <a:endParaRPr lang="en-US" sz="900" dirty="0"/>
          </a:p>
        </p:txBody>
      </p:sp>
      <p:sp>
        <p:nvSpPr>
          <p:cNvPr id="46" name="Text 44"/>
          <p:cNvSpPr txBox="1"/>
          <p:nvPr/>
        </p:nvSpPr>
        <p:spPr>
          <a:xfrm>
            <a:off x="4288536" y="3063240"/>
            <a:ext cx="1188720" cy="201168"/>
          </a:xfrm>
          <a:prstGeom prst="rect">
            <a:avLst/>
          </a:prstGeom>
          <a:noFill/>
          <a:ln/>
        </p:spPr>
        <p:txBody>
          <a:bodyPr wrap="square" lIns="0" tIns="0" rIns="0" bIns="0" rtlCol="0" anchor="t"/>
          <a:lstStyle/>
          <a:p>
            <a:pPr indent="0" marL="0">
              <a:buNone/>
            </a:pPr>
            <a:r>
              <a:rPr lang="en-US" sz="1000" b="1" dirty="0">
                <a:solidFill>
                  <a:srgbClr val="B77900"/>
                </a:solidFill>
                <a:latin typeface="Calibri" pitchFamily="34" charset="0"/>
                <a:ea typeface="Calibri" pitchFamily="34" charset="-122"/>
                <a:cs typeface="Calibri" pitchFamily="34" charset="-120"/>
              </a:rPr>
              <a:t>spot check</a:t>
            </a:r>
            <a:endParaRPr lang="en-US" sz="1000" dirty="0"/>
          </a:p>
        </p:txBody>
      </p:sp>
      <p:sp>
        <p:nvSpPr>
          <p:cNvPr id="47" name="Text 45"/>
          <p:cNvSpPr txBox="1"/>
          <p:nvPr/>
        </p:nvSpPr>
        <p:spPr>
          <a:xfrm>
            <a:off x="5550408" y="1600200"/>
            <a:ext cx="1188720" cy="164592"/>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BORN HERE</a:t>
            </a:r>
            <a:endParaRPr lang="en-US" sz="900" dirty="0"/>
          </a:p>
        </p:txBody>
      </p:sp>
      <p:sp>
        <p:nvSpPr>
          <p:cNvPr id="48" name="Text 46"/>
          <p:cNvSpPr txBox="1"/>
          <p:nvPr/>
        </p:nvSpPr>
        <p:spPr>
          <a:xfrm>
            <a:off x="5550408" y="1764792"/>
            <a:ext cx="1188720" cy="457200"/>
          </a:xfrm>
          <a:prstGeom prst="rect">
            <a:avLst/>
          </a:prstGeom>
          <a:noFill/>
          <a:ln/>
        </p:spPr>
        <p:txBody>
          <a:bodyPr wrap="square" lIns="0" tIns="0" rIns="0" bIns="0" rtlCol="0" anchor="t"/>
          <a:lstStyle/>
          <a:p>
            <a:pPr indent="0" marL="0">
              <a:buNone/>
            </a:pPr>
            <a:r>
              <a:rPr lang="en-US" sz="950" dirty="0">
                <a:solidFill>
                  <a:srgbClr val="141C24"/>
                </a:solidFill>
                <a:latin typeface="Calibri" pitchFamily="34" charset="0"/>
                <a:ea typeface="Calibri" pitchFamily="34" charset="-122"/>
                <a:cs typeface="Calibri" pitchFamily="34" charset="-120"/>
              </a:rPr>
              <a:t>Stains, BA marks, handling scratches</a:t>
            </a:r>
            <a:endParaRPr lang="en-US" sz="950" dirty="0"/>
          </a:p>
        </p:txBody>
      </p:sp>
      <p:sp>
        <p:nvSpPr>
          <p:cNvPr id="49" name="Shape 47"/>
          <p:cNvSpPr/>
          <p:nvPr/>
        </p:nvSpPr>
        <p:spPr>
          <a:xfrm>
            <a:off x="5550408" y="2258568"/>
            <a:ext cx="1188720" cy="566928"/>
          </a:xfrm>
          <a:prstGeom prst="roundRect">
            <a:avLst>
              <a:gd name="adj" fmla="val 9677"/>
            </a:avLst>
          </a:prstGeom>
          <a:solidFill>
            <a:srgbClr val="143A5A"/>
          </a:solidFill>
          <a:ln w="12700">
            <a:solidFill>
              <a:srgbClr val="143A5A"/>
            </a:solidFill>
            <a:prstDash val="solid"/>
          </a:ln>
        </p:spPr>
      </p:sp>
      <p:sp>
        <p:nvSpPr>
          <p:cNvPr id="50" name="Text 48"/>
          <p:cNvSpPr txBox="1"/>
          <p:nvPr/>
        </p:nvSpPr>
        <p:spPr>
          <a:xfrm>
            <a:off x="5596128" y="2295144"/>
            <a:ext cx="1097280" cy="274320"/>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Final anneal / BA</a:t>
            </a:r>
            <a:endParaRPr lang="en-US" sz="1100" dirty="0"/>
          </a:p>
        </p:txBody>
      </p:sp>
      <p:sp>
        <p:nvSpPr>
          <p:cNvPr id="51" name="Text 49"/>
          <p:cNvSpPr txBox="1"/>
          <p:nvPr/>
        </p:nvSpPr>
        <p:spPr>
          <a:xfrm>
            <a:off x="5596128" y="2551176"/>
            <a:ext cx="1097280" cy="219456"/>
          </a:xfrm>
          <a:prstGeom prst="rect">
            <a:avLst/>
          </a:prstGeom>
          <a:noFill/>
          <a:ln/>
        </p:spPr>
        <p:txBody>
          <a:bodyPr wrap="square" lIns="0" tIns="0" rIns="0" bIns="0" rtlCol="0" anchor="t"/>
          <a:lstStyle/>
          <a:p>
            <a:pPr algn="ctr" indent="0" marL="0">
              <a:buNone/>
            </a:pPr>
            <a:r>
              <a:rPr lang="en-US" sz="950" dirty="0">
                <a:solidFill>
                  <a:srgbClr val="BFD2E2"/>
                </a:solidFill>
                <a:latin typeface="Calibri" pitchFamily="34" charset="0"/>
                <a:ea typeface="Calibri" pitchFamily="34" charset="-122"/>
                <a:cs typeface="Calibri" pitchFamily="34" charset="-120"/>
              </a:rPr>
              <a:t>CRAP / BA</a:t>
            </a:r>
            <a:endParaRPr lang="en-US" sz="950" dirty="0"/>
          </a:p>
        </p:txBody>
      </p:sp>
      <p:sp>
        <p:nvSpPr>
          <p:cNvPr id="52" name="Text 50"/>
          <p:cNvSpPr txBox="1"/>
          <p:nvPr/>
        </p:nvSpPr>
        <p:spPr>
          <a:xfrm>
            <a:off x="5550408" y="2898648"/>
            <a:ext cx="1188720" cy="164592"/>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SEEN TODAY</a:t>
            </a:r>
            <a:endParaRPr lang="en-US" sz="900" dirty="0"/>
          </a:p>
        </p:txBody>
      </p:sp>
      <p:sp>
        <p:nvSpPr>
          <p:cNvPr id="53" name="Text 51"/>
          <p:cNvSpPr txBox="1"/>
          <p:nvPr/>
        </p:nvSpPr>
        <p:spPr>
          <a:xfrm>
            <a:off x="5550408" y="3063240"/>
            <a:ext cx="1188720" cy="201168"/>
          </a:xfrm>
          <a:prstGeom prst="rect">
            <a:avLst/>
          </a:prstGeom>
          <a:noFill/>
          <a:ln/>
        </p:spPr>
        <p:txBody>
          <a:bodyPr wrap="square" lIns="0" tIns="0" rIns="0" bIns="0" rtlCol="0" anchor="t"/>
          <a:lstStyle/>
          <a:p>
            <a:pPr indent="0" marL="0">
              <a:buNone/>
            </a:pPr>
            <a:r>
              <a:rPr lang="en-US" sz="1000" b="1" dirty="0">
                <a:solidFill>
                  <a:srgbClr val="B77900"/>
                </a:solidFill>
                <a:latin typeface="Calibri" pitchFamily="34" charset="0"/>
                <a:ea typeface="Calibri" pitchFamily="34" charset="-122"/>
                <a:cs typeface="Calibri" pitchFamily="34" charset="-120"/>
              </a:rPr>
              <a:t>visual sample</a:t>
            </a:r>
            <a:endParaRPr lang="en-US" sz="1000" dirty="0"/>
          </a:p>
        </p:txBody>
      </p:sp>
      <p:sp>
        <p:nvSpPr>
          <p:cNvPr id="54" name="Text 52"/>
          <p:cNvSpPr txBox="1"/>
          <p:nvPr/>
        </p:nvSpPr>
        <p:spPr>
          <a:xfrm>
            <a:off x="6812280" y="1600200"/>
            <a:ext cx="1188720" cy="164592"/>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BORN HERE</a:t>
            </a:r>
            <a:endParaRPr lang="en-US" sz="900" dirty="0"/>
          </a:p>
        </p:txBody>
      </p:sp>
      <p:sp>
        <p:nvSpPr>
          <p:cNvPr id="55" name="Text 53"/>
          <p:cNvSpPr txBox="1"/>
          <p:nvPr/>
        </p:nvSpPr>
        <p:spPr>
          <a:xfrm>
            <a:off x="6812280" y="1764792"/>
            <a:ext cx="1188720" cy="457200"/>
          </a:xfrm>
          <a:prstGeom prst="rect">
            <a:avLst/>
          </a:prstGeom>
          <a:noFill/>
          <a:ln/>
        </p:spPr>
        <p:txBody>
          <a:bodyPr wrap="square" lIns="0" tIns="0" rIns="0" bIns="0" rtlCol="0" anchor="t"/>
          <a:lstStyle/>
          <a:p>
            <a:pPr indent="0" marL="0">
              <a:buNone/>
            </a:pPr>
            <a:r>
              <a:rPr lang="en-US" sz="950" dirty="0">
                <a:solidFill>
                  <a:srgbClr val="141C24"/>
                </a:solidFill>
                <a:latin typeface="Calibri" pitchFamily="34" charset="0"/>
                <a:ea typeface="Calibri" pitchFamily="34" charset="-122"/>
                <a:cs typeface="Calibri" pitchFamily="34" charset="-120"/>
              </a:rPr>
              <a:t>Found here or by the customer</a:t>
            </a:r>
            <a:endParaRPr lang="en-US" sz="950" dirty="0"/>
          </a:p>
        </p:txBody>
      </p:sp>
      <p:sp>
        <p:nvSpPr>
          <p:cNvPr id="56" name="Shape 54"/>
          <p:cNvSpPr/>
          <p:nvPr/>
        </p:nvSpPr>
        <p:spPr>
          <a:xfrm>
            <a:off x="6812280" y="2258568"/>
            <a:ext cx="1188720" cy="566928"/>
          </a:xfrm>
          <a:prstGeom prst="roundRect">
            <a:avLst>
              <a:gd name="adj" fmla="val 9677"/>
            </a:avLst>
          </a:prstGeom>
          <a:solidFill>
            <a:srgbClr val="0086C3"/>
          </a:solidFill>
          <a:ln w="12700">
            <a:solidFill>
              <a:srgbClr val="0086C3"/>
            </a:solidFill>
            <a:prstDash val="solid"/>
          </a:ln>
        </p:spPr>
      </p:sp>
      <p:sp>
        <p:nvSpPr>
          <p:cNvPr id="57" name="Text 55"/>
          <p:cNvSpPr txBox="1"/>
          <p:nvPr/>
        </p:nvSpPr>
        <p:spPr>
          <a:xfrm>
            <a:off x="6858000" y="2295144"/>
            <a:ext cx="1097280" cy="274320"/>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Finish &amp; despatch</a:t>
            </a:r>
            <a:endParaRPr lang="en-US" sz="1100" dirty="0"/>
          </a:p>
        </p:txBody>
      </p:sp>
      <p:sp>
        <p:nvSpPr>
          <p:cNvPr id="58" name="Text 56"/>
          <p:cNvSpPr txBox="1"/>
          <p:nvPr/>
        </p:nvSpPr>
        <p:spPr>
          <a:xfrm>
            <a:off x="6858000" y="2551176"/>
            <a:ext cx="1097280" cy="219456"/>
          </a:xfrm>
          <a:prstGeom prst="rect">
            <a:avLst/>
          </a:prstGeom>
          <a:noFill/>
          <a:ln/>
        </p:spPr>
        <p:txBody>
          <a:bodyPr wrap="square" lIns="0" tIns="0" rIns="0" bIns="0" rtlCol="0" anchor="t"/>
          <a:lstStyle/>
          <a:p>
            <a:pPr algn="ctr" indent="0" marL="0">
              <a:buNone/>
            </a:pPr>
            <a:r>
              <a:rPr lang="en-US" sz="950" dirty="0">
                <a:solidFill>
                  <a:srgbClr val="BFD2E2"/>
                </a:solidFill>
                <a:latin typeface="Calibri" pitchFamily="34" charset="0"/>
                <a:ea typeface="Calibri" pitchFamily="34" charset="-122"/>
                <a:cs typeface="Calibri" pitchFamily="34" charset="-120"/>
              </a:rPr>
              <a:t>Slit, cut</a:t>
            </a:r>
            <a:endParaRPr lang="en-US" sz="950" dirty="0"/>
          </a:p>
        </p:txBody>
      </p:sp>
      <p:sp>
        <p:nvSpPr>
          <p:cNvPr id="59" name="Text 57"/>
          <p:cNvSpPr txBox="1"/>
          <p:nvPr/>
        </p:nvSpPr>
        <p:spPr>
          <a:xfrm>
            <a:off x="6812280" y="2898648"/>
            <a:ext cx="1188720" cy="164592"/>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SEEN TODAY</a:t>
            </a:r>
            <a:endParaRPr lang="en-US" sz="900" dirty="0"/>
          </a:p>
        </p:txBody>
      </p:sp>
      <p:sp>
        <p:nvSpPr>
          <p:cNvPr id="60" name="Text 58"/>
          <p:cNvSpPr txBox="1"/>
          <p:nvPr/>
        </p:nvSpPr>
        <p:spPr>
          <a:xfrm>
            <a:off x="6812280" y="3063240"/>
            <a:ext cx="1188720" cy="201168"/>
          </a:xfrm>
          <a:prstGeom prst="rect">
            <a:avLst/>
          </a:prstGeom>
          <a:noFill/>
          <a:ln/>
        </p:spPr>
        <p:txBody>
          <a:bodyPr wrap="square" lIns="0" tIns="0" rIns="0" bIns="0" rtlCol="0" anchor="t"/>
          <a:lstStyle/>
          <a:p>
            <a:pPr indent="0" marL="0">
              <a:buNone/>
            </a:pPr>
            <a:r>
              <a:rPr lang="en-US" sz="1000" b="1" dirty="0">
                <a:solidFill>
                  <a:srgbClr val="B77900"/>
                </a:solidFill>
                <a:latin typeface="Calibri" pitchFamily="34" charset="0"/>
                <a:ea typeface="Calibri" pitchFamily="34" charset="-122"/>
                <a:cs typeface="Calibri" pitchFamily="34" charset="-120"/>
              </a:rPr>
              <a:t>visual + claims</a:t>
            </a:r>
            <a:endParaRPr lang="en-US" sz="1000" dirty="0"/>
          </a:p>
        </p:txBody>
      </p:sp>
      <p:sp>
        <p:nvSpPr>
          <p:cNvPr id="61" name="Text 59"/>
          <p:cNvSpPr txBox="1"/>
          <p:nvPr/>
        </p:nvSpPr>
        <p:spPr>
          <a:xfrm>
            <a:off x="502920" y="3401568"/>
            <a:ext cx="7543800" cy="411480"/>
          </a:xfrm>
          <a:prstGeom prst="rect">
            <a:avLst/>
          </a:prstGeom>
          <a:noFill/>
          <a:ln/>
        </p:spPr>
        <p:txBody>
          <a:bodyPr wrap="square" lIns="0" tIns="0" rIns="0" bIns="0" rtlCol="0" anchor="t"/>
          <a:lstStyle/>
          <a:p>
            <a:pPr indent="0" marL="0">
              <a:buNone/>
            </a:pPr>
            <a:r>
              <a:rPr lang="en-US" sz="950" i="1" dirty="0">
                <a:solidFill>
                  <a:srgbClr val="334150"/>
                </a:solidFill>
                <a:latin typeface="Calibri" pitchFamily="34" charset="0"/>
                <a:ea typeface="Calibri" pitchFamily="34" charset="-122"/>
                <a:cs typeface="Calibri" pitchFamily="34" charset="-120"/>
              </a:rPr>
              <a:t>Value added keeps rising left to right: melt, rolling, annealing and pickling are all paid for before the coil is graded. "Seen today" is typical practice without automated surface inspection; JSL's own inspection coverage by line is a P0 input.</a:t>
            </a:r>
            <a:endParaRPr lang="en-US" sz="950" dirty="0"/>
          </a:p>
        </p:txBody>
      </p:sp>
      <p:sp>
        <p:nvSpPr>
          <p:cNvPr id="62" name="Shape 60"/>
          <p:cNvSpPr/>
          <p:nvPr/>
        </p:nvSpPr>
        <p:spPr>
          <a:xfrm>
            <a:off x="457200" y="3931920"/>
            <a:ext cx="7635240" cy="274320"/>
          </a:xfrm>
          <a:prstGeom prst="rect">
            <a:avLst/>
          </a:prstGeom>
          <a:solidFill>
            <a:srgbClr val="2B5B80"/>
          </a:solidFill>
          <a:ln w="12700">
            <a:solidFill>
              <a:srgbClr val="2B5B80"/>
            </a:solidFill>
            <a:prstDash val="solid"/>
          </a:ln>
        </p:spPr>
      </p:sp>
      <p:sp>
        <p:nvSpPr>
          <p:cNvPr id="63" name="Text 61"/>
          <p:cNvSpPr txBox="1"/>
          <p:nvPr/>
        </p:nvSpPr>
        <p:spPr>
          <a:xfrm>
            <a:off x="548640" y="3931920"/>
            <a:ext cx="74523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Cost-of-quality lens (PAF): where AI inspection moves the money</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4224528"/>
          <a:ext cx="7635240" cy="914400"/>
        </p:xfrm>
        <a:graphic>
          <a:graphicData uri="http://schemas.openxmlformats.org/drawingml/2006/table">
            <a:tbl>
              <a:tblPr/>
              <a:tblGrid>
                <a:gridCol w="868680"/>
                <a:gridCol w="1691640"/>
                <a:gridCol w="1691640"/>
                <a:gridCol w="1691640"/>
                <a:gridCol w="1691640"/>
              </a:tblGrid>
              <a:tr h="237744">
                <a:tc>
                  <a:txBody>
                    <a:bodyPr/>
                    <a:lstStyle/>
                    <a:p>
                      <a:pPr indent="0" marL="0">
                        <a:buNone/>
                      </a:pP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Prevention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Appraisal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Internal failure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External failure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45720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Today</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Process fixes happen after complaints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Manual, sampled, inspector-dependent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Downgrade, rework, re-pickle, scrap</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Customer claims, returns, lost orders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950" b="1" dirty="0">
                          <a:solidFill>
                            <a:srgbClr val="0086C3"/>
                          </a:solidFill>
                          <a:latin typeface="Calibri" pitchFamily="34" charset="0"/>
                          <a:ea typeface="Calibri" pitchFamily="34" charset="-122"/>
                          <a:cs typeface="Calibri" pitchFamily="34" charset="-120"/>
                        </a:rPr>
                        <a:t>With AI</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Typed defect sent to its owner in minutes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100% of the surface, the same rule on every coil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Caught upstream, before more value is added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Fewer escapes to exposed-finish customers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65" name="Text 62"/>
          <p:cNvSpPr txBox="1"/>
          <p:nvPr/>
        </p:nvSpPr>
        <p:spPr>
          <a:xfrm>
            <a:off x="457200" y="5440680"/>
            <a:ext cx="7635240" cy="41148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Output: shift spend from failure costs (right) to appraisal and prevention (left). Cost of poor quality averages ~15% of sales in manufacturing, range 5-35% (IISE).</a:t>
            </a:r>
            <a:endParaRPr lang="en-US" sz="950" dirty="0"/>
          </a:p>
        </p:txBody>
      </p:sp>
      <p:sp>
        <p:nvSpPr>
          <p:cNvPr id="66" name="Shape 63"/>
          <p:cNvSpPr/>
          <p:nvPr/>
        </p:nvSpPr>
        <p:spPr>
          <a:xfrm>
            <a:off x="8321040" y="1234440"/>
            <a:ext cx="3410712" cy="274320"/>
          </a:xfrm>
          <a:prstGeom prst="rect">
            <a:avLst/>
          </a:prstGeom>
          <a:solidFill>
            <a:srgbClr val="2B5B80"/>
          </a:solidFill>
          <a:ln w="12700">
            <a:solidFill>
              <a:srgbClr val="2B5B80"/>
            </a:solidFill>
            <a:prstDash val="solid"/>
          </a:ln>
        </p:spPr>
      </p:sp>
      <p:sp>
        <p:nvSpPr>
          <p:cNvPr id="67" name="Text 64"/>
          <p:cNvSpPr txBox="1"/>
          <p:nvPr/>
        </p:nvSpPr>
        <p:spPr>
          <a:xfrm>
            <a:off x="8412480" y="1234440"/>
            <a:ext cx="322783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it hurts more on stainless</a:t>
            </a:r>
            <a:endParaRPr lang="en-US" sz="1100" dirty="0"/>
          </a:p>
        </p:txBody>
      </p:sp>
      <p:sp>
        <p:nvSpPr>
          <p:cNvPr id="68" name="Text 65"/>
          <p:cNvSpPr txBox="1"/>
          <p:nvPr/>
        </p:nvSpPr>
        <p:spPr>
          <a:xfrm>
            <a:off x="8366760" y="1600200"/>
            <a:ext cx="3337560" cy="384048"/>
          </a:xfrm>
          <a:prstGeom prst="rect">
            <a:avLst/>
          </a:prstGeom>
          <a:noFill/>
          <a:ln/>
        </p:spPr>
        <p:txBody>
          <a:bodyPr wrap="square" lIns="0" tIns="0" rIns="0" bIns="0" rtlCol="0" anchor="t"/>
          <a:lstStyle/>
          <a:p>
            <a:pPr indent="0" marL="0">
              <a:buNone/>
            </a:pPr>
            <a:r>
              <a:rPr lang="en-US" sz="2200" b="1" dirty="0">
                <a:solidFill>
                  <a:srgbClr val="0086C3"/>
                </a:solidFill>
                <a:latin typeface="Calibri" pitchFamily="34" charset="0"/>
                <a:ea typeface="Calibri" pitchFamily="34" charset="-122"/>
                <a:cs typeface="Calibri" pitchFamily="34" charset="-120"/>
              </a:rPr>
              <a:t>300 m/min</a:t>
            </a:r>
            <a:endParaRPr lang="en-US" sz="2200" dirty="0"/>
          </a:p>
        </p:txBody>
      </p:sp>
      <p:sp>
        <p:nvSpPr>
          <p:cNvPr id="69" name="Text 66"/>
          <p:cNvSpPr txBox="1"/>
          <p:nvPr/>
        </p:nvSpPr>
        <p:spPr>
          <a:xfrm>
            <a:off x="8366760" y="1984248"/>
            <a:ext cx="3337560" cy="59436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"...it is impossible for the human eye to inspect the whole surface." AMETEK / Ternium, cold mill</a:t>
            </a:r>
            <a:endParaRPr lang="en-US" sz="950" dirty="0"/>
          </a:p>
        </p:txBody>
      </p:sp>
      <p:sp>
        <p:nvSpPr>
          <p:cNvPr id="70" name="Text 67"/>
          <p:cNvSpPr txBox="1"/>
          <p:nvPr/>
        </p:nvSpPr>
        <p:spPr>
          <a:xfrm>
            <a:off x="8366760" y="2651760"/>
            <a:ext cx="3337560" cy="384048"/>
          </a:xfrm>
          <a:prstGeom prst="rect">
            <a:avLst/>
          </a:prstGeom>
          <a:noFill/>
          <a:ln/>
        </p:spPr>
        <p:txBody>
          <a:bodyPr wrap="square" lIns="0" tIns="0" rIns="0" bIns="0" rtlCol="0" anchor="t"/>
          <a:lstStyle/>
          <a:p>
            <a:pPr indent="0" marL="0">
              <a:buNone/>
            </a:pPr>
            <a:r>
              <a:rPr lang="en-US" sz="2200" b="1" dirty="0">
                <a:solidFill>
                  <a:srgbClr val="0086C3"/>
                </a:solidFill>
                <a:latin typeface="Calibri" pitchFamily="34" charset="0"/>
                <a:ea typeface="Calibri" pitchFamily="34" charset="-122"/>
                <a:cs typeface="Calibri" pitchFamily="34" charset="-120"/>
              </a:rPr>
              <a:t>INR 1.26-1.65 lakh</a:t>
            </a:r>
            <a:endParaRPr lang="en-US" sz="2200" dirty="0"/>
          </a:p>
        </p:txBody>
      </p:sp>
      <p:sp>
        <p:nvSpPr>
          <p:cNvPr id="71" name="Text 68"/>
          <p:cNvSpPr txBox="1"/>
          <p:nvPr/>
        </p:nvSpPr>
        <p:spPr>
          <a:xfrm>
            <a:off x="8366760" y="3035808"/>
            <a:ext cx="3337560" cy="59436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of nickel in every tonne of 304 (8-10.5% Ni). Downgrading it gives away far more value than on carbon steel</a:t>
            </a:r>
            <a:endParaRPr lang="en-US" sz="950" dirty="0"/>
          </a:p>
        </p:txBody>
      </p:sp>
      <p:sp>
        <p:nvSpPr>
          <p:cNvPr id="72" name="Text 69"/>
          <p:cNvSpPr txBox="1"/>
          <p:nvPr/>
        </p:nvSpPr>
        <p:spPr>
          <a:xfrm>
            <a:off x="8366760" y="3703320"/>
            <a:ext cx="3337560" cy="384048"/>
          </a:xfrm>
          <a:prstGeom prst="rect">
            <a:avLst/>
          </a:prstGeom>
          <a:noFill/>
          <a:ln/>
        </p:spPr>
        <p:txBody>
          <a:bodyPr wrap="square" lIns="0" tIns="0" rIns="0" bIns="0" rtlCol="0" anchor="t"/>
          <a:lstStyle/>
          <a:p>
            <a:pPr indent="0" marL="0">
              <a:buNone/>
            </a:pPr>
            <a:r>
              <a:rPr lang="en-US" sz="2200" b="1" dirty="0">
                <a:solidFill>
                  <a:srgbClr val="0086C3"/>
                </a:solidFill>
                <a:latin typeface="Calibri" pitchFamily="34" charset="0"/>
                <a:ea typeface="Calibri" pitchFamily="34" charset="-122"/>
                <a:cs typeface="Calibri" pitchFamily="34" charset="-120"/>
              </a:rPr>
              <a:t>2.57 Mt</a:t>
            </a:r>
            <a:endParaRPr lang="en-US" sz="2200" dirty="0"/>
          </a:p>
        </p:txBody>
      </p:sp>
      <p:sp>
        <p:nvSpPr>
          <p:cNvPr id="73" name="Text 70"/>
          <p:cNvSpPr txBox="1"/>
          <p:nvPr/>
        </p:nvSpPr>
        <p:spPr>
          <a:xfrm>
            <a:off x="8366760" y="4087368"/>
            <a:ext cx="3337560" cy="59436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JSL FY26 sales at INR 1,67,407/t blended realisation, so every 0.1% downgraded is ~2,570 t</a:t>
            </a:r>
            <a:endParaRPr lang="en-US" sz="950" dirty="0"/>
          </a:p>
        </p:txBody>
      </p:sp>
      <p:sp>
        <p:nvSpPr>
          <p:cNvPr id="74" name="Shape 71"/>
          <p:cNvSpPr/>
          <p:nvPr/>
        </p:nvSpPr>
        <p:spPr>
          <a:xfrm>
            <a:off x="8321040" y="4800600"/>
            <a:ext cx="3410712" cy="1051560"/>
          </a:xfrm>
          <a:prstGeom prst="roundRect">
            <a:avLst>
              <a:gd name="adj" fmla="val 5217"/>
            </a:avLst>
          </a:prstGeom>
          <a:solidFill>
            <a:srgbClr val="F1F4F7"/>
          </a:solidFill>
          <a:ln w="12700">
            <a:solidFill>
              <a:srgbClr val="F1F4F7"/>
            </a:solidFill>
            <a:prstDash val="solid"/>
          </a:ln>
        </p:spPr>
      </p:sp>
      <p:sp>
        <p:nvSpPr>
          <p:cNvPr id="75" name="Text 72"/>
          <p:cNvSpPr txBox="1"/>
          <p:nvPr/>
        </p:nvSpPr>
        <p:spPr>
          <a:xfrm>
            <a:off x="8412480" y="4846320"/>
            <a:ext cx="3246120" cy="960120"/>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Problem statement
</a:t>
            </a:r>
            <a:pPr indent="0" marL="0">
              <a:buNone/>
            </a:pPr>
            <a:r>
              <a:rPr lang="en-US" sz="1000" dirty="0">
                <a:solidFill>
                  <a:srgbClr val="141C24"/>
                </a:solidFill>
                <a:latin typeface="Calibri" pitchFamily="34" charset="0"/>
                <a:ea typeface="Calibri" pitchFamily="34" charset="-122"/>
                <a:cs typeface="Calibri" pitchFamily="34" charset="-120"/>
              </a:rPr>
              <a:t>How might JSL detect, classify and score every surface defect at line speed, early enough to act, and tell the right process owner what caused it?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143A5A"/>
          </a:solidFill>
          <a:ln w="12700">
            <a:solidFill>
              <a:srgbClr val="143A5A"/>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NAME]</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On stainless the surface is the product, so grade, finish and root cause decide which defect matters</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Classify, don't just alarm: a typed defect becomes a work order for a named owner. The pilot belongs on a 300-series cold-rolled line.</a:t>
            </a:r>
            <a:endParaRPr lang="en-US" sz="1200" dirty="0"/>
          </a:p>
        </p:txBody>
      </p:sp>
      <p:sp>
        <p:nvSpPr>
          <p:cNvPr id="16" name="Text 14"/>
          <p:cNvSpPr txBox="1"/>
          <p:nvPr/>
        </p:nvSpPr>
        <p:spPr>
          <a:xfrm>
            <a:off x="457200" y="5989320"/>
            <a:ext cx="11274552" cy="219456"/>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Sources: ASSDA, 2B/2D/BA finishes; JSL Q1 FY27 earnings call and results (Aug 2026); JSL cold-rolling expansion to 2.67 MTPA; Steel in Translation 2023 (rolled-in scale); Leão et al. 2021 (tundish slivers). Matrix: team hypothesis.</a:t>
            </a:r>
            <a:endParaRPr lang="en-US" sz="900" dirty="0"/>
          </a:p>
        </p:txBody>
      </p:sp>
      <p:sp>
        <p:nvSpPr>
          <p:cNvPr id="17" name="Shape 15"/>
          <p:cNvSpPr/>
          <p:nvPr/>
        </p:nvSpPr>
        <p:spPr>
          <a:xfrm>
            <a:off x="457200" y="1234440"/>
            <a:ext cx="3566160"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33832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Three facts that change the brief</a:t>
            </a:r>
            <a:endParaRPr lang="en-US" sz="1100" dirty="0"/>
          </a:p>
        </p:txBody>
      </p:sp>
      <p:sp>
        <p:nvSpPr>
          <p:cNvPr id="19" name="Shape 17"/>
          <p:cNvSpPr/>
          <p:nvPr/>
        </p:nvSpPr>
        <p:spPr>
          <a:xfrm>
            <a:off x="502920" y="1627632"/>
            <a:ext cx="256032" cy="256032"/>
          </a:xfrm>
          <a:prstGeom prst="ellipse">
            <a:avLst/>
          </a:prstGeom>
          <a:solidFill>
            <a:srgbClr val="0086C3"/>
          </a:solidFill>
          <a:ln w="12700">
            <a:solidFill>
              <a:srgbClr val="0086C3"/>
            </a:solidFill>
            <a:prstDash val="solid"/>
          </a:ln>
        </p:spPr>
      </p:sp>
      <p:sp>
        <p:nvSpPr>
          <p:cNvPr id="20" name="Text 18"/>
          <p:cNvSpPr txBox="1"/>
          <p:nvPr/>
        </p:nvSpPr>
        <p:spPr>
          <a:xfrm>
            <a:off x="502920" y="16276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1" name="Text 19"/>
          <p:cNvSpPr txBox="1"/>
          <p:nvPr/>
        </p:nvSpPr>
        <p:spPr>
          <a:xfrm>
            <a:off x="868680" y="1600200"/>
            <a:ext cx="3154680" cy="256032"/>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The finish cannot be repaired</a:t>
            </a:r>
            <a:endParaRPr lang="en-US" sz="1100" dirty="0"/>
          </a:p>
        </p:txBody>
      </p:sp>
      <p:sp>
        <p:nvSpPr>
          <p:cNvPr id="22" name="Text 20"/>
          <p:cNvSpPr txBox="1"/>
          <p:nvPr/>
        </p:nvSpPr>
        <p:spPr>
          <a:xfrm>
            <a:off x="868680" y="1847088"/>
            <a:ext cx="3154680" cy="45720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For mill finishes like 2B and BA, "surface damage such as scratches, grinding marks or spatter cannot be matched by polishing" (ASSDA).</a:t>
            </a:r>
            <a:endParaRPr lang="en-US" sz="950" dirty="0"/>
          </a:p>
        </p:txBody>
      </p:sp>
      <p:sp>
        <p:nvSpPr>
          <p:cNvPr id="23" name="Shape 21"/>
          <p:cNvSpPr/>
          <p:nvPr/>
        </p:nvSpPr>
        <p:spPr>
          <a:xfrm>
            <a:off x="502920" y="2340864"/>
            <a:ext cx="256032" cy="256032"/>
          </a:xfrm>
          <a:prstGeom prst="ellipse">
            <a:avLst/>
          </a:prstGeom>
          <a:solidFill>
            <a:srgbClr val="0086C3"/>
          </a:solidFill>
          <a:ln w="12700">
            <a:solidFill>
              <a:srgbClr val="0086C3"/>
            </a:solidFill>
            <a:prstDash val="solid"/>
          </a:ln>
        </p:spPr>
      </p:sp>
      <p:sp>
        <p:nvSpPr>
          <p:cNvPr id="24" name="Text 22"/>
          <p:cNvSpPr txBox="1"/>
          <p:nvPr/>
        </p:nvSpPr>
        <p:spPr>
          <a:xfrm>
            <a:off x="502920" y="234086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5" name="Text 23"/>
          <p:cNvSpPr txBox="1"/>
          <p:nvPr/>
        </p:nvSpPr>
        <p:spPr>
          <a:xfrm>
            <a:off x="868680" y="2313432"/>
            <a:ext cx="3154680" cy="256032"/>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JSL is moving toward surface-critical tonnes</a:t>
            </a:r>
            <a:endParaRPr lang="en-US" sz="1100" dirty="0"/>
          </a:p>
        </p:txBody>
      </p:sp>
      <p:sp>
        <p:nvSpPr>
          <p:cNvPr id="26" name="Text 24"/>
          <p:cNvSpPr txBox="1"/>
          <p:nvPr/>
        </p:nvSpPr>
        <p:spPr>
          <a:xfrm>
            <a:off x="868680" y="2560320"/>
            <a:ext cx="3154680" cy="45720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Cold rolling grows 2.05 to 2.67 MTPA by FY28. The 300-series mix held margins in Q1 FY27. Exports are 11% (Japan, Korea, Brazil).</a:t>
            </a:r>
            <a:endParaRPr lang="en-US" sz="950" dirty="0"/>
          </a:p>
        </p:txBody>
      </p:sp>
      <p:sp>
        <p:nvSpPr>
          <p:cNvPr id="27" name="Shape 25"/>
          <p:cNvSpPr/>
          <p:nvPr/>
        </p:nvSpPr>
        <p:spPr>
          <a:xfrm>
            <a:off x="502920" y="3054096"/>
            <a:ext cx="256032" cy="256032"/>
          </a:xfrm>
          <a:prstGeom prst="ellipse">
            <a:avLst/>
          </a:prstGeom>
          <a:solidFill>
            <a:srgbClr val="0086C3"/>
          </a:solidFill>
          <a:ln w="12700">
            <a:solidFill>
              <a:srgbClr val="0086C3"/>
            </a:solidFill>
            <a:prstDash val="solid"/>
          </a:ln>
        </p:spPr>
      </p:sp>
      <p:sp>
        <p:nvSpPr>
          <p:cNvPr id="28" name="Text 26"/>
          <p:cNvSpPr txBox="1"/>
          <p:nvPr/>
        </p:nvSpPr>
        <p:spPr>
          <a:xfrm>
            <a:off x="502920" y="30540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9" name="Text 27"/>
          <p:cNvSpPr txBox="1"/>
          <p:nvPr/>
        </p:nvSpPr>
        <p:spPr>
          <a:xfrm>
            <a:off x="868680" y="3026664"/>
            <a:ext cx="3154680" cy="256032"/>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End markets see the surface</a:t>
            </a:r>
            <a:endParaRPr lang="en-US" sz="1100" dirty="0"/>
          </a:p>
        </p:txBody>
      </p:sp>
      <p:sp>
        <p:nvSpPr>
          <p:cNvPr id="30" name="Text 28"/>
          <p:cNvSpPr txBox="1"/>
          <p:nvPr/>
        </p:nvSpPr>
        <p:spPr>
          <a:xfrm>
            <a:off x="868680" y="3273552"/>
            <a:ext cx="3154680" cy="45720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Automotive, railways, metros and white goods drive demand (Q1 FY27 call). BA goes into appliance interiors.</a:t>
            </a:r>
            <a:endParaRPr lang="en-US" sz="950" dirty="0"/>
          </a:p>
        </p:txBody>
      </p:sp>
      <p:sp>
        <p:nvSpPr>
          <p:cNvPr id="31" name="Shape 29"/>
          <p:cNvSpPr/>
          <p:nvPr/>
        </p:nvSpPr>
        <p:spPr>
          <a:xfrm>
            <a:off x="4251960" y="1234440"/>
            <a:ext cx="7479792" cy="274320"/>
          </a:xfrm>
          <a:prstGeom prst="rect">
            <a:avLst/>
          </a:prstGeom>
          <a:solidFill>
            <a:srgbClr val="2B5B80"/>
          </a:solidFill>
          <a:ln w="12700">
            <a:solidFill>
              <a:srgbClr val="2B5B80"/>
            </a:solidFill>
            <a:prstDash val="solid"/>
          </a:ln>
        </p:spPr>
      </p:sp>
      <p:sp>
        <p:nvSpPr>
          <p:cNvPr id="32" name="Text 30"/>
          <p:cNvSpPr txBox="1"/>
          <p:nvPr/>
        </p:nvSpPr>
        <p:spPr>
          <a:xfrm>
            <a:off x="4343400" y="1234440"/>
            <a:ext cx="729691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Framework: grade-by-defect risk matrix (which defects to train for first)</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251960" y="1554480"/>
          <a:ext cx="7479792" cy="914400"/>
        </p:xfrm>
        <a:graphic>
          <a:graphicData uri="http://schemas.openxmlformats.org/drawingml/2006/table">
            <a:tbl>
              <a:tblPr/>
              <a:tblGrid>
                <a:gridCol w="1554480"/>
                <a:gridCol w="914400"/>
                <a:gridCol w="914400"/>
                <a:gridCol w="987552"/>
                <a:gridCol w="868680"/>
                <a:gridCol w="868680"/>
                <a:gridCol w="1371600"/>
              </a:tblGrid>
              <a:tr h="24688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Grade family</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Slivers, inclusions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Scale, pickling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Scratches, roll marks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Edge cracks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Ridging, roping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Typical exposed use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24688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200 series (Cr-Mn)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Kitchenware, tubes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4688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300 series (304, 316)</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Appliances, auto, rail</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4688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400 series (409, 430)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Exhaust, white goods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4688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Duplex (2205)</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Process, infrastructure</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34" name="Text 31"/>
          <p:cNvSpPr txBox="1"/>
          <p:nvPr/>
        </p:nvSpPr>
        <p:spPr>
          <a:xfrm>
            <a:off x="4251960" y="2862072"/>
            <a:ext cx="7479792" cy="54864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H / M / L = relative surface risk. Team hypothesis from metallurgy literature (e.g. TiN-cluster slivers in Ti-stabilised grades, ridging in ferritic 430, poor hot ductility in duplex); to be re-scored in P0 against JSL's defect records. Output: 300 series carries the highest risk on exposed finishes and the most nickel per tonne, so it is the pilot grade.</a:t>
            </a:r>
            <a:endParaRPr lang="en-US" sz="950" dirty="0"/>
          </a:p>
        </p:txBody>
      </p:sp>
      <p:sp>
        <p:nvSpPr>
          <p:cNvPr id="35" name="Shape 32"/>
          <p:cNvSpPr/>
          <p:nvPr/>
        </p:nvSpPr>
        <p:spPr>
          <a:xfrm>
            <a:off x="457200" y="3794760"/>
            <a:ext cx="11274552" cy="274320"/>
          </a:xfrm>
          <a:prstGeom prst="rect">
            <a:avLst/>
          </a:prstGeom>
          <a:solidFill>
            <a:srgbClr val="2B5B80"/>
          </a:solidFill>
          <a:ln w="12700">
            <a:solidFill>
              <a:srgbClr val="2B5B80"/>
            </a:solidFill>
            <a:prstDash val="solid"/>
          </a:ln>
        </p:spPr>
      </p:sp>
      <p:sp>
        <p:nvSpPr>
          <p:cNvPr id="36" name="Text 33"/>
          <p:cNvSpPr txBox="1"/>
          <p:nvPr/>
        </p:nvSpPr>
        <p:spPr>
          <a:xfrm>
            <a:off x="548640" y="379476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Framework: root-cause routing (condensed fishbone). Each class the model outputs maps to a process owner</a:t>
            </a:r>
            <a:endParaRPr lang="en-US" sz="11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457200" y="4087368"/>
          <a:ext cx="11274552" cy="914400"/>
        </p:xfrm>
        <a:graphic>
          <a:graphicData uri="http://schemas.openxmlformats.org/drawingml/2006/table">
            <a:tbl>
              <a:tblPr/>
              <a:tblGrid>
                <a:gridCol w="1737360"/>
                <a:gridCol w="1188720"/>
                <a:gridCol w="4114800"/>
                <a:gridCol w="1280160"/>
                <a:gridCol w="2953512"/>
              </a:tblGrid>
              <a:tr h="219456">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Defect family</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Born at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Likely cause (evidence)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Owner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First corrective action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283464">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Inclusion, sliver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Caster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Low tundish level, mould-flux entrainment, reoxidation (Leão 2021)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SMS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Hold tundish level, review flux; tag the heat ID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83464">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Rolled-in scale, pits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Reheat, HSM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Descaler pressure below spec, blocked nozzles (Steel in Translation 2023)</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HSM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Keep descaler above ~180 bar, clear nozzles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83464">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Patches, pickling marks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HRAP / CRAP</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Uneven scale removal; acid concentration, temperature, line speed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Pickling line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Check acid concentration and speed across width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83464">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Scratches, roll marks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CRM, handling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Guides, roller tables, roll surface condition, coil handling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CRM / logistics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Inspect guides, trigger roll change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83464">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Edge cracks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HSM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Edge cooling, low hot ductility (duplex, ferritic)</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HSM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Edge heating and trim practice; needs edge cameras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143A5A"/>
          </a:solidFill>
          <a:ln w="12700">
            <a:solidFill>
              <a:srgbClr val="143A5A"/>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NAME]</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Our Round 1 build produced four findings, and each one changed the design</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model is the cheap part. JSL's own strip, the resolution spec, and trustworthy confidence decide whether the system works.</a:t>
            </a:r>
            <a:endParaRPr lang="en-US" sz="1200" dirty="0"/>
          </a:p>
        </p:txBody>
      </p:sp>
      <p:sp>
        <p:nvSpPr>
          <p:cNvPr id="16" name="Text 14"/>
          <p:cNvSpPr txBox="1"/>
          <p:nvPr/>
        </p:nvSpPr>
        <p:spPr>
          <a:xfrm>
            <a:off x="457200" y="5989320"/>
            <a:ext cx="11274552" cy="219456"/>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All numbers are measured and reproducible from reports/*.json in our repository: NEU-DET held-out test (180 images), Severstal (505 clean + 191 defective held-out frames), benchmark.json, calibration.json, ood_guard.json.</a:t>
            </a:r>
            <a:endParaRPr lang="en-US" sz="900" dirty="0"/>
          </a:p>
        </p:txBody>
      </p:sp>
      <p:sp>
        <p:nvSpPr>
          <p:cNvPr id="17" name="Shape 15"/>
          <p:cNvSpPr/>
          <p:nvPr/>
        </p:nvSpPr>
        <p:spPr>
          <a:xfrm>
            <a:off x="457200" y="1234440"/>
            <a:ext cx="5541264"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1  A model that has never seen clean steel raises false alarms on it</a:t>
            </a:r>
            <a:endParaRPr lang="en-US" sz="1100" dirty="0"/>
          </a:p>
        </p:txBody>
      </p:sp>
      <p:sp>
        <p:nvSpPr>
          <p:cNvPr id="19" name="Shape 17"/>
          <p:cNvSpPr/>
          <p:nvPr/>
        </p:nvSpPr>
        <p:spPr>
          <a:xfrm>
            <a:off x="457200" y="1508760"/>
            <a:ext cx="5541264" cy="2011680"/>
          </a:xfrm>
          <a:prstGeom prst="roundRect">
            <a:avLst>
              <a:gd name="adj" fmla="val 2727"/>
            </a:avLst>
          </a:prstGeom>
          <a:solidFill>
            <a:srgbClr val="F1F4F7"/>
          </a:solidFill>
          <a:ln w="12700">
            <a:solidFill>
              <a:srgbClr val="F1F4F7"/>
            </a:solidFill>
            <a:prstDash val="solid"/>
          </a:ln>
        </p:spPr>
      </p:sp>
      <p:graphicFrame>
        <p:nvGraphicFramePr>
          <p:cNvPr id="20" name="Chart 0" descr=""/>
          <p:cNvGraphicFramePr/>
          <p:nvPr/>
        </p:nvGraphicFramePr>
        <p:xfrm>
          <a:off x="548640" y="1554480"/>
          <a:ext cx="3383280" cy="160020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txBox="1"/>
          <p:nvPr/>
        </p:nvSpPr>
        <p:spPr>
          <a:xfrm>
            <a:off x="4023360" y="1572768"/>
            <a:ext cx="1920240" cy="1645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On 505 certified-clean Severstal frames the shipped model flagged 93.7%. Training on real clean and defective strip together cut that to 32.5% and raised in-domain mAP50 from 0.752 to 0.764. Training on clean frames alone does not work: recall collapses to 0.057.</a:t>
            </a:r>
            <a:endParaRPr lang="en-US" sz="950" dirty="0"/>
          </a:p>
        </p:txBody>
      </p:sp>
      <p:sp>
        <p:nvSpPr>
          <p:cNvPr id="22" name="Text 19"/>
          <p:cNvSpPr txBox="1"/>
          <p:nvPr/>
        </p:nvSpPr>
        <p:spPr>
          <a:xfrm>
            <a:off x="566928" y="3136392"/>
            <a:ext cx="5321808" cy="347472"/>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train on JSL's own clean and defective strip before any alarm is trusted (P1 gate).</a:t>
            </a:r>
            <a:endParaRPr lang="en-US" sz="1000" dirty="0"/>
          </a:p>
        </p:txBody>
      </p:sp>
      <p:sp>
        <p:nvSpPr>
          <p:cNvPr id="23" name="Shape 20"/>
          <p:cNvSpPr/>
          <p:nvPr/>
        </p:nvSpPr>
        <p:spPr>
          <a:xfrm>
            <a:off x="6190488" y="1234440"/>
            <a:ext cx="5541264" cy="274320"/>
          </a:xfrm>
          <a:prstGeom prst="rect">
            <a:avLst/>
          </a:prstGeom>
          <a:solidFill>
            <a:srgbClr val="2B5B80"/>
          </a:solidFill>
          <a:ln w="12700">
            <a:solidFill>
              <a:srgbClr val="2B5B80"/>
            </a:solidFill>
            <a:prstDash val="solid"/>
          </a:ln>
        </p:spPr>
      </p:sp>
      <p:sp>
        <p:nvSpPr>
          <p:cNvPr id="24" name="Text 21"/>
          <p:cNvSpPr txBox="1"/>
          <p:nvPr/>
        </p:nvSpPr>
        <p:spPr>
          <a:xfrm>
            <a:off x="6281928"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2  Bigger models and higher resolution did not help</a:t>
            </a:r>
            <a:endParaRPr lang="en-US" sz="1100" dirty="0"/>
          </a:p>
        </p:txBody>
      </p:sp>
      <p:sp>
        <p:nvSpPr>
          <p:cNvPr id="25" name="Shape 22"/>
          <p:cNvSpPr/>
          <p:nvPr/>
        </p:nvSpPr>
        <p:spPr>
          <a:xfrm>
            <a:off x="6190488" y="1508760"/>
            <a:ext cx="5541264" cy="2011680"/>
          </a:xfrm>
          <a:prstGeom prst="roundRect">
            <a:avLst>
              <a:gd name="adj" fmla="val 2727"/>
            </a:avLst>
          </a:prstGeom>
          <a:solidFill>
            <a:srgbClr val="F1F4F7"/>
          </a:solidFill>
          <a:ln w="12700">
            <a:solidFill>
              <a:srgbClr val="F1F4F7"/>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281928" y="1572768"/>
          <a:ext cx="5358384" cy="914400"/>
        </p:xfrm>
        <a:graphic>
          <a:graphicData uri="http://schemas.openxmlformats.org/drawingml/2006/table">
            <a:tbl>
              <a:tblPr/>
              <a:tblGrid>
                <a:gridCol w="2286000"/>
                <a:gridCol w="822960"/>
                <a:gridCol w="1243584"/>
                <a:gridCol w="1005840"/>
              </a:tblGrid>
              <a:tr h="22402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Option tested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mAP50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Cost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Verdict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224028">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YOLOv8n, 256 px</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0.752</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3.0 M params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b="1" dirty="0">
                          <a:solidFill>
                            <a:srgbClr val="2E7D32"/>
                          </a:solidFill>
                          <a:latin typeface="Calibri" pitchFamily="34" charset="0"/>
                          <a:ea typeface="Calibri" pitchFamily="34" charset="-122"/>
                          <a:cs typeface="Calibri" pitchFamily="34" charset="-120"/>
                        </a:rPr>
                        <a:t>Chosen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24028">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YOLOv8n + clean strip (joint)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0.764</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same size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b="1" dirty="0">
                          <a:solidFill>
                            <a:srgbClr val="2E7D32"/>
                          </a:solidFill>
                          <a:latin typeface="Calibri" pitchFamily="34" charset="0"/>
                          <a:ea typeface="Calibri" pitchFamily="34" charset="-122"/>
                          <a:cs typeface="Calibri" pitchFamily="34" charset="-120"/>
                        </a:rPr>
                        <a:t>Ready</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24028">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YOLOv8s (3.7x params)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0.734</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3.5x FLOPs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b="1" dirty="0">
                          <a:solidFill>
                            <a:srgbClr val="B77900"/>
                          </a:solidFill>
                          <a:latin typeface="Calibri" pitchFamily="34" charset="0"/>
                          <a:ea typeface="Calibri" pitchFamily="34" charset="-122"/>
                          <a:cs typeface="Calibri" pitchFamily="34" charset="-120"/>
                        </a:rPr>
                        <a:t>No gain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24028">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YOLOv8n retrained, 640 px</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0.734</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4x pixels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b="1" dirty="0">
                          <a:solidFill>
                            <a:srgbClr val="B77900"/>
                          </a:solidFill>
                          <a:latin typeface="Calibri" pitchFamily="34" charset="0"/>
                          <a:ea typeface="Calibri" pitchFamily="34" charset="-122"/>
                          <a:cs typeface="Calibri" pitchFamily="34" charset="-120"/>
                        </a:rPr>
                        <a:t>No gain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24028">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Test-time augmentation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-0.006</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2.39x latency</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b="1" dirty="0">
                          <a:solidFill>
                            <a:srgbClr val="C62828"/>
                          </a:solidFill>
                          <a:latin typeface="Calibri" pitchFamily="34" charset="0"/>
                          <a:ea typeface="Calibri" pitchFamily="34" charset="-122"/>
                          <a:cs typeface="Calibri" pitchFamily="34" charset="-120"/>
                        </a:rPr>
                        <a:t>Rejected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27" name="Text 23"/>
          <p:cNvSpPr txBox="1"/>
          <p:nvPr/>
        </p:nvSpPr>
        <p:spPr>
          <a:xfrm>
            <a:off x="6281928" y="2944368"/>
            <a:ext cx="5358384"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Held-out split scored once. Nano vs small 95% CI [-0.008, +0.042] spans zero.</a:t>
            </a:r>
            <a:endParaRPr lang="en-US" sz="900" dirty="0"/>
          </a:p>
        </p:txBody>
      </p:sp>
      <p:sp>
        <p:nvSpPr>
          <p:cNvPr id="28" name="Text 24"/>
          <p:cNvSpPr txBox="1"/>
          <p:nvPr/>
        </p:nvSpPr>
        <p:spPr>
          <a:xfrm>
            <a:off x="6300216" y="3136392"/>
            <a:ext cx="5321808" cy="347472"/>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ship a 6.22 MB nano model and spend the budget on coverage, not model size.</a:t>
            </a:r>
            <a:endParaRPr lang="en-US" sz="1000" dirty="0"/>
          </a:p>
        </p:txBody>
      </p:sp>
      <p:sp>
        <p:nvSpPr>
          <p:cNvPr id="29" name="Shape 25"/>
          <p:cNvSpPr/>
          <p:nvPr/>
        </p:nvSpPr>
        <p:spPr>
          <a:xfrm>
            <a:off x="457200" y="3630168"/>
            <a:ext cx="5541264" cy="274320"/>
          </a:xfrm>
          <a:prstGeom prst="rect">
            <a:avLst/>
          </a:prstGeom>
          <a:solidFill>
            <a:srgbClr val="2B5B80"/>
          </a:solidFill>
          <a:ln w="12700">
            <a:solidFill>
              <a:srgbClr val="2B5B80"/>
            </a:solidFill>
            <a:prstDash val="solid"/>
          </a:ln>
        </p:spPr>
      </p:sp>
      <p:sp>
        <p:nvSpPr>
          <p:cNvPr id="30" name="Text 26"/>
          <p:cNvSpPr txBox="1"/>
          <p:nvPr/>
        </p:nvSpPr>
        <p:spPr>
          <a:xfrm>
            <a:off x="548640" y="3630168"/>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3  Throughput, not the model, sets the hardware bill</a:t>
            </a:r>
            <a:endParaRPr lang="en-US" sz="1100" dirty="0"/>
          </a:p>
        </p:txBody>
      </p:sp>
      <p:sp>
        <p:nvSpPr>
          <p:cNvPr id="31" name="Shape 27"/>
          <p:cNvSpPr/>
          <p:nvPr/>
        </p:nvSpPr>
        <p:spPr>
          <a:xfrm>
            <a:off x="457200" y="3904488"/>
            <a:ext cx="5541264" cy="2011680"/>
          </a:xfrm>
          <a:prstGeom prst="roundRect">
            <a:avLst>
              <a:gd name="adj" fmla="val 2727"/>
            </a:avLst>
          </a:prstGeom>
          <a:solidFill>
            <a:srgbClr val="F1F4F7"/>
          </a:solidFill>
          <a:ln w="12700">
            <a:solidFill>
              <a:srgbClr val="F1F4F7"/>
            </a:solidFill>
            <a:prstDash val="solid"/>
          </a:ln>
        </p:spPr>
      </p:sp>
      <p:sp>
        <p:nvSpPr>
          <p:cNvPr id="32" name="Text 28"/>
          <p:cNvSpPr txBox="1"/>
          <p:nvPr/>
        </p:nvSpPr>
        <p:spPr>
          <a:xfrm>
            <a:off x="594360" y="3977640"/>
            <a:ext cx="2468880" cy="548640"/>
          </a:xfrm>
          <a:prstGeom prst="rect">
            <a:avLst/>
          </a:prstGeom>
          <a:noFill/>
          <a:ln/>
        </p:spPr>
        <p:txBody>
          <a:bodyPr wrap="square" lIns="0" tIns="0" rIns="0" bIns="0" rtlCol="0" anchor="t"/>
          <a:lstStyle/>
          <a:p>
            <a:pPr indent="0" marL="0">
              <a:buNone/>
            </a:pPr>
            <a:r>
              <a:rPr lang="en-US" sz="3600" b="1" dirty="0">
                <a:solidFill>
                  <a:srgbClr val="143A5A"/>
                </a:solidFill>
                <a:latin typeface="Calibri" pitchFamily="34" charset="0"/>
                <a:ea typeface="Calibri" pitchFamily="34" charset="-122"/>
                <a:cs typeface="Calibri" pitchFamily="34" charset="-120"/>
              </a:rPr>
              <a:t>3,064</a:t>
            </a:r>
            <a:endParaRPr lang="en-US" sz="3600" dirty="0"/>
          </a:p>
        </p:txBody>
      </p:sp>
      <p:sp>
        <p:nvSpPr>
          <p:cNvPr id="33" name="Text 29"/>
          <p:cNvSpPr txBox="1"/>
          <p:nvPr/>
        </p:nvSpPr>
        <p:spPr>
          <a:xfrm>
            <a:off x="594360" y="4526280"/>
            <a:ext cx="2514600" cy="86868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inferences per second to see every 0.2 mm pixel of a 1.28 m strip at 250 m/min: about 18 accelerators of the class we measured (range 16-19)</a:t>
            </a:r>
            <a:endParaRPr lang="en-US" sz="950" dirty="0"/>
          </a:p>
        </p:txBody>
      </p:sp>
      <p:sp>
        <p:nvSpPr>
          <p:cNvPr id="34" name="Text 30"/>
          <p:cNvSpPr txBox="1"/>
          <p:nvPr/>
        </p:nvSpPr>
        <p:spPr>
          <a:xfrm>
            <a:off x="3291840" y="3977640"/>
            <a:ext cx="2468880" cy="548640"/>
          </a:xfrm>
          <a:prstGeom prst="rect">
            <a:avLst/>
          </a:prstGeom>
          <a:noFill/>
          <a:ln/>
        </p:spPr>
        <p:txBody>
          <a:bodyPr wrap="square" lIns="0" tIns="0" rIns="0" bIns="0" rtlCol="0" anchor="t"/>
          <a:lstStyle/>
          <a:p>
            <a:pPr indent="0" marL="0">
              <a:buNone/>
            </a:pPr>
            <a:r>
              <a:rPr lang="en-US" sz="3600" b="1" dirty="0">
                <a:solidFill>
                  <a:srgbClr val="5F6B78"/>
                </a:solidFill>
                <a:latin typeface="Calibri" pitchFamily="34" charset="0"/>
                <a:ea typeface="Calibri" pitchFamily="34" charset="-122"/>
                <a:cs typeface="Calibri" pitchFamily="34" charset="-120"/>
              </a:rPr>
              <a:t>48</a:t>
            </a:r>
            <a:endParaRPr lang="en-US" sz="3600" dirty="0"/>
          </a:p>
        </p:txBody>
      </p:sp>
      <p:sp>
        <p:nvSpPr>
          <p:cNvPr id="35" name="Text 31"/>
          <p:cNvSpPr txBox="1"/>
          <p:nvPr/>
        </p:nvSpPr>
        <p:spPr>
          <a:xfrm>
            <a:off x="3291840" y="4526280"/>
            <a:ext cx="2743200" cy="86868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per second if each camera frame is downscaled to 1.28 mm per pixel: one accelerator, but fine scratches and crazing fall below one pixel</a:t>
            </a:r>
            <a:endParaRPr lang="en-US" sz="950" dirty="0"/>
          </a:p>
        </p:txBody>
      </p:sp>
      <p:sp>
        <p:nvSpPr>
          <p:cNvPr id="36" name="Text 32"/>
          <p:cNvSpPr txBox="1"/>
          <p:nvPr/>
        </p:nvSpPr>
        <p:spPr>
          <a:xfrm>
            <a:off x="566928" y="5532120"/>
            <a:ext cx="5321808" cy="347472"/>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treat resolution as a P0 specification decision with JSL, and size the edge GPUs from it.</a:t>
            </a:r>
            <a:endParaRPr lang="en-US" sz="1000" dirty="0"/>
          </a:p>
        </p:txBody>
      </p:sp>
      <p:sp>
        <p:nvSpPr>
          <p:cNvPr id="37" name="Shape 33"/>
          <p:cNvSpPr/>
          <p:nvPr/>
        </p:nvSpPr>
        <p:spPr>
          <a:xfrm>
            <a:off x="6190488" y="3630168"/>
            <a:ext cx="5541264" cy="274320"/>
          </a:xfrm>
          <a:prstGeom prst="rect">
            <a:avLst/>
          </a:prstGeom>
          <a:solidFill>
            <a:srgbClr val="2B5B80"/>
          </a:solidFill>
          <a:ln w="12700">
            <a:solidFill>
              <a:srgbClr val="2B5B80"/>
            </a:solidFill>
            <a:prstDash val="solid"/>
          </a:ln>
        </p:spPr>
      </p:sp>
      <p:sp>
        <p:nvSpPr>
          <p:cNvPr id="38" name="Text 34"/>
          <p:cNvSpPr txBox="1"/>
          <p:nvPr/>
        </p:nvSpPr>
        <p:spPr>
          <a:xfrm>
            <a:off x="6281928" y="3630168"/>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4  Operators only act on alarms they can trust</a:t>
            </a:r>
            <a:endParaRPr lang="en-US" sz="1100" dirty="0"/>
          </a:p>
        </p:txBody>
      </p:sp>
      <p:sp>
        <p:nvSpPr>
          <p:cNvPr id="39" name="Shape 35"/>
          <p:cNvSpPr/>
          <p:nvPr/>
        </p:nvSpPr>
        <p:spPr>
          <a:xfrm>
            <a:off x="6190488" y="3904488"/>
            <a:ext cx="5541264" cy="2011680"/>
          </a:xfrm>
          <a:prstGeom prst="roundRect">
            <a:avLst>
              <a:gd name="adj" fmla="val 2727"/>
            </a:avLst>
          </a:prstGeom>
          <a:solidFill>
            <a:srgbClr val="F1F4F7"/>
          </a:solidFill>
          <a:ln w="12700">
            <a:solidFill>
              <a:srgbClr val="F1F4F7"/>
            </a:solidFill>
            <a:prstDash val="solid"/>
          </a:ln>
        </p:spPr>
      </p:sp>
      <p:sp>
        <p:nvSpPr>
          <p:cNvPr id="40" name="Text 36"/>
          <p:cNvSpPr txBox="1"/>
          <p:nvPr/>
        </p:nvSpPr>
        <p:spPr>
          <a:xfrm>
            <a:off x="6327648" y="3977640"/>
            <a:ext cx="2011680" cy="548640"/>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0.142 to 0.046</a:t>
            </a:r>
            <a:endParaRPr lang="en-US" sz="2000" dirty="0"/>
          </a:p>
        </p:txBody>
      </p:sp>
      <p:sp>
        <p:nvSpPr>
          <p:cNvPr id="41" name="Text 37"/>
          <p:cNvSpPr txBox="1"/>
          <p:nvPr/>
        </p:nvSpPr>
        <p:spPr>
          <a:xfrm>
            <a:off x="8366760" y="3977640"/>
            <a:ext cx="3246120" cy="658368"/>
          </a:xfrm>
          <a:prstGeom prst="rect">
            <a:avLst/>
          </a:prstGeom>
          <a:noFill/>
          <a:ln/>
        </p:spPr>
        <p:txBody>
          <a:bodyPr wrap="square" lIns="0" tIns="0" rIns="0" bIns="0" rtlCol="0" anchor="ctr"/>
          <a:lstStyle/>
          <a:p>
            <a:pPr indent="0" marL="0">
              <a:buNone/>
            </a:pPr>
            <a:r>
              <a:rPr lang="en-US" sz="950" dirty="0">
                <a:solidFill>
                  <a:srgbClr val="334150"/>
                </a:solidFill>
                <a:latin typeface="Calibri" pitchFamily="34" charset="0"/>
                <a:ea typeface="Calibri" pitchFamily="34" charset="-122"/>
                <a:cs typeface="Calibri" pitchFamily="34" charset="-120"/>
              </a:rPr>
              <a:t>calibration error (ECE) after isotonic calibration, down 68%. Before it, a box marked "0.60" was right 84% of the time</a:t>
            </a:r>
            <a:endParaRPr lang="en-US" sz="950" dirty="0"/>
          </a:p>
        </p:txBody>
      </p:sp>
      <p:sp>
        <p:nvSpPr>
          <p:cNvPr id="42" name="Text 38"/>
          <p:cNvSpPr txBox="1"/>
          <p:nvPr/>
        </p:nvSpPr>
        <p:spPr>
          <a:xfrm>
            <a:off x="6327648" y="4690872"/>
            <a:ext cx="2011680" cy="548640"/>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0 of 3,200</a:t>
            </a:r>
            <a:endParaRPr lang="en-US" sz="2000" dirty="0"/>
          </a:p>
        </p:txBody>
      </p:sp>
      <p:sp>
        <p:nvSpPr>
          <p:cNvPr id="43" name="Text 39"/>
          <p:cNvSpPr txBox="1"/>
          <p:nvPr/>
        </p:nvSpPr>
        <p:spPr>
          <a:xfrm>
            <a:off x="8366760" y="4690872"/>
            <a:ext cx="3246120" cy="658368"/>
          </a:xfrm>
          <a:prstGeom prst="rect">
            <a:avLst/>
          </a:prstGeom>
          <a:noFill/>
          <a:ln/>
        </p:spPr>
        <p:txBody>
          <a:bodyPr wrap="square" lIns="0" tIns="0" rIns="0" bIns="0" rtlCol="0" anchor="ctr"/>
          <a:lstStyle/>
          <a:p>
            <a:pPr indent="0" marL="0">
              <a:buNone/>
            </a:pPr>
            <a:r>
              <a:rPr lang="en-US" sz="950" dirty="0">
                <a:solidFill>
                  <a:srgbClr val="334150"/>
                </a:solidFill>
                <a:latin typeface="Calibri" pitchFamily="34" charset="0"/>
                <a:ea typeface="Calibri" pitchFamily="34" charset="-122"/>
                <a:cs typeface="Calibri" pitchFamily="34" charset="-120"/>
              </a:rPr>
              <a:t>real steel frames wrongly rejected by our out-of-distribution gate, which blocks non-steel images (the raw model scored a white square as a 0.74 "pit")</a:t>
            </a:r>
            <a:endParaRPr lang="en-US" sz="950" dirty="0"/>
          </a:p>
        </p:txBody>
      </p:sp>
      <p:sp>
        <p:nvSpPr>
          <p:cNvPr id="44" name="Text 40"/>
          <p:cNvSpPr txBox="1"/>
          <p:nvPr/>
        </p:nvSpPr>
        <p:spPr>
          <a:xfrm>
            <a:off x="6300216" y="5532120"/>
            <a:ext cx="5321808" cy="347472"/>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give every alarm a calibrated confidence and a "this is steel" check before it reaches the HMI.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143A5A"/>
          </a:solidFill>
          <a:ln w="12700">
            <a:solidFill>
              <a:srgbClr val="143A5A"/>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NAME]</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Detect at the tile, decide at the coil, route to the owner, and learn from every operator override</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Buy proven optics, own the model. JSL gets vendor-grade capture with a detector trained on its own grades and wired to its own process owners.</a:t>
            </a:r>
            <a:endParaRPr lang="en-US" sz="1200" dirty="0"/>
          </a:p>
        </p:txBody>
      </p:sp>
      <p:sp>
        <p:nvSpPr>
          <p:cNvPr id="16" name="Text 14"/>
          <p:cNvSpPr txBox="1"/>
          <p:nvPr/>
        </p:nvSpPr>
        <p:spPr>
          <a:xfrm>
            <a:off x="457200" y="5989320"/>
            <a:ext cx="11274552" cy="219456"/>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BUILT = running in our code today (548 tests; live at surface-vision.github.io). Self-supervised result: J. Mater. Inf. 2025 (SimSiam 0.768 vs ImageNet 0.773 mAP50 on steel). Commercial price range: industry, unverified.</a:t>
            </a:r>
            <a:endParaRPr lang="en-US" sz="900" dirty="0"/>
          </a:p>
        </p:txBody>
      </p:sp>
      <p:sp>
        <p:nvSpPr>
          <p:cNvPr id="17" name="Shape 15"/>
          <p:cNvSpPr/>
          <p:nvPr/>
        </p:nvSpPr>
        <p:spPr>
          <a:xfrm>
            <a:off x="457200" y="1234440"/>
            <a:ext cx="11274552"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Architecture: six stages from camera to corrective action</a:t>
            </a:r>
            <a:endParaRPr lang="en-US" sz="1100" dirty="0"/>
          </a:p>
        </p:txBody>
      </p:sp>
      <p:sp>
        <p:nvSpPr>
          <p:cNvPr id="19" name="Shape 17"/>
          <p:cNvSpPr/>
          <p:nvPr/>
        </p:nvSpPr>
        <p:spPr>
          <a:xfrm>
            <a:off x="457200" y="1600200"/>
            <a:ext cx="1783080" cy="1325880"/>
          </a:xfrm>
          <a:prstGeom prst="roundRect">
            <a:avLst>
              <a:gd name="adj" fmla="val 4138"/>
            </a:avLst>
          </a:prstGeom>
          <a:solidFill>
            <a:srgbClr val="F1F4F7"/>
          </a:solidFill>
          <a:ln w="12700">
            <a:solidFill>
              <a:srgbClr val="F1F4F7"/>
            </a:solidFill>
            <a:prstDash val="solid"/>
          </a:ln>
        </p:spPr>
      </p:sp>
      <p:sp>
        <p:nvSpPr>
          <p:cNvPr id="20" name="Text 18"/>
          <p:cNvSpPr txBox="1"/>
          <p:nvPr/>
        </p:nvSpPr>
        <p:spPr>
          <a:xfrm>
            <a:off x="548640" y="1645920"/>
            <a:ext cx="1600200" cy="274320"/>
          </a:xfrm>
          <a:prstGeom prst="rect">
            <a:avLst/>
          </a:prstGeom>
          <a:noFill/>
          <a:ln/>
        </p:spPr>
        <p:txBody>
          <a:bodyPr wrap="square" lIns="0" tIns="0" rIns="0" bIns="0" rtlCol="0" anchor="t"/>
          <a:lstStyle/>
          <a:p>
            <a:pPr indent="0" marL="0">
              <a:buNone/>
            </a:pPr>
            <a:r>
              <a:rPr lang="en-US" sz="1200" b="1" dirty="0">
                <a:solidFill>
                  <a:srgbClr val="143A5A"/>
                </a:solidFill>
                <a:latin typeface="Calibri" pitchFamily="34" charset="0"/>
                <a:ea typeface="Calibri" pitchFamily="34" charset="-122"/>
                <a:cs typeface="Calibri" pitchFamily="34" charset="-120"/>
              </a:rPr>
              <a:t>1 Capture</a:t>
            </a:r>
            <a:endParaRPr lang="en-US" sz="1200" dirty="0"/>
          </a:p>
        </p:txBody>
      </p:sp>
      <p:sp>
        <p:nvSpPr>
          <p:cNvPr id="21" name="Text 19"/>
          <p:cNvSpPr txBox="1"/>
          <p:nvPr/>
        </p:nvSpPr>
        <p:spPr>
          <a:xfrm>
            <a:off x="548640" y="1920240"/>
            <a:ext cx="1600200" cy="7315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Line-scan cameras on both faces, bright- and dark-field light, 0.2 mm/px, encoder-synced</a:t>
            </a:r>
            <a:endParaRPr lang="en-US" sz="950" dirty="0"/>
          </a:p>
        </p:txBody>
      </p:sp>
      <p:sp>
        <p:nvSpPr>
          <p:cNvPr id="22" name="Shape 20"/>
          <p:cNvSpPr/>
          <p:nvPr/>
        </p:nvSpPr>
        <p:spPr>
          <a:xfrm>
            <a:off x="548640" y="2670048"/>
            <a:ext cx="777240" cy="182880"/>
          </a:xfrm>
          <a:prstGeom prst="roundRect">
            <a:avLst>
              <a:gd name="adj" fmla="val 30000"/>
            </a:avLst>
          </a:prstGeom>
          <a:solidFill>
            <a:srgbClr val="5F6B78"/>
          </a:solidFill>
          <a:ln w="12700">
            <a:solidFill>
              <a:srgbClr val="5F6B78"/>
            </a:solidFill>
            <a:prstDash val="solid"/>
          </a:ln>
        </p:spPr>
      </p:sp>
      <p:sp>
        <p:nvSpPr>
          <p:cNvPr id="23" name="Text 21"/>
          <p:cNvSpPr txBox="1"/>
          <p:nvPr/>
        </p:nvSpPr>
        <p:spPr>
          <a:xfrm>
            <a:off x="548640" y="2670048"/>
            <a:ext cx="777240" cy="1828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 BUILD</a:t>
            </a:r>
            <a:endParaRPr lang="en-US" sz="900" dirty="0"/>
          </a:p>
        </p:txBody>
      </p:sp>
      <p:sp>
        <p:nvSpPr>
          <p:cNvPr id="24" name="Text 22"/>
          <p:cNvSpPr txBox="1"/>
          <p:nvPr/>
        </p:nvSpPr>
        <p:spPr>
          <a:xfrm>
            <a:off x="2240280" y="2057400"/>
            <a:ext cx="115214" cy="274320"/>
          </a:xfrm>
          <a:prstGeom prst="rect">
            <a:avLst/>
          </a:prstGeom>
          <a:noFill/>
          <a:ln/>
        </p:spPr>
        <p:txBody>
          <a:bodyPr wrap="square" lIns="0" tIns="0" rIns="0" bIns="0" rtlCol="0" anchor="t"/>
          <a:lstStyle/>
          <a:p>
            <a:pPr algn="ctr" indent="0" marL="0">
              <a:buNone/>
            </a:pPr>
            <a:r>
              <a:rPr lang="en-US" sz="1400" b="1" dirty="0">
                <a:solidFill>
                  <a:srgbClr val="0086C3"/>
                </a:solidFill>
                <a:latin typeface="Calibri" pitchFamily="34" charset="0"/>
                <a:ea typeface="Calibri" pitchFamily="34" charset="-122"/>
                <a:cs typeface="Calibri" pitchFamily="34" charset="-120"/>
              </a:rPr>
              <a:t>&gt;</a:t>
            </a:r>
            <a:endParaRPr lang="en-US" sz="1400" dirty="0"/>
          </a:p>
        </p:txBody>
      </p:sp>
      <p:sp>
        <p:nvSpPr>
          <p:cNvPr id="25" name="Shape 23"/>
          <p:cNvSpPr/>
          <p:nvPr/>
        </p:nvSpPr>
        <p:spPr>
          <a:xfrm>
            <a:off x="2355494" y="1600200"/>
            <a:ext cx="1783080" cy="1325880"/>
          </a:xfrm>
          <a:prstGeom prst="roundRect">
            <a:avLst>
              <a:gd name="adj" fmla="val 4138"/>
            </a:avLst>
          </a:prstGeom>
          <a:solidFill>
            <a:srgbClr val="F1F4F7"/>
          </a:solidFill>
          <a:ln w="12700">
            <a:solidFill>
              <a:srgbClr val="F1F4F7"/>
            </a:solidFill>
            <a:prstDash val="solid"/>
          </a:ln>
        </p:spPr>
      </p:sp>
      <p:sp>
        <p:nvSpPr>
          <p:cNvPr id="26" name="Text 24"/>
          <p:cNvSpPr txBox="1"/>
          <p:nvPr/>
        </p:nvSpPr>
        <p:spPr>
          <a:xfrm>
            <a:off x="2446934" y="1645920"/>
            <a:ext cx="1600200" cy="274320"/>
          </a:xfrm>
          <a:prstGeom prst="rect">
            <a:avLst/>
          </a:prstGeom>
          <a:noFill/>
          <a:ln/>
        </p:spPr>
        <p:txBody>
          <a:bodyPr wrap="square" lIns="0" tIns="0" rIns="0" bIns="0" rtlCol="0" anchor="t"/>
          <a:lstStyle/>
          <a:p>
            <a:pPr indent="0" marL="0">
              <a:buNone/>
            </a:pPr>
            <a:r>
              <a:rPr lang="en-US" sz="1200" b="1" dirty="0">
                <a:solidFill>
                  <a:srgbClr val="143A5A"/>
                </a:solidFill>
                <a:latin typeface="Calibri" pitchFamily="34" charset="0"/>
                <a:ea typeface="Calibri" pitchFamily="34" charset="-122"/>
                <a:cs typeface="Calibri" pitchFamily="34" charset="-120"/>
              </a:rPr>
              <a:t>2 Gate</a:t>
            </a:r>
            <a:endParaRPr lang="en-US" sz="1200" dirty="0"/>
          </a:p>
        </p:txBody>
      </p:sp>
      <p:sp>
        <p:nvSpPr>
          <p:cNvPr id="27" name="Text 25"/>
          <p:cNvSpPr txBox="1"/>
          <p:nvPr/>
        </p:nvSpPr>
        <p:spPr>
          <a:xfrm>
            <a:off x="2446934" y="1920240"/>
            <a:ext cx="1600200" cy="7315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Out-of-distribution and exposure check; rejects non-steel and blown frames</a:t>
            </a:r>
            <a:endParaRPr lang="en-US" sz="950" dirty="0"/>
          </a:p>
        </p:txBody>
      </p:sp>
      <p:sp>
        <p:nvSpPr>
          <p:cNvPr id="28" name="Shape 26"/>
          <p:cNvSpPr/>
          <p:nvPr/>
        </p:nvSpPr>
        <p:spPr>
          <a:xfrm>
            <a:off x="2446934" y="2670048"/>
            <a:ext cx="777240" cy="182880"/>
          </a:xfrm>
          <a:prstGeom prst="roundRect">
            <a:avLst>
              <a:gd name="adj" fmla="val 30000"/>
            </a:avLst>
          </a:prstGeom>
          <a:solidFill>
            <a:srgbClr val="2E7D32"/>
          </a:solidFill>
          <a:ln w="12700">
            <a:solidFill>
              <a:srgbClr val="2E7D32"/>
            </a:solidFill>
            <a:prstDash val="solid"/>
          </a:ln>
        </p:spPr>
      </p:sp>
      <p:sp>
        <p:nvSpPr>
          <p:cNvPr id="29" name="Text 27"/>
          <p:cNvSpPr txBox="1"/>
          <p:nvPr/>
        </p:nvSpPr>
        <p:spPr>
          <a:xfrm>
            <a:off x="2446934" y="2670048"/>
            <a:ext cx="777240" cy="1828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30" name="Text 28"/>
          <p:cNvSpPr txBox="1"/>
          <p:nvPr/>
        </p:nvSpPr>
        <p:spPr>
          <a:xfrm>
            <a:off x="4138574" y="2057400"/>
            <a:ext cx="115214" cy="274320"/>
          </a:xfrm>
          <a:prstGeom prst="rect">
            <a:avLst/>
          </a:prstGeom>
          <a:noFill/>
          <a:ln/>
        </p:spPr>
        <p:txBody>
          <a:bodyPr wrap="square" lIns="0" tIns="0" rIns="0" bIns="0" rtlCol="0" anchor="t"/>
          <a:lstStyle/>
          <a:p>
            <a:pPr algn="ctr" indent="0" marL="0">
              <a:buNone/>
            </a:pPr>
            <a:r>
              <a:rPr lang="en-US" sz="1400" b="1" dirty="0">
                <a:solidFill>
                  <a:srgbClr val="0086C3"/>
                </a:solidFill>
                <a:latin typeface="Calibri" pitchFamily="34" charset="0"/>
                <a:ea typeface="Calibri" pitchFamily="34" charset="-122"/>
                <a:cs typeface="Calibri" pitchFamily="34" charset="-120"/>
              </a:rPr>
              <a:t>&gt;</a:t>
            </a:r>
            <a:endParaRPr lang="en-US" sz="1400" dirty="0"/>
          </a:p>
        </p:txBody>
      </p:sp>
      <p:sp>
        <p:nvSpPr>
          <p:cNvPr id="31" name="Shape 29"/>
          <p:cNvSpPr/>
          <p:nvPr/>
        </p:nvSpPr>
        <p:spPr>
          <a:xfrm>
            <a:off x="4253789" y="1600200"/>
            <a:ext cx="1783080" cy="1325880"/>
          </a:xfrm>
          <a:prstGeom prst="roundRect">
            <a:avLst>
              <a:gd name="adj" fmla="val 4138"/>
            </a:avLst>
          </a:prstGeom>
          <a:solidFill>
            <a:srgbClr val="F1F4F7"/>
          </a:solidFill>
          <a:ln w="12700">
            <a:solidFill>
              <a:srgbClr val="F1F4F7"/>
            </a:solidFill>
            <a:prstDash val="solid"/>
          </a:ln>
        </p:spPr>
      </p:sp>
      <p:sp>
        <p:nvSpPr>
          <p:cNvPr id="32" name="Text 30"/>
          <p:cNvSpPr txBox="1"/>
          <p:nvPr/>
        </p:nvSpPr>
        <p:spPr>
          <a:xfrm>
            <a:off x="4345229" y="1645920"/>
            <a:ext cx="1600200" cy="274320"/>
          </a:xfrm>
          <a:prstGeom prst="rect">
            <a:avLst/>
          </a:prstGeom>
          <a:noFill/>
          <a:ln/>
        </p:spPr>
        <p:txBody>
          <a:bodyPr wrap="square" lIns="0" tIns="0" rIns="0" bIns="0" rtlCol="0" anchor="t"/>
          <a:lstStyle/>
          <a:p>
            <a:pPr indent="0" marL="0">
              <a:buNone/>
            </a:pPr>
            <a:r>
              <a:rPr lang="en-US" sz="1200" b="1" dirty="0">
                <a:solidFill>
                  <a:srgbClr val="143A5A"/>
                </a:solidFill>
                <a:latin typeface="Calibri" pitchFamily="34" charset="0"/>
                <a:ea typeface="Calibri" pitchFamily="34" charset="-122"/>
                <a:cs typeface="Calibri" pitchFamily="34" charset="-120"/>
              </a:rPr>
              <a:t>3 Detect</a:t>
            </a:r>
            <a:endParaRPr lang="en-US" sz="1200" dirty="0"/>
          </a:p>
        </p:txBody>
      </p:sp>
      <p:sp>
        <p:nvSpPr>
          <p:cNvPr id="33" name="Text 31"/>
          <p:cNvSpPr txBox="1"/>
          <p:nvPr/>
        </p:nvSpPr>
        <p:spPr>
          <a:xfrm>
            <a:off x="4345229" y="1920240"/>
            <a:ext cx="1600200" cy="7315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YOLOv8n joint model on 64 tiles per frame; browser ONNX matches Python 40/40 detections</a:t>
            </a:r>
            <a:endParaRPr lang="en-US" sz="950" dirty="0"/>
          </a:p>
        </p:txBody>
      </p:sp>
      <p:sp>
        <p:nvSpPr>
          <p:cNvPr id="34" name="Shape 32"/>
          <p:cNvSpPr/>
          <p:nvPr/>
        </p:nvSpPr>
        <p:spPr>
          <a:xfrm>
            <a:off x="4345229" y="2670048"/>
            <a:ext cx="777240" cy="182880"/>
          </a:xfrm>
          <a:prstGeom prst="roundRect">
            <a:avLst>
              <a:gd name="adj" fmla="val 30000"/>
            </a:avLst>
          </a:prstGeom>
          <a:solidFill>
            <a:srgbClr val="2E7D32"/>
          </a:solidFill>
          <a:ln w="12700">
            <a:solidFill>
              <a:srgbClr val="2E7D32"/>
            </a:solidFill>
            <a:prstDash val="solid"/>
          </a:ln>
        </p:spPr>
      </p:sp>
      <p:sp>
        <p:nvSpPr>
          <p:cNvPr id="35" name="Text 33"/>
          <p:cNvSpPr txBox="1"/>
          <p:nvPr/>
        </p:nvSpPr>
        <p:spPr>
          <a:xfrm>
            <a:off x="4345229" y="2670048"/>
            <a:ext cx="777240" cy="1828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36" name="Text 34"/>
          <p:cNvSpPr txBox="1"/>
          <p:nvPr/>
        </p:nvSpPr>
        <p:spPr>
          <a:xfrm>
            <a:off x="6036869" y="2057400"/>
            <a:ext cx="115214" cy="274320"/>
          </a:xfrm>
          <a:prstGeom prst="rect">
            <a:avLst/>
          </a:prstGeom>
          <a:noFill/>
          <a:ln/>
        </p:spPr>
        <p:txBody>
          <a:bodyPr wrap="square" lIns="0" tIns="0" rIns="0" bIns="0" rtlCol="0" anchor="t"/>
          <a:lstStyle/>
          <a:p>
            <a:pPr algn="ctr" indent="0" marL="0">
              <a:buNone/>
            </a:pPr>
            <a:r>
              <a:rPr lang="en-US" sz="1400" b="1" dirty="0">
                <a:solidFill>
                  <a:srgbClr val="0086C3"/>
                </a:solidFill>
                <a:latin typeface="Calibri" pitchFamily="34" charset="0"/>
                <a:ea typeface="Calibri" pitchFamily="34" charset="-122"/>
                <a:cs typeface="Calibri" pitchFamily="34" charset="-120"/>
              </a:rPr>
              <a:t>&gt;</a:t>
            </a:r>
            <a:endParaRPr lang="en-US" sz="1400" dirty="0"/>
          </a:p>
        </p:txBody>
      </p:sp>
      <p:sp>
        <p:nvSpPr>
          <p:cNvPr id="37" name="Shape 35"/>
          <p:cNvSpPr/>
          <p:nvPr/>
        </p:nvSpPr>
        <p:spPr>
          <a:xfrm>
            <a:off x="6152083" y="1600200"/>
            <a:ext cx="1783080" cy="1325880"/>
          </a:xfrm>
          <a:prstGeom prst="roundRect">
            <a:avLst>
              <a:gd name="adj" fmla="val 4138"/>
            </a:avLst>
          </a:prstGeom>
          <a:solidFill>
            <a:srgbClr val="F1F4F7"/>
          </a:solidFill>
          <a:ln w="12700">
            <a:solidFill>
              <a:srgbClr val="F1F4F7"/>
            </a:solidFill>
            <a:prstDash val="solid"/>
          </a:ln>
        </p:spPr>
      </p:sp>
      <p:sp>
        <p:nvSpPr>
          <p:cNvPr id="38" name="Text 36"/>
          <p:cNvSpPr txBox="1"/>
          <p:nvPr/>
        </p:nvSpPr>
        <p:spPr>
          <a:xfrm>
            <a:off x="6243523" y="1645920"/>
            <a:ext cx="1600200" cy="274320"/>
          </a:xfrm>
          <a:prstGeom prst="rect">
            <a:avLst/>
          </a:prstGeom>
          <a:noFill/>
          <a:ln/>
        </p:spPr>
        <p:txBody>
          <a:bodyPr wrap="square" lIns="0" tIns="0" rIns="0" bIns="0" rtlCol="0" anchor="t"/>
          <a:lstStyle/>
          <a:p>
            <a:pPr indent="0" marL="0">
              <a:buNone/>
            </a:pPr>
            <a:r>
              <a:rPr lang="en-US" sz="1200" b="1" dirty="0">
                <a:solidFill>
                  <a:srgbClr val="143A5A"/>
                </a:solidFill>
                <a:latin typeface="Calibri" pitchFamily="34" charset="0"/>
                <a:ea typeface="Calibri" pitchFamily="34" charset="-122"/>
                <a:cs typeface="Calibri" pitchFamily="34" charset="-120"/>
              </a:rPr>
              <a:t>4 Score</a:t>
            </a:r>
            <a:endParaRPr lang="en-US" sz="1200" dirty="0"/>
          </a:p>
        </p:txBody>
      </p:sp>
      <p:sp>
        <p:nvSpPr>
          <p:cNvPr id="39" name="Text 37"/>
          <p:cNvSpPr txBox="1"/>
          <p:nvPr/>
        </p:nvSpPr>
        <p:spPr>
          <a:xfrm>
            <a:off x="6243523" y="1920240"/>
            <a:ext cx="1600200" cy="7315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Calibrated confidence, severity 0-100, defect type and position on the coil map</a:t>
            </a:r>
            <a:endParaRPr lang="en-US" sz="950" dirty="0"/>
          </a:p>
        </p:txBody>
      </p:sp>
      <p:sp>
        <p:nvSpPr>
          <p:cNvPr id="40" name="Shape 38"/>
          <p:cNvSpPr/>
          <p:nvPr/>
        </p:nvSpPr>
        <p:spPr>
          <a:xfrm>
            <a:off x="6243523" y="2670048"/>
            <a:ext cx="777240" cy="182880"/>
          </a:xfrm>
          <a:prstGeom prst="roundRect">
            <a:avLst>
              <a:gd name="adj" fmla="val 30000"/>
            </a:avLst>
          </a:prstGeom>
          <a:solidFill>
            <a:srgbClr val="2E7D32"/>
          </a:solidFill>
          <a:ln w="12700">
            <a:solidFill>
              <a:srgbClr val="2E7D32"/>
            </a:solidFill>
            <a:prstDash val="solid"/>
          </a:ln>
        </p:spPr>
      </p:sp>
      <p:sp>
        <p:nvSpPr>
          <p:cNvPr id="41" name="Text 39"/>
          <p:cNvSpPr txBox="1"/>
          <p:nvPr/>
        </p:nvSpPr>
        <p:spPr>
          <a:xfrm>
            <a:off x="6243523" y="2670048"/>
            <a:ext cx="777240" cy="1828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42" name="Text 40"/>
          <p:cNvSpPr txBox="1"/>
          <p:nvPr/>
        </p:nvSpPr>
        <p:spPr>
          <a:xfrm>
            <a:off x="7935163" y="2057400"/>
            <a:ext cx="115214" cy="274320"/>
          </a:xfrm>
          <a:prstGeom prst="rect">
            <a:avLst/>
          </a:prstGeom>
          <a:noFill/>
          <a:ln/>
        </p:spPr>
        <p:txBody>
          <a:bodyPr wrap="square" lIns="0" tIns="0" rIns="0" bIns="0" rtlCol="0" anchor="t"/>
          <a:lstStyle/>
          <a:p>
            <a:pPr algn="ctr" indent="0" marL="0">
              <a:buNone/>
            </a:pPr>
            <a:r>
              <a:rPr lang="en-US" sz="1400" b="1" dirty="0">
                <a:solidFill>
                  <a:srgbClr val="0086C3"/>
                </a:solidFill>
                <a:latin typeface="Calibri" pitchFamily="34" charset="0"/>
                <a:ea typeface="Calibri" pitchFamily="34" charset="-122"/>
                <a:cs typeface="Calibri" pitchFamily="34" charset="-120"/>
              </a:rPr>
              <a:t>&gt;</a:t>
            </a:r>
            <a:endParaRPr lang="en-US" sz="1400" dirty="0"/>
          </a:p>
        </p:txBody>
      </p:sp>
      <p:sp>
        <p:nvSpPr>
          <p:cNvPr id="43" name="Shape 41"/>
          <p:cNvSpPr/>
          <p:nvPr/>
        </p:nvSpPr>
        <p:spPr>
          <a:xfrm>
            <a:off x="8050378" y="1600200"/>
            <a:ext cx="1783080" cy="1325880"/>
          </a:xfrm>
          <a:prstGeom prst="roundRect">
            <a:avLst>
              <a:gd name="adj" fmla="val 4138"/>
            </a:avLst>
          </a:prstGeom>
          <a:solidFill>
            <a:srgbClr val="F1F4F7"/>
          </a:solidFill>
          <a:ln w="12700">
            <a:solidFill>
              <a:srgbClr val="F1F4F7"/>
            </a:solidFill>
            <a:prstDash val="solid"/>
          </a:ln>
        </p:spPr>
      </p:sp>
      <p:sp>
        <p:nvSpPr>
          <p:cNvPr id="44" name="Text 42"/>
          <p:cNvSpPr txBox="1"/>
          <p:nvPr/>
        </p:nvSpPr>
        <p:spPr>
          <a:xfrm>
            <a:off x="8141818" y="1645920"/>
            <a:ext cx="1600200" cy="274320"/>
          </a:xfrm>
          <a:prstGeom prst="rect">
            <a:avLst/>
          </a:prstGeom>
          <a:noFill/>
          <a:ln/>
        </p:spPr>
        <p:txBody>
          <a:bodyPr wrap="square" lIns="0" tIns="0" rIns="0" bIns="0" rtlCol="0" anchor="t"/>
          <a:lstStyle/>
          <a:p>
            <a:pPr indent="0" marL="0">
              <a:buNone/>
            </a:pPr>
            <a:r>
              <a:rPr lang="en-US" sz="1200" b="1" dirty="0">
                <a:solidFill>
                  <a:srgbClr val="143A5A"/>
                </a:solidFill>
                <a:latin typeface="Calibri" pitchFamily="34" charset="0"/>
                <a:ea typeface="Calibri" pitchFamily="34" charset="-122"/>
                <a:cs typeface="Calibri" pitchFamily="34" charset="-120"/>
              </a:rPr>
              <a:t>5 Decide</a:t>
            </a:r>
            <a:endParaRPr lang="en-US" sz="1200" dirty="0"/>
          </a:p>
        </p:txBody>
      </p:sp>
      <p:sp>
        <p:nvSpPr>
          <p:cNvPr id="45" name="Text 43"/>
          <p:cNvSpPr txBox="1"/>
          <p:nvPr/>
        </p:nvSpPr>
        <p:spPr>
          <a:xfrm>
            <a:off x="8141818" y="1920240"/>
            <a:ext cx="1600200" cy="7315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Coil ACCEPT / DOWNGRADE / HOLD rules; grade- and finish-specific limits</a:t>
            </a:r>
            <a:endParaRPr lang="en-US" sz="950" dirty="0"/>
          </a:p>
        </p:txBody>
      </p:sp>
      <p:sp>
        <p:nvSpPr>
          <p:cNvPr id="46" name="Shape 44"/>
          <p:cNvSpPr/>
          <p:nvPr/>
        </p:nvSpPr>
        <p:spPr>
          <a:xfrm>
            <a:off x="8141818" y="2670048"/>
            <a:ext cx="777240" cy="182880"/>
          </a:xfrm>
          <a:prstGeom prst="roundRect">
            <a:avLst>
              <a:gd name="adj" fmla="val 30000"/>
            </a:avLst>
          </a:prstGeom>
          <a:solidFill>
            <a:srgbClr val="B77900"/>
          </a:solidFill>
          <a:ln w="12700">
            <a:solidFill>
              <a:srgbClr val="B77900"/>
            </a:solidFill>
            <a:prstDash val="solid"/>
          </a:ln>
        </p:spPr>
      </p:sp>
      <p:sp>
        <p:nvSpPr>
          <p:cNvPr id="47" name="Text 45"/>
          <p:cNvSpPr txBox="1"/>
          <p:nvPr/>
        </p:nvSpPr>
        <p:spPr>
          <a:xfrm>
            <a:off x="8141818" y="2670048"/>
            <a:ext cx="777240" cy="1828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PARTIAL</a:t>
            </a:r>
            <a:endParaRPr lang="en-US" sz="900" dirty="0"/>
          </a:p>
        </p:txBody>
      </p:sp>
      <p:sp>
        <p:nvSpPr>
          <p:cNvPr id="48" name="Text 46"/>
          <p:cNvSpPr txBox="1"/>
          <p:nvPr/>
        </p:nvSpPr>
        <p:spPr>
          <a:xfrm>
            <a:off x="9833458" y="2057400"/>
            <a:ext cx="115214" cy="274320"/>
          </a:xfrm>
          <a:prstGeom prst="rect">
            <a:avLst/>
          </a:prstGeom>
          <a:noFill/>
          <a:ln/>
        </p:spPr>
        <p:txBody>
          <a:bodyPr wrap="square" lIns="0" tIns="0" rIns="0" bIns="0" rtlCol="0" anchor="t"/>
          <a:lstStyle/>
          <a:p>
            <a:pPr algn="ctr" indent="0" marL="0">
              <a:buNone/>
            </a:pPr>
            <a:r>
              <a:rPr lang="en-US" sz="1400" b="1" dirty="0">
                <a:solidFill>
                  <a:srgbClr val="0086C3"/>
                </a:solidFill>
                <a:latin typeface="Calibri" pitchFamily="34" charset="0"/>
                <a:ea typeface="Calibri" pitchFamily="34" charset="-122"/>
                <a:cs typeface="Calibri" pitchFamily="34" charset="-120"/>
              </a:rPr>
              <a:t>&gt;</a:t>
            </a:r>
            <a:endParaRPr lang="en-US" sz="1400" dirty="0"/>
          </a:p>
        </p:txBody>
      </p:sp>
      <p:sp>
        <p:nvSpPr>
          <p:cNvPr id="49" name="Shape 47"/>
          <p:cNvSpPr/>
          <p:nvPr/>
        </p:nvSpPr>
        <p:spPr>
          <a:xfrm>
            <a:off x="9948672" y="1600200"/>
            <a:ext cx="1783080" cy="1325880"/>
          </a:xfrm>
          <a:prstGeom prst="roundRect">
            <a:avLst>
              <a:gd name="adj" fmla="val 4138"/>
            </a:avLst>
          </a:prstGeom>
          <a:solidFill>
            <a:srgbClr val="E4EEF6"/>
          </a:solidFill>
          <a:ln w="12700">
            <a:solidFill>
              <a:srgbClr val="E4EEF6"/>
            </a:solidFill>
            <a:prstDash val="solid"/>
          </a:ln>
        </p:spPr>
      </p:sp>
      <p:sp>
        <p:nvSpPr>
          <p:cNvPr id="50" name="Text 48"/>
          <p:cNvSpPr txBox="1"/>
          <p:nvPr/>
        </p:nvSpPr>
        <p:spPr>
          <a:xfrm>
            <a:off x="10040112" y="1645920"/>
            <a:ext cx="1600200" cy="274320"/>
          </a:xfrm>
          <a:prstGeom prst="rect">
            <a:avLst/>
          </a:prstGeom>
          <a:noFill/>
          <a:ln/>
        </p:spPr>
        <p:txBody>
          <a:bodyPr wrap="square" lIns="0" tIns="0" rIns="0" bIns="0" rtlCol="0" anchor="t"/>
          <a:lstStyle/>
          <a:p>
            <a:pPr indent="0" marL="0">
              <a:buNone/>
            </a:pPr>
            <a:r>
              <a:rPr lang="en-US" sz="1200" b="1" dirty="0">
                <a:solidFill>
                  <a:srgbClr val="143A5A"/>
                </a:solidFill>
                <a:latin typeface="Calibri" pitchFamily="34" charset="0"/>
                <a:ea typeface="Calibri" pitchFamily="34" charset="-122"/>
                <a:cs typeface="Calibri" pitchFamily="34" charset="-120"/>
              </a:rPr>
              <a:t>6 Act &amp; learn</a:t>
            </a:r>
            <a:endParaRPr lang="en-US" sz="1200" dirty="0"/>
          </a:p>
        </p:txBody>
      </p:sp>
      <p:sp>
        <p:nvSpPr>
          <p:cNvPr id="51" name="Text 49"/>
          <p:cNvSpPr txBox="1"/>
          <p:nvPr/>
        </p:nvSpPr>
        <p:spPr>
          <a:xfrm>
            <a:off x="10040112" y="1920240"/>
            <a:ext cx="1600200" cy="7315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HMI alert, PLC hold, MES coil record, owner work order; overrides feed retraining (0.6 h)</a:t>
            </a:r>
            <a:endParaRPr lang="en-US" sz="950" dirty="0"/>
          </a:p>
        </p:txBody>
      </p:sp>
      <p:sp>
        <p:nvSpPr>
          <p:cNvPr id="52" name="Shape 50"/>
          <p:cNvSpPr/>
          <p:nvPr/>
        </p:nvSpPr>
        <p:spPr>
          <a:xfrm>
            <a:off x="10040112" y="2670048"/>
            <a:ext cx="777240" cy="182880"/>
          </a:xfrm>
          <a:prstGeom prst="roundRect">
            <a:avLst>
              <a:gd name="adj" fmla="val 30000"/>
            </a:avLst>
          </a:prstGeom>
          <a:solidFill>
            <a:srgbClr val="5F6B78"/>
          </a:solidFill>
          <a:ln w="12700">
            <a:solidFill>
              <a:srgbClr val="5F6B78"/>
            </a:solidFill>
            <a:prstDash val="solid"/>
          </a:ln>
        </p:spPr>
      </p:sp>
      <p:sp>
        <p:nvSpPr>
          <p:cNvPr id="53" name="Text 51"/>
          <p:cNvSpPr txBox="1"/>
          <p:nvPr/>
        </p:nvSpPr>
        <p:spPr>
          <a:xfrm>
            <a:off x="10040112" y="2670048"/>
            <a:ext cx="777240" cy="1828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 BUILD</a:t>
            </a:r>
            <a:endParaRPr lang="en-US" sz="900" dirty="0"/>
          </a:p>
        </p:txBody>
      </p:sp>
      <p:sp>
        <p:nvSpPr>
          <p:cNvPr id="54" name="Shape 52"/>
          <p:cNvSpPr/>
          <p:nvPr/>
        </p:nvSpPr>
        <p:spPr>
          <a:xfrm>
            <a:off x="457200" y="3108960"/>
            <a:ext cx="5120640" cy="274320"/>
          </a:xfrm>
          <a:prstGeom prst="rect">
            <a:avLst/>
          </a:prstGeom>
          <a:solidFill>
            <a:srgbClr val="2B5B80"/>
          </a:solidFill>
          <a:ln w="12700">
            <a:solidFill>
              <a:srgbClr val="2B5B80"/>
            </a:solidFill>
            <a:prstDash val="solid"/>
          </a:ln>
        </p:spPr>
      </p:sp>
      <p:sp>
        <p:nvSpPr>
          <p:cNvPr id="55" name="Text 53"/>
          <p:cNvSpPr txBox="1"/>
          <p:nvPr/>
        </p:nvSpPr>
        <p:spPr>
          <a:xfrm>
            <a:off x="548640" y="3108960"/>
            <a:ext cx="49377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is new beyond a standard detector</a:t>
            </a:r>
            <a:endParaRPr lang="en-US" sz="1100" dirty="0"/>
          </a:p>
        </p:txBody>
      </p:sp>
      <p:sp>
        <p:nvSpPr>
          <p:cNvPr id="56" name="Shape 54"/>
          <p:cNvSpPr/>
          <p:nvPr/>
        </p:nvSpPr>
        <p:spPr>
          <a:xfrm>
            <a:off x="502920" y="3493008"/>
            <a:ext cx="237744" cy="237744"/>
          </a:xfrm>
          <a:prstGeom prst="ellipse">
            <a:avLst/>
          </a:prstGeom>
          <a:solidFill>
            <a:srgbClr val="0086C3"/>
          </a:solidFill>
          <a:ln w="12700">
            <a:solidFill>
              <a:srgbClr val="0086C3"/>
            </a:solidFill>
            <a:prstDash val="solid"/>
          </a:ln>
        </p:spPr>
      </p:sp>
      <p:sp>
        <p:nvSpPr>
          <p:cNvPr id="57" name="Text 55"/>
          <p:cNvSpPr txBox="1"/>
          <p:nvPr/>
        </p:nvSpPr>
        <p:spPr>
          <a:xfrm>
            <a:off x="502920" y="349300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58" name="Text 56"/>
          <p:cNvSpPr txBox="1"/>
          <p:nvPr/>
        </p:nvSpPr>
        <p:spPr>
          <a:xfrm>
            <a:off x="822960" y="3474720"/>
            <a:ext cx="475488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Clean-strip joint training</a:t>
            </a:r>
            <a:endParaRPr lang="en-US" sz="1050" dirty="0"/>
          </a:p>
        </p:txBody>
      </p:sp>
      <p:sp>
        <p:nvSpPr>
          <p:cNvPr id="59" name="Text 57"/>
          <p:cNvSpPr txBox="1"/>
          <p:nvPr/>
        </p:nvSpPr>
        <p:spPr>
          <a:xfrm>
            <a:off x="822960" y="3712464"/>
            <a:ext cx="4754880" cy="347472"/>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Fixes the false-alarm failure that kills pilots. Measured: 93.7% to 32.5%.</a:t>
            </a:r>
            <a:endParaRPr lang="en-US" sz="950" dirty="0"/>
          </a:p>
        </p:txBody>
      </p:sp>
      <p:sp>
        <p:nvSpPr>
          <p:cNvPr id="60" name="Shape 58"/>
          <p:cNvSpPr/>
          <p:nvPr/>
        </p:nvSpPr>
        <p:spPr>
          <a:xfrm>
            <a:off x="502920" y="4096512"/>
            <a:ext cx="237744" cy="237744"/>
          </a:xfrm>
          <a:prstGeom prst="ellipse">
            <a:avLst/>
          </a:prstGeom>
          <a:solidFill>
            <a:srgbClr val="0086C3"/>
          </a:solidFill>
          <a:ln w="12700">
            <a:solidFill>
              <a:srgbClr val="0086C3"/>
            </a:solidFill>
            <a:prstDash val="solid"/>
          </a:ln>
        </p:spPr>
      </p:sp>
      <p:sp>
        <p:nvSpPr>
          <p:cNvPr id="61" name="Text 59"/>
          <p:cNvSpPr txBox="1"/>
          <p:nvPr/>
        </p:nvSpPr>
        <p:spPr>
          <a:xfrm>
            <a:off x="502920" y="409651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62" name="Text 60"/>
          <p:cNvSpPr txBox="1"/>
          <p:nvPr/>
        </p:nvSpPr>
        <p:spPr>
          <a:xfrm>
            <a:off x="822960" y="4078224"/>
            <a:ext cx="475488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Root-cause routing</a:t>
            </a:r>
            <a:endParaRPr lang="en-US" sz="1050" dirty="0"/>
          </a:p>
        </p:txBody>
      </p:sp>
      <p:sp>
        <p:nvSpPr>
          <p:cNvPr id="63" name="Text 61"/>
          <p:cNvSpPr txBox="1"/>
          <p:nvPr/>
        </p:nvSpPr>
        <p:spPr>
          <a:xfrm>
            <a:off x="822960" y="4315968"/>
            <a:ext cx="4754880" cy="347472"/>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Each class maps to an owner (slide 3), so an alarm becomes a work order, not just a red light.</a:t>
            </a:r>
            <a:endParaRPr lang="en-US" sz="950" dirty="0"/>
          </a:p>
        </p:txBody>
      </p:sp>
      <p:sp>
        <p:nvSpPr>
          <p:cNvPr id="64" name="Shape 62"/>
          <p:cNvSpPr/>
          <p:nvPr/>
        </p:nvSpPr>
        <p:spPr>
          <a:xfrm>
            <a:off x="502920" y="4700016"/>
            <a:ext cx="237744" cy="237744"/>
          </a:xfrm>
          <a:prstGeom prst="ellipse">
            <a:avLst/>
          </a:prstGeom>
          <a:solidFill>
            <a:srgbClr val="0086C3"/>
          </a:solidFill>
          <a:ln w="12700">
            <a:solidFill>
              <a:srgbClr val="0086C3"/>
            </a:solidFill>
            <a:prstDash val="solid"/>
          </a:ln>
        </p:spPr>
      </p:sp>
      <p:sp>
        <p:nvSpPr>
          <p:cNvPr id="65" name="Text 63"/>
          <p:cNvSpPr txBox="1"/>
          <p:nvPr/>
        </p:nvSpPr>
        <p:spPr>
          <a:xfrm>
            <a:off x="502920" y="470001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66" name="Text 64"/>
          <p:cNvSpPr txBox="1"/>
          <p:nvPr/>
        </p:nvSpPr>
        <p:spPr>
          <a:xfrm>
            <a:off x="822960" y="4681728"/>
            <a:ext cx="475488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Unclassified-defect channel</a:t>
            </a:r>
            <a:endParaRPr lang="en-US" sz="1050" dirty="0"/>
          </a:p>
        </p:txBody>
      </p:sp>
      <p:sp>
        <p:nvSpPr>
          <p:cNvPr id="67" name="Text 65"/>
          <p:cNvSpPr txBox="1"/>
          <p:nvPr/>
        </p:nvSpPr>
        <p:spPr>
          <a:xfrm>
            <a:off x="822960" y="4919472"/>
            <a:ext cx="4754880" cy="347472"/>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Anomaly model (PatchCore-type) in parallel for defects never labelled. Proposed.</a:t>
            </a:r>
            <a:endParaRPr lang="en-US" sz="950" dirty="0"/>
          </a:p>
        </p:txBody>
      </p:sp>
      <p:sp>
        <p:nvSpPr>
          <p:cNvPr id="68" name="Shape 66"/>
          <p:cNvSpPr/>
          <p:nvPr/>
        </p:nvSpPr>
        <p:spPr>
          <a:xfrm>
            <a:off x="502920" y="5303520"/>
            <a:ext cx="237744" cy="237744"/>
          </a:xfrm>
          <a:prstGeom prst="ellipse">
            <a:avLst/>
          </a:prstGeom>
          <a:solidFill>
            <a:srgbClr val="0086C3"/>
          </a:solidFill>
          <a:ln w="12700">
            <a:solidFill>
              <a:srgbClr val="0086C3"/>
            </a:solidFill>
            <a:prstDash val="solid"/>
          </a:ln>
        </p:spPr>
      </p:sp>
      <p:sp>
        <p:nvSpPr>
          <p:cNvPr id="69" name="Text 67"/>
          <p:cNvSpPr txBox="1"/>
          <p:nvPr/>
        </p:nvSpPr>
        <p:spPr>
          <a:xfrm>
            <a:off x="502920" y="530352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70" name="Text 68"/>
          <p:cNvSpPr txBox="1"/>
          <p:nvPr/>
        </p:nvSpPr>
        <p:spPr>
          <a:xfrm>
            <a:off x="822960" y="5285232"/>
            <a:ext cx="475488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Learn from JSL's unlabelled coils</a:t>
            </a:r>
            <a:endParaRPr lang="en-US" sz="1050" dirty="0"/>
          </a:p>
        </p:txBody>
      </p:sp>
      <p:sp>
        <p:nvSpPr>
          <p:cNvPr id="71" name="Text 69"/>
          <p:cNvSpPr txBox="1"/>
          <p:nvPr/>
        </p:nvSpPr>
        <p:spPr>
          <a:xfrm>
            <a:off x="822960" y="5522976"/>
            <a:ext cx="4754880" cy="347472"/>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Self-supervised pretraining matched ImageNet (0.768 vs 0.773) with zero labels in published steel work.</a:t>
            </a:r>
            <a:endParaRPr lang="en-US" sz="950" dirty="0"/>
          </a:p>
        </p:txBody>
      </p:sp>
      <p:sp>
        <p:nvSpPr>
          <p:cNvPr id="72" name="Shape 70"/>
          <p:cNvSpPr/>
          <p:nvPr/>
        </p:nvSpPr>
        <p:spPr>
          <a:xfrm>
            <a:off x="5806440" y="3108960"/>
            <a:ext cx="5925312" cy="274320"/>
          </a:xfrm>
          <a:prstGeom prst="rect">
            <a:avLst/>
          </a:prstGeom>
          <a:solidFill>
            <a:srgbClr val="2B5B80"/>
          </a:solidFill>
          <a:ln w="12700">
            <a:solidFill>
              <a:srgbClr val="2B5B80"/>
            </a:solidFill>
            <a:prstDash val="solid"/>
          </a:ln>
        </p:spPr>
      </p:sp>
      <p:sp>
        <p:nvSpPr>
          <p:cNvPr id="73" name="Text 71"/>
          <p:cNvSpPr txBox="1"/>
          <p:nvPr/>
        </p:nvSpPr>
        <p:spPr>
          <a:xfrm>
            <a:off x="5897880" y="3108960"/>
            <a:ext cx="574243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Framework: build vs buy (options scored against JSL's needs)</a:t>
            </a:r>
            <a:endParaRPr lang="en-US" sz="1100" dirty="0"/>
          </a:p>
        </p:txBody>
      </p:sp>
      <p:sp>
        <p:nvSpPr>
          <p:cNvPr id="74" name="Text 72"/>
          <p:cNvSpPr txBox="1"/>
          <p:nvPr/>
        </p:nvSpPr>
        <p:spPr>
          <a:xfrm>
            <a:off x="7635240" y="3438144"/>
            <a:ext cx="644652"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Capex per line</a:t>
            </a:r>
            <a:endParaRPr lang="en-US" sz="900" dirty="0"/>
          </a:p>
        </p:txBody>
      </p:sp>
      <p:sp>
        <p:nvSpPr>
          <p:cNvPr id="75" name="Text 73"/>
          <p:cNvSpPr txBox="1"/>
          <p:nvPr/>
        </p:nvSpPr>
        <p:spPr>
          <a:xfrm>
            <a:off x="8316468" y="3438144"/>
            <a:ext cx="644652"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Proven at line speed</a:t>
            </a:r>
            <a:endParaRPr lang="en-US" sz="900" dirty="0"/>
          </a:p>
        </p:txBody>
      </p:sp>
      <p:sp>
        <p:nvSpPr>
          <p:cNvPr id="76" name="Text 74"/>
          <p:cNvSpPr txBox="1"/>
          <p:nvPr/>
        </p:nvSpPr>
        <p:spPr>
          <a:xfrm>
            <a:off x="8997696" y="3438144"/>
            <a:ext cx="644652"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Tuned to JSL grades</a:t>
            </a:r>
            <a:endParaRPr lang="en-US" sz="900" dirty="0"/>
          </a:p>
        </p:txBody>
      </p:sp>
      <p:sp>
        <p:nvSpPr>
          <p:cNvPr id="77" name="Text 75"/>
          <p:cNvSpPr txBox="1"/>
          <p:nvPr/>
        </p:nvSpPr>
        <p:spPr>
          <a:xfrm>
            <a:off x="9678924" y="3438144"/>
            <a:ext cx="644652"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Root-cause routing</a:t>
            </a:r>
            <a:endParaRPr lang="en-US" sz="900" dirty="0"/>
          </a:p>
        </p:txBody>
      </p:sp>
      <p:sp>
        <p:nvSpPr>
          <p:cNvPr id="78" name="Text 76"/>
          <p:cNvSpPr txBox="1"/>
          <p:nvPr/>
        </p:nvSpPr>
        <p:spPr>
          <a:xfrm>
            <a:off x="10360152" y="3438144"/>
            <a:ext cx="644652"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JSL owns data and model</a:t>
            </a:r>
            <a:endParaRPr lang="en-US" sz="900" dirty="0"/>
          </a:p>
        </p:txBody>
      </p:sp>
      <p:sp>
        <p:nvSpPr>
          <p:cNvPr id="79" name="Text 77"/>
          <p:cNvSpPr txBox="1"/>
          <p:nvPr/>
        </p:nvSpPr>
        <p:spPr>
          <a:xfrm>
            <a:off x="11041380" y="3438144"/>
            <a:ext cx="644652"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Time to first line</a:t>
            </a:r>
            <a:endParaRPr lang="en-US" sz="900" dirty="0"/>
          </a:p>
        </p:txBody>
      </p:sp>
      <p:sp>
        <p:nvSpPr>
          <p:cNvPr id="80" name="Text 78"/>
          <p:cNvSpPr txBox="1"/>
          <p:nvPr/>
        </p:nvSpPr>
        <p:spPr>
          <a:xfrm>
            <a:off x="5897880" y="3895344"/>
            <a:ext cx="1737360" cy="219456"/>
          </a:xfrm>
          <a:prstGeom prst="rect">
            <a:avLst/>
          </a:prstGeom>
          <a:noFill/>
          <a:ln/>
        </p:spPr>
        <p:txBody>
          <a:bodyPr wrap="square" lIns="0" tIns="0" rIns="0" bIns="0" rtlCol="0" anchor="t"/>
          <a:lstStyle/>
          <a:p>
            <a:pPr indent="0" marL="0">
              <a:buNone/>
            </a:pPr>
            <a:r>
              <a:rPr lang="en-US" sz="950" b="1" dirty="0">
                <a:solidFill>
                  <a:srgbClr val="141C24"/>
                </a:solidFill>
                <a:latin typeface="Calibri" pitchFamily="34" charset="0"/>
                <a:ea typeface="Calibri" pitchFamily="34" charset="-122"/>
                <a:cs typeface="Calibri" pitchFamily="34" charset="-120"/>
              </a:rPr>
              <a:t>Commercial (ISRA, AMETEK)</a:t>
            </a:r>
            <a:endParaRPr lang="en-US" sz="950" dirty="0"/>
          </a:p>
        </p:txBody>
      </p:sp>
      <p:sp>
        <p:nvSpPr>
          <p:cNvPr id="81" name="Text 79"/>
          <p:cNvSpPr txBox="1"/>
          <p:nvPr/>
        </p:nvSpPr>
        <p:spPr>
          <a:xfrm>
            <a:off x="5897880" y="4114800"/>
            <a:ext cx="169164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USD 1-3M (unverified)</a:t>
            </a:r>
            <a:endParaRPr lang="en-US" sz="900" dirty="0"/>
          </a:p>
        </p:txBody>
      </p:sp>
      <p:sp>
        <p:nvSpPr>
          <p:cNvPr id="82" name="Shape 80"/>
          <p:cNvSpPr/>
          <p:nvPr/>
        </p:nvSpPr>
        <p:spPr>
          <a:xfrm>
            <a:off x="7866126" y="3986784"/>
            <a:ext cx="182880" cy="182880"/>
          </a:xfrm>
          <a:prstGeom prst="ellipse">
            <a:avLst/>
          </a:prstGeom>
          <a:solidFill>
            <a:srgbClr val="C62828"/>
          </a:solidFill>
          <a:ln w="12700">
            <a:solidFill>
              <a:srgbClr val="C62828"/>
            </a:solidFill>
            <a:prstDash val="solid"/>
          </a:ln>
        </p:spPr>
      </p:sp>
      <p:sp>
        <p:nvSpPr>
          <p:cNvPr id="83" name="Shape 81"/>
          <p:cNvSpPr/>
          <p:nvPr/>
        </p:nvSpPr>
        <p:spPr>
          <a:xfrm>
            <a:off x="8547354" y="3986784"/>
            <a:ext cx="182880" cy="182880"/>
          </a:xfrm>
          <a:prstGeom prst="ellipse">
            <a:avLst/>
          </a:prstGeom>
          <a:solidFill>
            <a:srgbClr val="2E7D32"/>
          </a:solidFill>
          <a:ln w="12700">
            <a:solidFill>
              <a:srgbClr val="2E7D32"/>
            </a:solidFill>
            <a:prstDash val="solid"/>
          </a:ln>
        </p:spPr>
      </p:sp>
      <p:sp>
        <p:nvSpPr>
          <p:cNvPr id="84" name="Shape 82"/>
          <p:cNvSpPr/>
          <p:nvPr/>
        </p:nvSpPr>
        <p:spPr>
          <a:xfrm>
            <a:off x="9228582" y="3986784"/>
            <a:ext cx="182880" cy="182880"/>
          </a:xfrm>
          <a:prstGeom prst="ellipse">
            <a:avLst/>
          </a:prstGeom>
          <a:solidFill>
            <a:srgbClr val="B77900"/>
          </a:solidFill>
          <a:ln w="12700">
            <a:solidFill>
              <a:srgbClr val="B77900"/>
            </a:solidFill>
            <a:prstDash val="solid"/>
          </a:ln>
        </p:spPr>
      </p:sp>
      <p:sp>
        <p:nvSpPr>
          <p:cNvPr id="85" name="Shape 83"/>
          <p:cNvSpPr/>
          <p:nvPr/>
        </p:nvSpPr>
        <p:spPr>
          <a:xfrm>
            <a:off x="9909810" y="3986784"/>
            <a:ext cx="182880" cy="182880"/>
          </a:xfrm>
          <a:prstGeom prst="ellipse">
            <a:avLst/>
          </a:prstGeom>
          <a:solidFill>
            <a:srgbClr val="B77900"/>
          </a:solidFill>
          <a:ln w="12700">
            <a:solidFill>
              <a:srgbClr val="B77900"/>
            </a:solidFill>
            <a:prstDash val="solid"/>
          </a:ln>
        </p:spPr>
      </p:sp>
      <p:sp>
        <p:nvSpPr>
          <p:cNvPr id="86" name="Shape 84"/>
          <p:cNvSpPr/>
          <p:nvPr/>
        </p:nvSpPr>
        <p:spPr>
          <a:xfrm>
            <a:off x="10591038" y="3986784"/>
            <a:ext cx="182880" cy="182880"/>
          </a:xfrm>
          <a:prstGeom prst="ellipse">
            <a:avLst/>
          </a:prstGeom>
          <a:solidFill>
            <a:srgbClr val="C62828"/>
          </a:solidFill>
          <a:ln w="12700">
            <a:solidFill>
              <a:srgbClr val="C62828"/>
            </a:solidFill>
            <a:prstDash val="solid"/>
          </a:ln>
        </p:spPr>
      </p:sp>
      <p:sp>
        <p:nvSpPr>
          <p:cNvPr id="87" name="Shape 85"/>
          <p:cNvSpPr/>
          <p:nvPr/>
        </p:nvSpPr>
        <p:spPr>
          <a:xfrm>
            <a:off x="11272266" y="3986784"/>
            <a:ext cx="182880" cy="182880"/>
          </a:xfrm>
          <a:prstGeom prst="ellipse">
            <a:avLst/>
          </a:prstGeom>
          <a:solidFill>
            <a:srgbClr val="2E7D32"/>
          </a:solidFill>
          <a:ln w="12700">
            <a:solidFill>
              <a:srgbClr val="2E7D32"/>
            </a:solidFill>
            <a:prstDash val="solid"/>
          </a:ln>
        </p:spPr>
      </p:sp>
      <p:sp>
        <p:nvSpPr>
          <p:cNvPr id="88" name="Text 86"/>
          <p:cNvSpPr txBox="1"/>
          <p:nvPr/>
        </p:nvSpPr>
        <p:spPr>
          <a:xfrm>
            <a:off x="5897880" y="4407408"/>
            <a:ext cx="1737360" cy="219456"/>
          </a:xfrm>
          <a:prstGeom prst="rect">
            <a:avLst/>
          </a:prstGeom>
          <a:noFill/>
          <a:ln/>
        </p:spPr>
        <p:txBody>
          <a:bodyPr wrap="square" lIns="0" tIns="0" rIns="0" bIns="0" rtlCol="0" anchor="t"/>
          <a:lstStyle/>
          <a:p>
            <a:pPr indent="0" marL="0">
              <a:buNone/>
            </a:pPr>
            <a:r>
              <a:rPr lang="en-US" sz="950" b="1" dirty="0">
                <a:solidFill>
                  <a:srgbClr val="141C24"/>
                </a:solidFill>
                <a:latin typeface="Calibri" pitchFamily="34" charset="0"/>
                <a:ea typeface="Calibri" pitchFamily="34" charset="-122"/>
                <a:cs typeface="Calibri" pitchFamily="34" charset="-120"/>
              </a:rPr>
              <a:t>Fully in-house</a:t>
            </a:r>
            <a:endParaRPr lang="en-US" sz="950" dirty="0"/>
          </a:p>
        </p:txBody>
      </p:sp>
      <p:sp>
        <p:nvSpPr>
          <p:cNvPr id="89" name="Text 87"/>
          <p:cNvSpPr txBox="1"/>
          <p:nvPr/>
        </p:nvSpPr>
        <p:spPr>
          <a:xfrm>
            <a:off x="5897880" y="4626864"/>
            <a:ext cx="169164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INR 2-3 cr (est.)</a:t>
            </a:r>
            <a:endParaRPr lang="en-US" sz="900" dirty="0"/>
          </a:p>
        </p:txBody>
      </p:sp>
      <p:sp>
        <p:nvSpPr>
          <p:cNvPr id="90" name="Shape 88"/>
          <p:cNvSpPr/>
          <p:nvPr/>
        </p:nvSpPr>
        <p:spPr>
          <a:xfrm>
            <a:off x="7866126" y="4498848"/>
            <a:ext cx="182880" cy="182880"/>
          </a:xfrm>
          <a:prstGeom prst="ellipse">
            <a:avLst/>
          </a:prstGeom>
          <a:solidFill>
            <a:srgbClr val="2E7D32"/>
          </a:solidFill>
          <a:ln w="12700">
            <a:solidFill>
              <a:srgbClr val="2E7D32"/>
            </a:solidFill>
            <a:prstDash val="solid"/>
          </a:ln>
        </p:spPr>
      </p:sp>
      <p:sp>
        <p:nvSpPr>
          <p:cNvPr id="91" name="Shape 89"/>
          <p:cNvSpPr/>
          <p:nvPr/>
        </p:nvSpPr>
        <p:spPr>
          <a:xfrm>
            <a:off x="8547354" y="4498848"/>
            <a:ext cx="182880" cy="182880"/>
          </a:xfrm>
          <a:prstGeom prst="ellipse">
            <a:avLst/>
          </a:prstGeom>
          <a:solidFill>
            <a:srgbClr val="C62828"/>
          </a:solidFill>
          <a:ln w="12700">
            <a:solidFill>
              <a:srgbClr val="C62828"/>
            </a:solidFill>
            <a:prstDash val="solid"/>
          </a:ln>
        </p:spPr>
      </p:sp>
      <p:sp>
        <p:nvSpPr>
          <p:cNvPr id="92" name="Shape 90"/>
          <p:cNvSpPr/>
          <p:nvPr/>
        </p:nvSpPr>
        <p:spPr>
          <a:xfrm>
            <a:off x="9228582" y="4498848"/>
            <a:ext cx="182880" cy="182880"/>
          </a:xfrm>
          <a:prstGeom prst="ellipse">
            <a:avLst/>
          </a:prstGeom>
          <a:solidFill>
            <a:srgbClr val="2E7D32"/>
          </a:solidFill>
          <a:ln w="12700">
            <a:solidFill>
              <a:srgbClr val="2E7D32"/>
            </a:solidFill>
            <a:prstDash val="solid"/>
          </a:ln>
        </p:spPr>
      </p:sp>
      <p:sp>
        <p:nvSpPr>
          <p:cNvPr id="93" name="Shape 91"/>
          <p:cNvSpPr/>
          <p:nvPr/>
        </p:nvSpPr>
        <p:spPr>
          <a:xfrm>
            <a:off x="9909810" y="4498848"/>
            <a:ext cx="182880" cy="182880"/>
          </a:xfrm>
          <a:prstGeom prst="ellipse">
            <a:avLst/>
          </a:prstGeom>
          <a:solidFill>
            <a:srgbClr val="2E7D32"/>
          </a:solidFill>
          <a:ln w="12700">
            <a:solidFill>
              <a:srgbClr val="2E7D32"/>
            </a:solidFill>
            <a:prstDash val="solid"/>
          </a:ln>
        </p:spPr>
      </p:sp>
      <p:sp>
        <p:nvSpPr>
          <p:cNvPr id="94" name="Shape 92"/>
          <p:cNvSpPr/>
          <p:nvPr/>
        </p:nvSpPr>
        <p:spPr>
          <a:xfrm>
            <a:off x="10591038" y="4498848"/>
            <a:ext cx="182880" cy="182880"/>
          </a:xfrm>
          <a:prstGeom prst="ellipse">
            <a:avLst/>
          </a:prstGeom>
          <a:solidFill>
            <a:srgbClr val="2E7D32"/>
          </a:solidFill>
          <a:ln w="12700">
            <a:solidFill>
              <a:srgbClr val="2E7D32"/>
            </a:solidFill>
            <a:prstDash val="solid"/>
          </a:ln>
        </p:spPr>
      </p:sp>
      <p:sp>
        <p:nvSpPr>
          <p:cNvPr id="95" name="Shape 93"/>
          <p:cNvSpPr/>
          <p:nvPr/>
        </p:nvSpPr>
        <p:spPr>
          <a:xfrm>
            <a:off x="11272266" y="4498848"/>
            <a:ext cx="182880" cy="182880"/>
          </a:xfrm>
          <a:prstGeom prst="ellipse">
            <a:avLst/>
          </a:prstGeom>
          <a:solidFill>
            <a:srgbClr val="C62828"/>
          </a:solidFill>
          <a:ln w="12700">
            <a:solidFill>
              <a:srgbClr val="C62828"/>
            </a:solidFill>
            <a:prstDash val="solid"/>
          </a:ln>
        </p:spPr>
      </p:sp>
      <p:sp>
        <p:nvSpPr>
          <p:cNvPr id="96" name="Shape 94"/>
          <p:cNvSpPr/>
          <p:nvPr/>
        </p:nvSpPr>
        <p:spPr>
          <a:xfrm>
            <a:off x="5833872" y="4873752"/>
            <a:ext cx="5870448" cy="493776"/>
          </a:xfrm>
          <a:prstGeom prst="roundRect">
            <a:avLst>
              <a:gd name="adj" fmla="val 11111"/>
            </a:avLst>
          </a:prstGeom>
          <a:solidFill>
            <a:srgbClr val="E4EEF6"/>
          </a:solidFill>
          <a:ln w="12700">
            <a:solidFill>
              <a:srgbClr val="E4EEF6"/>
            </a:solidFill>
            <a:prstDash val="solid"/>
          </a:ln>
        </p:spPr>
      </p:sp>
      <p:sp>
        <p:nvSpPr>
          <p:cNvPr id="97" name="Text 95"/>
          <p:cNvSpPr txBox="1"/>
          <p:nvPr/>
        </p:nvSpPr>
        <p:spPr>
          <a:xfrm>
            <a:off x="5897880" y="4919472"/>
            <a:ext cx="1737360" cy="219456"/>
          </a:xfrm>
          <a:prstGeom prst="rect">
            <a:avLst/>
          </a:prstGeom>
          <a:noFill/>
          <a:ln/>
        </p:spPr>
        <p:txBody>
          <a:bodyPr wrap="square" lIns="0" tIns="0" rIns="0" bIns="0" rtlCol="0" anchor="t"/>
          <a:lstStyle/>
          <a:p>
            <a:pPr indent="0" marL="0">
              <a:buNone/>
            </a:pPr>
            <a:r>
              <a:rPr lang="en-US" sz="950" b="1" dirty="0">
                <a:solidFill>
                  <a:srgbClr val="0086C3"/>
                </a:solidFill>
                <a:latin typeface="Calibri" pitchFamily="34" charset="0"/>
                <a:ea typeface="Calibri" pitchFamily="34" charset="-122"/>
                <a:cs typeface="Calibri" pitchFamily="34" charset="-120"/>
              </a:rPr>
              <a:t>Hybrid: buy optics, own model</a:t>
            </a:r>
            <a:endParaRPr lang="en-US" sz="950" dirty="0"/>
          </a:p>
        </p:txBody>
      </p:sp>
      <p:sp>
        <p:nvSpPr>
          <p:cNvPr id="98" name="Text 96"/>
          <p:cNvSpPr txBox="1"/>
          <p:nvPr/>
        </p:nvSpPr>
        <p:spPr>
          <a:xfrm>
            <a:off x="5897880" y="5138928"/>
            <a:ext cx="169164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INR 2.5-4.2 cr (est.)</a:t>
            </a:r>
            <a:endParaRPr lang="en-US" sz="900" dirty="0"/>
          </a:p>
        </p:txBody>
      </p:sp>
      <p:sp>
        <p:nvSpPr>
          <p:cNvPr id="99" name="Shape 97"/>
          <p:cNvSpPr/>
          <p:nvPr/>
        </p:nvSpPr>
        <p:spPr>
          <a:xfrm>
            <a:off x="7866126" y="5010912"/>
            <a:ext cx="182880" cy="182880"/>
          </a:xfrm>
          <a:prstGeom prst="ellipse">
            <a:avLst/>
          </a:prstGeom>
          <a:solidFill>
            <a:srgbClr val="2E7D32"/>
          </a:solidFill>
          <a:ln w="12700">
            <a:solidFill>
              <a:srgbClr val="2E7D32"/>
            </a:solidFill>
            <a:prstDash val="solid"/>
          </a:ln>
        </p:spPr>
      </p:sp>
      <p:sp>
        <p:nvSpPr>
          <p:cNvPr id="100" name="Shape 98"/>
          <p:cNvSpPr/>
          <p:nvPr/>
        </p:nvSpPr>
        <p:spPr>
          <a:xfrm>
            <a:off x="8547354" y="5010912"/>
            <a:ext cx="182880" cy="182880"/>
          </a:xfrm>
          <a:prstGeom prst="ellipse">
            <a:avLst/>
          </a:prstGeom>
          <a:solidFill>
            <a:srgbClr val="B77900"/>
          </a:solidFill>
          <a:ln w="12700">
            <a:solidFill>
              <a:srgbClr val="B77900"/>
            </a:solidFill>
            <a:prstDash val="solid"/>
          </a:ln>
        </p:spPr>
      </p:sp>
      <p:sp>
        <p:nvSpPr>
          <p:cNvPr id="101" name="Shape 99"/>
          <p:cNvSpPr/>
          <p:nvPr/>
        </p:nvSpPr>
        <p:spPr>
          <a:xfrm>
            <a:off x="9228582" y="5010912"/>
            <a:ext cx="182880" cy="182880"/>
          </a:xfrm>
          <a:prstGeom prst="ellipse">
            <a:avLst/>
          </a:prstGeom>
          <a:solidFill>
            <a:srgbClr val="2E7D32"/>
          </a:solidFill>
          <a:ln w="12700">
            <a:solidFill>
              <a:srgbClr val="2E7D32"/>
            </a:solidFill>
            <a:prstDash val="solid"/>
          </a:ln>
        </p:spPr>
      </p:sp>
      <p:sp>
        <p:nvSpPr>
          <p:cNvPr id="102" name="Shape 100"/>
          <p:cNvSpPr/>
          <p:nvPr/>
        </p:nvSpPr>
        <p:spPr>
          <a:xfrm>
            <a:off x="9909810" y="5010912"/>
            <a:ext cx="182880" cy="182880"/>
          </a:xfrm>
          <a:prstGeom prst="ellipse">
            <a:avLst/>
          </a:prstGeom>
          <a:solidFill>
            <a:srgbClr val="2E7D32"/>
          </a:solidFill>
          <a:ln w="12700">
            <a:solidFill>
              <a:srgbClr val="2E7D32"/>
            </a:solidFill>
            <a:prstDash val="solid"/>
          </a:ln>
        </p:spPr>
      </p:sp>
      <p:sp>
        <p:nvSpPr>
          <p:cNvPr id="103" name="Shape 101"/>
          <p:cNvSpPr/>
          <p:nvPr/>
        </p:nvSpPr>
        <p:spPr>
          <a:xfrm>
            <a:off x="10591038" y="5010912"/>
            <a:ext cx="182880" cy="182880"/>
          </a:xfrm>
          <a:prstGeom prst="ellipse">
            <a:avLst/>
          </a:prstGeom>
          <a:solidFill>
            <a:srgbClr val="2E7D32"/>
          </a:solidFill>
          <a:ln w="12700">
            <a:solidFill>
              <a:srgbClr val="2E7D32"/>
            </a:solidFill>
            <a:prstDash val="solid"/>
          </a:ln>
        </p:spPr>
      </p:sp>
      <p:sp>
        <p:nvSpPr>
          <p:cNvPr id="104" name="Shape 102"/>
          <p:cNvSpPr/>
          <p:nvPr/>
        </p:nvSpPr>
        <p:spPr>
          <a:xfrm>
            <a:off x="11272266" y="5010912"/>
            <a:ext cx="182880" cy="182880"/>
          </a:xfrm>
          <a:prstGeom prst="ellipse">
            <a:avLst/>
          </a:prstGeom>
          <a:solidFill>
            <a:srgbClr val="B77900"/>
          </a:solidFill>
          <a:ln w="12700">
            <a:solidFill>
              <a:srgbClr val="B77900"/>
            </a:solidFill>
            <a:prstDash val="solid"/>
          </a:ln>
        </p:spPr>
      </p:sp>
      <p:sp>
        <p:nvSpPr>
          <p:cNvPr id="105" name="Shape 103"/>
          <p:cNvSpPr/>
          <p:nvPr/>
        </p:nvSpPr>
        <p:spPr>
          <a:xfrm>
            <a:off x="5897880" y="5477256"/>
            <a:ext cx="128016" cy="128016"/>
          </a:xfrm>
          <a:prstGeom prst="ellipse">
            <a:avLst/>
          </a:prstGeom>
          <a:solidFill>
            <a:srgbClr val="2E7D32"/>
          </a:solidFill>
          <a:ln w="12700">
            <a:solidFill>
              <a:srgbClr val="2E7D32"/>
            </a:solidFill>
            <a:prstDash val="solid"/>
          </a:ln>
        </p:spPr>
      </p:sp>
      <p:sp>
        <p:nvSpPr>
          <p:cNvPr id="106" name="Text 104"/>
          <p:cNvSpPr txBox="1"/>
          <p:nvPr/>
        </p:nvSpPr>
        <p:spPr>
          <a:xfrm>
            <a:off x="6062472" y="5449824"/>
            <a:ext cx="54864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strong</a:t>
            </a:r>
            <a:endParaRPr lang="en-US" sz="900" dirty="0"/>
          </a:p>
        </p:txBody>
      </p:sp>
      <p:sp>
        <p:nvSpPr>
          <p:cNvPr id="107" name="Shape 105"/>
          <p:cNvSpPr/>
          <p:nvPr/>
        </p:nvSpPr>
        <p:spPr>
          <a:xfrm>
            <a:off x="6629400" y="5477256"/>
            <a:ext cx="128016" cy="128016"/>
          </a:xfrm>
          <a:prstGeom prst="ellipse">
            <a:avLst/>
          </a:prstGeom>
          <a:solidFill>
            <a:srgbClr val="B77900"/>
          </a:solidFill>
          <a:ln w="12700">
            <a:solidFill>
              <a:srgbClr val="B77900"/>
            </a:solidFill>
            <a:prstDash val="solid"/>
          </a:ln>
        </p:spPr>
      </p:sp>
      <p:sp>
        <p:nvSpPr>
          <p:cNvPr id="108" name="Text 106"/>
          <p:cNvSpPr txBox="1"/>
          <p:nvPr/>
        </p:nvSpPr>
        <p:spPr>
          <a:xfrm>
            <a:off x="6793992" y="5449824"/>
            <a:ext cx="54864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partial</a:t>
            </a:r>
            <a:endParaRPr lang="en-US" sz="900" dirty="0"/>
          </a:p>
        </p:txBody>
      </p:sp>
      <p:sp>
        <p:nvSpPr>
          <p:cNvPr id="109" name="Shape 107"/>
          <p:cNvSpPr/>
          <p:nvPr/>
        </p:nvSpPr>
        <p:spPr>
          <a:xfrm>
            <a:off x="7360920" y="5477256"/>
            <a:ext cx="128016" cy="128016"/>
          </a:xfrm>
          <a:prstGeom prst="ellipse">
            <a:avLst/>
          </a:prstGeom>
          <a:solidFill>
            <a:srgbClr val="C62828"/>
          </a:solidFill>
          <a:ln w="12700">
            <a:solidFill>
              <a:srgbClr val="C62828"/>
            </a:solidFill>
            <a:prstDash val="solid"/>
          </a:ln>
        </p:spPr>
      </p:sp>
      <p:sp>
        <p:nvSpPr>
          <p:cNvPr id="110" name="Text 108"/>
          <p:cNvSpPr txBox="1"/>
          <p:nvPr/>
        </p:nvSpPr>
        <p:spPr>
          <a:xfrm>
            <a:off x="7525512" y="5449824"/>
            <a:ext cx="54864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weak</a:t>
            </a:r>
            <a:endParaRPr lang="en-US" sz="900" dirty="0"/>
          </a:p>
        </p:txBody>
      </p:sp>
      <p:sp>
        <p:nvSpPr>
          <p:cNvPr id="111" name="Text 109"/>
          <p:cNvSpPr txBox="1"/>
          <p:nvPr/>
        </p:nvSpPr>
        <p:spPr>
          <a:xfrm>
            <a:off x="8138160" y="5431536"/>
            <a:ext cx="3566160" cy="219456"/>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Output: hybrid wins on 4 of 6 criteria and is never weak.</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143A5A"/>
          </a:solidFill>
          <a:ln w="12700">
            <a:solidFill>
              <a:srgbClr val="143A5A"/>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NAME]</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Seven months to shadow mode on one line, and nothing touches the mill until trust is earned</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Commit INR 2.5-4.2 cr and one line for seven months. The month-7 go/no-go is decided on JSL's own alarm and recall numbers.</a:t>
            </a:r>
            <a:endParaRPr lang="en-US" sz="1200" dirty="0"/>
          </a:p>
        </p:txBody>
      </p:sp>
      <p:sp>
        <p:nvSpPr>
          <p:cNvPr id="16" name="Text 14"/>
          <p:cNvSpPr txBox="1"/>
          <p:nvPr/>
        </p:nvSpPr>
        <p:spPr>
          <a:xfrm>
            <a:off x="457200" y="5989320"/>
            <a:ext cx="11274552" cy="219456"/>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Bill of materials is a team estimate at INR 95.8/USD for a 1.3-1.6 m, two-face installation, to be replaced by vendor quotes in P0. Retrain time 0.6 h measured (15.24 s/epoch x 135 epochs).</a:t>
            </a:r>
            <a:endParaRPr lang="en-US" sz="900" dirty="0"/>
          </a:p>
        </p:txBody>
      </p:sp>
      <p:sp>
        <p:nvSpPr>
          <p:cNvPr id="17" name="Shape 15"/>
          <p:cNvSpPr/>
          <p:nvPr/>
        </p:nvSpPr>
        <p:spPr>
          <a:xfrm>
            <a:off x="457200" y="1234440"/>
            <a:ext cx="6949440"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67665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Stage-gate roadmap (months)</a:t>
            </a:r>
            <a:endParaRPr lang="en-US" sz="1100" dirty="0"/>
          </a:p>
        </p:txBody>
      </p:sp>
      <p:sp>
        <p:nvSpPr>
          <p:cNvPr id="19" name="Text 17"/>
          <p:cNvSpPr txBox="1"/>
          <p:nvPr/>
        </p:nvSpPr>
        <p:spPr>
          <a:xfrm>
            <a:off x="2331720"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m0</a:t>
            </a:r>
            <a:endParaRPr lang="en-US" sz="900" dirty="0"/>
          </a:p>
        </p:txBody>
      </p:sp>
      <p:sp>
        <p:nvSpPr>
          <p:cNvPr id="20" name="Text 18"/>
          <p:cNvSpPr txBox="1"/>
          <p:nvPr/>
        </p:nvSpPr>
        <p:spPr>
          <a:xfrm>
            <a:off x="2990088"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m4</a:t>
            </a:r>
            <a:endParaRPr lang="en-US" sz="900" dirty="0"/>
          </a:p>
        </p:txBody>
      </p:sp>
      <p:sp>
        <p:nvSpPr>
          <p:cNvPr id="21" name="Text 19"/>
          <p:cNvSpPr txBox="1"/>
          <p:nvPr/>
        </p:nvSpPr>
        <p:spPr>
          <a:xfrm>
            <a:off x="3648456"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m8</a:t>
            </a:r>
            <a:endParaRPr lang="en-US" sz="900" dirty="0"/>
          </a:p>
        </p:txBody>
      </p:sp>
      <p:sp>
        <p:nvSpPr>
          <p:cNvPr id="22" name="Text 20"/>
          <p:cNvSpPr txBox="1"/>
          <p:nvPr/>
        </p:nvSpPr>
        <p:spPr>
          <a:xfrm>
            <a:off x="4306824"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m12</a:t>
            </a:r>
            <a:endParaRPr lang="en-US" sz="900" dirty="0"/>
          </a:p>
        </p:txBody>
      </p:sp>
      <p:sp>
        <p:nvSpPr>
          <p:cNvPr id="23" name="Text 21"/>
          <p:cNvSpPr txBox="1"/>
          <p:nvPr/>
        </p:nvSpPr>
        <p:spPr>
          <a:xfrm>
            <a:off x="4965192"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m16</a:t>
            </a:r>
            <a:endParaRPr lang="en-US" sz="900" dirty="0"/>
          </a:p>
        </p:txBody>
      </p:sp>
      <p:sp>
        <p:nvSpPr>
          <p:cNvPr id="24" name="Text 22"/>
          <p:cNvSpPr txBox="1"/>
          <p:nvPr/>
        </p:nvSpPr>
        <p:spPr>
          <a:xfrm>
            <a:off x="5623560"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m20</a:t>
            </a:r>
            <a:endParaRPr lang="en-US" sz="900" dirty="0"/>
          </a:p>
        </p:txBody>
      </p:sp>
      <p:sp>
        <p:nvSpPr>
          <p:cNvPr id="25" name="Text 23"/>
          <p:cNvSpPr txBox="1"/>
          <p:nvPr/>
        </p:nvSpPr>
        <p:spPr>
          <a:xfrm>
            <a:off x="502920" y="1783080"/>
            <a:ext cx="320040" cy="365760"/>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P0</a:t>
            </a:r>
            <a:endParaRPr lang="en-US" sz="1100" dirty="0"/>
          </a:p>
        </p:txBody>
      </p:sp>
      <p:sp>
        <p:nvSpPr>
          <p:cNvPr id="26" name="Text 24"/>
          <p:cNvSpPr txBox="1"/>
          <p:nvPr/>
        </p:nvSpPr>
        <p:spPr>
          <a:xfrm>
            <a:off x="822960" y="1783080"/>
            <a:ext cx="1645920" cy="365760"/>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Instrument one line</a:t>
            </a:r>
            <a:endParaRPr lang="en-US" sz="1000" dirty="0"/>
          </a:p>
        </p:txBody>
      </p:sp>
      <p:sp>
        <p:nvSpPr>
          <p:cNvPr id="27" name="Shape 25"/>
          <p:cNvSpPr/>
          <p:nvPr/>
        </p:nvSpPr>
        <p:spPr>
          <a:xfrm>
            <a:off x="2514600" y="1856232"/>
            <a:ext cx="3291840" cy="219456"/>
          </a:xfrm>
          <a:prstGeom prst="rect">
            <a:avLst/>
          </a:prstGeom>
          <a:solidFill>
            <a:srgbClr val="F1F4F7"/>
          </a:solidFill>
          <a:ln w="12700">
            <a:solidFill>
              <a:srgbClr val="F1F4F7"/>
            </a:solidFill>
            <a:prstDash val="solid"/>
          </a:ln>
        </p:spPr>
      </p:sp>
      <p:sp>
        <p:nvSpPr>
          <p:cNvPr id="28" name="Shape 26"/>
          <p:cNvSpPr/>
          <p:nvPr/>
        </p:nvSpPr>
        <p:spPr>
          <a:xfrm>
            <a:off x="2514600" y="1856232"/>
            <a:ext cx="246888" cy="219456"/>
          </a:xfrm>
          <a:prstGeom prst="rect">
            <a:avLst/>
          </a:prstGeom>
          <a:solidFill>
            <a:srgbClr val="0086C3"/>
          </a:solidFill>
          <a:ln w="12700">
            <a:solidFill>
              <a:srgbClr val="0086C3"/>
            </a:solidFill>
            <a:prstDash val="solid"/>
          </a:ln>
        </p:spPr>
      </p:sp>
      <p:sp>
        <p:nvSpPr>
          <p:cNvPr id="29" name="Text 27"/>
          <p:cNvSpPr txBox="1"/>
          <p:nvPr/>
        </p:nvSpPr>
        <p:spPr>
          <a:xfrm>
            <a:off x="5897880" y="1783080"/>
            <a:ext cx="1508760"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Frames at line speed; resolution and grade matrix fixed</a:t>
            </a:r>
            <a:endParaRPr lang="en-US" sz="900" dirty="0"/>
          </a:p>
        </p:txBody>
      </p:sp>
      <p:sp>
        <p:nvSpPr>
          <p:cNvPr id="30" name="Text 28"/>
          <p:cNvSpPr txBox="1"/>
          <p:nvPr/>
        </p:nvSpPr>
        <p:spPr>
          <a:xfrm>
            <a:off x="502920" y="2240280"/>
            <a:ext cx="320040" cy="365760"/>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P1</a:t>
            </a:r>
            <a:endParaRPr lang="en-US" sz="1100" dirty="0"/>
          </a:p>
        </p:txBody>
      </p:sp>
      <p:sp>
        <p:nvSpPr>
          <p:cNvPr id="31" name="Text 29"/>
          <p:cNvSpPr txBox="1"/>
          <p:nvPr/>
        </p:nvSpPr>
        <p:spPr>
          <a:xfrm>
            <a:off x="822960" y="2240280"/>
            <a:ext cx="1645920" cy="365760"/>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Fine-tune on JSL strip</a:t>
            </a:r>
            <a:endParaRPr lang="en-US" sz="1000" dirty="0"/>
          </a:p>
        </p:txBody>
      </p:sp>
      <p:sp>
        <p:nvSpPr>
          <p:cNvPr id="32" name="Shape 30"/>
          <p:cNvSpPr/>
          <p:nvPr/>
        </p:nvSpPr>
        <p:spPr>
          <a:xfrm>
            <a:off x="2514600" y="2313432"/>
            <a:ext cx="3291840" cy="219456"/>
          </a:xfrm>
          <a:prstGeom prst="rect">
            <a:avLst/>
          </a:prstGeom>
          <a:solidFill>
            <a:srgbClr val="F1F4F7"/>
          </a:solidFill>
          <a:ln w="12700">
            <a:solidFill>
              <a:srgbClr val="F1F4F7"/>
            </a:solidFill>
            <a:prstDash val="solid"/>
          </a:ln>
        </p:spPr>
      </p:sp>
      <p:sp>
        <p:nvSpPr>
          <p:cNvPr id="33" name="Shape 31"/>
          <p:cNvSpPr/>
          <p:nvPr/>
        </p:nvSpPr>
        <p:spPr>
          <a:xfrm>
            <a:off x="2761488" y="2313432"/>
            <a:ext cx="411480" cy="219456"/>
          </a:xfrm>
          <a:prstGeom prst="rect">
            <a:avLst/>
          </a:prstGeom>
          <a:solidFill>
            <a:srgbClr val="0086C3"/>
          </a:solidFill>
          <a:ln w="12700">
            <a:solidFill>
              <a:srgbClr val="0086C3"/>
            </a:solidFill>
            <a:prstDash val="solid"/>
          </a:ln>
        </p:spPr>
      </p:sp>
      <p:sp>
        <p:nvSpPr>
          <p:cNvPr id="34" name="Text 32"/>
          <p:cNvSpPr txBox="1"/>
          <p:nvPr/>
        </p:nvSpPr>
        <p:spPr>
          <a:xfrm>
            <a:off x="5897880" y="2240280"/>
            <a:ext cx="1508760"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Clean-strip alarms &lt;= 25%, recall &gt;= 90%</a:t>
            </a:r>
            <a:endParaRPr lang="en-US" sz="900" dirty="0"/>
          </a:p>
        </p:txBody>
      </p:sp>
      <p:sp>
        <p:nvSpPr>
          <p:cNvPr id="35" name="Text 33"/>
          <p:cNvSpPr txBox="1"/>
          <p:nvPr/>
        </p:nvSpPr>
        <p:spPr>
          <a:xfrm>
            <a:off x="502920" y="2697480"/>
            <a:ext cx="320040" cy="365760"/>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P2</a:t>
            </a:r>
            <a:endParaRPr lang="en-US" sz="1100" dirty="0"/>
          </a:p>
        </p:txBody>
      </p:sp>
      <p:sp>
        <p:nvSpPr>
          <p:cNvPr id="36" name="Text 34"/>
          <p:cNvSpPr txBox="1"/>
          <p:nvPr/>
        </p:nvSpPr>
        <p:spPr>
          <a:xfrm>
            <a:off x="822960" y="2697480"/>
            <a:ext cx="1645920" cy="365760"/>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Shadow mode, no interlock</a:t>
            </a:r>
            <a:endParaRPr lang="en-US" sz="1000" dirty="0"/>
          </a:p>
        </p:txBody>
      </p:sp>
      <p:sp>
        <p:nvSpPr>
          <p:cNvPr id="37" name="Shape 35"/>
          <p:cNvSpPr/>
          <p:nvPr/>
        </p:nvSpPr>
        <p:spPr>
          <a:xfrm>
            <a:off x="2514600" y="2770632"/>
            <a:ext cx="3291840" cy="219456"/>
          </a:xfrm>
          <a:prstGeom prst="rect">
            <a:avLst/>
          </a:prstGeom>
          <a:solidFill>
            <a:srgbClr val="F1F4F7"/>
          </a:solidFill>
          <a:ln w="12700">
            <a:solidFill>
              <a:srgbClr val="F1F4F7"/>
            </a:solidFill>
            <a:prstDash val="solid"/>
          </a:ln>
        </p:spPr>
      </p:sp>
      <p:sp>
        <p:nvSpPr>
          <p:cNvPr id="38" name="Shape 36"/>
          <p:cNvSpPr/>
          <p:nvPr/>
        </p:nvSpPr>
        <p:spPr>
          <a:xfrm>
            <a:off x="3172968" y="2770632"/>
            <a:ext cx="493776" cy="219456"/>
          </a:xfrm>
          <a:prstGeom prst="rect">
            <a:avLst/>
          </a:prstGeom>
          <a:solidFill>
            <a:srgbClr val="0086C3"/>
          </a:solidFill>
          <a:ln w="12700">
            <a:solidFill>
              <a:srgbClr val="0086C3"/>
            </a:solidFill>
            <a:prstDash val="solid"/>
          </a:ln>
        </p:spPr>
      </p:sp>
      <p:sp>
        <p:nvSpPr>
          <p:cNvPr id="39" name="Text 37"/>
          <p:cNvSpPr txBox="1"/>
          <p:nvPr/>
        </p:nvSpPr>
        <p:spPr>
          <a:xfrm>
            <a:off x="5897880" y="2697480"/>
            <a:ext cx="1508760"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&gt;= 90% operator agreement over 4 weeks</a:t>
            </a:r>
            <a:endParaRPr lang="en-US" sz="900" dirty="0"/>
          </a:p>
        </p:txBody>
      </p:sp>
      <p:sp>
        <p:nvSpPr>
          <p:cNvPr id="40" name="Text 38"/>
          <p:cNvSpPr txBox="1"/>
          <p:nvPr/>
        </p:nvSpPr>
        <p:spPr>
          <a:xfrm>
            <a:off x="502920" y="3154680"/>
            <a:ext cx="320040" cy="365760"/>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P3</a:t>
            </a:r>
            <a:endParaRPr lang="en-US" sz="1100" dirty="0"/>
          </a:p>
        </p:txBody>
      </p:sp>
      <p:sp>
        <p:nvSpPr>
          <p:cNvPr id="41" name="Text 39"/>
          <p:cNvSpPr txBox="1"/>
          <p:nvPr/>
        </p:nvSpPr>
        <p:spPr>
          <a:xfrm>
            <a:off x="822960" y="3154680"/>
            <a:ext cx="1645920" cy="365760"/>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PLC hold on severe defects</a:t>
            </a:r>
            <a:endParaRPr lang="en-US" sz="1000" dirty="0"/>
          </a:p>
        </p:txBody>
      </p:sp>
      <p:sp>
        <p:nvSpPr>
          <p:cNvPr id="42" name="Shape 40"/>
          <p:cNvSpPr/>
          <p:nvPr/>
        </p:nvSpPr>
        <p:spPr>
          <a:xfrm>
            <a:off x="2514600" y="3227832"/>
            <a:ext cx="3291840" cy="219456"/>
          </a:xfrm>
          <a:prstGeom prst="rect">
            <a:avLst/>
          </a:prstGeom>
          <a:solidFill>
            <a:srgbClr val="F1F4F7"/>
          </a:solidFill>
          <a:ln w="12700">
            <a:solidFill>
              <a:srgbClr val="F1F4F7"/>
            </a:solidFill>
            <a:prstDash val="solid"/>
          </a:ln>
        </p:spPr>
      </p:sp>
      <p:sp>
        <p:nvSpPr>
          <p:cNvPr id="43" name="Shape 41"/>
          <p:cNvSpPr/>
          <p:nvPr/>
        </p:nvSpPr>
        <p:spPr>
          <a:xfrm>
            <a:off x="3666744" y="3227832"/>
            <a:ext cx="822960" cy="219456"/>
          </a:xfrm>
          <a:prstGeom prst="rect">
            <a:avLst/>
          </a:prstGeom>
          <a:solidFill>
            <a:srgbClr val="2B5B80"/>
          </a:solidFill>
          <a:ln w="12700">
            <a:solidFill>
              <a:srgbClr val="2B5B80"/>
            </a:solidFill>
            <a:prstDash val="solid"/>
          </a:ln>
        </p:spPr>
      </p:sp>
      <p:sp>
        <p:nvSpPr>
          <p:cNvPr id="44" name="Text 42"/>
          <p:cNvSpPr txBox="1"/>
          <p:nvPr/>
        </p:nvSpPr>
        <p:spPr>
          <a:xfrm>
            <a:off x="5897880" y="3154680"/>
            <a:ext cx="1508760"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Holds trusted; downgrade rate measured</a:t>
            </a:r>
            <a:endParaRPr lang="en-US" sz="900" dirty="0"/>
          </a:p>
        </p:txBody>
      </p:sp>
      <p:sp>
        <p:nvSpPr>
          <p:cNvPr id="45" name="Text 43"/>
          <p:cNvSpPr txBox="1"/>
          <p:nvPr/>
        </p:nvSpPr>
        <p:spPr>
          <a:xfrm>
            <a:off x="502920" y="3611880"/>
            <a:ext cx="320040" cy="365760"/>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P4</a:t>
            </a:r>
            <a:endParaRPr lang="en-US" sz="1100" dirty="0"/>
          </a:p>
        </p:txBody>
      </p:sp>
      <p:sp>
        <p:nvSpPr>
          <p:cNvPr id="46" name="Text 44"/>
          <p:cNvSpPr txBox="1"/>
          <p:nvPr/>
        </p:nvSpPr>
        <p:spPr>
          <a:xfrm>
            <a:off x="822960" y="3611880"/>
            <a:ext cx="1645920" cy="365760"/>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Second line and grade</a:t>
            </a:r>
            <a:endParaRPr lang="en-US" sz="1000" dirty="0"/>
          </a:p>
        </p:txBody>
      </p:sp>
      <p:sp>
        <p:nvSpPr>
          <p:cNvPr id="47" name="Shape 45"/>
          <p:cNvSpPr/>
          <p:nvPr/>
        </p:nvSpPr>
        <p:spPr>
          <a:xfrm>
            <a:off x="2514600" y="3685032"/>
            <a:ext cx="3291840" cy="219456"/>
          </a:xfrm>
          <a:prstGeom prst="rect">
            <a:avLst/>
          </a:prstGeom>
          <a:solidFill>
            <a:srgbClr val="F1F4F7"/>
          </a:solidFill>
          <a:ln w="12700">
            <a:solidFill>
              <a:srgbClr val="F1F4F7"/>
            </a:solidFill>
            <a:prstDash val="solid"/>
          </a:ln>
        </p:spPr>
      </p:sp>
      <p:sp>
        <p:nvSpPr>
          <p:cNvPr id="48" name="Shape 46"/>
          <p:cNvSpPr/>
          <p:nvPr/>
        </p:nvSpPr>
        <p:spPr>
          <a:xfrm>
            <a:off x="4489704" y="3685032"/>
            <a:ext cx="1316736" cy="219456"/>
          </a:xfrm>
          <a:prstGeom prst="rect">
            <a:avLst/>
          </a:prstGeom>
          <a:solidFill>
            <a:srgbClr val="2B5B80"/>
          </a:solidFill>
          <a:ln w="12700">
            <a:solidFill>
              <a:srgbClr val="2B5B80"/>
            </a:solidFill>
            <a:prstDash val="solid"/>
          </a:ln>
        </p:spPr>
      </p:sp>
      <p:sp>
        <p:nvSpPr>
          <p:cNvPr id="49" name="Text 47"/>
          <p:cNvSpPr txBox="1"/>
          <p:nvPr/>
        </p:nvSpPr>
        <p:spPr>
          <a:xfrm>
            <a:off x="5897880" y="3611880"/>
            <a:ext cx="1508760"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Fleet rollout decision on real payback</a:t>
            </a:r>
            <a:endParaRPr lang="en-US" sz="900" dirty="0"/>
          </a:p>
        </p:txBody>
      </p:sp>
      <p:sp>
        <p:nvSpPr>
          <p:cNvPr id="50" name="Shape 48"/>
          <p:cNvSpPr/>
          <p:nvPr/>
        </p:nvSpPr>
        <p:spPr>
          <a:xfrm>
            <a:off x="3657600" y="1783080"/>
            <a:ext cx="18288" cy="2240280"/>
          </a:xfrm>
          <a:prstGeom prst="rect">
            <a:avLst/>
          </a:prstGeom>
          <a:solidFill>
            <a:srgbClr val="C62828"/>
          </a:solidFill>
          <a:ln w="12700">
            <a:solidFill>
              <a:srgbClr val="C62828"/>
            </a:solidFill>
            <a:prstDash val="solid"/>
          </a:ln>
        </p:spPr>
      </p:sp>
      <p:sp>
        <p:nvSpPr>
          <p:cNvPr id="51" name="Text 49"/>
          <p:cNvSpPr txBox="1"/>
          <p:nvPr/>
        </p:nvSpPr>
        <p:spPr>
          <a:xfrm>
            <a:off x="3712464" y="4023360"/>
            <a:ext cx="1280160" cy="182880"/>
          </a:xfrm>
          <a:prstGeom prst="rect">
            <a:avLst/>
          </a:prstGeom>
          <a:noFill/>
          <a:ln/>
        </p:spPr>
        <p:txBody>
          <a:bodyPr wrap="square" lIns="0" tIns="0" rIns="0" bIns="0" rtlCol="0" anchor="t"/>
          <a:lstStyle/>
          <a:p>
            <a:pPr indent="0" marL="0">
              <a:buNone/>
            </a:pPr>
            <a:r>
              <a:rPr lang="en-US" sz="900" b="1" dirty="0">
                <a:solidFill>
                  <a:srgbClr val="C62828"/>
                </a:solidFill>
                <a:latin typeface="Calibri" pitchFamily="34" charset="0"/>
                <a:ea typeface="Calibri" pitchFamily="34" charset="-122"/>
                <a:cs typeface="Calibri" pitchFamily="34" charset="-120"/>
              </a:rPr>
              <a:t>pilot go / no-go</a:t>
            </a:r>
            <a:endParaRPr lang="en-US" sz="900" dirty="0"/>
          </a:p>
        </p:txBody>
      </p:sp>
      <p:sp>
        <p:nvSpPr>
          <p:cNvPr id="52" name="Text 50"/>
          <p:cNvSpPr txBox="1"/>
          <p:nvPr/>
        </p:nvSpPr>
        <p:spPr>
          <a:xfrm>
            <a:off x="5989320" y="1554480"/>
            <a:ext cx="1463040" cy="182880"/>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EXIT GATE</a:t>
            </a:r>
            <a:endParaRPr lang="en-US" sz="900" dirty="0"/>
          </a:p>
        </p:txBody>
      </p:sp>
      <p:sp>
        <p:nvSpPr>
          <p:cNvPr id="53" name="Shape 51"/>
          <p:cNvSpPr/>
          <p:nvPr/>
        </p:nvSpPr>
        <p:spPr>
          <a:xfrm>
            <a:off x="7635240" y="1234440"/>
            <a:ext cx="4096512" cy="274320"/>
          </a:xfrm>
          <a:prstGeom prst="rect">
            <a:avLst/>
          </a:prstGeom>
          <a:solidFill>
            <a:srgbClr val="2B5B80"/>
          </a:solidFill>
          <a:ln w="12700">
            <a:solidFill>
              <a:srgbClr val="2B5B80"/>
            </a:solidFill>
            <a:prstDash val="solid"/>
          </a:ln>
        </p:spPr>
      </p:sp>
      <p:sp>
        <p:nvSpPr>
          <p:cNvPr id="54" name="Text 52"/>
          <p:cNvSpPr txBox="1"/>
          <p:nvPr/>
        </p:nvSpPr>
        <p:spPr>
          <a:xfrm>
            <a:off x="7726680" y="1234440"/>
            <a:ext cx="391363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Cost per line, estimated (INR lakh)</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635240" y="1554480"/>
          <a:ext cx="4096512" cy="914400"/>
        </p:xfrm>
        <a:graphic>
          <a:graphicData uri="http://schemas.openxmlformats.org/drawingml/2006/table">
            <a:tbl>
              <a:tblPr/>
              <a:tblGrid>
                <a:gridCol w="2404872"/>
                <a:gridCol w="868680"/>
                <a:gridCol w="822960"/>
              </a:tblGrid>
              <a:tr h="242316">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Item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Qty</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INR lakh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242316">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Line-scan cameras and optics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60-95</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42316">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LED lighting, bright + dark field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25-50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42316">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Edge GPU servers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2-3</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45-75</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42316">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Enclosures, cooling, encoder, network</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1 set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30-50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42316">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PLC / L2 / MES integration, commissioning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60-100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42316">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Labelling and fine-tuning (P1)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5,000 frames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30-50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42316">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Total capex</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b="1" dirty="0">
                          <a:solidFill>
                            <a:srgbClr val="0086C3"/>
                          </a:solidFill>
                          <a:latin typeface="Calibri" pitchFamily="34" charset="0"/>
                          <a:ea typeface="Calibri" pitchFamily="34" charset="-122"/>
                          <a:cs typeface="Calibri" pitchFamily="34" charset="-120"/>
                        </a:rPr>
                        <a:t>250-420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42316">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Run cost: 2 engineers, spares, support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per year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~50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56" name="Shape 53"/>
          <p:cNvSpPr/>
          <p:nvPr/>
        </p:nvSpPr>
        <p:spPr>
          <a:xfrm>
            <a:off x="457200" y="4297680"/>
            <a:ext cx="4754880" cy="274320"/>
          </a:xfrm>
          <a:prstGeom prst="rect">
            <a:avLst/>
          </a:prstGeom>
          <a:solidFill>
            <a:srgbClr val="2B5B80"/>
          </a:solidFill>
          <a:ln w="12700">
            <a:solidFill>
              <a:srgbClr val="2B5B80"/>
            </a:solidFill>
            <a:prstDash val="solid"/>
          </a:ln>
        </p:spPr>
      </p:sp>
      <p:sp>
        <p:nvSpPr>
          <p:cNvPr id="57" name="Text 54"/>
          <p:cNvSpPr txBox="1"/>
          <p:nvPr/>
        </p:nvSpPr>
        <p:spPr>
          <a:xfrm>
            <a:off x="548640" y="4297680"/>
            <a:ext cx="4572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Plant integration: read-only first, interlock last</a:t>
            </a:r>
            <a:endParaRPr lang="en-US" sz="1100" dirty="0"/>
          </a:p>
        </p:txBody>
      </p:sp>
      <p:sp>
        <p:nvSpPr>
          <p:cNvPr id="58" name="Shape 55"/>
          <p:cNvSpPr/>
          <p:nvPr/>
        </p:nvSpPr>
        <p:spPr>
          <a:xfrm>
            <a:off x="457200" y="4617720"/>
            <a:ext cx="4754880" cy="384048"/>
          </a:xfrm>
          <a:prstGeom prst="roundRect">
            <a:avLst>
              <a:gd name="adj" fmla="val 14286"/>
            </a:avLst>
          </a:prstGeom>
          <a:solidFill>
            <a:srgbClr val="F1F4F7"/>
          </a:solidFill>
          <a:ln w="12700">
            <a:solidFill>
              <a:srgbClr val="F1F4F7"/>
            </a:solidFill>
            <a:prstDash val="solid"/>
          </a:ln>
        </p:spPr>
      </p:sp>
      <p:sp>
        <p:nvSpPr>
          <p:cNvPr id="59" name="Text 56"/>
          <p:cNvSpPr txBox="1"/>
          <p:nvPr/>
        </p:nvSpPr>
        <p:spPr>
          <a:xfrm>
            <a:off x="548640" y="4617720"/>
            <a:ext cx="1325880" cy="384048"/>
          </a:xfrm>
          <a:prstGeom prst="rect">
            <a:avLst/>
          </a:prstGeom>
          <a:noFill/>
          <a:ln/>
        </p:spPr>
        <p:txBody>
          <a:bodyPr wrap="square" lIns="0" tIns="0" rIns="0" bIns="0" rtlCol="0" anchor="ctr"/>
          <a:lstStyle/>
          <a:p>
            <a:pPr indent="0" marL="0">
              <a:buNone/>
            </a:pPr>
            <a:r>
              <a:rPr lang="en-US" sz="1000" b="1" dirty="0">
                <a:solidFill>
                  <a:srgbClr val="143A5A"/>
                </a:solidFill>
                <a:latin typeface="Calibri" pitchFamily="34" charset="0"/>
                <a:ea typeface="Calibri" pitchFamily="34" charset="-122"/>
                <a:cs typeface="Calibri" pitchFamily="34" charset="-120"/>
              </a:rPr>
              <a:t>L3  MES / quality</a:t>
            </a:r>
            <a:endParaRPr lang="en-US" sz="1000" dirty="0"/>
          </a:p>
        </p:txBody>
      </p:sp>
      <p:sp>
        <p:nvSpPr>
          <p:cNvPr id="60" name="Text 57"/>
          <p:cNvSpPr txBox="1"/>
          <p:nvPr/>
        </p:nvSpPr>
        <p:spPr>
          <a:xfrm>
            <a:off x="1874520" y="4617720"/>
            <a:ext cx="2788920"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Coil record, disposition, defect map for the customer certificate</a:t>
            </a:r>
            <a:endParaRPr lang="en-US" sz="900" dirty="0"/>
          </a:p>
        </p:txBody>
      </p:sp>
      <p:sp>
        <p:nvSpPr>
          <p:cNvPr id="61" name="Text 58"/>
          <p:cNvSpPr txBox="1"/>
          <p:nvPr/>
        </p:nvSpPr>
        <p:spPr>
          <a:xfrm>
            <a:off x="4709160" y="4617720"/>
            <a:ext cx="457200" cy="384048"/>
          </a:xfrm>
          <a:prstGeom prst="rect">
            <a:avLst/>
          </a:prstGeom>
          <a:noFill/>
          <a:ln/>
        </p:spPr>
        <p:txBody>
          <a:bodyPr wrap="square" lIns="0" tIns="0" rIns="0" bIns="0" rtlCol="0" anchor="ctr"/>
          <a:lstStyle/>
          <a:p>
            <a:pPr algn="ctr" indent="0" marL="0">
              <a:buNone/>
            </a:pPr>
            <a:r>
              <a:rPr lang="en-US" sz="1000" b="1" dirty="0">
                <a:solidFill>
                  <a:srgbClr val="0086C3"/>
                </a:solidFill>
                <a:latin typeface="Calibri" pitchFamily="34" charset="0"/>
                <a:ea typeface="Calibri" pitchFamily="34" charset="-122"/>
                <a:cs typeface="Calibri" pitchFamily="34" charset="-120"/>
              </a:rPr>
              <a:t>P2</a:t>
            </a:r>
            <a:endParaRPr lang="en-US" sz="1000" dirty="0"/>
          </a:p>
        </p:txBody>
      </p:sp>
      <p:sp>
        <p:nvSpPr>
          <p:cNvPr id="62" name="Shape 59"/>
          <p:cNvSpPr/>
          <p:nvPr/>
        </p:nvSpPr>
        <p:spPr>
          <a:xfrm>
            <a:off x="457200" y="5047488"/>
            <a:ext cx="4754880" cy="384048"/>
          </a:xfrm>
          <a:prstGeom prst="roundRect">
            <a:avLst>
              <a:gd name="adj" fmla="val 14286"/>
            </a:avLst>
          </a:prstGeom>
          <a:solidFill>
            <a:srgbClr val="F1F4F7"/>
          </a:solidFill>
          <a:ln w="12700">
            <a:solidFill>
              <a:srgbClr val="F1F4F7"/>
            </a:solidFill>
            <a:prstDash val="solid"/>
          </a:ln>
        </p:spPr>
      </p:sp>
      <p:sp>
        <p:nvSpPr>
          <p:cNvPr id="63" name="Text 60"/>
          <p:cNvSpPr txBox="1"/>
          <p:nvPr/>
        </p:nvSpPr>
        <p:spPr>
          <a:xfrm>
            <a:off x="548640" y="5047488"/>
            <a:ext cx="1325880" cy="384048"/>
          </a:xfrm>
          <a:prstGeom prst="rect">
            <a:avLst/>
          </a:prstGeom>
          <a:noFill/>
          <a:ln/>
        </p:spPr>
        <p:txBody>
          <a:bodyPr wrap="square" lIns="0" tIns="0" rIns="0" bIns="0" rtlCol="0" anchor="ctr"/>
          <a:lstStyle/>
          <a:p>
            <a:pPr indent="0" marL="0">
              <a:buNone/>
            </a:pPr>
            <a:r>
              <a:rPr lang="en-US" sz="1000" b="1" dirty="0">
                <a:solidFill>
                  <a:srgbClr val="143A5A"/>
                </a:solidFill>
                <a:latin typeface="Calibri" pitchFamily="34" charset="0"/>
                <a:ea typeface="Calibri" pitchFamily="34" charset="-122"/>
                <a:cs typeface="Calibri" pitchFamily="34" charset="-120"/>
              </a:rPr>
              <a:t>L2  Process data</a:t>
            </a:r>
            <a:endParaRPr lang="en-US" sz="1000" dirty="0"/>
          </a:p>
        </p:txBody>
      </p:sp>
      <p:sp>
        <p:nvSpPr>
          <p:cNvPr id="64" name="Text 61"/>
          <p:cNvSpPr txBox="1"/>
          <p:nvPr/>
        </p:nvSpPr>
        <p:spPr>
          <a:xfrm>
            <a:off x="1874520" y="5047488"/>
            <a:ext cx="2788920"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Coil ID, grade, gauge, speed via OPC UA; joins each defect to its heat</a:t>
            </a:r>
            <a:endParaRPr lang="en-US" sz="900" dirty="0"/>
          </a:p>
        </p:txBody>
      </p:sp>
      <p:sp>
        <p:nvSpPr>
          <p:cNvPr id="65" name="Text 62"/>
          <p:cNvSpPr txBox="1"/>
          <p:nvPr/>
        </p:nvSpPr>
        <p:spPr>
          <a:xfrm>
            <a:off x="4709160" y="5047488"/>
            <a:ext cx="457200" cy="384048"/>
          </a:xfrm>
          <a:prstGeom prst="rect">
            <a:avLst/>
          </a:prstGeom>
          <a:noFill/>
          <a:ln/>
        </p:spPr>
        <p:txBody>
          <a:bodyPr wrap="square" lIns="0" tIns="0" rIns="0" bIns="0" rtlCol="0" anchor="ctr"/>
          <a:lstStyle/>
          <a:p>
            <a:pPr algn="ctr" indent="0" marL="0">
              <a:buNone/>
            </a:pPr>
            <a:r>
              <a:rPr lang="en-US" sz="1000" b="1" dirty="0">
                <a:solidFill>
                  <a:srgbClr val="0086C3"/>
                </a:solidFill>
                <a:latin typeface="Calibri" pitchFamily="34" charset="0"/>
                <a:ea typeface="Calibri" pitchFamily="34" charset="-122"/>
                <a:cs typeface="Calibri" pitchFamily="34" charset="-120"/>
              </a:rPr>
              <a:t>P0</a:t>
            </a:r>
            <a:endParaRPr lang="en-US" sz="1000" dirty="0"/>
          </a:p>
        </p:txBody>
      </p:sp>
      <p:sp>
        <p:nvSpPr>
          <p:cNvPr id="66" name="Shape 63"/>
          <p:cNvSpPr/>
          <p:nvPr/>
        </p:nvSpPr>
        <p:spPr>
          <a:xfrm>
            <a:off x="457200" y="5477256"/>
            <a:ext cx="4754880" cy="384048"/>
          </a:xfrm>
          <a:prstGeom prst="roundRect">
            <a:avLst>
              <a:gd name="adj" fmla="val 14286"/>
            </a:avLst>
          </a:prstGeom>
          <a:solidFill>
            <a:srgbClr val="E4EEF6"/>
          </a:solidFill>
          <a:ln w="12700">
            <a:solidFill>
              <a:srgbClr val="E4EEF6"/>
            </a:solidFill>
            <a:prstDash val="solid"/>
          </a:ln>
        </p:spPr>
      </p:sp>
      <p:sp>
        <p:nvSpPr>
          <p:cNvPr id="67" name="Text 64"/>
          <p:cNvSpPr txBox="1"/>
          <p:nvPr/>
        </p:nvSpPr>
        <p:spPr>
          <a:xfrm>
            <a:off x="548640" y="5477256"/>
            <a:ext cx="1325880" cy="384048"/>
          </a:xfrm>
          <a:prstGeom prst="rect">
            <a:avLst/>
          </a:prstGeom>
          <a:noFill/>
          <a:ln/>
        </p:spPr>
        <p:txBody>
          <a:bodyPr wrap="square" lIns="0" tIns="0" rIns="0" bIns="0" rtlCol="0" anchor="ctr"/>
          <a:lstStyle/>
          <a:p>
            <a:pPr indent="0" marL="0">
              <a:buNone/>
            </a:pPr>
            <a:r>
              <a:rPr lang="en-US" sz="1000" b="1" dirty="0">
                <a:solidFill>
                  <a:srgbClr val="143A5A"/>
                </a:solidFill>
                <a:latin typeface="Calibri" pitchFamily="34" charset="0"/>
                <a:ea typeface="Calibri" pitchFamily="34" charset="-122"/>
                <a:cs typeface="Calibri" pitchFamily="34" charset="-120"/>
              </a:rPr>
              <a:t>L1  PLC</a:t>
            </a:r>
            <a:endParaRPr lang="en-US" sz="1000" dirty="0"/>
          </a:p>
        </p:txBody>
      </p:sp>
      <p:sp>
        <p:nvSpPr>
          <p:cNvPr id="68" name="Text 65"/>
          <p:cNvSpPr txBox="1"/>
          <p:nvPr/>
        </p:nvSpPr>
        <p:spPr>
          <a:xfrm>
            <a:off x="1874520" y="5477256"/>
            <a:ext cx="2788920"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Slow or hold on severe defects; the only write path, enabled in P3</a:t>
            </a:r>
            <a:endParaRPr lang="en-US" sz="900" dirty="0"/>
          </a:p>
        </p:txBody>
      </p:sp>
      <p:sp>
        <p:nvSpPr>
          <p:cNvPr id="69" name="Text 66"/>
          <p:cNvSpPr txBox="1"/>
          <p:nvPr/>
        </p:nvSpPr>
        <p:spPr>
          <a:xfrm>
            <a:off x="4709160" y="5477256"/>
            <a:ext cx="457200" cy="384048"/>
          </a:xfrm>
          <a:prstGeom prst="rect">
            <a:avLst/>
          </a:prstGeom>
          <a:noFill/>
          <a:ln/>
        </p:spPr>
        <p:txBody>
          <a:bodyPr wrap="square" lIns="0" tIns="0" rIns="0" bIns="0" rtlCol="0" anchor="ctr"/>
          <a:lstStyle/>
          <a:p>
            <a:pPr algn="ctr" indent="0" marL="0">
              <a:buNone/>
            </a:pPr>
            <a:r>
              <a:rPr lang="en-US" sz="1000" b="1" dirty="0">
                <a:solidFill>
                  <a:srgbClr val="0086C3"/>
                </a:solidFill>
                <a:latin typeface="Calibri" pitchFamily="34" charset="0"/>
                <a:ea typeface="Calibri" pitchFamily="34" charset="-122"/>
                <a:cs typeface="Calibri" pitchFamily="34" charset="-120"/>
              </a:rPr>
              <a:t>P3</a:t>
            </a:r>
            <a:endParaRPr lang="en-US" sz="1000" dirty="0"/>
          </a:p>
        </p:txBody>
      </p:sp>
      <p:sp>
        <p:nvSpPr>
          <p:cNvPr id="70" name="Shape 67"/>
          <p:cNvSpPr/>
          <p:nvPr/>
        </p:nvSpPr>
        <p:spPr>
          <a:xfrm>
            <a:off x="5440680" y="4297680"/>
            <a:ext cx="6291072" cy="274320"/>
          </a:xfrm>
          <a:prstGeom prst="rect">
            <a:avLst/>
          </a:prstGeom>
          <a:solidFill>
            <a:srgbClr val="2B5B80"/>
          </a:solidFill>
          <a:ln w="12700">
            <a:solidFill>
              <a:srgbClr val="2B5B80"/>
            </a:solidFill>
            <a:prstDash val="solid"/>
          </a:ln>
        </p:spPr>
      </p:sp>
      <p:sp>
        <p:nvSpPr>
          <p:cNvPr id="71" name="Text 68"/>
          <p:cNvSpPr txBox="1"/>
          <p:nvPr/>
        </p:nvSpPr>
        <p:spPr>
          <a:xfrm>
            <a:off x="5532120" y="4297680"/>
            <a:ext cx="610819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Who does what (RACI)</a:t>
            </a:r>
            <a:endParaRPr lang="en-US" sz="11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5440680" y="4590288"/>
          <a:ext cx="6291072" cy="914400"/>
        </p:xfrm>
        <a:graphic>
          <a:graphicData uri="http://schemas.openxmlformats.org/drawingml/2006/table">
            <a:tbl>
              <a:tblPr/>
              <a:tblGrid>
                <a:gridCol w="2011680"/>
                <a:gridCol w="868680"/>
                <a:gridCol w="960120"/>
                <a:gridCol w="758952"/>
                <a:gridCol w="850392"/>
                <a:gridCol w="841248"/>
              </a:tblGrid>
              <a:tr h="219456">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Activity</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JSL Quality</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JSL Automation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Line ops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Metallurgy</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Project team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219456">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Install cameras, line access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dirty="0">
                          <a:solidFill>
                            <a:srgbClr val="141C24"/>
                          </a:solidFill>
                          <a:latin typeface="Calibri" pitchFamily="34" charset="0"/>
                          <a:ea typeface="Calibri" pitchFamily="34" charset="-122"/>
                          <a:cs typeface="Calibri" pitchFamily="34" charset="-120"/>
                        </a:rPr>
                        <a:t>C</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0086C3"/>
                          </a:solidFill>
                          <a:latin typeface="Calibri" pitchFamily="34" charset="0"/>
                          <a:ea typeface="Calibri" pitchFamily="34" charset="-122"/>
                          <a:cs typeface="Calibri" pitchFamily="34" charset="-120"/>
                        </a:rPr>
                        <a:t>A</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dirty="0">
                          <a:solidFill>
                            <a:srgbClr val="141C24"/>
                          </a:solidFill>
                          <a:latin typeface="Calibri" pitchFamily="34" charset="0"/>
                          <a:ea typeface="Calibri" pitchFamily="34" charset="-122"/>
                          <a:cs typeface="Calibri" pitchFamily="34" charset="-120"/>
                        </a:rPr>
                        <a:t>I</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19456">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Label frames, fix grade matrix</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0086C3"/>
                          </a:solidFill>
                          <a:latin typeface="Calibri" pitchFamily="34" charset="0"/>
                          <a:ea typeface="Calibri" pitchFamily="34" charset="-122"/>
                          <a:cs typeface="Calibri" pitchFamily="34" charset="-120"/>
                        </a:rPr>
                        <a:t>A</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dirty="0">
                          <a:solidFill>
                            <a:srgbClr val="141C24"/>
                          </a:solidFill>
                          <a:latin typeface="Calibri" pitchFamily="34" charset="0"/>
                          <a:ea typeface="Calibri" pitchFamily="34" charset="-122"/>
                          <a:cs typeface="Calibri" pitchFamily="34" charset="-120"/>
                        </a:rPr>
                        <a:t>I</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dirty="0">
                          <a:solidFill>
                            <a:srgbClr val="141C24"/>
                          </a:solidFill>
                          <a:latin typeface="Calibri" pitchFamily="34" charset="0"/>
                          <a:ea typeface="Calibri" pitchFamily="34" charset="-122"/>
                          <a:cs typeface="Calibri" pitchFamily="34" charset="-120"/>
                        </a:rPr>
                        <a:t>C</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19456">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Train, calibrate, run model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dirty="0">
                          <a:solidFill>
                            <a:srgbClr val="141C24"/>
                          </a:solidFill>
                          <a:latin typeface="Calibri" pitchFamily="34" charset="0"/>
                          <a:ea typeface="Calibri" pitchFamily="34" charset="-122"/>
                          <a:cs typeface="Calibri" pitchFamily="34" charset="-120"/>
                        </a:rPr>
                        <a:t>C</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dirty="0">
                          <a:solidFill>
                            <a:srgbClr val="141C24"/>
                          </a:solidFill>
                          <a:latin typeface="Calibri" pitchFamily="34" charset="0"/>
                          <a:ea typeface="Calibri" pitchFamily="34" charset="-122"/>
                          <a:cs typeface="Calibri" pitchFamily="34" charset="-120"/>
                        </a:rPr>
                        <a:t>C</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dirty="0">
                          <a:solidFill>
                            <a:srgbClr val="141C24"/>
                          </a:solidFill>
                          <a:latin typeface="Calibri" pitchFamily="34" charset="0"/>
                          <a:ea typeface="Calibri" pitchFamily="34" charset="-122"/>
                          <a:cs typeface="Calibri" pitchFamily="34" charset="-120"/>
                        </a:rPr>
                        <a:t>I</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dirty="0">
                          <a:solidFill>
                            <a:srgbClr val="141C24"/>
                          </a:solidFill>
                          <a:latin typeface="Calibri" pitchFamily="34" charset="0"/>
                          <a:ea typeface="Calibri" pitchFamily="34" charset="-122"/>
                          <a:cs typeface="Calibri" pitchFamily="34" charset="-120"/>
                        </a:rPr>
                        <a:t>C</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0086C3"/>
                          </a:solidFill>
                          <a:latin typeface="Calibri" pitchFamily="34" charset="0"/>
                          <a:ea typeface="Calibri" pitchFamily="34" charset="-122"/>
                          <a:cs typeface="Calibri" pitchFamily="34" charset="-120"/>
                        </a:rPr>
                        <a:t>A</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19456">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PLC / MES integration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dirty="0">
                          <a:solidFill>
                            <a:srgbClr val="141C24"/>
                          </a:solidFill>
                          <a:latin typeface="Calibri" pitchFamily="34" charset="0"/>
                          <a:ea typeface="Calibri" pitchFamily="34" charset="-122"/>
                          <a:cs typeface="Calibri" pitchFamily="34" charset="-120"/>
                        </a:rPr>
                        <a:t>C</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0086C3"/>
                          </a:solidFill>
                          <a:latin typeface="Calibri" pitchFamily="34" charset="0"/>
                          <a:ea typeface="Calibri" pitchFamily="34" charset="-122"/>
                          <a:cs typeface="Calibri" pitchFamily="34" charset="-120"/>
                        </a:rPr>
                        <a:t>A</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dirty="0">
                          <a:solidFill>
                            <a:srgbClr val="141C24"/>
                          </a:solidFill>
                          <a:latin typeface="Calibri" pitchFamily="34" charset="0"/>
                          <a:ea typeface="Calibri" pitchFamily="34" charset="-122"/>
                          <a:cs typeface="Calibri" pitchFamily="34" charset="-120"/>
                        </a:rPr>
                        <a:t>C</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dirty="0">
                          <a:solidFill>
                            <a:srgbClr val="141C24"/>
                          </a:solidFill>
                          <a:latin typeface="Calibri" pitchFamily="34" charset="0"/>
                          <a:ea typeface="Calibri" pitchFamily="34" charset="-122"/>
                          <a:cs typeface="Calibri" pitchFamily="34" charset="-120"/>
                        </a:rPr>
                        <a:t>I</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19456">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Go / no-go at each gate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0086C3"/>
                          </a:solidFill>
                          <a:latin typeface="Calibri" pitchFamily="34" charset="0"/>
                          <a:ea typeface="Calibri" pitchFamily="34" charset="-122"/>
                          <a:cs typeface="Calibri" pitchFamily="34" charset="-120"/>
                        </a:rPr>
                        <a:t>A</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dirty="0">
                          <a:solidFill>
                            <a:srgbClr val="141C24"/>
                          </a:solidFill>
                          <a:latin typeface="Calibri" pitchFamily="34" charset="0"/>
                          <a:ea typeface="Calibri" pitchFamily="34" charset="-122"/>
                          <a:cs typeface="Calibri" pitchFamily="34" charset="-120"/>
                        </a:rPr>
                        <a:t>C</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dirty="0">
                          <a:solidFill>
                            <a:srgbClr val="141C24"/>
                          </a:solidFill>
                          <a:latin typeface="Calibri" pitchFamily="34" charset="0"/>
                          <a:ea typeface="Calibri" pitchFamily="34" charset="-122"/>
                          <a:cs typeface="Calibri" pitchFamily="34" charset="-120"/>
                        </a:rPr>
                        <a:t>C</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dirty="0">
                          <a:solidFill>
                            <a:srgbClr val="141C24"/>
                          </a:solidFill>
                          <a:latin typeface="Calibri" pitchFamily="34" charset="0"/>
                          <a:ea typeface="Calibri" pitchFamily="34" charset="-122"/>
                          <a:cs typeface="Calibri" pitchFamily="34" charset="-120"/>
                        </a:rPr>
                        <a:t>C</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R</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143A5A"/>
          </a:solidFill>
          <a:ln w="12700">
            <a:solidFill>
              <a:srgbClr val="143A5A"/>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NAME]</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Every high risk is retired in P0-P2, before any interlock can slow the mill</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Feasibility is proven where it can be off-site (accuracy, speed, calibration). What only JSL's line can prove is measured in shadow mode first.</a:t>
            </a:r>
            <a:endParaRPr lang="en-US" sz="1200" dirty="0"/>
          </a:p>
        </p:txBody>
      </p:sp>
      <p:sp>
        <p:nvSpPr>
          <p:cNvPr id="16" name="Text 14"/>
          <p:cNvSpPr txBox="1"/>
          <p:nvPr/>
        </p:nvSpPr>
        <p:spPr>
          <a:xfrm>
            <a:off x="457200" y="5989320"/>
            <a:ext cx="11274552" cy="219456"/>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Evidence column from our measured reports (AP50 per class on NEU-DET and GC10 held-out sets). KPI targets are proposed pilot targets, to be agreed with JSL Quality in P0.</a:t>
            </a:r>
            <a:endParaRPr lang="en-US" sz="900" dirty="0"/>
          </a:p>
        </p:txBody>
      </p:sp>
      <p:sp>
        <p:nvSpPr>
          <p:cNvPr id="17" name="Shape 15"/>
          <p:cNvSpPr/>
          <p:nvPr/>
        </p:nvSpPr>
        <p:spPr>
          <a:xfrm>
            <a:off x="457200" y="1234440"/>
            <a:ext cx="3291840"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31089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Risk map (likelihood x impact)</a:t>
            </a:r>
            <a:endParaRPr lang="en-US" sz="1100" dirty="0"/>
          </a:p>
        </p:txBody>
      </p:sp>
      <p:sp>
        <p:nvSpPr>
          <p:cNvPr id="19" name="Shape 17"/>
          <p:cNvSpPr/>
          <p:nvPr/>
        </p:nvSpPr>
        <p:spPr>
          <a:xfrm>
            <a:off x="1005840" y="1645920"/>
            <a:ext cx="640080" cy="640080"/>
          </a:xfrm>
          <a:prstGeom prst="rect">
            <a:avLst/>
          </a:prstGeom>
          <a:solidFill>
            <a:srgbClr val="A9CBE6"/>
          </a:solidFill>
          <a:ln w="12700">
            <a:solidFill>
              <a:srgbClr val="A9CBE6"/>
            </a:solidFill>
            <a:prstDash val="solid"/>
          </a:ln>
        </p:spPr>
      </p:sp>
      <p:sp>
        <p:nvSpPr>
          <p:cNvPr id="20" name="Shape 18"/>
          <p:cNvSpPr/>
          <p:nvPr/>
        </p:nvSpPr>
        <p:spPr>
          <a:xfrm>
            <a:off x="1682496" y="1645920"/>
            <a:ext cx="640080" cy="640080"/>
          </a:xfrm>
          <a:prstGeom prst="rect">
            <a:avLst/>
          </a:prstGeom>
          <a:solidFill>
            <a:srgbClr val="5E9CCB"/>
          </a:solidFill>
          <a:ln w="12700">
            <a:solidFill>
              <a:srgbClr val="5E9CCB"/>
            </a:solidFill>
            <a:prstDash val="solid"/>
          </a:ln>
        </p:spPr>
      </p:sp>
      <p:sp>
        <p:nvSpPr>
          <p:cNvPr id="21" name="Shape 19"/>
          <p:cNvSpPr/>
          <p:nvPr/>
        </p:nvSpPr>
        <p:spPr>
          <a:xfrm>
            <a:off x="2359152" y="1645920"/>
            <a:ext cx="640080" cy="640080"/>
          </a:xfrm>
          <a:prstGeom prst="rect">
            <a:avLst/>
          </a:prstGeom>
          <a:solidFill>
            <a:srgbClr val="1F6FA8"/>
          </a:solidFill>
          <a:ln w="12700">
            <a:solidFill>
              <a:srgbClr val="1F6FA8"/>
            </a:solidFill>
            <a:prstDash val="solid"/>
          </a:ln>
        </p:spPr>
      </p:sp>
      <p:sp>
        <p:nvSpPr>
          <p:cNvPr id="22" name="Shape 20"/>
          <p:cNvSpPr/>
          <p:nvPr/>
        </p:nvSpPr>
        <p:spPr>
          <a:xfrm>
            <a:off x="1005840" y="2322576"/>
            <a:ext cx="640080" cy="640080"/>
          </a:xfrm>
          <a:prstGeom prst="rect">
            <a:avLst/>
          </a:prstGeom>
          <a:solidFill>
            <a:srgbClr val="DCEAF5"/>
          </a:solidFill>
          <a:ln w="12700">
            <a:solidFill>
              <a:srgbClr val="DCEAF5"/>
            </a:solidFill>
            <a:prstDash val="solid"/>
          </a:ln>
        </p:spPr>
      </p:sp>
      <p:sp>
        <p:nvSpPr>
          <p:cNvPr id="23" name="Shape 21"/>
          <p:cNvSpPr/>
          <p:nvPr/>
        </p:nvSpPr>
        <p:spPr>
          <a:xfrm>
            <a:off x="1682496" y="2322576"/>
            <a:ext cx="640080" cy="640080"/>
          </a:xfrm>
          <a:prstGeom prst="rect">
            <a:avLst/>
          </a:prstGeom>
          <a:solidFill>
            <a:srgbClr val="A9CBE6"/>
          </a:solidFill>
          <a:ln w="12700">
            <a:solidFill>
              <a:srgbClr val="A9CBE6"/>
            </a:solidFill>
            <a:prstDash val="solid"/>
          </a:ln>
        </p:spPr>
      </p:sp>
      <p:sp>
        <p:nvSpPr>
          <p:cNvPr id="24" name="Shape 22"/>
          <p:cNvSpPr/>
          <p:nvPr/>
        </p:nvSpPr>
        <p:spPr>
          <a:xfrm>
            <a:off x="2359152" y="2322576"/>
            <a:ext cx="640080" cy="640080"/>
          </a:xfrm>
          <a:prstGeom prst="rect">
            <a:avLst/>
          </a:prstGeom>
          <a:solidFill>
            <a:srgbClr val="5E9CCB"/>
          </a:solidFill>
          <a:ln w="12700">
            <a:solidFill>
              <a:srgbClr val="5E9CCB"/>
            </a:solidFill>
            <a:prstDash val="solid"/>
          </a:ln>
        </p:spPr>
      </p:sp>
      <p:sp>
        <p:nvSpPr>
          <p:cNvPr id="25" name="Shape 23"/>
          <p:cNvSpPr/>
          <p:nvPr/>
        </p:nvSpPr>
        <p:spPr>
          <a:xfrm>
            <a:off x="1005840" y="2999232"/>
            <a:ext cx="640080" cy="640080"/>
          </a:xfrm>
          <a:prstGeom prst="rect">
            <a:avLst/>
          </a:prstGeom>
          <a:solidFill>
            <a:srgbClr val="F1F4F7"/>
          </a:solidFill>
          <a:ln w="12700">
            <a:solidFill>
              <a:srgbClr val="F1F4F7"/>
            </a:solidFill>
            <a:prstDash val="solid"/>
          </a:ln>
        </p:spPr>
      </p:sp>
      <p:sp>
        <p:nvSpPr>
          <p:cNvPr id="26" name="Shape 24"/>
          <p:cNvSpPr/>
          <p:nvPr/>
        </p:nvSpPr>
        <p:spPr>
          <a:xfrm>
            <a:off x="1682496" y="2999232"/>
            <a:ext cx="640080" cy="640080"/>
          </a:xfrm>
          <a:prstGeom prst="rect">
            <a:avLst/>
          </a:prstGeom>
          <a:solidFill>
            <a:srgbClr val="DCEAF5"/>
          </a:solidFill>
          <a:ln w="12700">
            <a:solidFill>
              <a:srgbClr val="DCEAF5"/>
            </a:solidFill>
            <a:prstDash val="solid"/>
          </a:ln>
        </p:spPr>
      </p:sp>
      <p:sp>
        <p:nvSpPr>
          <p:cNvPr id="27" name="Shape 25"/>
          <p:cNvSpPr/>
          <p:nvPr/>
        </p:nvSpPr>
        <p:spPr>
          <a:xfrm>
            <a:off x="2359152" y="2999232"/>
            <a:ext cx="640080" cy="640080"/>
          </a:xfrm>
          <a:prstGeom prst="rect">
            <a:avLst/>
          </a:prstGeom>
          <a:solidFill>
            <a:srgbClr val="A9CBE6"/>
          </a:solidFill>
          <a:ln w="12700">
            <a:solidFill>
              <a:srgbClr val="A9CBE6"/>
            </a:solidFill>
            <a:prstDash val="solid"/>
          </a:ln>
        </p:spPr>
      </p:sp>
      <p:sp>
        <p:nvSpPr>
          <p:cNvPr id="28" name="Text 26"/>
          <p:cNvSpPr txBox="1"/>
          <p:nvPr/>
        </p:nvSpPr>
        <p:spPr>
          <a:xfrm rot="16200000">
            <a:off x="45720" y="2560320"/>
            <a:ext cx="914400" cy="182880"/>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LIKELIHOOD</a:t>
            </a:r>
            <a:endParaRPr lang="en-US" sz="900" dirty="0"/>
          </a:p>
        </p:txBody>
      </p:sp>
      <p:sp>
        <p:nvSpPr>
          <p:cNvPr id="29" name="Text 27"/>
          <p:cNvSpPr txBox="1"/>
          <p:nvPr/>
        </p:nvSpPr>
        <p:spPr>
          <a:xfrm>
            <a:off x="603504" y="1883664"/>
            <a:ext cx="36576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High</a:t>
            </a:r>
            <a:endParaRPr lang="en-US" sz="900" dirty="0"/>
          </a:p>
        </p:txBody>
      </p:sp>
      <p:sp>
        <p:nvSpPr>
          <p:cNvPr id="30" name="Text 28"/>
          <p:cNvSpPr txBox="1"/>
          <p:nvPr/>
        </p:nvSpPr>
        <p:spPr>
          <a:xfrm>
            <a:off x="603504" y="2560320"/>
            <a:ext cx="36576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Med</a:t>
            </a:r>
            <a:endParaRPr lang="en-US" sz="900" dirty="0"/>
          </a:p>
        </p:txBody>
      </p:sp>
      <p:sp>
        <p:nvSpPr>
          <p:cNvPr id="31" name="Text 29"/>
          <p:cNvSpPr txBox="1"/>
          <p:nvPr/>
        </p:nvSpPr>
        <p:spPr>
          <a:xfrm>
            <a:off x="603504" y="3236976"/>
            <a:ext cx="36576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Low</a:t>
            </a:r>
            <a:endParaRPr lang="en-US" sz="900" dirty="0"/>
          </a:p>
        </p:txBody>
      </p:sp>
      <p:sp>
        <p:nvSpPr>
          <p:cNvPr id="32" name="Text 30"/>
          <p:cNvSpPr txBox="1"/>
          <p:nvPr/>
        </p:nvSpPr>
        <p:spPr>
          <a:xfrm>
            <a:off x="1005840" y="3675888"/>
            <a:ext cx="676656"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Low</a:t>
            </a:r>
            <a:endParaRPr lang="en-US" sz="900" dirty="0"/>
          </a:p>
        </p:txBody>
      </p:sp>
      <p:sp>
        <p:nvSpPr>
          <p:cNvPr id="33" name="Text 31"/>
          <p:cNvSpPr txBox="1"/>
          <p:nvPr/>
        </p:nvSpPr>
        <p:spPr>
          <a:xfrm>
            <a:off x="1682496" y="3675888"/>
            <a:ext cx="676656"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Med</a:t>
            </a:r>
            <a:endParaRPr lang="en-US" sz="900" dirty="0"/>
          </a:p>
        </p:txBody>
      </p:sp>
      <p:sp>
        <p:nvSpPr>
          <p:cNvPr id="34" name="Text 32"/>
          <p:cNvSpPr txBox="1"/>
          <p:nvPr/>
        </p:nvSpPr>
        <p:spPr>
          <a:xfrm>
            <a:off x="2359152" y="3675888"/>
            <a:ext cx="676656"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High</a:t>
            </a:r>
            <a:endParaRPr lang="en-US" sz="900" dirty="0"/>
          </a:p>
        </p:txBody>
      </p:sp>
      <p:sp>
        <p:nvSpPr>
          <p:cNvPr id="35" name="Text 33"/>
          <p:cNvSpPr txBox="1"/>
          <p:nvPr/>
        </p:nvSpPr>
        <p:spPr>
          <a:xfrm>
            <a:off x="1005840" y="3858768"/>
            <a:ext cx="2029968" cy="182880"/>
          </a:xfrm>
          <a:prstGeom prst="rect">
            <a:avLst/>
          </a:prstGeom>
          <a:noFill/>
          <a:ln/>
        </p:spPr>
        <p:txBody>
          <a:bodyPr wrap="square" lIns="0" tIns="0" rIns="0" bIns="0" rtlCol="0" anchor="t"/>
          <a:lstStyle/>
          <a:p>
            <a:pPr algn="ctr" indent="0" marL="0">
              <a:buNone/>
            </a:pPr>
            <a:r>
              <a:rPr lang="en-US" sz="900" b="1" dirty="0">
                <a:solidFill>
                  <a:srgbClr val="5F6B78"/>
                </a:solidFill>
                <a:latin typeface="Calibri" pitchFamily="34" charset="0"/>
                <a:ea typeface="Calibri" pitchFamily="34" charset="-122"/>
                <a:cs typeface="Calibri" pitchFamily="34" charset="-120"/>
              </a:rPr>
              <a:t>IMPACT</a:t>
            </a:r>
            <a:endParaRPr lang="en-US" sz="900" dirty="0"/>
          </a:p>
        </p:txBody>
      </p:sp>
      <p:sp>
        <p:nvSpPr>
          <p:cNvPr id="36" name="Shape 34"/>
          <p:cNvSpPr/>
          <p:nvPr/>
        </p:nvSpPr>
        <p:spPr>
          <a:xfrm>
            <a:off x="2414016" y="1819656"/>
            <a:ext cx="274320" cy="274320"/>
          </a:xfrm>
          <a:prstGeom prst="ellipse">
            <a:avLst/>
          </a:prstGeom>
          <a:solidFill>
            <a:srgbClr val="143A5A"/>
          </a:solidFill>
          <a:ln w="12700">
            <a:solidFill>
              <a:srgbClr val="143A5A"/>
            </a:solidFill>
            <a:prstDash val="solid"/>
          </a:ln>
        </p:spPr>
      </p:sp>
      <p:sp>
        <p:nvSpPr>
          <p:cNvPr id="37" name="Text 35"/>
          <p:cNvSpPr txBox="1"/>
          <p:nvPr/>
        </p:nvSpPr>
        <p:spPr>
          <a:xfrm>
            <a:off x="2414016" y="181965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8" name="Shape 36"/>
          <p:cNvSpPr/>
          <p:nvPr/>
        </p:nvSpPr>
        <p:spPr>
          <a:xfrm>
            <a:off x="2414016" y="2496312"/>
            <a:ext cx="274320" cy="274320"/>
          </a:xfrm>
          <a:prstGeom prst="ellipse">
            <a:avLst/>
          </a:prstGeom>
          <a:solidFill>
            <a:srgbClr val="143A5A"/>
          </a:solidFill>
          <a:ln w="12700">
            <a:solidFill>
              <a:srgbClr val="143A5A"/>
            </a:solidFill>
            <a:prstDash val="solid"/>
          </a:ln>
        </p:spPr>
      </p:sp>
      <p:sp>
        <p:nvSpPr>
          <p:cNvPr id="39" name="Text 37"/>
          <p:cNvSpPr txBox="1"/>
          <p:nvPr/>
        </p:nvSpPr>
        <p:spPr>
          <a:xfrm>
            <a:off x="2414016" y="2496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0" name="Shape 38"/>
          <p:cNvSpPr/>
          <p:nvPr/>
        </p:nvSpPr>
        <p:spPr>
          <a:xfrm>
            <a:off x="1737360" y="1819656"/>
            <a:ext cx="274320" cy="274320"/>
          </a:xfrm>
          <a:prstGeom prst="ellipse">
            <a:avLst/>
          </a:prstGeom>
          <a:solidFill>
            <a:srgbClr val="143A5A"/>
          </a:solidFill>
          <a:ln w="12700">
            <a:solidFill>
              <a:srgbClr val="143A5A"/>
            </a:solidFill>
            <a:prstDash val="solid"/>
          </a:ln>
        </p:spPr>
      </p:sp>
      <p:sp>
        <p:nvSpPr>
          <p:cNvPr id="41" name="Text 39"/>
          <p:cNvSpPr txBox="1"/>
          <p:nvPr/>
        </p:nvSpPr>
        <p:spPr>
          <a:xfrm>
            <a:off x="1737360" y="181965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2" name="Shape 40"/>
          <p:cNvSpPr/>
          <p:nvPr/>
        </p:nvSpPr>
        <p:spPr>
          <a:xfrm>
            <a:off x="1737360" y="2496312"/>
            <a:ext cx="274320" cy="274320"/>
          </a:xfrm>
          <a:prstGeom prst="ellipse">
            <a:avLst/>
          </a:prstGeom>
          <a:solidFill>
            <a:srgbClr val="143A5A"/>
          </a:solidFill>
          <a:ln w="12700">
            <a:solidFill>
              <a:srgbClr val="143A5A"/>
            </a:solidFill>
            <a:prstDash val="solid"/>
          </a:ln>
        </p:spPr>
      </p:sp>
      <p:sp>
        <p:nvSpPr>
          <p:cNvPr id="43" name="Text 41"/>
          <p:cNvSpPr txBox="1"/>
          <p:nvPr/>
        </p:nvSpPr>
        <p:spPr>
          <a:xfrm>
            <a:off x="1737360" y="2496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4" name="Shape 42"/>
          <p:cNvSpPr/>
          <p:nvPr/>
        </p:nvSpPr>
        <p:spPr>
          <a:xfrm>
            <a:off x="2048256" y="2496312"/>
            <a:ext cx="274320" cy="274320"/>
          </a:xfrm>
          <a:prstGeom prst="ellipse">
            <a:avLst/>
          </a:prstGeom>
          <a:solidFill>
            <a:srgbClr val="143A5A"/>
          </a:solidFill>
          <a:ln w="12700">
            <a:solidFill>
              <a:srgbClr val="143A5A"/>
            </a:solidFill>
            <a:prstDash val="solid"/>
          </a:ln>
        </p:spPr>
      </p:sp>
      <p:sp>
        <p:nvSpPr>
          <p:cNvPr id="45" name="Text 43"/>
          <p:cNvSpPr txBox="1"/>
          <p:nvPr/>
        </p:nvSpPr>
        <p:spPr>
          <a:xfrm>
            <a:off x="2048256" y="2496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6" name="Shape 44"/>
          <p:cNvSpPr/>
          <p:nvPr/>
        </p:nvSpPr>
        <p:spPr>
          <a:xfrm>
            <a:off x="1737360" y="3172968"/>
            <a:ext cx="274320" cy="274320"/>
          </a:xfrm>
          <a:prstGeom prst="ellipse">
            <a:avLst/>
          </a:prstGeom>
          <a:solidFill>
            <a:srgbClr val="143A5A"/>
          </a:solidFill>
          <a:ln w="12700">
            <a:solidFill>
              <a:srgbClr val="143A5A"/>
            </a:solidFill>
            <a:prstDash val="solid"/>
          </a:ln>
        </p:spPr>
      </p:sp>
      <p:sp>
        <p:nvSpPr>
          <p:cNvPr id="47" name="Text 45"/>
          <p:cNvSpPr txBox="1"/>
          <p:nvPr/>
        </p:nvSpPr>
        <p:spPr>
          <a:xfrm>
            <a:off x="1737360" y="31729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8" name="Shape 46"/>
          <p:cNvSpPr/>
          <p:nvPr/>
        </p:nvSpPr>
        <p:spPr>
          <a:xfrm>
            <a:off x="1060704" y="2496312"/>
            <a:ext cx="274320" cy="274320"/>
          </a:xfrm>
          <a:prstGeom prst="ellipse">
            <a:avLst/>
          </a:prstGeom>
          <a:solidFill>
            <a:srgbClr val="143A5A"/>
          </a:solidFill>
          <a:ln w="12700">
            <a:solidFill>
              <a:srgbClr val="143A5A"/>
            </a:solidFill>
            <a:prstDash val="solid"/>
          </a:ln>
        </p:spPr>
      </p:sp>
      <p:sp>
        <p:nvSpPr>
          <p:cNvPr id="49" name="Text 47"/>
          <p:cNvSpPr txBox="1"/>
          <p:nvPr/>
        </p:nvSpPr>
        <p:spPr>
          <a:xfrm>
            <a:off x="1060704" y="24963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Shape 48"/>
          <p:cNvSpPr/>
          <p:nvPr/>
        </p:nvSpPr>
        <p:spPr>
          <a:xfrm>
            <a:off x="3977640" y="1234440"/>
            <a:ext cx="7754112" cy="274320"/>
          </a:xfrm>
          <a:prstGeom prst="rect">
            <a:avLst/>
          </a:prstGeom>
          <a:solidFill>
            <a:srgbClr val="2B5B80"/>
          </a:solidFill>
          <a:ln w="12700">
            <a:solidFill>
              <a:srgbClr val="2B5B80"/>
            </a:solidFill>
            <a:prstDash val="solid"/>
          </a:ln>
        </p:spPr>
      </p:sp>
      <p:sp>
        <p:nvSpPr>
          <p:cNvPr id="51" name="Text 49"/>
          <p:cNvSpPr txBox="1"/>
          <p:nvPr/>
        </p:nvSpPr>
        <p:spPr>
          <a:xfrm>
            <a:off x="4069080" y="1234440"/>
            <a:ext cx="757123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Risks, evidence and how each is retired</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977640" y="1527048"/>
          <a:ext cx="7754112" cy="914400"/>
        </p:xfrm>
        <a:graphic>
          <a:graphicData uri="http://schemas.openxmlformats.org/drawingml/2006/table">
            <a:tbl>
              <a:tblPr/>
              <a:tblGrid>
                <a:gridCol w="274320"/>
                <a:gridCol w="2011680"/>
                <a:gridCol w="2240280"/>
                <a:gridCol w="2496312"/>
                <a:gridCol w="7315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Risk</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Evidence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Mitigation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Retired in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27432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Model does not transfer to JSL strip</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93.7% false alarms before joint training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Fine-tune on JSL clean + defect frames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7432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Low-contrast defects missed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Rolled-in scale AP50 0.63</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Dark-field lighting; resolution spec</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P0-P1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7432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Rare classes under-learnt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Roll marks AP50 0.20; no edge-crack data</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Edge cameras, active learning, anomaly channel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P1-P3</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7432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Operators ignore alarms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Uncalibrated scores mislead (ECE 0.142)</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Calibrated scores; shadow mode; override log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P2</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7432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Compute short at line speed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3,064 inferences/s at 250 m/min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Benchmark target GPU on real frames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7432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Heat, dust, acid fumes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Pickling and HSM environments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Sealed enclosures, air knives, cooling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7432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PLC / MES integration slips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Plant IT change control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Read-only until P3; one write path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P3</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53" name="Shape 50"/>
          <p:cNvSpPr/>
          <p:nvPr/>
        </p:nvSpPr>
        <p:spPr>
          <a:xfrm>
            <a:off x="457200" y="4251960"/>
            <a:ext cx="11274552" cy="274320"/>
          </a:xfrm>
          <a:prstGeom prst="rect">
            <a:avLst/>
          </a:prstGeom>
          <a:solidFill>
            <a:srgbClr val="2B5B80"/>
          </a:solidFill>
          <a:ln w="12700">
            <a:solidFill>
              <a:srgbClr val="2B5B80"/>
            </a:solidFill>
            <a:prstDash val="solid"/>
          </a:ln>
        </p:spPr>
      </p:sp>
      <p:sp>
        <p:nvSpPr>
          <p:cNvPr id="54" name="Text 51"/>
          <p:cNvSpPr txBox="1"/>
          <p:nvPr/>
        </p:nvSpPr>
        <p:spPr>
          <a:xfrm>
            <a:off x="548640" y="425196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Pilot KPIs: how JSL will know it works</a:t>
            </a:r>
            <a:endParaRPr lang="en-US" sz="1100" dirty="0"/>
          </a:p>
        </p:txBody>
      </p:sp>
      <p:sp>
        <p:nvSpPr>
          <p:cNvPr id="55" name="Shape 52"/>
          <p:cNvSpPr/>
          <p:nvPr/>
        </p:nvSpPr>
        <p:spPr>
          <a:xfrm>
            <a:off x="457200" y="4590288"/>
            <a:ext cx="1801368" cy="1307592"/>
          </a:xfrm>
          <a:prstGeom prst="roundRect">
            <a:avLst>
              <a:gd name="adj" fmla="val 4196"/>
            </a:avLst>
          </a:prstGeom>
          <a:solidFill>
            <a:srgbClr val="F1F4F7"/>
          </a:solidFill>
          <a:ln w="12700">
            <a:solidFill>
              <a:srgbClr val="F1F4F7"/>
            </a:solidFill>
            <a:prstDash val="solid"/>
          </a:ln>
        </p:spPr>
      </p:sp>
      <p:sp>
        <p:nvSpPr>
          <p:cNvPr id="56" name="Text 53"/>
          <p:cNvSpPr txBox="1"/>
          <p:nvPr/>
        </p:nvSpPr>
        <p:spPr>
          <a:xfrm>
            <a:off x="548640" y="4645152"/>
            <a:ext cx="1645920" cy="438912"/>
          </a:xfrm>
          <a:prstGeom prst="rect">
            <a:avLst/>
          </a:prstGeom>
          <a:noFill/>
          <a:ln/>
        </p:spPr>
        <p:txBody>
          <a:bodyPr wrap="square" lIns="0" tIns="0" rIns="0" bIns="0" rtlCol="0" anchor="t"/>
          <a:lstStyle/>
          <a:p>
            <a:pPr indent="0" marL="0">
              <a:buNone/>
            </a:pPr>
            <a:r>
              <a:rPr lang="en-US" sz="2200" b="1" dirty="0">
                <a:solidFill>
                  <a:srgbClr val="143A5A"/>
                </a:solidFill>
                <a:latin typeface="Calibri" pitchFamily="34" charset="0"/>
                <a:ea typeface="Calibri" pitchFamily="34" charset="-122"/>
                <a:cs typeface="Calibri" pitchFamily="34" charset="-120"/>
              </a:rPr>
              <a:t>&gt;= 90%</a:t>
            </a:r>
            <a:endParaRPr lang="en-US" sz="2200" dirty="0"/>
          </a:p>
        </p:txBody>
      </p:sp>
      <p:sp>
        <p:nvSpPr>
          <p:cNvPr id="57" name="Text 54"/>
          <p:cNvSpPr txBox="1"/>
          <p:nvPr/>
        </p:nvSpPr>
        <p:spPr>
          <a:xfrm>
            <a:off x="548640" y="5084064"/>
            <a:ext cx="1645920" cy="411480"/>
          </a:xfrm>
          <a:prstGeom prst="rect">
            <a:avLst/>
          </a:prstGeom>
          <a:noFill/>
          <a:ln/>
        </p:spPr>
        <p:txBody>
          <a:bodyPr wrap="square" lIns="0" tIns="0" rIns="0" bIns="0" rtlCol="0" anchor="t"/>
          <a:lstStyle/>
          <a:p>
            <a:pPr indent="0" marL="0">
              <a:buNone/>
            </a:pPr>
            <a:r>
              <a:rPr lang="en-US" sz="950" dirty="0">
                <a:solidFill>
                  <a:srgbClr val="141C24"/>
                </a:solidFill>
                <a:latin typeface="Calibri" pitchFamily="34" charset="0"/>
                <a:ea typeface="Calibri" pitchFamily="34" charset="-122"/>
                <a:cs typeface="Calibri" pitchFamily="34" charset="-120"/>
              </a:rPr>
              <a:t>defective frames flagged</a:t>
            </a:r>
            <a:endParaRPr lang="en-US" sz="950" dirty="0"/>
          </a:p>
        </p:txBody>
      </p:sp>
      <p:sp>
        <p:nvSpPr>
          <p:cNvPr id="58" name="Text 55"/>
          <p:cNvSpPr txBox="1"/>
          <p:nvPr/>
        </p:nvSpPr>
        <p:spPr>
          <a:xfrm>
            <a:off x="548640" y="5513832"/>
            <a:ext cx="1645920" cy="329184"/>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measured 92.2% on NEU-DET</a:t>
            </a:r>
            <a:endParaRPr lang="en-US" sz="900" dirty="0"/>
          </a:p>
        </p:txBody>
      </p:sp>
      <p:sp>
        <p:nvSpPr>
          <p:cNvPr id="59" name="Shape 56"/>
          <p:cNvSpPr/>
          <p:nvPr/>
        </p:nvSpPr>
        <p:spPr>
          <a:xfrm>
            <a:off x="2350008" y="4590288"/>
            <a:ext cx="1801368" cy="1307592"/>
          </a:xfrm>
          <a:prstGeom prst="roundRect">
            <a:avLst>
              <a:gd name="adj" fmla="val 4196"/>
            </a:avLst>
          </a:prstGeom>
          <a:solidFill>
            <a:srgbClr val="F1F4F7"/>
          </a:solidFill>
          <a:ln w="12700">
            <a:solidFill>
              <a:srgbClr val="F1F4F7"/>
            </a:solidFill>
            <a:prstDash val="solid"/>
          </a:ln>
        </p:spPr>
      </p:sp>
      <p:sp>
        <p:nvSpPr>
          <p:cNvPr id="60" name="Text 57"/>
          <p:cNvSpPr txBox="1"/>
          <p:nvPr/>
        </p:nvSpPr>
        <p:spPr>
          <a:xfrm>
            <a:off x="2441448" y="4645152"/>
            <a:ext cx="1645920" cy="438912"/>
          </a:xfrm>
          <a:prstGeom prst="rect">
            <a:avLst/>
          </a:prstGeom>
          <a:noFill/>
          <a:ln/>
        </p:spPr>
        <p:txBody>
          <a:bodyPr wrap="square" lIns="0" tIns="0" rIns="0" bIns="0" rtlCol="0" anchor="t"/>
          <a:lstStyle/>
          <a:p>
            <a:pPr indent="0" marL="0">
              <a:buNone/>
            </a:pPr>
            <a:r>
              <a:rPr lang="en-US" sz="2200" b="1" dirty="0">
                <a:solidFill>
                  <a:srgbClr val="143A5A"/>
                </a:solidFill>
                <a:latin typeface="Calibri" pitchFamily="34" charset="0"/>
                <a:ea typeface="Calibri" pitchFamily="34" charset="-122"/>
                <a:cs typeface="Calibri" pitchFamily="34" charset="-120"/>
              </a:rPr>
              <a:t>&lt;= 25%</a:t>
            </a:r>
            <a:endParaRPr lang="en-US" sz="2200" dirty="0"/>
          </a:p>
        </p:txBody>
      </p:sp>
      <p:sp>
        <p:nvSpPr>
          <p:cNvPr id="61" name="Text 58"/>
          <p:cNvSpPr txBox="1"/>
          <p:nvPr/>
        </p:nvSpPr>
        <p:spPr>
          <a:xfrm>
            <a:off x="2441448" y="5084064"/>
            <a:ext cx="1645920" cy="411480"/>
          </a:xfrm>
          <a:prstGeom prst="rect">
            <a:avLst/>
          </a:prstGeom>
          <a:noFill/>
          <a:ln/>
        </p:spPr>
        <p:txBody>
          <a:bodyPr wrap="square" lIns="0" tIns="0" rIns="0" bIns="0" rtlCol="0" anchor="t"/>
          <a:lstStyle/>
          <a:p>
            <a:pPr indent="0" marL="0">
              <a:buNone/>
            </a:pPr>
            <a:r>
              <a:rPr lang="en-US" sz="950" dirty="0">
                <a:solidFill>
                  <a:srgbClr val="141C24"/>
                </a:solidFill>
                <a:latin typeface="Calibri" pitchFamily="34" charset="0"/>
                <a:ea typeface="Calibri" pitchFamily="34" charset="-122"/>
                <a:cs typeface="Calibri" pitchFamily="34" charset="-120"/>
              </a:rPr>
              <a:t>clean-strip alarm rate at P1 exit</a:t>
            </a:r>
            <a:endParaRPr lang="en-US" sz="950" dirty="0"/>
          </a:p>
        </p:txBody>
      </p:sp>
      <p:sp>
        <p:nvSpPr>
          <p:cNvPr id="62" name="Text 59"/>
          <p:cNvSpPr txBox="1"/>
          <p:nvPr/>
        </p:nvSpPr>
        <p:spPr>
          <a:xfrm>
            <a:off x="2441448" y="5513832"/>
            <a:ext cx="1645920" cy="329184"/>
          </a:xfrm>
          <a:prstGeom prst="rect">
            <a:avLst/>
          </a:prstGeom>
          <a:noFill/>
          <a:ln/>
        </p:spPr>
        <p:txBody>
          <a:bodyPr wrap="square" lIns="0" tIns="0" rIns="0" bIns="0" rtlCol="0" anchor="t"/>
          <a:lstStyle/>
          <a:p>
            <a:pPr indent="0" marL="0">
              <a:buNone/>
            </a:pPr>
            <a:r>
              <a:rPr lang="en-US" sz="900" b="1" dirty="0">
                <a:solidFill>
                  <a:srgbClr val="B77900"/>
                </a:solidFill>
                <a:latin typeface="Calibri" pitchFamily="34" charset="0"/>
                <a:ea typeface="Calibri" pitchFamily="34" charset="-122"/>
                <a:cs typeface="Calibri" pitchFamily="34" charset="-120"/>
              </a:rPr>
              <a:t>measured 32.5% on Severstal</a:t>
            </a:r>
            <a:endParaRPr lang="en-US" sz="900" dirty="0"/>
          </a:p>
        </p:txBody>
      </p:sp>
      <p:sp>
        <p:nvSpPr>
          <p:cNvPr id="63" name="Shape 60"/>
          <p:cNvSpPr/>
          <p:nvPr/>
        </p:nvSpPr>
        <p:spPr>
          <a:xfrm>
            <a:off x="4242816" y="4590288"/>
            <a:ext cx="1801368" cy="1307592"/>
          </a:xfrm>
          <a:prstGeom prst="roundRect">
            <a:avLst>
              <a:gd name="adj" fmla="val 4196"/>
            </a:avLst>
          </a:prstGeom>
          <a:solidFill>
            <a:srgbClr val="F1F4F7"/>
          </a:solidFill>
          <a:ln w="12700">
            <a:solidFill>
              <a:srgbClr val="F1F4F7"/>
            </a:solidFill>
            <a:prstDash val="solid"/>
          </a:ln>
        </p:spPr>
      </p:sp>
      <p:sp>
        <p:nvSpPr>
          <p:cNvPr id="64" name="Text 61"/>
          <p:cNvSpPr txBox="1"/>
          <p:nvPr/>
        </p:nvSpPr>
        <p:spPr>
          <a:xfrm>
            <a:off x="4334256" y="4645152"/>
            <a:ext cx="1645920" cy="438912"/>
          </a:xfrm>
          <a:prstGeom prst="rect">
            <a:avLst/>
          </a:prstGeom>
          <a:noFill/>
          <a:ln/>
        </p:spPr>
        <p:txBody>
          <a:bodyPr wrap="square" lIns="0" tIns="0" rIns="0" bIns="0" rtlCol="0" anchor="t"/>
          <a:lstStyle/>
          <a:p>
            <a:pPr indent="0" marL="0">
              <a:buNone/>
            </a:pPr>
            <a:r>
              <a:rPr lang="en-US" sz="2200" b="1" dirty="0">
                <a:solidFill>
                  <a:srgbClr val="143A5A"/>
                </a:solidFill>
                <a:latin typeface="Calibri" pitchFamily="34" charset="0"/>
                <a:ea typeface="Calibri" pitchFamily="34" charset="-122"/>
                <a:cs typeface="Calibri" pitchFamily="34" charset="-120"/>
              </a:rPr>
              <a:t>&lt;= 0.05</a:t>
            </a:r>
            <a:endParaRPr lang="en-US" sz="2200" dirty="0"/>
          </a:p>
        </p:txBody>
      </p:sp>
      <p:sp>
        <p:nvSpPr>
          <p:cNvPr id="65" name="Text 62"/>
          <p:cNvSpPr txBox="1"/>
          <p:nvPr/>
        </p:nvSpPr>
        <p:spPr>
          <a:xfrm>
            <a:off x="4334256" y="5084064"/>
            <a:ext cx="1645920" cy="411480"/>
          </a:xfrm>
          <a:prstGeom prst="rect">
            <a:avLst/>
          </a:prstGeom>
          <a:noFill/>
          <a:ln/>
        </p:spPr>
        <p:txBody>
          <a:bodyPr wrap="square" lIns="0" tIns="0" rIns="0" bIns="0" rtlCol="0" anchor="t"/>
          <a:lstStyle/>
          <a:p>
            <a:pPr indent="0" marL="0">
              <a:buNone/>
            </a:pPr>
            <a:r>
              <a:rPr lang="en-US" sz="950" dirty="0">
                <a:solidFill>
                  <a:srgbClr val="141C24"/>
                </a:solidFill>
                <a:latin typeface="Calibri" pitchFamily="34" charset="0"/>
                <a:ea typeface="Calibri" pitchFamily="34" charset="-122"/>
                <a:cs typeface="Calibri" pitchFamily="34" charset="-120"/>
              </a:rPr>
              <a:t>calibration error (ECE)</a:t>
            </a:r>
            <a:endParaRPr lang="en-US" sz="950" dirty="0"/>
          </a:p>
        </p:txBody>
      </p:sp>
      <p:sp>
        <p:nvSpPr>
          <p:cNvPr id="66" name="Text 63"/>
          <p:cNvSpPr txBox="1"/>
          <p:nvPr/>
        </p:nvSpPr>
        <p:spPr>
          <a:xfrm>
            <a:off x="4334256" y="5513832"/>
            <a:ext cx="1645920" cy="329184"/>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measured 0.046</a:t>
            </a:r>
            <a:endParaRPr lang="en-US" sz="900" dirty="0"/>
          </a:p>
        </p:txBody>
      </p:sp>
      <p:sp>
        <p:nvSpPr>
          <p:cNvPr id="67" name="Shape 64"/>
          <p:cNvSpPr/>
          <p:nvPr/>
        </p:nvSpPr>
        <p:spPr>
          <a:xfrm>
            <a:off x="6135624" y="4590288"/>
            <a:ext cx="1801368" cy="1307592"/>
          </a:xfrm>
          <a:prstGeom prst="roundRect">
            <a:avLst>
              <a:gd name="adj" fmla="val 4196"/>
            </a:avLst>
          </a:prstGeom>
          <a:solidFill>
            <a:srgbClr val="F1F4F7"/>
          </a:solidFill>
          <a:ln w="12700">
            <a:solidFill>
              <a:srgbClr val="F1F4F7"/>
            </a:solidFill>
            <a:prstDash val="solid"/>
          </a:ln>
        </p:spPr>
      </p:sp>
      <p:sp>
        <p:nvSpPr>
          <p:cNvPr id="68" name="Text 65"/>
          <p:cNvSpPr txBox="1"/>
          <p:nvPr/>
        </p:nvSpPr>
        <p:spPr>
          <a:xfrm>
            <a:off x="6227064" y="4645152"/>
            <a:ext cx="1645920" cy="438912"/>
          </a:xfrm>
          <a:prstGeom prst="rect">
            <a:avLst/>
          </a:prstGeom>
          <a:noFill/>
          <a:ln/>
        </p:spPr>
        <p:txBody>
          <a:bodyPr wrap="square" lIns="0" tIns="0" rIns="0" bIns="0" rtlCol="0" anchor="t"/>
          <a:lstStyle/>
          <a:p>
            <a:pPr indent="0" marL="0">
              <a:buNone/>
            </a:pPr>
            <a:r>
              <a:rPr lang="en-US" sz="2200" b="1" dirty="0">
                <a:solidFill>
                  <a:srgbClr val="143A5A"/>
                </a:solidFill>
                <a:latin typeface="Calibri" pitchFamily="34" charset="0"/>
                <a:ea typeface="Calibri" pitchFamily="34" charset="-122"/>
                <a:cs typeface="Calibri" pitchFamily="34" charset="-120"/>
              </a:rPr>
              <a:t>&lt;= 200 ms</a:t>
            </a:r>
            <a:endParaRPr lang="en-US" sz="2200" dirty="0"/>
          </a:p>
        </p:txBody>
      </p:sp>
      <p:sp>
        <p:nvSpPr>
          <p:cNvPr id="69" name="Text 66"/>
          <p:cNvSpPr txBox="1"/>
          <p:nvPr/>
        </p:nvSpPr>
        <p:spPr>
          <a:xfrm>
            <a:off x="6227064" y="5084064"/>
            <a:ext cx="1645920" cy="411480"/>
          </a:xfrm>
          <a:prstGeom prst="rect">
            <a:avLst/>
          </a:prstGeom>
          <a:noFill/>
          <a:ln/>
        </p:spPr>
        <p:txBody>
          <a:bodyPr wrap="square" lIns="0" tIns="0" rIns="0" bIns="0" rtlCol="0" anchor="t"/>
          <a:lstStyle/>
          <a:p>
            <a:pPr indent="0" marL="0">
              <a:buNone/>
            </a:pPr>
            <a:r>
              <a:rPr lang="en-US" sz="950" dirty="0">
                <a:solidFill>
                  <a:srgbClr val="141C24"/>
                </a:solidFill>
                <a:latin typeface="Calibri" pitchFamily="34" charset="0"/>
                <a:ea typeface="Calibri" pitchFamily="34" charset="-122"/>
                <a:cs typeface="Calibri" pitchFamily="34" charset="-120"/>
              </a:rPr>
              <a:t>defect-to-HMI latency</a:t>
            </a:r>
            <a:endParaRPr lang="en-US" sz="950" dirty="0"/>
          </a:p>
        </p:txBody>
      </p:sp>
      <p:sp>
        <p:nvSpPr>
          <p:cNvPr id="70" name="Text 67"/>
          <p:cNvSpPr txBox="1"/>
          <p:nvPr/>
        </p:nvSpPr>
        <p:spPr>
          <a:xfrm>
            <a:off x="6227064" y="5513832"/>
            <a:ext cx="1645920" cy="329184"/>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design budget</a:t>
            </a:r>
            <a:endParaRPr lang="en-US" sz="900" dirty="0"/>
          </a:p>
        </p:txBody>
      </p:sp>
      <p:sp>
        <p:nvSpPr>
          <p:cNvPr id="71" name="Shape 68"/>
          <p:cNvSpPr/>
          <p:nvPr/>
        </p:nvSpPr>
        <p:spPr>
          <a:xfrm>
            <a:off x="8028432" y="4590288"/>
            <a:ext cx="1801368" cy="1307592"/>
          </a:xfrm>
          <a:prstGeom prst="roundRect">
            <a:avLst>
              <a:gd name="adj" fmla="val 4196"/>
            </a:avLst>
          </a:prstGeom>
          <a:solidFill>
            <a:srgbClr val="F1F4F7"/>
          </a:solidFill>
          <a:ln w="12700">
            <a:solidFill>
              <a:srgbClr val="F1F4F7"/>
            </a:solidFill>
            <a:prstDash val="solid"/>
          </a:ln>
        </p:spPr>
      </p:sp>
      <p:sp>
        <p:nvSpPr>
          <p:cNvPr id="72" name="Text 69"/>
          <p:cNvSpPr txBox="1"/>
          <p:nvPr/>
        </p:nvSpPr>
        <p:spPr>
          <a:xfrm>
            <a:off x="8119872" y="4645152"/>
            <a:ext cx="1645920" cy="438912"/>
          </a:xfrm>
          <a:prstGeom prst="rect">
            <a:avLst/>
          </a:prstGeom>
          <a:noFill/>
          <a:ln/>
        </p:spPr>
        <p:txBody>
          <a:bodyPr wrap="square" lIns="0" tIns="0" rIns="0" bIns="0" rtlCol="0" anchor="t"/>
          <a:lstStyle/>
          <a:p>
            <a:pPr indent="0" marL="0">
              <a:buNone/>
            </a:pPr>
            <a:r>
              <a:rPr lang="en-US" sz="2200" b="1" dirty="0">
                <a:solidFill>
                  <a:srgbClr val="143A5A"/>
                </a:solidFill>
                <a:latin typeface="Calibri" pitchFamily="34" charset="0"/>
                <a:ea typeface="Calibri" pitchFamily="34" charset="-122"/>
                <a:cs typeface="Calibri" pitchFamily="34" charset="-120"/>
              </a:rPr>
              <a:t>&gt;= 90%</a:t>
            </a:r>
            <a:endParaRPr lang="en-US" sz="2200" dirty="0"/>
          </a:p>
        </p:txBody>
      </p:sp>
      <p:sp>
        <p:nvSpPr>
          <p:cNvPr id="73" name="Text 70"/>
          <p:cNvSpPr txBox="1"/>
          <p:nvPr/>
        </p:nvSpPr>
        <p:spPr>
          <a:xfrm>
            <a:off x="8119872" y="5084064"/>
            <a:ext cx="1645920" cy="411480"/>
          </a:xfrm>
          <a:prstGeom prst="rect">
            <a:avLst/>
          </a:prstGeom>
          <a:noFill/>
          <a:ln/>
        </p:spPr>
        <p:txBody>
          <a:bodyPr wrap="square" lIns="0" tIns="0" rIns="0" bIns="0" rtlCol="0" anchor="t"/>
          <a:lstStyle/>
          <a:p>
            <a:pPr indent="0" marL="0">
              <a:buNone/>
            </a:pPr>
            <a:r>
              <a:rPr lang="en-US" sz="950" dirty="0">
                <a:solidFill>
                  <a:srgbClr val="141C24"/>
                </a:solidFill>
                <a:latin typeface="Calibri" pitchFamily="34" charset="0"/>
                <a:ea typeface="Calibri" pitchFamily="34" charset="-122"/>
                <a:cs typeface="Calibri" pitchFamily="34" charset="-120"/>
              </a:rPr>
              <a:t>operator agreement, shadow mode</a:t>
            </a:r>
            <a:endParaRPr lang="en-US" sz="950" dirty="0"/>
          </a:p>
        </p:txBody>
      </p:sp>
      <p:sp>
        <p:nvSpPr>
          <p:cNvPr id="74" name="Text 71"/>
          <p:cNvSpPr txBox="1"/>
          <p:nvPr/>
        </p:nvSpPr>
        <p:spPr>
          <a:xfrm>
            <a:off x="8119872" y="5513832"/>
            <a:ext cx="1645920" cy="329184"/>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measured in P2</a:t>
            </a:r>
            <a:endParaRPr lang="en-US" sz="900" dirty="0"/>
          </a:p>
        </p:txBody>
      </p:sp>
      <p:sp>
        <p:nvSpPr>
          <p:cNvPr id="75" name="Shape 72"/>
          <p:cNvSpPr/>
          <p:nvPr/>
        </p:nvSpPr>
        <p:spPr>
          <a:xfrm>
            <a:off x="9921240" y="4590288"/>
            <a:ext cx="1801368" cy="1307592"/>
          </a:xfrm>
          <a:prstGeom prst="roundRect">
            <a:avLst>
              <a:gd name="adj" fmla="val 4196"/>
            </a:avLst>
          </a:prstGeom>
          <a:solidFill>
            <a:srgbClr val="F1F4F7"/>
          </a:solidFill>
          <a:ln w="12700">
            <a:solidFill>
              <a:srgbClr val="F1F4F7"/>
            </a:solidFill>
            <a:prstDash val="solid"/>
          </a:ln>
        </p:spPr>
      </p:sp>
      <p:sp>
        <p:nvSpPr>
          <p:cNvPr id="76" name="Text 73"/>
          <p:cNvSpPr txBox="1"/>
          <p:nvPr/>
        </p:nvSpPr>
        <p:spPr>
          <a:xfrm>
            <a:off x="10012680" y="4645152"/>
            <a:ext cx="1645920" cy="438912"/>
          </a:xfrm>
          <a:prstGeom prst="rect">
            <a:avLst/>
          </a:prstGeom>
          <a:noFill/>
          <a:ln/>
        </p:spPr>
        <p:txBody>
          <a:bodyPr wrap="square" lIns="0" tIns="0" rIns="0" bIns="0" rtlCol="0" anchor="t"/>
          <a:lstStyle/>
          <a:p>
            <a:pPr indent="0" marL="0">
              <a:buNone/>
            </a:pPr>
            <a:r>
              <a:rPr lang="en-US" sz="2200" b="1" dirty="0">
                <a:solidFill>
                  <a:srgbClr val="143A5A"/>
                </a:solidFill>
                <a:latin typeface="Calibri" pitchFamily="34" charset="0"/>
                <a:ea typeface="Calibri" pitchFamily="34" charset="-122"/>
                <a:cs typeface="Calibri" pitchFamily="34" charset="-120"/>
              </a:rPr>
              <a:t>&lt; 8 h</a:t>
            </a:r>
            <a:endParaRPr lang="en-US" sz="2200" dirty="0"/>
          </a:p>
        </p:txBody>
      </p:sp>
      <p:sp>
        <p:nvSpPr>
          <p:cNvPr id="77" name="Text 74"/>
          <p:cNvSpPr txBox="1"/>
          <p:nvPr/>
        </p:nvSpPr>
        <p:spPr>
          <a:xfrm>
            <a:off x="10012680" y="5084064"/>
            <a:ext cx="1645920" cy="411480"/>
          </a:xfrm>
          <a:prstGeom prst="rect">
            <a:avLst/>
          </a:prstGeom>
          <a:noFill/>
          <a:ln/>
        </p:spPr>
        <p:txBody>
          <a:bodyPr wrap="square" lIns="0" tIns="0" rIns="0" bIns="0" rtlCol="0" anchor="t"/>
          <a:lstStyle/>
          <a:p>
            <a:pPr indent="0" marL="0">
              <a:buNone/>
            </a:pPr>
            <a:r>
              <a:rPr lang="en-US" sz="950" dirty="0">
                <a:solidFill>
                  <a:srgbClr val="141C24"/>
                </a:solidFill>
                <a:latin typeface="Calibri" pitchFamily="34" charset="0"/>
                <a:ea typeface="Calibri" pitchFamily="34" charset="-122"/>
                <a:cs typeface="Calibri" pitchFamily="34" charset="-120"/>
              </a:rPr>
              <a:t>retrain for a new line or grade</a:t>
            </a:r>
            <a:endParaRPr lang="en-US" sz="950" dirty="0"/>
          </a:p>
        </p:txBody>
      </p:sp>
      <p:sp>
        <p:nvSpPr>
          <p:cNvPr id="78" name="Text 75"/>
          <p:cNvSpPr txBox="1"/>
          <p:nvPr/>
        </p:nvSpPr>
        <p:spPr>
          <a:xfrm>
            <a:off x="10012680" y="5513832"/>
            <a:ext cx="1645920" cy="329184"/>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measured 0.6 h</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143A5A"/>
          </a:solidFill>
          <a:ln w="12700">
            <a:solidFill>
              <a:srgbClr val="143A5A"/>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NAME]</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At a conservative 1% downgrade rate one line pays back in ~2.2 years; the fleet protects ~INR 13 cr a year</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Recommendation: approve a 7-month pilot on one 300-series cold-rolled line. The number that decides fleet rollout is JSL's own downgrade rate.</a:t>
            </a:r>
            <a:endParaRPr lang="en-US" sz="1200" dirty="0"/>
          </a:p>
        </p:txBody>
      </p:sp>
      <p:sp>
        <p:nvSpPr>
          <p:cNvPr id="16" name="Text 14"/>
          <p:cNvSpPr txBox="1"/>
          <p:nvPr/>
        </p:nvSpPr>
        <p:spPr>
          <a:xfrm>
            <a:off x="457200" y="5989320"/>
            <a:ext cx="11274552" cy="219456"/>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Inputs: JSL FY26 (INR 1,67,407/t; 25,65,902 t). Swept assumptions: 0.4 Mt line, 30% recovered, INR 3.35 cr capex, INR 0.5 cr/yr run cost, 12% rate. Commercial: USD 2M at INR 95.8. MD quote: ET, 16 Jul 2024.</a:t>
            </a:r>
            <a:endParaRPr lang="en-US" sz="900" dirty="0"/>
          </a:p>
        </p:txBody>
      </p:sp>
      <p:sp>
        <p:nvSpPr>
          <p:cNvPr id="17" name="Shape 15"/>
          <p:cNvSpPr/>
          <p:nvPr/>
        </p:nvSpPr>
        <p:spPr>
          <a:xfrm>
            <a:off x="457200" y="1234440"/>
            <a:ext cx="3840480"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36576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Loss pool per line, INR cr/yr</a:t>
            </a:r>
            <a:endParaRPr lang="en-US" sz="1100" dirty="0"/>
          </a:p>
        </p:txBody>
      </p:sp>
      <p:sp>
        <p:nvSpPr>
          <p:cNvPr id="19" name="Text 17"/>
          <p:cNvSpPr txBox="1"/>
          <p:nvPr/>
        </p:nvSpPr>
        <p:spPr>
          <a:xfrm>
            <a:off x="457200" y="1554480"/>
            <a:ext cx="3840480" cy="228600"/>
          </a:xfrm>
          <a:prstGeom prst="rect">
            <a:avLst/>
          </a:prstGeom>
          <a:noFill/>
          <a:ln/>
        </p:spPr>
        <p:txBody>
          <a:bodyPr wrap="square" lIns="0" tIns="0" rIns="0" bIns="0" rtlCol="0" anchor="t"/>
          <a:lstStyle/>
          <a:p>
            <a:pPr indent="0" marL="0">
              <a:buNone/>
            </a:pPr>
            <a:r>
              <a:rPr lang="en-US" sz="950" i="1" dirty="0">
                <a:solidFill>
                  <a:srgbClr val="334150"/>
                </a:solidFill>
                <a:latin typeface="Calibri" pitchFamily="34" charset="0"/>
                <a:ea typeface="Calibri" pitchFamily="34" charset="-122"/>
                <a:cs typeface="Calibri" pitchFamily="34" charset="-120"/>
              </a:rPr>
              <a:t>0.4 Mt x downgrade rate x price discount x INR 1,67,407/t</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3840480" cy="914400"/>
        </p:xfrm>
        <a:graphic>
          <a:graphicData uri="http://schemas.openxmlformats.org/drawingml/2006/table">
            <a:tbl>
              <a:tblPr/>
              <a:tblGrid>
                <a:gridCol w="1234440"/>
                <a:gridCol w="868680"/>
                <a:gridCol w="868680"/>
                <a:gridCol w="868680"/>
              </a:tblGrid>
              <a:tr h="310896">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Downgraded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10%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15%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20%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310896">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0.5%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b="1" dirty="0">
                          <a:solidFill>
                            <a:srgbClr val="141C24"/>
                          </a:solidFill>
                          <a:latin typeface="Calibri" pitchFamily="34" charset="0"/>
                          <a:ea typeface="Calibri" pitchFamily="34" charset="-122"/>
                          <a:cs typeface="Calibri" pitchFamily="34" charset="-120"/>
                        </a:rPr>
                        <a:t>3.3</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algn="ctr" indent="0" marL="0">
                        <a:buNone/>
                      </a:pPr>
                      <a:r>
                        <a:rPr lang="en-US" sz="1050" b="1" dirty="0">
                          <a:solidFill>
                            <a:srgbClr val="141C24"/>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1050" b="1" dirty="0">
                          <a:solidFill>
                            <a:srgbClr val="141C24"/>
                          </a:solidFill>
                          <a:latin typeface="Calibri" pitchFamily="34" charset="0"/>
                          <a:ea typeface="Calibri" pitchFamily="34" charset="-122"/>
                          <a:cs typeface="Calibri" pitchFamily="34" charset="-120"/>
                        </a:rPr>
                        <a:t>6.7</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r>
              <a:tr h="310896">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1.0%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45720" marR="45720" marT="27432" marB="27432" anchor="ctr">
                    <a:lnL w="25400" cap="flat" cmpd="sng" algn="ctr">
                      <a:solidFill>
                        <a:srgbClr val="C62828"/>
                      </a:solidFill>
                      <a:prstDash val="solid"/>
                      <a:round/>
                      <a:headEnd type="none" w="med" len="med"/>
                      <a:tailEnd type="none" w="med" len="med"/>
                    </a:lnL>
                    <a:lnR w="25400" cap="flat" cmpd="sng" algn="ctr">
                      <a:solidFill>
                        <a:srgbClr val="C62828"/>
                      </a:solidFill>
                      <a:prstDash val="solid"/>
                      <a:round/>
                      <a:headEnd type="none" w="med" len="med"/>
                      <a:tailEnd type="none" w="med" len="med"/>
                    </a:lnR>
                    <a:lnT w="25400" cap="flat" cmpd="sng" algn="ctr">
                      <a:solidFill>
                        <a:srgbClr val="C62828"/>
                      </a:solidFill>
                      <a:prstDash val="solid"/>
                      <a:round/>
                      <a:headEnd type="none" w="med" len="med"/>
                      <a:tailEnd type="none" w="med" len="med"/>
                    </a:lnT>
                    <a:lnB w="25400" cap="flat" cmpd="sng" algn="ctr">
                      <a:solidFill>
                        <a:srgbClr val="C62828"/>
                      </a:solidFill>
                      <a:prstDash val="solid"/>
                      <a:round/>
                      <a:headEnd type="none" w="med" len="med"/>
                      <a:tailEnd type="none" w="med" len="med"/>
                    </a:lnB>
                    <a:solidFill>
                      <a:srgbClr val="A9CBE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5E9CCB"/>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13.4</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5E9CCB"/>
                    </a:solidFill>
                  </a:tcPr>
                </a:tc>
              </a:tr>
              <a:tr h="310896">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2.0%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13.4</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5E9CCB"/>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20.1</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26.8</a:t>
                      </a:r>
                      <a:endParaRPr lang="en-US" sz="10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r>
            </a:tbl>
          </a:graphicData>
        </a:graphic>
      </p:graphicFrame>
      <p:sp>
        <p:nvSpPr>
          <p:cNvPr id="21" name="Text 18"/>
          <p:cNvSpPr txBox="1"/>
          <p:nvPr/>
        </p:nvSpPr>
        <p:spPr>
          <a:xfrm>
            <a:off x="457200" y="3108960"/>
            <a:ext cx="3840480" cy="68580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Outlined: base case, 6.7 cr pool. Recovering 30% = INR 2.0 cr/yr, 1.5 cr net of run cost. Fleet at the same rates (2.57 Mt, ~6.4 lines): INR 43 cr pool, INR 12.9 cr/yr recovered.</a:t>
            </a:r>
            <a:endParaRPr lang="en-US" sz="950" dirty="0"/>
          </a:p>
        </p:txBody>
      </p:sp>
      <p:sp>
        <p:nvSpPr>
          <p:cNvPr id="22" name="Shape 19"/>
          <p:cNvSpPr/>
          <p:nvPr/>
        </p:nvSpPr>
        <p:spPr>
          <a:xfrm>
            <a:off x="4526280" y="1234440"/>
            <a:ext cx="3977640" cy="274320"/>
          </a:xfrm>
          <a:prstGeom prst="rect">
            <a:avLst/>
          </a:prstGeom>
          <a:solidFill>
            <a:srgbClr val="2B5B80"/>
          </a:solidFill>
          <a:ln w="12700">
            <a:solidFill>
              <a:srgbClr val="2B5B80"/>
            </a:solidFill>
            <a:prstDash val="solid"/>
          </a:ln>
        </p:spPr>
      </p:sp>
      <p:sp>
        <p:nvSpPr>
          <p:cNvPr id="23" name="Text 20"/>
          <p:cNvSpPr txBox="1"/>
          <p:nvPr/>
        </p:nvSpPr>
        <p:spPr>
          <a:xfrm>
            <a:off x="4617720" y="1234440"/>
            <a:ext cx="37947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moves payback (years, base 2.2)</a:t>
            </a:r>
            <a:endParaRPr lang="en-US" sz="1100" dirty="0"/>
          </a:p>
        </p:txBody>
      </p:sp>
      <p:sp>
        <p:nvSpPr>
          <p:cNvPr id="24" name="Text 21"/>
          <p:cNvSpPr txBox="1"/>
          <p:nvPr/>
        </p:nvSpPr>
        <p:spPr>
          <a:xfrm>
            <a:off x="4572000" y="1691640"/>
            <a:ext cx="1783080" cy="310896"/>
          </a:xfrm>
          <a:prstGeom prst="rect">
            <a:avLst/>
          </a:prstGeom>
          <a:noFill/>
          <a:ln/>
        </p:spPr>
        <p:txBody>
          <a:bodyPr wrap="square" lIns="0" tIns="0" rIns="0" bIns="0" rtlCol="0" anchor="ctr"/>
          <a:lstStyle/>
          <a:p>
            <a:pPr indent="0" marL="0">
              <a:buNone/>
            </a:pPr>
            <a:r>
              <a:rPr lang="en-US" sz="900" dirty="0">
                <a:solidFill>
                  <a:srgbClr val="141C24"/>
                </a:solidFill>
                <a:latin typeface="Calibri" pitchFamily="34" charset="0"/>
                <a:ea typeface="Calibri" pitchFamily="34" charset="-122"/>
                <a:cs typeface="Calibri" pitchFamily="34" charset="-120"/>
              </a:rPr>
              <a:t>Downgrade rate 0.5-2%</a:t>
            </a:r>
            <a:endParaRPr lang="en-US" sz="900" dirty="0"/>
          </a:p>
        </p:txBody>
      </p:sp>
      <p:sp>
        <p:nvSpPr>
          <p:cNvPr id="25" name="Shape 22"/>
          <p:cNvSpPr/>
          <p:nvPr/>
        </p:nvSpPr>
        <p:spPr>
          <a:xfrm>
            <a:off x="6667609" y="1755648"/>
            <a:ext cx="356681" cy="182880"/>
          </a:xfrm>
          <a:prstGeom prst="rect">
            <a:avLst/>
          </a:prstGeom>
          <a:solidFill>
            <a:srgbClr val="0086C3"/>
          </a:solidFill>
          <a:ln w="12700">
            <a:solidFill>
              <a:srgbClr val="0086C3"/>
            </a:solidFill>
            <a:prstDash val="solid"/>
          </a:ln>
        </p:spPr>
      </p:sp>
      <p:sp>
        <p:nvSpPr>
          <p:cNvPr id="26" name="Shape 23"/>
          <p:cNvSpPr/>
          <p:nvPr/>
        </p:nvSpPr>
        <p:spPr>
          <a:xfrm>
            <a:off x="7024290" y="1755648"/>
            <a:ext cx="1241363" cy="182880"/>
          </a:xfrm>
          <a:prstGeom prst="rect">
            <a:avLst/>
          </a:prstGeom>
          <a:solidFill>
            <a:srgbClr val="9AA7B4"/>
          </a:solidFill>
          <a:ln w="12700">
            <a:solidFill>
              <a:srgbClr val="9AA7B4"/>
            </a:solidFill>
            <a:prstDash val="solid"/>
          </a:ln>
        </p:spPr>
      </p:sp>
      <p:sp>
        <p:nvSpPr>
          <p:cNvPr id="27" name="Text 24"/>
          <p:cNvSpPr txBox="1"/>
          <p:nvPr/>
        </p:nvSpPr>
        <p:spPr>
          <a:xfrm>
            <a:off x="7882128" y="1618488"/>
            <a:ext cx="548640" cy="146304"/>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0.9-6.6</a:t>
            </a:r>
            <a:endParaRPr lang="en-US" sz="900" dirty="0"/>
          </a:p>
        </p:txBody>
      </p:sp>
      <p:sp>
        <p:nvSpPr>
          <p:cNvPr id="28" name="Text 25"/>
          <p:cNvSpPr txBox="1"/>
          <p:nvPr/>
        </p:nvSpPr>
        <p:spPr>
          <a:xfrm>
            <a:off x="4572000" y="2093976"/>
            <a:ext cx="1783080" cy="310896"/>
          </a:xfrm>
          <a:prstGeom prst="rect">
            <a:avLst/>
          </a:prstGeom>
          <a:noFill/>
          <a:ln/>
        </p:spPr>
        <p:txBody>
          <a:bodyPr wrap="square" lIns="0" tIns="0" rIns="0" bIns="0" rtlCol="0" anchor="ctr"/>
          <a:lstStyle/>
          <a:p>
            <a:pPr indent="0" marL="0">
              <a:buNone/>
            </a:pPr>
            <a:r>
              <a:rPr lang="en-US" sz="900" dirty="0">
                <a:solidFill>
                  <a:srgbClr val="141C24"/>
                </a:solidFill>
                <a:latin typeface="Calibri" pitchFamily="34" charset="0"/>
                <a:ea typeface="Calibri" pitchFamily="34" charset="-122"/>
                <a:cs typeface="Calibri" pitchFamily="34" charset="-120"/>
              </a:rPr>
              <a:t>Share of loss recovered 15-45%</a:t>
            </a:r>
            <a:endParaRPr lang="en-US" sz="900" dirty="0"/>
          </a:p>
        </p:txBody>
      </p:sp>
      <p:sp>
        <p:nvSpPr>
          <p:cNvPr id="29" name="Shape 26"/>
          <p:cNvSpPr/>
          <p:nvPr/>
        </p:nvSpPr>
        <p:spPr>
          <a:xfrm>
            <a:off x="6774332" y="2157984"/>
            <a:ext cx="249958" cy="182880"/>
          </a:xfrm>
          <a:prstGeom prst="rect">
            <a:avLst/>
          </a:prstGeom>
          <a:solidFill>
            <a:srgbClr val="0086C3"/>
          </a:solidFill>
          <a:ln w="12700">
            <a:solidFill>
              <a:srgbClr val="0086C3"/>
            </a:solidFill>
            <a:prstDash val="solid"/>
          </a:ln>
        </p:spPr>
      </p:sp>
      <p:sp>
        <p:nvSpPr>
          <p:cNvPr id="30" name="Shape 27"/>
          <p:cNvSpPr/>
          <p:nvPr/>
        </p:nvSpPr>
        <p:spPr>
          <a:xfrm>
            <a:off x="7024290" y="2157984"/>
            <a:ext cx="1241363" cy="182880"/>
          </a:xfrm>
          <a:prstGeom prst="rect">
            <a:avLst/>
          </a:prstGeom>
          <a:solidFill>
            <a:srgbClr val="9AA7B4"/>
          </a:solidFill>
          <a:ln w="12700">
            <a:solidFill>
              <a:srgbClr val="9AA7B4"/>
            </a:solidFill>
            <a:prstDash val="solid"/>
          </a:ln>
        </p:spPr>
      </p:sp>
      <p:sp>
        <p:nvSpPr>
          <p:cNvPr id="31" name="Text 28"/>
          <p:cNvSpPr txBox="1"/>
          <p:nvPr/>
        </p:nvSpPr>
        <p:spPr>
          <a:xfrm>
            <a:off x="7882128" y="2020824"/>
            <a:ext cx="548640" cy="146304"/>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1.3-6.6</a:t>
            </a:r>
            <a:endParaRPr lang="en-US" sz="900" dirty="0"/>
          </a:p>
        </p:txBody>
      </p:sp>
      <p:sp>
        <p:nvSpPr>
          <p:cNvPr id="32" name="Text 29"/>
          <p:cNvSpPr txBox="1"/>
          <p:nvPr/>
        </p:nvSpPr>
        <p:spPr>
          <a:xfrm>
            <a:off x="4572000" y="2496312"/>
            <a:ext cx="1783080" cy="310896"/>
          </a:xfrm>
          <a:prstGeom prst="rect">
            <a:avLst/>
          </a:prstGeom>
          <a:noFill/>
          <a:ln/>
        </p:spPr>
        <p:txBody>
          <a:bodyPr wrap="square" lIns="0" tIns="0" rIns="0" bIns="0" rtlCol="0" anchor="ctr"/>
          <a:lstStyle/>
          <a:p>
            <a:pPr indent="0" marL="0">
              <a:buNone/>
            </a:pPr>
            <a:r>
              <a:rPr lang="en-US" sz="900" dirty="0">
                <a:solidFill>
                  <a:srgbClr val="141C24"/>
                </a:solidFill>
                <a:latin typeface="Calibri" pitchFamily="34" charset="0"/>
                <a:ea typeface="Calibri" pitchFamily="34" charset="-122"/>
                <a:cs typeface="Calibri" pitchFamily="34" charset="-120"/>
              </a:rPr>
              <a:t>Line volume 0.3-0.5 Mt</a:t>
            </a:r>
            <a:endParaRPr lang="en-US" sz="900" dirty="0"/>
          </a:p>
        </p:txBody>
      </p:sp>
      <p:sp>
        <p:nvSpPr>
          <p:cNvPr id="33" name="Shape 30"/>
          <p:cNvSpPr/>
          <p:nvPr/>
        </p:nvSpPr>
        <p:spPr>
          <a:xfrm>
            <a:off x="6869822" y="2560320"/>
            <a:ext cx="154468" cy="182880"/>
          </a:xfrm>
          <a:prstGeom prst="rect">
            <a:avLst/>
          </a:prstGeom>
          <a:solidFill>
            <a:srgbClr val="0086C3"/>
          </a:solidFill>
          <a:ln w="12700">
            <a:solidFill>
              <a:srgbClr val="0086C3"/>
            </a:solidFill>
            <a:prstDash val="solid"/>
          </a:ln>
        </p:spPr>
      </p:sp>
      <p:sp>
        <p:nvSpPr>
          <p:cNvPr id="34" name="Shape 31"/>
          <p:cNvSpPr/>
          <p:nvPr/>
        </p:nvSpPr>
        <p:spPr>
          <a:xfrm>
            <a:off x="7024290" y="2560320"/>
            <a:ext cx="311745" cy="182880"/>
          </a:xfrm>
          <a:prstGeom prst="rect">
            <a:avLst/>
          </a:prstGeom>
          <a:solidFill>
            <a:srgbClr val="9AA7B4"/>
          </a:solidFill>
          <a:ln w="12700">
            <a:solidFill>
              <a:srgbClr val="9AA7B4"/>
            </a:solidFill>
            <a:prstDash val="solid"/>
          </a:ln>
        </p:spPr>
      </p:sp>
      <p:sp>
        <p:nvSpPr>
          <p:cNvPr id="35" name="Text 32"/>
          <p:cNvSpPr txBox="1"/>
          <p:nvPr/>
        </p:nvSpPr>
        <p:spPr>
          <a:xfrm>
            <a:off x="7372611" y="2423160"/>
            <a:ext cx="548640" cy="146304"/>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1.7-3.3</a:t>
            </a:r>
            <a:endParaRPr lang="en-US" sz="900" dirty="0"/>
          </a:p>
        </p:txBody>
      </p:sp>
      <p:sp>
        <p:nvSpPr>
          <p:cNvPr id="36" name="Text 33"/>
          <p:cNvSpPr txBox="1"/>
          <p:nvPr/>
        </p:nvSpPr>
        <p:spPr>
          <a:xfrm>
            <a:off x="4572000" y="2898648"/>
            <a:ext cx="1783080" cy="310896"/>
          </a:xfrm>
          <a:prstGeom prst="rect">
            <a:avLst/>
          </a:prstGeom>
          <a:noFill/>
          <a:ln/>
        </p:spPr>
        <p:txBody>
          <a:bodyPr wrap="square" lIns="0" tIns="0" rIns="0" bIns="0" rtlCol="0" anchor="ctr"/>
          <a:lstStyle/>
          <a:p>
            <a:pPr indent="0" marL="0">
              <a:buNone/>
            </a:pPr>
            <a:r>
              <a:rPr lang="en-US" sz="900" dirty="0">
                <a:solidFill>
                  <a:srgbClr val="141C24"/>
                </a:solidFill>
                <a:latin typeface="Calibri" pitchFamily="34" charset="0"/>
                <a:ea typeface="Calibri" pitchFamily="34" charset="-122"/>
                <a:cs typeface="Calibri" pitchFamily="34" charset="-120"/>
              </a:rPr>
              <a:t>Capex INR 2.5-4.2 cr</a:t>
            </a:r>
            <a:endParaRPr lang="en-US" sz="900" dirty="0"/>
          </a:p>
        </p:txBody>
      </p:sp>
      <p:sp>
        <p:nvSpPr>
          <p:cNvPr id="37" name="Shape 34"/>
          <p:cNvSpPr/>
          <p:nvPr/>
        </p:nvSpPr>
        <p:spPr>
          <a:xfrm>
            <a:off x="6867013" y="2962656"/>
            <a:ext cx="157277" cy="182880"/>
          </a:xfrm>
          <a:prstGeom prst="rect">
            <a:avLst/>
          </a:prstGeom>
          <a:solidFill>
            <a:srgbClr val="0086C3"/>
          </a:solidFill>
          <a:ln w="12700">
            <a:solidFill>
              <a:srgbClr val="0086C3"/>
            </a:solidFill>
            <a:prstDash val="solid"/>
          </a:ln>
        </p:spPr>
      </p:sp>
      <p:sp>
        <p:nvSpPr>
          <p:cNvPr id="38" name="Shape 35"/>
          <p:cNvSpPr/>
          <p:nvPr/>
        </p:nvSpPr>
        <p:spPr>
          <a:xfrm>
            <a:off x="7024290" y="2962656"/>
            <a:ext cx="157277" cy="182880"/>
          </a:xfrm>
          <a:prstGeom prst="rect">
            <a:avLst/>
          </a:prstGeom>
          <a:solidFill>
            <a:srgbClr val="9AA7B4"/>
          </a:solidFill>
          <a:ln w="12700">
            <a:solidFill>
              <a:srgbClr val="9AA7B4"/>
            </a:solidFill>
            <a:prstDash val="solid"/>
          </a:ln>
        </p:spPr>
      </p:sp>
      <p:sp>
        <p:nvSpPr>
          <p:cNvPr id="39" name="Text 36"/>
          <p:cNvSpPr txBox="1"/>
          <p:nvPr/>
        </p:nvSpPr>
        <p:spPr>
          <a:xfrm>
            <a:off x="7218143" y="2825496"/>
            <a:ext cx="548640" cy="146304"/>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1.7-2.8</a:t>
            </a:r>
            <a:endParaRPr lang="en-US" sz="900" dirty="0"/>
          </a:p>
        </p:txBody>
      </p:sp>
      <p:sp>
        <p:nvSpPr>
          <p:cNvPr id="40" name="Text 37"/>
          <p:cNvSpPr txBox="1"/>
          <p:nvPr/>
        </p:nvSpPr>
        <p:spPr>
          <a:xfrm>
            <a:off x="4572000" y="3300984"/>
            <a:ext cx="1783080" cy="310896"/>
          </a:xfrm>
          <a:prstGeom prst="rect">
            <a:avLst/>
          </a:prstGeom>
          <a:noFill/>
          <a:ln/>
        </p:spPr>
        <p:txBody>
          <a:bodyPr wrap="square" lIns="0" tIns="0" rIns="0" bIns="0" rtlCol="0" anchor="ctr"/>
          <a:lstStyle/>
          <a:p>
            <a:pPr indent="0" marL="0">
              <a:buNone/>
            </a:pPr>
            <a:r>
              <a:rPr lang="en-US" sz="900" dirty="0">
                <a:solidFill>
                  <a:srgbClr val="141C24"/>
                </a:solidFill>
                <a:latin typeface="Calibri" pitchFamily="34" charset="0"/>
                <a:ea typeface="Calibri" pitchFamily="34" charset="-122"/>
                <a:cs typeface="Calibri" pitchFamily="34" charset="-120"/>
              </a:rPr>
              <a:t>Price discount 10-20%</a:t>
            </a:r>
            <a:endParaRPr lang="en-US" sz="900" dirty="0"/>
          </a:p>
        </p:txBody>
      </p:sp>
      <p:sp>
        <p:nvSpPr>
          <p:cNvPr id="41" name="Shape 38"/>
          <p:cNvSpPr/>
          <p:nvPr/>
        </p:nvSpPr>
        <p:spPr>
          <a:xfrm>
            <a:off x="6667609" y="3364992"/>
            <a:ext cx="356681" cy="182880"/>
          </a:xfrm>
          <a:prstGeom prst="rect">
            <a:avLst/>
          </a:prstGeom>
          <a:solidFill>
            <a:srgbClr val="0086C3"/>
          </a:solidFill>
          <a:ln w="12700">
            <a:solidFill>
              <a:srgbClr val="0086C3"/>
            </a:solidFill>
            <a:prstDash val="solid"/>
          </a:ln>
        </p:spPr>
      </p:sp>
      <p:sp>
        <p:nvSpPr>
          <p:cNvPr id="42" name="Shape 39"/>
          <p:cNvSpPr/>
          <p:nvPr/>
        </p:nvSpPr>
        <p:spPr>
          <a:xfrm>
            <a:off x="7024290" y="3364992"/>
            <a:ext cx="9144" cy="182880"/>
          </a:xfrm>
          <a:prstGeom prst="rect">
            <a:avLst/>
          </a:prstGeom>
          <a:solidFill>
            <a:srgbClr val="9AA7B4"/>
          </a:solidFill>
          <a:ln w="12700">
            <a:solidFill>
              <a:srgbClr val="9AA7B4"/>
            </a:solidFill>
            <a:prstDash val="solid"/>
          </a:ln>
        </p:spPr>
      </p:sp>
      <p:sp>
        <p:nvSpPr>
          <p:cNvPr id="43" name="Text 40"/>
          <p:cNvSpPr txBox="1"/>
          <p:nvPr/>
        </p:nvSpPr>
        <p:spPr>
          <a:xfrm>
            <a:off x="7060866" y="3227832"/>
            <a:ext cx="548640" cy="146304"/>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0.9-2.2</a:t>
            </a:r>
            <a:endParaRPr lang="en-US" sz="900" dirty="0"/>
          </a:p>
        </p:txBody>
      </p:sp>
      <p:sp>
        <p:nvSpPr>
          <p:cNvPr id="44" name="Shape 41"/>
          <p:cNvSpPr/>
          <p:nvPr/>
        </p:nvSpPr>
        <p:spPr>
          <a:xfrm>
            <a:off x="7015146" y="1645920"/>
            <a:ext cx="18288" cy="2057400"/>
          </a:xfrm>
          <a:prstGeom prst="rect">
            <a:avLst/>
          </a:prstGeom>
          <a:solidFill>
            <a:srgbClr val="143A5A"/>
          </a:solidFill>
          <a:ln w="12700">
            <a:solidFill>
              <a:srgbClr val="143A5A"/>
            </a:solidFill>
            <a:prstDash val="solid"/>
          </a:ln>
        </p:spPr>
      </p:sp>
      <p:sp>
        <p:nvSpPr>
          <p:cNvPr id="45" name="Text 42"/>
          <p:cNvSpPr txBox="1"/>
          <p:nvPr/>
        </p:nvSpPr>
        <p:spPr>
          <a:xfrm>
            <a:off x="4572000" y="3703320"/>
            <a:ext cx="3931920" cy="41148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Downgrade rate and recovery share dominate. Neither is public, so both are measured in P2-P3 before fleet spend.</a:t>
            </a:r>
            <a:endParaRPr lang="en-US" sz="950" dirty="0"/>
          </a:p>
        </p:txBody>
      </p:sp>
      <p:sp>
        <p:nvSpPr>
          <p:cNvPr id="46" name="Shape 43"/>
          <p:cNvSpPr/>
          <p:nvPr/>
        </p:nvSpPr>
        <p:spPr>
          <a:xfrm>
            <a:off x="8732520" y="1234440"/>
            <a:ext cx="2999232" cy="274320"/>
          </a:xfrm>
          <a:prstGeom prst="rect">
            <a:avLst/>
          </a:prstGeom>
          <a:solidFill>
            <a:srgbClr val="2B5B80"/>
          </a:solidFill>
          <a:ln w="12700">
            <a:solidFill>
              <a:srgbClr val="2B5B80"/>
            </a:solidFill>
            <a:prstDash val="solid"/>
          </a:ln>
        </p:spPr>
      </p:sp>
      <p:sp>
        <p:nvSpPr>
          <p:cNvPr id="47" name="Text 44"/>
          <p:cNvSpPr txBox="1"/>
          <p:nvPr/>
        </p:nvSpPr>
        <p:spPr>
          <a:xfrm>
            <a:off x="8823960" y="1234440"/>
            <a:ext cx="281635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Base-case payback</a:t>
            </a:r>
            <a:endParaRPr lang="en-US" sz="1100" dirty="0"/>
          </a:p>
        </p:txBody>
      </p:sp>
      <p:sp>
        <p:nvSpPr>
          <p:cNvPr id="48" name="Text 45"/>
          <p:cNvSpPr txBox="1"/>
          <p:nvPr/>
        </p:nvSpPr>
        <p:spPr>
          <a:xfrm>
            <a:off x="8778240" y="1691640"/>
            <a:ext cx="2926080" cy="201168"/>
          </a:xfrm>
          <a:prstGeom prst="rect">
            <a:avLst/>
          </a:prstGeom>
          <a:noFill/>
          <a:ln/>
        </p:spPr>
        <p:txBody>
          <a:bodyPr wrap="square" lIns="0" tIns="0" rIns="0" bIns="0" rtlCol="0" anchor="t"/>
          <a:lstStyle/>
          <a:p>
            <a:pPr indent="0" marL="0">
              <a:buNone/>
            </a:pPr>
            <a:r>
              <a:rPr lang="en-US" sz="950" b="1" dirty="0">
                <a:solidFill>
                  <a:srgbClr val="141C24"/>
                </a:solidFill>
                <a:latin typeface="Calibri" pitchFamily="34" charset="0"/>
                <a:ea typeface="Calibri" pitchFamily="34" charset="-122"/>
                <a:cs typeface="Calibri" pitchFamily="34" charset="-120"/>
              </a:rPr>
              <a:t>Hybrid (ours)</a:t>
            </a:r>
            <a:endParaRPr lang="en-US" sz="950" dirty="0"/>
          </a:p>
        </p:txBody>
      </p:sp>
      <p:sp>
        <p:nvSpPr>
          <p:cNvPr id="49" name="Shape 46"/>
          <p:cNvSpPr/>
          <p:nvPr/>
        </p:nvSpPr>
        <p:spPr>
          <a:xfrm>
            <a:off x="8778240" y="1920240"/>
            <a:ext cx="396000" cy="237744"/>
          </a:xfrm>
          <a:prstGeom prst="rect">
            <a:avLst/>
          </a:prstGeom>
          <a:solidFill>
            <a:srgbClr val="0086C3"/>
          </a:solidFill>
          <a:ln w="12700">
            <a:solidFill>
              <a:srgbClr val="0086C3"/>
            </a:solidFill>
            <a:prstDash val="solid"/>
          </a:ln>
        </p:spPr>
      </p:sp>
      <p:sp>
        <p:nvSpPr>
          <p:cNvPr id="50" name="Text 47"/>
          <p:cNvSpPr txBox="1"/>
          <p:nvPr/>
        </p:nvSpPr>
        <p:spPr>
          <a:xfrm>
            <a:off x="9219960" y="1911096"/>
            <a:ext cx="640080" cy="256032"/>
          </a:xfrm>
          <a:prstGeom prst="rect">
            <a:avLst/>
          </a:prstGeom>
          <a:noFill/>
          <a:ln/>
        </p:spPr>
        <p:txBody>
          <a:bodyPr wrap="square" lIns="0" tIns="0" rIns="0" bIns="0" rtlCol="0" anchor="ctr"/>
          <a:lstStyle/>
          <a:p>
            <a:pPr indent="0" marL="0">
              <a:buNone/>
            </a:pPr>
            <a:r>
              <a:rPr lang="en-US" sz="1100" b="1" dirty="0">
                <a:solidFill>
                  <a:srgbClr val="143A5A"/>
                </a:solidFill>
                <a:latin typeface="Calibri" pitchFamily="34" charset="0"/>
                <a:ea typeface="Calibri" pitchFamily="34" charset="-122"/>
                <a:cs typeface="Calibri" pitchFamily="34" charset="-120"/>
              </a:rPr>
              <a:t>2.2 yr</a:t>
            </a:r>
            <a:endParaRPr lang="en-US" sz="1100" dirty="0"/>
          </a:p>
        </p:txBody>
      </p:sp>
      <p:sp>
        <p:nvSpPr>
          <p:cNvPr id="51" name="Text 48"/>
          <p:cNvSpPr txBox="1"/>
          <p:nvPr/>
        </p:nvSpPr>
        <p:spPr>
          <a:xfrm>
            <a:off x="8778240" y="2350008"/>
            <a:ext cx="2926080" cy="201168"/>
          </a:xfrm>
          <a:prstGeom prst="rect">
            <a:avLst/>
          </a:prstGeom>
          <a:noFill/>
          <a:ln/>
        </p:spPr>
        <p:txBody>
          <a:bodyPr wrap="square" lIns="0" tIns="0" rIns="0" bIns="0" rtlCol="0" anchor="t"/>
          <a:lstStyle/>
          <a:p>
            <a:pPr indent="0" marL="0">
              <a:buNone/>
            </a:pPr>
            <a:r>
              <a:rPr lang="en-US" sz="950" b="1" dirty="0">
                <a:solidFill>
                  <a:srgbClr val="141C24"/>
                </a:solidFill>
                <a:latin typeface="Calibri" pitchFamily="34" charset="0"/>
                <a:ea typeface="Calibri" pitchFamily="34" charset="-122"/>
                <a:cs typeface="Calibri" pitchFamily="34" charset="-120"/>
              </a:rPr>
              <a:t>Commercial system</a:t>
            </a:r>
            <a:endParaRPr lang="en-US" sz="950" dirty="0"/>
          </a:p>
        </p:txBody>
      </p:sp>
      <p:sp>
        <p:nvSpPr>
          <p:cNvPr id="52" name="Shape 49"/>
          <p:cNvSpPr/>
          <p:nvPr/>
        </p:nvSpPr>
        <p:spPr>
          <a:xfrm>
            <a:off x="8778240" y="2578608"/>
            <a:ext cx="2286000" cy="237744"/>
          </a:xfrm>
          <a:prstGeom prst="rect">
            <a:avLst/>
          </a:prstGeom>
          <a:solidFill>
            <a:srgbClr val="9AA7B4"/>
          </a:solidFill>
          <a:ln w="12700">
            <a:solidFill>
              <a:srgbClr val="9AA7B4"/>
            </a:solidFill>
            <a:prstDash val="solid"/>
          </a:ln>
        </p:spPr>
      </p:sp>
      <p:sp>
        <p:nvSpPr>
          <p:cNvPr id="53" name="Text 50"/>
          <p:cNvSpPr txBox="1"/>
          <p:nvPr/>
        </p:nvSpPr>
        <p:spPr>
          <a:xfrm>
            <a:off x="11109960" y="2569464"/>
            <a:ext cx="640080" cy="256032"/>
          </a:xfrm>
          <a:prstGeom prst="rect">
            <a:avLst/>
          </a:prstGeom>
          <a:noFill/>
          <a:ln/>
        </p:spPr>
        <p:txBody>
          <a:bodyPr wrap="square" lIns="0" tIns="0" rIns="0" bIns="0" rtlCol="0" anchor="ctr"/>
          <a:lstStyle/>
          <a:p>
            <a:pPr indent="0" marL="0">
              <a:buNone/>
            </a:pPr>
            <a:r>
              <a:rPr lang="en-US" sz="1100" b="1" dirty="0">
                <a:solidFill>
                  <a:srgbClr val="143A5A"/>
                </a:solidFill>
                <a:latin typeface="Calibri" pitchFamily="34" charset="0"/>
                <a:ea typeface="Calibri" pitchFamily="34" charset="-122"/>
                <a:cs typeface="Calibri" pitchFamily="34" charset="-120"/>
              </a:rPr>
              <a:t>12.7 yr</a:t>
            </a:r>
            <a:endParaRPr lang="en-US" sz="1100" dirty="0"/>
          </a:p>
        </p:txBody>
      </p:sp>
      <p:sp>
        <p:nvSpPr>
          <p:cNvPr id="54" name="Text 51"/>
          <p:cNvSpPr txBox="1"/>
          <p:nvPr/>
        </p:nvSpPr>
        <p:spPr>
          <a:xfrm>
            <a:off x="8778240" y="3063240"/>
            <a:ext cx="2926080" cy="1051560"/>
          </a:xfrm>
          <a:prstGeom prst="rect">
            <a:avLst/>
          </a:prstGeom>
          <a:noFill/>
          <a:ln/>
        </p:spPr>
        <p:txBody>
          <a:bodyPr wrap="square" lIns="0" tIns="0" rIns="0" bIns="0" rtlCol="0" anchor="t"/>
          <a:lstStyle/>
          <a:p>
            <a:pPr indent="0" marL="0">
              <a:buNone/>
            </a:pPr>
            <a:r>
              <a:rPr lang="en-US" sz="1300" b="1" dirty="0">
                <a:solidFill>
                  <a:srgbClr val="143A5A"/>
                </a:solidFill>
                <a:latin typeface="Calibri" pitchFamily="34" charset="0"/>
                <a:ea typeface="Calibri" pitchFamily="34" charset="-122"/>
                <a:cs typeface="Calibri" pitchFamily="34" charset="-120"/>
              </a:rPr>
              <a:t>+INR 2.1 cr </a:t>
            </a:r>
            <a:pPr indent="0" marL="0">
              <a:buNone/>
            </a:pPr>
            <a:r>
              <a:rPr lang="en-US" sz="950" dirty="0">
                <a:solidFill>
                  <a:srgbClr val="334150"/>
                </a:solidFill>
                <a:latin typeface="Calibri" pitchFamily="34" charset="0"/>
                <a:ea typeface="Calibri" pitchFamily="34" charset="-122"/>
                <a:cs typeface="Calibri" pitchFamily="34" charset="-120"/>
              </a:rPr>
              <a:t>5-year NPV per line at 12%
</a:t>
            </a:r>
            <a:pPr indent="0" marL="0">
              <a:buNone/>
            </a:pPr>
            <a:r>
              <a:rPr lang="en-US" sz="1300" b="1" dirty="0">
                <a:solidFill>
                  <a:srgbClr val="143A5A"/>
                </a:solidFill>
                <a:latin typeface="Calibri" pitchFamily="34" charset="0"/>
                <a:ea typeface="Calibri" pitchFamily="34" charset="-122"/>
                <a:cs typeface="Calibri" pitchFamily="34" charset="-120"/>
              </a:rPr>
              <a:t>&gt;= 0.11% </a:t>
            </a:r>
            <a:pPr indent="0" marL="0">
              <a:buNone/>
            </a:pPr>
            <a:r>
              <a:rPr lang="en-US" sz="950" dirty="0">
                <a:solidFill>
                  <a:srgbClr val="334150"/>
                </a:solidFill>
                <a:latin typeface="Calibri" pitchFamily="34" charset="0"/>
                <a:ea typeface="Calibri" pitchFamily="34" charset="-122"/>
                <a:cs typeface="Calibri" pitchFamily="34" charset="-120"/>
              </a:rPr>
              <a:t>of line revenue lost to downgrade (rate x discount) is enough for a 2-year payback</a:t>
            </a:r>
            <a:endParaRPr lang="en-US" sz="1000" dirty="0"/>
          </a:p>
        </p:txBody>
      </p:sp>
      <p:sp>
        <p:nvSpPr>
          <p:cNvPr id="55" name="Shape 52"/>
          <p:cNvSpPr/>
          <p:nvPr/>
        </p:nvSpPr>
        <p:spPr>
          <a:xfrm>
            <a:off x="457200" y="4206240"/>
            <a:ext cx="7223760" cy="274320"/>
          </a:xfrm>
          <a:prstGeom prst="rect">
            <a:avLst/>
          </a:prstGeom>
          <a:solidFill>
            <a:srgbClr val="2B5B80"/>
          </a:solidFill>
          <a:ln w="12700">
            <a:solidFill>
              <a:srgbClr val="2B5B80"/>
            </a:solidFill>
            <a:prstDash val="solid"/>
          </a:ln>
        </p:spPr>
      </p:sp>
      <p:sp>
        <p:nvSpPr>
          <p:cNvPr id="56" name="Text 53"/>
          <p:cNvSpPr txBox="1"/>
          <p:nvPr/>
        </p:nvSpPr>
        <p:spPr>
          <a:xfrm>
            <a:off x="548640" y="4206240"/>
            <a:ext cx="70408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Impact beyond the P&amp;L</a:t>
            </a:r>
            <a:endParaRPr lang="en-US" sz="1100" dirty="0"/>
          </a:p>
        </p:txBody>
      </p:sp>
      <p:sp>
        <p:nvSpPr>
          <p:cNvPr id="57" name="Text 54"/>
          <p:cNvSpPr txBox="1"/>
          <p:nvPr/>
        </p:nvSpPr>
        <p:spPr>
          <a:xfrm>
            <a:off x="502920" y="4553712"/>
            <a:ext cx="1097280" cy="420624"/>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Coverage</a:t>
            </a:r>
            <a:endParaRPr lang="en-US" sz="1000" dirty="0"/>
          </a:p>
        </p:txBody>
      </p:sp>
      <p:sp>
        <p:nvSpPr>
          <p:cNvPr id="58" name="Text 55"/>
          <p:cNvSpPr txBox="1"/>
          <p:nvPr/>
        </p:nvSpPr>
        <p:spPr>
          <a:xfrm>
            <a:off x="1600200" y="4553712"/>
            <a:ext cx="2423160" cy="43891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100% of both faces, the same rule on every coil, instead of sampled grading</a:t>
            </a:r>
            <a:endParaRPr lang="en-US" sz="900" dirty="0"/>
          </a:p>
        </p:txBody>
      </p:sp>
      <p:sp>
        <p:nvSpPr>
          <p:cNvPr id="59" name="Text 56"/>
          <p:cNvSpPr txBox="1"/>
          <p:nvPr/>
        </p:nvSpPr>
        <p:spPr>
          <a:xfrm>
            <a:off x="4114800" y="4553712"/>
            <a:ext cx="1097280" cy="420624"/>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Customers</a:t>
            </a:r>
            <a:endParaRPr lang="en-US" sz="1000" dirty="0"/>
          </a:p>
        </p:txBody>
      </p:sp>
      <p:sp>
        <p:nvSpPr>
          <p:cNvPr id="60" name="Text 57"/>
          <p:cNvSpPr txBox="1"/>
          <p:nvPr/>
        </p:nvSpPr>
        <p:spPr>
          <a:xfrm>
            <a:off x="5212080" y="4553712"/>
            <a:ext cx="2423160" cy="43891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Defect map per coil for auto, rail and appliance buyers; fewer claims on exposed finishes</a:t>
            </a:r>
            <a:endParaRPr lang="en-US" sz="900" dirty="0"/>
          </a:p>
        </p:txBody>
      </p:sp>
      <p:sp>
        <p:nvSpPr>
          <p:cNvPr id="61" name="Text 58"/>
          <p:cNvSpPr txBox="1"/>
          <p:nvPr/>
        </p:nvSpPr>
        <p:spPr>
          <a:xfrm>
            <a:off x="502920" y="5029200"/>
            <a:ext cx="1097280" cy="420624"/>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Process</a:t>
            </a:r>
            <a:endParaRPr lang="en-US" sz="1000" dirty="0"/>
          </a:p>
        </p:txBody>
      </p:sp>
      <p:sp>
        <p:nvSpPr>
          <p:cNvPr id="62" name="Text 59"/>
          <p:cNvSpPr txBox="1"/>
          <p:nvPr/>
        </p:nvSpPr>
        <p:spPr>
          <a:xfrm>
            <a:off x="1600200" y="5029200"/>
            <a:ext cx="2423160" cy="43891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Typed defects tied to heat and coil IDs give the SMS and HSM root-cause data they lack today</a:t>
            </a:r>
            <a:endParaRPr lang="en-US" sz="900" dirty="0"/>
          </a:p>
        </p:txBody>
      </p:sp>
      <p:sp>
        <p:nvSpPr>
          <p:cNvPr id="63" name="Text 60"/>
          <p:cNvSpPr txBox="1"/>
          <p:nvPr/>
        </p:nvSpPr>
        <p:spPr>
          <a:xfrm>
            <a:off x="4114800" y="5029200"/>
            <a:ext cx="1097280" cy="420624"/>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Safety and assets</a:t>
            </a:r>
            <a:endParaRPr lang="en-US" sz="1000" dirty="0"/>
          </a:p>
        </p:txBody>
      </p:sp>
      <p:sp>
        <p:nvSpPr>
          <p:cNvPr id="64" name="Text 61"/>
          <p:cNvSpPr txBox="1"/>
          <p:nvPr/>
        </p:nvSpPr>
        <p:spPr>
          <a:xfrm>
            <a:off x="5212080" y="5029200"/>
            <a:ext cx="2423160" cy="43891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Severe-defect holds guard against strip breaks, the Ternium business case</a:t>
            </a:r>
            <a:endParaRPr lang="en-US" sz="900" dirty="0"/>
          </a:p>
        </p:txBody>
      </p:sp>
      <p:sp>
        <p:nvSpPr>
          <p:cNvPr id="65" name="Text 62"/>
          <p:cNvSpPr txBox="1"/>
          <p:nvPr/>
        </p:nvSpPr>
        <p:spPr>
          <a:xfrm>
            <a:off x="502920" y="5504688"/>
            <a:ext cx="1097280" cy="420624"/>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Sustainability</a:t>
            </a:r>
            <a:endParaRPr lang="en-US" sz="1000" dirty="0"/>
          </a:p>
        </p:txBody>
      </p:sp>
      <p:sp>
        <p:nvSpPr>
          <p:cNvPr id="66" name="Text 63"/>
          <p:cNvSpPr txBox="1"/>
          <p:nvPr/>
        </p:nvSpPr>
        <p:spPr>
          <a:xfrm>
            <a:off x="1600200" y="5504688"/>
            <a:ext cx="2423160" cy="43891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Less remelt and re-pickling of downgraded coils saves energy, acid and nickel</a:t>
            </a:r>
            <a:endParaRPr lang="en-US" sz="900" dirty="0"/>
          </a:p>
        </p:txBody>
      </p:sp>
      <p:sp>
        <p:nvSpPr>
          <p:cNvPr id="67" name="Text 64"/>
          <p:cNvSpPr txBox="1"/>
          <p:nvPr/>
        </p:nvSpPr>
        <p:spPr>
          <a:xfrm>
            <a:off x="4114800" y="5504688"/>
            <a:ext cx="1097280" cy="420624"/>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People</a:t>
            </a:r>
            <a:endParaRPr lang="en-US" sz="1000" dirty="0"/>
          </a:p>
        </p:txBody>
      </p:sp>
      <p:sp>
        <p:nvSpPr>
          <p:cNvPr id="68" name="Text 65"/>
          <p:cNvSpPr txBox="1"/>
          <p:nvPr/>
        </p:nvSpPr>
        <p:spPr>
          <a:xfrm>
            <a:off x="5212080" y="5504688"/>
            <a:ext cx="2423160" cy="43891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"AI will not replace; it will instead renew and re-energise." Inspectors move to decisions (JSL MD)</a:t>
            </a:r>
            <a:endParaRPr lang="en-US" sz="900" dirty="0"/>
          </a:p>
        </p:txBody>
      </p:sp>
      <p:sp>
        <p:nvSpPr>
          <p:cNvPr id="69" name="Shape 66"/>
          <p:cNvSpPr/>
          <p:nvPr/>
        </p:nvSpPr>
        <p:spPr>
          <a:xfrm>
            <a:off x="7909560" y="4206240"/>
            <a:ext cx="3822192" cy="1719072"/>
          </a:xfrm>
          <a:prstGeom prst="roundRect">
            <a:avLst>
              <a:gd name="adj" fmla="val 3191"/>
            </a:avLst>
          </a:prstGeom>
          <a:solidFill>
            <a:srgbClr val="143A5A"/>
          </a:solidFill>
          <a:ln w="12700">
            <a:solidFill>
              <a:srgbClr val="143A5A"/>
            </a:solidFill>
            <a:prstDash val="solid"/>
          </a:ln>
        </p:spPr>
      </p:sp>
      <p:sp>
        <p:nvSpPr>
          <p:cNvPr id="70" name="Text 67"/>
          <p:cNvSpPr txBox="1"/>
          <p:nvPr/>
        </p:nvSpPr>
        <p:spPr>
          <a:xfrm>
            <a:off x="8046720" y="4279392"/>
            <a:ext cx="3566160" cy="256032"/>
          </a:xfrm>
          <a:prstGeom prst="rect">
            <a:avLst/>
          </a:prstGeom>
          <a:noFill/>
          <a:ln/>
        </p:spPr>
        <p:txBody>
          <a:bodyPr wrap="square" lIns="0" tIns="0" rIns="0" bIns="0" rtlCol="0" anchor="t"/>
          <a:lstStyle/>
          <a:p>
            <a:pPr indent="0" marL="0">
              <a:buNone/>
            </a:pPr>
            <a:r>
              <a:rPr lang="en-US" sz="1100" b="1" dirty="0">
                <a:solidFill>
                  <a:srgbClr val="BFD2E2"/>
                </a:solidFill>
                <a:latin typeface="Calibri" pitchFamily="34" charset="0"/>
                <a:ea typeface="Calibri" pitchFamily="34" charset="-122"/>
                <a:cs typeface="Calibri" pitchFamily="34" charset="-120"/>
              </a:rPr>
              <a:t>WHAT WE ASK OF JSL</a:t>
            </a:r>
            <a:endParaRPr lang="en-US" sz="1100" dirty="0"/>
          </a:p>
        </p:txBody>
      </p:sp>
      <p:sp>
        <p:nvSpPr>
          <p:cNvPr id="71" name="Text 68"/>
          <p:cNvSpPr txBox="1"/>
          <p:nvPr/>
        </p:nvSpPr>
        <p:spPr>
          <a:xfrm>
            <a:off x="8046720" y="4572000"/>
            <a:ext cx="3611880" cy="12801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FFFFFF"/>
                </a:solidFill>
                <a:latin typeface="Calibri" pitchFamily="34" charset="0"/>
                <a:ea typeface="Calibri" pitchFamily="34" charset="-122"/>
                <a:cs typeface="Calibri" pitchFamily="34" charset="-120"/>
              </a:rPr>
              <a:t>One 300-series cold-rolled line for 7 months</a:t>
            </a:r>
            <a:endParaRPr lang="en-US" sz="1050" dirty="0"/>
          </a:p>
          <a:p>
            <a:pPr marL="342900" indent="-342900">
              <a:spcAft>
                <a:spcPts val="400"/>
              </a:spcAft>
              <a:buSzPct val="100000"/>
              <a:buChar char="•"/>
            </a:pPr>
            <a:r>
              <a:rPr lang="en-US" sz="1050" dirty="0">
                <a:solidFill>
                  <a:srgbClr val="FFFFFF"/>
                </a:solidFill>
                <a:latin typeface="Calibri" pitchFamily="34" charset="0"/>
                <a:ea typeface="Calibri" pitchFamily="34" charset="-122"/>
                <a:cs typeface="Calibri" pitchFamily="34" charset="-120"/>
              </a:rPr>
              <a:t>INR 2.5-4.2 cr pilot budget</a:t>
            </a:r>
            <a:endParaRPr lang="en-US" sz="1050" dirty="0"/>
          </a:p>
          <a:p>
            <a:pPr marL="342900" indent="-342900">
              <a:spcAft>
                <a:spcPts val="400"/>
              </a:spcAft>
              <a:buSzPct val="100000"/>
              <a:buChar char="•"/>
            </a:pPr>
            <a:r>
              <a:rPr lang="en-US" sz="1050" dirty="0">
                <a:solidFill>
                  <a:srgbClr val="FFFFFF"/>
                </a:solidFill>
                <a:latin typeface="Calibri" pitchFamily="34" charset="0"/>
                <a:ea typeface="Calibri" pitchFamily="34" charset="-122"/>
                <a:cs typeface="Calibri" pitchFamily="34" charset="-120"/>
              </a:rPr>
              <a:t>Downgrade rate by line and grade from the MIS</a:t>
            </a:r>
            <a:endParaRPr lang="en-US" sz="1050" dirty="0"/>
          </a:p>
          <a:p>
            <a:pPr marL="342900" indent="-342900">
              <a:spcAft>
                <a:spcPts val="400"/>
              </a:spcAft>
              <a:buSzPct val="100000"/>
              <a:buChar char="•"/>
            </a:pPr>
            <a:r>
              <a:rPr lang="en-US" sz="1050" dirty="0">
                <a:solidFill>
                  <a:srgbClr val="FFFFFF"/>
                </a:solidFill>
                <a:latin typeface="Calibri" pitchFamily="34" charset="0"/>
                <a:ea typeface="Calibri" pitchFamily="34" charset="-122"/>
                <a:cs typeface="Calibri" pitchFamily="34" charset="-120"/>
              </a:rPr>
              <a:t>A metallurgist at 20% to sign off root causes</a:t>
            </a:r>
            <a:endParaRPr lang="en-US" sz="1050" dirty="0"/>
          </a:p>
          <a:p>
            <a:pPr indent="0" marL="0">
              <a:spcAft>
                <a:spcPts val="400"/>
              </a:spcAft>
              <a:buNone/>
            </a:pPr>
            <a:r>
              <a:rPr lang="en-US" sz="1050" b="1" dirty="0">
                <a:solidFill>
                  <a:srgbClr val="BFD2E2"/>
                </a:solidFill>
                <a:latin typeface="Calibri" pitchFamily="34" charset="0"/>
                <a:ea typeface="Calibri" pitchFamily="34" charset="-122"/>
                <a:cs typeface="Calibri" pitchFamily="34" charset="-120"/>
              </a:rPr>
              <a:t>In return: measured downgrade rate, payback and a go / no-go at month 7</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Stainless Spark Round 2 - AI Surface Defect Detection</dc:title>
  <dc:subject>PptxGenJS Presentation</dc:subject>
  <dc:creator>PptxGenJS</dc:creator>
  <cp:lastModifiedBy>PptxGenJS</cp:lastModifiedBy>
  <cp:revision>1</cp:revision>
  <dcterms:created xsi:type="dcterms:W3CDTF">2026-09-26T06:51:58Z</dcterms:created>
  <dcterms:modified xsi:type="dcterms:W3CDTF">2026-09-26T06:51:58Z</dcterms:modified>
</cp:coreProperties>
</file>