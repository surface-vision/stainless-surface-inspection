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charts/chart1.xml" ContentType="application/vnd.openxmlformats-officedocument.drawingml.chart+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charts/chart2.xml" ContentType="application/vnd.openxmlformats-officedocument.drawingml.chart+xml"/>
  <Override PartName="/ppt/slideMasters/slideMaster8.xml" ContentType="application/vnd.openxmlformats-officedocument.presentationml.slideMaster+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Lst>
  <p:notesMasterIdLst>
    <p:notesMasterId r:id="rId1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notesMaster" Target="notesMasters/notes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Trained on lab images only</c:v>
                </c:pt>
              </c:strCache>
            </c:strRef>
          </c:tx>
          <c:spPr>
            <a:solidFill>
              <a:srgbClr val="9AA7B4"/>
            </a:solidFill>
            <a:effectLst/>
          </c:spPr>
          <c:invertIfNegative val="0"/>
          <c:dLbls>
            <c:numFmt formatCode="0.0&quot;%&quot;" sourceLinked="0"/>
            <c:txPr>
              <a:bodyPr/>
              <a:lstStyle/>
              <a:p>
                <a:pPr>
                  <a:defRPr b="1" i="0" strike="noStrike" sz="1000" u="none">
                    <a:solidFill>
                      <a:srgbClr val="141C24"/>
                    </a:solidFill>
                    <a:latin typeface="Calibri"/>
                  </a:defRPr>
                </a:pPr>
              </a:p>
            </c:txPr>
            <c:showLegendKey val="0"/>
            <c:showVal val="1"/>
            <c:showCatName val="0"/>
            <c:showSerName val="0"/>
            <c:showPercent val="0"/>
            <c:showBubbleSize val="0"/>
            <c:showLeaderLines val="0"/>
          </c:dLbls>
          <c:cat>
            <c:multiLvlStrRef>
              <c:f>Sheet1!$A$2:$A$3</c:f>
              <c:multiLvlStrCache>
                <c:ptCount val="2"/>
                <c:lvl>
                  <c:pt idx="0">
                    <c:v>Clean strip wrongly flagged</c:v>
                  </c:pt>
                  <c:pt idx="1">
                    <c:v>Defects caught</c:v>
                  </c:pt>
                </c:lvl>
              </c:multiLvlStrCache>
            </c:multiLvlStrRef>
          </c:cat>
          <c:val>
            <c:numRef>
              <c:f>Sheet1!$B$2:$B$3</c:f>
              <c:numCache>
                <c:formatCode>General</c:formatCode>
                <c:ptCount val="2"/>
                <c:pt idx="0">
                  <c:v>51.7</c:v>
                </c:pt>
                <c:pt idx="1">
                  <c:v>46.2</c:v>
                </c:pt>
              </c:numCache>
            </c:numRef>
          </c:val>
        </c:ser>
        <c:ser>
          <c:idx val="1"/>
          <c:order val="1"/>
          <c:tx>
            <c:strRef>
              <c:f>Sheet1!$C$1</c:f>
              <c:strCache>
                <c:ptCount val="1"/>
                <c:pt idx="0">
                  <c:v>With real clean strip added (ours)</c:v>
                </c:pt>
              </c:strCache>
            </c:strRef>
          </c:tx>
          <c:spPr>
            <a:solidFill>
              <a:srgbClr val="0086C3"/>
            </a:solidFill>
            <a:effectLst/>
          </c:spPr>
          <c:invertIfNegative val="0"/>
          <c:dLbls>
            <c:numFmt formatCode="0.0&quot;%&quot;" sourceLinked="0"/>
            <c:txPr>
              <a:bodyPr/>
              <a:lstStyle/>
              <a:p>
                <a:pPr>
                  <a:defRPr b="1" i="0" strike="noStrike" sz="1000" u="none">
                    <a:solidFill>
                      <a:srgbClr val="141C24"/>
                    </a:solidFill>
                    <a:latin typeface="Calibri"/>
                  </a:defRPr>
                </a:pPr>
              </a:p>
            </c:txPr>
            <c:showLegendKey val="0"/>
            <c:showVal val="1"/>
            <c:showCatName val="0"/>
            <c:showSerName val="0"/>
            <c:showPercent val="0"/>
            <c:showBubbleSize val="0"/>
            <c:showLeaderLines val="0"/>
          </c:dLbls>
          <c:cat>
            <c:multiLvlStrRef>
              <c:f>Sheet1!$A$2:$A$3</c:f>
              <c:multiLvlStrCache>
                <c:ptCount val="2"/>
                <c:lvl>
                  <c:pt idx="0">
                    <c:v>Clean strip wrongly flagged</c:v>
                  </c:pt>
                  <c:pt idx="1">
                    <c:v>Defects caught</c:v>
                  </c:pt>
                </c:lvl>
              </c:multiLvlStrCache>
            </c:multiLvlStrRef>
          </c:cat>
          <c:val>
            <c:numRef>
              <c:f>Sheet1!$C$2:$C$3</c:f>
              <c:numCache>
                <c:formatCode>General</c:formatCode>
                <c:ptCount val="2"/>
                <c:pt idx="0">
                  <c:v>4.7</c:v>
                </c:pt>
                <c:pt idx="1">
                  <c:v>89.6</c:v>
                </c:pt>
              </c:numCache>
            </c:numRef>
          </c:val>
        </c:ser>
        <c:dLbls>
          <c:numFmt formatCode="0.0&quot;%&quot;" sourceLinked="0"/>
          <c:txPr>
            <a:bodyPr/>
            <a:lstStyle/>
            <a:p>
              <a:pPr>
                <a:defRPr b="1" i="0" strike="noStrike" sz="1000" u="none">
                  <a:solidFill>
                    <a:srgbClr val="141C24"/>
                  </a:solidFill>
                  <a:latin typeface="Calibri"/>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noFill/>
            <a:prstDash val="solid"/>
            <a:round/>
          </a:ln>
        </c:spPr>
        <c:txPr>
          <a:bodyPr/>
          <a:lstStyle/>
          <a:p>
            <a:pPr>
              <a:defRPr sz="1000" b="0" i="0" u="none" strike="noStrike">
                <a:solidFill>
                  <a:srgbClr val="334150"/>
                </a:solidFill>
                <a:latin typeface="Calibri"/>
              </a:defRPr>
            </a:pPr>
            <a:endParaRPr lang="en-US"/>
          </a:p>
        </c:txPr>
        <c:crossAx val="2094734552"/>
        <c:crosses val="autoZero"/>
        <c:auto val="1"/>
        <c:lblAlgn val="ctr"/>
        <c:noMultiLvlLbl val="1"/>
      </c:catAx>
      <c:valAx>
        <c:axId val="2094734552"/>
        <c:scaling>
          <c:orientation val="minMax"/>
          <c:max val="112"/>
          <c:min val="0"/>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950">
              <a:latin typeface="Calibri"/>
              <a:cs typeface="Calibri"/>
            </a:defRPr>
          </a:pPr>
          <a:endParaRPr lang="en-US"/>
        </a:p>
      </c:txPr>
    </c:legend>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doughnutChart>
        <c:varyColors val="1"/>
        <c:ser>
          <c:idx val="0"/>
          <c:order val="0"/>
          <c:tx>
            <c:strRef>
              <c:f>Sheet1!$B$1</c:f>
              <c:strCache>
                <c:ptCount val="1"/>
                <c:pt idx="0">
                  <c:v>Cost</c:v>
                </c:pt>
              </c:strCache>
            </c:strRef>
          </c:tx>
          <c:spPr>
            <a:solidFill>
              <a:schemeClr val="accent1"/>
            </a:solidFill>
            <a:ln w="9525" cap="flat">
              <a:solidFill>
                <a:srgbClr val="F9F9F9"/>
              </a:solidFill>
              <a:prstDash val="solid"/>
              <a:round/>
            </a:ln>
            <a:effectLst/>
          </c:spPr>
          <c:dPt>
            <c:idx val="0"/>
            <c:bubble3D val="0"/>
            <c:spPr>
              <a:solidFill>
                <a:srgbClr val="143A5A"/>
              </a:solidFill>
              <a:ln w="12700" cap="flat">
                <a:solidFill>
                  <a:srgbClr val="FFFFFF"/>
                </a:solidFill>
                <a:prstDash val="solid"/>
                <a:round/>
              </a:ln>
              <a:effectLst/>
            </c:spPr>
          </c:dPt>
          <c:dPt>
            <c:idx val="1"/>
            <c:bubble3D val="0"/>
            <c:spPr>
              <a:solidFill>
                <a:srgbClr val="1F6FA8"/>
              </a:solidFill>
              <a:ln w="12700" cap="flat">
                <a:solidFill>
                  <a:srgbClr val="FFFFFF"/>
                </a:solidFill>
                <a:prstDash val="solid"/>
                <a:round/>
              </a:ln>
              <a:effectLst/>
            </c:spPr>
          </c:dPt>
          <c:dPt>
            <c:idx val="2"/>
            <c:bubble3D val="0"/>
            <c:spPr>
              <a:solidFill>
                <a:srgbClr val="5E9CCB"/>
              </a:solidFill>
              <a:ln w="12700" cap="flat">
                <a:solidFill>
                  <a:srgbClr val="FFFFFF"/>
                </a:solidFill>
                <a:prstDash val="solid"/>
                <a:round/>
              </a:ln>
              <a:effectLst/>
            </c:spPr>
          </c:dPt>
          <c:dPt>
            <c:idx val="3"/>
            <c:bubble3D val="0"/>
            <c:spPr>
              <a:solidFill>
                <a:srgbClr val="A9CBE6"/>
              </a:solidFill>
              <a:ln w="12700" cap="flat">
                <a:solidFill>
                  <a:srgbClr val="FFFFFF"/>
                </a:solidFill>
                <a:prstDash val="solid"/>
                <a:round/>
              </a:ln>
              <a:effectLst/>
            </c:spPr>
          </c:dPt>
          <c:dLbls>
            <c:dLbl>
              <c:idx val="0"/>
              <c:numFmt formatCode="General" sourceLinked="0"/>
              <c:spPr/>
              <c:txPr>
                <a:bodyPr/>
                <a:lstStyle/>
                <a:p>
                  <a:pPr>
                    <a:defRPr sz="1200" b="0" i="0" u="none" strike="noStrike">
                      <a:solidFill>
                        <a:srgbClr val="000000"/>
                      </a:solidFill>
                      <a:latin typeface="Arial"/>
                    </a:defRPr>
                  </a:pPr>
                </a:p>
              </c:txPr>
              <c:showLegendKey val="0"/>
              <c:showVal val="0"/>
              <c:showCatName val="0"/>
              <c:showSerName val="0"/>
              <c:showPercent val="0"/>
              <c:showBubbleSize val="0"/>
            </c:dLbl>
            <c:dLbl>
              <c:idx val="1"/>
              <c:numFmt formatCode="General" sourceLinked="0"/>
              <c:spPr/>
              <c:txPr>
                <a:bodyPr/>
                <a:lstStyle/>
                <a:p>
                  <a:pPr>
                    <a:defRPr sz="1200" b="0" i="0" u="none" strike="noStrike">
                      <a:solidFill>
                        <a:srgbClr val="000000"/>
                      </a:solidFill>
                      <a:latin typeface="Arial"/>
                    </a:defRPr>
                  </a:pPr>
                </a:p>
              </c:txPr>
              <c:showLegendKey val="0"/>
              <c:showVal val="0"/>
              <c:showCatName val="0"/>
              <c:showSerName val="0"/>
              <c:showPercent val="0"/>
              <c:showBubbleSize val="0"/>
            </c:dLbl>
            <c:dLbl>
              <c:idx val="2"/>
              <c:numFmt formatCode="General" sourceLinked="0"/>
              <c:spPr/>
              <c:txPr>
                <a:bodyPr/>
                <a:lstStyle/>
                <a:p>
                  <a:pPr>
                    <a:defRPr sz="1200" b="0" i="0" u="none" strike="noStrike">
                      <a:solidFill>
                        <a:srgbClr val="000000"/>
                      </a:solidFill>
                      <a:latin typeface="Arial"/>
                    </a:defRPr>
                  </a:pPr>
                </a:p>
              </c:txPr>
              <c:showLegendKey val="0"/>
              <c:showVal val="0"/>
              <c:showCatName val="0"/>
              <c:showSerName val="0"/>
              <c:showPercent val="0"/>
              <c:showBubbleSize val="0"/>
            </c:dLbl>
            <c:dLbl>
              <c:idx val="3"/>
              <c:numFmt formatCode="General" sourceLinked="0"/>
              <c:spPr/>
              <c:txPr>
                <a:bodyPr/>
                <a:lstStyle/>
                <a:p>
                  <a:pPr>
                    <a:defRPr sz="1200" b="0" i="0" u="none" strike="noStrike">
                      <a:solidFill>
                        <a:srgbClr val="000000"/>
                      </a:solidFill>
                      <a:latin typeface="Arial"/>
                    </a:defRPr>
                  </a:pPr>
                </a:p>
              </c:txPr>
              <c:showLegendKey val="0"/>
              <c:showVal val="0"/>
              <c:showCatName val="0"/>
              <c:showSerName val="0"/>
              <c:showPercent val="0"/>
              <c:showBubbleSize val="0"/>
            </c:dLbl>
            <c:numFmt formatCode="General" sourceLinked="0"/>
            <c:txPr>
              <a:bodyPr/>
              <a:lstStyle/>
              <a:p>
                <a:pPr>
                  <a:defRPr sz="1800" b="0" i="0" u="none" strike="noStrike">
                    <a:solidFill>
                      <a:srgbClr val="000000"/>
                    </a:solidFill>
                    <a:latin typeface="Arial"/>
                  </a:defRPr>
                </a:pPr>
              </a:p>
            </c:txPr>
            <c:showLegendKey val="0"/>
            <c:showVal val="0"/>
            <c:showCatName val="1"/>
            <c:showSerName val="0"/>
            <c:showPercent val="1"/>
            <c:showBubbleSize val="0"/>
            <c:showLeaderLines val="0"/>
          </c:dLbls>
          <c:cat>
            <c:strRef>
              <c:f>Sheet1!$A$2:$A$5</c:f>
              <c:strCache>
                <c:ptCount val="4"/>
                <c:pt idx="0">
                  <c:v>Cameras &amp; lighting</c:v>
                </c:pt>
                <c:pt idx="1">
                  <c:v>Installation &amp; integration</c:v>
                </c:pt>
                <c:pt idx="2">
                  <c:v>Computing hardware</c:v>
                </c:pt>
                <c:pt idx="3">
                  <c:v>Training on JSL strip</c:v>
                </c:pt>
              </c:strCache>
            </c:strRef>
          </c:cat>
          <c:val>
            <c:numRef>
              <c:f>Sheet1!$B$2:$B$5</c:f>
              <c:numCache>
                <c:ptCount val="4"/>
                <c:pt idx="0">
                  <c:v>115</c:v>
                </c:pt>
                <c:pt idx="1">
                  <c:v>120</c:v>
                </c:pt>
                <c:pt idx="2">
                  <c:v>60</c:v>
                </c:pt>
                <c:pt idx="3">
                  <c:v>40</c:v>
                </c:pt>
              </c:numCache>
            </c:numRef>
          </c:val>
        </c:ser>
        <c:firstSliceAng val="0"/>
        <c:holeSize val="62"/>
      </c:doughnutChart>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Cover. The strip of six images is real output from our model on held-out steel images. The QR opens the live demo, which runs in the judge's browser. Four numbers tell the story: on real mill strip we cut false alarms from 52% to 4.7% while roughly doubling the defects caught, at a fraction of commercial cost, paying back in about two years on one 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Problem. Walk the ribbon left to right: a sliver born at the caster is only seen at finishing, after hot rolling, annealing, pickling and cold rolling have all been paid for. Nickel is why this hurts more on stainless: INR 1.26-1.65 lakh of nickel in every tonne of 304. The cost-of-quality frame is the output: AI inspection is an appraisal cost that moves spend out of internal and external failure. "Seen today" is typical practice; JSL's actual coverage is a P0 input.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Insights, stainless-specific. The six images are our model's real detections on held-out frames. Each family is born at a different stage, so a typed detection can go straight to the right owner as a work order. The owner mapping draws on the metallurgy literature and needs a JSL metallurgist's sign-off in P0. The grade matrix is a hypothesis; its output is the pilot grade, 300 series.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findings from our own tests, each of which changed the design. One: a model trained only on lab defect images flags 155 of 300 clean mill images; adding real clean strip cuts that to 14 and nearly doubles the real defects it catches. Two: a bigger model and sharper images did not improve accuracy, so money goes into cameras. Three: at full detail a 250 m/min line needs about 18 processors; resolution is a spec decision we make with JSL on day one. Four: operators act only on alarms they trust, so every alarm carries a calibrated confidence and passes an is-this-steel check.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Solution. Stages 2 to 4 are built and running today, including in the browser demo. Stage 5 has coil rules built, but grade- and finish-specific limits need JSL input. Stages 1 and 6 are the plant-side pilot work. What makes this more than a standard detector: it is trained on clean strip as well as defects, every defect is routed to the process that caused it, a second check catches defects it was never taught, and it can learn from JSL's unlabelled image archive. Build vs buy: commercial systems are proven but cost USD 1-3M per line and keep the model closed; hybrid is never weak.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Proof. Three public datasets, about 10,100 images, all scored on images the model never saw in training. Per defect, four of six families sit at or above the published range; crazing and rolled-in scale are low-contrast textures and are weaker. The honest headline is the second weak spot: on real mill frames accuracy is 0.57 against 0.75 on the lab benchmark. That is exactly why P1 trains on JSL's own strip before anything is trusted. Roll marks score 0.20 on GC10 because there are only a few dozen examples; edge cameras and targeted labelling fix that.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Implementation. Five phases, 20 months, with a hard go/no-go at month 7 after shadow mode. The system never acts on the mill until P3; before that it only reads data and advises. Cost is our estimate, INR 2.5-4.2 crore per line, against USD 1-3M (about INR 10-29 crore) for a commercial system; vendor quotes replace it in P0. Two of the six pilot targets are already met on public mill strip and a third is within half a point; P1 exists to prove the same on JSL's own strip, which no public dataset can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Impact. At 1% of volume downgraded at a 10% discount, one 0.4 Mt line loses INR 6.7 crore a year; recovering 30% less INR 0.5 crore run cost pays back INR 3.35 crore capex in about 2.2 years, against 12.7 years for a commercial system. Downgrade rate and recovery share dominate the tornado; neither is public, so both are measured in P2-P3 before fleet spend. Close on the ask.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image" Target="../media/image-1-6.png"/><Relationship Id="rId7" Type="http://schemas.openxmlformats.org/officeDocument/2006/relationships/image" Target="../media/image-1-7.png"/><Relationship Id="rId8" Type="http://schemas.openxmlformats.org/officeDocument/2006/relationships/image" Target="../media/image-1-8.png"/><Relationship Id="rId9" Type="http://schemas.openxmlformats.org/officeDocument/2006/relationships/slideLayout" Target="../slideLayouts/slideLayout1.xml"/><Relationship Id="rId10"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2-6.png"/><Relationship Id="rId7" Type="http://schemas.openxmlformats.org/officeDocument/2006/relationships/image" Target="../media/image-2-7.png"/><Relationship Id="rId8" Type="http://schemas.openxmlformats.org/officeDocument/2006/relationships/image" Target="../media/image-2-8.png"/><Relationship Id="rId9" Type="http://schemas.openxmlformats.org/officeDocument/2006/relationships/image" Target="../media/image-2-9.png"/><Relationship Id="rId10" Type="http://schemas.openxmlformats.org/officeDocument/2006/relationships/slideLayout" Target="../slideLayouts/slideLayout1.xml"/><Relationship Id="rId11"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image" Target="../media/image-3-6.png"/><Relationship Id="rId7" Type="http://schemas.openxmlformats.org/officeDocument/2006/relationships/image" Target="../media/image-3-7.png"/><Relationship Id="rId8" Type="http://schemas.openxmlformats.org/officeDocument/2006/relationships/image" Target="../media/image-3-8.png"/><Relationship Id="rId9" Type="http://schemas.openxmlformats.org/officeDocument/2006/relationships/image" Target="../media/image-3-9.png"/><Relationship Id="rId10" Type="http://schemas.openxmlformats.org/officeDocument/2006/relationships/slideLayout" Target="../slideLayouts/slideLayout1.xml"/><Relationship Id="rId11"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image" Target="../media/image-4-1.png"/><Relationship Id="rId3" Type="http://schemas.openxmlformats.org/officeDocument/2006/relationships/image" Target="../media/image-4-1.png"/><Relationship Id="rId4" Type="http://schemas.openxmlformats.org/officeDocument/2006/relationships/image" Target="../media/image-4-1.png"/><Relationship Id="rId5" Type="http://schemas.openxmlformats.org/officeDocument/2006/relationships/image" Target="../media/image-4-1.png"/><Relationship Id="rId6" Type="http://schemas.openxmlformats.org/officeDocument/2006/relationships/image" Target="../media/image-4-1.png"/><Relationship Id="rId7" Type="http://schemas.openxmlformats.org/officeDocument/2006/relationships/image" Target="../media/image-4-1.png"/><Relationship Id="rId8" Type="http://schemas.openxmlformats.org/officeDocument/2006/relationships/image" Target="../media/image-4-1.png"/><Relationship Id="rId9" Type="http://schemas.openxmlformats.org/officeDocument/2006/relationships/image" Target="../media/image-4-1.png"/><Relationship Id="rId10" Type="http://schemas.openxmlformats.org/officeDocument/2006/relationships/image" Target="../media/image-4-1.png"/><Relationship Id="rId11" Type="http://schemas.openxmlformats.org/officeDocument/2006/relationships/image" Target="../media/image-4-1.png"/><Relationship Id="rId12" Type="http://schemas.openxmlformats.org/officeDocument/2006/relationships/image" Target="../media/image-4-1.png"/><Relationship Id="rId13" Type="http://schemas.openxmlformats.org/officeDocument/2006/relationships/image" Target="../media/image-4-1.png"/><Relationship Id="rId14" Type="http://schemas.openxmlformats.org/officeDocument/2006/relationships/image" Target="../media/image-4-1.png"/><Relationship Id="rId15" Type="http://schemas.openxmlformats.org/officeDocument/2006/relationships/image" Target="../media/image-4-1.png"/><Relationship Id="rId16" Type="http://schemas.openxmlformats.org/officeDocument/2006/relationships/image" Target="../media/image-4-1.png"/><Relationship Id="rId17" Type="http://schemas.openxmlformats.org/officeDocument/2006/relationships/image" Target="../media/image-4-1.png"/><Relationship Id="rId18" Type="http://schemas.openxmlformats.org/officeDocument/2006/relationships/image" Target="../media/image-4-1.png"/><Relationship Id="rId19" Type="http://schemas.openxmlformats.org/officeDocument/2006/relationships/image" Target="../media/image-4-1.png"/><Relationship Id="rId20" Type="http://schemas.openxmlformats.org/officeDocument/2006/relationships/image" Target="../media/image-4-19.png"/><Relationship Id="rId21" Type="http://schemas.openxmlformats.org/officeDocument/2006/relationships/image" Target="../media/image-4-20.png"/><Relationship Id="rId22" Type="http://schemas.openxmlformats.org/officeDocument/2006/relationships/image" Target="../media/image-4-21.png"/><Relationship Id="rId23" Type="http://schemas.openxmlformats.org/officeDocument/2006/relationships/slideLayout" Target="../slideLayouts/slideLayout1.xml"/><Relationship Id="rId2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image" Target="../media/image-5-6.png"/><Relationship Id="rId7" Type="http://schemas.openxmlformats.org/officeDocument/2006/relationships/image" Target="../media/image-5-7.png"/><Relationship Id="rId8" Type="http://schemas.openxmlformats.org/officeDocument/2006/relationships/image" Target="../media/image-5-8.png"/><Relationship Id="rId9" Type="http://schemas.openxmlformats.org/officeDocument/2006/relationships/image" Target="../media/image-5-5.png"/><Relationship Id="rId10" Type="http://schemas.openxmlformats.org/officeDocument/2006/relationships/image" Target="../media/image-5-10.png"/><Relationship Id="rId11" Type="http://schemas.openxmlformats.org/officeDocument/2006/relationships/image" Target="../media/image-5-11.png"/><Relationship Id="rId12" Type="http://schemas.openxmlformats.org/officeDocument/2006/relationships/slideLayout" Target="../slideLayouts/slideLayout1.xml"/><Relationship Id="rId1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image" Target="../media/image-6-6.png"/><Relationship Id="rId7" Type="http://schemas.openxmlformats.org/officeDocument/2006/relationships/slideLayout" Target="../slideLayouts/slideLayout1.xml"/><Relationship Id="rId8"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image" Target="../media/image-8-6.png"/><Relationship Id="rId7" Type="http://schemas.openxmlformats.org/officeDocument/2006/relationships/slideLayout" Target="../slideLayouts/slideLayout1.xml"/><Relationship Id="rId8"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3A5A"/>
        </a:solidFill>
      </p:bgPr>
    </p:bg>
    <p:spTree>
      <p:nvGrpSpPr>
        <p:cNvPr id="1" name=""/>
        <p:cNvGrpSpPr/>
        <p:nvPr/>
      </p:nvGrpSpPr>
      <p:grpSpPr>
        <a:xfrm>
          <a:off x="0" y="0"/>
          <a:ext cx="0" cy="0"/>
          <a:chOff x="0" y="0"/>
          <a:chExt cx="0" cy="0"/>
        </a:xfrm>
      </p:grpSpPr>
      <p:pic>
        <p:nvPicPr>
          <p:cNvPr id="2" name="Image 0" descr="img/cover_coil.jpg">    </p:cNvPr>
          <p:cNvPicPr>
            <a:picLocks noChangeAspect="1"/>
          </p:cNvPicPr>
          <p:nvPr/>
        </p:nvPicPr>
        <p:blipFill>
          <a:blip r:embed="rId1"/>
          <a:srcRect l="0" r="0" t="0" b="0"/>
          <a:stretch/>
        </p:blipFill>
        <p:spPr>
          <a:xfrm>
            <a:off x="7818120" y="0"/>
            <a:ext cx="4373575" cy="6858000"/>
          </a:xfrm>
          <a:prstGeom prst="rect">
            <a:avLst/>
          </a:prstGeom>
        </p:spPr>
      </p:pic>
      <p:sp>
        <p:nvSpPr>
          <p:cNvPr id="3" name="Shape 0"/>
          <p:cNvSpPr/>
          <p:nvPr/>
        </p:nvSpPr>
        <p:spPr>
          <a:xfrm>
            <a:off x="7818120" y="0"/>
            <a:ext cx="4373575" cy="6858000"/>
          </a:xfrm>
          <a:prstGeom prst="rect">
            <a:avLst/>
          </a:prstGeom>
          <a:solidFill>
            <a:srgbClr val="143A5A">
              <a:alpha val="55000"/>
            </a:srgbClr>
          </a:solidFill>
          <a:ln w="12700">
            <a:solidFill>
              <a:srgbClr val="143A5A"/>
            </a:solidFill>
            <a:prstDash val="solid"/>
          </a:ln>
        </p:spPr>
      </p:sp>
      <p:sp>
        <p:nvSpPr>
          <p:cNvPr id="4" name="Shape 1"/>
          <p:cNvSpPr/>
          <p:nvPr/>
        </p:nvSpPr>
        <p:spPr>
          <a:xfrm>
            <a:off x="7818120" y="0"/>
            <a:ext cx="54864" cy="6858000"/>
          </a:xfrm>
          <a:prstGeom prst="rect">
            <a:avLst/>
          </a:prstGeom>
          <a:solidFill>
            <a:srgbClr val="0086C3"/>
          </a:solidFill>
          <a:ln w="12700">
            <a:solidFill>
              <a:srgbClr val="0086C3"/>
            </a:solidFill>
            <a:prstDash val="solid"/>
          </a:ln>
        </p:spPr>
      </p:sp>
      <p:sp>
        <p:nvSpPr>
          <p:cNvPr id="5" name="Text 2"/>
          <p:cNvSpPr txBox="1"/>
          <p:nvPr/>
        </p:nvSpPr>
        <p:spPr>
          <a:xfrm>
            <a:off x="548640" y="411480"/>
            <a:ext cx="7132320" cy="274320"/>
          </a:xfrm>
          <a:prstGeom prst="rect">
            <a:avLst/>
          </a:prstGeom>
          <a:noFill/>
          <a:ln/>
        </p:spPr>
        <p:txBody>
          <a:bodyPr wrap="square" lIns="0" tIns="0" rIns="0" bIns="0" rtlCol="0" anchor="t"/>
          <a:lstStyle/>
          <a:p>
            <a:pPr indent="0" marL="0">
              <a:buNone/>
            </a:pPr>
            <a:r>
              <a:rPr lang="en-US" sz="1100" b="1" spc="100" kern="0" dirty="0">
                <a:solidFill>
                  <a:srgbClr val="BFD2E2"/>
                </a:solidFill>
                <a:latin typeface="Calibri" pitchFamily="34" charset="0"/>
                <a:ea typeface="Calibri" pitchFamily="34" charset="-122"/>
                <a:cs typeface="Calibri" pitchFamily="34" charset="-120"/>
              </a:rPr>
              <a:t>JINDAL STAINLESS  |  STAINLESS SPARK  |  ROUND 2  |  PROBLEM STATEMENT 1</a:t>
            </a:r>
            <a:endParaRPr lang="en-US" sz="1100" dirty="0"/>
          </a:p>
        </p:txBody>
      </p:sp>
      <p:sp>
        <p:nvSpPr>
          <p:cNvPr id="6" name="Text 3"/>
          <p:cNvSpPr txBox="1"/>
          <p:nvPr/>
        </p:nvSpPr>
        <p:spPr>
          <a:xfrm>
            <a:off x="548640" y="868680"/>
            <a:ext cx="7040880" cy="1325880"/>
          </a:xfrm>
          <a:prstGeom prst="rect">
            <a:avLst/>
          </a:prstGeom>
          <a:noFill/>
          <a:ln/>
        </p:spPr>
        <p:txBody>
          <a:bodyPr wrap="square" lIns="0" tIns="0" rIns="0" bIns="0" rtlCol="0" anchor="t"/>
          <a:lstStyle/>
          <a:p>
            <a:pPr indent="0" marL="0">
              <a:buNone/>
            </a:pPr>
            <a:r>
              <a:rPr lang="en-US" sz="3400" b="1" dirty="0">
                <a:solidFill>
                  <a:srgbClr val="FFFFFF"/>
                </a:solidFill>
                <a:latin typeface="Calibri" pitchFamily="34" charset="0"/>
                <a:ea typeface="Calibri" pitchFamily="34" charset="-122"/>
                <a:cs typeface="Calibri" pitchFamily="34" charset="-120"/>
              </a:rPr>
              <a:t>Catch every strip defect where it is born, not where it is shipped</a:t>
            </a:r>
            <a:endParaRPr lang="en-US" sz="3400" dirty="0"/>
          </a:p>
        </p:txBody>
      </p:sp>
      <p:sp>
        <p:nvSpPr>
          <p:cNvPr id="7" name="Text 4"/>
          <p:cNvSpPr txBox="1"/>
          <p:nvPr/>
        </p:nvSpPr>
        <p:spPr>
          <a:xfrm>
            <a:off x="548640" y="2286000"/>
            <a:ext cx="6858000" cy="640080"/>
          </a:xfrm>
          <a:prstGeom prst="rect">
            <a:avLst/>
          </a:prstGeom>
          <a:noFill/>
          <a:ln/>
        </p:spPr>
        <p:txBody>
          <a:bodyPr wrap="square" lIns="0" tIns="0" rIns="0" bIns="0" rtlCol="0" anchor="t"/>
          <a:lstStyle/>
          <a:p>
            <a:pPr indent="0" marL="0">
              <a:buNone/>
            </a:pPr>
            <a:r>
              <a:rPr lang="en-US" sz="1500" dirty="0">
                <a:solidFill>
                  <a:srgbClr val="BFD2E2"/>
                </a:solidFill>
                <a:latin typeface="Calibri" pitchFamily="34" charset="0"/>
                <a:ea typeface="Calibri" pitchFamily="34" charset="-122"/>
                <a:cs typeface="Calibri" pitchFamily="34" charset="-120"/>
              </a:rPr>
              <a:t>AI surface inspection that finds, grades and routes every stainless strip defect to the process that caused it.</a:t>
            </a:r>
            <a:endParaRPr lang="en-US" sz="1500" dirty="0"/>
          </a:p>
        </p:txBody>
      </p:sp>
      <p:sp>
        <p:nvSpPr>
          <p:cNvPr id="8" name="Shape 5"/>
          <p:cNvSpPr/>
          <p:nvPr/>
        </p:nvSpPr>
        <p:spPr>
          <a:xfrm>
            <a:off x="548640" y="3127248"/>
            <a:ext cx="45720" cy="932688"/>
          </a:xfrm>
          <a:prstGeom prst="rect">
            <a:avLst/>
          </a:prstGeom>
          <a:solidFill>
            <a:srgbClr val="0086C3"/>
          </a:solidFill>
          <a:ln w="12700">
            <a:solidFill>
              <a:srgbClr val="0086C3"/>
            </a:solidFill>
            <a:prstDash val="solid"/>
          </a:ln>
        </p:spPr>
      </p:sp>
      <p:sp>
        <p:nvSpPr>
          <p:cNvPr id="9" name="Text 6"/>
          <p:cNvSpPr txBox="1"/>
          <p:nvPr/>
        </p:nvSpPr>
        <p:spPr>
          <a:xfrm>
            <a:off x="676656" y="3090672"/>
            <a:ext cx="1600200" cy="420624"/>
          </a:xfrm>
          <a:prstGeom prst="rect">
            <a:avLst/>
          </a:prstGeom>
          <a:noFill/>
          <a:ln/>
        </p:spPr>
        <p:txBody>
          <a:bodyPr wrap="square" lIns="0" tIns="0" rIns="0" bIns="0" rtlCol="0" anchor="b"/>
          <a:lstStyle/>
          <a:p>
            <a:pPr indent="0" marL="0">
              <a:buNone/>
            </a:pPr>
            <a:r>
              <a:rPr lang="en-US" sz="1900" b="1" dirty="0">
                <a:solidFill>
                  <a:srgbClr val="FFFFFF"/>
                </a:solidFill>
                <a:latin typeface="Calibri" pitchFamily="34" charset="0"/>
                <a:ea typeface="Calibri" pitchFamily="34" charset="-122"/>
                <a:cs typeface="Calibri" pitchFamily="34" charset="-120"/>
              </a:rPr>
              <a:t>52% → 4.7%</a:t>
            </a:r>
            <a:endParaRPr lang="en-US" sz="1900" dirty="0"/>
          </a:p>
        </p:txBody>
      </p:sp>
      <p:sp>
        <p:nvSpPr>
          <p:cNvPr id="10" name="Text 7"/>
          <p:cNvSpPr txBox="1"/>
          <p:nvPr/>
        </p:nvSpPr>
        <p:spPr>
          <a:xfrm>
            <a:off x="676656" y="3547872"/>
            <a:ext cx="1627632" cy="548640"/>
          </a:xfrm>
          <a:prstGeom prst="rect">
            <a:avLst/>
          </a:prstGeom>
          <a:noFill/>
          <a:ln/>
        </p:spPr>
        <p:txBody>
          <a:bodyPr wrap="square" lIns="0" tIns="0" rIns="0" bIns="0" rtlCol="0" anchor="t"/>
          <a:lstStyle/>
          <a:p>
            <a:pPr indent="0" marL="0">
              <a:buNone/>
            </a:pPr>
            <a:r>
              <a:rPr lang="en-US" sz="950" dirty="0">
                <a:solidFill>
                  <a:srgbClr val="BFD2E2"/>
                </a:solidFill>
                <a:latin typeface="Calibri" pitchFamily="34" charset="0"/>
                <a:ea typeface="Calibri" pitchFamily="34" charset="-122"/>
                <a:cs typeface="Calibri" pitchFamily="34" charset="-120"/>
              </a:rPr>
              <a:t>clean mill strip wrongly</a:t>
            </a:r>
            <a:endParaRPr lang="en-US" sz="950" dirty="0"/>
          </a:p>
          <a:p>
            <a:pPr indent="0" marL="0">
              <a:buNone/>
            </a:pPr>
            <a:r>
              <a:rPr lang="en-US" sz="950" dirty="0">
                <a:solidFill>
                  <a:srgbClr val="BFD2E2"/>
                </a:solidFill>
                <a:latin typeface="Calibri" pitchFamily="34" charset="0"/>
                <a:ea typeface="Calibri" pitchFamily="34" charset="-122"/>
                <a:cs typeface="Calibri" pitchFamily="34" charset="-120"/>
              </a:rPr>
              <a:t>flagged, before vs after our fix</a:t>
            </a:r>
            <a:endParaRPr lang="en-US" sz="950" dirty="0"/>
          </a:p>
        </p:txBody>
      </p:sp>
      <p:sp>
        <p:nvSpPr>
          <p:cNvPr id="11" name="Shape 8"/>
          <p:cNvSpPr/>
          <p:nvPr/>
        </p:nvSpPr>
        <p:spPr>
          <a:xfrm>
            <a:off x="2304288" y="3127248"/>
            <a:ext cx="45720" cy="932688"/>
          </a:xfrm>
          <a:prstGeom prst="rect">
            <a:avLst/>
          </a:prstGeom>
          <a:solidFill>
            <a:srgbClr val="0086C3"/>
          </a:solidFill>
          <a:ln w="12700">
            <a:solidFill>
              <a:srgbClr val="0086C3"/>
            </a:solidFill>
            <a:prstDash val="solid"/>
          </a:ln>
        </p:spPr>
      </p:sp>
      <p:sp>
        <p:nvSpPr>
          <p:cNvPr id="12" name="Text 9"/>
          <p:cNvSpPr txBox="1"/>
          <p:nvPr/>
        </p:nvSpPr>
        <p:spPr>
          <a:xfrm>
            <a:off x="2432304" y="3090672"/>
            <a:ext cx="1600200" cy="420624"/>
          </a:xfrm>
          <a:prstGeom prst="rect">
            <a:avLst/>
          </a:prstGeom>
          <a:noFill/>
          <a:ln/>
        </p:spPr>
        <p:txBody>
          <a:bodyPr wrap="square" lIns="0" tIns="0" rIns="0" bIns="0" rtlCol="0" anchor="b"/>
          <a:lstStyle/>
          <a:p>
            <a:pPr indent="0" marL="0">
              <a:buNone/>
            </a:pPr>
            <a:r>
              <a:rPr lang="en-US" sz="1900" b="1" dirty="0">
                <a:solidFill>
                  <a:srgbClr val="FFFFFF"/>
                </a:solidFill>
                <a:latin typeface="Calibri" pitchFamily="34" charset="0"/>
                <a:ea typeface="Calibri" pitchFamily="34" charset="-122"/>
                <a:cs typeface="Calibri" pitchFamily="34" charset="-120"/>
              </a:rPr>
              <a:t>46% → 90%</a:t>
            </a:r>
            <a:endParaRPr lang="en-US" sz="1900" dirty="0"/>
          </a:p>
        </p:txBody>
      </p:sp>
      <p:sp>
        <p:nvSpPr>
          <p:cNvPr id="13" name="Text 10"/>
          <p:cNvSpPr txBox="1"/>
          <p:nvPr/>
        </p:nvSpPr>
        <p:spPr>
          <a:xfrm>
            <a:off x="2432304" y="3547872"/>
            <a:ext cx="1627632" cy="548640"/>
          </a:xfrm>
          <a:prstGeom prst="rect">
            <a:avLst/>
          </a:prstGeom>
          <a:noFill/>
          <a:ln/>
        </p:spPr>
        <p:txBody>
          <a:bodyPr wrap="square" lIns="0" tIns="0" rIns="0" bIns="0" rtlCol="0" anchor="t"/>
          <a:lstStyle/>
          <a:p>
            <a:pPr indent="0" marL="0">
              <a:buNone/>
            </a:pPr>
            <a:r>
              <a:rPr lang="en-US" sz="950" dirty="0">
                <a:solidFill>
                  <a:srgbClr val="BFD2E2"/>
                </a:solidFill>
                <a:latin typeface="Calibri" pitchFamily="34" charset="0"/>
                <a:ea typeface="Calibri" pitchFamily="34" charset="-122"/>
                <a:cs typeface="Calibri" pitchFamily="34" charset="-120"/>
              </a:rPr>
              <a:t>of mill-strip defects caught,</a:t>
            </a:r>
            <a:endParaRPr lang="en-US" sz="950" dirty="0"/>
          </a:p>
          <a:p>
            <a:pPr indent="0" marL="0">
              <a:buNone/>
            </a:pPr>
            <a:r>
              <a:rPr lang="en-US" sz="950" dirty="0">
                <a:solidFill>
                  <a:srgbClr val="BFD2E2"/>
                </a:solidFill>
                <a:latin typeface="Calibri" pitchFamily="34" charset="0"/>
                <a:ea typeface="Calibri" pitchFamily="34" charset="-122"/>
                <a:cs typeface="Calibri" pitchFamily="34" charset="-120"/>
              </a:rPr>
              <a:t>before vs after our fix</a:t>
            </a:r>
            <a:endParaRPr lang="en-US" sz="950" dirty="0"/>
          </a:p>
        </p:txBody>
      </p:sp>
      <p:sp>
        <p:nvSpPr>
          <p:cNvPr id="14" name="Shape 11"/>
          <p:cNvSpPr/>
          <p:nvPr/>
        </p:nvSpPr>
        <p:spPr>
          <a:xfrm>
            <a:off x="4059936" y="3127248"/>
            <a:ext cx="45720" cy="932688"/>
          </a:xfrm>
          <a:prstGeom prst="rect">
            <a:avLst/>
          </a:prstGeom>
          <a:solidFill>
            <a:srgbClr val="0086C3"/>
          </a:solidFill>
          <a:ln w="12700">
            <a:solidFill>
              <a:srgbClr val="0086C3"/>
            </a:solidFill>
            <a:prstDash val="solid"/>
          </a:ln>
        </p:spPr>
      </p:sp>
      <p:sp>
        <p:nvSpPr>
          <p:cNvPr id="15" name="Text 12"/>
          <p:cNvSpPr txBox="1"/>
          <p:nvPr/>
        </p:nvSpPr>
        <p:spPr>
          <a:xfrm>
            <a:off x="4187952" y="3090672"/>
            <a:ext cx="1600200" cy="420624"/>
          </a:xfrm>
          <a:prstGeom prst="rect">
            <a:avLst/>
          </a:prstGeom>
          <a:noFill/>
          <a:ln/>
        </p:spPr>
        <p:txBody>
          <a:bodyPr wrap="square" lIns="0" tIns="0" rIns="0" bIns="0" rtlCol="0" anchor="b"/>
          <a:lstStyle/>
          <a:p>
            <a:pPr indent="0" marL="0">
              <a:buNone/>
            </a:pPr>
            <a:r>
              <a:rPr lang="en-US" sz="2100" b="1" dirty="0">
                <a:solidFill>
                  <a:srgbClr val="FFFFFF"/>
                </a:solidFill>
                <a:latin typeface="Calibri" pitchFamily="34" charset="0"/>
                <a:ea typeface="Calibri" pitchFamily="34" charset="-122"/>
                <a:cs typeface="Calibri" pitchFamily="34" charset="-120"/>
              </a:rPr>
              <a:t>₹2.5-4.2 cr</a:t>
            </a:r>
            <a:endParaRPr lang="en-US" sz="2100" dirty="0"/>
          </a:p>
        </p:txBody>
      </p:sp>
      <p:sp>
        <p:nvSpPr>
          <p:cNvPr id="16" name="Text 13"/>
          <p:cNvSpPr txBox="1"/>
          <p:nvPr/>
        </p:nvSpPr>
        <p:spPr>
          <a:xfrm>
            <a:off x="4187952" y="3547872"/>
            <a:ext cx="1627632" cy="548640"/>
          </a:xfrm>
          <a:prstGeom prst="rect">
            <a:avLst/>
          </a:prstGeom>
          <a:noFill/>
          <a:ln/>
        </p:spPr>
        <p:txBody>
          <a:bodyPr wrap="square" lIns="0" tIns="0" rIns="0" bIns="0" rtlCol="0" anchor="t"/>
          <a:lstStyle/>
          <a:p>
            <a:pPr indent="0" marL="0">
              <a:buNone/>
            </a:pPr>
            <a:r>
              <a:rPr lang="en-US" sz="950" dirty="0">
                <a:solidFill>
                  <a:srgbClr val="BFD2E2"/>
                </a:solidFill>
                <a:latin typeface="Calibri" pitchFamily="34" charset="0"/>
                <a:ea typeface="Calibri" pitchFamily="34" charset="-122"/>
                <a:cs typeface="Calibri" pitchFamily="34" charset="-120"/>
              </a:rPr>
              <a:t>per line, vs ₹10-29 cr for a</a:t>
            </a:r>
            <a:endParaRPr lang="en-US" sz="950" dirty="0"/>
          </a:p>
          <a:p>
            <a:pPr indent="0" marL="0">
              <a:buNone/>
            </a:pPr>
            <a:r>
              <a:rPr lang="en-US" sz="950" dirty="0">
                <a:solidFill>
                  <a:srgbClr val="BFD2E2"/>
                </a:solidFill>
                <a:latin typeface="Calibri" pitchFamily="34" charset="0"/>
                <a:ea typeface="Calibri" pitchFamily="34" charset="-122"/>
                <a:cs typeface="Calibri" pitchFamily="34" charset="-120"/>
              </a:rPr>
              <a:t>commercial system</a:t>
            </a:r>
            <a:endParaRPr lang="en-US" sz="950" dirty="0"/>
          </a:p>
        </p:txBody>
      </p:sp>
      <p:sp>
        <p:nvSpPr>
          <p:cNvPr id="17" name="Shape 14"/>
          <p:cNvSpPr/>
          <p:nvPr/>
        </p:nvSpPr>
        <p:spPr>
          <a:xfrm>
            <a:off x="5815584" y="3127248"/>
            <a:ext cx="45720" cy="932688"/>
          </a:xfrm>
          <a:prstGeom prst="rect">
            <a:avLst/>
          </a:prstGeom>
          <a:solidFill>
            <a:srgbClr val="0086C3"/>
          </a:solidFill>
          <a:ln w="12700">
            <a:solidFill>
              <a:srgbClr val="0086C3"/>
            </a:solidFill>
            <a:prstDash val="solid"/>
          </a:ln>
        </p:spPr>
      </p:sp>
      <p:sp>
        <p:nvSpPr>
          <p:cNvPr id="18" name="Text 15"/>
          <p:cNvSpPr txBox="1"/>
          <p:nvPr/>
        </p:nvSpPr>
        <p:spPr>
          <a:xfrm>
            <a:off x="5943600" y="3090672"/>
            <a:ext cx="1600200" cy="420624"/>
          </a:xfrm>
          <a:prstGeom prst="rect">
            <a:avLst/>
          </a:prstGeom>
          <a:noFill/>
          <a:ln/>
        </p:spPr>
        <p:txBody>
          <a:bodyPr wrap="square" lIns="0" tIns="0" rIns="0" bIns="0" rtlCol="0" anchor="b"/>
          <a:lstStyle/>
          <a:p>
            <a:pPr indent="0" marL="0">
              <a:buNone/>
            </a:pPr>
            <a:r>
              <a:rPr lang="en-US" sz="2200" b="1" dirty="0">
                <a:solidFill>
                  <a:srgbClr val="FFFFFF"/>
                </a:solidFill>
                <a:latin typeface="Calibri" pitchFamily="34" charset="0"/>
                <a:ea typeface="Calibri" pitchFamily="34" charset="-122"/>
                <a:cs typeface="Calibri" pitchFamily="34" charset="-120"/>
              </a:rPr>
              <a:t>~2.2 years</a:t>
            </a:r>
            <a:endParaRPr lang="en-US" sz="2200" dirty="0"/>
          </a:p>
        </p:txBody>
      </p:sp>
      <p:sp>
        <p:nvSpPr>
          <p:cNvPr id="19" name="Text 16"/>
          <p:cNvSpPr txBox="1"/>
          <p:nvPr/>
        </p:nvSpPr>
        <p:spPr>
          <a:xfrm>
            <a:off x="5943600" y="3547872"/>
            <a:ext cx="1627632" cy="548640"/>
          </a:xfrm>
          <a:prstGeom prst="rect">
            <a:avLst/>
          </a:prstGeom>
          <a:noFill/>
          <a:ln/>
        </p:spPr>
        <p:txBody>
          <a:bodyPr wrap="square" lIns="0" tIns="0" rIns="0" bIns="0" rtlCol="0" anchor="t"/>
          <a:lstStyle/>
          <a:p>
            <a:pPr indent="0" marL="0">
              <a:buNone/>
            </a:pPr>
            <a:r>
              <a:rPr lang="en-US" sz="950" dirty="0">
                <a:solidFill>
                  <a:srgbClr val="BFD2E2"/>
                </a:solidFill>
                <a:latin typeface="Calibri" pitchFamily="34" charset="0"/>
                <a:ea typeface="Calibri" pitchFamily="34" charset="-122"/>
                <a:cs typeface="Calibri" pitchFamily="34" charset="-120"/>
              </a:rPr>
              <a:t>payback on one line at a</a:t>
            </a:r>
            <a:endParaRPr lang="en-US" sz="950" dirty="0"/>
          </a:p>
          <a:p>
            <a:pPr indent="0" marL="0">
              <a:buNone/>
            </a:pPr>
            <a:r>
              <a:rPr lang="en-US" sz="950" dirty="0">
                <a:solidFill>
                  <a:srgbClr val="BFD2E2"/>
                </a:solidFill>
                <a:latin typeface="Calibri" pitchFamily="34" charset="0"/>
                <a:ea typeface="Calibri" pitchFamily="34" charset="-122"/>
                <a:cs typeface="Calibri" pitchFamily="34" charset="-120"/>
              </a:rPr>
              <a:t>1% downgrade rate</a:t>
            </a:r>
            <a:endParaRPr lang="en-US" sz="950" dirty="0"/>
          </a:p>
        </p:txBody>
      </p:sp>
      <p:sp>
        <p:nvSpPr>
          <p:cNvPr id="20" name="Text 17"/>
          <p:cNvSpPr txBox="1"/>
          <p:nvPr/>
        </p:nvSpPr>
        <p:spPr>
          <a:xfrm>
            <a:off x="548640" y="4370832"/>
            <a:ext cx="6949440" cy="228600"/>
          </a:xfrm>
          <a:prstGeom prst="rect">
            <a:avLst/>
          </a:prstGeom>
          <a:noFill/>
          <a:ln/>
        </p:spPr>
        <p:txBody>
          <a:bodyPr wrap="square" lIns="0" tIns="0" rIns="0" bIns="0" rtlCol="0" anchor="t"/>
          <a:lstStyle/>
          <a:p>
            <a:pPr indent="0" marL="0">
              <a:buNone/>
            </a:pPr>
            <a:r>
              <a:rPr lang="en-US" sz="950" b="1" spc="100" kern="0" dirty="0">
                <a:solidFill>
                  <a:srgbClr val="BFD2E2"/>
                </a:solidFill>
                <a:latin typeface="Calibri" pitchFamily="34" charset="0"/>
                <a:ea typeface="Calibri" pitchFamily="34" charset="-122"/>
                <a:cs typeface="Calibri" pitchFamily="34" charset="-120"/>
              </a:rPr>
              <a:t>REAL DETECTIONS BY OUR MODEL, ON STEEL IMAGES IT NEVER SAW IN TRAINING</a:t>
            </a:r>
            <a:endParaRPr lang="en-US" sz="950" dirty="0"/>
          </a:p>
        </p:txBody>
      </p:sp>
      <p:pic>
        <p:nvPicPr>
          <p:cNvPr id="21" name="Image 1" descr="img/det_inclusion.png">    </p:cNvPr>
          <p:cNvPicPr>
            <a:picLocks noChangeAspect="1"/>
          </p:cNvPicPr>
          <p:nvPr/>
        </p:nvPicPr>
        <p:blipFill>
          <a:blip r:embed="rId2"/>
          <a:stretch>
            <a:fillRect/>
          </a:stretch>
        </p:blipFill>
        <p:spPr>
          <a:xfrm>
            <a:off x="548640" y="4645152"/>
            <a:ext cx="1069848" cy="1069848"/>
          </a:xfrm>
          <a:prstGeom prst="rect">
            <a:avLst/>
          </a:prstGeom>
        </p:spPr>
      </p:pic>
      <p:pic>
        <p:nvPicPr>
          <p:cNvPr id="22" name="Image 2" descr="img/det_crazing.png">    </p:cNvPr>
          <p:cNvPicPr>
            <a:picLocks noChangeAspect="1"/>
          </p:cNvPicPr>
          <p:nvPr/>
        </p:nvPicPr>
        <p:blipFill>
          <a:blip r:embed="rId3"/>
          <a:stretch>
            <a:fillRect/>
          </a:stretch>
        </p:blipFill>
        <p:spPr>
          <a:xfrm>
            <a:off x="1709928" y="4645152"/>
            <a:ext cx="1069848" cy="1069848"/>
          </a:xfrm>
          <a:prstGeom prst="rect">
            <a:avLst/>
          </a:prstGeom>
        </p:spPr>
      </p:pic>
      <p:pic>
        <p:nvPicPr>
          <p:cNvPr id="23" name="Image 3" descr="img/det_rolled-in_scale.png">    </p:cNvPr>
          <p:cNvPicPr>
            <a:picLocks noChangeAspect="1"/>
          </p:cNvPicPr>
          <p:nvPr/>
        </p:nvPicPr>
        <p:blipFill>
          <a:blip r:embed="rId4"/>
          <a:stretch>
            <a:fillRect/>
          </a:stretch>
        </p:blipFill>
        <p:spPr>
          <a:xfrm>
            <a:off x="2871216" y="4645152"/>
            <a:ext cx="1069848" cy="1069848"/>
          </a:xfrm>
          <a:prstGeom prst="rect">
            <a:avLst/>
          </a:prstGeom>
        </p:spPr>
      </p:pic>
      <p:pic>
        <p:nvPicPr>
          <p:cNvPr id="24" name="Image 4" descr="img/det_pitted_surface.png">    </p:cNvPr>
          <p:cNvPicPr>
            <a:picLocks noChangeAspect="1"/>
          </p:cNvPicPr>
          <p:nvPr/>
        </p:nvPicPr>
        <p:blipFill>
          <a:blip r:embed="rId5"/>
          <a:stretch>
            <a:fillRect/>
          </a:stretch>
        </p:blipFill>
        <p:spPr>
          <a:xfrm>
            <a:off x="4032504" y="4645152"/>
            <a:ext cx="1069848" cy="1069848"/>
          </a:xfrm>
          <a:prstGeom prst="rect">
            <a:avLst/>
          </a:prstGeom>
        </p:spPr>
      </p:pic>
      <p:pic>
        <p:nvPicPr>
          <p:cNvPr id="25" name="Image 5" descr="img/det_patches.png">    </p:cNvPr>
          <p:cNvPicPr>
            <a:picLocks noChangeAspect="1"/>
          </p:cNvPicPr>
          <p:nvPr/>
        </p:nvPicPr>
        <p:blipFill>
          <a:blip r:embed="rId6"/>
          <a:stretch>
            <a:fillRect/>
          </a:stretch>
        </p:blipFill>
        <p:spPr>
          <a:xfrm>
            <a:off x="5193792" y="4645152"/>
            <a:ext cx="1069848" cy="1069848"/>
          </a:xfrm>
          <a:prstGeom prst="rect">
            <a:avLst/>
          </a:prstGeom>
        </p:spPr>
      </p:pic>
      <p:pic>
        <p:nvPicPr>
          <p:cNvPr id="26" name="Image 6" descr="img/det_scratches.png">    </p:cNvPr>
          <p:cNvPicPr>
            <a:picLocks noChangeAspect="1"/>
          </p:cNvPicPr>
          <p:nvPr/>
        </p:nvPicPr>
        <p:blipFill>
          <a:blip r:embed="rId7"/>
          <a:stretch>
            <a:fillRect/>
          </a:stretch>
        </p:blipFill>
        <p:spPr>
          <a:xfrm>
            <a:off x="6355080" y="4645152"/>
            <a:ext cx="1069848" cy="1069848"/>
          </a:xfrm>
          <a:prstGeom prst="rect">
            <a:avLst/>
          </a:prstGeom>
        </p:spPr>
      </p:pic>
      <p:sp>
        <p:nvSpPr>
          <p:cNvPr id="27" name="Text 18"/>
          <p:cNvSpPr txBox="1"/>
          <p:nvPr/>
        </p:nvSpPr>
        <p:spPr>
          <a:xfrm>
            <a:off x="548640" y="5989320"/>
            <a:ext cx="7132320" cy="365760"/>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Prathmesh Walimbe  ·  Krishna Kanta Mondal   |   IIT Bombay</a:t>
            </a:r>
            <a:endParaRPr lang="en-US" sz="1200" dirty="0"/>
          </a:p>
        </p:txBody>
      </p:sp>
      <p:sp>
        <p:nvSpPr>
          <p:cNvPr id="28" name="Shape 19"/>
          <p:cNvSpPr/>
          <p:nvPr/>
        </p:nvSpPr>
        <p:spPr>
          <a:xfrm>
            <a:off x="8732520" y="3840480"/>
            <a:ext cx="2606040" cy="2331720"/>
          </a:xfrm>
          <a:prstGeom prst="roundRect">
            <a:avLst>
              <a:gd name="adj" fmla="val 2353"/>
            </a:avLst>
          </a:prstGeom>
          <a:solidFill>
            <a:srgbClr val="FFFFFF"/>
          </a:solidFill>
          <a:ln w="12700">
            <a:solidFill>
              <a:srgbClr val="FFFFFF"/>
            </a:solidFill>
            <a:prstDash val="solid"/>
          </a:ln>
        </p:spPr>
      </p:sp>
      <p:pic>
        <p:nvPicPr>
          <p:cNvPr id="29" name="Image 7" descr="qr.png">    </p:cNvPr>
          <p:cNvPicPr>
            <a:picLocks noChangeAspect="1"/>
          </p:cNvPicPr>
          <p:nvPr/>
        </p:nvPicPr>
        <p:blipFill>
          <a:blip r:embed="rId8"/>
          <a:stretch>
            <a:fillRect/>
          </a:stretch>
        </p:blipFill>
        <p:spPr>
          <a:xfrm>
            <a:off x="9418320" y="3931920"/>
            <a:ext cx="1234440" cy="1234440"/>
          </a:xfrm>
          <a:prstGeom prst="rect">
            <a:avLst/>
          </a:prstGeom>
        </p:spPr>
      </p:pic>
      <p:sp>
        <p:nvSpPr>
          <p:cNvPr id="30" name="Text 20"/>
          <p:cNvSpPr txBox="1"/>
          <p:nvPr/>
        </p:nvSpPr>
        <p:spPr>
          <a:xfrm>
            <a:off x="8778240" y="5193792"/>
            <a:ext cx="2514600" cy="228600"/>
          </a:xfrm>
          <a:prstGeom prst="rect">
            <a:avLst/>
          </a:prstGeom>
          <a:noFill/>
          <a:ln/>
        </p:spPr>
        <p:txBody>
          <a:bodyPr wrap="square" lIns="0" tIns="0" rIns="0" bIns="0" rtlCol="0" anchor="t"/>
          <a:lstStyle/>
          <a:p>
            <a:pPr algn="ctr" indent="0" marL="0">
              <a:buNone/>
            </a:pPr>
            <a:r>
              <a:rPr lang="en-US" sz="1000" b="1" dirty="0">
                <a:solidFill>
                  <a:srgbClr val="0086C3"/>
                </a:solidFill>
                <a:latin typeface="Calibri" pitchFamily="34" charset="0"/>
                <a:ea typeface="Calibri" pitchFamily="34" charset="-122"/>
                <a:cs typeface="Calibri" pitchFamily="34" charset="-120"/>
              </a:rPr>
              <a:t>TRY THE LIVE DEMO</a:t>
            </a:r>
            <a:endParaRPr lang="en-US" sz="1000" dirty="0"/>
          </a:p>
        </p:txBody>
      </p:sp>
      <p:sp>
        <p:nvSpPr>
          <p:cNvPr id="31" name="Text 21"/>
          <p:cNvSpPr txBox="1"/>
          <p:nvPr/>
        </p:nvSpPr>
        <p:spPr>
          <a:xfrm>
            <a:off x="8778240" y="5422392"/>
            <a:ext cx="2514600" cy="274320"/>
          </a:xfrm>
          <a:prstGeom prst="rect">
            <a:avLst/>
          </a:prstGeom>
          <a:noFill/>
          <a:ln/>
        </p:spPr>
        <p:txBody>
          <a:bodyPr wrap="square" lIns="0" tIns="0" rIns="0" bIns="0" rtlCol="0" anchor="t"/>
          <a:lstStyle/>
          <a:p>
            <a:pPr algn="ctr" indent="0" marL="0">
              <a:buNone/>
            </a:pPr>
            <a:r>
              <a:rPr lang="en-US" sz="1300" b="1" dirty="0">
                <a:solidFill>
                  <a:srgbClr val="143A5A"/>
                </a:solidFill>
                <a:latin typeface="Calibri" pitchFamily="34" charset="0"/>
                <a:ea typeface="Calibri" pitchFamily="34" charset="-122"/>
                <a:cs typeface="Calibri" pitchFamily="34" charset="-120"/>
              </a:rPr>
              <a:t>surface-vision.github.io</a:t>
            </a:r>
            <a:endParaRPr lang="en-US" sz="1300" dirty="0"/>
          </a:p>
        </p:txBody>
      </p:sp>
      <p:sp>
        <p:nvSpPr>
          <p:cNvPr id="32" name="Text 22"/>
          <p:cNvSpPr txBox="1"/>
          <p:nvPr/>
        </p:nvSpPr>
        <p:spPr>
          <a:xfrm>
            <a:off x="8823960" y="5705856"/>
            <a:ext cx="2423160" cy="365760"/>
          </a:xfrm>
          <a:prstGeom prst="rect">
            <a:avLst/>
          </a:prstGeom>
          <a:noFill/>
          <a:ln/>
        </p:spPr>
        <p:txBody>
          <a:bodyPr wrap="square" lIns="0" tIns="0" rIns="0" bIns="0" rtlCol="0" anchor="t"/>
          <a:lstStyle/>
          <a:p>
            <a:pPr algn="ctr" indent="0" marL="0">
              <a:buNone/>
            </a:pPr>
            <a:r>
              <a:rPr lang="en-US" sz="900" dirty="0">
                <a:solidFill>
                  <a:srgbClr val="334150"/>
                </a:solidFill>
                <a:latin typeface="Calibri" pitchFamily="34" charset="0"/>
                <a:ea typeface="Calibri" pitchFamily="34" charset="-122"/>
                <a:cs typeface="Calibri" pitchFamily="34" charset="-120"/>
              </a:rPr>
              <a:t>Runs in your browser. Nothing leaves the page.</a:t>
            </a:r>
            <a:endParaRPr lang="en-US" sz="900" dirty="0"/>
          </a:p>
        </p:txBody>
      </p:sp>
      <p:sp>
        <p:nvSpPr>
          <p:cNvPr id="33" name="Text 23"/>
          <p:cNvSpPr txBox="1"/>
          <p:nvPr/>
        </p:nvSpPr>
        <p:spPr>
          <a:xfrm>
            <a:off x="8001000" y="6510528"/>
            <a:ext cx="4023360" cy="228600"/>
          </a:xfrm>
          <a:prstGeom prst="rect">
            <a:avLst/>
          </a:prstGeom>
          <a:noFill/>
          <a:ln/>
        </p:spPr>
        <p:txBody>
          <a:bodyPr wrap="square" lIns="0" tIns="0" rIns="0" bIns="0" rtlCol="0" anchor="t"/>
          <a:lstStyle/>
          <a:p>
            <a:pPr algn="r" indent="0" marL="0">
              <a:buNone/>
            </a:pPr>
            <a:r>
              <a:rPr lang="en-US" sz="900" dirty="0">
                <a:solidFill>
                  <a:srgbClr val="BFD2E2"/>
                </a:solidFill>
                <a:latin typeface="Calibri" pitchFamily="34" charset="0"/>
                <a:ea typeface="Calibri" pitchFamily="34" charset="-122"/>
                <a:cs typeface="Calibri" pitchFamily="34" charset="-120"/>
              </a:rPr>
              <a:t>Photo: Methem, Wikimedia Commons (public domain)</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201168"/>
            <a:ext cx="1481328" cy="274320"/>
          </a:xfrm>
          <a:prstGeom prst="rect">
            <a:avLst/>
          </a:prstGeom>
          <a:solidFill>
            <a:srgbClr val="143A5A"/>
          </a:solidFill>
          <a:ln w="12700">
            <a:solidFill>
              <a:srgbClr val="143A5A"/>
            </a:solidFill>
            <a:prstDash val="solid"/>
          </a:ln>
        </p:spPr>
      </p:sp>
      <p:sp>
        <p:nvSpPr>
          <p:cNvPr id="3" name="Text 1"/>
          <p:cNvSpPr txBox="1"/>
          <p:nvPr/>
        </p:nvSpPr>
        <p:spPr>
          <a:xfrm>
            <a:off x="457200" y="201168"/>
            <a:ext cx="1481328"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1  Problem</a:t>
            </a:r>
            <a:endParaRPr lang="en-US" sz="1000" dirty="0"/>
          </a:p>
        </p:txBody>
      </p:sp>
      <p:sp>
        <p:nvSpPr>
          <p:cNvPr id="4" name="Shape 2"/>
          <p:cNvSpPr/>
          <p:nvPr/>
        </p:nvSpPr>
        <p:spPr>
          <a:xfrm>
            <a:off x="1993392" y="201168"/>
            <a:ext cx="1481328" cy="274320"/>
          </a:xfrm>
          <a:prstGeom prst="rect">
            <a:avLst/>
          </a:prstGeom>
          <a:solidFill>
            <a:srgbClr val="F1F4F7"/>
          </a:solidFill>
          <a:ln w="12700">
            <a:solidFill>
              <a:srgbClr val="F1F4F7"/>
            </a:solidFill>
            <a:prstDash val="solid"/>
          </a:ln>
        </p:spPr>
      </p:sp>
      <p:sp>
        <p:nvSpPr>
          <p:cNvPr id="5" name="Text 3"/>
          <p:cNvSpPr txBox="1"/>
          <p:nvPr/>
        </p:nvSpPr>
        <p:spPr>
          <a:xfrm>
            <a:off x="1993392" y="201168"/>
            <a:ext cx="1481328" cy="274320"/>
          </a:xfrm>
          <a:prstGeom prst="rect">
            <a:avLst/>
          </a:prstGeom>
          <a:noFill/>
          <a:ln/>
        </p:spPr>
        <p:txBody>
          <a:bodyPr wrap="square" lIns="0" tIns="0" rIns="0" bIns="0" rtlCol="0" anchor="ctr"/>
          <a:lstStyle/>
          <a:p>
            <a:pPr algn="ctr" indent="0" marL="0">
              <a:buNone/>
            </a:pPr>
            <a:r>
              <a:rPr lang="en-US" sz="1000" dirty="0">
                <a:solidFill>
                  <a:srgbClr val="5F6B78"/>
                </a:solidFill>
                <a:latin typeface="Calibri" pitchFamily="34" charset="0"/>
                <a:ea typeface="Calibri" pitchFamily="34" charset="-122"/>
                <a:cs typeface="Calibri" pitchFamily="34" charset="-120"/>
              </a:rPr>
              <a:t>2  Insights</a:t>
            </a:r>
            <a:endParaRPr lang="en-US" sz="1000" dirty="0"/>
          </a:p>
        </p:txBody>
      </p:sp>
      <p:sp>
        <p:nvSpPr>
          <p:cNvPr id="6" name="Shape 4"/>
          <p:cNvSpPr/>
          <p:nvPr/>
        </p:nvSpPr>
        <p:spPr>
          <a:xfrm>
            <a:off x="3529584" y="201168"/>
            <a:ext cx="1481328" cy="274320"/>
          </a:xfrm>
          <a:prstGeom prst="rect">
            <a:avLst/>
          </a:prstGeom>
          <a:solidFill>
            <a:srgbClr val="F1F4F7"/>
          </a:solidFill>
          <a:ln w="12700">
            <a:solidFill>
              <a:srgbClr val="F1F4F7"/>
            </a:solidFill>
            <a:prstDash val="solid"/>
          </a:ln>
        </p:spPr>
      </p:sp>
      <p:sp>
        <p:nvSpPr>
          <p:cNvPr id="7" name="Text 5"/>
          <p:cNvSpPr txBox="1"/>
          <p:nvPr/>
        </p:nvSpPr>
        <p:spPr>
          <a:xfrm>
            <a:off x="3529584" y="201168"/>
            <a:ext cx="1481328" cy="274320"/>
          </a:xfrm>
          <a:prstGeom prst="rect">
            <a:avLst/>
          </a:prstGeom>
          <a:noFill/>
          <a:ln/>
        </p:spPr>
        <p:txBody>
          <a:bodyPr wrap="square" lIns="0" tIns="0" rIns="0" bIns="0" rtlCol="0" anchor="ctr"/>
          <a:lstStyle/>
          <a:p>
            <a:pPr algn="ctr" indent="0" marL="0">
              <a:buNone/>
            </a:pPr>
            <a:r>
              <a:rPr lang="en-US" sz="1000" dirty="0">
                <a:solidFill>
                  <a:srgbClr val="5F6B78"/>
                </a:solidFill>
                <a:latin typeface="Calibri" pitchFamily="34" charset="0"/>
                <a:ea typeface="Calibri" pitchFamily="34" charset="-122"/>
                <a:cs typeface="Calibri" pitchFamily="34" charset="-120"/>
              </a:rPr>
              <a:t>3  Solution</a:t>
            </a:r>
            <a:endParaRPr lang="en-US" sz="1000" dirty="0"/>
          </a:p>
        </p:txBody>
      </p:sp>
      <p:sp>
        <p:nvSpPr>
          <p:cNvPr id="8" name="Shape 6"/>
          <p:cNvSpPr/>
          <p:nvPr/>
        </p:nvSpPr>
        <p:spPr>
          <a:xfrm>
            <a:off x="5065776" y="201168"/>
            <a:ext cx="1481328" cy="274320"/>
          </a:xfrm>
          <a:prstGeom prst="rect">
            <a:avLst/>
          </a:prstGeom>
          <a:solidFill>
            <a:srgbClr val="F1F4F7"/>
          </a:solidFill>
          <a:ln w="12700">
            <a:solidFill>
              <a:srgbClr val="F1F4F7"/>
            </a:solidFill>
            <a:prstDash val="solid"/>
          </a:ln>
        </p:spPr>
      </p:sp>
      <p:sp>
        <p:nvSpPr>
          <p:cNvPr id="9" name="Text 7"/>
          <p:cNvSpPr txBox="1"/>
          <p:nvPr/>
        </p:nvSpPr>
        <p:spPr>
          <a:xfrm>
            <a:off x="5065776" y="201168"/>
            <a:ext cx="1481328" cy="274320"/>
          </a:xfrm>
          <a:prstGeom prst="rect">
            <a:avLst/>
          </a:prstGeom>
          <a:noFill/>
          <a:ln/>
        </p:spPr>
        <p:txBody>
          <a:bodyPr wrap="square" lIns="0" tIns="0" rIns="0" bIns="0" rtlCol="0" anchor="ctr"/>
          <a:lstStyle/>
          <a:p>
            <a:pPr algn="ctr" indent="0" marL="0">
              <a:buNone/>
            </a:pPr>
            <a:r>
              <a:rPr lang="en-US" sz="1000" dirty="0">
                <a:solidFill>
                  <a:srgbClr val="5F6B78"/>
                </a:solidFill>
                <a:latin typeface="Calibri" pitchFamily="34" charset="0"/>
                <a:ea typeface="Calibri" pitchFamily="34" charset="-122"/>
                <a:cs typeface="Calibri" pitchFamily="34" charset="-120"/>
              </a:rPr>
              <a:t>4  Implementation</a:t>
            </a:r>
            <a:endParaRPr lang="en-US" sz="1000" dirty="0"/>
          </a:p>
        </p:txBody>
      </p:sp>
      <p:sp>
        <p:nvSpPr>
          <p:cNvPr id="10" name="Shape 8"/>
          <p:cNvSpPr/>
          <p:nvPr/>
        </p:nvSpPr>
        <p:spPr>
          <a:xfrm>
            <a:off x="6601968" y="201168"/>
            <a:ext cx="1481328" cy="274320"/>
          </a:xfrm>
          <a:prstGeom prst="rect">
            <a:avLst/>
          </a:prstGeom>
          <a:solidFill>
            <a:srgbClr val="F1F4F7"/>
          </a:solidFill>
          <a:ln w="12700">
            <a:solidFill>
              <a:srgbClr val="F1F4F7"/>
            </a:solidFill>
            <a:prstDash val="solid"/>
          </a:ln>
        </p:spPr>
      </p:sp>
      <p:sp>
        <p:nvSpPr>
          <p:cNvPr id="11" name="Text 9"/>
          <p:cNvSpPr txBox="1"/>
          <p:nvPr/>
        </p:nvSpPr>
        <p:spPr>
          <a:xfrm>
            <a:off x="6601968" y="201168"/>
            <a:ext cx="1481328" cy="274320"/>
          </a:xfrm>
          <a:prstGeom prst="rect">
            <a:avLst/>
          </a:prstGeom>
          <a:noFill/>
          <a:ln/>
        </p:spPr>
        <p:txBody>
          <a:bodyPr wrap="square" lIns="0" tIns="0" rIns="0" bIns="0" rtlCol="0" anchor="ctr"/>
          <a:lstStyle/>
          <a:p>
            <a:pPr algn="ctr" indent="0" marL="0">
              <a:buNone/>
            </a:pPr>
            <a:r>
              <a:rPr lang="en-US" sz="1000" dirty="0">
                <a:solidFill>
                  <a:srgbClr val="5F6B78"/>
                </a:solidFill>
                <a:latin typeface="Calibri" pitchFamily="34" charset="0"/>
                <a:ea typeface="Calibri" pitchFamily="34" charset="-122"/>
                <a:cs typeface="Calibri" pitchFamily="34" charset="-120"/>
              </a:rPr>
              <a:t>5  Impact</a:t>
            </a:r>
            <a:endParaRPr lang="en-US" sz="1000" dirty="0"/>
          </a:p>
        </p:txBody>
      </p:sp>
      <p:sp>
        <p:nvSpPr>
          <p:cNvPr id="12" name="Text 10"/>
          <p:cNvSpPr txBox="1"/>
          <p:nvPr/>
        </p:nvSpPr>
        <p:spPr>
          <a:xfrm>
            <a:off x="8229600" y="201168"/>
            <a:ext cx="3502152" cy="274320"/>
          </a:xfrm>
          <a:prstGeom prst="rect">
            <a:avLst/>
          </a:prstGeom>
          <a:noFill/>
          <a:ln/>
        </p:spPr>
        <p:txBody>
          <a:bodyPr wrap="square" lIns="0" tIns="0" rIns="0" bIns="0" rtlCol="0" anchor="ctr"/>
          <a:lstStyle/>
          <a:p>
            <a:pPr algn="r" indent="0" marL="0">
              <a:buNone/>
            </a:pPr>
            <a:r>
              <a:rPr lang="en-US" sz="900" dirty="0">
                <a:solidFill>
                  <a:srgbClr val="5F6B78"/>
                </a:solidFill>
                <a:latin typeface="Calibri" pitchFamily="34" charset="0"/>
                <a:ea typeface="Calibri" pitchFamily="34" charset="-122"/>
                <a:cs typeface="Calibri" pitchFamily="34" charset="-120"/>
              </a:rPr>
              <a:t>STAINLESS SPARK ROUND 2  |  PS1  |  IIT Bombay</a:t>
            </a:r>
            <a:endParaRPr lang="en-US" sz="900" dirty="0"/>
          </a:p>
        </p:txBody>
      </p:sp>
      <p:sp>
        <p:nvSpPr>
          <p:cNvPr id="13" name="Text 11"/>
          <p:cNvSpPr txBox="1"/>
          <p:nvPr/>
        </p:nvSpPr>
        <p:spPr>
          <a:xfrm>
            <a:off x="457200" y="566928"/>
            <a:ext cx="11274552" cy="566928"/>
          </a:xfrm>
          <a:prstGeom prst="rect">
            <a:avLst/>
          </a:prstGeom>
          <a:noFill/>
          <a:ln/>
        </p:spPr>
        <p:txBody>
          <a:bodyPr wrap="square" lIns="0" tIns="0" rIns="0" bIns="0" rtlCol="0" anchor="ctr"/>
          <a:lstStyle/>
          <a:p>
            <a:pPr indent="0" marL="0">
              <a:buNone/>
            </a:pPr>
            <a:r>
              <a:rPr lang="en-US" sz="2000" b="1" dirty="0">
                <a:solidFill>
                  <a:srgbClr val="143A5A"/>
                </a:solidFill>
                <a:latin typeface="Calibri" pitchFamily="34" charset="0"/>
                <a:ea typeface="Calibri" pitchFamily="34" charset="-122"/>
                <a:cs typeface="Calibri" pitchFamily="34" charset="-120"/>
              </a:rPr>
              <a:t>A defect born at the caster is paid for at every later stage, but today it is found only at the end</a:t>
            </a:r>
            <a:endParaRPr lang="en-US" sz="2000" dirty="0"/>
          </a:p>
        </p:txBody>
      </p:sp>
      <p:sp>
        <p:nvSpPr>
          <p:cNvPr id="14" name="Shape 12"/>
          <p:cNvSpPr/>
          <p:nvPr/>
        </p:nvSpPr>
        <p:spPr>
          <a:xfrm>
            <a:off x="457200" y="6236208"/>
            <a:ext cx="11274552" cy="420624"/>
          </a:xfrm>
          <a:prstGeom prst="rect">
            <a:avLst/>
          </a:prstGeom>
          <a:solidFill>
            <a:srgbClr val="143A5A"/>
          </a:solidFill>
          <a:ln w="12700">
            <a:solidFill>
              <a:srgbClr val="143A5A"/>
            </a:solidFill>
            <a:prstDash val="solid"/>
          </a:ln>
        </p:spPr>
      </p:sp>
      <p:sp>
        <p:nvSpPr>
          <p:cNvPr id="15" name="Text 13"/>
          <p:cNvSpPr txBox="1"/>
          <p:nvPr/>
        </p:nvSpPr>
        <p:spPr>
          <a:xfrm>
            <a:off x="621792" y="6236208"/>
            <a:ext cx="10972800" cy="420624"/>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The problem is not that defects exist. They are found late, by sampling, and nobody is told which process caused them.</a:t>
            </a:r>
            <a:endParaRPr lang="en-US" sz="1200" dirty="0"/>
          </a:p>
        </p:txBody>
      </p:sp>
      <p:sp>
        <p:nvSpPr>
          <p:cNvPr id="16" name="Text 14"/>
          <p:cNvSpPr txBox="1"/>
          <p:nvPr/>
        </p:nvSpPr>
        <p:spPr>
          <a:xfrm>
            <a:off x="457200" y="5971032"/>
            <a:ext cx="11274552" cy="237744"/>
          </a:xfrm>
          <a:prstGeom prst="rect">
            <a:avLst/>
          </a:prstGeom>
          <a:noFill/>
          <a:ln/>
        </p:spPr>
        <p:txBody>
          <a:bodyPr wrap="square" lIns="0" tIns="0" rIns="0" bIns="0" rtlCol="0" anchor="ctr"/>
          <a:lstStyle/>
          <a:p>
            <a:pPr indent="0" marL="0">
              <a:buNone/>
            </a:pPr>
            <a:r>
              <a:rPr lang="en-US" sz="900" dirty="0">
                <a:solidFill>
                  <a:srgbClr val="5F6B78"/>
                </a:solidFill>
                <a:latin typeface="Calibri" pitchFamily="34" charset="0"/>
                <a:ea typeface="Calibri" pitchFamily="34" charset="-122"/>
                <a:cs typeface="Calibri" pitchFamily="34" charset="-120"/>
              </a:rPr>
              <a:t>Sources: AMETEK Surface Vision / Ternium case study (2020); IISE, Measuring the Cost of Quality; ASTM A240; LME nickel USD 16,402/t at INR 95.8/USD (22 Sep 2026); JSL FY26 results.</a:t>
            </a:r>
            <a:endParaRPr lang="en-US" sz="900" dirty="0"/>
          </a:p>
        </p:txBody>
      </p:sp>
      <p:sp>
        <p:nvSpPr>
          <p:cNvPr id="17" name="Shape 15"/>
          <p:cNvSpPr/>
          <p:nvPr/>
        </p:nvSpPr>
        <p:spPr>
          <a:xfrm>
            <a:off x="457200" y="1234440"/>
            <a:ext cx="11274552" cy="274320"/>
          </a:xfrm>
          <a:prstGeom prst="rect">
            <a:avLst/>
          </a:prstGeom>
          <a:solidFill>
            <a:srgbClr val="2B5B80"/>
          </a:solidFill>
          <a:ln w="12700">
            <a:solidFill>
              <a:srgbClr val="2B5B80"/>
            </a:solidFill>
            <a:prstDash val="solid"/>
          </a:ln>
        </p:spPr>
      </p:sp>
      <p:sp>
        <p:nvSpPr>
          <p:cNvPr id="18" name="Text 16"/>
          <p:cNvSpPr txBox="1"/>
          <p:nvPr/>
        </p:nvSpPr>
        <p:spPr>
          <a:xfrm>
            <a:off x="548640" y="1234440"/>
            <a:ext cx="11091672" cy="274320"/>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Where stainless surface defects are born, and where they are seen today</a:t>
            </a:r>
            <a:endParaRPr lang="en-US" sz="1100" dirty="0"/>
          </a:p>
        </p:txBody>
      </p:sp>
      <p:sp>
        <p:nvSpPr>
          <p:cNvPr id="19" name="Shape 17"/>
          <p:cNvSpPr/>
          <p:nvPr/>
        </p:nvSpPr>
        <p:spPr>
          <a:xfrm flipH="1">
            <a:off x="548640" y="1591056"/>
            <a:ext cx="11091672" cy="310896"/>
          </a:xfrm>
          <a:prstGeom prst="rtTriangle">
            <a:avLst/>
          </a:prstGeom>
          <a:solidFill>
            <a:srgbClr val="DCEAF5"/>
          </a:solidFill>
          <a:ln w="12700">
            <a:solidFill>
              <a:srgbClr val="DCEAF5"/>
            </a:solidFill>
            <a:prstDash val="solid"/>
          </a:ln>
        </p:spPr>
      </p:sp>
      <p:sp>
        <p:nvSpPr>
          <p:cNvPr id="20" name="Text 18"/>
          <p:cNvSpPr txBox="1"/>
          <p:nvPr/>
        </p:nvSpPr>
        <p:spPr>
          <a:xfrm>
            <a:off x="8778240" y="1645920"/>
            <a:ext cx="2788920" cy="237744"/>
          </a:xfrm>
          <a:prstGeom prst="rect">
            <a:avLst/>
          </a:prstGeom>
          <a:noFill/>
          <a:ln/>
        </p:spPr>
        <p:txBody>
          <a:bodyPr wrap="square" lIns="0" tIns="0" rIns="0" bIns="0" rtlCol="0" anchor="t"/>
          <a:lstStyle/>
          <a:p>
            <a:pPr algn="r" indent="0" marL="0">
              <a:buNone/>
            </a:pPr>
            <a:r>
              <a:rPr lang="en-US" sz="900" b="1" dirty="0">
                <a:solidFill>
                  <a:srgbClr val="143A5A"/>
                </a:solidFill>
                <a:latin typeface="Calibri" pitchFamily="34" charset="0"/>
                <a:ea typeface="Calibri" pitchFamily="34" charset="-122"/>
                <a:cs typeface="Calibri" pitchFamily="34" charset="-120"/>
              </a:rPr>
              <a:t>VALUE ADDED KEEPS RISING  →</a:t>
            </a:r>
            <a:endParaRPr lang="en-US" sz="900" dirty="0"/>
          </a:p>
        </p:txBody>
      </p:sp>
      <p:sp>
        <p:nvSpPr>
          <p:cNvPr id="21" name="Shape 19"/>
          <p:cNvSpPr/>
          <p:nvPr/>
        </p:nvSpPr>
        <p:spPr>
          <a:xfrm>
            <a:off x="1714500" y="2304288"/>
            <a:ext cx="1166774" cy="0"/>
          </a:xfrm>
          <a:prstGeom prst="line">
            <a:avLst/>
          </a:prstGeom>
          <a:noFill/>
          <a:ln w="19050">
            <a:solidFill>
              <a:srgbClr val="5E9CCB"/>
            </a:solidFill>
            <a:prstDash val="dash"/>
            <a:tailEnd type="triangle"/>
          </a:ln>
        </p:spPr>
      </p:sp>
      <p:sp>
        <p:nvSpPr>
          <p:cNvPr id="22" name="Shape 20"/>
          <p:cNvSpPr/>
          <p:nvPr/>
        </p:nvSpPr>
        <p:spPr>
          <a:xfrm>
            <a:off x="1046988" y="2002536"/>
            <a:ext cx="603504" cy="603504"/>
          </a:xfrm>
          <a:prstGeom prst="ellipse">
            <a:avLst/>
          </a:prstGeom>
          <a:solidFill>
            <a:srgbClr val="143A5A"/>
          </a:solidFill>
          <a:ln w="12700">
            <a:solidFill>
              <a:srgbClr val="143A5A"/>
            </a:solidFill>
            <a:prstDash val="solid"/>
          </a:ln>
        </p:spPr>
      </p:sp>
      <p:pic>
        <p:nvPicPr>
          <p:cNvPr id="23" name="Image 0" descr="img/icons/flame-white.png">    </p:cNvPr>
          <p:cNvPicPr>
            <a:picLocks noChangeAspect="1"/>
          </p:cNvPicPr>
          <p:nvPr/>
        </p:nvPicPr>
        <p:blipFill>
          <a:blip r:embed="rId1"/>
          <a:stretch>
            <a:fillRect/>
          </a:stretch>
        </p:blipFill>
        <p:spPr>
          <a:xfrm>
            <a:off x="1179759" y="2135307"/>
            <a:ext cx="337962" cy="337962"/>
          </a:xfrm>
          <a:prstGeom prst="rect">
            <a:avLst/>
          </a:prstGeom>
        </p:spPr>
      </p:pic>
      <p:sp>
        <p:nvSpPr>
          <p:cNvPr id="24" name="Text 21"/>
          <p:cNvSpPr txBox="1"/>
          <p:nvPr/>
        </p:nvSpPr>
        <p:spPr>
          <a:xfrm>
            <a:off x="457200" y="2679192"/>
            <a:ext cx="1783080" cy="237744"/>
          </a:xfrm>
          <a:prstGeom prst="rect">
            <a:avLst/>
          </a:prstGeom>
          <a:noFill/>
          <a:ln/>
        </p:spPr>
        <p:txBody>
          <a:bodyPr wrap="square" lIns="0" tIns="0" rIns="0" bIns="0" rtlCol="0" anchor="t"/>
          <a:lstStyle/>
          <a:p>
            <a:pPr algn="ctr" indent="0" marL="0">
              <a:buNone/>
            </a:pPr>
            <a:r>
              <a:rPr lang="en-US" sz="1100" b="1" dirty="0">
                <a:solidFill>
                  <a:srgbClr val="143A5A"/>
                </a:solidFill>
                <a:latin typeface="Calibri" pitchFamily="34" charset="0"/>
                <a:ea typeface="Calibri" pitchFamily="34" charset="-122"/>
                <a:cs typeface="Calibri" pitchFamily="34" charset="-120"/>
              </a:rPr>
              <a:t>Melt &amp; cast</a:t>
            </a:r>
            <a:endParaRPr lang="en-US" sz="1100" dirty="0"/>
          </a:p>
        </p:txBody>
      </p:sp>
      <p:sp>
        <p:nvSpPr>
          <p:cNvPr id="25" name="Text 22"/>
          <p:cNvSpPr txBox="1"/>
          <p:nvPr/>
        </p:nvSpPr>
        <p:spPr>
          <a:xfrm>
            <a:off x="457200" y="2907792"/>
            <a:ext cx="1783080" cy="182880"/>
          </a:xfrm>
          <a:prstGeom prst="rect">
            <a:avLst/>
          </a:prstGeom>
          <a:noFill/>
          <a:ln/>
        </p:spPr>
        <p:txBody>
          <a:bodyPr wrap="square" lIns="0" tIns="0" rIns="0" bIns="0" rtlCol="0" anchor="t"/>
          <a:lstStyle/>
          <a:p>
            <a:pPr algn="ctr" indent="0" marL="0">
              <a:buNone/>
            </a:pPr>
            <a:r>
              <a:rPr lang="en-US" sz="900" dirty="0">
                <a:solidFill>
                  <a:srgbClr val="5F6B78"/>
                </a:solidFill>
                <a:latin typeface="Calibri" pitchFamily="34" charset="0"/>
                <a:ea typeface="Calibri" pitchFamily="34" charset="-122"/>
                <a:cs typeface="Calibri" pitchFamily="34" charset="-120"/>
              </a:rPr>
              <a:t>SMS</a:t>
            </a:r>
            <a:endParaRPr lang="en-US" sz="900" dirty="0"/>
          </a:p>
        </p:txBody>
      </p:sp>
      <p:sp>
        <p:nvSpPr>
          <p:cNvPr id="26" name="Text 23"/>
          <p:cNvSpPr txBox="1"/>
          <p:nvPr/>
        </p:nvSpPr>
        <p:spPr>
          <a:xfrm>
            <a:off x="457200" y="3108960"/>
            <a:ext cx="1783080" cy="347472"/>
          </a:xfrm>
          <a:prstGeom prst="rect">
            <a:avLst/>
          </a:prstGeom>
          <a:noFill/>
          <a:ln/>
        </p:spPr>
        <p:txBody>
          <a:bodyPr wrap="square" lIns="0" tIns="0" rIns="0" bIns="0" rtlCol="0" anchor="t"/>
          <a:lstStyle/>
          <a:p>
            <a:pPr algn="ctr" indent="0" marL="0">
              <a:buNone/>
            </a:pPr>
            <a:r>
              <a:rPr lang="en-US" sz="950" dirty="0">
                <a:solidFill>
                  <a:srgbClr val="141C24"/>
                </a:solidFill>
                <a:latin typeface="Calibri" pitchFamily="34" charset="0"/>
                <a:ea typeface="Calibri" pitchFamily="34" charset="-122"/>
                <a:cs typeface="Calibri" pitchFamily="34" charset="-120"/>
              </a:rPr>
              <a:t>Inclusions, slivers</a:t>
            </a:r>
            <a:endParaRPr lang="en-US" sz="950" dirty="0"/>
          </a:p>
        </p:txBody>
      </p:sp>
      <p:sp>
        <p:nvSpPr>
          <p:cNvPr id="27" name="Shape 24"/>
          <p:cNvSpPr/>
          <p:nvPr/>
        </p:nvSpPr>
        <p:spPr>
          <a:xfrm>
            <a:off x="891540" y="3502152"/>
            <a:ext cx="914400" cy="201168"/>
          </a:xfrm>
          <a:prstGeom prst="roundRect">
            <a:avLst>
              <a:gd name="adj" fmla="val 27273"/>
            </a:avLst>
          </a:prstGeom>
          <a:solidFill>
            <a:srgbClr val="C62828"/>
          </a:solidFill>
          <a:ln w="12700">
            <a:solidFill>
              <a:srgbClr val="C62828"/>
            </a:solidFill>
            <a:prstDash val="solid"/>
          </a:ln>
        </p:spPr>
      </p:sp>
      <p:sp>
        <p:nvSpPr>
          <p:cNvPr id="28" name="Text 25"/>
          <p:cNvSpPr txBox="1"/>
          <p:nvPr/>
        </p:nvSpPr>
        <p:spPr>
          <a:xfrm>
            <a:off x="891540" y="3502152"/>
            <a:ext cx="914400" cy="201168"/>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NOT SEEN</a:t>
            </a:r>
            <a:endParaRPr lang="en-US" sz="900" dirty="0"/>
          </a:p>
        </p:txBody>
      </p:sp>
      <p:sp>
        <p:nvSpPr>
          <p:cNvPr id="29" name="Shape 26"/>
          <p:cNvSpPr/>
          <p:nvPr/>
        </p:nvSpPr>
        <p:spPr>
          <a:xfrm>
            <a:off x="3612794" y="2304288"/>
            <a:ext cx="1166774" cy="0"/>
          </a:xfrm>
          <a:prstGeom prst="line">
            <a:avLst/>
          </a:prstGeom>
          <a:noFill/>
          <a:ln w="19050">
            <a:solidFill>
              <a:srgbClr val="5E9CCB"/>
            </a:solidFill>
            <a:prstDash val="dash"/>
            <a:tailEnd type="triangle"/>
          </a:ln>
        </p:spPr>
      </p:sp>
      <p:sp>
        <p:nvSpPr>
          <p:cNvPr id="30" name="Shape 27"/>
          <p:cNvSpPr/>
          <p:nvPr/>
        </p:nvSpPr>
        <p:spPr>
          <a:xfrm>
            <a:off x="2945282" y="2002536"/>
            <a:ext cx="603504" cy="603504"/>
          </a:xfrm>
          <a:prstGeom prst="ellipse">
            <a:avLst/>
          </a:prstGeom>
          <a:solidFill>
            <a:srgbClr val="143A5A"/>
          </a:solidFill>
          <a:ln w="12700">
            <a:solidFill>
              <a:srgbClr val="143A5A"/>
            </a:solidFill>
            <a:prstDash val="solid"/>
          </a:ln>
        </p:spPr>
      </p:sp>
      <p:pic>
        <p:nvPicPr>
          <p:cNvPr id="31" name="Image 1" descr="img/icons/factory-white.png">    </p:cNvPr>
          <p:cNvPicPr>
            <a:picLocks noChangeAspect="1"/>
          </p:cNvPicPr>
          <p:nvPr/>
        </p:nvPicPr>
        <p:blipFill>
          <a:blip r:embed="rId2"/>
          <a:stretch>
            <a:fillRect/>
          </a:stretch>
        </p:blipFill>
        <p:spPr>
          <a:xfrm>
            <a:off x="3078053" y="2135307"/>
            <a:ext cx="337962" cy="337962"/>
          </a:xfrm>
          <a:prstGeom prst="rect">
            <a:avLst/>
          </a:prstGeom>
        </p:spPr>
      </p:pic>
      <p:sp>
        <p:nvSpPr>
          <p:cNvPr id="32" name="Text 28"/>
          <p:cNvSpPr txBox="1"/>
          <p:nvPr/>
        </p:nvSpPr>
        <p:spPr>
          <a:xfrm>
            <a:off x="2355494" y="2679192"/>
            <a:ext cx="1783080" cy="237744"/>
          </a:xfrm>
          <a:prstGeom prst="rect">
            <a:avLst/>
          </a:prstGeom>
          <a:noFill/>
          <a:ln/>
        </p:spPr>
        <p:txBody>
          <a:bodyPr wrap="square" lIns="0" tIns="0" rIns="0" bIns="0" rtlCol="0" anchor="t"/>
          <a:lstStyle/>
          <a:p>
            <a:pPr algn="ctr" indent="0" marL="0">
              <a:buNone/>
            </a:pPr>
            <a:r>
              <a:rPr lang="en-US" sz="1100" b="1" dirty="0">
                <a:solidFill>
                  <a:srgbClr val="143A5A"/>
                </a:solidFill>
                <a:latin typeface="Calibri" pitchFamily="34" charset="0"/>
                <a:ea typeface="Calibri" pitchFamily="34" charset="-122"/>
                <a:cs typeface="Calibri" pitchFamily="34" charset="-120"/>
              </a:rPr>
              <a:t>Hot rolling</a:t>
            </a:r>
            <a:endParaRPr lang="en-US" sz="1100" dirty="0"/>
          </a:p>
        </p:txBody>
      </p:sp>
      <p:sp>
        <p:nvSpPr>
          <p:cNvPr id="33" name="Text 29"/>
          <p:cNvSpPr txBox="1"/>
          <p:nvPr/>
        </p:nvSpPr>
        <p:spPr>
          <a:xfrm>
            <a:off x="2355494" y="2907792"/>
            <a:ext cx="1783080" cy="182880"/>
          </a:xfrm>
          <a:prstGeom prst="rect">
            <a:avLst/>
          </a:prstGeom>
          <a:noFill/>
          <a:ln/>
        </p:spPr>
        <p:txBody>
          <a:bodyPr wrap="square" lIns="0" tIns="0" rIns="0" bIns="0" rtlCol="0" anchor="t"/>
          <a:lstStyle/>
          <a:p>
            <a:pPr algn="ctr" indent="0" marL="0">
              <a:buNone/>
            </a:pPr>
            <a:r>
              <a:rPr lang="en-US" sz="900" dirty="0">
                <a:solidFill>
                  <a:srgbClr val="5F6B78"/>
                </a:solidFill>
                <a:latin typeface="Calibri" pitchFamily="34" charset="0"/>
                <a:ea typeface="Calibri" pitchFamily="34" charset="-122"/>
                <a:cs typeface="Calibri" pitchFamily="34" charset="-120"/>
              </a:rPr>
              <a:t>HSM</a:t>
            </a:r>
            <a:endParaRPr lang="en-US" sz="900" dirty="0"/>
          </a:p>
        </p:txBody>
      </p:sp>
      <p:sp>
        <p:nvSpPr>
          <p:cNvPr id="34" name="Text 30"/>
          <p:cNvSpPr txBox="1"/>
          <p:nvPr/>
        </p:nvSpPr>
        <p:spPr>
          <a:xfrm>
            <a:off x="2355494" y="3108960"/>
            <a:ext cx="1783080" cy="347472"/>
          </a:xfrm>
          <a:prstGeom prst="rect">
            <a:avLst/>
          </a:prstGeom>
          <a:noFill/>
          <a:ln/>
        </p:spPr>
        <p:txBody>
          <a:bodyPr wrap="square" lIns="0" tIns="0" rIns="0" bIns="0" rtlCol="0" anchor="t"/>
          <a:lstStyle/>
          <a:p>
            <a:pPr algn="ctr" indent="0" marL="0">
              <a:buNone/>
            </a:pPr>
            <a:r>
              <a:rPr lang="en-US" sz="950" dirty="0">
                <a:solidFill>
                  <a:srgbClr val="141C24"/>
                </a:solidFill>
                <a:latin typeface="Calibri" pitchFamily="34" charset="0"/>
                <a:ea typeface="Calibri" pitchFamily="34" charset="-122"/>
                <a:cs typeface="Calibri" pitchFamily="34" charset="-120"/>
              </a:rPr>
              <a:t>Scale, pits, edge cracks</a:t>
            </a:r>
            <a:endParaRPr lang="en-US" sz="950" dirty="0"/>
          </a:p>
        </p:txBody>
      </p:sp>
      <p:sp>
        <p:nvSpPr>
          <p:cNvPr id="35" name="Shape 31"/>
          <p:cNvSpPr/>
          <p:nvPr/>
        </p:nvSpPr>
        <p:spPr>
          <a:xfrm>
            <a:off x="2789834" y="3502152"/>
            <a:ext cx="914400" cy="201168"/>
          </a:xfrm>
          <a:prstGeom prst="roundRect">
            <a:avLst>
              <a:gd name="adj" fmla="val 27273"/>
            </a:avLst>
          </a:prstGeom>
          <a:solidFill>
            <a:srgbClr val="C62828"/>
          </a:solidFill>
          <a:ln w="12700">
            <a:solidFill>
              <a:srgbClr val="C62828"/>
            </a:solidFill>
            <a:prstDash val="solid"/>
          </a:ln>
        </p:spPr>
      </p:sp>
      <p:sp>
        <p:nvSpPr>
          <p:cNvPr id="36" name="Text 32"/>
          <p:cNvSpPr txBox="1"/>
          <p:nvPr/>
        </p:nvSpPr>
        <p:spPr>
          <a:xfrm>
            <a:off x="2789834" y="3502152"/>
            <a:ext cx="914400" cy="201168"/>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NOT SEEN</a:t>
            </a:r>
            <a:endParaRPr lang="en-US" sz="900" dirty="0"/>
          </a:p>
        </p:txBody>
      </p:sp>
      <p:sp>
        <p:nvSpPr>
          <p:cNvPr id="37" name="Shape 33"/>
          <p:cNvSpPr/>
          <p:nvPr/>
        </p:nvSpPr>
        <p:spPr>
          <a:xfrm>
            <a:off x="5511089" y="2304288"/>
            <a:ext cx="1166774" cy="0"/>
          </a:xfrm>
          <a:prstGeom prst="line">
            <a:avLst/>
          </a:prstGeom>
          <a:noFill/>
          <a:ln w="19050">
            <a:solidFill>
              <a:srgbClr val="5E9CCB"/>
            </a:solidFill>
            <a:prstDash val="dash"/>
            <a:tailEnd type="triangle"/>
          </a:ln>
        </p:spPr>
      </p:sp>
      <p:sp>
        <p:nvSpPr>
          <p:cNvPr id="38" name="Shape 34"/>
          <p:cNvSpPr/>
          <p:nvPr/>
        </p:nvSpPr>
        <p:spPr>
          <a:xfrm>
            <a:off x="4843577" y="2002536"/>
            <a:ext cx="603504" cy="603504"/>
          </a:xfrm>
          <a:prstGeom prst="ellipse">
            <a:avLst/>
          </a:prstGeom>
          <a:solidFill>
            <a:srgbClr val="143A5A"/>
          </a:solidFill>
          <a:ln w="12700">
            <a:solidFill>
              <a:srgbClr val="143A5A"/>
            </a:solidFill>
            <a:prstDash val="solid"/>
          </a:ln>
        </p:spPr>
      </p:sp>
      <p:pic>
        <p:nvPicPr>
          <p:cNvPr id="39" name="Image 2" descr="img/icons/droplets-white.png">    </p:cNvPr>
          <p:cNvPicPr>
            <a:picLocks noChangeAspect="1"/>
          </p:cNvPicPr>
          <p:nvPr/>
        </p:nvPicPr>
        <p:blipFill>
          <a:blip r:embed="rId3"/>
          <a:stretch>
            <a:fillRect/>
          </a:stretch>
        </p:blipFill>
        <p:spPr>
          <a:xfrm>
            <a:off x="4976348" y="2135307"/>
            <a:ext cx="337962" cy="337962"/>
          </a:xfrm>
          <a:prstGeom prst="rect">
            <a:avLst/>
          </a:prstGeom>
        </p:spPr>
      </p:pic>
      <p:sp>
        <p:nvSpPr>
          <p:cNvPr id="40" name="Text 35"/>
          <p:cNvSpPr txBox="1"/>
          <p:nvPr/>
        </p:nvSpPr>
        <p:spPr>
          <a:xfrm>
            <a:off x="4253789" y="2679192"/>
            <a:ext cx="1783080" cy="237744"/>
          </a:xfrm>
          <a:prstGeom prst="rect">
            <a:avLst/>
          </a:prstGeom>
          <a:noFill/>
          <a:ln/>
        </p:spPr>
        <p:txBody>
          <a:bodyPr wrap="square" lIns="0" tIns="0" rIns="0" bIns="0" rtlCol="0" anchor="t"/>
          <a:lstStyle/>
          <a:p>
            <a:pPr algn="ctr" indent="0" marL="0">
              <a:buNone/>
            </a:pPr>
            <a:r>
              <a:rPr lang="en-US" sz="1100" b="1" dirty="0">
                <a:solidFill>
                  <a:srgbClr val="143A5A"/>
                </a:solidFill>
                <a:latin typeface="Calibri" pitchFamily="34" charset="0"/>
                <a:ea typeface="Calibri" pitchFamily="34" charset="-122"/>
                <a:cs typeface="Calibri" pitchFamily="34" charset="-120"/>
              </a:rPr>
              <a:t>Anneal &amp; pickle</a:t>
            </a:r>
            <a:endParaRPr lang="en-US" sz="1100" dirty="0"/>
          </a:p>
        </p:txBody>
      </p:sp>
      <p:sp>
        <p:nvSpPr>
          <p:cNvPr id="41" name="Text 36"/>
          <p:cNvSpPr txBox="1"/>
          <p:nvPr/>
        </p:nvSpPr>
        <p:spPr>
          <a:xfrm>
            <a:off x="4253789" y="2907792"/>
            <a:ext cx="1783080" cy="182880"/>
          </a:xfrm>
          <a:prstGeom prst="rect">
            <a:avLst/>
          </a:prstGeom>
          <a:noFill/>
          <a:ln/>
        </p:spPr>
        <p:txBody>
          <a:bodyPr wrap="square" lIns="0" tIns="0" rIns="0" bIns="0" rtlCol="0" anchor="t"/>
          <a:lstStyle/>
          <a:p>
            <a:pPr algn="ctr" indent="0" marL="0">
              <a:buNone/>
            </a:pPr>
            <a:r>
              <a:rPr lang="en-US" sz="900" dirty="0">
                <a:solidFill>
                  <a:srgbClr val="5F6B78"/>
                </a:solidFill>
                <a:latin typeface="Calibri" pitchFamily="34" charset="0"/>
                <a:ea typeface="Calibri" pitchFamily="34" charset="-122"/>
                <a:cs typeface="Calibri" pitchFamily="34" charset="-120"/>
              </a:rPr>
              <a:t>HRAP</a:t>
            </a:r>
            <a:endParaRPr lang="en-US" sz="900" dirty="0"/>
          </a:p>
        </p:txBody>
      </p:sp>
      <p:sp>
        <p:nvSpPr>
          <p:cNvPr id="42" name="Text 37"/>
          <p:cNvSpPr txBox="1"/>
          <p:nvPr/>
        </p:nvSpPr>
        <p:spPr>
          <a:xfrm>
            <a:off x="4253789" y="3108960"/>
            <a:ext cx="1783080" cy="347472"/>
          </a:xfrm>
          <a:prstGeom prst="rect">
            <a:avLst/>
          </a:prstGeom>
          <a:noFill/>
          <a:ln/>
        </p:spPr>
        <p:txBody>
          <a:bodyPr wrap="square" lIns="0" tIns="0" rIns="0" bIns="0" rtlCol="0" anchor="t"/>
          <a:lstStyle/>
          <a:p>
            <a:pPr algn="ctr" indent="0" marL="0">
              <a:buNone/>
            </a:pPr>
            <a:r>
              <a:rPr lang="en-US" sz="950" dirty="0">
                <a:solidFill>
                  <a:srgbClr val="141C24"/>
                </a:solidFill>
                <a:latin typeface="Calibri" pitchFamily="34" charset="0"/>
                <a:ea typeface="Calibri" pitchFamily="34" charset="-122"/>
                <a:cs typeface="Calibri" pitchFamily="34" charset="-120"/>
              </a:rPr>
              <a:t>Pickling patches</a:t>
            </a:r>
            <a:endParaRPr lang="en-US" sz="950" dirty="0"/>
          </a:p>
        </p:txBody>
      </p:sp>
      <p:sp>
        <p:nvSpPr>
          <p:cNvPr id="43" name="Shape 38"/>
          <p:cNvSpPr/>
          <p:nvPr/>
        </p:nvSpPr>
        <p:spPr>
          <a:xfrm>
            <a:off x="4688129" y="3502152"/>
            <a:ext cx="914400" cy="201168"/>
          </a:xfrm>
          <a:prstGeom prst="roundRect">
            <a:avLst>
              <a:gd name="adj" fmla="val 27273"/>
            </a:avLst>
          </a:prstGeom>
          <a:solidFill>
            <a:srgbClr val="B77900"/>
          </a:solidFill>
          <a:ln w="12700">
            <a:solidFill>
              <a:srgbClr val="B77900"/>
            </a:solidFill>
            <a:prstDash val="solid"/>
          </a:ln>
        </p:spPr>
      </p:sp>
      <p:sp>
        <p:nvSpPr>
          <p:cNvPr id="44" name="Text 39"/>
          <p:cNvSpPr txBox="1"/>
          <p:nvPr/>
        </p:nvSpPr>
        <p:spPr>
          <a:xfrm>
            <a:off x="4688129" y="3502152"/>
            <a:ext cx="914400" cy="201168"/>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SPOT CHECK</a:t>
            </a:r>
            <a:endParaRPr lang="en-US" sz="900" dirty="0"/>
          </a:p>
        </p:txBody>
      </p:sp>
      <p:sp>
        <p:nvSpPr>
          <p:cNvPr id="45" name="Shape 40"/>
          <p:cNvSpPr/>
          <p:nvPr/>
        </p:nvSpPr>
        <p:spPr>
          <a:xfrm>
            <a:off x="7409383" y="2304288"/>
            <a:ext cx="1166774" cy="0"/>
          </a:xfrm>
          <a:prstGeom prst="line">
            <a:avLst/>
          </a:prstGeom>
          <a:noFill/>
          <a:ln w="19050">
            <a:solidFill>
              <a:srgbClr val="5E9CCB"/>
            </a:solidFill>
            <a:prstDash val="dash"/>
            <a:tailEnd type="triangle"/>
          </a:ln>
        </p:spPr>
      </p:sp>
      <p:sp>
        <p:nvSpPr>
          <p:cNvPr id="46" name="Shape 41"/>
          <p:cNvSpPr/>
          <p:nvPr/>
        </p:nvSpPr>
        <p:spPr>
          <a:xfrm>
            <a:off x="6741871" y="2002536"/>
            <a:ext cx="603504" cy="603504"/>
          </a:xfrm>
          <a:prstGeom prst="ellipse">
            <a:avLst/>
          </a:prstGeom>
          <a:solidFill>
            <a:srgbClr val="143A5A"/>
          </a:solidFill>
          <a:ln w="12700">
            <a:solidFill>
              <a:srgbClr val="143A5A"/>
            </a:solidFill>
            <a:prstDash val="solid"/>
          </a:ln>
        </p:spPr>
      </p:sp>
      <p:pic>
        <p:nvPicPr>
          <p:cNvPr id="47" name="Image 3" descr="img/icons/layers-white.png">    </p:cNvPr>
          <p:cNvPicPr>
            <a:picLocks noChangeAspect="1"/>
          </p:cNvPicPr>
          <p:nvPr/>
        </p:nvPicPr>
        <p:blipFill>
          <a:blip r:embed="rId4"/>
          <a:stretch>
            <a:fillRect/>
          </a:stretch>
        </p:blipFill>
        <p:spPr>
          <a:xfrm>
            <a:off x="6874642" y="2135307"/>
            <a:ext cx="337962" cy="337962"/>
          </a:xfrm>
          <a:prstGeom prst="rect">
            <a:avLst/>
          </a:prstGeom>
        </p:spPr>
      </p:pic>
      <p:sp>
        <p:nvSpPr>
          <p:cNvPr id="48" name="Text 42"/>
          <p:cNvSpPr txBox="1"/>
          <p:nvPr/>
        </p:nvSpPr>
        <p:spPr>
          <a:xfrm>
            <a:off x="6152083" y="2679192"/>
            <a:ext cx="1783080" cy="237744"/>
          </a:xfrm>
          <a:prstGeom prst="rect">
            <a:avLst/>
          </a:prstGeom>
          <a:noFill/>
          <a:ln/>
        </p:spPr>
        <p:txBody>
          <a:bodyPr wrap="square" lIns="0" tIns="0" rIns="0" bIns="0" rtlCol="0" anchor="t"/>
          <a:lstStyle/>
          <a:p>
            <a:pPr algn="ctr" indent="0" marL="0">
              <a:buNone/>
            </a:pPr>
            <a:r>
              <a:rPr lang="en-US" sz="1100" b="1" dirty="0">
                <a:solidFill>
                  <a:srgbClr val="143A5A"/>
                </a:solidFill>
                <a:latin typeface="Calibri" pitchFamily="34" charset="0"/>
                <a:ea typeface="Calibri" pitchFamily="34" charset="-122"/>
                <a:cs typeface="Calibri" pitchFamily="34" charset="-120"/>
              </a:rPr>
              <a:t>Cold rolling</a:t>
            </a:r>
            <a:endParaRPr lang="en-US" sz="1100" dirty="0"/>
          </a:p>
        </p:txBody>
      </p:sp>
      <p:sp>
        <p:nvSpPr>
          <p:cNvPr id="49" name="Text 43"/>
          <p:cNvSpPr txBox="1"/>
          <p:nvPr/>
        </p:nvSpPr>
        <p:spPr>
          <a:xfrm>
            <a:off x="6152083" y="2907792"/>
            <a:ext cx="1783080" cy="182880"/>
          </a:xfrm>
          <a:prstGeom prst="rect">
            <a:avLst/>
          </a:prstGeom>
          <a:noFill/>
          <a:ln/>
        </p:spPr>
        <p:txBody>
          <a:bodyPr wrap="square" lIns="0" tIns="0" rIns="0" bIns="0" rtlCol="0" anchor="t"/>
          <a:lstStyle/>
          <a:p>
            <a:pPr algn="ctr" indent="0" marL="0">
              <a:buNone/>
            </a:pPr>
            <a:r>
              <a:rPr lang="en-US" sz="900" dirty="0">
                <a:solidFill>
                  <a:srgbClr val="5F6B78"/>
                </a:solidFill>
                <a:latin typeface="Calibri" pitchFamily="34" charset="0"/>
                <a:ea typeface="Calibri" pitchFamily="34" charset="-122"/>
                <a:cs typeface="Calibri" pitchFamily="34" charset="-120"/>
              </a:rPr>
              <a:t>CRM</a:t>
            </a:r>
            <a:endParaRPr lang="en-US" sz="900" dirty="0"/>
          </a:p>
        </p:txBody>
      </p:sp>
      <p:sp>
        <p:nvSpPr>
          <p:cNvPr id="50" name="Text 44"/>
          <p:cNvSpPr txBox="1"/>
          <p:nvPr/>
        </p:nvSpPr>
        <p:spPr>
          <a:xfrm>
            <a:off x="6152083" y="3108960"/>
            <a:ext cx="1783080" cy="347472"/>
          </a:xfrm>
          <a:prstGeom prst="rect">
            <a:avLst/>
          </a:prstGeom>
          <a:noFill/>
          <a:ln/>
        </p:spPr>
        <p:txBody>
          <a:bodyPr wrap="square" lIns="0" tIns="0" rIns="0" bIns="0" rtlCol="0" anchor="t"/>
          <a:lstStyle/>
          <a:p>
            <a:pPr algn="ctr" indent="0" marL="0">
              <a:buNone/>
            </a:pPr>
            <a:r>
              <a:rPr lang="en-US" sz="950" dirty="0">
                <a:solidFill>
                  <a:srgbClr val="141C24"/>
                </a:solidFill>
                <a:latin typeface="Calibri" pitchFamily="34" charset="0"/>
                <a:ea typeface="Calibri" pitchFamily="34" charset="-122"/>
                <a:cs typeface="Calibri" pitchFamily="34" charset="-120"/>
              </a:rPr>
              <a:t>Scratches, roll marks</a:t>
            </a:r>
            <a:endParaRPr lang="en-US" sz="950" dirty="0"/>
          </a:p>
        </p:txBody>
      </p:sp>
      <p:sp>
        <p:nvSpPr>
          <p:cNvPr id="51" name="Shape 45"/>
          <p:cNvSpPr/>
          <p:nvPr/>
        </p:nvSpPr>
        <p:spPr>
          <a:xfrm>
            <a:off x="6586423" y="3502152"/>
            <a:ext cx="914400" cy="201168"/>
          </a:xfrm>
          <a:prstGeom prst="roundRect">
            <a:avLst>
              <a:gd name="adj" fmla="val 27273"/>
            </a:avLst>
          </a:prstGeom>
          <a:solidFill>
            <a:srgbClr val="B77900"/>
          </a:solidFill>
          <a:ln w="12700">
            <a:solidFill>
              <a:srgbClr val="B77900"/>
            </a:solidFill>
            <a:prstDash val="solid"/>
          </a:ln>
        </p:spPr>
      </p:sp>
      <p:sp>
        <p:nvSpPr>
          <p:cNvPr id="52" name="Text 46"/>
          <p:cNvSpPr txBox="1"/>
          <p:nvPr/>
        </p:nvSpPr>
        <p:spPr>
          <a:xfrm>
            <a:off x="6586423" y="3502152"/>
            <a:ext cx="914400" cy="201168"/>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SPOT CHECK</a:t>
            </a:r>
            <a:endParaRPr lang="en-US" sz="900" dirty="0"/>
          </a:p>
        </p:txBody>
      </p:sp>
      <p:sp>
        <p:nvSpPr>
          <p:cNvPr id="53" name="Shape 47"/>
          <p:cNvSpPr/>
          <p:nvPr/>
        </p:nvSpPr>
        <p:spPr>
          <a:xfrm>
            <a:off x="9307678" y="2304288"/>
            <a:ext cx="1166774" cy="0"/>
          </a:xfrm>
          <a:prstGeom prst="line">
            <a:avLst/>
          </a:prstGeom>
          <a:noFill/>
          <a:ln w="19050">
            <a:solidFill>
              <a:srgbClr val="5E9CCB"/>
            </a:solidFill>
            <a:prstDash val="dash"/>
            <a:tailEnd type="triangle"/>
          </a:ln>
        </p:spPr>
      </p:sp>
      <p:sp>
        <p:nvSpPr>
          <p:cNvPr id="54" name="Shape 48"/>
          <p:cNvSpPr/>
          <p:nvPr/>
        </p:nvSpPr>
        <p:spPr>
          <a:xfrm>
            <a:off x="8640166" y="2002536"/>
            <a:ext cx="603504" cy="603504"/>
          </a:xfrm>
          <a:prstGeom prst="ellipse">
            <a:avLst/>
          </a:prstGeom>
          <a:solidFill>
            <a:srgbClr val="143A5A"/>
          </a:solidFill>
          <a:ln w="12700">
            <a:solidFill>
              <a:srgbClr val="143A5A"/>
            </a:solidFill>
            <a:prstDash val="solid"/>
          </a:ln>
        </p:spPr>
      </p:sp>
      <p:pic>
        <p:nvPicPr>
          <p:cNvPr id="55" name="Image 4" descr="img/icons/sparkles-white.png">    </p:cNvPr>
          <p:cNvPicPr>
            <a:picLocks noChangeAspect="1"/>
          </p:cNvPicPr>
          <p:nvPr/>
        </p:nvPicPr>
        <p:blipFill>
          <a:blip r:embed="rId5"/>
          <a:stretch>
            <a:fillRect/>
          </a:stretch>
        </p:blipFill>
        <p:spPr>
          <a:xfrm>
            <a:off x="8772936" y="2135307"/>
            <a:ext cx="337962" cy="337962"/>
          </a:xfrm>
          <a:prstGeom prst="rect">
            <a:avLst/>
          </a:prstGeom>
        </p:spPr>
      </p:pic>
      <p:sp>
        <p:nvSpPr>
          <p:cNvPr id="56" name="Text 49"/>
          <p:cNvSpPr txBox="1"/>
          <p:nvPr/>
        </p:nvSpPr>
        <p:spPr>
          <a:xfrm>
            <a:off x="8050378" y="2679192"/>
            <a:ext cx="1783080" cy="237744"/>
          </a:xfrm>
          <a:prstGeom prst="rect">
            <a:avLst/>
          </a:prstGeom>
          <a:noFill/>
          <a:ln/>
        </p:spPr>
        <p:txBody>
          <a:bodyPr wrap="square" lIns="0" tIns="0" rIns="0" bIns="0" rtlCol="0" anchor="t"/>
          <a:lstStyle/>
          <a:p>
            <a:pPr algn="ctr" indent="0" marL="0">
              <a:buNone/>
            </a:pPr>
            <a:r>
              <a:rPr lang="en-US" sz="1100" b="1" dirty="0">
                <a:solidFill>
                  <a:srgbClr val="143A5A"/>
                </a:solidFill>
                <a:latin typeface="Calibri" pitchFamily="34" charset="0"/>
                <a:ea typeface="Calibri" pitchFamily="34" charset="-122"/>
                <a:cs typeface="Calibri" pitchFamily="34" charset="-120"/>
              </a:rPr>
              <a:t>Final anneal / BA</a:t>
            </a:r>
            <a:endParaRPr lang="en-US" sz="1100" dirty="0"/>
          </a:p>
        </p:txBody>
      </p:sp>
      <p:sp>
        <p:nvSpPr>
          <p:cNvPr id="57" name="Text 50"/>
          <p:cNvSpPr txBox="1"/>
          <p:nvPr/>
        </p:nvSpPr>
        <p:spPr>
          <a:xfrm>
            <a:off x="8050378" y="2907792"/>
            <a:ext cx="1783080" cy="182880"/>
          </a:xfrm>
          <a:prstGeom prst="rect">
            <a:avLst/>
          </a:prstGeom>
          <a:noFill/>
          <a:ln/>
        </p:spPr>
        <p:txBody>
          <a:bodyPr wrap="square" lIns="0" tIns="0" rIns="0" bIns="0" rtlCol="0" anchor="t"/>
          <a:lstStyle/>
          <a:p>
            <a:pPr algn="ctr" indent="0" marL="0">
              <a:buNone/>
            </a:pPr>
            <a:r>
              <a:rPr lang="en-US" sz="900" dirty="0">
                <a:solidFill>
                  <a:srgbClr val="5F6B78"/>
                </a:solidFill>
                <a:latin typeface="Calibri" pitchFamily="34" charset="0"/>
                <a:ea typeface="Calibri" pitchFamily="34" charset="-122"/>
                <a:cs typeface="Calibri" pitchFamily="34" charset="-120"/>
              </a:rPr>
              <a:t>CRAP / BA</a:t>
            </a:r>
            <a:endParaRPr lang="en-US" sz="900" dirty="0"/>
          </a:p>
        </p:txBody>
      </p:sp>
      <p:sp>
        <p:nvSpPr>
          <p:cNvPr id="58" name="Text 51"/>
          <p:cNvSpPr txBox="1"/>
          <p:nvPr/>
        </p:nvSpPr>
        <p:spPr>
          <a:xfrm>
            <a:off x="8050378" y="3108960"/>
            <a:ext cx="1783080" cy="347472"/>
          </a:xfrm>
          <a:prstGeom prst="rect">
            <a:avLst/>
          </a:prstGeom>
          <a:noFill/>
          <a:ln/>
        </p:spPr>
        <p:txBody>
          <a:bodyPr wrap="square" lIns="0" tIns="0" rIns="0" bIns="0" rtlCol="0" anchor="t"/>
          <a:lstStyle/>
          <a:p>
            <a:pPr algn="ctr" indent="0" marL="0">
              <a:buNone/>
            </a:pPr>
            <a:r>
              <a:rPr lang="en-US" sz="950" dirty="0">
                <a:solidFill>
                  <a:srgbClr val="141C24"/>
                </a:solidFill>
                <a:latin typeface="Calibri" pitchFamily="34" charset="0"/>
                <a:ea typeface="Calibri" pitchFamily="34" charset="-122"/>
                <a:cs typeface="Calibri" pitchFamily="34" charset="-120"/>
              </a:rPr>
              <a:t>Stains, BA marks</a:t>
            </a:r>
            <a:endParaRPr lang="en-US" sz="950" dirty="0"/>
          </a:p>
        </p:txBody>
      </p:sp>
      <p:sp>
        <p:nvSpPr>
          <p:cNvPr id="59" name="Shape 52"/>
          <p:cNvSpPr/>
          <p:nvPr/>
        </p:nvSpPr>
        <p:spPr>
          <a:xfrm>
            <a:off x="8484718" y="3502152"/>
            <a:ext cx="914400" cy="201168"/>
          </a:xfrm>
          <a:prstGeom prst="roundRect">
            <a:avLst>
              <a:gd name="adj" fmla="val 27273"/>
            </a:avLst>
          </a:prstGeom>
          <a:solidFill>
            <a:srgbClr val="B77900"/>
          </a:solidFill>
          <a:ln w="12700">
            <a:solidFill>
              <a:srgbClr val="B77900"/>
            </a:solidFill>
            <a:prstDash val="solid"/>
          </a:ln>
        </p:spPr>
      </p:sp>
      <p:sp>
        <p:nvSpPr>
          <p:cNvPr id="60" name="Text 53"/>
          <p:cNvSpPr txBox="1"/>
          <p:nvPr/>
        </p:nvSpPr>
        <p:spPr>
          <a:xfrm>
            <a:off x="8484718" y="3502152"/>
            <a:ext cx="914400" cy="201168"/>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SAMPLED</a:t>
            </a:r>
            <a:endParaRPr lang="en-US" sz="900" dirty="0"/>
          </a:p>
        </p:txBody>
      </p:sp>
      <p:sp>
        <p:nvSpPr>
          <p:cNvPr id="61" name="Shape 54"/>
          <p:cNvSpPr/>
          <p:nvPr/>
        </p:nvSpPr>
        <p:spPr>
          <a:xfrm>
            <a:off x="10538460" y="2002536"/>
            <a:ext cx="603504" cy="603504"/>
          </a:xfrm>
          <a:prstGeom prst="ellipse">
            <a:avLst/>
          </a:prstGeom>
          <a:solidFill>
            <a:srgbClr val="0086C3"/>
          </a:solidFill>
          <a:ln w="12700">
            <a:solidFill>
              <a:srgbClr val="0086C3"/>
            </a:solidFill>
            <a:prstDash val="solid"/>
          </a:ln>
        </p:spPr>
      </p:sp>
      <p:pic>
        <p:nvPicPr>
          <p:cNvPr id="62" name="Image 5" descr="img/icons/truck-white.png">    </p:cNvPr>
          <p:cNvPicPr>
            <a:picLocks noChangeAspect="1"/>
          </p:cNvPicPr>
          <p:nvPr/>
        </p:nvPicPr>
        <p:blipFill>
          <a:blip r:embed="rId6"/>
          <a:stretch>
            <a:fillRect/>
          </a:stretch>
        </p:blipFill>
        <p:spPr>
          <a:xfrm>
            <a:off x="10671231" y="2135307"/>
            <a:ext cx="337962" cy="337962"/>
          </a:xfrm>
          <a:prstGeom prst="rect">
            <a:avLst/>
          </a:prstGeom>
        </p:spPr>
      </p:pic>
      <p:sp>
        <p:nvSpPr>
          <p:cNvPr id="63" name="Text 55"/>
          <p:cNvSpPr txBox="1"/>
          <p:nvPr/>
        </p:nvSpPr>
        <p:spPr>
          <a:xfrm>
            <a:off x="9948672" y="2679192"/>
            <a:ext cx="1783080" cy="237744"/>
          </a:xfrm>
          <a:prstGeom prst="rect">
            <a:avLst/>
          </a:prstGeom>
          <a:noFill/>
          <a:ln/>
        </p:spPr>
        <p:txBody>
          <a:bodyPr wrap="square" lIns="0" tIns="0" rIns="0" bIns="0" rtlCol="0" anchor="t"/>
          <a:lstStyle/>
          <a:p>
            <a:pPr algn="ctr" indent="0" marL="0">
              <a:buNone/>
            </a:pPr>
            <a:r>
              <a:rPr lang="en-US" sz="1100" b="1" dirty="0">
                <a:solidFill>
                  <a:srgbClr val="143A5A"/>
                </a:solidFill>
                <a:latin typeface="Calibri" pitchFamily="34" charset="0"/>
                <a:ea typeface="Calibri" pitchFamily="34" charset="-122"/>
                <a:cs typeface="Calibri" pitchFamily="34" charset="-120"/>
              </a:rPr>
              <a:t>Finish &amp; despatch</a:t>
            </a:r>
            <a:endParaRPr lang="en-US" sz="1100" dirty="0"/>
          </a:p>
        </p:txBody>
      </p:sp>
      <p:sp>
        <p:nvSpPr>
          <p:cNvPr id="64" name="Text 56"/>
          <p:cNvSpPr txBox="1"/>
          <p:nvPr/>
        </p:nvSpPr>
        <p:spPr>
          <a:xfrm>
            <a:off x="9948672" y="2907792"/>
            <a:ext cx="1783080" cy="182880"/>
          </a:xfrm>
          <a:prstGeom prst="rect">
            <a:avLst/>
          </a:prstGeom>
          <a:noFill/>
          <a:ln/>
        </p:spPr>
        <p:txBody>
          <a:bodyPr wrap="square" lIns="0" tIns="0" rIns="0" bIns="0" rtlCol="0" anchor="t"/>
          <a:lstStyle/>
          <a:p>
            <a:pPr algn="ctr" indent="0" marL="0">
              <a:buNone/>
            </a:pPr>
            <a:r>
              <a:rPr lang="en-US" sz="900" dirty="0">
                <a:solidFill>
                  <a:srgbClr val="5F6B78"/>
                </a:solidFill>
                <a:latin typeface="Calibri" pitchFamily="34" charset="0"/>
                <a:ea typeface="Calibri" pitchFamily="34" charset="-122"/>
                <a:cs typeface="Calibri" pitchFamily="34" charset="-120"/>
              </a:rPr>
              <a:t>Slit, cut</a:t>
            </a:r>
            <a:endParaRPr lang="en-US" sz="900" dirty="0"/>
          </a:p>
        </p:txBody>
      </p:sp>
      <p:sp>
        <p:nvSpPr>
          <p:cNvPr id="65" name="Text 57"/>
          <p:cNvSpPr txBox="1"/>
          <p:nvPr/>
        </p:nvSpPr>
        <p:spPr>
          <a:xfrm>
            <a:off x="9948672" y="3108960"/>
            <a:ext cx="1783080" cy="347472"/>
          </a:xfrm>
          <a:prstGeom prst="rect">
            <a:avLst/>
          </a:prstGeom>
          <a:noFill/>
          <a:ln/>
        </p:spPr>
        <p:txBody>
          <a:bodyPr wrap="square" lIns="0" tIns="0" rIns="0" bIns="0" rtlCol="0" anchor="t"/>
          <a:lstStyle/>
          <a:p>
            <a:pPr algn="ctr" indent="0" marL="0">
              <a:buNone/>
            </a:pPr>
            <a:r>
              <a:rPr lang="en-US" sz="950" dirty="0">
                <a:solidFill>
                  <a:srgbClr val="141C24"/>
                </a:solidFill>
                <a:latin typeface="Calibri" pitchFamily="34" charset="0"/>
                <a:ea typeface="Calibri" pitchFamily="34" charset="-122"/>
                <a:cs typeface="Calibri" pitchFamily="34" charset="-120"/>
              </a:rPr>
              <a:t>Found here, or by the customer</a:t>
            </a:r>
            <a:endParaRPr lang="en-US" sz="950" dirty="0"/>
          </a:p>
        </p:txBody>
      </p:sp>
      <p:sp>
        <p:nvSpPr>
          <p:cNvPr id="66" name="Shape 58"/>
          <p:cNvSpPr/>
          <p:nvPr/>
        </p:nvSpPr>
        <p:spPr>
          <a:xfrm>
            <a:off x="10383012" y="3502152"/>
            <a:ext cx="914400" cy="201168"/>
          </a:xfrm>
          <a:prstGeom prst="roundRect">
            <a:avLst>
              <a:gd name="adj" fmla="val 27273"/>
            </a:avLst>
          </a:prstGeom>
          <a:solidFill>
            <a:srgbClr val="C62828"/>
          </a:solidFill>
          <a:ln w="12700">
            <a:solidFill>
              <a:srgbClr val="C62828"/>
            </a:solidFill>
            <a:prstDash val="solid"/>
          </a:ln>
        </p:spPr>
      </p:sp>
      <p:sp>
        <p:nvSpPr>
          <p:cNvPr id="67" name="Text 59"/>
          <p:cNvSpPr txBox="1"/>
          <p:nvPr/>
        </p:nvSpPr>
        <p:spPr>
          <a:xfrm>
            <a:off x="10383012" y="3502152"/>
            <a:ext cx="914400" cy="201168"/>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CLAIMS</a:t>
            </a:r>
            <a:endParaRPr lang="en-US" sz="900" dirty="0"/>
          </a:p>
        </p:txBody>
      </p:sp>
      <p:sp>
        <p:nvSpPr>
          <p:cNvPr id="68" name="Shape 60"/>
          <p:cNvSpPr/>
          <p:nvPr/>
        </p:nvSpPr>
        <p:spPr>
          <a:xfrm>
            <a:off x="457200" y="3931920"/>
            <a:ext cx="5486400" cy="274320"/>
          </a:xfrm>
          <a:prstGeom prst="rect">
            <a:avLst/>
          </a:prstGeom>
          <a:solidFill>
            <a:srgbClr val="2B5B80"/>
          </a:solidFill>
          <a:ln w="12700">
            <a:solidFill>
              <a:srgbClr val="2B5B80"/>
            </a:solidFill>
            <a:prstDash val="solid"/>
          </a:ln>
        </p:spPr>
      </p:sp>
      <p:sp>
        <p:nvSpPr>
          <p:cNvPr id="69" name="Text 61"/>
          <p:cNvSpPr txBox="1"/>
          <p:nvPr/>
        </p:nvSpPr>
        <p:spPr>
          <a:xfrm>
            <a:off x="548640" y="3931920"/>
            <a:ext cx="5303520" cy="274320"/>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Why it hurts more on stainless</a:t>
            </a:r>
            <a:endParaRPr lang="en-US" sz="1100" dirty="0"/>
          </a:p>
        </p:txBody>
      </p:sp>
      <p:sp>
        <p:nvSpPr>
          <p:cNvPr id="70" name="Shape 62"/>
          <p:cNvSpPr/>
          <p:nvPr/>
        </p:nvSpPr>
        <p:spPr>
          <a:xfrm>
            <a:off x="457200" y="4279392"/>
            <a:ext cx="1773936" cy="1600200"/>
          </a:xfrm>
          <a:prstGeom prst="roundRect">
            <a:avLst>
              <a:gd name="adj" fmla="val 3429"/>
            </a:avLst>
          </a:prstGeom>
          <a:solidFill>
            <a:srgbClr val="F1F4F7"/>
          </a:solidFill>
          <a:ln w="12700">
            <a:solidFill>
              <a:srgbClr val="F1F4F7"/>
            </a:solidFill>
            <a:prstDash val="solid"/>
          </a:ln>
        </p:spPr>
      </p:sp>
      <p:pic>
        <p:nvPicPr>
          <p:cNvPr id="71" name="Image 6" descr="img/icons/gauge-accent.png">    </p:cNvPr>
          <p:cNvPicPr>
            <a:picLocks noChangeAspect="1"/>
          </p:cNvPicPr>
          <p:nvPr/>
        </p:nvPicPr>
        <p:blipFill>
          <a:blip r:embed="rId7"/>
          <a:stretch>
            <a:fillRect/>
          </a:stretch>
        </p:blipFill>
        <p:spPr>
          <a:xfrm>
            <a:off x="566928" y="4389120"/>
            <a:ext cx="329184" cy="329184"/>
          </a:xfrm>
          <a:prstGeom prst="rect">
            <a:avLst/>
          </a:prstGeom>
        </p:spPr>
      </p:pic>
      <p:sp>
        <p:nvSpPr>
          <p:cNvPr id="72" name="Text 63"/>
          <p:cNvSpPr txBox="1"/>
          <p:nvPr/>
        </p:nvSpPr>
        <p:spPr>
          <a:xfrm>
            <a:off x="566928" y="4754880"/>
            <a:ext cx="1600200" cy="384048"/>
          </a:xfrm>
          <a:prstGeom prst="rect">
            <a:avLst/>
          </a:prstGeom>
          <a:noFill/>
          <a:ln/>
        </p:spPr>
        <p:txBody>
          <a:bodyPr wrap="square" lIns="0" tIns="0" rIns="0" bIns="0" rtlCol="0" anchor="ctr"/>
          <a:lstStyle/>
          <a:p>
            <a:pPr indent="0" marL="0">
              <a:buNone/>
            </a:pPr>
            <a:r>
              <a:rPr lang="en-US" sz="2000" b="1" dirty="0">
                <a:solidFill>
                  <a:srgbClr val="143A5A"/>
                </a:solidFill>
                <a:latin typeface="Calibri" pitchFamily="34" charset="0"/>
                <a:ea typeface="Calibri" pitchFamily="34" charset="-122"/>
                <a:cs typeface="Calibri" pitchFamily="34" charset="-120"/>
              </a:rPr>
              <a:t>300 m/min</a:t>
            </a:r>
            <a:endParaRPr lang="en-US" sz="2000" dirty="0"/>
          </a:p>
        </p:txBody>
      </p:sp>
      <p:sp>
        <p:nvSpPr>
          <p:cNvPr id="73" name="Text 64"/>
          <p:cNvSpPr txBox="1"/>
          <p:nvPr/>
        </p:nvSpPr>
        <p:spPr>
          <a:xfrm>
            <a:off x="566928" y="5166360"/>
            <a:ext cx="1572768" cy="658368"/>
          </a:xfrm>
          <a:prstGeom prst="rect">
            <a:avLst/>
          </a:prstGeom>
          <a:noFill/>
          <a:ln/>
        </p:spPr>
        <p:txBody>
          <a:bodyPr wrap="square" lIns="0" tIns="0" rIns="0" bIns="0" rtlCol="0" anchor="t"/>
          <a:lstStyle/>
          <a:p>
            <a:pPr indent="0" marL="0">
              <a:buNone/>
            </a:pPr>
            <a:r>
              <a:rPr lang="en-US" sz="950" dirty="0">
                <a:solidFill>
                  <a:srgbClr val="334150"/>
                </a:solidFill>
                <a:latin typeface="Calibri" pitchFamily="34" charset="0"/>
                <a:ea typeface="Calibri" pitchFamily="34" charset="-122"/>
                <a:cs typeface="Calibri" pitchFamily="34" charset="-120"/>
              </a:rPr>
              <a:t>Too fast for the human eye to see the whole surface</a:t>
            </a:r>
            <a:endParaRPr lang="en-US" sz="950" dirty="0"/>
          </a:p>
        </p:txBody>
      </p:sp>
      <p:sp>
        <p:nvSpPr>
          <p:cNvPr id="74" name="Shape 65"/>
          <p:cNvSpPr/>
          <p:nvPr/>
        </p:nvSpPr>
        <p:spPr>
          <a:xfrm>
            <a:off x="2313432" y="4279392"/>
            <a:ext cx="1773936" cy="1600200"/>
          </a:xfrm>
          <a:prstGeom prst="roundRect">
            <a:avLst>
              <a:gd name="adj" fmla="val 3429"/>
            </a:avLst>
          </a:prstGeom>
          <a:solidFill>
            <a:srgbClr val="F1F4F7"/>
          </a:solidFill>
          <a:ln w="12700">
            <a:solidFill>
              <a:srgbClr val="F1F4F7"/>
            </a:solidFill>
            <a:prstDash val="solid"/>
          </a:ln>
        </p:spPr>
      </p:sp>
      <p:pic>
        <p:nvPicPr>
          <p:cNvPr id="75" name="Image 7" descr="img/icons/coins-accent.png">    </p:cNvPr>
          <p:cNvPicPr>
            <a:picLocks noChangeAspect="1"/>
          </p:cNvPicPr>
          <p:nvPr/>
        </p:nvPicPr>
        <p:blipFill>
          <a:blip r:embed="rId8"/>
          <a:stretch>
            <a:fillRect/>
          </a:stretch>
        </p:blipFill>
        <p:spPr>
          <a:xfrm>
            <a:off x="2423160" y="4389120"/>
            <a:ext cx="329184" cy="329184"/>
          </a:xfrm>
          <a:prstGeom prst="rect">
            <a:avLst/>
          </a:prstGeom>
        </p:spPr>
      </p:pic>
      <p:sp>
        <p:nvSpPr>
          <p:cNvPr id="76" name="Text 66"/>
          <p:cNvSpPr txBox="1"/>
          <p:nvPr/>
        </p:nvSpPr>
        <p:spPr>
          <a:xfrm>
            <a:off x="2423160" y="4754880"/>
            <a:ext cx="1600200" cy="384048"/>
          </a:xfrm>
          <a:prstGeom prst="rect">
            <a:avLst/>
          </a:prstGeom>
          <a:noFill/>
          <a:ln/>
        </p:spPr>
        <p:txBody>
          <a:bodyPr wrap="square" lIns="0" tIns="0" rIns="0" bIns="0" rtlCol="0" anchor="ctr"/>
          <a:lstStyle/>
          <a:p>
            <a:pPr indent="0" marL="0">
              <a:buNone/>
            </a:pPr>
            <a:r>
              <a:rPr lang="en-US" sz="1600" b="1" dirty="0">
                <a:solidFill>
                  <a:srgbClr val="143A5A"/>
                </a:solidFill>
                <a:latin typeface="Calibri" pitchFamily="34" charset="0"/>
                <a:ea typeface="Calibri" pitchFamily="34" charset="-122"/>
                <a:cs typeface="Calibri" pitchFamily="34" charset="-120"/>
              </a:rPr>
              <a:t>₹1.26-1.65 lakh</a:t>
            </a:r>
            <a:endParaRPr lang="en-US" sz="1600" dirty="0"/>
          </a:p>
        </p:txBody>
      </p:sp>
      <p:sp>
        <p:nvSpPr>
          <p:cNvPr id="77" name="Text 67"/>
          <p:cNvSpPr txBox="1"/>
          <p:nvPr/>
        </p:nvSpPr>
        <p:spPr>
          <a:xfrm>
            <a:off x="2423160" y="5166360"/>
            <a:ext cx="1572768" cy="658368"/>
          </a:xfrm>
          <a:prstGeom prst="rect">
            <a:avLst/>
          </a:prstGeom>
          <a:noFill/>
          <a:ln/>
        </p:spPr>
        <p:txBody>
          <a:bodyPr wrap="square" lIns="0" tIns="0" rIns="0" bIns="0" rtlCol="0" anchor="t"/>
          <a:lstStyle/>
          <a:p>
            <a:pPr indent="0" marL="0">
              <a:buNone/>
            </a:pPr>
            <a:r>
              <a:rPr lang="en-US" sz="950" dirty="0">
                <a:solidFill>
                  <a:srgbClr val="334150"/>
                </a:solidFill>
                <a:latin typeface="Calibri" pitchFamily="34" charset="0"/>
                <a:ea typeface="Calibri" pitchFamily="34" charset="-122"/>
                <a:cs typeface="Calibri" pitchFamily="34" charset="-120"/>
              </a:rPr>
              <a:t>of nickel in every tonne of 304, given away on a downgrade</a:t>
            </a:r>
            <a:endParaRPr lang="en-US" sz="950" dirty="0"/>
          </a:p>
        </p:txBody>
      </p:sp>
      <p:sp>
        <p:nvSpPr>
          <p:cNvPr id="78" name="Shape 68"/>
          <p:cNvSpPr/>
          <p:nvPr/>
        </p:nvSpPr>
        <p:spPr>
          <a:xfrm>
            <a:off x="4169664" y="4279392"/>
            <a:ext cx="1773936" cy="1600200"/>
          </a:xfrm>
          <a:prstGeom prst="roundRect">
            <a:avLst>
              <a:gd name="adj" fmla="val 3429"/>
            </a:avLst>
          </a:prstGeom>
          <a:solidFill>
            <a:srgbClr val="F1F4F7"/>
          </a:solidFill>
          <a:ln w="12700">
            <a:solidFill>
              <a:srgbClr val="F1F4F7"/>
            </a:solidFill>
            <a:prstDash val="solid"/>
          </a:ln>
        </p:spPr>
      </p:sp>
      <p:pic>
        <p:nvPicPr>
          <p:cNvPr id="79" name="Image 8" descr="img/icons/factory-accent.png">    </p:cNvPr>
          <p:cNvPicPr>
            <a:picLocks noChangeAspect="1"/>
          </p:cNvPicPr>
          <p:nvPr/>
        </p:nvPicPr>
        <p:blipFill>
          <a:blip r:embed="rId9"/>
          <a:stretch>
            <a:fillRect/>
          </a:stretch>
        </p:blipFill>
        <p:spPr>
          <a:xfrm>
            <a:off x="4279392" y="4389120"/>
            <a:ext cx="329184" cy="329184"/>
          </a:xfrm>
          <a:prstGeom prst="rect">
            <a:avLst/>
          </a:prstGeom>
        </p:spPr>
      </p:pic>
      <p:sp>
        <p:nvSpPr>
          <p:cNvPr id="80" name="Text 69"/>
          <p:cNvSpPr txBox="1"/>
          <p:nvPr/>
        </p:nvSpPr>
        <p:spPr>
          <a:xfrm>
            <a:off x="4279392" y="4754880"/>
            <a:ext cx="1600200" cy="384048"/>
          </a:xfrm>
          <a:prstGeom prst="rect">
            <a:avLst/>
          </a:prstGeom>
          <a:noFill/>
          <a:ln/>
        </p:spPr>
        <p:txBody>
          <a:bodyPr wrap="square" lIns="0" tIns="0" rIns="0" bIns="0" rtlCol="0" anchor="ctr"/>
          <a:lstStyle/>
          <a:p>
            <a:pPr indent="0" marL="0">
              <a:buNone/>
            </a:pPr>
            <a:r>
              <a:rPr lang="en-US" sz="2000" b="1" dirty="0">
                <a:solidFill>
                  <a:srgbClr val="143A5A"/>
                </a:solidFill>
                <a:latin typeface="Calibri" pitchFamily="34" charset="0"/>
                <a:ea typeface="Calibri" pitchFamily="34" charset="-122"/>
                <a:cs typeface="Calibri" pitchFamily="34" charset="-120"/>
              </a:rPr>
              <a:t>2.57 Mt</a:t>
            </a:r>
            <a:endParaRPr lang="en-US" sz="2000" dirty="0"/>
          </a:p>
        </p:txBody>
      </p:sp>
      <p:sp>
        <p:nvSpPr>
          <p:cNvPr id="81" name="Text 70"/>
          <p:cNvSpPr txBox="1"/>
          <p:nvPr/>
        </p:nvSpPr>
        <p:spPr>
          <a:xfrm>
            <a:off x="4279392" y="5166360"/>
            <a:ext cx="1572768" cy="658368"/>
          </a:xfrm>
          <a:prstGeom prst="rect">
            <a:avLst/>
          </a:prstGeom>
          <a:noFill/>
          <a:ln/>
        </p:spPr>
        <p:txBody>
          <a:bodyPr wrap="square" lIns="0" tIns="0" rIns="0" bIns="0" rtlCol="0" anchor="t"/>
          <a:lstStyle/>
          <a:p>
            <a:pPr indent="0" marL="0">
              <a:buNone/>
            </a:pPr>
            <a:r>
              <a:rPr lang="en-US" sz="950" dirty="0">
                <a:solidFill>
                  <a:srgbClr val="334150"/>
                </a:solidFill>
                <a:latin typeface="Calibri" pitchFamily="34" charset="0"/>
                <a:ea typeface="Calibri" pitchFamily="34" charset="-122"/>
                <a:cs typeface="Calibri" pitchFamily="34" charset="-120"/>
              </a:rPr>
              <a:t>JSL FY26 sales: each 0.1% downgraded is ~2,570 t</a:t>
            </a:r>
            <a:endParaRPr lang="en-US" sz="950" dirty="0"/>
          </a:p>
        </p:txBody>
      </p:sp>
      <p:sp>
        <p:nvSpPr>
          <p:cNvPr id="82" name="Shape 71"/>
          <p:cNvSpPr/>
          <p:nvPr/>
        </p:nvSpPr>
        <p:spPr>
          <a:xfrm>
            <a:off x="6172200" y="3931920"/>
            <a:ext cx="5559552" cy="274320"/>
          </a:xfrm>
          <a:prstGeom prst="rect">
            <a:avLst/>
          </a:prstGeom>
          <a:solidFill>
            <a:srgbClr val="2B5B80"/>
          </a:solidFill>
          <a:ln w="12700">
            <a:solidFill>
              <a:srgbClr val="2B5B80"/>
            </a:solidFill>
            <a:prstDash val="solid"/>
          </a:ln>
        </p:spPr>
      </p:sp>
      <p:sp>
        <p:nvSpPr>
          <p:cNvPr id="83" name="Text 72"/>
          <p:cNvSpPr txBox="1"/>
          <p:nvPr/>
        </p:nvSpPr>
        <p:spPr>
          <a:xfrm>
            <a:off x="6263640" y="3931920"/>
            <a:ext cx="5376672" cy="274320"/>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Cost of quality (PAF): where AI inspection moves the money</a:t>
            </a:r>
            <a:endParaRPr lang="en-US" sz="1100" dirty="0"/>
          </a:p>
        </p:txBody>
      </p:sp>
      <p:sp>
        <p:nvSpPr>
          <p:cNvPr id="84" name="Text 73"/>
          <p:cNvSpPr/>
          <p:nvPr/>
        </p:nvSpPr>
        <p:spPr>
          <a:xfrm>
            <a:off x="6217920" y="4279392"/>
            <a:ext cx="5468112" cy="310896"/>
          </a:xfrm>
          <a:prstGeom prst="leftArrow">
            <a:avLst/>
          </a:prstGeom>
          <a:solidFill>
            <a:srgbClr val="0086C3"/>
          </a:solidFill>
          <a:ln>
            <a:solidFill>
              <a:srgbClr val="0086C3"/>
            </a:solid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AI shifts spend from failure (right) to appraisal and prevention (left)</a:t>
            </a:r>
            <a:endParaRPr lang="en-US" sz="950" dirty="0"/>
          </a:p>
        </p:txBody>
      </p:sp>
      <p:sp>
        <p:nvSpPr>
          <p:cNvPr id="85" name="Shape 74"/>
          <p:cNvSpPr/>
          <p:nvPr/>
        </p:nvSpPr>
        <p:spPr>
          <a:xfrm>
            <a:off x="6217920" y="4663440"/>
            <a:ext cx="1298448" cy="914400"/>
          </a:xfrm>
          <a:prstGeom prst="roundRect">
            <a:avLst>
              <a:gd name="adj" fmla="val 6000"/>
            </a:avLst>
          </a:prstGeom>
          <a:solidFill>
            <a:srgbClr val="E4EEF6"/>
          </a:solidFill>
          <a:ln w="12700">
            <a:solidFill>
              <a:srgbClr val="E4EEF6"/>
            </a:solidFill>
            <a:prstDash val="solid"/>
          </a:ln>
        </p:spPr>
      </p:sp>
      <p:sp>
        <p:nvSpPr>
          <p:cNvPr id="86" name="Text 75"/>
          <p:cNvSpPr txBox="1"/>
          <p:nvPr/>
        </p:nvSpPr>
        <p:spPr>
          <a:xfrm>
            <a:off x="6291072" y="4709160"/>
            <a:ext cx="1170432" cy="237744"/>
          </a:xfrm>
          <a:prstGeom prst="rect">
            <a:avLst/>
          </a:prstGeom>
          <a:noFill/>
          <a:ln/>
        </p:spPr>
        <p:txBody>
          <a:bodyPr wrap="square" lIns="0" tIns="0" rIns="0" bIns="0" rtlCol="0" anchor="t"/>
          <a:lstStyle/>
          <a:p>
            <a:pPr indent="0" marL="0">
              <a:buNone/>
            </a:pPr>
            <a:r>
              <a:rPr lang="en-US" sz="1000" b="1" dirty="0">
                <a:solidFill>
                  <a:srgbClr val="143A5A"/>
                </a:solidFill>
                <a:latin typeface="Calibri" pitchFamily="34" charset="0"/>
                <a:ea typeface="Calibri" pitchFamily="34" charset="-122"/>
                <a:cs typeface="Calibri" pitchFamily="34" charset="-120"/>
              </a:rPr>
              <a:t>Prevention</a:t>
            </a:r>
            <a:endParaRPr lang="en-US" sz="1000" dirty="0"/>
          </a:p>
        </p:txBody>
      </p:sp>
      <p:sp>
        <p:nvSpPr>
          <p:cNvPr id="87" name="Text 76"/>
          <p:cNvSpPr txBox="1"/>
          <p:nvPr/>
        </p:nvSpPr>
        <p:spPr>
          <a:xfrm>
            <a:off x="6291072" y="4956048"/>
            <a:ext cx="1170432" cy="585216"/>
          </a:xfrm>
          <a:prstGeom prst="rect">
            <a:avLst/>
          </a:prstGeom>
          <a:noFill/>
          <a:ln/>
        </p:spPr>
        <p:txBody>
          <a:bodyPr wrap="square" lIns="0" tIns="0" rIns="0" bIns="0" rtlCol="0" anchor="t"/>
          <a:lstStyle/>
          <a:p>
            <a:pPr indent="0" marL="0">
              <a:buNone/>
            </a:pPr>
            <a:r>
              <a:rPr lang="en-US" sz="950" dirty="0">
                <a:solidFill>
                  <a:srgbClr val="334150"/>
                </a:solidFill>
                <a:latin typeface="Calibri" pitchFamily="34" charset="0"/>
                <a:ea typeface="Calibri" pitchFamily="34" charset="-122"/>
                <a:cs typeface="Calibri" pitchFamily="34" charset="-120"/>
              </a:rPr>
              <a:t>Defect sent to its owner in minutes</a:t>
            </a:r>
            <a:endParaRPr lang="en-US" sz="950" dirty="0"/>
          </a:p>
        </p:txBody>
      </p:sp>
      <p:sp>
        <p:nvSpPr>
          <p:cNvPr id="88" name="Shape 77"/>
          <p:cNvSpPr/>
          <p:nvPr/>
        </p:nvSpPr>
        <p:spPr>
          <a:xfrm>
            <a:off x="7589520" y="4663440"/>
            <a:ext cx="1298448" cy="914400"/>
          </a:xfrm>
          <a:prstGeom prst="roundRect">
            <a:avLst>
              <a:gd name="adj" fmla="val 6000"/>
            </a:avLst>
          </a:prstGeom>
          <a:solidFill>
            <a:srgbClr val="E4EEF6"/>
          </a:solidFill>
          <a:ln w="12700">
            <a:solidFill>
              <a:srgbClr val="E4EEF6"/>
            </a:solidFill>
            <a:prstDash val="solid"/>
          </a:ln>
        </p:spPr>
      </p:sp>
      <p:sp>
        <p:nvSpPr>
          <p:cNvPr id="89" name="Text 78"/>
          <p:cNvSpPr txBox="1"/>
          <p:nvPr/>
        </p:nvSpPr>
        <p:spPr>
          <a:xfrm>
            <a:off x="7662672" y="4709160"/>
            <a:ext cx="1170432" cy="237744"/>
          </a:xfrm>
          <a:prstGeom prst="rect">
            <a:avLst/>
          </a:prstGeom>
          <a:noFill/>
          <a:ln/>
        </p:spPr>
        <p:txBody>
          <a:bodyPr wrap="square" lIns="0" tIns="0" rIns="0" bIns="0" rtlCol="0" anchor="t"/>
          <a:lstStyle/>
          <a:p>
            <a:pPr indent="0" marL="0">
              <a:buNone/>
            </a:pPr>
            <a:r>
              <a:rPr lang="en-US" sz="1000" b="1" dirty="0">
                <a:solidFill>
                  <a:srgbClr val="143A5A"/>
                </a:solidFill>
                <a:latin typeface="Calibri" pitchFamily="34" charset="0"/>
                <a:ea typeface="Calibri" pitchFamily="34" charset="-122"/>
                <a:cs typeface="Calibri" pitchFamily="34" charset="-120"/>
              </a:rPr>
              <a:t>Appraisal</a:t>
            </a:r>
            <a:endParaRPr lang="en-US" sz="1000" dirty="0"/>
          </a:p>
        </p:txBody>
      </p:sp>
      <p:sp>
        <p:nvSpPr>
          <p:cNvPr id="90" name="Text 79"/>
          <p:cNvSpPr txBox="1"/>
          <p:nvPr/>
        </p:nvSpPr>
        <p:spPr>
          <a:xfrm>
            <a:off x="7662672" y="4956048"/>
            <a:ext cx="1170432" cy="585216"/>
          </a:xfrm>
          <a:prstGeom prst="rect">
            <a:avLst/>
          </a:prstGeom>
          <a:noFill/>
          <a:ln/>
        </p:spPr>
        <p:txBody>
          <a:bodyPr wrap="square" lIns="0" tIns="0" rIns="0" bIns="0" rtlCol="0" anchor="t"/>
          <a:lstStyle/>
          <a:p>
            <a:pPr indent="0" marL="0">
              <a:buNone/>
            </a:pPr>
            <a:r>
              <a:rPr lang="en-US" sz="950" dirty="0">
                <a:solidFill>
                  <a:srgbClr val="334150"/>
                </a:solidFill>
                <a:latin typeface="Calibri" pitchFamily="34" charset="0"/>
                <a:ea typeface="Calibri" pitchFamily="34" charset="-122"/>
                <a:cs typeface="Calibri" pitchFamily="34" charset="-120"/>
              </a:rPr>
              <a:t>100% of the surface, one rule for every coil</a:t>
            </a:r>
            <a:endParaRPr lang="en-US" sz="950" dirty="0"/>
          </a:p>
        </p:txBody>
      </p:sp>
      <p:sp>
        <p:nvSpPr>
          <p:cNvPr id="91" name="Shape 80"/>
          <p:cNvSpPr/>
          <p:nvPr/>
        </p:nvSpPr>
        <p:spPr>
          <a:xfrm>
            <a:off x="8961120" y="4663440"/>
            <a:ext cx="1298448" cy="914400"/>
          </a:xfrm>
          <a:prstGeom prst="roundRect">
            <a:avLst>
              <a:gd name="adj" fmla="val 6000"/>
            </a:avLst>
          </a:prstGeom>
          <a:solidFill>
            <a:srgbClr val="F1F4F7"/>
          </a:solidFill>
          <a:ln w="12700">
            <a:solidFill>
              <a:srgbClr val="F1F4F7"/>
            </a:solidFill>
            <a:prstDash val="solid"/>
          </a:ln>
        </p:spPr>
      </p:sp>
      <p:sp>
        <p:nvSpPr>
          <p:cNvPr id="92" name="Text 81"/>
          <p:cNvSpPr txBox="1"/>
          <p:nvPr/>
        </p:nvSpPr>
        <p:spPr>
          <a:xfrm>
            <a:off x="9034272" y="4709160"/>
            <a:ext cx="1170432" cy="237744"/>
          </a:xfrm>
          <a:prstGeom prst="rect">
            <a:avLst/>
          </a:prstGeom>
          <a:noFill/>
          <a:ln/>
        </p:spPr>
        <p:txBody>
          <a:bodyPr wrap="square" lIns="0" tIns="0" rIns="0" bIns="0" rtlCol="0" anchor="t"/>
          <a:lstStyle/>
          <a:p>
            <a:pPr indent="0" marL="0">
              <a:buNone/>
            </a:pPr>
            <a:r>
              <a:rPr lang="en-US" sz="1000" b="1" dirty="0">
                <a:solidFill>
                  <a:srgbClr val="143A5A"/>
                </a:solidFill>
                <a:latin typeface="Calibri" pitchFamily="34" charset="0"/>
                <a:ea typeface="Calibri" pitchFamily="34" charset="-122"/>
                <a:cs typeface="Calibri" pitchFamily="34" charset="-120"/>
              </a:rPr>
              <a:t>Internal failure</a:t>
            </a:r>
            <a:endParaRPr lang="en-US" sz="1000" dirty="0"/>
          </a:p>
        </p:txBody>
      </p:sp>
      <p:sp>
        <p:nvSpPr>
          <p:cNvPr id="93" name="Text 82"/>
          <p:cNvSpPr txBox="1"/>
          <p:nvPr/>
        </p:nvSpPr>
        <p:spPr>
          <a:xfrm>
            <a:off x="9034272" y="4956048"/>
            <a:ext cx="1170432" cy="585216"/>
          </a:xfrm>
          <a:prstGeom prst="rect">
            <a:avLst/>
          </a:prstGeom>
          <a:noFill/>
          <a:ln/>
        </p:spPr>
        <p:txBody>
          <a:bodyPr wrap="square" lIns="0" tIns="0" rIns="0" bIns="0" rtlCol="0" anchor="t"/>
          <a:lstStyle/>
          <a:p>
            <a:pPr indent="0" marL="0">
              <a:buNone/>
            </a:pPr>
            <a:r>
              <a:rPr lang="en-US" sz="950" dirty="0">
                <a:solidFill>
                  <a:srgbClr val="334150"/>
                </a:solidFill>
                <a:latin typeface="Calibri" pitchFamily="34" charset="0"/>
                <a:ea typeface="Calibri" pitchFamily="34" charset="-122"/>
                <a:cs typeface="Calibri" pitchFamily="34" charset="-120"/>
              </a:rPr>
              <a:t>Caught before more value is added</a:t>
            </a:r>
            <a:endParaRPr lang="en-US" sz="950" dirty="0"/>
          </a:p>
        </p:txBody>
      </p:sp>
      <p:sp>
        <p:nvSpPr>
          <p:cNvPr id="94" name="Shape 83"/>
          <p:cNvSpPr/>
          <p:nvPr/>
        </p:nvSpPr>
        <p:spPr>
          <a:xfrm>
            <a:off x="10332720" y="4663440"/>
            <a:ext cx="1298448" cy="914400"/>
          </a:xfrm>
          <a:prstGeom prst="roundRect">
            <a:avLst>
              <a:gd name="adj" fmla="val 6000"/>
            </a:avLst>
          </a:prstGeom>
          <a:solidFill>
            <a:srgbClr val="F1F4F7"/>
          </a:solidFill>
          <a:ln w="12700">
            <a:solidFill>
              <a:srgbClr val="F1F4F7"/>
            </a:solidFill>
            <a:prstDash val="solid"/>
          </a:ln>
        </p:spPr>
      </p:sp>
      <p:sp>
        <p:nvSpPr>
          <p:cNvPr id="95" name="Text 84"/>
          <p:cNvSpPr txBox="1"/>
          <p:nvPr/>
        </p:nvSpPr>
        <p:spPr>
          <a:xfrm>
            <a:off x="10405872" y="4709160"/>
            <a:ext cx="1170432" cy="237744"/>
          </a:xfrm>
          <a:prstGeom prst="rect">
            <a:avLst/>
          </a:prstGeom>
          <a:noFill/>
          <a:ln/>
        </p:spPr>
        <p:txBody>
          <a:bodyPr wrap="square" lIns="0" tIns="0" rIns="0" bIns="0" rtlCol="0" anchor="t"/>
          <a:lstStyle/>
          <a:p>
            <a:pPr indent="0" marL="0">
              <a:buNone/>
            </a:pPr>
            <a:r>
              <a:rPr lang="en-US" sz="1000" b="1" dirty="0">
                <a:solidFill>
                  <a:srgbClr val="143A5A"/>
                </a:solidFill>
                <a:latin typeface="Calibri" pitchFamily="34" charset="0"/>
                <a:ea typeface="Calibri" pitchFamily="34" charset="-122"/>
                <a:cs typeface="Calibri" pitchFamily="34" charset="-120"/>
              </a:rPr>
              <a:t>External failure</a:t>
            </a:r>
            <a:endParaRPr lang="en-US" sz="1000" dirty="0"/>
          </a:p>
        </p:txBody>
      </p:sp>
      <p:sp>
        <p:nvSpPr>
          <p:cNvPr id="96" name="Text 85"/>
          <p:cNvSpPr txBox="1"/>
          <p:nvPr/>
        </p:nvSpPr>
        <p:spPr>
          <a:xfrm>
            <a:off x="10405872" y="4956048"/>
            <a:ext cx="1170432" cy="585216"/>
          </a:xfrm>
          <a:prstGeom prst="rect">
            <a:avLst/>
          </a:prstGeom>
          <a:noFill/>
          <a:ln/>
        </p:spPr>
        <p:txBody>
          <a:bodyPr wrap="square" lIns="0" tIns="0" rIns="0" bIns="0" rtlCol="0" anchor="t"/>
          <a:lstStyle/>
          <a:p>
            <a:pPr indent="0" marL="0">
              <a:buNone/>
            </a:pPr>
            <a:r>
              <a:rPr lang="en-US" sz="950" dirty="0">
                <a:solidFill>
                  <a:srgbClr val="334150"/>
                </a:solidFill>
                <a:latin typeface="Calibri" pitchFamily="34" charset="0"/>
                <a:ea typeface="Calibri" pitchFamily="34" charset="-122"/>
                <a:cs typeface="Calibri" pitchFamily="34" charset="-120"/>
              </a:rPr>
              <a:t>Fewer escapes to exposed-finish customers</a:t>
            </a:r>
            <a:endParaRPr lang="en-US" sz="950" dirty="0"/>
          </a:p>
        </p:txBody>
      </p:sp>
      <p:sp>
        <p:nvSpPr>
          <p:cNvPr id="97" name="Text 86"/>
          <p:cNvSpPr txBox="1"/>
          <p:nvPr/>
        </p:nvSpPr>
        <p:spPr>
          <a:xfrm>
            <a:off x="6217920" y="5623560"/>
            <a:ext cx="5468112" cy="237744"/>
          </a:xfrm>
          <a:prstGeom prst="rect">
            <a:avLst/>
          </a:prstGeom>
          <a:noFill/>
          <a:ln/>
        </p:spPr>
        <p:txBody>
          <a:bodyPr wrap="square" lIns="0" tIns="0" rIns="0" bIns="0" rtlCol="0" anchor="t"/>
          <a:lstStyle/>
          <a:p>
            <a:pPr indent="0" marL="0">
              <a:buNone/>
            </a:pPr>
            <a:r>
              <a:rPr lang="en-US" sz="950" i="1" dirty="0">
                <a:solidFill>
                  <a:srgbClr val="334150"/>
                </a:solidFill>
                <a:latin typeface="Calibri" pitchFamily="34" charset="0"/>
                <a:ea typeface="Calibri" pitchFamily="34" charset="-122"/>
                <a:cs typeface="Calibri" pitchFamily="34" charset="-120"/>
              </a:rPr>
              <a:t>Cost of poor quality averages ~15% of sales in manufacturing (range 5-35%, IISE).</a:t>
            </a:r>
            <a:endParaRPr lang="en-US" sz="9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201168"/>
            <a:ext cx="1481328" cy="274320"/>
          </a:xfrm>
          <a:prstGeom prst="rect">
            <a:avLst/>
          </a:prstGeom>
          <a:solidFill>
            <a:srgbClr val="F1F4F7"/>
          </a:solidFill>
          <a:ln w="12700">
            <a:solidFill>
              <a:srgbClr val="F1F4F7"/>
            </a:solidFill>
            <a:prstDash val="solid"/>
          </a:ln>
        </p:spPr>
      </p:sp>
      <p:sp>
        <p:nvSpPr>
          <p:cNvPr id="3" name="Text 1"/>
          <p:cNvSpPr txBox="1"/>
          <p:nvPr/>
        </p:nvSpPr>
        <p:spPr>
          <a:xfrm>
            <a:off x="457200" y="201168"/>
            <a:ext cx="1481328" cy="274320"/>
          </a:xfrm>
          <a:prstGeom prst="rect">
            <a:avLst/>
          </a:prstGeom>
          <a:noFill/>
          <a:ln/>
        </p:spPr>
        <p:txBody>
          <a:bodyPr wrap="square" lIns="0" tIns="0" rIns="0" bIns="0" rtlCol="0" anchor="ctr"/>
          <a:lstStyle/>
          <a:p>
            <a:pPr algn="ctr" indent="0" marL="0">
              <a:buNone/>
            </a:pPr>
            <a:r>
              <a:rPr lang="en-US" sz="1000" dirty="0">
                <a:solidFill>
                  <a:srgbClr val="5F6B78"/>
                </a:solidFill>
                <a:latin typeface="Calibri" pitchFamily="34" charset="0"/>
                <a:ea typeface="Calibri" pitchFamily="34" charset="-122"/>
                <a:cs typeface="Calibri" pitchFamily="34" charset="-120"/>
              </a:rPr>
              <a:t>1  Problem</a:t>
            </a:r>
            <a:endParaRPr lang="en-US" sz="1000" dirty="0"/>
          </a:p>
        </p:txBody>
      </p:sp>
      <p:sp>
        <p:nvSpPr>
          <p:cNvPr id="4" name="Shape 2"/>
          <p:cNvSpPr/>
          <p:nvPr/>
        </p:nvSpPr>
        <p:spPr>
          <a:xfrm>
            <a:off x="1993392" y="201168"/>
            <a:ext cx="1481328" cy="274320"/>
          </a:xfrm>
          <a:prstGeom prst="rect">
            <a:avLst/>
          </a:prstGeom>
          <a:solidFill>
            <a:srgbClr val="143A5A"/>
          </a:solidFill>
          <a:ln w="12700">
            <a:solidFill>
              <a:srgbClr val="143A5A"/>
            </a:solidFill>
            <a:prstDash val="solid"/>
          </a:ln>
        </p:spPr>
      </p:sp>
      <p:sp>
        <p:nvSpPr>
          <p:cNvPr id="5" name="Text 3"/>
          <p:cNvSpPr txBox="1"/>
          <p:nvPr/>
        </p:nvSpPr>
        <p:spPr>
          <a:xfrm>
            <a:off x="1993392" y="201168"/>
            <a:ext cx="1481328"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2  Insights</a:t>
            </a:r>
            <a:endParaRPr lang="en-US" sz="1000" dirty="0"/>
          </a:p>
        </p:txBody>
      </p:sp>
      <p:sp>
        <p:nvSpPr>
          <p:cNvPr id="6" name="Shape 4"/>
          <p:cNvSpPr/>
          <p:nvPr/>
        </p:nvSpPr>
        <p:spPr>
          <a:xfrm>
            <a:off x="3529584" y="201168"/>
            <a:ext cx="1481328" cy="274320"/>
          </a:xfrm>
          <a:prstGeom prst="rect">
            <a:avLst/>
          </a:prstGeom>
          <a:solidFill>
            <a:srgbClr val="F1F4F7"/>
          </a:solidFill>
          <a:ln w="12700">
            <a:solidFill>
              <a:srgbClr val="F1F4F7"/>
            </a:solidFill>
            <a:prstDash val="solid"/>
          </a:ln>
        </p:spPr>
      </p:sp>
      <p:sp>
        <p:nvSpPr>
          <p:cNvPr id="7" name="Text 5"/>
          <p:cNvSpPr txBox="1"/>
          <p:nvPr/>
        </p:nvSpPr>
        <p:spPr>
          <a:xfrm>
            <a:off x="3529584" y="201168"/>
            <a:ext cx="1481328" cy="274320"/>
          </a:xfrm>
          <a:prstGeom prst="rect">
            <a:avLst/>
          </a:prstGeom>
          <a:noFill/>
          <a:ln/>
        </p:spPr>
        <p:txBody>
          <a:bodyPr wrap="square" lIns="0" tIns="0" rIns="0" bIns="0" rtlCol="0" anchor="ctr"/>
          <a:lstStyle/>
          <a:p>
            <a:pPr algn="ctr" indent="0" marL="0">
              <a:buNone/>
            </a:pPr>
            <a:r>
              <a:rPr lang="en-US" sz="1000" dirty="0">
                <a:solidFill>
                  <a:srgbClr val="5F6B78"/>
                </a:solidFill>
                <a:latin typeface="Calibri" pitchFamily="34" charset="0"/>
                <a:ea typeface="Calibri" pitchFamily="34" charset="-122"/>
                <a:cs typeface="Calibri" pitchFamily="34" charset="-120"/>
              </a:rPr>
              <a:t>3  Solution</a:t>
            </a:r>
            <a:endParaRPr lang="en-US" sz="1000" dirty="0"/>
          </a:p>
        </p:txBody>
      </p:sp>
      <p:sp>
        <p:nvSpPr>
          <p:cNvPr id="8" name="Shape 6"/>
          <p:cNvSpPr/>
          <p:nvPr/>
        </p:nvSpPr>
        <p:spPr>
          <a:xfrm>
            <a:off x="5065776" y="201168"/>
            <a:ext cx="1481328" cy="274320"/>
          </a:xfrm>
          <a:prstGeom prst="rect">
            <a:avLst/>
          </a:prstGeom>
          <a:solidFill>
            <a:srgbClr val="F1F4F7"/>
          </a:solidFill>
          <a:ln w="12700">
            <a:solidFill>
              <a:srgbClr val="F1F4F7"/>
            </a:solidFill>
            <a:prstDash val="solid"/>
          </a:ln>
        </p:spPr>
      </p:sp>
      <p:sp>
        <p:nvSpPr>
          <p:cNvPr id="9" name="Text 7"/>
          <p:cNvSpPr txBox="1"/>
          <p:nvPr/>
        </p:nvSpPr>
        <p:spPr>
          <a:xfrm>
            <a:off x="5065776" y="201168"/>
            <a:ext cx="1481328" cy="274320"/>
          </a:xfrm>
          <a:prstGeom prst="rect">
            <a:avLst/>
          </a:prstGeom>
          <a:noFill/>
          <a:ln/>
        </p:spPr>
        <p:txBody>
          <a:bodyPr wrap="square" lIns="0" tIns="0" rIns="0" bIns="0" rtlCol="0" anchor="ctr"/>
          <a:lstStyle/>
          <a:p>
            <a:pPr algn="ctr" indent="0" marL="0">
              <a:buNone/>
            </a:pPr>
            <a:r>
              <a:rPr lang="en-US" sz="1000" dirty="0">
                <a:solidFill>
                  <a:srgbClr val="5F6B78"/>
                </a:solidFill>
                <a:latin typeface="Calibri" pitchFamily="34" charset="0"/>
                <a:ea typeface="Calibri" pitchFamily="34" charset="-122"/>
                <a:cs typeface="Calibri" pitchFamily="34" charset="-120"/>
              </a:rPr>
              <a:t>4  Implementation</a:t>
            </a:r>
            <a:endParaRPr lang="en-US" sz="1000" dirty="0"/>
          </a:p>
        </p:txBody>
      </p:sp>
      <p:sp>
        <p:nvSpPr>
          <p:cNvPr id="10" name="Shape 8"/>
          <p:cNvSpPr/>
          <p:nvPr/>
        </p:nvSpPr>
        <p:spPr>
          <a:xfrm>
            <a:off x="6601968" y="201168"/>
            <a:ext cx="1481328" cy="274320"/>
          </a:xfrm>
          <a:prstGeom prst="rect">
            <a:avLst/>
          </a:prstGeom>
          <a:solidFill>
            <a:srgbClr val="F1F4F7"/>
          </a:solidFill>
          <a:ln w="12700">
            <a:solidFill>
              <a:srgbClr val="F1F4F7"/>
            </a:solidFill>
            <a:prstDash val="solid"/>
          </a:ln>
        </p:spPr>
      </p:sp>
      <p:sp>
        <p:nvSpPr>
          <p:cNvPr id="11" name="Text 9"/>
          <p:cNvSpPr txBox="1"/>
          <p:nvPr/>
        </p:nvSpPr>
        <p:spPr>
          <a:xfrm>
            <a:off x="6601968" y="201168"/>
            <a:ext cx="1481328" cy="274320"/>
          </a:xfrm>
          <a:prstGeom prst="rect">
            <a:avLst/>
          </a:prstGeom>
          <a:noFill/>
          <a:ln/>
        </p:spPr>
        <p:txBody>
          <a:bodyPr wrap="square" lIns="0" tIns="0" rIns="0" bIns="0" rtlCol="0" anchor="ctr"/>
          <a:lstStyle/>
          <a:p>
            <a:pPr algn="ctr" indent="0" marL="0">
              <a:buNone/>
            </a:pPr>
            <a:r>
              <a:rPr lang="en-US" sz="1000" dirty="0">
                <a:solidFill>
                  <a:srgbClr val="5F6B78"/>
                </a:solidFill>
                <a:latin typeface="Calibri" pitchFamily="34" charset="0"/>
                <a:ea typeface="Calibri" pitchFamily="34" charset="-122"/>
                <a:cs typeface="Calibri" pitchFamily="34" charset="-120"/>
              </a:rPr>
              <a:t>5  Impact</a:t>
            </a:r>
            <a:endParaRPr lang="en-US" sz="1000" dirty="0"/>
          </a:p>
        </p:txBody>
      </p:sp>
      <p:sp>
        <p:nvSpPr>
          <p:cNvPr id="12" name="Text 10"/>
          <p:cNvSpPr txBox="1"/>
          <p:nvPr/>
        </p:nvSpPr>
        <p:spPr>
          <a:xfrm>
            <a:off x="8229600" y="201168"/>
            <a:ext cx="3502152" cy="274320"/>
          </a:xfrm>
          <a:prstGeom prst="rect">
            <a:avLst/>
          </a:prstGeom>
          <a:noFill/>
          <a:ln/>
        </p:spPr>
        <p:txBody>
          <a:bodyPr wrap="square" lIns="0" tIns="0" rIns="0" bIns="0" rtlCol="0" anchor="ctr"/>
          <a:lstStyle/>
          <a:p>
            <a:pPr algn="r" indent="0" marL="0">
              <a:buNone/>
            </a:pPr>
            <a:r>
              <a:rPr lang="en-US" sz="900" dirty="0">
                <a:solidFill>
                  <a:srgbClr val="5F6B78"/>
                </a:solidFill>
                <a:latin typeface="Calibri" pitchFamily="34" charset="0"/>
                <a:ea typeface="Calibri" pitchFamily="34" charset="-122"/>
                <a:cs typeface="Calibri" pitchFamily="34" charset="-120"/>
              </a:rPr>
              <a:t>STAINLESS SPARK ROUND 2  |  PS1  |  IIT Bombay</a:t>
            </a:r>
            <a:endParaRPr lang="en-US" sz="900" dirty="0"/>
          </a:p>
        </p:txBody>
      </p:sp>
      <p:sp>
        <p:nvSpPr>
          <p:cNvPr id="13" name="Text 11"/>
          <p:cNvSpPr txBox="1"/>
          <p:nvPr/>
        </p:nvSpPr>
        <p:spPr>
          <a:xfrm>
            <a:off x="457200" y="566928"/>
            <a:ext cx="11274552" cy="566928"/>
          </a:xfrm>
          <a:prstGeom prst="rect">
            <a:avLst/>
          </a:prstGeom>
          <a:noFill/>
          <a:ln/>
        </p:spPr>
        <p:txBody>
          <a:bodyPr wrap="square" lIns="0" tIns="0" rIns="0" bIns="0" rtlCol="0" anchor="ctr"/>
          <a:lstStyle/>
          <a:p>
            <a:pPr indent="0" marL="0">
              <a:buNone/>
            </a:pPr>
            <a:r>
              <a:rPr lang="en-US" sz="2000" b="1" dirty="0">
                <a:solidFill>
                  <a:srgbClr val="143A5A"/>
                </a:solidFill>
                <a:latin typeface="Calibri" pitchFamily="34" charset="0"/>
                <a:ea typeface="Calibri" pitchFamily="34" charset="-122"/>
                <a:cs typeface="Calibri" pitchFamily="34" charset="-120"/>
              </a:rPr>
              <a:t>On stainless the surface is the product, so every defect type must reach the process that caused it</a:t>
            </a:r>
            <a:endParaRPr lang="en-US" sz="2000" dirty="0"/>
          </a:p>
        </p:txBody>
      </p:sp>
      <p:sp>
        <p:nvSpPr>
          <p:cNvPr id="14" name="Shape 12"/>
          <p:cNvSpPr/>
          <p:nvPr/>
        </p:nvSpPr>
        <p:spPr>
          <a:xfrm>
            <a:off x="457200" y="6236208"/>
            <a:ext cx="11274552" cy="420624"/>
          </a:xfrm>
          <a:prstGeom prst="rect">
            <a:avLst/>
          </a:prstGeom>
          <a:solidFill>
            <a:srgbClr val="143A5A"/>
          </a:solidFill>
          <a:ln w="12700">
            <a:solidFill>
              <a:srgbClr val="143A5A"/>
            </a:solidFill>
            <a:prstDash val="solid"/>
          </a:ln>
        </p:spPr>
      </p:sp>
      <p:sp>
        <p:nvSpPr>
          <p:cNvPr id="15" name="Text 13"/>
          <p:cNvSpPr txBox="1"/>
          <p:nvPr/>
        </p:nvSpPr>
        <p:spPr>
          <a:xfrm>
            <a:off x="621792" y="6236208"/>
            <a:ext cx="10972800" cy="420624"/>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Classify, don't just alarm: a typed defect becomes a work order for a named owner. The pilot belongs on 300-series cold-rolled strip.</a:t>
            </a:r>
            <a:endParaRPr lang="en-US" sz="1200" dirty="0"/>
          </a:p>
        </p:txBody>
      </p:sp>
      <p:sp>
        <p:nvSpPr>
          <p:cNvPr id="16" name="Text 14"/>
          <p:cNvSpPr txBox="1"/>
          <p:nvPr/>
        </p:nvSpPr>
        <p:spPr>
          <a:xfrm>
            <a:off x="457200" y="5971032"/>
            <a:ext cx="11274552" cy="237744"/>
          </a:xfrm>
          <a:prstGeom prst="rect">
            <a:avLst/>
          </a:prstGeom>
          <a:noFill/>
          <a:ln/>
        </p:spPr>
        <p:txBody>
          <a:bodyPr wrap="square" lIns="0" tIns="0" rIns="0" bIns="0" rtlCol="0" anchor="ctr"/>
          <a:lstStyle/>
          <a:p>
            <a:pPr indent="0" marL="0">
              <a:buNone/>
            </a:pPr>
            <a:r>
              <a:rPr lang="en-US" sz="900" dirty="0">
                <a:solidFill>
                  <a:srgbClr val="5F6B78"/>
                </a:solidFill>
                <a:latin typeface="Calibri" pitchFamily="34" charset="0"/>
                <a:ea typeface="Calibri" pitchFamily="34" charset="-122"/>
                <a:cs typeface="Calibri" pitchFamily="34" charset="-120"/>
              </a:rPr>
              <a:t>Images: held-out test frames, boxes drawn by our model. Sources: ASSDA; JSL Q1 FY27 results; Leão et al. 2021; Steel in Translation 2023. Owners and grade risks: team hypotheses, to validate with JSL.</a:t>
            </a:r>
            <a:endParaRPr lang="en-US" sz="900" dirty="0"/>
          </a:p>
        </p:txBody>
      </p:sp>
      <p:sp>
        <p:nvSpPr>
          <p:cNvPr id="17" name="Shape 15"/>
          <p:cNvSpPr/>
          <p:nvPr/>
        </p:nvSpPr>
        <p:spPr>
          <a:xfrm>
            <a:off x="457200" y="1234440"/>
            <a:ext cx="11274552" cy="274320"/>
          </a:xfrm>
          <a:prstGeom prst="rect">
            <a:avLst/>
          </a:prstGeom>
          <a:solidFill>
            <a:srgbClr val="2B5B80"/>
          </a:solidFill>
          <a:ln w="12700">
            <a:solidFill>
              <a:srgbClr val="2B5B80"/>
            </a:solidFill>
            <a:prstDash val="solid"/>
          </a:ln>
        </p:spPr>
      </p:sp>
      <p:sp>
        <p:nvSpPr>
          <p:cNvPr id="18" name="Text 16"/>
          <p:cNvSpPr txBox="1"/>
          <p:nvPr/>
        </p:nvSpPr>
        <p:spPr>
          <a:xfrm>
            <a:off x="548640" y="1234440"/>
            <a:ext cx="11091672" cy="274320"/>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Six defect families, six different owners (real detections by our model)</a:t>
            </a:r>
            <a:endParaRPr lang="en-US" sz="1100" dirty="0"/>
          </a:p>
        </p:txBody>
      </p:sp>
      <p:sp>
        <p:nvSpPr>
          <p:cNvPr id="19" name="Shape 17"/>
          <p:cNvSpPr/>
          <p:nvPr/>
        </p:nvSpPr>
        <p:spPr>
          <a:xfrm>
            <a:off x="457200" y="1572768"/>
            <a:ext cx="1783080" cy="2651760"/>
          </a:xfrm>
          <a:prstGeom prst="roundRect">
            <a:avLst>
              <a:gd name="adj" fmla="val 3077"/>
            </a:avLst>
          </a:prstGeom>
          <a:solidFill>
            <a:srgbClr val="F1F4F7"/>
          </a:solidFill>
          <a:ln w="12700">
            <a:solidFill>
              <a:srgbClr val="F1F4F7"/>
            </a:solidFill>
            <a:prstDash val="solid"/>
          </a:ln>
        </p:spPr>
      </p:sp>
      <p:pic>
        <p:nvPicPr>
          <p:cNvPr id="20" name="Image 0" descr="img/det_inclusion.png">    </p:cNvPr>
          <p:cNvPicPr>
            <a:picLocks noChangeAspect="1"/>
          </p:cNvPicPr>
          <p:nvPr/>
        </p:nvPicPr>
        <p:blipFill>
          <a:blip r:embed="rId1"/>
          <a:stretch>
            <a:fillRect/>
          </a:stretch>
        </p:blipFill>
        <p:spPr>
          <a:xfrm>
            <a:off x="548640" y="1645920"/>
            <a:ext cx="1600200" cy="1600200"/>
          </a:xfrm>
          <a:prstGeom prst="rect">
            <a:avLst/>
          </a:prstGeom>
        </p:spPr>
      </p:pic>
      <p:sp>
        <p:nvSpPr>
          <p:cNvPr id="21" name="Text 18"/>
          <p:cNvSpPr txBox="1"/>
          <p:nvPr/>
        </p:nvSpPr>
        <p:spPr>
          <a:xfrm>
            <a:off x="548640" y="3310128"/>
            <a:ext cx="1600200" cy="201168"/>
          </a:xfrm>
          <a:prstGeom prst="rect">
            <a:avLst/>
          </a:prstGeom>
          <a:noFill/>
          <a:ln/>
        </p:spPr>
        <p:txBody>
          <a:bodyPr wrap="square" lIns="0" tIns="0" rIns="0" bIns="0" rtlCol="0" anchor="t"/>
          <a:lstStyle/>
          <a:p>
            <a:pPr indent="0" marL="0">
              <a:buNone/>
            </a:pPr>
            <a:r>
              <a:rPr lang="en-US" sz="950" dirty="0">
                <a:solidFill>
                  <a:srgbClr val="5F6B78"/>
                </a:solidFill>
                <a:latin typeface="Calibri" pitchFamily="34" charset="0"/>
                <a:ea typeface="Calibri" pitchFamily="34" charset="-122"/>
                <a:cs typeface="Calibri" pitchFamily="34" charset="-120"/>
              </a:rPr>
              <a:t>Born: </a:t>
            </a:r>
            <a:pPr indent="0" marL="0">
              <a:buNone/>
            </a:pPr>
            <a:r>
              <a:rPr lang="en-US" sz="950" b="1" dirty="0">
                <a:solidFill>
                  <a:srgbClr val="143A5A"/>
                </a:solidFill>
                <a:latin typeface="Calibri" pitchFamily="34" charset="0"/>
                <a:ea typeface="Calibri" pitchFamily="34" charset="-122"/>
                <a:cs typeface="Calibri" pitchFamily="34" charset="-120"/>
              </a:rPr>
              <a:t>Caster</a:t>
            </a:r>
            <a:endParaRPr lang="en-US" sz="950" dirty="0"/>
          </a:p>
        </p:txBody>
      </p:sp>
      <p:sp>
        <p:nvSpPr>
          <p:cNvPr id="22" name="Text 19"/>
          <p:cNvSpPr txBox="1"/>
          <p:nvPr/>
        </p:nvSpPr>
        <p:spPr>
          <a:xfrm>
            <a:off x="548640" y="3520440"/>
            <a:ext cx="1600200" cy="201168"/>
          </a:xfrm>
          <a:prstGeom prst="rect">
            <a:avLst/>
          </a:prstGeom>
          <a:noFill/>
          <a:ln/>
        </p:spPr>
        <p:txBody>
          <a:bodyPr wrap="square" lIns="0" tIns="0" rIns="0" bIns="0" rtlCol="0" anchor="t"/>
          <a:lstStyle/>
          <a:p>
            <a:pPr indent="0" marL="0">
              <a:buNone/>
            </a:pPr>
            <a:r>
              <a:rPr lang="en-US" sz="950" dirty="0">
                <a:solidFill>
                  <a:srgbClr val="5F6B78"/>
                </a:solidFill>
                <a:latin typeface="Calibri" pitchFamily="34" charset="0"/>
                <a:ea typeface="Calibri" pitchFamily="34" charset="-122"/>
                <a:cs typeface="Calibri" pitchFamily="34" charset="-120"/>
              </a:rPr>
              <a:t>Owner: </a:t>
            </a:r>
            <a:pPr indent="0" marL="0">
              <a:buNone/>
            </a:pPr>
            <a:r>
              <a:rPr lang="en-US" sz="950" b="1" dirty="0">
                <a:solidFill>
                  <a:srgbClr val="0086C3"/>
                </a:solidFill>
                <a:latin typeface="Calibri" pitchFamily="34" charset="0"/>
                <a:ea typeface="Calibri" pitchFamily="34" charset="-122"/>
                <a:cs typeface="Calibri" pitchFamily="34" charset="-120"/>
              </a:rPr>
              <a:t>SMS</a:t>
            </a:r>
            <a:endParaRPr lang="en-US" sz="950" dirty="0"/>
          </a:p>
        </p:txBody>
      </p:sp>
      <p:sp>
        <p:nvSpPr>
          <p:cNvPr id="23" name="Text 20"/>
          <p:cNvSpPr txBox="1"/>
          <p:nvPr/>
        </p:nvSpPr>
        <p:spPr>
          <a:xfrm>
            <a:off x="548640" y="3730752"/>
            <a:ext cx="1600200" cy="420624"/>
          </a:xfrm>
          <a:prstGeom prst="rect">
            <a:avLst/>
          </a:prstGeom>
          <a:noFill/>
          <a:ln/>
        </p:spPr>
        <p:txBody>
          <a:bodyPr wrap="square" lIns="0" tIns="0" rIns="0" bIns="0" rtlCol="0" anchor="t"/>
          <a:lstStyle/>
          <a:p>
            <a:pPr indent="0" marL="0">
              <a:buNone/>
            </a:pPr>
            <a:r>
              <a:rPr lang="en-US" sz="950" dirty="0">
                <a:solidFill>
                  <a:srgbClr val="5F6B78"/>
                </a:solidFill>
                <a:latin typeface="Calibri" pitchFamily="34" charset="0"/>
                <a:ea typeface="Calibri" pitchFamily="34" charset="-122"/>
                <a:cs typeface="Calibri" pitchFamily="34" charset="-120"/>
              </a:rPr>
              <a:t>Fix: </a:t>
            </a:r>
            <a:pPr indent="0" marL="0">
              <a:buNone/>
            </a:pPr>
            <a:r>
              <a:rPr lang="en-US" sz="950" dirty="0">
                <a:solidFill>
                  <a:srgbClr val="334150"/>
                </a:solidFill>
                <a:latin typeface="Calibri" pitchFamily="34" charset="0"/>
                <a:ea typeface="Calibri" pitchFamily="34" charset="-122"/>
                <a:cs typeface="Calibri" pitchFamily="34" charset="-120"/>
              </a:rPr>
              <a:t>Tundish level, mould flux</a:t>
            </a:r>
            <a:endParaRPr lang="en-US" sz="950" dirty="0"/>
          </a:p>
        </p:txBody>
      </p:sp>
      <p:sp>
        <p:nvSpPr>
          <p:cNvPr id="24" name="Shape 21"/>
          <p:cNvSpPr/>
          <p:nvPr/>
        </p:nvSpPr>
        <p:spPr>
          <a:xfrm>
            <a:off x="2355494" y="1572768"/>
            <a:ext cx="1783080" cy="2651760"/>
          </a:xfrm>
          <a:prstGeom prst="roundRect">
            <a:avLst>
              <a:gd name="adj" fmla="val 3077"/>
            </a:avLst>
          </a:prstGeom>
          <a:solidFill>
            <a:srgbClr val="F1F4F7"/>
          </a:solidFill>
          <a:ln w="12700">
            <a:solidFill>
              <a:srgbClr val="F1F4F7"/>
            </a:solidFill>
            <a:prstDash val="solid"/>
          </a:ln>
        </p:spPr>
      </p:sp>
      <p:pic>
        <p:nvPicPr>
          <p:cNvPr id="25" name="Image 1" descr="img/det_crazing.png">    </p:cNvPr>
          <p:cNvPicPr>
            <a:picLocks noChangeAspect="1"/>
          </p:cNvPicPr>
          <p:nvPr/>
        </p:nvPicPr>
        <p:blipFill>
          <a:blip r:embed="rId2"/>
          <a:stretch>
            <a:fillRect/>
          </a:stretch>
        </p:blipFill>
        <p:spPr>
          <a:xfrm>
            <a:off x="2446934" y="1645920"/>
            <a:ext cx="1600200" cy="1600200"/>
          </a:xfrm>
          <a:prstGeom prst="rect">
            <a:avLst/>
          </a:prstGeom>
        </p:spPr>
      </p:pic>
      <p:sp>
        <p:nvSpPr>
          <p:cNvPr id="26" name="Text 22"/>
          <p:cNvSpPr txBox="1"/>
          <p:nvPr/>
        </p:nvSpPr>
        <p:spPr>
          <a:xfrm>
            <a:off x="2446934" y="3310128"/>
            <a:ext cx="1600200" cy="201168"/>
          </a:xfrm>
          <a:prstGeom prst="rect">
            <a:avLst/>
          </a:prstGeom>
          <a:noFill/>
          <a:ln/>
        </p:spPr>
        <p:txBody>
          <a:bodyPr wrap="square" lIns="0" tIns="0" rIns="0" bIns="0" rtlCol="0" anchor="t"/>
          <a:lstStyle/>
          <a:p>
            <a:pPr indent="0" marL="0">
              <a:buNone/>
            </a:pPr>
            <a:r>
              <a:rPr lang="en-US" sz="950" dirty="0">
                <a:solidFill>
                  <a:srgbClr val="5F6B78"/>
                </a:solidFill>
                <a:latin typeface="Calibri" pitchFamily="34" charset="0"/>
                <a:ea typeface="Calibri" pitchFamily="34" charset="-122"/>
                <a:cs typeface="Calibri" pitchFamily="34" charset="-120"/>
              </a:rPr>
              <a:t>Born: </a:t>
            </a:r>
            <a:pPr indent="0" marL="0">
              <a:buNone/>
            </a:pPr>
            <a:r>
              <a:rPr lang="en-US" sz="950" b="1" dirty="0">
                <a:solidFill>
                  <a:srgbClr val="143A5A"/>
                </a:solidFill>
                <a:latin typeface="Calibri" pitchFamily="34" charset="0"/>
                <a:ea typeface="Calibri" pitchFamily="34" charset="-122"/>
                <a:cs typeface="Calibri" pitchFamily="34" charset="-120"/>
              </a:rPr>
              <a:t>Reheat, hot rolling</a:t>
            </a:r>
            <a:endParaRPr lang="en-US" sz="950" dirty="0"/>
          </a:p>
        </p:txBody>
      </p:sp>
      <p:sp>
        <p:nvSpPr>
          <p:cNvPr id="27" name="Text 23"/>
          <p:cNvSpPr txBox="1"/>
          <p:nvPr/>
        </p:nvSpPr>
        <p:spPr>
          <a:xfrm>
            <a:off x="2446934" y="3520440"/>
            <a:ext cx="1600200" cy="201168"/>
          </a:xfrm>
          <a:prstGeom prst="rect">
            <a:avLst/>
          </a:prstGeom>
          <a:noFill/>
          <a:ln/>
        </p:spPr>
        <p:txBody>
          <a:bodyPr wrap="square" lIns="0" tIns="0" rIns="0" bIns="0" rtlCol="0" anchor="t"/>
          <a:lstStyle/>
          <a:p>
            <a:pPr indent="0" marL="0">
              <a:buNone/>
            </a:pPr>
            <a:r>
              <a:rPr lang="en-US" sz="950" dirty="0">
                <a:solidFill>
                  <a:srgbClr val="5F6B78"/>
                </a:solidFill>
                <a:latin typeface="Calibri" pitchFamily="34" charset="0"/>
                <a:ea typeface="Calibri" pitchFamily="34" charset="-122"/>
                <a:cs typeface="Calibri" pitchFamily="34" charset="-120"/>
              </a:rPr>
              <a:t>Owner: </a:t>
            </a:r>
            <a:pPr indent="0" marL="0">
              <a:buNone/>
            </a:pPr>
            <a:r>
              <a:rPr lang="en-US" sz="950" b="1" dirty="0">
                <a:solidFill>
                  <a:srgbClr val="0086C3"/>
                </a:solidFill>
                <a:latin typeface="Calibri" pitchFamily="34" charset="0"/>
                <a:ea typeface="Calibri" pitchFamily="34" charset="-122"/>
                <a:cs typeface="Calibri" pitchFamily="34" charset="-120"/>
              </a:rPr>
              <a:t>HSM</a:t>
            </a:r>
            <a:endParaRPr lang="en-US" sz="950" dirty="0"/>
          </a:p>
        </p:txBody>
      </p:sp>
      <p:sp>
        <p:nvSpPr>
          <p:cNvPr id="28" name="Text 24"/>
          <p:cNvSpPr txBox="1"/>
          <p:nvPr/>
        </p:nvSpPr>
        <p:spPr>
          <a:xfrm>
            <a:off x="2446934" y="3730752"/>
            <a:ext cx="1600200" cy="420624"/>
          </a:xfrm>
          <a:prstGeom prst="rect">
            <a:avLst/>
          </a:prstGeom>
          <a:noFill/>
          <a:ln/>
        </p:spPr>
        <p:txBody>
          <a:bodyPr wrap="square" lIns="0" tIns="0" rIns="0" bIns="0" rtlCol="0" anchor="t"/>
          <a:lstStyle/>
          <a:p>
            <a:pPr indent="0" marL="0">
              <a:buNone/>
            </a:pPr>
            <a:r>
              <a:rPr lang="en-US" sz="950" dirty="0">
                <a:solidFill>
                  <a:srgbClr val="5F6B78"/>
                </a:solidFill>
                <a:latin typeface="Calibri" pitchFamily="34" charset="0"/>
                <a:ea typeface="Calibri" pitchFamily="34" charset="-122"/>
                <a:cs typeface="Calibri" pitchFamily="34" charset="-120"/>
              </a:rPr>
              <a:t>Fix: </a:t>
            </a:r>
            <a:pPr indent="0" marL="0">
              <a:buNone/>
            </a:pPr>
            <a:r>
              <a:rPr lang="en-US" sz="950" dirty="0">
                <a:solidFill>
                  <a:srgbClr val="334150"/>
                </a:solidFill>
                <a:latin typeface="Calibri" pitchFamily="34" charset="0"/>
                <a:ea typeface="Calibri" pitchFamily="34" charset="-122"/>
                <a:cs typeface="Calibri" pitchFamily="34" charset="-120"/>
              </a:rPr>
              <a:t>Reheat and coiling temperature</a:t>
            </a:r>
            <a:endParaRPr lang="en-US" sz="950" dirty="0"/>
          </a:p>
        </p:txBody>
      </p:sp>
      <p:sp>
        <p:nvSpPr>
          <p:cNvPr id="29" name="Shape 25"/>
          <p:cNvSpPr/>
          <p:nvPr/>
        </p:nvSpPr>
        <p:spPr>
          <a:xfrm>
            <a:off x="4253789" y="1572768"/>
            <a:ext cx="1783080" cy="2651760"/>
          </a:xfrm>
          <a:prstGeom prst="roundRect">
            <a:avLst>
              <a:gd name="adj" fmla="val 3077"/>
            </a:avLst>
          </a:prstGeom>
          <a:solidFill>
            <a:srgbClr val="F1F4F7"/>
          </a:solidFill>
          <a:ln w="12700">
            <a:solidFill>
              <a:srgbClr val="F1F4F7"/>
            </a:solidFill>
            <a:prstDash val="solid"/>
          </a:ln>
        </p:spPr>
      </p:sp>
      <p:pic>
        <p:nvPicPr>
          <p:cNvPr id="30" name="Image 2" descr="img/det_rolled-in_scale.png">    </p:cNvPr>
          <p:cNvPicPr>
            <a:picLocks noChangeAspect="1"/>
          </p:cNvPicPr>
          <p:nvPr/>
        </p:nvPicPr>
        <p:blipFill>
          <a:blip r:embed="rId3"/>
          <a:stretch>
            <a:fillRect/>
          </a:stretch>
        </p:blipFill>
        <p:spPr>
          <a:xfrm>
            <a:off x="4345229" y="1645920"/>
            <a:ext cx="1600200" cy="1600200"/>
          </a:xfrm>
          <a:prstGeom prst="rect">
            <a:avLst/>
          </a:prstGeom>
        </p:spPr>
      </p:pic>
      <p:sp>
        <p:nvSpPr>
          <p:cNvPr id="31" name="Text 26"/>
          <p:cNvSpPr txBox="1"/>
          <p:nvPr/>
        </p:nvSpPr>
        <p:spPr>
          <a:xfrm>
            <a:off x="4345229" y="3310128"/>
            <a:ext cx="1600200" cy="201168"/>
          </a:xfrm>
          <a:prstGeom prst="rect">
            <a:avLst/>
          </a:prstGeom>
          <a:noFill/>
          <a:ln/>
        </p:spPr>
        <p:txBody>
          <a:bodyPr wrap="square" lIns="0" tIns="0" rIns="0" bIns="0" rtlCol="0" anchor="t"/>
          <a:lstStyle/>
          <a:p>
            <a:pPr indent="0" marL="0">
              <a:buNone/>
            </a:pPr>
            <a:r>
              <a:rPr lang="en-US" sz="950" dirty="0">
                <a:solidFill>
                  <a:srgbClr val="5F6B78"/>
                </a:solidFill>
                <a:latin typeface="Calibri" pitchFamily="34" charset="0"/>
                <a:ea typeface="Calibri" pitchFamily="34" charset="-122"/>
                <a:cs typeface="Calibri" pitchFamily="34" charset="-120"/>
              </a:rPr>
              <a:t>Born: </a:t>
            </a:r>
            <a:pPr indent="0" marL="0">
              <a:buNone/>
            </a:pPr>
            <a:r>
              <a:rPr lang="en-US" sz="950" b="1" dirty="0">
                <a:solidFill>
                  <a:srgbClr val="143A5A"/>
                </a:solidFill>
                <a:latin typeface="Calibri" pitchFamily="34" charset="0"/>
                <a:ea typeface="Calibri" pitchFamily="34" charset="-122"/>
                <a:cs typeface="Calibri" pitchFamily="34" charset="-120"/>
              </a:rPr>
              <a:t>Hot rolling</a:t>
            </a:r>
            <a:endParaRPr lang="en-US" sz="950" dirty="0"/>
          </a:p>
        </p:txBody>
      </p:sp>
      <p:sp>
        <p:nvSpPr>
          <p:cNvPr id="32" name="Text 27"/>
          <p:cNvSpPr txBox="1"/>
          <p:nvPr/>
        </p:nvSpPr>
        <p:spPr>
          <a:xfrm>
            <a:off x="4345229" y="3520440"/>
            <a:ext cx="1600200" cy="201168"/>
          </a:xfrm>
          <a:prstGeom prst="rect">
            <a:avLst/>
          </a:prstGeom>
          <a:noFill/>
          <a:ln/>
        </p:spPr>
        <p:txBody>
          <a:bodyPr wrap="square" lIns="0" tIns="0" rIns="0" bIns="0" rtlCol="0" anchor="t"/>
          <a:lstStyle/>
          <a:p>
            <a:pPr indent="0" marL="0">
              <a:buNone/>
            </a:pPr>
            <a:r>
              <a:rPr lang="en-US" sz="950" dirty="0">
                <a:solidFill>
                  <a:srgbClr val="5F6B78"/>
                </a:solidFill>
                <a:latin typeface="Calibri" pitchFamily="34" charset="0"/>
                <a:ea typeface="Calibri" pitchFamily="34" charset="-122"/>
                <a:cs typeface="Calibri" pitchFamily="34" charset="-120"/>
              </a:rPr>
              <a:t>Owner: </a:t>
            </a:r>
            <a:pPr indent="0" marL="0">
              <a:buNone/>
            </a:pPr>
            <a:r>
              <a:rPr lang="en-US" sz="950" b="1" dirty="0">
                <a:solidFill>
                  <a:srgbClr val="0086C3"/>
                </a:solidFill>
                <a:latin typeface="Calibri" pitchFamily="34" charset="0"/>
                <a:ea typeface="Calibri" pitchFamily="34" charset="-122"/>
                <a:cs typeface="Calibri" pitchFamily="34" charset="-120"/>
              </a:rPr>
              <a:t>HSM</a:t>
            </a:r>
            <a:endParaRPr lang="en-US" sz="950" dirty="0"/>
          </a:p>
        </p:txBody>
      </p:sp>
      <p:sp>
        <p:nvSpPr>
          <p:cNvPr id="33" name="Text 28"/>
          <p:cNvSpPr txBox="1"/>
          <p:nvPr/>
        </p:nvSpPr>
        <p:spPr>
          <a:xfrm>
            <a:off x="4345229" y="3730752"/>
            <a:ext cx="1600200" cy="420624"/>
          </a:xfrm>
          <a:prstGeom prst="rect">
            <a:avLst/>
          </a:prstGeom>
          <a:noFill/>
          <a:ln/>
        </p:spPr>
        <p:txBody>
          <a:bodyPr wrap="square" lIns="0" tIns="0" rIns="0" bIns="0" rtlCol="0" anchor="t"/>
          <a:lstStyle/>
          <a:p>
            <a:pPr indent="0" marL="0">
              <a:buNone/>
            </a:pPr>
            <a:r>
              <a:rPr lang="en-US" sz="950" dirty="0">
                <a:solidFill>
                  <a:srgbClr val="5F6B78"/>
                </a:solidFill>
                <a:latin typeface="Calibri" pitchFamily="34" charset="0"/>
                <a:ea typeface="Calibri" pitchFamily="34" charset="-122"/>
                <a:cs typeface="Calibri" pitchFamily="34" charset="-120"/>
              </a:rPr>
              <a:t>Fix: </a:t>
            </a:r>
            <a:pPr indent="0" marL="0">
              <a:buNone/>
            </a:pPr>
            <a:r>
              <a:rPr lang="en-US" sz="950" dirty="0">
                <a:solidFill>
                  <a:srgbClr val="334150"/>
                </a:solidFill>
                <a:latin typeface="Calibri" pitchFamily="34" charset="0"/>
                <a:ea typeface="Calibri" pitchFamily="34" charset="-122"/>
                <a:cs typeface="Calibri" pitchFamily="34" charset="-120"/>
              </a:rPr>
              <a:t>Descaler pressure, nozzles</a:t>
            </a:r>
            <a:endParaRPr lang="en-US" sz="950" dirty="0"/>
          </a:p>
        </p:txBody>
      </p:sp>
      <p:sp>
        <p:nvSpPr>
          <p:cNvPr id="34" name="Shape 29"/>
          <p:cNvSpPr/>
          <p:nvPr/>
        </p:nvSpPr>
        <p:spPr>
          <a:xfrm>
            <a:off x="6152083" y="1572768"/>
            <a:ext cx="1783080" cy="2651760"/>
          </a:xfrm>
          <a:prstGeom prst="roundRect">
            <a:avLst>
              <a:gd name="adj" fmla="val 3077"/>
            </a:avLst>
          </a:prstGeom>
          <a:solidFill>
            <a:srgbClr val="F1F4F7"/>
          </a:solidFill>
          <a:ln w="12700">
            <a:solidFill>
              <a:srgbClr val="F1F4F7"/>
            </a:solidFill>
            <a:prstDash val="solid"/>
          </a:ln>
        </p:spPr>
      </p:sp>
      <p:pic>
        <p:nvPicPr>
          <p:cNvPr id="35" name="Image 3" descr="img/det_pitted_surface.png">    </p:cNvPr>
          <p:cNvPicPr>
            <a:picLocks noChangeAspect="1"/>
          </p:cNvPicPr>
          <p:nvPr/>
        </p:nvPicPr>
        <p:blipFill>
          <a:blip r:embed="rId4"/>
          <a:stretch>
            <a:fillRect/>
          </a:stretch>
        </p:blipFill>
        <p:spPr>
          <a:xfrm>
            <a:off x="6243523" y="1645920"/>
            <a:ext cx="1600200" cy="1600200"/>
          </a:xfrm>
          <a:prstGeom prst="rect">
            <a:avLst/>
          </a:prstGeom>
        </p:spPr>
      </p:pic>
      <p:sp>
        <p:nvSpPr>
          <p:cNvPr id="36" name="Text 30"/>
          <p:cNvSpPr txBox="1"/>
          <p:nvPr/>
        </p:nvSpPr>
        <p:spPr>
          <a:xfrm>
            <a:off x="6243523" y="3310128"/>
            <a:ext cx="1600200" cy="201168"/>
          </a:xfrm>
          <a:prstGeom prst="rect">
            <a:avLst/>
          </a:prstGeom>
          <a:noFill/>
          <a:ln/>
        </p:spPr>
        <p:txBody>
          <a:bodyPr wrap="square" lIns="0" tIns="0" rIns="0" bIns="0" rtlCol="0" anchor="t"/>
          <a:lstStyle/>
          <a:p>
            <a:pPr indent="0" marL="0">
              <a:buNone/>
            </a:pPr>
            <a:r>
              <a:rPr lang="en-US" sz="950" dirty="0">
                <a:solidFill>
                  <a:srgbClr val="5F6B78"/>
                </a:solidFill>
                <a:latin typeface="Calibri" pitchFamily="34" charset="0"/>
                <a:ea typeface="Calibri" pitchFamily="34" charset="-122"/>
                <a:cs typeface="Calibri" pitchFamily="34" charset="-120"/>
              </a:rPr>
              <a:t>Born: </a:t>
            </a:r>
            <a:pPr indent="0" marL="0">
              <a:buNone/>
            </a:pPr>
            <a:r>
              <a:rPr lang="en-US" sz="950" b="1" dirty="0">
                <a:solidFill>
                  <a:srgbClr val="143A5A"/>
                </a:solidFill>
                <a:latin typeface="Calibri" pitchFamily="34" charset="0"/>
                <a:ea typeface="Calibri" pitchFamily="34" charset="-122"/>
                <a:cs typeface="Calibri" pitchFamily="34" charset="-120"/>
              </a:rPr>
              <a:t>Reheat, pickling</a:t>
            </a:r>
            <a:endParaRPr lang="en-US" sz="950" dirty="0"/>
          </a:p>
        </p:txBody>
      </p:sp>
      <p:sp>
        <p:nvSpPr>
          <p:cNvPr id="37" name="Text 31"/>
          <p:cNvSpPr txBox="1"/>
          <p:nvPr/>
        </p:nvSpPr>
        <p:spPr>
          <a:xfrm>
            <a:off x="6243523" y="3520440"/>
            <a:ext cx="1600200" cy="201168"/>
          </a:xfrm>
          <a:prstGeom prst="rect">
            <a:avLst/>
          </a:prstGeom>
          <a:noFill/>
          <a:ln/>
        </p:spPr>
        <p:txBody>
          <a:bodyPr wrap="square" lIns="0" tIns="0" rIns="0" bIns="0" rtlCol="0" anchor="t"/>
          <a:lstStyle/>
          <a:p>
            <a:pPr indent="0" marL="0">
              <a:buNone/>
            </a:pPr>
            <a:r>
              <a:rPr lang="en-US" sz="950" dirty="0">
                <a:solidFill>
                  <a:srgbClr val="5F6B78"/>
                </a:solidFill>
                <a:latin typeface="Calibri" pitchFamily="34" charset="0"/>
                <a:ea typeface="Calibri" pitchFamily="34" charset="-122"/>
                <a:cs typeface="Calibri" pitchFamily="34" charset="-120"/>
              </a:rPr>
              <a:t>Owner: </a:t>
            </a:r>
            <a:pPr indent="0" marL="0">
              <a:buNone/>
            </a:pPr>
            <a:r>
              <a:rPr lang="en-US" sz="950" b="1" dirty="0">
                <a:solidFill>
                  <a:srgbClr val="0086C3"/>
                </a:solidFill>
                <a:latin typeface="Calibri" pitchFamily="34" charset="0"/>
                <a:ea typeface="Calibri" pitchFamily="34" charset="-122"/>
                <a:cs typeface="Calibri" pitchFamily="34" charset="-120"/>
              </a:rPr>
              <a:t>HSM / pickling</a:t>
            </a:r>
            <a:endParaRPr lang="en-US" sz="950" dirty="0"/>
          </a:p>
        </p:txBody>
      </p:sp>
      <p:sp>
        <p:nvSpPr>
          <p:cNvPr id="38" name="Text 32"/>
          <p:cNvSpPr txBox="1"/>
          <p:nvPr/>
        </p:nvSpPr>
        <p:spPr>
          <a:xfrm>
            <a:off x="6243523" y="3730752"/>
            <a:ext cx="1600200" cy="420624"/>
          </a:xfrm>
          <a:prstGeom prst="rect">
            <a:avLst/>
          </a:prstGeom>
          <a:noFill/>
          <a:ln/>
        </p:spPr>
        <p:txBody>
          <a:bodyPr wrap="square" lIns="0" tIns="0" rIns="0" bIns="0" rtlCol="0" anchor="t"/>
          <a:lstStyle/>
          <a:p>
            <a:pPr indent="0" marL="0">
              <a:buNone/>
            </a:pPr>
            <a:r>
              <a:rPr lang="en-US" sz="950" dirty="0">
                <a:solidFill>
                  <a:srgbClr val="5F6B78"/>
                </a:solidFill>
                <a:latin typeface="Calibri" pitchFamily="34" charset="0"/>
                <a:ea typeface="Calibri" pitchFamily="34" charset="-122"/>
                <a:cs typeface="Calibri" pitchFamily="34" charset="-120"/>
              </a:rPr>
              <a:t>Fix: </a:t>
            </a:r>
            <a:pPr indent="0" marL="0">
              <a:buNone/>
            </a:pPr>
            <a:r>
              <a:rPr lang="en-US" sz="950" dirty="0">
                <a:solidFill>
                  <a:srgbClr val="334150"/>
                </a:solidFill>
                <a:latin typeface="Calibri" pitchFamily="34" charset="0"/>
                <a:ea typeface="Calibri" pitchFamily="34" charset="-122"/>
                <a:cs typeface="Calibri" pitchFamily="34" charset="-120"/>
              </a:rPr>
              <a:t>Furnace atmosphere, over-pickling</a:t>
            </a:r>
            <a:endParaRPr lang="en-US" sz="950" dirty="0"/>
          </a:p>
        </p:txBody>
      </p:sp>
      <p:sp>
        <p:nvSpPr>
          <p:cNvPr id="39" name="Shape 33"/>
          <p:cNvSpPr/>
          <p:nvPr/>
        </p:nvSpPr>
        <p:spPr>
          <a:xfrm>
            <a:off x="8050378" y="1572768"/>
            <a:ext cx="1783080" cy="2651760"/>
          </a:xfrm>
          <a:prstGeom prst="roundRect">
            <a:avLst>
              <a:gd name="adj" fmla="val 3077"/>
            </a:avLst>
          </a:prstGeom>
          <a:solidFill>
            <a:srgbClr val="F1F4F7"/>
          </a:solidFill>
          <a:ln w="12700">
            <a:solidFill>
              <a:srgbClr val="F1F4F7"/>
            </a:solidFill>
            <a:prstDash val="solid"/>
          </a:ln>
        </p:spPr>
      </p:sp>
      <p:pic>
        <p:nvPicPr>
          <p:cNvPr id="40" name="Image 4" descr="img/det_patches.png">    </p:cNvPr>
          <p:cNvPicPr>
            <a:picLocks noChangeAspect="1"/>
          </p:cNvPicPr>
          <p:nvPr/>
        </p:nvPicPr>
        <p:blipFill>
          <a:blip r:embed="rId5"/>
          <a:stretch>
            <a:fillRect/>
          </a:stretch>
        </p:blipFill>
        <p:spPr>
          <a:xfrm>
            <a:off x="8141818" y="1645920"/>
            <a:ext cx="1600200" cy="1600200"/>
          </a:xfrm>
          <a:prstGeom prst="rect">
            <a:avLst/>
          </a:prstGeom>
        </p:spPr>
      </p:pic>
      <p:sp>
        <p:nvSpPr>
          <p:cNvPr id="41" name="Text 34"/>
          <p:cNvSpPr txBox="1"/>
          <p:nvPr/>
        </p:nvSpPr>
        <p:spPr>
          <a:xfrm>
            <a:off x="8141818" y="3310128"/>
            <a:ext cx="1600200" cy="201168"/>
          </a:xfrm>
          <a:prstGeom prst="rect">
            <a:avLst/>
          </a:prstGeom>
          <a:noFill/>
          <a:ln/>
        </p:spPr>
        <p:txBody>
          <a:bodyPr wrap="square" lIns="0" tIns="0" rIns="0" bIns="0" rtlCol="0" anchor="t"/>
          <a:lstStyle/>
          <a:p>
            <a:pPr indent="0" marL="0">
              <a:buNone/>
            </a:pPr>
            <a:r>
              <a:rPr lang="en-US" sz="950" dirty="0">
                <a:solidFill>
                  <a:srgbClr val="5F6B78"/>
                </a:solidFill>
                <a:latin typeface="Calibri" pitchFamily="34" charset="0"/>
                <a:ea typeface="Calibri" pitchFamily="34" charset="-122"/>
                <a:cs typeface="Calibri" pitchFamily="34" charset="-120"/>
              </a:rPr>
              <a:t>Born: </a:t>
            </a:r>
            <a:pPr indent="0" marL="0">
              <a:buNone/>
            </a:pPr>
            <a:r>
              <a:rPr lang="en-US" sz="950" b="1" dirty="0">
                <a:solidFill>
                  <a:srgbClr val="143A5A"/>
                </a:solidFill>
                <a:latin typeface="Calibri" pitchFamily="34" charset="0"/>
                <a:ea typeface="Calibri" pitchFamily="34" charset="-122"/>
                <a:cs typeface="Calibri" pitchFamily="34" charset="-120"/>
              </a:rPr>
              <a:t>Anneal &amp; pickle</a:t>
            </a:r>
            <a:endParaRPr lang="en-US" sz="950" dirty="0"/>
          </a:p>
        </p:txBody>
      </p:sp>
      <p:sp>
        <p:nvSpPr>
          <p:cNvPr id="42" name="Text 35"/>
          <p:cNvSpPr txBox="1"/>
          <p:nvPr/>
        </p:nvSpPr>
        <p:spPr>
          <a:xfrm>
            <a:off x="8141818" y="3520440"/>
            <a:ext cx="1600200" cy="201168"/>
          </a:xfrm>
          <a:prstGeom prst="rect">
            <a:avLst/>
          </a:prstGeom>
          <a:noFill/>
          <a:ln/>
        </p:spPr>
        <p:txBody>
          <a:bodyPr wrap="square" lIns="0" tIns="0" rIns="0" bIns="0" rtlCol="0" anchor="t"/>
          <a:lstStyle/>
          <a:p>
            <a:pPr indent="0" marL="0">
              <a:buNone/>
            </a:pPr>
            <a:r>
              <a:rPr lang="en-US" sz="950" dirty="0">
                <a:solidFill>
                  <a:srgbClr val="5F6B78"/>
                </a:solidFill>
                <a:latin typeface="Calibri" pitchFamily="34" charset="0"/>
                <a:ea typeface="Calibri" pitchFamily="34" charset="-122"/>
                <a:cs typeface="Calibri" pitchFamily="34" charset="-120"/>
              </a:rPr>
              <a:t>Owner: </a:t>
            </a:r>
            <a:pPr indent="0" marL="0">
              <a:buNone/>
            </a:pPr>
            <a:r>
              <a:rPr lang="en-US" sz="950" b="1" dirty="0">
                <a:solidFill>
                  <a:srgbClr val="0086C3"/>
                </a:solidFill>
                <a:latin typeface="Calibri" pitchFamily="34" charset="0"/>
                <a:ea typeface="Calibri" pitchFamily="34" charset="-122"/>
                <a:cs typeface="Calibri" pitchFamily="34" charset="-120"/>
              </a:rPr>
              <a:t>Pickling line</a:t>
            </a:r>
            <a:endParaRPr lang="en-US" sz="950" dirty="0"/>
          </a:p>
        </p:txBody>
      </p:sp>
      <p:sp>
        <p:nvSpPr>
          <p:cNvPr id="43" name="Text 36"/>
          <p:cNvSpPr txBox="1"/>
          <p:nvPr/>
        </p:nvSpPr>
        <p:spPr>
          <a:xfrm>
            <a:off x="8141818" y="3730752"/>
            <a:ext cx="1600200" cy="420624"/>
          </a:xfrm>
          <a:prstGeom prst="rect">
            <a:avLst/>
          </a:prstGeom>
          <a:noFill/>
          <a:ln/>
        </p:spPr>
        <p:txBody>
          <a:bodyPr wrap="square" lIns="0" tIns="0" rIns="0" bIns="0" rtlCol="0" anchor="t"/>
          <a:lstStyle/>
          <a:p>
            <a:pPr indent="0" marL="0">
              <a:buNone/>
            </a:pPr>
            <a:r>
              <a:rPr lang="en-US" sz="950" dirty="0">
                <a:solidFill>
                  <a:srgbClr val="5F6B78"/>
                </a:solidFill>
                <a:latin typeface="Calibri" pitchFamily="34" charset="0"/>
                <a:ea typeface="Calibri" pitchFamily="34" charset="-122"/>
                <a:cs typeface="Calibri" pitchFamily="34" charset="-120"/>
              </a:rPr>
              <a:t>Fix: </a:t>
            </a:r>
            <a:pPr indent="0" marL="0">
              <a:buNone/>
            </a:pPr>
            <a:r>
              <a:rPr lang="en-US" sz="950" dirty="0">
                <a:solidFill>
                  <a:srgbClr val="334150"/>
                </a:solidFill>
                <a:latin typeface="Calibri" pitchFamily="34" charset="0"/>
                <a:ea typeface="Calibri" pitchFamily="34" charset="-122"/>
                <a:cs typeface="Calibri" pitchFamily="34" charset="-120"/>
              </a:rPr>
              <a:t>Acid strength, line speed</a:t>
            </a:r>
            <a:endParaRPr lang="en-US" sz="950" dirty="0"/>
          </a:p>
        </p:txBody>
      </p:sp>
      <p:sp>
        <p:nvSpPr>
          <p:cNvPr id="44" name="Shape 37"/>
          <p:cNvSpPr/>
          <p:nvPr/>
        </p:nvSpPr>
        <p:spPr>
          <a:xfrm>
            <a:off x="9948672" y="1572768"/>
            <a:ext cx="1783080" cy="2651760"/>
          </a:xfrm>
          <a:prstGeom prst="roundRect">
            <a:avLst>
              <a:gd name="adj" fmla="val 3077"/>
            </a:avLst>
          </a:prstGeom>
          <a:solidFill>
            <a:srgbClr val="F1F4F7"/>
          </a:solidFill>
          <a:ln w="12700">
            <a:solidFill>
              <a:srgbClr val="F1F4F7"/>
            </a:solidFill>
            <a:prstDash val="solid"/>
          </a:ln>
        </p:spPr>
      </p:sp>
      <p:pic>
        <p:nvPicPr>
          <p:cNvPr id="45" name="Image 5" descr="img/det_scratches.png">    </p:cNvPr>
          <p:cNvPicPr>
            <a:picLocks noChangeAspect="1"/>
          </p:cNvPicPr>
          <p:nvPr/>
        </p:nvPicPr>
        <p:blipFill>
          <a:blip r:embed="rId6"/>
          <a:stretch>
            <a:fillRect/>
          </a:stretch>
        </p:blipFill>
        <p:spPr>
          <a:xfrm>
            <a:off x="10040112" y="1645920"/>
            <a:ext cx="1600200" cy="1600200"/>
          </a:xfrm>
          <a:prstGeom prst="rect">
            <a:avLst/>
          </a:prstGeom>
        </p:spPr>
      </p:pic>
      <p:sp>
        <p:nvSpPr>
          <p:cNvPr id="46" name="Text 38"/>
          <p:cNvSpPr txBox="1"/>
          <p:nvPr/>
        </p:nvSpPr>
        <p:spPr>
          <a:xfrm>
            <a:off x="10040112" y="3310128"/>
            <a:ext cx="1600200" cy="201168"/>
          </a:xfrm>
          <a:prstGeom prst="rect">
            <a:avLst/>
          </a:prstGeom>
          <a:noFill/>
          <a:ln/>
        </p:spPr>
        <p:txBody>
          <a:bodyPr wrap="square" lIns="0" tIns="0" rIns="0" bIns="0" rtlCol="0" anchor="t"/>
          <a:lstStyle/>
          <a:p>
            <a:pPr indent="0" marL="0">
              <a:buNone/>
            </a:pPr>
            <a:r>
              <a:rPr lang="en-US" sz="950" dirty="0">
                <a:solidFill>
                  <a:srgbClr val="5F6B78"/>
                </a:solidFill>
                <a:latin typeface="Calibri" pitchFamily="34" charset="0"/>
                <a:ea typeface="Calibri" pitchFamily="34" charset="-122"/>
                <a:cs typeface="Calibri" pitchFamily="34" charset="-120"/>
              </a:rPr>
              <a:t>Born: </a:t>
            </a:r>
            <a:pPr indent="0" marL="0">
              <a:buNone/>
            </a:pPr>
            <a:r>
              <a:rPr lang="en-US" sz="950" b="1" dirty="0">
                <a:solidFill>
                  <a:srgbClr val="143A5A"/>
                </a:solidFill>
                <a:latin typeface="Calibri" pitchFamily="34" charset="0"/>
                <a:ea typeface="Calibri" pitchFamily="34" charset="-122"/>
                <a:cs typeface="Calibri" pitchFamily="34" charset="-120"/>
              </a:rPr>
              <a:t>Cold rolling, handling</a:t>
            </a:r>
            <a:endParaRPr lang="en-US" sz="950" dirty="0"/>
          </a:p>
        </p:txBody>
      </p:sp>
      <p:sp>
        <p:nvSpPr>
          <p:cNvPr id="47" name="Text 39"/>
          <p:cNvSpPr txBox="1"/>
          <p:nvPr/>
        </p:nvSpPr>
        <p:spPr>
          <a:xfrm>
            <a:off x="10040112" y="3520440"/>
            <a:ext cx="1600200" cy="201168"/>
          </a:xfrm>
          <a:prstGeom prst="rect">
            <a:avLst/>
          </a:prstGeom>
          <a:noFill/>
          <a:ln/>
        </p:spPr>
        <p:txBody>
          <a:bodyPr wrap="square" lIns="0" tIns="0" rIns="0" bIns="0" rtlCol="0" anchor="t"/>
          <a:lstStyle/>
          <a:p>
            <a:pPr indent="0" marL="0">
              <a:buNone/>
            </a:pPr>
            <a:r>
              <a:rPr lang="en-US" sz="950" dirty="0">
                <a:solidFill>
                  <a:srgbClr val="5F6B78"/>
                </a:solidFill>
                <a:latin typeface="Calibri" pitchFamily="34" charset="0"/>
                <a:ea typeface="Calibri" pitchFamily="34" charset="-122"/>
                <a:cs typeface="Calibri" pitchFamily="34" charset="-120"/>
              </a:rPr>
              <a:t>Owner: </a:t>
            </a:r>
            <a:pPr indent="0" marL="0">
              <a:buNone/>
            </a:pPr>
            <a:r>
              <a:rPr lang="en-US" sz="950" b="1" dirty="0">
                <a:solidFill>
                  <a:srgbClr val="0086C3"/>
                </a:solidFill>
                <a:latin typeface="Calibri" pitchFamily="34" charset="0"/>
                <a:ea typeface="Calibri" pitchFamily="34" charset="-122"/>
                <a:cs typeface="Calibri" pitchFamily="34" charset="-120"/>
              </a:rPr>
              <a:t>CRM / logistics</a:t>
            </a:r>
            <a:endParaRPr lang="en-US" sz="950" dirty="0"/>
          </a:p>
        </p:txBody>
      </p:sp>
      <p:sp>
        <p:nvSpPr>
          <p:cNvPr id="48" name="Text 40"/>
          <p:cNvSpPr txBox="1"/>
          <p:nvPr/>
        </p:nvSpPr>
        <p:spPr>
          <a:xfrm>
            <a:off x="10040112" y="3730752"/>
            <a:ext cx="1600200" cy="420624"/>
          </a:xfrm>
          <a:prstGeom prst="rect">
            <a:avLst/>
          </a:prstGeom>
          <a:noFill/>
          <a:ln/>
        </p:spPr>
        <p:txBody>
          <a:bodyPr wrap="square" lIns="0" tIns="0" rIns="0" bIns="0" rtlCol="0" anchor="t"/>
          <a:lstStyle/>
          <a:p>
            <a:pPr indent="0" marL="0">
              <a:buNone/>
            </a:pPr>
            <a:r>
              <a:rPr lang="en-US" sz="950" dirty="0">
                <a:solidFill>
                  <a:srgbClr val="5F6B78"/>
                </a:solidFill>
                <a:latin typeface="Calibri" pitchFamily="34" charset="0"/>
                <a:ea typeface="Calibri" pitchFamily="34" charset="-122"/>
                <a:cs typeface="Calibri" pitchFamily="34" charset="-120"/>
              </a:rPr>
              <a:t>Fix: </a:t>
            </a:r>
            <a:pPr indent="0" marL="0">
              <a:buNone/>
            </a:pPr>
            <a:r>
              <a:rPr lang="en-US" sz="950" dirty="0">
                <a:solidFill>
                  <a:srgbClr val="334150"/>
                </a:solidFill>
                <a:latin typeface="Calibri" pitchFamily="34" charset="0"/>
                <a:ea typeface="Calibri" pitchFamily="34" charset="-122"/>
                <a:cs typeface="Calibri" pitchFamily="34" charset="-120"/>
              </a:rPr>
              <a:t>Guides, rolls, coil handling</a:t>
            </a:r>
            <a:endParaRPr lang="en-US" sz="950" dirty="0"/>
          </a:p>
        </p:txBody>
      </p:sp>
      <p:sp>
        <p:nvSpPr>
          <p:cNvPr id="49" name="Shape 41"/>
          <p:cNvSpPr/>
          <p:nvPr/>
        </p:nvSpPr>
        <p:spPr>
          <a:xfrm>
            <a:off x="457200" y="4370832"/>
            <a:ext cx="4572000" cy="274320"/>
          </a:xfrm>
          <a:prstGeom prst="rect">
            <a:avLst/>
          </a:prstGeom>
          <a:solidFill>
            <a:srgbClr val="2B5B80"/>
          </a:solidFill>
          <a:ln w="12700">
            <a:solidFill>
              <a:srgbClr val="2B5B80"/>
            </a:solidFill>
            <a:prstDash val="solid"/>
          </a:ln>
        </p:spPr>
      </p:sp>
      <p:sp>
        <p:nvSpPr>
          <p:cNvPr id="50" name="Text 42"/>
          <p:cNvSpPr txBox="1"/>
          <p:nvPr/>
        </p:nvSpPr>
        <p:spPr>
          <a:xfrm>
            <a:off x="548640" y="4370832"/>
            <a:ext cx="4389120" cy="274320"/>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Three facts that change the brief</a:t>
            </a:r>
            <a:endParaRPr lang="en-US" sz="1100" dirty="0"/>
          </a:p>
        </p:txBody>
      </p:sp>
      <p:sp>
        <p:nvSpPr>
          <p:cNvPr id="51" name="Shape 43"/>
          <p:cNvSpPr/>
          <p:nvPr/>
        </p:nvSpPr>
        <p:spPr>
          <a:xfrm>
            <a:off x="502920" y="4718304"/>
            <a:ext cx="329184" cy="329184"/>
          </a:xfrm>
          <a:prstGeom prst="ellipse">
            <a:avLst/>
          </a:prstGeom>
          <a:solidFill>
            <a:srgbClr val="0086C3"/>
          </a:solidFill>
          <a:ln w="12700">
            <a:solidFill>
              <a:srgbClr val="0086C3"/>
            </a:solidFill>
            <a:prstDash val="solid"/>
          </a:ln>
        </p:spPr>
      </p:sp>
      <p:pic>
        <p:nvPicPr>
          <p:cNvPr id="52" name="Image 6" descr="img/icons/sparkles-white.png">    </p:cNvPr>
          <p:cNvPicPr>
            <a:picLocks noChangeAspect="1"/>
          </p:cNvPicPr>
          <p:nvPr/>
        </p:nvPicPr>
        <p:blipFill>
          <a:blip r:embed="rId7"/>
          <a:stretch>
            <a:fillRect/>
          </a:stretch>
        </p:blipFill>
        <p:spPr>
          <a:xfrm>
            <a:off x="575340" y="4790724"/>
            <a:ext cx="184343" cy="184343"/>
          </a:xfrm>
          <a:prstGeom prst="rect">
            <a:avLst/>
          </a:prstGeom>
        </p:spPr>
      </p:pic>
      <p:sp>
        <p:nvSpPr>
          <p:cNvPr id="53" name="Text 44"/>
          <p:cNvSpPr txBox="1"/>
          <p:nvPr/>
        </p:nvSpPr>
        <p:spPr>
          <a:xfrm>
            <a:off x="932688" y="4718304"/>
            <a:ext cx="4069080" cy="347472"/>
          </a:xfrm>
          <a:prstGeom prst="rect">
            <a:avLst/>
          </a:prstGeom>
          <a:noFill/>
          <a:ln/>
        </p:spPr>
        <p:txBody>
          <a:bodyPr wrap="square" lIns="0" tIns="0" rIns="0" bIns="0" rtlCol="0" anchor="ctr"/>
          <a:lstStyle/>
          <a:p>
            <a:pPr indent="0" marL="0">
              <a:buNone/>
            </a:pPr>
            <a:r>
              <a:rPr lang="en-US" sz="950" b="1" dirty="0">
                <a:solidFill>
                  <a:srgbClr val="143A5A"/>
                </a:solidFill>
                <a:latin typeface="Calibri" pitchFamily="34" charset="0"/>
                <a:ea typeface="Calibri" pitchFamily="34" charset="-122"/>
                <a:cs typeface="Calibri" pitchFamily="34" charset="-120"/>
              </a:rPr>
              <a:t>The finish cannot be repaired.</a:t>
            </a:r>
            <a:pPr indent="0" marL="0">
              <a:buNone/>
            </a:pPr>
            <a:r>
              <a:rPr lang="en-US" sz="950" dirty="0">
                <a:solidFill>
                  <a:srgbClr val="334150"/>
                </a:solidFill>
                <a:latin typeface="Calibri" pitchFamily="34" charset="0"/>
                <a:ea typeface="Calibri" pitchFamily="34" charset="-122"/>
                <a:cs typeface="Calibri" pitchFamily="34" charset="-120"/>
              </a:rPr>
              <a:t> 2B/BA damage cannot be polished out (ASSDA).</a:t>
            </a:r>
            <a:endParaRPr lang="en-US" sz="950" dirty="0"/>
          </a:p>
        </p:txBody>
      </p:sp>
      <p:sp>
        <p:nvSpPr>
          <p:cNvPr id="54" name="Shape 45"/>
          <p:cNvSpPr/>
          <p:nvPr/>
        </p:nvSpPr>
        <p:spPr>
          <a:xfrm>
            <a:off x="502920" y="5120640"/>
            <a:ext cx="329184" cy="329184"/>
          </a:xfrm>
          <a:prstGeom prst="ellipse">
            <a:avLst/>
          </a:prstGeom>
          <a:solidFill>
            <a:srgbClr val="0086C3"/>
          </a:solidFill>
          <a:ln w="12700">
            <a:solidFill>
              <a:srgbClr val="0086C3"/>
            </a:solidFill>
            <a:prstDash val="solid"/>
          </a:ln>
        </p:spPr>
      </p:sp>
      <p:pic>
        <p:nvPicPr>
          <p:cNvPr id="55" name="Image 7" descr="img/icons/layers-white.png">    </p:cNvPr>
          <p:cNvPicPr>
            <a:picLocks noChangeAspect="1"/>
          </p:cNvPicPr>
          <p:nvPr/>
        </p:nvPicPr>
        <p:blipFill>
          <a:blip r:embed="rId8"/>
          <a:stretch>
            <a:fillRect/>
          </a:stretch>
        </p:blipFill>
        <p:spPr>
          <a:xfrm>
            <a:off x="575340" y="5193060"/>
            <a:ext cx="184343" cy="184343"/>
          </a:xfrm>
          <a:prstGeom prst="rect">
            <a:avLst/>
          </a:prstGeom>
        </p:spPr>
      </p:pic>
      <p:sp>
        <p:nvSpPr>
          <p:cNvPr id="56" name="Text 46"/>
          <p:cNvSpPr txBox="1"/>
          <p:nvPr/>
        </p:nvSpPr>
        <p:spPr>
          <a:xfrm>
            <a:off x="932688" y="5120640"/>
            <a:ext cx="4069080" cy="347472"/>
          </a:xfrm>
          <a:prstGeom prst="rect">
            <a:avLst/>
          </a:prstGeom>
          <a:noFill/>
          <a:ln/>
        </p:spPr>
        <p:txBody>
          <a:bodyPr wrap="square" lIns="0" tIns="0" rIns="0" bIns="0" rtlCol="0" anchor="ctr"/>
          <a:lstStyle/>
          <a:p>
            <a:pPr indent="0" marL="0">
              <a:buNone/>
            </a:pPr>
            <a:r>
              <a:rPr lang="en-US" sz="950" b="1" dirty="0">
                <a:solidFill>
                  <a:srgbClr val="143A5A"/>
                </a:solidFill>
                <a:latin typeface="Calibri" pitchFamily="34" charset="0"/>
                <a:ea typeface="Calibri" pitchFamily="34" charset="-122"/>
                <a:cs typeface="Calibri" pitchFamily="34" charset="-120"/>
              </a:rPr>
              <a:t>Surface-critical tonnes are growing.</a:t>
            </a:r>
            <a:pPr indent="0" marL="0">
              <a:buNone/>
            </a:pPr>
            <a:r>
              <a:rPr lang="en-US" sz="950" dirty="0">
                <a:solidFill>
                  <a:srgbClr val="334150"/>
                </a:solidFill>
                <a:latin typeface="Calibri" pitchFamily="34" charset="0"/>
                <a:ea typeface="Calibri" pitchFamily="34" charset="-122"/>
                <a:cs typeface="Calibri" pitchFamily="34" charset="-120"/>
              </a:rPr>
              <a:t> Cold rolling 2.05 → 2.67 MTPA by FY28.</a:t>
            </a:r>
            <a:endParaRPr lang="en-US" sz="950" dirty="0"/>
          </a:p>
        </p:txBody>
      </p:sp>
      <p:sp>
        <p:nvSpPr>
          <p:cNvPr id="57" name="Shape 47"/>
          <p:cNvSpPr/>
          <p:nvPr/>
        </p:nvSpPr>
        <p:spPr>
          <a:xfrm>
            <a:off x="502920" y="5522976"/>
            <a:ext cx="329184" cy="329184"/>
          </a:xfrm>
          <a:prstGeom prst="ellipse">
            <a:avLst/>
          </a:prstGeom>
          <a:solidFill>
            <a:srgbClr val="0086C3"/>
          </a:solidFill>
          <a:ln w="12700">
            <a:solidFill>
              <a:srgbClr val="0086C3"/>
            </a:solidFill>
            <a:prstDash val="solid"/>
          </a:ln>
        </p:spPr>
      </p:sp>
      <p:pic>
        <p:nvPicPr>
          <p:cNvPr id="58" name="Image 8" descr="img/icons/users-white.png">    </p:cNvPr>
          <p:cNvPicPr>
            <a:picLocks noChangeAspect="1"/>
          </p:cNvPicPr>
          <p:nvPr/>
        </p:nvPicPr>
        <p:blipFill>
          <a:blip r:embed="rId9"/>
          <a:stretch>
            <a:fillRect/>
          </a:stretch>
        </p:blipFill>
        <p:spPr>
          <a:xfrm>
            <a:off x="575340" y="5595396"/>
            <a:ext cx="184343" cy="184343"/>
          </a:xfrm>
          <a:prstGeom prst="rect">
            <a:avLst/>
          </a:prstGeom>
        </p:spPr>
      </p:pic>
      <p:sp>
        <p:nvSpPr>
          <p:cNvPr id="59" name="Text 48"/>
          <p:cNvSpPr txBox="1"/>
          <p:nvPr/>
        </p:nvSpPr>
        <p:spPr>
          <a:xfrm>
            <a:off x="932688" y="5522976"/>
            <a:ext cx="4069080" cy="347472"/>
          </a:xfrm>
          <a:prstGeom prst="rect">
            <a:avLst/>
          </a:prstGeom>
          <a:noFill/>
          <a:ln/>
        </p:spPr>
        <p:txBody>
          <a:bodyPr wrap="square" lIns="0" tIns="0" rIns="0" bIns="0" rtlCol="0" anchor="ctr"/>
          <a:lstStyle/>
          <a:p>
            <a:pPr indent="0" marL="0">
              <a:buNone/>
            </a:pPr>
            <a:r>
              <a:rPr lang="en-US" sz="950" b="1" dirty="0">
                <a:solidFill>
                  <a:srgbClr val="143A5A"/>
                </a:solidFill>
                <a:latin typeface="Calibri" pitchFamily="34" charset="0"/>
                <a:ea typeface="Calibri" pitchFamily="34" charset="-122"/>
                <a:cs typeface="Calibri" pitchFamily="34" charset="-120"/>
              </a:rPr>
              <a:t>End markets see the surface.</a:t>
            </a:r>
            <a:pPr indent="0" marL="0">
              <a:buNone/>
            </a:pPr>
            <a:r>
              <a:rPr lang="en-US" sz="950" dirty="0">
                <a:solidFill>
                  <a:srgbClr val="334150"/>
                </a:solidFill>
                <a:latin typeface="Calibri" pitchFamily="34" charset="0"/>
                <a:ea typeface="Calibri" pitchFamily="34" charset="-122"/>
                <a:cs typeface="Calibri" pitchFamily="34" charset="-120"/>
              </a:rPr>
              <a:t> Auto, rail, metros, white goods (Q1 FY27).</a:t>
            </a:r>
            <a:endParaRPr lang="en-US" sz="950" dirty="0"/>
          </a:p>
        </p:txBody>
      </p:sp>
      <p:sp>
        <p:nvSpPr>
          <p:cNvPr id="60" name="Shape 49"/>
          <p:cNvSpPr/>
          <p:nvPr/>
        </p:nvSpPr>
        <p:spPr>
          <a:xfrm>
            <a:off x="5257800" y="4370832"/>
            <a:ext cx="6473952" cy="274320"/>
          </a:xfrm>
          <a:prstGeom prst="rect">
            <a:avLst/>
          </a:prstGeom>
          <a:solidFill>
            <a:srgbClr val="2B5B80"/>
          </a:solidFill>
          <a:ln w="12700">
            <a:solidFill>
              <a:srgbClr val="2B5B80"/>
            </a:solidFill>
            <a:prstDash val="solid"/>
          </a:ln>
        </p:spPr>
      </p:sp>
      <p:sp>
        <p:nvSpPr>
          <p:cNvPr id="61" name="Text 50"/>
          <p:cNvSpPr txBox="1"/>
          <p:nvPr/>
        </p:nvSpPr>
        <p:spPr>
          <a:xfrm>
            <a:off x="5349240" y="4370832"/>
            <a:ext cx="6291072" cy="274320"/>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Grade-by-defect risk: which defects to train for first</a:t>
            </a:r>
            <a:endParaRPr lang="en-US" sz="11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5257800" y="4690872"/>
          <a:ext cx="4572000" cy="914400"/>
        </p:xfrm>
        <a:graphic>
          <a:graphicData uri="http://schemas.openxmlformats.org/drawingml/2006/table">
            <a:tbl>
              <a:tblPr/>
              <a:tblGrid>
                <a:gridCol w="1463040"/>
                <a:gridCol w="621792"/>
                <a:gridCol w="621792"/>
                <a:gridCol w="621792"/>
                <a:gridCol w="621792"/>
                <a:gridCol w="621792"/>
              </a:tblGrid>
              <a:tr h="233172">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Grade</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143A5A"/>
                    </a:solidFill>
                  </a:tcPr>
                </a:tc>
                <a:tc>
                  <a:txBody>
                    <a:bodyPr/>
                    <a:lstStyle/>
                    <a:p>
                      <a:pPr algn="ctr" indent="0" marL="0">
                        <a:buNone/>
                      </a:pPr>
                      <a:r>
                        <a:rPr lang="en-US" sz="950" b="1" dirty="0">
                          <a:solidFill>
                            <a:srgbClr val="FFFFFF"/>
                          </a:solidFill>
                          <a:latin typeface="Calibri" pitchFamily="34" charset="0"/>
                          <a:ea typeface="Calibri" pitchFamily="34" charset="-122"/>
                          <a:cs typeface="Calibri" pitchFamily="34" charset="-120"/>
                        </a:rPr>
                        <a:t>Slivers</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143A5A"/>
                    </a:solidFill>
                  </a:tcPr>
                </a:tc>
                <a:tc>
                  <a:txBody>
                    <a:bodyPr/>
                    <a:lstStyle/>
                    <a:p>
                      <a:pPr algn="ctr" indent="0" marL="0">
                        <a:buNone/>
                      </a:pPr>
                      <a:r>
                        <a:rPr lang="en-US" sz="950" b="1" dirty="0">
                          <a:solidFill>
                            <a:srgbClr val="FFFFFF"/>
                          </a:solidFill>
                          <a:latin typeface="Calibri" pitchFamily="34" charset="0"/>
                          <a:ea typeface="Calibri" pitchFamily="34" charset="-122"/>
                          <a:cs typeface="Calibri" pitchFamily="34" charset="-120"/>
                        </a:rPr>
                        <a:t>Scale</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143A5A"/>
                    </a:solidFill>
                  </a:tcPr>
                </a:tc>
                <a:tc>
                  <a:txBody>
                    <a:bodyPr/>
                    <a:lstStyle/>
                    <a:p>
                      <a:pPr algn="ctr" indent="0" marL="0">
                        <a:buNone/>
                      </a:pPr>
                      <a:r>
                        <a:rPr lang="en-US" sz="950" b="1" dirty="0">
                          <a:solidFill>
                            <a:srgbClr val="FFFFFF"/>
                          </a:solidFill>
                          <a:latin typeface="Calibri" pitchFamily="34" charset="0"/>
                          <a:ea typeface="Calibri" pitchFamily="34" charset="-122"/>
                          <a:cs typeface="Calibri" pitchFamily="34" charset="-120"/>
                        </a:rPr>
                        <a:t>Scratches</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143A5A"/>
                    </a:solidFill>
                  </a:tcPr>
                </a:tc>
                <a:tc>
                  <a:txBody>
                    <a:bodyPr/>
                    <a:lstStyle/>
                    <a:p>
                      <a:pPr algn="ctr" indent="0" marL="0">
                        <a:buNone/>
                      </a:pPr>
                      <a:r>
                        <a:rPr lang="en-US" sz="950" b="1" dirty="0">
                          <a:solidFill>
                            <a:srgbClr val="FFFFFF"/>
                          </a:solidFill>
                          <a:latin typeface="Calibri" pitchFamily="34" charset="0"/>
                          <a:ea typeface="Calibri" pitchFamily="34" charset="-122"/>
                          <a:cs typeface="Calibri" pitchFamily="34" charset="-120"/>
                        </a:rPr>
                        <a:t>Edge cracks</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143A5A"/>
                    </a:solidFill>
                  </a:tcPr>
                </a:tc>
                <a:tc>
                  <a:txBody>
                    <a:bodyPr/>
                    <a:lstStyle/>
                    <a:p>
                      <a:pPr algn="ctr" indent="0" marL="0">
                        <a:buNone/>
                      </a:pPr>
                      <a:r>
                        <a:rPr lang="en-US" sz="950" b="1" dirty="0">
                          <a:solidFill>
                            <a:srgbClr val="FFFFFF"/>
                          </a:solidFill>
                          <a:latin typeface="Calibri" pitchFamily="34" charset="0"/>
                          <a:ea typeface="Calibri" pitchFamily="34" charset="-122"/>
                          <a:cs typeface="Calibri" pitchFamily="34" charset="-120"/>
                        </a:rPr>
                        <a:t>Ridging</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143A5A"/>
                    </a:solidFill>
                  </a:tcPr>
                </a:tc>
              </a:tr>
              <a:tr h="233172">
                <a:tc>
                  <a:txBody>
                    <a:bodyPr/>
                    <a:lstStyle/>
                    <a:p>
                      <a:pPr indent="0" marL="0">
                        <a:buNone/>
                      </a:pPr>
                      <a:r>
                        <a:rPr lang="en-US" sz="950" b="1" dirty="0">
                          <a:solidFill>
                            <a:srgbClr val="141C24"/>
                          </a:solidFill>
                          <a:latin typeface="Calibri" pitchFamily="34" charset="0"/>
                          <a:ea typeface="Calibri" pitchFamily="34" charset="-122"/>
                          <a:cs typeface="Calibri" pitchFamily="34" charset="-120"/>
                        </a:rPr>
                        <a:t>200 series (Cr-Mn)</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FFFFFF"/>
                    </a:solidFill>
                  </a:tcPr>
                </a:tc>
                <a:tc>
                  <a:txBody>
                    <a:bodyPr/>
                    <a:lstStyle/>
                    <a:p>
                      <a:pPr algn="ctr" indent="0" marL="0">
                        <a:buNone/>
                      </a:pPr>
                      <a:r>
                        <a:rPr lang="en-US" sz="950" b="1" dirty="0">
                          <a:solidFill>
                            <a:srgbClr val="141C24"/>
                          </a:solidFill>
                          <a:latin typeface="Calibri" pitchFamily="34" charset="0"/>
                          <a:ea typeface="Calibri" pitchFamily="34" charset="-122"/>
                          <a:cs typeface="Calibri" pitchFamily="34" charset="-120"/>
                        </a:rPr>
                        <a:t>M</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A9CBE6"/>
                    </a:solidFill>
                  </a:tcPr>
                </a:tc>
                <a:tc>
                  <a:txBody>
                    <a:bodyPr/>
                    <a:lstStyle/>
                    <a:p>
                      <a:pPr algn="ctr" indent="0" marL="0">
                        <a:buNone/>
                      </a:pPr>
                      <a:r>
                        <a:rPr lang="en-US" sz="950" b="1" dirty="0">
                          <a:solidFill>
                            <a:srgbClr val="141C24"/>
                          </a:solidFill>
                          <a:latin typeface="Calibri" pitchFamily="34" charset="0"/>
                          <a:ea typeface="Calibri" pitchFamily="34" charset="-122"/>
                          <a:cs typeface="Calibri" pitchFamily="34" charset="-120"/>
                        </a:rPr>
                        <a:t>M</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A9CBE6"/>
                    </a:solidFill>
                  </a:tcPr>
                </a:tc>
                <a:tc>
                  <a:txBody>
                    <a:bodyPr/>
                    <a:lstStyle/>
                    <a:p>
                      <a:pPr algn="ctr" indent="0" marL="0">
                        <a:buNone/>
                      </a:pPr>
                      <a:r>
                        <a:rPr lang="en-US" sz="950" b="1" dirty="0">
                          <a:solidFill>
                            <a:srgbClr val="FFFFFF"/>
                          </a:solidFill>
                          <a:latin typeface="Calibri" pitchFamily="34" charset="0"/>
                          <a:ea typeface="Calibri" pitchFamily="34" charset="-122"/>
                          <a:cs typeface="Calibri" pitchFamily="34" charset="-120"/>
                        </a:rPr>
                        <a:t>H</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1F6FA8"/>
                    </a:solidFill>
                  </a:tcPr>
                </a:tc>
                <a:tc>
                  <a:txBody>
                    <a:bodyPr/>
                    <a:lstStyle/>
                    <a:p>
                      <a:pPr algn="ctr" indent="0" marL="0">
                        <a:buNone/>
                      </a:pPr>
                      <a:r>
                        <a:rPr lang="en-US" sz="950" b="1" dirty="0">
                          <a:solidFill>
                            <a:srgbClr val="141C24"/>
                          </a:solidFill>
                          <a:latin typeface="Calibri" pitchFamily="34" charset="0"/>
                          <a:ea typeface="Calibri" pitchFamily="34" charset="-122"/>
                          <a:cs typeface="Calibri" pitchFamily="34" charset="-120"/>
                        </a:rPr>
                        <a:t>M</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A9CBE6"/>
                    </a:solidFill>
                  </a:tcPr>
                </a:tc>
                <a:tc>
                  <a:txBody>
                    <a:bodyPr/>
                    <a:lstStyle/>
                    <a:p>
                      <a:pPr algn="ctr" indent="0" marL="0">
                        <a:buNone/>
                      </a:pPr>
                      <a:r>
                        <a:rPr lang="en-US" sz="950" b="1" dirty="0">
                          <a:solidFill>
                            <a:srgbClr val="5F6B78"/>
                          </a:solidFill>
                          <a:latin typeface="Calibri" pitchFamily="34" charset="0"/>
                          <a:ea typeface="Calibri" pitchFamily="34" charset="-122"/>
                          <a:cs typeface="Calibri" pitchFamily="34" charset="-120"/>
                        </a:rPr>
                        <a:t>L</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DCEAF5"/>
                    </a:solidFill>
                  </a:tcPr>
                </a:tc>
              </a:tr>
              <a:tr h="233172">
                <a:tc>
                  <a:txBody>
                    <a:bodyPr/>
                    <a:lstStyle/>
                    <a:p>
                      <a:pPr indent="0" marL="0">
                        <a:buNone/>
                      </a:pPr>
                      <a:r>
                        <a:rPr lang="en-US" sz="950" b="1" dirty="0">
                          <a:solidFill>
                            <a:srgbClr val="141C24"/>
                          </a:solidFill>
                          <a:latin typeface="Calibri" pitchFamily="34" charset="0"/>
                          <a:ea typeface="Calibri" pitchFamily="34" charset="-122"/>
                          <a:cs typeface="Calibri" pitchFamily="34" charset="-120"/>
                        </a:rPr>
                        <a:t>300 series (304, 316)</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E4EEF6"/>
                    </a:solidFill>
                  </a:tcPr>
                </a:tc>
                <a:tc>
                  <a:txBody>
                    <a:bodyPr/>
                    <a:lstStyle/>
                    <a:p>
                      <a:pPr algn="ctr" indent="0" marL="0">
                        <a:buNone/>
                      </a:pPr>
                      <a:r>
                        <a:rPr lang="en-US" sz="950" b="1" dirty="0">
                          <a:solidFill>
                            <a:srgbClr val="FFFFFF"/>
                          </a:solidFill>
                          <a:latin typeface="Calibri" pitchFamily="34" charset="0"/>
                          <a:ea typeface="Calibri" pitchFamily="34" charset="-122"/>
                          <a:cs typeface="Calibri" pitchFamily="34" charset="-120"/>
                        </a:rPr>
                        <a:t>H</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1F6FA8"/>
                    </a:solidFill>
                  </a:tcPr>
                </a:tc>
                <a:tc>
                  <a:txBody>
                    <a:bodyPr/>
                    <a:lstStyle/>
                    <a:p>
                      <a:pPr algn="ctr" indent="0" marL="0">
                        <a:buNone/>
                      </a:pPr>
                      <a:r>
                        <a:rPr lang="en-US" sz="950" b="1" dirty="0">
                          <a:solidFill>
                            <a:srgbClr val="141C24"/>
                          </a:solidFill>
                          <a:latin typeface="Calibri" pitchFamily="34" charset="0"/>
                          <a:ea typeface="Calibri" pitchFamily="34" charset="-122"/>
                          <a:cs typeface="Calibri" pitchFamily="34" charset="-120"/>
                        </a:rPr>
                        <a:t>M</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A9CBE6"/>
                    </a:solidFill>
                  </a:tcPr>
                </a:tc>
                <a:tc>
                  <a:txBody>
                    <a:bodyPr/>
                    <a:lstStyle/>
                    <a:p>
                      <a:pPr algn="ctr" indent="0" marL="0">
                        <a:buNone/>
                      </a:pPr>
                      <a:r>
                        <a:rPr lang="en-US" sz="950" b="1" dirty="0">
                          <a:solidFill>
                            <a:srgbClr val="FFFFFF"/>
                          </a:solidFill>
                          <a:latin typeface="Calibri" pitchFamily="34" charset="0"/>
                          <a:ea typeface="Calibri" pitchFamily="34" charset="-122"/>
                          <a:cs typeface="Calibri" pitchFamily="34" charset="-120"/>
                        </a:rPr>
                        <a:t>H</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1F6FA8"/>
                    </a:solidFill>
                  </a:tcPr>
                </a:tc>
                <a:tc>
                  <a:txBody>
                    <a:bodyPr/>
                    <a:lstStyle/>
                    <a:p>
                      <a:pPr algn="ctr" indent="0" marL="0">
                        <a:buNone/>
                      </a:pPr>
                      <a:r>
                        <a:rPr lang="en-US" sz="950" b="1" dirty="0">
                          <a:solidFill>
                            <a:srgbClr val="5F6B78"/>
                          </a:solidFill>
                          <a:latin typeface="Calibri" pitchFamily="34" charset="0"/>
                          <a:ea typeface="Calibri" pitchFamily="34" charset="-122"/>
                          <a:cs typeface="Calibri" pitchFamily="34" charset="-120"/>
                        </a:rPr>
                        <a:t>L</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DCEAF5"/>
                    </a:solidFill>
                  </a:tcPr>
                </a:tc>
                <a:tc>
                  <a:txBody>
                    <a:bodyPr/>
                    <a:lstStyle/>
                    <a:p>
                      <a:pPr algn="ctr" indent="0" marL="0">
                        <a:buNone/>
                      </a:pPr>
                      <a:r>
                        <a:rPr lang="en-US" sz="950" b="1" dirty="0">
                          <a:solidFill>
                            <a:srgbClr val="5F6B78"/>
                          </a:solidFill>
                          <a:latin typeface="Calibri" pitchFamily="34" charset="0"/>
                          <a:ea typeface="Calibri" pitchFamily="34" charset="-122"/>
                          <a:cs typeface="Calibri" pitchFamily="34" charset="-120"/>
                        </a:rPr>
                        <a:t>L</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DCEAF5"/>
                    </a:solidFill>
                  </a:tcPr>
                </a:tc>
              </a:tr>
              <a:tr h="233172">
                <a:tc>
                  <a:txBody>
                    <a:bodyPr/>
                    <a:lstStyle/>
                    <a:p>
                      <a:pPr indent="0" marL="0">
                        <a:buNone/>
                      </a:pPr>
                      <a:r>
                        <a:rPr lang="en-US" sz="950" b="1" dirty="0">
                          <a:solidFill>
                            <a:srgbClr val="141C24"/>
                          </a:solidFill>
                          <a:latin typeface="Calibri" pitchFamily="34" charset="0"/>
                          <a:ea typeface="Calibri" pitchFamily="34" charset="-122"/>
                          <a:cs typeface="Calibri" pitchFamily="34" charset="-120"/>
                        </a:rPr>
                        <a:t>400 series (409, 430)</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FFFFFF"/>
                    </a:solidFill>
                  </a:tcPr>
                </a:tc>
                <a:tc>
                  <a:txBody>
                    <a:bodyPr/>
                    <a:lstStyle/>
                    <a:p>
                      <a:pPr algn="ctr" indent="0" marL="0">
                        <a:buNone/>
                      </a:pPr>
                      <a:r>
                        <a:rPr lang="en-US" sz="950" b="1" dirty="0">
                          <a:solidFill>
                            <a:srgbClr val="FFFFFF"/>
                          </a:solidFill>
                          <a:latin typeface="Calibri" pitchFamily="34" charset="0"/>
                          <a:ea typeface="Calibri" pitchFamily="34" charset="-122"/>
                          <a:cs typeface="Calibri" pitchFamily="34" charset="-120"/>
                        </a:rPr>
                        <a:t>H</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1F6FA8"/>
                    </a:solidFill>
                  </a:tcPr>
                </a:tc>
                <a:tc>
                  <a:txBody>
                    <a:bodyPr/>
                    <a:lstStyle/>
                    <a:p>
                      <a:pPr algn="ctr" indent="0" marL="0">
                        <a:buNone/>
                      </a:pPr>
                      <a:r>
                        <a:rPr lang="en-US" sz="950" b="1" dirty="0">
                          <a:solidFill>
                            <a:srgbClr val="141C24"/>
                          </a:solidFill>
                          <a:latin typeface="Calibri" pitchFamily="34" charset="0"/>
                          <a:ea typeface="Calibri" pitchFamily="34" charset="-122"/>
                          <a:cs typeface="Calibri" pitchFamily="34" charset="-120"/>
                        </a:rPr>
                        <a:t>M</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A9CBE6"/>
                    </a:solidFill>
                  </a:tcPr>
                </a:tc>
                <a:tc>
                  <a:txBody>
                    <a:bodyPr/>
                    <a:lstStyle/>
                    <a:p>
                      <a:pPr algn="ctr" indent="0" marL="0">
                        <a:buNone/>
                      </a:pPr>
                      <a:r>
                        <a:rPr lang="en-US" sz="950" b="1" dirty="0">
                          <a:solidFill>
                            <a:srgbClr val="141C24"/>
                          </a:solidFill>
                          <a:latin typeface="Calibri" pitchFamily="34" charset="0"/>
                          <a:ea typeface="Calibri" pitchFamily="34" charset="-122"/>
                          <a:cs typeface="Calibri" pitchFamily="34" charset="-120"/>
                        </a:rPr>
                        <a:t>M</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A9CBE6"/>
                    </a:solidFill>
                  </a:tcPr>
                </a:tc>
                <a:tc>
                  <a:txBody>
                    <a:bodyPr/>
                    <a:lstStyle/>
                    <a:p>
                      <a:pPr algn="ctr" indent="0" marL="0">
                        <a:buNone/>
                      </a:pPr>
                      <a:r>
                        <a:rPr lang="en-US" sz="950" b="1" dirty="0">
                          <a:solidFill>
                            <a:srgbClr val="141C24"/>
                          </a:solidFill>
                          <a:latin typeface="Calibri" pitchFamily="34" charset="0"/>
                          <a:ea typeface="Calibri" pitchFamily="34" charset="-122"/>
                          <a:cs typeface="Calibri" pitchFamily="34" charset="-120"/>
                        </a:rPr>
                        <a:t>M</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A9CBE6"/>
                    </a:solidFill>
                  </a:tcPr>
                </a:tc>
                <a:tc>
                  <a:txBody>
                    <a:bodyPr/>
                    <a:lstStyle/>
                    <a:p>
                      <a:pPr algn="ctr" indent="0" marL="0">
                        <a:buNone/>
                      </a:pPr>
                      <a:r>
                        <a:rPr lang="en-US" sz="950" b="1" dirty="0">
                          <a:solidFill>
                            <a:srgbClr val="FFFFFF"/>
                          </a:solidFill>
                          <a:latin typeface="Calibri" pitchFamily="34" charset="0"/>
                          <a:ea typeface="Calibri" pitchFamily="34" charset="-122"/>
                          <a:cs typeface="Calibri" pitchFamily="34" charset="-120"/>
                        </a:rPr>
                        <a:t>H</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1F6FA8"/>
                    </a:solidFill>
                  </a:tcPr>
                </a:tc>
              </a:tr>
              <a:tr h="233172">
                <a:tc>
                  <a:txBody>
                    <a:bodyPr/>
                    <a:lstStyle/>
                    <a:p>
                      <a:pPr indent="0" marL="0">
                        <a:buNone/>
                      </a:pPr>
                      <a:r>
                        <a:rPr lang="en-US" sz="950" b="1" dirty="0">
                          <a:solidFill>
                            <a:srgbClr val="141C24"/>
                          </a:solidFill>
                          <a:latin typeface="Calibri" pitchFamily="34" charset="0"/>
                          <a:ea typeface="Calibri" pitchFamily="34" charset="-122"/>
                          <a:cs typeface="Calibri" pitchFamily="34" charset="-120"/>
                        </a:rPr>
                        <a:t>Duplex (2205)</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FFFFFF"/>
                    </a:solidFill>
                  </a:tcPr>
                </a:tc>
                <a:tc>
                  <a:txBody>
                    <a:bodyPr/>
                    <a:lstStyle/>
                    <a:p>
                      <a:pPr algn="ctr" indent="0" marL="0">
                        <a:buNone/>
                      </a:pPr>
                      <a:r>
                        <a:rPr lang="en-US" sz="950" b="1" dirty="0">
                          <a:solidFill>
                            <a:srgbClr val="141C24"/>
                          </a:solidFill>
                          <a:latin typeface="Calibri" pitchFamily="34" charset="0"/>
                          <a:ea typeface="Calibri" pitchFamily="34" charset="-122"/>
                          <a:cs typeface="Calibri" pitchFamily="34" charset="-120"/>
                        </a:rPr>
                        <a:t>M</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A9CBE6"/>
                    </a:solidFill>
                  </a:tcPr>
                </a:tc>
                <a:tc>
                  <a:txBody>
                    <a:bodyPr/>
                    <a:lstStyle/>
                    <a:p>
                      <a:pPr algn="ctr" indent="0" marL="0">
                        <a:buNone/>
                      </a:pPr>
                      <a:r>
                        <a:rPr lang="en-US" sz="950" b="1" dirty="0">
                          <a:solidFill>
                            <a:srgbClr val="FFFFFF"/>
                          </a:solidFill>
                          <a:latin typeface="Calibri" pitchFamily="34" charset="0"/>
                          <a:ea typeface="Calibri" pitchFamily="34" charset="-122"/>
                          <a:cs typeface="Calibri" pitchFamily="34" charset="-120"/>
                        </a:rPr>
                        <a:t>H</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1F6FA8"/>
                    </a:solidFill>
                  </a:tcPr>
                </a:tc>
                <a:tc>
                  <a:txBody>
                    <a:bodyPr/>
                    <a:lstStyle/>
                    <a:p>
                      <a:pPr algn="ctr" indent="0" marL="0">
                        <a:buNone/>
                      </a:pPr>
                      <a:r>
                        <a:rPr lang="en-US" sz="950" b="1" dirty="0">
                          <a:solidFill>
                            <a:srgbClr val="141C24"/>
                          </a:solidFill>
                          <a:latin typeface="Calibri" pitchFamily="34" charset="0"/>
                          <a:ea typeface="Calibri" pitchFamily="34" charset="-122"/>
                          <a:cs typeface="Calibri" pitchFamily="34" charset="-120"/>
                        </a:rPr>
                        <a:t>M</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A9CBE6"/>
                    </a:solidFill>
                  </a:tcPr>
                </a:tc>
                <a:tc>
                  <a:txBody>
                    <a:bodyPr/>
                    <a:lstStyle/>
                    <a:p>
                      <a:pPr algn="ctr" indent="0" marL="0">
                        <a:buNone/>
                      </a:pPr>
                      <a:r>
                        <a:rPr lang="en-US" sz="950" b="1" dirty="0">
                          <a:solidFill>
                            <a:srgbClr val="FFFFFF"/>
                          </a:solidFill>
                          <a:latin typeface="Calibri" pitchFamily="34" charset="0"/>
                          <a:ea typeface="Calibri" pitchFamily="34" charset="-122"/>
                          <a:cs typeface="Calibri" pitchFamily="34" charset="-120"/>
                        </a:rPr>
                        <a:t>H</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1F6FA8"/>
                    </a:solidFill>
                  </a:tcPr>
                </a:tc>
                <a:tc>
                  <a:txBody>
                    <a:bodyPr/>
                    <a:lstStyle/>
                    <a:p>
                      <a:pPr algn="ctr" indent="0" marL="0">
                        <a:buNone/>
                      </a:pPr>
                      <a:r>
                        <a:rPr lang="en-US" sz="950" b="1" dirty="0">
                          <a:solidFill>
                            <a:srgbClr val="5F6B78"/>
                          </a:solidFill>
                          <a:latin typeface="Calibri" pitchFamily="34" charset="0"/>
                          <a:ea typeface="Calibri" pitchFamily="34" charset="-122"/>
                          <a:cs typeface="Calibri" pitchFamily="34" charset="-120"/>
                        </a:rPr>
                        <a:t>L</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DCEAF5"/>
                    </a:solidFill>
                  </a:tcPr>
                </a:tc>
              </a:tr>
            </a:tbl>
          </a:graphicData>
        </a:graphic>
      </p:graphicFrame>
      <p:sp>
        <p:nvSpPr>
          <p:cNvPr id="63" name="Shape 51"/>
          <p:cNvSpPr/>
          <p:nvPr/>
        </p:nvSpPr>
        <p:spPr>
          <a:xfrm>
            <a:off x="9966960" y="4690872"/>
            <a:ext cx="1764792" cy="1170432"/>
          </a:xfrm>
          <a:prstGeom prst="roundRect">
            <a:avLst>
              <a:gd name="adj" fmla="val 4688"/>
            </a:avLst>
          </a:prstGeom>
          <a:solidFill>
            <a:srgbClr val="143A5A"/>
          </a:solidFill>
          <a:ln w="12700">
            <a:solidFill>
              <a:srgbClr val="143A5A"/>
            </a:solidFill>
            <a:prstDash val="solid"/>
          </a:ln>
        </p:spPr>
      </p:sp>
      <p:sp>
        <p:nvSpPr>
          <p:cNvPr id="64" name="Text 52"/>
          <p:cNvSpPr txBox="1"/>
          <p:nvPr/>
        </p:nvSpPr>
        <p:spPr>
          <a:xfrm>
            <a:off x="10058400" y="4736592"/>
            <a:ext cx="1600200" cy="1097280"/>
          </a:xfrm>
          <a:prstGeom prst="rect">
            <a:avLst/>
          </a:prstGeom>
          <a:noFill/>
          <a:ln/>
        </p:spPr>
        <p:txBody>
          <a:bodyPr wrap="square" lIns="0" tIns="0" rIns="0" bIns="0" rtlCol="0" anchor="t"/>
          <a:lstStyle/>
          <a:p>
            <a:pPr indent="0" marL="0">
              <a:buNone/>
            </a:pPr>
            <a:r>
              <a:rPr lang="en-US" sz="900" b="1" dirty="0">
                <a:solidFill>
                  <a:srgbClr val="BFD2E2"/>
                </a:solidFill>
                <a:latin typeface="Calibri" pitchFamily="34" charset="0"/>
                <a:ea typeface="Calibri" pitchFamily="34" charset="-122"/>
                <a:cs typeface="Calibri" pitchFamily="34" charset="-120"/>
              </a:rPr>
              <a:t>OUTPUT
</a:t>
            </a:r>
            <a:pPr indent="0" marL="0">
              <a:buNone/>
            </a:pPr>
            <a:r>
              <a:rPr lang="en-US" sz="950" b="1" dirty="0">
                <a:solidFill>
                  <a:srgbClr val="FFFFFF"/>
                </a:solidFill>
                <a:latin typeface="Calibri" pitchFamily="34" charset="0"/>
                <a:ea typeface="Calibri" pitchFamily="34" charset="-122"/>
                <a:cs typeface="Calibri" pitchFamily="34" charset="-120"/>
              </a:rPr>
              <a:t>300 series is the pilot grade: </a:t>
            </a:r>
            <a:pPr indent="0" marL="0">
              <a:buNone/>
            </a:pPr>
            <a:r>
              <a:rPr lang="en-US" sz="950" dirty="0">
                <a:solidFill>
                  <a:srgbClr val="BFD2E2"/>
                </a:solidFill>
                <a:latin typeface="Calibri" pitchFamily="34" charset="0"/>
                <a:ea typeface="Calibri" pitchFamily="34" charset="-122"/>
                <a:cs typeface="Calibri" pitchFamily="34" charset="-120"/>
              </a:rPr>
              <a:t>highest exposed-finish risk and the most nickel per tonne.</a:t>
            </a:r>
            <a:endParaRPr lang="en-US" sz="9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201168"/>
            <a:ext cx="1481328" cy="274320"/>
          </a:xfrm>
          <a:prstGeom prst="rect">
            <a:avLst/>
          </a:prstGeom>
          <a:solidFill>
            <a:srgbClr val="F1F4F7"/>
          </a:solidFill>
          <a:ln w="12700">
            <a:solidFill>
              <a:srgbClr val="F1F4F7"/>
            </a:solidFill>
            <a:prstDash val="solid"/>
          </a:ln>
        </p:spPr>
      </p:sp>
      <p:sp>
        <p:nvSpPr>
          <p:cNvPr id="3" name="Text 1"/>
          <p:cNvSpPr txBox="1"/>
          <p:nvPr/>
        </p:nvSpPr>
        <p:spPr>
          <a:xfrm>
            <a:off x="457200" y="201168"/>
            <a:ext cx="1481328" cy="274320"/>
          </a:xfrm>
          <a:prstGeom prst="rect">
            <a:avLst/>
          </a:prstGeom>
          <a:noFill/>
          <a:ln/>
        </p:spPr>
        <p:txBody>
          <a:bodyPr wrap="square" lIns="0" tIns="0" rIns="0" bIns="0" rtlCol="0" anchor="ctr"/>
          <a:lstStyle/>
          <a:p>
            <a:pPr algn="ctr" indent="0" marL="0">
              <a:buNone/>
            </a:pPr>
            <a:r>
              <a:rPr lang="en-US" sz="1000" dirty="0">
                <a:solidFill>
                  <a:srgbClr val="5F6B78"/>
                </a:solidFill>
                <a:latin typeface="Calibri" pitchFamily="34" charset="0"/>
                <a:ea typeface="Calibri" pitchFamily="34" charset="-122"/>
                <a:cs typeface="Calibri" pitchFamily="34" charset="-120"/>
              </a:rPr>
              <a:t>1  Problem</a:t>
            </a:r>
            <a:endParaRPr lang="en-US" sz="1000" dirty="0"/>
          </a:p>
        </p:txBody>
      </p:sp>
      <p:sp>
        <p:nvSpPr>
          <p:cNvPr id="4" name="Shape 2"/>
          <p:cNvSpPr/>
          <p:nvPr/>
        </p:nvSpPr>
        <p:spPr>
          <a:xfrm>
            <a:off x="1993392" y="201168"/>
            <a:ext cx="1481328" cy="274320"/>
          </a:xfrm>
          <a:prstGeom prst="rect">
            <a:avLst/>
          </a:prstGeom>
          <a:solidFill>
            <a:srgbClr val="143A5A"/>
          </a:solidFill>
          <a:ln w="12700">
            <a:solidFill>
              <a:srgbClr val="143A5A"/>
            </a:solidFill>
            <a:prstDash val="solid"/>
          </a:ln>
        </p:spPr>
      </p:sp>
      <p:sp>
        <p:nvSpPr>
          <p:cNvPr id="5" name="Text 3"/>
          <p:cNvSpPr txBox="1"/>
          <p:nvPr/>
        </p:nvSpPr>
        <p:spPr>
          <a:xfrm>
            <a:off x="1993392" y="201168"/>
            <a:ext cx="1481328"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2  Insights</a:t>
            </a:r>
            <a:endParaRPr lang="en-US" sz="1000" dirty="0"/>
          </a:p>
        </p:txBody>
      </p:sp>
      <p:sp>
        <p:nvSpPr>
          <p:cNvPr id="6" name="Shape 4"/>
          <p:cNvSpPr/>
          <p:nvPr/>
        </p:nvSpPr>
        <p:spPr>
          <a:xfrm>
            <a:off x="3529584" y="201168"/>
            <a:ext cx="1481328" cy="274320"/>
          </a:xfrm>
          <a:prstGeom prst="rect">
            <a:avLst/>
          </a:prstGeom>
          <a:solidFill>
            <a:srgbClr val="F1F4F7"/>
          </a:solidFill>
          <a:ln w="12700">
            <a:solidFill>
              <a:srgbClr val="F1F4F7"/>
            </a:solidFill>
            <a:prstDash val="solid"/>
          </a:ln>
        </p:spPr>
      </p:sp>
      <p:sp>
        <p:nvSpPr>
          <p:cNvPr id="7" name="Text 5"/>
          <p:cNvSpPr txBox="1"/>
          <p:nvPr/>
        </p:nvSpPr>
        <p:spPr>
          <a:xfrm>
            <a:off x="3529584" y="201168"/>
            <a:ext cx="1481328" cy="274320"/>
          </a:xfrm>
          <a:prstGeom prst="rect">
            <a:avLst/>
          </a:prstGeom>
          <a:noFill/>
          <a:ln/>
        </p:spPr>
        <p:txBody>
          <a:bodyPr wrap="square" lIns="0" tIns="0" rIns="0" bIns="0" rtlCol="0" anchor="ctr"/>
          <a:lstStyle/>
          <a:p>
            <a:pPr algn="ctr" indent="0" marL="0">
              <a:buNone/>
            </a:pPr>
            <a:r>
              <a:rPr lang="en-US" sz="1000" dirty="0">
                <a:solidFill>
                  <a:srgbClr val="5F6B78"/>
                </a:solidFill>
                <a:latin typeface="Calibri" pitchFamily="34" charset="0"/>
                <a:ea typeface="Calibri" pitchFamily="34" charset="-122"/>
                <a:cs typeface="Calibri" pitchFamily="34" charset="-120"/>
              </a:rPr>
              <a:t>3  Solution</a:t>
            </a:r>
            <a:endParaRPr lang="en-US" sz="1000" dirty="0"/>
          </a:p>
        </p:txBody>
      </p:sp>
      <p:sp>
        <p:nvSpPr>
          <p:cNvPr id="8" name="Shape 6"/>
          <p:cNvSpPr/>
          <p:nvPr/>
        </p:nvSpPr>
        <p:spPr>
          <a:xfrm>
            <a:off x="5065776" y="201168"/>
            <a:ext cx="1481328" cy="274320"/>
          </a:xfrm>
          <a:prstGeom prst="rect">
            <a:avLst/>
          </a:prstGeom>
          <a:solidFill>
            <a:srgbClr val="F1F4F7"/>
          </a:solidFill>
          <a:ln w="12700">
            <a:solidFill>
              <a:srgbClr val="F1F4F7"/>
            </a:solidFill>
            <a:prstDash val="solid"/>
          </a:ln>
        </p:spPr>
      </p:sp>
      <p:sp>
        <p:nvSpPr>
          <p:cNvPr id="9" name="Text 7"/>
          <p:cNvSpPr txBox="1"/>
          <p:nvPr/>
        </p:nvSpPr>
        <p:spPr>
          <a:xfrm>
            <a:off x="5065776" y="201168"/>
            <a:ext cx="1481328" cy="274320"/>
          </a:xfrm>
          <a:prstGeom prst="rect">
            <a:avLst/>
          </a:prstGeom>
          <a:noFill/>
          <a:ln/>
        </p:spPr>
        <p:txBody>
          <a:bodyPr wrap="square" lIns="0" tIns="0" rIns="0" bIns="0" rtlCol="0" anchor="ctr"/>
          <a:lstStyle/>
          <a:p>
            <a:pPr algn="ctr" indent="0" marL="0">
              <a:buNone/>
            </a:pPr>
            <a:r>
              <a:rPr lang="en-US" sz="1000" dirty="0">
                <a:solidFill>
                  <a:srgbClr val="5F6B78"/>
                </a:solidFill>
                <a:latin typeface="Calibri" pitchFamily="34" charset="0"/>
                <a:ea typeface="Calibri" pitchFamily="34" charset="-122"/>
                <a:cs typeface="Calibri" pitchFamily="34" charset="-120"/>
              </a:rPr>
              <a:t>4  Implementation</a:t>
            </a:r>
            <a:endParaRPr lang="en-US" sz="1000" dirty="0"/>
          </a:p>
        </p:txBody>
      </p:sp>
      <p:sp>
        <p:nvSpPr>
          <p:cNvPr id="10" name="Shape 8"/>
          <p:cNvSpPr/>
          <p:nvPr/>
        </p:nvSpPr>
        <p:spPr>
          <a:xfrm>
            <a:off x="6601968" y="201168"/>
            <a:ext cx="1481328" cy="274320"/>
          </a:xfrm>
          <a:prstGeom prst="rect">
            <a:avLst/>
          </a:prstGeom>
          <a:solidFill>
            <a:srgbClr val="F1F4F7"/>
          </a:solidFill>
          <a:ln w="12700">
            <a:solidFill>
              <a:srgbClr val="F1F4F7"/>
            </a:solidFill>
            <a:prstDash val="solid"/>
          </a:ln>
        </p:spPr>
      </p:sp>
      <p:sp>
        <p:nvSpPr>
          <p:cNvPr id="11" name="Text 9"/>
          <p:cNvSpPr txBox="1"/>
          <p:nvPr/>
        </p:nvSpPr>
        <p:spPr>
          <a:xfrm>
            <a:off x="6601968" y="201168"/>
            <a:ext cx="1481328" cy="274320"/>
          </a:xfrm>
          <a:prstGeom prst="rect">
            <a:avLst/>
          </a:prstGeom>
          <a:noFill/>
          <a:ln/>
        </p:spPr>
        <p:txBody>
          <a:bodyPr wrap="square" lIns="0" tIns="0" rIns="0" bIns="0" rtlCol="0" anchor="ctr"/>
          <a:lstStyle/>
          <a:p>
            <a:pPr algn="ctr" indent="0" marL="0">
              <a:buNone/>
            </a:pPr>
            <a:r>
              <a:rPr lang="en-US" sz="1000" dirty="0">
                <a:solidFill>
                  <a:srgbClr val="5F6B78"/>
                </a:solidFill>
                <a:latin typeface="Calibri" pitchFamily="34" charset="0"/>
                <a:ea typeface="Calibri" pitchFamily="34" charset="-122"/>
                <a:cs typeface="Calibri" pitchFamily="34" charset="-120"/>
              </a:rPr>
              <a:t>5  Impact</a:t>
            </a:r>
            <a:endParaRPr lang="en-US" sz="1000" dirty="0"/>
          </a:p>
        </p:txBody>
      </p:sp>
      <p:sp>
        <p:nvSpPr>
          <p:cNvPr id="12" name="Text 10"/>
          <p:cNvSpPr txBox="1"/>
          <p:nvPr/>
        </p:nvSpPr>
        <p:spPr>
          <a:xfrm>
            <a:off x="8229600" y="201168"/>
            <a:ext cx="3502152" cy="274320"/>
          </a:xfrm>
          <a:prstGeom prst="rect">
            <a:avLst/>
          </a:prstGeom>
          <a:noFill/>
          <a:ln/>
        </p:spPr>
        <p:txBody>
          <a:bodyPr wrap="square" lIns="0" tIns="0" rIns="0" bIns="0" rtlCol="0" anchor="ctr"/>
          <a:lstStyle/>
          <a:p>
            <a:pPr algn="r" indent="0" marL="0">
              <a:buNone/>
            </a:pPr>
            <a:r>
              <a:rPr lang="en-US" sz="900" dirty="0">
                <a:solidFill>
                  <a:srgbClr val="5F6B78"/>
                </a:solidFill>
                <a:latin typeface="Calibri" pitchFamily="34" charset="0"/>
                <a:ea typeface="Calibri" pitchFamily="34" charset="-122"/>
                <a:cs typeface="Calibri" pitchFamily="34" charset="-120"/>
              </a:rPr>
              <a:t>STAINLESS SPARK ROUND 2  |  PS1  |  IIT Bombay</a:t>
            </a:r>
            <a:endParaRPr lang="en-US" sz="900" dirty="0"/>
          </a:p>
        </p:txBody>
      </p:sp>
      <p:sp>
        <p:nvSpPr>
          <p:cNvPr id="13" name="Text 11"/>
          <p:cNvSpPr txBox="1"/>
          <p:nvPr/>
        </p:nvSpPr>
        <p:spPr>
          <a:xfrm>
            <a:off x="457200" y="566928"/>
            <a:ext cx="11274552" cy="566928"/>
          </a:xfrm>
          <a:prstGeom prst="rect">
            <a:avLst/>
          </a:prstGeom>
          <a:noFill/>
          <a:ln/>
        </p:spPr>
        <p:txBody>
          <a:bodyPr wrap="square" lIns="0" tIns="0" rIns="0" bIns="0" rtlCol="0" anchor="ctr"/>
          <a:lstStyle/>
          <a:p>
            <a:pPr indent="0" marL="0">
              <a:buNone/>
            </a:pPr>
            <a:r>
              <a:rPr lang="en-US" sz="2000" b="1" dirty="0">
                <a:solidFill>
                  <a:srgbClr val="143A5A"/>
                </a:solidFill>
                <a:latin typeface="Calibri" pitchFamily="34" charset="0"/>
                <a:ea typeface="Calibri" pitchFamily="34" charset="-122"/>
                <a:cs typeface="Calibri" pitchFamily="34" charset="-120"/>
              </a:rPr>
              <a:t>Our tests produced four findings, and each one changed the design</a:t>
            </a:r>
            <a:endParaRPr lang="en-US" sz="2000" dirty="0"/>
          </a:p>
        </p:txBody>
      </p:sp>
      <p:sp>
        <p:nvSpPr>
          <p:cNvPr id="14" name="Shape 12"/>
          <p:cNvSpPr/>
          <p:nvPr/>
        </p:nvSpPr>
        <p:spPr>
          <a:xfrm>
            <a:off x="457200" y="6236208"/>
            <a:ext cx="11274552" cy="420624"/>
          </a:xfrm>
          <a:prstGeom prst="rect">
            <a:avLst/>
          </a:prstGeom>
          <a:solidFill>
            <a:srgbClr val="143A5A"/>
          </a:solidFill>
          <a:ln w="12700">
            <a:solidFill>
              <a:srgbClr val="143A5A"/>
            </a:solidFill>
            <a:prstDash val="solid"/>
          </a:ln>
        </p:spPr>
      </p:sp>
      <p:sp>
        <p:nvSpPr>
          <p:cNvPr id="15" name="Text 13"/>
          <p:cNvSpPr txBox="1"/>
          <p:nvPr/>
        </p:nvSpPr>
        <p:spPr>
          <a:xfrm>
            <a:off x="621792" y="6236208"/>
            <a:ext cx="10972800" cy="420624"/>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The model is the cheap part. JSL's own strip, the image resolution and trustworthy confidence decide whether the system works.</a:t>
            </a:r>
            <a:endParaRPr lang="en-US" sz="1200" dirty="0"/>
          </a:p>
        </p:txBody>
      </p:sp>
      <p:sp>
        <p:nvSpPr>
          <p:cNvPr id="16" name="Text 14"/>
          <p:cNvSpPr txBox="1"/>
          <p:nvPr/>
        </p:nvSpPr>
        <p:spPr>
          <a:xfrm>
            <a:off x="457200" y="5971032"/>
            <a:ext cx="11274552" cy="237744"/>
          </a:xfrm>
          <a:prstGeom prst="rect">
            <a:avLst/>
          </a:prstGeom>
          <a:noFill/>
          <a:ln/>
        </p:spPr>
        <p:txBody>
          <a:bodyPr wrap="square" lIns="0" tIns="0" rIns="0" bIns="0" rtlCol="0" anchor="ctr"/>
          <a:lstStyle/>
          <a:p>
            <a:pPr indent="0" marL="0">
              <a:buNone/>
            </a:pPr>
            <a:r>
              <a:rPr lang="en-US" sz="900" dirty="0">
                <a:solidFill>
                  <a:srgbClr val="5F6B78"/>
                </a:solidFill>
                <a:latin typeface="Calibri" pitchFamily="34" charset="0"/>
                <a:ea typeface="Calibri" pitchFamily="34" charset="-122"/>
                <a:cs typeface="Calibri" pitchFamily="34" charset="-120"/>
              </a:rPr>
              <a:t>All numbers measured by us on three public steel-surface datasets, on images the model never saw in training.</a:t>
            </a:r>
            <a:endParaRPr lang="en-US" sz="900" dirty="0"/>
          </a:p>
        </p:txBody>
      </p:sp>
      <p:sp>
        <p:nvSpPr>
          <p:cNvPr id="17" name="Shape 15"/>
          <p:cNvSpPr/>
          <p:nvPr/>
        </p:nvSpPr>
        <p:spPr>
          <a:xfrm>
            <a:off x="457200" y="1234440"/>
            <a:ext cx="5541264" cy="274320"/>
          </a:xfrm>
          <a:prstGeom prst="rect">
            <a:avLst/>
          </a:prstGeom>
          <a:solidFill>
            <a:srgbClr val="2B5B80"/>
          </a:solidFill>
          <a:ln w="12700">
            <a:solidFill>
              <a:srgbClr val="2B5B80"/>
            </a:solidFill>
            <a:prstDash val="solid"/>
          </a:ln>
        </p:spPr>
      </p:sp>
      <p:sp>
        <p:nvSpPr>
          <p:cNvPr id="18" name="Text 16"/>
          <p:cNvSpPr txBox="1"/>
          <p:nvPr/>
        </p:nvSpPr>
        <p:spPr>
          <a:xfrm>
            <a:off x="548640" y="1234440"/>
            <a:ext cx="5358384" cy="274320"/>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1  A model that never saw clean steel cries wolf</a:t>
            </a:r>
            <a:endParaRPr lang="en-US" sz="1100" dirty="0"/>
          </a:p>
        </p:txBody>
      </p:sp>
      <p:sp>
        <p:nvSpPr>
          <p:cNvPr id="19" name="Shape 17"/>
          <p:cNvSpPr/>
          <p:nvPr/>
        </p:nvSpPr>
        <p:spPr>
          <a:xfrm>
            <a:off x="457200" y="1508760"/>
            <a:ext cx="5541264" cy="1984248"/>
          </a:xfrm>
          <a:prstGeom prst="roundRect">
            <a:avLst>
              <a:gd name="adj" fmla="val 2765"/>
            </a:avLst>
          </a:prstGeom>
          <a:solidFill>
            <a:srgbClr val="F1F4F7"/>
          </a:solidFill>
          <a:ln w="12700">
            <a:solidFill>
              <a:srgbClr val="F1F4F7"/>
            </a:solidFill>
            <a:prstDash val="solid"/>
          </a:ln>
        </p:spPr>
      </p:sp>
      <p:graphicFrame>
        <p:nvGraphicFramePr>
          <p:cNvPr id="20" name="Chart 0" descr=""/>
          <p:cNvGraphicFramePr/>
          <p:nvPr/>
        </p:nvGraphicFramePr>
        <p:xfrm>
          <a:off x="548640" y="1572768"/>
          <a:ext cx="5358384" cy="1554480"/>
        </p:xfrm>
        <a:graphic xmlns:a="http://schemas.openxmlformats.org/drawingml/2006/main">
          <a:graphicData uri="http://schemas.openxmlformats.org/drawingml/2006/chart">
            <c:chart xmlns:c="http://schemas.openxmlformats.org/drawingml/2006/chart" r:id="rId1"/>
          </a:graphicData>
        </a:graphic>
      </p:graphicFrame>
      <p:sp>
        <p:nvSpPr>
          <p:cNvPr id="21" name="Text 18"/>
          <p:cNvSpPr txBox="1"/>
          <p:nvPr/>
        </p:nvSpPr>
        <p:spPr>
          <a:xfrm>
            <a:off x="594360" y="3163824"/>
            <a:ext cx="5266944" cy="274320"/>
          </a:xfrm>
          <a:prstGeom prst="rect">
            <a:avLst/>
          </a:prstGeom>
          <a:noFill/>
          <a:ln/>
        </p:spPr>
        <p:txBody>
          <a:bodyPr wrap="square" lIns="0" tIns="0" rIns="0" bIns="0" rtlCol="0" anchor="ctr"/>
          <a:lstStyle/>
          <a:p>
            <a:pPr indent="0" marL="0">
              <a:buNone/>
            </a:pPr>
            <a:r>
              <a:rPr lang="en-US" sz="1000" b="1" dirty="0">
                <a:solidFill>
                  <a:srgbClr val="0086C3"/>
                </a:solidFill>
                <a:latin typeface="Calibri" pitchFamily="34" charset="0"/>
                <a:ea typeface="Calibri" pitchFamily="34" charset="-122"/>
                <a:cs typeface="Calibri" pitchFamily="34" charset="-120"/>
              </a:rPr>
              <a:t>So we: </a:t>
            </a:r>
            <a:pPr indent="0" marL="0">
              <a:buNone/>
            </a:pPr>
            <a:r>
              <a:rPr lang="en-US" sz="1000" dirty="0">
                <a:solidFill>
                  <a:srgbClr val="141C24"/>
                </a:solidFill>
                <a:latin typeface="Calibri" pitchFamily="34" charset="0"/>
                <a:ea typeface="Calibri" pitchFamily="34" charset="-122"/>
                <a:cs typeface="Calibri" pitchFamily="34" charset="-120"/>
              </a:rPr>
              <a:t>train on JSL's own clean and defective strip before any alarm is trusted.</a:t>
            </a:r>
            <a:endParaRPr lang="en-US" sz="1000" dirty="0"/>
          </a:p>
        </p:txBody>
      </p:sp>
      <p:sp>
        <p:nvSpPr>
          <p:cNvPr id="22" name="Shape 19"/>
          <p:cNvSpPr/>
          <p:nvPr/>
        </p:nvSpPr>
        <p:spPr>
          <a:xfrm>
            <a:off x="6190488" y="1234440"/>
            <a:ext cx="5541264" cy="274320"/>
          </a:xfrm>
          <a:prstGeom prst="rect">
            <a:avLst/>
          </a:prstGeom>
          <a:solidFill>
            <a:srgbClr val="2B5B80"/>
          </a:solidFill>
          <a:ln w="12700">
            <a:solidFill>
              <a:srgbClr val="2B5B80"/>
            </a:solidFill>
            <a:prstDash val="solid"/>
          </a:ln>
        </p:spPr>
      </p:sp>
      <p:sp>
        <p:nvSpPr>
          <p:cNvPr id="23" name="Text 20"/>
          <p:cNvSpPr txBox="1"/>
          <p:nvPr/>
        </p:nvSpPr>
        <p:spPr>
          <a:xfrm>
            <a:off x="6281928" y="1234440"/>
            <a:ext cx="5358384" cy="274320"/>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2  A bigger model or sharper images did not help</a:t>
            </a:r>
            <a:endParaRPr lang="en-US" sz="1100" dirty="0"/>
          </a:p>
        </p:txBody>
      </p:sp>
      <p:sp>
        <p:nvSpPr>
          <p:cNvPr id="24" name="Shape 21"/>
          <p:cNvSpPr/>
          <p:nvPr/>
        </p:nvSpPr>
        <p:spPr>
          <a:xfrm>
            <a:off x="6190488" y="1508760"/>
            <a:ext cx="5541264" cy="1984248"/>
          </a:xfrm>
          <a:prstGeom prst="roundRect">
            <a:avLst>
              <a:gd name="adj" fmla="val 2765"/>
            </a:avLst>
          </a:prstGeom>
          <a:solidFill>
            <a:srgbClr val="F1F4F7"/>
          </a:solidFill>
          <a:ln w="12700">
            <a:solidFill>
              <a:srgbClr val="F1F4F7"/>
            </a:solidFill>
            <a:prstDash val="solid"/>
          </a:ln>
        </p:spPr>
      </p:sp>
      <p:sp>
        <p:nvSpPr>
          <p:cNvPr id="25" name="Text 22"/>
          <p:cNvSpPr txBox="1"/>
          <p:nvPr/>
        </p:nvSpPr>
        <p:spPr>
          <a:xfrm>
            <a:off x="6309360" y="1645920"/>
            <a:ext cx="1463040" cy="256032"/>
          </a:xfrm>
          <a:prstGeom prst="rect">
            <a:avLst/>
          </a:prstGeom>
          <a:noFill/>
          <a:ln/>
        </p:spPr>
        <p:txBody>
          <a:bodyPr wrap="square" lIns="0" tIns="0" rIns="0" bIns="0" rtlCol="0" anchor="ctr"/>
          <a:lstStyle/>
          <a:p>
            <a:pPr indent="0" marL="0">
              <a:buNone/>
            </a:pPr>
            <a:r>
              <a:rPr lang="en-US" sz="1000" dirty="0">
                <a:solidFill>
                  <a:srgbClr val="141C24"/>
                </a:solidFill>
                <a:latin typeface="Calibri" pitchFamily="34" charset="0"/>
                <a:ea typeface="Calibri" pitchFamily="34" charset="-122"/>
                <a:cs typeface="Calibri" pitchFamily="34" charset="-120"/>
              </a:rPr>
              <a:t>Compact model</a:t>
            </a:r>
            <a:endParaRPr lang="en-US" sz="1000" dirty="0"/>
          </a:p>
        </p:txBody>
      </p:sp>
      <p:sp>
        <p:nvSpPr>
          <p:cNvPr id="26" name="Shape 23"/>
          <p:cNvSpPr/>
          <p:nvPr/>
        </p:nvSpPr>
        <p:spPr>
          <a:xfrm>
            <a:off x="7818120" y="1682496"/>
            <a:ext cx="1485900" cy="201168"/>
          </a:xfrm>
          <a:prstGeom prst="rect">
            <a:avLst/>
          </a:prstGeom>
          <a:solidFill>
            <a:srgbClr val="5E9CCB"/>
          </a:solidFill>
          <a:ln w="12700">
            <a:solidFill>
              <a:srgbClr val="5E9CCB"/>
            </a:solidFill>
            <a:prstDash val="solid"/>
          </a:ln>
        </p:spPr>
      </p:sp>
      <p:sp>
        <p:nvSpPr>
          <p:cNvPr id="27" name="Text 24"/>
          <p:cNvSpPr txBox="1"/>
          <p:nvPr/>
        </p:nvSpPr>
        <p:spPr>
          <a:xfrm>
            <a:off x="9358884" y="1645920"/>
            <a:ext cx="502920" cy="256032"/>
          </a:xfrm>
          <a:prstGeom prst="rect">
            <a:avLst/>
          </a:prstGeom>
          <a:noFill/>
          <a:ln/>
        </p:spPr>
        <p:txBody>
          <a:bodyPr wrap="square" lIns="0" tIns="0" rIns="0" bIns="0" rtlCol="0" anchor="ctr"/>
          <a:lstStyle/>
          <a:p>
            <a:pPr indent="0" marL="0">
              <a:buNone/>
            </a:pPr>
            <a:r>
              <a:rPr lang="en-US" sz="1000" b="1" dirty="0">
                <a:solidFill>
                  <a:srgbClr val="141C24"/>
                </a:solidFill>
                <a:latin typeface="Calibri" pitchFamily="34" charset="0"/>
                <a:ea typeface="Calibri" pitchFamily="34" charset="-122"/>
                <a:cs typeface="Calibri" pitchFamily="34" charset="-120"/>
              </a:rPr>
              <a:t>0.752</a:t>
            </a:r>
            <a:endParaRPr lang="en-US" sz="1000" dirty="0"/>
          </a:p>
        </p:txBody>
      </p:sp>
      <p:sp>
        <p:nvSpPr>
          <p:cNvPr id="28" name="Text 25"/>
          <p:cNvSpPr txBox="1"/>
          <p:nvPr/>
        </p:nvSpPr>
        <p:spPr>
          <a:xfrm>
            <a:off x="10652760" y="1645920"/>
            <a:ext cx="1005840" cy="256032"/>
          </a:xfrm>
          <a:prstGeom prst="rect">
            <a:avLst/>
          </a:prstGeom>
          <a:noFill/>
          <a:ln/>
        </p:spPr>
        <p:txBody>
          <a:bodyPr wrap="square" lIns="0" tIns="0" rIns="0" bIns="0" rtlCol="0" anchor="ctr"/>
          <a:lstStyle/>
          <a:p>
            <a:pPr indent="0" marL="0">
              <a:buNone/>
            </a:pPr>
            <a:r>
              <a:rPr lang="en-US" sz="950" dirty="0">
                <a:solidFill>
                  <a:srgbClr val="5F6B78"/>
                </a:solidFill>
                <a:latin typeface="Calibri" pitchFamily="34" charset="0"/>
                <a:ea typeface="Calibri" pitchFamily="34" charset="-122"/>
                <a:cs typeface="Calibri" pitchFamily="34" charset="-120"/>
              </a:rPr>
              <a:t>baseline</a:t>
            </a:r>
            <a:endParaRPr lang="en-US" sz="950" dirty="0"/>
          </a:p>
        </p:txBody>
      </p:sp>
      <p:sp>
        <p:nvSpPr>
          <p:cNvPr id="29" name="Text 26"/>
          <p:cNvSpPr txBox="1"/>
          <p:nvPr/>
        </p:nvSpPr>
        <p:spPr>
          <a:xfrm>
            <a:off x="6309360" y="1975104"/>
            <a:ext cx="1463040" cy="256032"/>
          </a:xfrm>
          <a:prstGeom prst="rect">
            <a:avLst/>
          </a:prstGeom>
          <a:noFill/>
          <a:ln/>
        </p:spPr>
        <p:txBody>
          <a:bodyPr wrap="square" lIns="0" tIns="0" rIns="0" bIns="0" rtlCol="0" anchor="ctr"/>
          <a:lstStyle/>
          <a:p>
            <a:pPr indent="0" marL="0">
              <a:buNone/>
            </a:pPr>
            <a:r>
              <a:rPr lang="en-US" sz="1000" b="1" dirty="0">
                <a:solidFill>
                  <a:srgbClr val="141C24"/>
                </a:solidFill>
                <a:latin typeface="Calibri" pitchFamily="34" charset="0"/>
                <a:ea typeface="Calibri" pitchFamily="34" charset="-122"/>
                <a:cs typeface="Calibri" pitchFamily="34" charset="-120"/>
              </a:rPr>
              <a:t>+ clean strip (ours)</a:t>
            </a:r>
            <a:endParaRPr lang="en-US" sz="1000" dirty="0"/>
          </a:p>
        </p:txBody>
      </p:sp>
      <p:sp>
        <p:nvSpPr>
          <p:cNvPr id="30" name="Shape 27"/>
          <p:cNvSpPr/>
          <p:nvPr/>
        </p:nvSpPr>
        <p:spPr>
          <a:xfrm>
            <a:off x="7818120" y="2011680"/>
            <a:ext cx="1828800" cy="201168"/>
          </a:xfrm>
          <a:prstGeom prst="rect">
            <a:avLst/>
          </a:prstGeom>
          <a:solidFill>
            <a:srgbClr val="0086C3"/>
          </a:solidFill>
          <a:ln w="12700">
            <a:solidFill>
              <a:srgbClr val="0086C3"/>
            </a:solidFill>
            <a:prstDash val="solid"/>
          </a:ln>
        </p:spPr>
      </p:sp>
      <p:sp>
        <p:nvSpPr>
          <p:cNvPr id="31" name="Text 28"/>
          <p:cNvSpPr txBox="1"/>
          <p:nvPr/>
        </p:nvSpPr>
        <p:spPr>
          <a:xfrm>
            <a:off x="9701784" y="1975104"/>
            <a:ext cx="502920" cy="256032"/>
          </a:xfrm>
          <a:prstGeom prst="rect">
            <a:avLst/>
          </a:prstGeom>
          <a:noFill/>
          <a:ln/>
        </p:spPr>
        <p:txBody>
          <a:bodyPr wrap="square" lIns="0" tIns="0" rIns="0" bIns="0" rtlCol="0" anchor="ctr"/>
          <a:lstStyle/>
          <a:p>
            <a:pPr indent="0" marL="0">
              <a:buNone/>
            </a:pPr>
            <a:r>
              <a:rPr lang="en-US" sz="1000" b="1" dirty="0">
                <a:solidFill>
                  <a:srgbClr val="141C24"/>
                </a:solidFill>
                <a:latin typeface="Calibri" pitchFamily="34" charset="0"/>
                <a:ea typeface="Calibri" pitchFamily="34" charset="-122"/>
                <a:cs typeface="Calibri" pitchFamily="34" charset="-120"/>
              </a:rPr>
              <a:t>0.764</a:t>
            </a:r>
            <a:endParaRPr lang="en-US" sz="1000" dirty="0"/>
          </a:p>
        </p:txBody>
      </p:sp>
      <p:sp>
        <p:nvSpPr>
          <p:cNvPr id="32" name="Text 29"/>
          <p:cNvSpPr txBox="1"/>
          <p:nvPr/>
        </p:nvSpPr>
        <p:spPr>
          <a:xfrm>
            <a:off x="10652760" y="1975104"/>
            <a:ext cx="1005840" cy="256032"/>
          </a:xfrm>
          <a:prstGeom prst="rect">
            <a:avLst/>
          </a:prstGeom>
          <a:noFill/>
          <a:ln/>
        </p:spPr>
        <p:txBody>
          <a:bodyPr wrap="square" lIns="0" tIns="0" rIns="0" bIns="0" rtlCol="0" anchor="ctr"/>
          <a:lstStyle/>
          <a:p>
            <a:pPr indent="0" marL="0">
              <a:buNone/>
            </a:pPr>
            <a:r>
              <a:rPr lang="en-US" sz="950" dirty="0">
                <a:solidFill>
                  <a:srgbClr val="5F6B78"/>
                </a:solidFill>
                <a:latin typeface="Calibri" pitchFamily="34" charset="0"/>
                <a:ea typeface="Calibri" pitchFamily="34" charset="-122"/>
                <a:cs typeface="Calibri" pitchFamily="34" charset="-120"/>
              </a:rPr>
              <a:t>no extra cost</a:t>
            </a:r>
            <a:endParaRPr lang="en-US" sz="950" dirty="0"/>
          </a:p>
        </p:txBody>
      </p:sp>
      <p:sp>
        <p:nvSpPr>
          <p:cNvPr id="33" name="Text 30"/>
          <p:cNvSpPr txBox="1"/>
          <p:nvPr/>
        </p:nvSpPr>
        <p:spPr>
          <a:xfrm>
            <a:off x="6309360" y="2304288"/>
            <a:ext cx="1463040" cy="256032"/>
          </a:xfrm>
          <a:prstGeom prst="rect">
            <a:avLst/>
          </a:prstGeom>
          <a:noFill/>
          <a:ln/>
        </p:spPr>
        <p:txBody>
          <a:bodyPr wrap="square" lIns="0" tIns="0" rIns="0" bIns="0" rtlCol="0" anchor="ctr"/>
          <a:lstStyle/>
          <a:p>
            <a:pPr indent="0" marL="0">
              <a:buNone/>
            </a:pPr>
            <a:r>
              <a:rPr lang="en-US" sz="1000" dirty="0">
                <a:solidFill>
                  <a:srgbClr val="141C24"/>
                </a:solidFill>
                <a:latin typeface="Calibri" pitchFamily="34" charset="0"/>
                <a:ea typeface="Calibri" pitchFamily="34" charset="-122"/>
                <a:cs typeface="Calibri" pitchFamily="34" charset="-120"/>
              </a:rPr>
              <a:t>Model 3.7x larger</a:t>
            </a:r>
            <a:endParaRPr lang="en-US" sz="1000" dirty="0"/>
          </a:p>
        </p:txBody>
      </p:sp>
      <p:sp>
        <p:nvSpPr>
          <p:cNvPr id="34" name="Shape 31"/>
          <p:cNvSpPr/>
          <p:nvPr/>
        </p:nvSpPr>
        <p:spPr>
          <a:xfrm>
            <a:off x="7818120" y="2340864"/>
            <a:ext cx="971550" cy="201168"/>
          </a:xfrm>
          <a:prstGeom prst="rect">
            <a:avLst/>
          </a:prstGeom>
          <a:solidFill>
            <a:srgbClr val="9AA7B4"/>
          </a:solidFill>
          <a:ln w="12700">
            <a:solidFill>
              <a:srgbClr val="9AA7B4"/>
            </a:solidFill>
            <a:prstDash val="solid"/>
          </a:ln>
        </p:spPr>
      </p:sp>
      <p:sp>
        <p:nvSpPr>
          <p:cNvPr id="35" name="Text 32"/>
          <p:cNvSpPr txBox="1"/>
          <p:nvPr/>
        </p:nvSpPr>
        <p:spPr>
          <a:xfrm>
            <a:off x="8844534" y="2304288"/>
            <a:ext cx="502920" cy="256032"/>
          </a:xfrm>
          <a:prstGeom prst="rect">
            <a:avLst/>
          </a:prstGeom>
          <a:noFill/>
          <a:ln/>
        </p:spPr>
        <p:txBody>
          <a:bodyPr wrap="square" lIns="0" tIns="0" rIns="0" bIns="0" rtlCol="0" anchor="ctr"/>
          <a:lstStyle/>
          <a:p>
            <a:pPr indent="0" marL="0">
              <a:buNone/>
            </a:pPr>
            <a:r>
              <a:rPr lang="en-US" sz="1000" b="1" dirty="0">
                <a:solidFill>
                  <a:srgbClr val="141C24"/>
                </a:solidFill>
                <a:latin typeface="Calibri" pitchFamily="34" charset="0"/>
                <a:ea typeface="Calibri" pitchFamily="34" charset="-122"/>
                <a:cs typeface="Calibri" pitchFamily="34" charset="-120"/>
              </a:rPr>
              <a:t>0.734</a:t>
            </a:r>
            <a:endParaRPr lang="en-US" sz="1000" dirty="0"/>
          </a:p>
        </p:txBody>
      </p:sp>
      <p:sp>
        <p:nvSpPr>
          <p:cNvPr id="36" name="Text 33"/>
          <p:cNvSpPr txBox="1"/>
          <p:nvPr/>
        </p:nvSpPr>
        <p:spPr>
          <a:xfrm>
            <a:off x="10652760" y="2304288"/>
            <a:ext cx="1005840" cy="256032"/>
          </a:xfrm>
          <a:prstGeom prst="rect">
            <a:avLst/>
          </a:prstGeom>
          <a:noFill/>
          <a:ln/>
        </p:spPr>
        <p:txBody>
          <a:bodyPr wrap="square" lIns="0" tIns="0" rIns="0" bIns="0" rtlCol="0" anchor="ctr"/>
          <a:lstStyle/>
          <a:p>
            <a:pPr indent="0" marL="0">
              <a:buNone/>
            </a:pPr>
            <a:r>
              <a:rPr lang="en-US" sz="950" b="1" dirty="0">
                <a:solidFill>
                  <a:srgbClr val="334150"/>
                </a:solidFill>
                <a:latin typeface="Calibri" pitchFamily="34" charset="0"/>
                <a:ea typeface="Calibri" pitchFamily="34" charset="-122"/>
                <a:cs typeface="Calibri" pitchFamily="34" charset="-120"/>
              </a:rPr>
              <a:t>3.5x compute</a:t>
            </a:r>
            <a:endParaRPr lang="en-US" sz="950" dirty="0"/>
          </a:p>
        </p:txBody>
      </p:sp>
      <p:sp>
        <p:nvSpPr>
          <p:cNvPr id="37" name="Text 34"/>
          <p:cNvSpPr txBox="1"/>
          <p:nvPr/>
        </p:nvSpPr>
        <p:spPr>
          <a:xfrm>
            <a:off x="6309360" y="2633472"/>
            <a:ext cx="1463040" cy="256032"/>
          </a:xfrm>
          <a:prstGeom prst="rect">
            <a:avLst/>
          </a:prstGeom>
          <a:noFill/>
          <a:ln/>
        </p:spPr>
        <p:txBody>
          <a:bodyPr wrap="square" lIns="0" tIns="0" rIns="0" bIns="0" rtlCol="0" anchor="ctr"/>
          <a:lstStyle/>
          <a:p>
            <a:pPr indent="0" marL="0">
              <a:buNone/>
            </a:pPr>
            <a:r>
              <a:rPr lang="en-US" sz="1000" dirty="0">
                <a:solidFill>
                  <a:srgbClr val="141C24"/>
                </a:solidFill>
                <a:latin typeface="Calibri" pitchFamily="34" charset="0"/>
                <a:ea typeface="Calibri" pitchFamily="34" charset="-122"/>
                <a:cs typeface="Calibri" pitchFamily="34" charset="-120"/>
              </a:rPr>
              <a:t>4x sharper images</a:t>
            </a:r>
            <a:endParaRPr lang="en-US" sz="1000" dirty="0"/>
          </a:p>
        </p:txBody>
      </p:sp>
      <p:sp>
        <p:nvSpPr>
          <p:cNvPr id="38" name="Shape 35"/>
          <p:cNvSpPr/>
          <p:nvPr/>
        </p:nvSpPr>
        <p:spPr>
          <a:xfrm>
            <a:off x="7818120" y="2670048"/>
            <a:ext cx="971550" cy="201168"/>
          </a:xfrm>
          <a:prstGeom prst="rect">
            <a:avLst/>
          </a:prstGeom>
          <a:solidFill>
            <a:srgbClr val="9AA7B4"/>
          </a:solidFill>
          <a:ln w="12700">
            <a:solidFill>
              <a:srgbClr val="9AA7B4"/>
            </a:solidFill>
            <a:prstDash val="solid"/>
          </a:ln>
        </p:spPr>
      </p:sp>
      <p:sp>
        <p:nvSpPr>
          <p:cNvPr id="39" name="Text 36"/>
          <p:cNvSpPr txBox="1"/>
          <p:nvPr/>
        </p:nvSpPr>
        <p:spPr>
          <a:xfrm>
            <a:off x="8844534" y="2633472"/>
            <a:ext cx="502920" cy="256032"/>
          </a:xfrm>
          <a:prstGeom prst="rect">
            <a:avLst/>
          </a:prstGeom>
          <a:noFill/>
          <a:ln/>
        </p:spPr>
        <p:txBody>
          <a:bodyPr wrap="square" lIns="0" tIns="0" rIns="0" bIns="0" rtlCol="0" anchor="ctr"/>
          <a:lstStyle/>
          <a:p>
            <a:pPr indent="0" marL="0">
              <a:buNone/>
            </a:pPr>
            <a:r>
              <a:rPr lang="en-US" sz="1000" b="1" dirty="0">
                <a:solidFill>
                  <a:srgbClr val="141C24"/>
                </a:solidFill>
                <a:latin typeface="Calibri" pitchFamily="34" charset="0"/>
                <a:ea typeface="Calibri" pitchFamily="34" charset="-122"/>
                <a:cs typeface="Calibri" pitchFamily="34" charset="-120"/>
              </a:rPr>
              <a:t>0.734</a:t>
            </a:r>
            <a:endParaRPr lang="en-US" sz="1000" dirty="0"/>
          </a:p>
        </p:txBody>
      </p:sp>
      <p:sp>
        <p:nvSpPr>
          <p:cNvPr id="40" name="Text 37"/>
          <p:cNvSpPr txBox="1"/>
          <p:nvPr/>
        </p:nvSpPr>
        <p:spPr>
          <a:xfrm>
            <a:off x="10652760" y="2633472"/>
            <a:ext cx="1005840" cy="256032"/>
          </a:xfrm>
          <a:prstGeom prst="rect">
            <a:avLst/>
          </a:prstGeom>
          <a:noFill/>
          <a:ln/>
        </p:spPr>
        <p:txBody>
          <a:bodyPr wrap="square" lIns="0" tIns="0" rIns="0" bIns="0" rtlCol="0" anchor="ctr"/>
          <a:lstStyle/>
          <a:p>
            <a:pPr indent="0" marL="0">
              <a:buNone/>
            </a:pPr>
            <a:r>
              <a:rPr lang="en-US" sz="950" b="1" dirty="0">
                <a:solidFill>
                  <a:srgbClr val="334150"/>
                </a:solidFill>
                <a:latin typeface="Calibri" pitchFamily="34" charset="0"/>
                <a:ea typeface="Calibri" pitchFamily="34" charset="-122"/>
                <a:cs typeface="Calibri" pitchFamily="34" charset="-120"/>
              </a:rPr>
              <a:t>4x pixels</a:t>
            </a:r>
            <a:endParaRPr lang="en-US" sz="950" dirty="0"/>
          </a:p>
        </p:txBody>
      </p:sp>
      <p:sp>
        <p:nvSpPr>
          <p:cNvPr id="41" name="Text 38"/>
          <p:cNvSpPr txBox="1"/>
          <p:nvPr/>
        </p:nvSpPr>
        <p:spPr>
          <a:xfrm>
            <a:off x="6309360" y="2971800"/>
            <a:ext cx="5303520" cy="201168"/>
          </a:xfrm>
          <a:prstGeom prst="rect">
            <a:avLst/>
          </a:prstGeom>
          <a:noFill/>
          <a:ln/>
        </p:spPr>
        <p:txBody>
          <a:bodyPr wrap="square" lIns="0" tIns="0" rIns="0" bIns="0" rtlCol="0" anchor="t"/>
          <a:lstStyle/>
          <a:p>
            <a:pPr indent="0" marL="0">
              <a:buNone/>
            </a:pPr>
            <a:r>
              <a:rPr lang="en-US" sz="900" i="1" dirty="0">
                <a:solidFill>
                  <a:srgbClr val="5F6B78"/>
                </a:solidFill>
                <a:latin typeface="Calibri" pitchFamily="34" charset="0"/>
                <a:ea typeface="Calibri" pitchFamily="34" charset="-122"/>
                <a:cs typeface="Calibri" pitchFamily="34" charset="-120"/>
              </a:rPr>
              <a:t>All four compared at the same image size; bars start at 0.70. The shipped model runs larger, trading 0.02 here for +0.11 on real mill strip.</a:t>
            </a:r>
            <a:endParaRPr lang="en-US" sz="900" dirty="0"/>
          </a:p>
        </p:txBody>
      </p:sp>
      <p:sp>
        <p:nvSpPr>
          <p:cNvPr id="42" name="Text 39"/>
          <p:cNvSpPr txBox="1"/>
          <p:nvPr/>
        </p:nvSpPr>
        <p:spPr>
          <a:xfrm>
            <a:off x="6327648" y="3163824"/>
            <a:ext cx="5266944" cy="274320"/>
          </a:xfrm>
          <a:prstGeom prst="rect">
            <a:avLst/>
          </a:prstGeom>
          <a:noFill/>
          <a:ln/>
        </p:spPr>
        <p:txBody>
          <a:bodyPr wrap="square" lIns="0" tIns="0" rIns="0" bIns="0" rtlCol="0" anchor="ctr"/>
          <a:lstStyle/>
          <a:p>
            <a:pPr indent="0" marL="0">
              <a:buNone/>
            </a:pPr>
            <a:r>
              <a:rPr lang="en-US" sz="1000" b="1" dirty="0">
                <a:solidFill>
                  <a:srgbClr val="0086C3"/>
                </a:solidFill>
                <a:latin typeface="Calibri" pitchFamily="34" charset="0"/>
                <a:ea typeface="Calibri" pitchFamily="34" charset="-122"/>
                <a:cs typeface="Calibri" pitchFamily="34" charset="-120"/>
              </a:rPr>
              <a:t>So we: </a:t>
            </a:r>
            <a:pPr indent="0" marL="0">
              <a:buNone/>
            </a:pPr>
            <a:r>
              <a:rPr lang="en-US" sz="1000" dirty="0">
                <a:solidFill>
                  <a:srgbClr val="141C24"/>
                </a:solidFill>
                <a:latin typeface="Calibri" pitchFamily="34" charset="0"/>
                <a:ea typeface="Calibri" pitchFamily="34" charset="-122"/>
                <a:cs typeface="Calibri" pitchFamily="34" charset="-120"/>
              </a:rPr>
              <a:t>keep the model compact and spend the budget on camera coverage.</a:t>
            </a:r>
            <a:endParaRPr lang="en-US" sz="1000" dirty="0"/>
          </a:p>
        </p:txBody>
      </p:sp>
      <p:sp>
        <p:nvSpPr>
          <p:cNvPr id="43" name="Shape 40"/>
          <p:cNvSpPr/>
          <p:nvPr/>
        </p:nvSpPr>
        <p:spPr>
          <a:xfrm>
            <a:off x="457200" y="3630168"/>
            <a:ext cx="5541264" cy="274320"/>
          </a:xfrm>
          <a:prstGeom prst="rect">
            <a:avLst/>
          </a:prstGeom>
          <a:solidFill>
            <a:srgbClr val="2B5B80"/>
          </a:solidFill>
          <a:ln w="12700">
            <a:solidFill>
              <a:srgbClr val="2B5B80"/>
            </a:solidFill>
            <a:prstDash val="solid"/>
          </a:ln>
        </p:spPr>
      </p:sp>
      <p:sp>
        <p:nvSpPr>
          <p:cNvPr id="44" name="Text 41"/>
          <p:cNvSpPr txBox="1"/>
          <p:nvPr/>
        </p:nvSpPr>
        <p:spPr>
          <a:xfrm>
            <a:off x="548640" y="3630168"/>
            <a:ext cx="5358384" cy="274320"/>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3  Line speed, not the model, sets the hardware bill</a:t>
            </a:r>
            <a:endParaRPr lang="en-US" sz="1100" dirty="0"/>
          </a:p>
        </p:txBody>
      </p:sp>
      <p:sp>
        <p:nvSpPr>
          <p:cNvPr id="45" name="Shape 42"/>
          <p:cNvSpPr/>
          <p:nvPr/>
        </p:nvSpPr>
        <p:spPr>
          <a:xfrm>
            <a:off x="457200" y="3904488"/>
            <a:ext cx="5541264" cy="1984248"/>
          </a:xfrm>
          <a:prstGeom prst="roundRect">
            <a:avLst>
              <a:gd name="adj" fmla="val 2765"/>
            </a:avLst>
          </a:prstGeom>
          <a:solidFill>
            <a:srgbClr val="F1F4F7"/>
          </a:solidFill>
          <a:ln w="12700">
            <a:solidFill>
              <a:srgbClr val="F1F4F7"/>
            </a:solidFill>
            <a:prstDash val="solid"/>
          </a:ln>
        </p:spPr>
      </p:sp>
      <p:pic>
        <p:nvPicPr>
          <p:cNvPr id="46" name="Image 0" descr="img/icons/cpu-navy.png">    </p:cNvPr>
          <p:cNvPicPr>
            <a:picLocks noChangeAspect="1"/>
          </p:cNvPicPr>
          <p:nvPr/>
        </p:nvPicPr>
        <p:blipFill>
          <a:blip r:embed="rId2"/>
          <a:stretch>
            <a:fillRect/>
          </a:stretch>
        </p:blipFill>
        <p:spPr>
          <a:xfrm>
            <a:off x="658368" y="4023360"/>
            <a:ext cx="237744" cy="237744"/>
          </a:xfrm>
          <a:prstGeom prst="rect">
            <a:avLst/>
          </a:prstGeom>
        </p:spPr>
      </p:pic>
      <p:pic>
        <p:nvPicPr>
          <p:cNvPr id="47" name="Image 1" descr="img/icons/cpu-navy.png">    </p:cNvPr>
          <p:cNvPicPr>
            <a:picLocks noChangeAspect="1"/>
          </p:cNvPicPr>
          <p:nvPr/>
        </p:nvPicPr>
        <p:blipFill>
          <a:blip r:embed="rId3"/>
          <a:stretch>
            <a:fillRect/>
          </a:stretch>
        </p:blipFill>
        <p:spPr>
          <a:xfrm>
            <a:off x="960120" y="4023360"/>
            <a:ext cx="237744" cy="237744"/>
          </a:xfrm>
          <a:prstGeom prst="rect">
            <a:avLst/>
          </a:prstGeom>
        </p:spPr>
      </p:pic>
      <p:pic>
        <p:nvPicPr>
          <p:cNvPr id="48" name="Image 2" descr="img/icons/cpu-navy.png">    </p:cNvPr>
          <p:cNvPicPr>
            <a:picLocks noChangeAspect="1"/>
          </p:cNvPicPr>
          <p:nvPr/>
        </p:nvPicPr>
        <p:blipFill>
          <a:blip r:embed="rId4"/>
          <a:stretch>
            <a:fillRect/>
          </a:stretch>
        </p:blipFill>
        <p:spPr>
          <a:xfrm>
            <a:off x="1261872" y="4023360"/>
            <a:ext cx="237744" cy="237744"/>
          </a:xfrm>
          <a:prstGeom prst="rect">
            <a:avLst/>
          </a:prstGeom>
        </p:spPr>
      </p:pic>
      <p:pic>
        <p:nvPicPr>
          <p:cNvPr id="49" name="Image 3" descr="img/icons/cpu-navy.png">    </p:cNvPr>
          <p:cNvPicPr>
            <a:picLocks noChangeAspect="1"/>
          </p:cNvPicPr>
          <p:nvPr/>
        </p:nvPicPr>
        <p:blipFill>
          <a:blip r:embed="rId5"/>
          <a:stretch>
            <a:fillRect/>
          </a:stretch>
        </p:blipFill>
        <p:spPr>
          <a:xfrm>
            <a:off x="1563624" y="4023360"/>
            <a:ext cx="237744" cy="237744"/>
          </a:xfrm>
          <a:prstGeom prst="rect">
            <a:avLst/>
          </a:prstGeom>
        </p:spPr>
      </p:pic>
      <p:pic>
        <p:nvPicPr>
          <p:cNvPr id="50" name="Image 4" descr="img/icons/cpu-navy.png">    </p:cNvPr>
          <p:cNvPicPr>
            <a:picLocks noChangeAspect="1"/>
          </p:cNvPicPr>
          <p:nvPr/>
        </p:nvPicPr>
        <p:blipFill>
          <a:blip r:embed="rId6"/>
          <a:stretch>
            <a:fillRect/>
          </a:stretch>
        </p:blipFill>
        <p:spPr>
          <a:xfrm>
            <a:off x="1865376" y="4023360"/>
            <a:ext cx="237744" cy="237744"/>
          </a:xfrm>
          <a:prstGeom prst="rect">
            <a:avLst/>
          </a:prstGeom>
        </p:spPr>
      </p:pic>
      <p:pic>
        <p:nvPicPr>
          <p:cNvPr id="51" name="Image 5" descr="img/icons/cpu-navy.png">    </p:cNvPr>
          <p:cNvPicPr>
            <a:picLocks noChangeAspect="1"/>
          </p:cNvPicPr>
          <p:nvPr/>
        </p:nvPicPr>
        <p:blipFill>
          <a:blip r:embed="rId7"/>
          <a:stretch>
            <a:fillRect/>
          </a:stretch>
        </p:blipFill>
        <p:spPr>
          <a:xfrm>
            <a:off x="2167128" y="4023360"/>
            <a:ext cx="237744" cy="237744"/>
          </a:xfrm>
          <a:prstGeom prst="rect">
            <a:avLst/>
          </a:prstGeom>
        </p:spPr>
      </p:pic>
      <p:pic>
        <p:nvPicPr>
          <p:cNvPr id="52" name="Image 6" descr="img/icons/cpu-navy.png">    </p:cNvPr>
          <p:cNvPicPr>
            <a:picLocks noChangeAspect="1"/>
          </p:cNvPicPr>
          <p:nvPr/>
        </p:nvPicPr>
        <p:blipFill>
          <a:blip r:embed="rId8"/>
          <a:stretch>
            <a:fillRect/>
          </a:stretch>
        </p:blipFill>
        <p:spPr>
          <a:xfrm>
            <a:off x="658368" y="4306824"/>
            <a:ext cx="237744" cy="237744"/>
          </a:xfrm>
          <a:prstGeom prst="rect">
            <a:avLst/>
          </a:prstGeom>
        </p:spPr>
      </p:pic>
      <p:pic>
        <p:nvPicPr>
          <p:cNvPr id="53" name="Image 7" descr="img/icons/cpu-navy.png">    </p:cNvPr>
          <p:cNvPicPr>
            <a:picLocks noChangeAspect="1"/>
          </p:cNvPicPr>
          <p:nvPr/>
        </p:nvPicPr>
        <p:blipFill>
          <a:blip r:embed="rId9"/>
          <a:stretch>
            <a:fillRect/>
          </a:stretch>
        </p:blipFill>
        <p:spPr>
          <a:xfrm>
            <a:off x="960120" y="4306824"/>
            <a:ext cx="237744" cy="237744"/>
          </a:xfrm>
          <a:prstGeom prst="rect">
            <a:avLst/>
          </a:prstGeom>
        </p:spPr>
      </p:pic>
      <p:pic>
        <p:nvPicPr>
          <p:cNvPr id="54" name="Image 8" descr="img/icons/cpu-navy.png">    </p:cNvPr>
          <p:cNvPicPr>
            <a:picLocks noChangeAspect="1"/>
          </p:cNvPicPr>
          <p:nvPr/>
        </p:nvPicPr>
        <p:blipFill>
          <a:blip r:embed="rId10"/>
          <a:stretch>
            <a:fillRect/>
          </a:stretch>
        </p:blipFill>
        <p:spPr>
          <a:xfrm>
            <a:off x="1261872" y="4306824"/>
            <a:ext cx="237744" cy="237744"/>
          </a:xfrm>
          <a:prstGeom prst="rect">
            <a:avLst/>
          </a:prstGeom>
        </p:spPr>
      </p:pic>
      <p:pic>
        <p:nvPicPr>
          <p:cNvPr id="55" name="Image 9" descr="img/icons/cpu-navy.png">    </p:cNvPr>
          <p:cNvPicPr>
            <a:picLocks noChangeAspect="1"/>
          </p:cNvPicPr>
          <p:nvPr/>
        </p:nvPicPr>
        <p:blipFill>
          <a:blip r:embed="rId11"/>
          <a:stretch>
            <a:fillRect/>
          </a:stretch>
        </p:blipFill>
        <p:spPr>
          <a:xfrm>
            <a:off x="1563624" y="4306824"/>
            <a:ext cx="237744" cy="237744"/>
          </a:xfrm>
          <a:prstGeom prst="rect">
            <a:avLst/>
          </a:prstGeom>
        </p:spPr>
      </p:pic>
      <p:pic>
        <p:nvPicPr>
          <p:cNvPr id="56" name="Image 10" descr="img/icons/cpu-navy.png">    </p:cNvPr>
          <p:cNvPicPr>
            <a:picLocks noChangeAspect="1"/>
          </p:cNvPicPr>
          <p:nvPr/>
        </p:nvPicPr>
        <p:blipFill>
          <a:blip r:embed="rId12"/>
          <a:stretch>
            <a:fillRect/>
          </a:stretch>
        </p:blipFill>
        <p:spPr>
          <a:xfrm>
            <a:off x="1865376" y="4306824"/>
            <a:ext cx="237744" cy="237744"/>
          </a:xfrm>
          <a:prstGeom prst="rect">
            <a:avLst/>
          </a:prstGeom>
        </p:spPr>
      </p:pic>
      <p:pic>
        <p:nvPicPr>
          <p:cNvPr id="57" name="Image 11" descr="img/icons/cpu-navy.png">    </p:cNvPr>
          <p:cNvPicPr>
            <a:picLocks noChangeAspect="1"/>
          </p:cNvPicPr>
          <p:nvPr/>
        </p:nvPicPr>
        <p:blipFill>
          <a:blip r:embed="rId13"/>
          <a:stretch>
            <a:fillRect/>
          </a:stretch>
        </p:blipFill>
        <p:spPr>
          <a:xfrm>
            <a:off x="2167128" y="4306824"/>
            <a:ext cx="237744" cy="237744"/>
          </a:xfrm>
          <a:prstGeom prst="rect">
            <a:avLst/>
          </a:prstGeom>
        </p:spPr>
      </p:pic>
      <p:pic>
        <p:nvPicPr>
          <p:cNvPr id="58" name="Image 12" descr="img/icons/cpu-navy.png">    </p:cNvPr>
          <p:cNvPicPr>
            <a:picLocks noChangeAspect="1"/>
          </p:cNvPicPr>
          <p:nvPr/>
        </p:nvPicPr>
        <p:blipFill>
          <a:blip r:embed="rId14"/>
          <a:stretch>
            <a:fillRect/>
          </a:stretch>
        </p:blipFill>
        <p:spPr>
          <a:xfrm>
            <a:off x="658368" y="4590288"/>
            <a:ext cx="237744" cy="237744"/>
          </a:xfrm>
          <a:prstGeom prst="rect">
            <a:avLst/>
          </a:prstGeom>
        </p:spPr>
      </p:pic>
      <p:pic>
        <p:nvPicPr>
          <p:cNvPr id="59" name="Image 13" descr="img/icons/cpu-navy.png">    </p:cNvPr>
          <p:cNvPicPr>
            <a:picLocks noChangeAspect="1"/>
          </p:cNvPicPr>
          <p:nvPr/>
        </p:nvPicPr>
        <p:blipFill>
          <a:blip r:embed="rId15"/>
          <a:stretch>
            <a:fillRect/>
          </a:stretch>
        </p:blipFill>
        <p:spPr>
          <a:xfrm>
            <a:off x="960120" y="4590288"/>
            <a:ext cx="237744" cy="237744"/>
          </a:xfrm>
          <a:prstGeom prst="rect">
            <a:avLst/>
          </a:prstGeom>
        </p:spPr>
      </p:pic>
      <p:pic>
        <p:nvPicPr>
          <p:cNvPr id="60" name="Image 14" descr="img/icons/cpu-navy.png">    </p:cNvPr>
          <p:cNvPicPr>
            <a:picLocks noChangeAspect="1"/>
          </p:cNvPicPr>
          <p:nvPr/>
        </p:nvPicPr>
        <p:blipFill>
          <a:blip r:embed="rId16"/>
          <a:stretch>
            <a:fillRect/>
          </a:stretch>
        </p:blipFill>
        <p:spPr>
          <a:xfrm>
            <a:off x="1261872" y="4590288"/>
            <a:ext cx="237744" cy="237744"/>
          </a:xfrm>
          <a:prstGeom prst="rect">
            <a:avLst/>
          </a:prstGeom>
        </p:spPr>
      </p:pic>
      <p:pic>
        <p:nvPicPr>
          <p:cNvPr id="61" name="Image 15" descr="img/icons/cpu-navy.png">    </p:cNvPr>
          <p:cNvPicPr>
            <a:picLocks noChangeAspect="1"/>
          </p:cNvPicPr>
          <p:nvPr/>
        </p:nvPicPr>
        <p:blipFill>
          <a:blip r:embed="rId17"/>
          <a:stretch>
            <a:fillRect/>
          </a:stretch>
        </p:blipFill>
        <p:spPr>
          <a:xfrm>
            <a:off x="1563624" y="4590288"/>
            <a:ext cx="237744" cy="237744"/>
          </a:xfrm>
          <a:prstGeom prst="rect">
            <a:avLst/>
          </a:prstGeom>
        </p:spPr>
      </p:pic>
      <p:pic>
        <p:nvPicPr>
          <p:cNvPr id="62" name="Image 16" descr="img/icons/cpu-navy.png">    </p:cNvPr>
          <p:cNvPicPr>
            <a:picLocks noChangeAspect="1"/>
          </p:cNvPicPr>
          <p:nvPr/>
        </p:nvPicPr>
        <p:blipFill>
          <a:blip r:embed="rId18"/>
          <a:stretch>
            <a:fillRect/>
          </a:stretch>
        </p:blipFill>
        <p:spPr>
          <a:xfrm>
            <a:off x="1865376" y="4590288"/>
            <a:ext cx="237744" cy="237744"/>
          </a:xfrm>
          <a:prstGeom prst="rect">
            <a:avLst/>
          </a:prstGeom>
        </p:spPr>
      </p:pic>
      <p:pic>
        <p:nvPicPr>
          <p:cNvPr id="63" name="Image 17" descr="img/icons/cpu-navy.png">    </p:cNvPr>
          <p:cNvPicPr>
            <a:picLocks noChangeAspect="1"/>
          </p:cNvPicPr>
          <p:nvPr/>
        </p:nvPicPr>
        <p:blipFill>
          <a:blip r:embed="rId19"/>
          <a:stretch>
            <a:fillRect/>
          </a:stretch>
        </p:blipFill>
        <p:spPr>
          <a:xfrm>
            <a:off x="2167128" y="4590288"/>
            <a:ext cx="237744" cy="237744"/>
          </a:xfrm>
          <a:prstGeom prst="rect">
            <a:avLst/>
          </a:prstGeom>
        </p:spPr>
      </p:pic>
      <p:sp>
        <p:nvSpPr>
          <p:cNvPr id="64" name="Text 43"/>
          <p:cNvSpPr txBox="1"/>
          <p:nvPr/>
        </p:nvSpPr>
        <p:spPr>
          <a:xfrm>
            <a:off x="640080" y="4901184"/>
            <a:ext cx="2514600" cy="548640"/>
          </a:xfrm>
          <a:prstGeom prst="rect">
            <a:avLst/>
          </a:prstGeom>
          <a:noFill/>
          <a:ln/>
        </p:spPr>
        <p:txBody>
          <a:bodyPr wrap="square" lIns="0" tIns="0" rIns="0" bIns="0" rtlCol="0" anchor="t"/>
          <a:lstStyle/>
          <a:p>
            <a:pPr indent="0" marL="0">
              <a:buNone/>
            </a:pPr>
            <a:r>
              <a:rPr lang="en-US" sz="1300" b="1" dirty="0">
                <a:solidFill>
                  <a:srgbClr val="143A5A"/>
                </a:solidFill>
                <a:latin typeface="Calibri" pitchFamily="34" charset="0"/>
                <a:ea typeface="Calibri" pitchFamily="34" charset="-122"/>
                <a:cs typeface="Calibri" pitchFamily="34" charset="-120"/>
              </a:rPr>
              <a:t>~18 processors</a:t>
            </a:r>
            <a:pPr indent="0" marL="0">
              <a:buNone/>
            </a:pPr>
            <a:endParaRPr lang="en-US" sz="950" dirty="0"/>
          </a:p>
          <a:p>
            <a:pPr indent="0" marL="0">
              <a:buNone/>
            </a:pPr>
            <a:r>
              <a:rPr lang="en-US" sz="950" dirty="0">
                <a:solidFill>
                  <a:srgbClr val="334150"/>
                </a:solidFill>
                <a:latin typeface="Calibri" pitchFamily="34" charset="0"/>
                <a:ea typeface="Calibri" pitchFamily="34" charset="-122"/>
                <a:cs typeface="Calibri" pitchFamily="34" charset="-120"/>
              </a:rPr>
              <a:t>see every 0.2 mm of a 1.28 m strip at 250 m/min</a:t>
            </a:r>
            <a:endParaRPr lang="en-US" sz="950" dirty="0"/>
          </a:p>
        </p:txBody>
      </p:sp>
      <p:sp>
        <p:nvSpPr>
          <p:cNvPr id="65" name="Text 44"/>
          <p:cNvSpPr txBox="1"/>
          <p:nvPr/>
        </p:nvSpPr>
        <p:spPr>
          <a:xfrm>
            <a:off x="3017520" y="4206240"/>
            <a:ext cx="457200" cy="365760"/>
          </a:xfrm>
          <a:prstGeom prst="rect">
            <a:avLst/>
          </a:prstGeom>
          <a:noFill/>
          <a:ln/>
        </p:spPr>
        <p:txBody>
          <a:bodyPr wrap="square" lIns="0" tIns="0" rIns="0" bIns="0" rtlCol="0" anchor="t"/>
          <a:lstStyle/>
          <a:p>
            <a:pPr algn="ctr" indent="0" marL="0">
              <a:buNone/>
            </a:pPr>
            <a:r>
              <a:rPr lang="en-US" sz="1600" b="1" dirty="0">
                <a:solidFill>
                  <a:srgbClr val="5F6B78"/>
                </a:solidFill>
                <a:latin typeface="Calibri" pitchFamily="34" charset="0"/>
                <a:ea typeface="Calibri" pitchFamily="34" charset="-122"/>
                <a:cs typeface="Calibri" pitchFamily="34" charset="-120"/>
              </a:rPr>
              <a:t>vs</a:t>
            </a:r>
            <a:endParaRPr lang="en-US" sz="1600" dirty="0"/>
          </a:p>
        </p:txBody>
      </p:sp>
      <p:pic>
        <p:nvPicPr>
          <p:cNvPr id="66" name="Image 18" descr="img/icons/cpu-accent.png">    </p:cNvPr>
          <p:cNvPicPr>
            <a:picLocks noChangeAspect="1"/>
          </p:cNvPicPr>
          <p:nvPr/>
        </p:nvPicPr>
        <p:blipFill>
          <a:blip r:embed="rId20"/>
          <a:stretch>
            <a:fillRect/>
          </a:stretch>
        </p:blipFill>
        <p:spPr>
          <a:xfrm>
            <a:off x="3886200" y="4041648"/>
            <a:ext cx="603504" cy="603504"/>
          </a:xfrm>
          <a:prstGeom prst="rect">
            <a:avLst/>
          </a:prstGeom>
        </p:spPr>
      </p:pic>
      <p:sp>
        <p:nvSpPr>
          <p:cNvPr id="67" name="Text 45"/>
          <p:cNvSpPr txBox="1"/>
          <p:nvPr/>
        </p:nvSpPr>
        <p:spPr>
          <a:xfrm>
            <a:off x="3520440" y="4736592"/>
            <a:ext cx="2377440" cy="822960"/>
          </a:xfrm>
          <a:prstGeom prst="rect">
            <a:avLst/>
          </a:prstGeom>
          <a:noFill/>
          <a:ln/>
        </p:spPr>
        <p:txBody>
          <a:bodyPr wrap="square" lIns="0" tIns="0" rIns="0" bIns="0" rtlCol="0" anchor="t"/>
          <a:lstStyle/>
          <a:p>
            <a:pPr indent="0" marL="0">
              <a:buNone/>
            </a:pPr>
            <a:r>
              <a:rPr lang="en-US" sz="1300" b="1" dirty="0">
                <a:solidFill>
                  <a:srgbClr val="0086C3"/>
                </a:solidFill>
                <a:latin typeface="Calibri" pitchFamily="34" charset="0"/>
                <a:ea typeface="Calibri" pitchFamily="34" charset="-122"/>
                <a:cs typeface="Calibri" pitchFamily="34" charset="-120"/>
              </a:rPr>
              <a:t>1 processor</a:t>
            </a:r>
            <a:pPr indent="0" marL="0">
              <a:buNone/>
            </a:pPr>
            <a:endParaRPr lang="en-US" sz="950" dirty="0"/>
          </a:p>
          <a:p>
            <a:pPr indent="0" marL="0">
              <a:buNone/>
            </a:pPr>
            <a:r>
              <a:rPr lang="en-US" sz="950" dirty="0">
                <a:solidFill>
                  <a:srgbClr val="334150"/>
                </a:solidFill>
                <a:latin typeface="Calibri" pitchFamily="34" charset="0"/>
                <a:ea typeface="Calibri" pitchFamily="34" charset="-122"/>
                <a:cs typeface="Calibri" pitchFamily="34" charset="-120"/>
              </a:rPr>
              <a:t>if images are coarsened to 1.28 mm, but fine scratches vanish</a:t>
            </a:r>
            <a:endParaRPr lang="en-US" sz="950" dirty="0"/>
          </a:p>
        </p:txBody>
      </p:sp>
      <p:sp>
        <p:nvSpPr>
          <p:cNvPr id="68" name="Text 46"/>
          <p:cNvSpPr txBox="1"/>
          <p:nvPr/>
        </p:nvSpPr>
        <p:spPr>
          <a:xfrm>
            <a:off x="594360" y="5559552"/>
            <a:ext cx="5266944" cy="274320"/>
          </a:xfrm>
          <a:prstGeom prst="rect">
            <a:avLst/>
          </a:prstGeom>
          <a:noFill/>
          <a:ln/>
        </p:spPr>
        <p:txBody>
          <a:bodyPr wrap="square" lIns="0" tIns="0" rIns="0" bIns="0" rtlCol="0" anchor="ctr"/>
          <a:lstStyle/>
          <a:p>
            <a:pPr indent="0" marL="0">
              <a:buNone/>
            </a:pPr>
            <a:r>
              <a:rPr lang="en-US" sz="1000" b="1" dirty="0">
                <a:solidFill>
                  <a:srgbClr val="0086C3"/>
                </a:solidFill>
                <a:latin typeface="Calibri" pitchFamily="34" charset="0"/>
                <a:ea typeface="Calibri" pitchFamily="34" charset="-122"/>
                <a:cs typeface="Calibri" pitchFamily="34" charset="-120"/>
              </a:rPr>
              <a:t>So we: </a:t>
            </a:r>
            <a:pPr indent="0" marL="0">
              <a:buNone/>
            </a:pPr>
            <a:r>
              <a:rPr lang="en-US" sz="1000" dirty="0">
                <a:solidFill>
                  <a:srgbClr val="141C24"/>
                </a:solidFill>
                <a:latin typeface="Calibri" pitchFamily="34" charset="0"/>
                <a:ea typeface="Calibri" pitchFamily="34" charset="-122"/>
                <a:cs typeface="Calibri" pitchFamily="34" charset="-120"/>
              </a:rPr>
              <a:t>fix the image resolution with JSL first, then size the hardware.</a:t>
            </a:r>
            <a:endParaRPr lang="en-US" sz="1000" dirty="0"/>
          </a:p>
        </p:txBody>
      </p:sp>
      <p:sp>
        <p:nvSpPr>
          <p:cNvPr id="69" name="Shape 47"/>
          <p:cNvSpPr/>
          <p:nvPr/>
        </p:nvSpPr>
        <p:spPr>
          <a:xfrm>
            <a:off x="6190488" y="3630168"/>
            <a:ext cx="5541264" cy="274320"/>
          </a:xfrm>
          <a:prstGeom prst="rect">
            <a:avLst/>
          </a:prstGeom>
          <a:solidFill>
            <a:srgbClr val="2B5B80"/>
          </a:solidFill>
          <a:ln w="12700">
            <a:solidFill>
              <a:srgbClr val="2B5B80"/>
            </a:solidFill>
            <a:prstDash val="solid"/>
          </a:ln>
        </p:spPr>
      </p:sp>
      <p:sp>
        <p:nvSpPr>
          <p:cNvPr id="70" name="Text 48"/>
          <p:cNvSpPr txBox="1"/>
          <p:nvPr/>
        </p:nvSpPr>
        <p:spPr>
          <a:xfrm>
            <a:off x="6281928" y="3630168"/>
            <a:ext cx="5358384" cy="274320"/>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4  Operators act only on alarms they can trust</a:t>
            </a:r>
            <a:endParaRPr lang="en-US" sz="1100" dirty="0"/>
          </a:p>
        </p:txBody>
      </p:sp>
      <p:sp>
        <p:nvSpPr>
          <p:cNvPr id="71" name="Shape 49"/>
          <p:cNvSpPr/>
          <p:nvPr/>
        </p:nvSpPr>
        <p:spPr>
          <a:xfrm>
            <a:off x="6190488" y="3904488"/>
            <a:ext cx="5541264" cy="1984248"/>
          </a:xfrm>
          <a:prstGeom prst="roundRect">
            <a:avLst>
              <a:gd name="adj" fmla="val 2765"/>
            </a:avLst>
          </a:prstGeom>
          <a:solidFill>
            <a:srgbClr val="F1F4F7"/>
          </a:solidFill>
          <a:ln w="12700">
            <a:solidFill>
              <a:srgbClr val="F1F4F7"/>
            </a:solidFill>
            <a:prstDash val="solid"/>
          </a:ln>
        </p:spPr>
      </p:sp>
      <p:sp>
        <p:nvSpPr>
          <p:cNvPr id="72" name="Shape 50"/>
          <p:cNvSpPr/>
          <p:nvPr/>
        </p:nvSpPr>
        <p:spPr>
          <a:xfrm>
            <a:off x="6327648" y="4087368"/>
            <a:ext cx="457200" cy="457200"/>
          </a:xfrm>
          <a:prstGeom prst="ellipse">
            <a:avLst/>
          </a:prstGeom>
          <a:solidFill>
            <a:srgbClr val="143A5A"/>
          </a:solidFill>
          <a:ln w="12700">
            <a:solidFill>
              <a:srgbClr val="143A5A"/>
            </a:solidFill>
            <a:prstDash val="solid"/>
          </a:ln>
        </p:spPr>
      </p:sp>
      <p:pic>
        <p:nvPicPr>
          <p:cNvPr id="73" name="Image 19" descr="img/icons/target-white.png">    </p:cNvPr>
          <p:cNvPicPr>
            <a:picLocks noChangeAspect="1"/>
          </p:cNvPicPr>
          <p:nvPr/>
        </p:nvPicPr>
        <p:blipFill>
          <a:blip r:embed="rId21"/>
          <a:stretch>
            <a:fillRect/>
          </a:stretch>
        </p:blipFill>
        <p:spPr>
          <a:xfrm>
            <a:off x="6428232" y="4187952"/>
            <a:ext cx="256032" cy="256032"/>
          </a:xfrm>
          <a:prstGeom prst="rect">
            <a:avLst/>
          </a:prstGeom>
        </p:spPr>
      </p:pic>
      <p:sp>
        <p:nvSpPr>
          <p:cNvPr id="74" name="Text 51"/>
          <p:cNvSpPr txBox="1"/>
          <p:nvPr/>
        </p:nvSpPr>
        <p:spPr>
          <a:xfrm>
            <a:off x="6903720" y="4041648"/>
            <a:ext cx="1508760" cy="566928"/>
          </a:xfrm>
          <a:prstGeom prst="rect">
            <a:avLst/>
          </a:prstGeom>
          <a:noFill/>
          <a:ln/>
        </p:spPr>
        <p:txBody>
          <a:bodyPr wrap="square" lIns="0" tIns="0" rIns="0" bIns="0" rtlCol="0" anchor="ctr"/>
          <a:lstStyle/>
          <a:p>
            <a:pPr indent="0" marL="0">
              <a:buNone/>
            </a:pPr>
            <a:r>
              <a:rPr lang="en-US" sz="1800" b="1" dirty="0">
                <a:solidFill>
                  <a:srgbClr val="143A5A"/>
                </a:solidFill>
                <a:latin typeface="Calibri" pitchFamily="34" charset="0"/>
                <a:ea typeface="Calibri" pitchFamily="34" charset="-122"/>
                <a:cs typeface="Calibri" pitchFamily="34" charset="-120"/>
              </a:rPr>
              <a:t>60% lower</a:t>
            </a:r>
            <a:endParaRPr lang="en-US" sz="1800" dirty="0"/>
          </a:p>
        </p:txBody>
      </p:sp>
      <p:sp>
        <p:nvSpPr>
          <p:cNvPr id="75" name="Text 52"/>
          <p:cNvSpPr txBox="1"/>
          <p:nvPr/>
        </p:nvSpPr>
        <p:spPr>
          <a:xfrm>
            <a:off x="8412480" y="4041648"/>
            <a:ext cx="3200400" cy="603504"/>
          </a:xfrm>
          <a:prstGeom prst="rect">
            <a:avLst/>
          </a:prstGeom>
          <a:noFill/>
          <a:ln/>
        </p:spPr>
        <p:txBody>
          <a:bodyPr wrap="square" lIns="0" tIns="0" rIns="0" bIns="0" rtlCol="0" anchor="ctr"/>
          <a:lstStyle/>
          <a:p>
            <a:pPr indent="0" marL="0">
              <a:buNone/>
            </a:pPr>
            <a:r>
              <a:rPr lang="en-US" sz="950" dirty="0">
                <a:solidFill>
                  <a:srgbClr val="334150"/>
                </a:solidFill>
                <a:latin typeface="Calibri" pitchFamily="34" charset="0"/>
                <a:ea typeface="Calibri" pitchFamily="34" charset="-122"/>
                <a:cs typeface="Calibri" pitchFamily="34" charset="-120"/>
              </a:rPr>
              <a:t>confidence error after calibration, so a stated confidence is now within about 3 points of how often it is actually right</a:t>
            </a:r>
            <a:endParaRPr lang="en-US" sz="950" dirty="0"/>
          </a:p>
        </p:txBody>
      </p:sp>
      <p:sp>
        <p:nvSpPr>
          <p:cNvPr id="76" name="Shape 53"/>
          <p:cNvSpPr/>
          <p:nvPr/>
        </p:nvSpPr>
        <p:spPr>
          <a:xfrm>
            <a:off x="6327648" y="4800600"/>
            <a:ext cx="457200" cy="457200"/>
          </a:xfrm>
          <a:prstGeom prst="ellipse">
            <a:avLst/>
          </a:prstGeom>
          <a:solidFill>
            <a:srgbClr val="143A5A"/>
          </a:solidFill>
          <a:ln w="12700">
            <a:solidFill>
              <a:srgbClr val="143A5A"/>
            </a:solidFill>
            <a:prstDash val="solid"/>
          </a:ln>
        </p:spPr>
      </p:sp>
      <p:pic>
        <p:nvPicPr>
          <p:cNvPr id="77" name="Image 20" descr="img/icons/shield-check-white.png">    </p:cNvPr>
          <p:cNvPicPr>
            <a:picLocks noChangeAspect="1"/>
          </p:cNvPicPr>
          <p:nvPr/>
        </p:nvPicPr>
        <p:blipFill>
          <a:blip r:embed="rId22"/>
          <a:stretch>
            <a:fillRect/>
          </a:stretch>
        </p:blipFill>
        <p:spPr>
          <a:xfrm>
            <a:off x="6428232" y="4901184"/>
            <a:ext cx="256032" cy="256032"/>
          </a:xfrm>
          <a:prstGeom prst="rect">
            <a:avLst/>
          </a:prstGeom>
        </p:spPr>
      </p:pic>
      <p:sp>
        <p:nvSpPr>
          <p:cNvPr id="78" name="Text 54"/>
          <p:cNvSpPr txBox="1"/>
          <p:nvPr/>
        </p:nvSpPr>
        <p:spPr>
          <a:xfrm>
            <a:off x="6903720" y="4754880"/>
            <a:ext cx="1508760" cy="566928"/>
          </a:xfrm>
          <a:prstGeom prst="rect">
            <a:avLst/>
          </a:prstGeom>
          <a:noFill/>
          <a:ln/>
        </p:spPr>
        <p:txBody>
          <a:bodyPr wrap="square" lIns="0" tIns="0" rIns="0" bIns="0" rtlCol="0" anchor="ctr"/>
          <a:lstStyle/>
          <a:p>
            <a:pPr indent="0" marL="0">
              <a:buNone/>
            </a:pPr>
            <a:r>
              <a:rPr lang="en-US" sz="1800" b="1" dirty="0">
                <a:solidFill>
                  <a:srgbClr val="143A5A"/>
                </a:solidFill>
                <a:latin typeface="Calibri" pitchFamily="34" charset="0"/>
                <a:ea typeface="Calibri" pitchFamily="34" charset="-122"/>
                <a:cs typeface="Calibri" pitchFamily="34" charset="-120"/>
              </a:rPr>
              <a:t>0 of 3,200</a:t>
            </a:r>
            <a:endParaRPr lang="en-US" sz="1800" dirty="0"/>
          </a:p>
        </p:txBody>
      </p:sp>
      <p:sp>
        <p:nvSpPr>
          <p:cNvPr id="79" name="Text 55"/>
          <p:cNvSpPr txBox="1"/>
          <p:nvPr/>
        </p:nvSpPr>
        <p:spPr>
          <a:xfrm>
            <a:off x="8412480" y="4754880"/>
            <a:ext cx="3200400" cy="603504"/>
          </a:xfrm>
          <a:prstGeom prst="rect">
            <a:avLst/>
          </a:prstGeom>
          <a:noFill/>
          <a:ln/>
        </p:spPr>
        <p:txBody>
          <a:bodyPr wrap="square" lIns="0" tIns="0" rIns="0" bIns="0" rtlCol="0" anchor="ctr"/>
          <a:lstStyle/>
          <a:p>
            <a:pPr indent="0" marL="0">
              <a:buNone/>
            </a:pPr>
            <a:r>
              <a:rPr lang="en-US" sz="950" dirty="0">
                <a:solidFill>
                  <a:srgbClr val="334150"/>
                </a:solidFill>
                <a:latin typeface="Calibri" pitchFamily="34" charset="0"/>
                <a:ea typeface="Calibri" pitchFamily="34" charset="-122"/>
                <a:cs typeface="Calibri" pitchFamily="34" charset="-120"/>
              </a:rPr>
              <a:t>real steel images wrongly rejected by our "is this steel?" check, which stops the system judging anything else</a:t>
            </a:r>
            <a:endParaRPr lang="en-US" sz="950" dirty="0"/>
          </a:p>
        </p:txBody>
      </p:sp>
      <p:sp>
        <p:nvSpPr>
          <p:cNvPr id="80" name="Text 56"/>
          <p:cNvSpPr txBox="1"/>
          <p:nvPr/>
        </p:nvSpPr>
        <p:spPr>
          <a:xfrm>
            <a:off x="6327648" y="5559552"/>
            <a:ext cx="5266944" cy="274320"/>
          </a:xfrm>
          <a:prstGeom prst="rect">
            <a:avLst/>
          </a:prstGeom>
          <a:noFill/>
          <a:ln/>
        </p:spPr>
        <p:txBody>
          <a:bodyPr wrap="square" lIns="0" tIns="0" rIns="0" bIns="0" rtlCol="0" anchor="ctr"/>
          <a:lstStyle/>
          <a:p>
            <a:pPr indent="0" marL="0">
              <a:buNone/>
            </a:pPr>
            <a:r>
              <a:rPr lang="en-US" sz="1000" b="1" dirty="0">
                <a:solidFill>
                  <a:srgbClr val="0086C3"/>
                </a:solidFill>
                <a:latin typeface="Calibri" pitchFamily="34" charset="0"/>
                <a:ea typeface="Calibri" pitchFamily="34" charset="-122"/>
                <a:cs typeface="Calibri" pitchFamily="34" charset="-120"/>
              </a:rPr>
              <a:t>So we: </a:t>
            </a:r>
            <a:pPr indent="0" marL="0">
              <a:buNone/>
            </a:pPr>
            <a:r>
              <a:rPr lang="en-US" sz="1000" dirty="0">
                <a:solidFill>
                  <a:srgbClr val="141C24"/>
                </a:solidFill>
                <a:latin typeface="Calibri" pitchFamily="34" charset="0"/>
                <a:ea typeface="Calibri" pitchFamily="34" charset="-122"/>
                <a:cs typeface="Calibri" pitchFamily="34" charset="-120"/>
              </a:rPr>
              <a:t>every alarm carries a trustworthy confidence and a steel check.</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201168"/>
            <a:ext cx="1481328" cy="274320"/>
          </a:xfrm>
          <a:prstGeom prst="rect">
            <a:avLst/>
          </a:prstGeom>
          <a:solidFill>
            <a:srgbClr val="F1F4F7"/>
          </a:solidFill>
          <a:ln w="12700">
            <a:solidFill>
              <a:srgbClr val="F1F4F7"/>
            </a:solidFill>
            <a:prstDash val="solid"/>
          </a:ln>
        </p:spPr>
      </p:sp>
      <p:sp>
        <p:nvSpPr>
          <p:cNvPr id="3" name="Text 1"/>
          <p:cNvSpPr txBox="1"/>
          <p:nvPr/>
        </p:nvSpPr>
        <p:spPr>
          <a:xfrm>
            <a:off x="457200" y="201168"/>
            <a:ext cx="1481328" cy="274320"/>
          </a:xfrm>
          <a:prstGeom prst="rect">
            <a:avLst/>
          </a:prstGeom>
          <a:noFill/>
          <a:ln/>
        </p:spPr>
        <p:txBody>
          <a:bodyPr wrap="square" lIns="0" tIns="0" rIns="0" bIns="0" rtlCol="0" anchor="ctr"/>
          <a:lstStyle/>
          <a:p>
            <a:pPr algn="ctr" indent="0" marL="0">
              <a:buNone/>
            </a:pPr>
            <a:r>
              <a:rPr lang="en-US" sz="1000" dirty="0">
                <a:solidFill>
                  <a:srgbClr val="5F6B78"/>
                </a:solidFill>
                <a:latin typeface="Calibri" pitchFamily="34" charset="0"/>
                <a:ea typeface="Calibri" pitchFamily="34" charset="-122"/>
                <a:cs typeface="Calibri" pitchFamily="34" charset="-120"/>
              </a:rPr>
              <a:t>1  Problem</a:t>
            </a:r>
            <a:endParaRPr lang="en-US" sz="1000" dirty="0"/>
          </a:p>
        </p:txBody>
      </p:sp>
      <p:sp>
        <p:nvSpPr>
          <p:cNvPr id="4" name="Shape 2"/>
          <p:cNvSpPr/>
          <p:nvPr/>
        </p:nvSpPr>
        <p:spPr>
          <a:xfrm>
            <a:off x="1993392" y="201168"/>
            <a:ext cx="1481328" cy="274320"/>
          </a:xfrm>
          <a:prstGeom prst="rect">
            <a:avLst/>
          </a:prstGeom>
          <a:solidFill>
            <a:srgbClr val="F1F4F7"/>
          </a:solidFill>
          <a:ln w="12700">
            <a:solidFill>
              <a:srgbClr val="F1F4F7"/>
            </a:solidFill>
            <a:prstDash val="solid"/>
          </a:ln>
        </p:spPr>
      </p:sp>
      <p:sp>
        <p:nvSpPr>
          <p:cNvPr id="5" name="Text 3"/>
          <p:cNvSpPr txBox="1"/>
          <p:nvPr/>
        </p:nvSpPr>
        <p:spPr>
          <a:xfrm>
            <a:off x="1993392" y="201168"/>
            <a:ext cx="1481328" cy="274320"/>
          </a:xfrm>
          <a:prstGeom prst="rect">
            <a:avLst/>
          </a:prstGeom>
          <a:noFill/>
          <a:ln/>
        </p:spPr>
        <p:txBody>
          <a:bodyPr wrap="square" lIns="0" tIns="0" rIns="0" bIns="0" rtlCol="0" anchor="ctr"/>
          <a:lstStyle/>
          <a:p>
            <a:pPr algn="ctr" indent="0" marL="0">
              <a:buNone/>
            </a:pPr>
            <a:r>
              <a:rPr lang="en-US" sz="1000" dirty="0">
                <a:solidFill>
                  <a:srgbClr val="5F6B78"/>
                </a:solidFill>
                <a:latin typeface="Calibri" pitchFamily="34" charset="0"/>
                <a:ea typeface="Calibri" pitchFamily="34" charset="-122"/>
                <a:cs typeface="Calibri" pitchFamily="34" charset="-120"/>
              </a:rPr>
              <a:t>2  Insights</a:t>
            </a:r>
            <a:endParaRPr lang="en-US" sz="1000" dirty="0"/>
          </a:p>
        </p:txBody>
      </p:sp>
      <p:sp>
        <p:nvSpPr>
          <p:cNvPr id="6" name="Shape 4"/>
          <p:cNvSpPr/>
          <p:nvPr/>
        </p:nvSpPr>
        <p:spPr>
          <a:xfrm>
            <a:off x="3529584" y="201168"/>
            <a:ext cx="1481328" cy="274320"/>
          </a:xfrm>
          <a:prstGeom prst="rect">
            <a:avLst/>
          </a:prstGeom>
          <a:solidFill>
            <a:srgbClr val="143A5A"/>
          </a:solidFill>
          <a:ln w="12700">
            <a:solidFill>
              <a:srgbClr val="143A5A"/>
            </a:solidFill>
            <a:prstDash val="solid"/>
          </a:ln>
        </p:spPr>
      </p:sp>
      <p:sp>
        <p:nvSpPr>
          <p:cNvPr id="7" name="Text 5"/>
          <p:cNvSpPr txBox="1"/>
          <p:nvPr/>
        </p:nvSpPr>
        <p:spPr>
          <a:xfrm>
            <a:off x="3529584" y="201168"/>
            <a:ext cx="1481328"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3  Solution</a:t>
            </a:r>
            <a:endParaRPr lang="en-US" sz="1000" dirty="0"/>
          </a:p>
        </p:txBody>
      </p:sp>
      <p:sp>
        <p:nvSpPr>
          <p:cNvPr id="8" name="Shape 6"/>
          <p:cNvSpPr/>
          <p:nvPr/>
        </p:nvSpPr>
        <p:spPr>
          <a:xfrm>
            <a:off x="5065776" y="201168"/>
            <a:ext cx="1481328" cy="274320"/>
          </a:xfrm>
          <a:prstGeom prst="rect">
            <a:avLst/>
          </a:prstGeom>
          <a:solidFill>
            <a:srgbClr val="F1F4F7"/>
          </a:solidFill>
          <a:ln w="12700">
            <a:solidFill>
              <a:srgbClr val="F1F4F7"/>
            </a:solidFill>
            <a:prstDash val="solid"/>
          </a:ln>
        </p:spPr>
      </p:sp>
      <p:sp>
        <p:nvSpPr>
          <p:cNvPr id="9" name="Text 7"/>
          <p:cNvSpPr txBox="1"/>
          <p:nvPr/>
        </p:nvSpPr>
        <p:spPr>
          <a:xfrm>
            <a:off x="5065776" y="201168"/>
            <a:ext cx="1481328" cy="274320"/>
          </a:xfrm>
          <a:prstGeom prst="rect">
            <a:avLst/>
          </a:prstGeom>
          <a:noFill/>
          <a:ln/>
        </p:spPr>
        <p:txBody>
          <a:bodyPr wrap="square" lIns="0" tIns="0" rIns="0" bIns="0" rtlCol="0" anchor="ctr"/>
          <a:lstStyle/>
          <a:p>
            <a:pPr algn="ctr" indent="0" marL="0">
              <a:buNone/>
            </a:pPr>
            <a:r>
              <a:rPr lang="en-US" sz="1000" dirty="0">
                <a:solidFill>
                  <a:srgbClr val="5F6B78"/>
                </a:solidFill>
                <a:latin typeface="Calibri" pitchFamily="34" charset="0"/>
                <a:ea typeface="Calibri" pitchFamily="34" charset="-122"/>
                <a:cs typeface="Calibri" pitchFamily="34" charset="-120"/>
              </a:rPr>
              <a:t>4  Implementation</a:t>
            </a:r>
            <a:endParaRPr lang="en-US" sz="1000" dirty="0"/>
          </a:p>
        </p:txBody>
      </p:sp>
      <p:sp>
        <p:nvSpPr>
          <p:cNvPr id="10" name="Shape 8"/>
          <p:cNvSpPr/>
          <p:nvPr/>
        </p:nvSpPr>
        <p:spPr>
          <a:xfrm>
            <a:off x="6601968" y="201168"/>
            <a:ext cx="1481328" cy="274320"/>
          </a:xfrm>
          <a:prstGeom prst="rect">
            <a:avLst/>
          </a:prstGeom>
          <a:solidFill>
            <a:srgbClr val="F1F4F7"/>
          </a:solidFill>
          <a:ln w="12700">
            <a:solidFill>
              <a:srgbClr val="F1F4F7"/>
            </a:solidFill>
            <a:prstDash val="solid"/>
          </a:ln>
        </p:spPr>
      </p:sp>
      <p:sp>
        <p:nvSpPr>
          <p:cNvPr id="11" name="Text 9"/>
          <p:cNvSpPr txBox="1"/>
          <p:nvPr/>
        </p:nvSpPr>
        <p:spPr>
          <a:xfrm>
            <a:off x="6601968" y="201168"/>
            <a:ext cx="1481328" cy="274320"/>
          </a:xfrm>
          <a:prstGeom prst="rect">
            <a:avLst/>
          </a:prstGeom>
          <a:noFill/>
          <a:ln/>
        </p:spPr>
        <p:txBody>
          <a:bodyPr wrap="square" lIns="0" tIns="0" rIns="0" bIns="0" rtlCol="0" anchor="ctr"/>
          <a:lstStyle/>
          <a:p>
            <a:pPr algn="ctr" indent="0" marL="0">
              <a:buNone/>
            </a:pPr>
            <a:r>
              <a:rPr lang="en-US" sz="1000" dirty="0">
                <a:solidFill>
                  <a:srgbClr val="5F6B78"/>
                </a:solidFill>
                <a:latin typeface="Calibri" pitchFamily="34" charset="0"/>
                <a:ea typeface="Calibri" pitchFamily="34" charset="-122"/>
                <a:cs typeface="Calibri" pitchFamily="34" charset="-120"/>
              </a:rPr>
              <a:t>5  Impact</a:t>
            </a:r>
            <a:endParaRPr lang="en-US" sz="1000" dirty="0"/>
          </a:p>
        </p:txBody>
      </p:sp>
      <p:sp>
        <p:nvSpPr>
          <p:cNvPr id="12" name="Text 10"/>
          <p:cNvSpPr txBox="1"/>
          <p:nvPr/>
        </p:nvSpPr>
        <p:spPr>
          <a:xfrm>
            <a:off x="8229600" y="201168"/>
            <a:ext cx="3502152" cy="274320"/>
          </a:xfrm>
          <a:prstGeom prst="rect">
            <a:avLst/>
          </a:prstGeom>
          <a:noFill/>
          <a:ln/>
        </p:spPr>
        <p:txBody>
          <a:bodyPr wrap="square" lIns="0" tIns="0" rIns="0" bIns="0" rtlCol="0" anchor="ctr"/>
          <a:lstStyle/>
          <a:p>
            <a:pPr algn="r" indent="0" marL="0">
              <a:buNone/>
            </a:pPr>
            <a:r>
              <a:rPr lang="en-US" sz="900" dirty="0">
                <a:solidFill>
                  <a:srgbClr val="5F6B78"/>
                </a:solidFill>
                <a:latin typeface="Calibri" pitchFamily="34" charset="0"/>
                <a:ea typeface="Calibri" pitchFamily="34" charset="-122"/>
                <a:cs typeface="Calibri" pitchFamily="34" charset="-120"/>
              </a:rPr>
              <a:t>STAINLESS SPARK ROUND 2  |  PS1  |  IIT Bombay</a:t>
            </a:r>
            <a:endParaRPr lang="en-US" sz="900" dirty="0"/>
          </a:p>
        </p:txBody>
      </p:sp>
      <p:sp>
        <p:nvSpPr>
          <p:cNvPr id="13" name="Text 11"/>
          <p:cNvSpPr txBox="1"/>
          <p:nvPr/>
        </p:nvSpPr>
        <p:spPr>
          <a:xfrm>
            <a:off x="457200" y="566928"/>
            <a:ext cx="11274552" cy="566928"/>
          </a:xfrm>
          <a:prstGeom prst="rect">
            <a:avLst/>
          </a:prstGeom>
          <a:noFill/>
          <a:ln/>
        </p:spPr>
        <p:txBody>
          <a:bodyPr wrap="square" lIns="0" tIns="0" rIns="0" bIns="0" rtlCol="0" anchor="ctr"/>
          <a:lstStyle/>
          <a:p>
            <a:pPr indent="0" marL="0">
              <a:buNone/>
            </a:pPr>
            <a:r>
              <a:rPr lang="en-US" sz="2000" b="1" dirty="0">
                <a:solidFill>
                  <a:srgbClr val="143A5A"/>
                </a:solidFill>
                <a:latin typeface="Calibri" pitchFamily="34" charset="0"/>
                <a:ea typeface="Calibri" pitchFamily="34" charset="-122"/>
                <a:cs typeface="Calibri" pitchFamily="34" charset="-120"/>
              </a:rPr>
              <a:t>Detect on the strip, decide at the coil, route to the owner, and learn from every correction</a:t>
            </a:r>
            <a:endParaRPr lang="en-US" sz="2000" dirty="0"/>
          </a:p>
        </p:txBody>
      </p:sp>
      <p:sp>
        <p:nvSpPr>
          <p:cNvPr id="14" name="Shape 12"/>
          <p:cNvSpPr/>
          <p:nvPr/>
        </p:nvSpPr>
        <p:spPr>
          <a:xfrm>
            <a:off x="457200" y="6236208"/>
            <a:ext cx="11274552" cy="420624"/>
          </a:xfrm>
          <a:prstGeom prst="rect">
            <a:avLst/>
          </a:prstGeom>
          <a:solidFill>
            <a:srgbClr val="143A5A"/>
          </a:solidFill>
          <a:ln w="12700">
            <a:solidFill>
              <a:srgbClr val="143A5A"/>
            </a:solidFill>
            <a:prstDash val="solid"/>
          </a:ln>
        </p:spPr>
      </p:sp>
      <p:sp>
        <p:nvSpPr>
          <p:cNvPr id="15" name="Text 13"/>
          <p:cNvSpPr txBox="1"/>
          <p:nvPr/>
        </p:nvSpPr>
        <p:spPr>
          <a:xfrm>
            <a:off x="621792" y="6236208"/>
            <a:ext cx="10972800" cy="420624"/>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Buy proven cameras, own the model: vendor-grade capture with a detector trained on JSL's grades and wired to JSL's process owners.</a:t>
            </a:r>
            <a:endParaRPr lang="en-US" sz="1200" dirty="0"/>
          </a:p>
        </p:txBody>
      </p:sp>
      <p:sp>
        <p:nvSpPr>
          <p:cNvPr id="16" name="Text 14"/>
          <p:cNvSpPr txBox="1"/>
          <p:nvPr/>
        </p:nvSpPr>
        <p:spPr>
          <a:xfrm>
            <a:off x="457200" y="5971032"/>
            <a:ext cx="11274552" cy="237744"/>
          </a:xfrm>
          <a:prstGeom prst="rect">
            <a:avLst/>
          </a:prstGeom>
          <a:noFill/>
          <a:ln/>
        </p:spPr>
        <p:txBody>
          <a:bodyPr wrap="square" lIns="0" tIns="0" rIns="0" bIns="0" rtlCol="0" anchor="ctr"/>
          <a:lstStyle/>
          <a:p>
            <a:pPr indent="0" marL="0">
              <a:buNone/>
            </a:pPr>
            <a:r>
              <a:rPr lang="en-US" sz="900" dirty="0">
                <a:solidFill>
                  <a:srgbClr val="5F6B78"/>
                </a:solidFill>
                <a:latin typeface="Calibri" pitchFamily="34" charset="0"/>
                <a:ea typeface="Calibri" pitchFamily="34" charset="-122"/>
                <a:cs typeface="Calibri" pitchFamily="34" charset="-120"/>
              </a:rPr>
              <a:t>BUILT = working in our prototype today, live at surface-vision.github.io. Unlabelled-learning result: J. Mater. Inf. 2025. Commercial price range: industry figure, unverified.</a:t>
            </a:r>
            <a:endParaRPr lang="en-US" sz="900" dirty="0"/>
          </a:p>
        </p:txBody>
      </p:sp>
      <p:sp>
        <p:nvSpPr>
          <p:cNvPr id="17" name="Shape 15"/>
          <p:cNvSpPr/>
          <p:nvPr/>
        </p:nvSpPr>
        <p:spPr>
          <a:xfrm>
            <a:off x="457200" y="1234440"/>
            <a:ext cx="11274552" cy="274320"/>
          </a:xfrm>
          <a:prstGeom prst="rect">
            <a:avLst/>
          </a:prstGeom>
          <a:solidFill>
            <a:srgbClr val="2B5B80"/>
          </a:solidFill>
          <a:ln w="12700">
            <a:solidFill>
              <a:srgbClr val="2B5B80"/>
            </a:solidFill>
            <a:prstDash val="solid"/>
          </a:ln>
        </p:spPr>
      </p:sp>
      <p:sp>
        <p:nvSpPr>
          <p:cNvPr id="18" name="Text 16"/>
          <p:cNvSpPr txBox="1"/>
          <p:nvPr/>
        </p:nvSpPr>
        <p:spPr>
          <a:xfrm>
            <a:off x="548640" y="1234440"/>
            <a:ext cx="11091672" cy="274320"/>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How it works: six stages from camera to corrective action</a:t>
            </a:r>
            <a:endParaRPr lang="en-US" sz="1100" dirty="0"/>
          </a:p>
        </p:txBody>
      </p:sp>
      <p:sp>
        <p:nvSpPr>
          <p:cNvPr id="19" name="Shape 17"/>
          <p:cNvSpPr/>
          <p:nvPr/>
        </p:nvSpPr>
        <p:spPr>
          <a:xfrm>
            <a:off x="457200" y="1572768"/>
            <a:ext cx="1783080" cy="1481328"/>
          </a:xfrm>
          <a:prstGeom prst="roundRect">
            <a:avLst>
              <a:gd name="adj" fmla="val 3704"/>
            </a:avLst>
          </a:prstGeom>
          <a:solidFill>
            <a:srgbClr val="F1F4F7"/>
          </a:solidFill>
          <a:ln w="12700">
            <a:solidFill>
              <a:srgbClr val="F1F4F7"/>
            </a:solidFill>
            <a:prstDash val="solid"/>
          </a:ln>
        </p:spPr>
      </p:sp>
      <p:sp>
        <p:nvSpPr>
          <p:cNvPr id="20" name="Shape 18"/>
          <p:cNvSpPr/>
          <p:nvPr/>
        </p:nvSpPr>
        <p:spPr>
          <a:xfrm>
            <a:off x="566928" y="1664208"/>
            <a:ext cx="457200" cy="457200"/>
          </a:xfrm>
          <a:prstGeom prst="ellipse">
            <a:avLst/>
          </a:prstGeom>
          <a:solidFill>
            <a:srgbClr val="143A5A"/>
          </a:solidFill>
          <a:ln w="12700">
            <a:solidFill>
              <a:srgbClr val="143A5A"/>
            </a:solidFill>
            <a:prstDash val="solid"/>
          </a:ln>
        </p:spPr>
      </p:sp>
      <p:pic>
        <p:nvPicPr>
          <p:cNvPr id="21" name="Image 0" descr="img/icons/camera-white.png">    </p:cNvPr>
          <p:cNvPicPr>
            <a:picLocks noChangeAspect="1"/>
          </p:cNvPicPr>
          <p:nvPr/>
        </p:nvPicPr>
        <p:blipFill>
          <a:blip r:embed="rId1"/>
          <a:stretch>
            <a:fillRect/>
          </a:stretch>
        </p:blipFill>
        <p:spPr>
          <a:xfrm>
            <a:off x="667512" y="1764792"/>
            <a:ext cx="256032" cy="256032"/>
          </a:xfrm>
          <a:prstGeom prst="rect">
            <a:avLst/>
          </a:prstGeom>
        </p:spPr>
      </p:pic>
      <p:sp>
        <p:nvSpPr>
          <p:cNvPr id="22" name="Text 19"/>
          <p:cNvSpPr txBox="1"/>
          <p:nvPr/>
        </p:nvSpPr>
        <p:spPr>
          <a:xfrm>
            <a:off x="1097280" y="1682496"/>
            <a:ext cx="1097280" cy="420624"/>
          </a:xfrm>
          <a:prstGeom prst="rect">
            <a:avLst/>
          </a:prstGeom>
          <a:noFill/>
          <a:ln/>
        </p:spPr>
        <p:txBody>
          <a:bodyPr wrap="square" lIns="0" tIns="0" rIns="0" bIns="0" rtlCol="0" anchor="ctr"/>
          <a:lstStyle/>
          <a:p>
            <a:pPr indent="0" marL="0">
              <a:buNone/>
            </a:pPr>
            <a:r>
              <a:rPr lang="en-US" sz="1200" b="1" dirty="0">
                <a:solidFill>
                  <a:srgbClr val="143A5A"/>
                </a:solidFill>
                <a:latin typeface="Calibri" pitchFamily="34" charset="0"/>
                <a:ea typeface="Calibri" pitchFamily="34" charset="-122"/>
                <a:cs typeface="Calibri" pitchFamily="34" charset="-120"/>
              </a:rPr>
              <a:t>Capture</a:t>
            </a:r>
            <a:endParaRPr lang="en-US" sz="1200" dirty="0"/>
          </a:p>
        </p:txBody>
      </p:sp>
      <p:sp>
        <p:nvSpPr>
          <p:cNvPr id="23" name="Text 20"/>
          <p:cNvSpPr txBox="1"/>
          <p:nvPr/>
        </p:nvSpPr>
        <p:spPr>
          <a:xfrm>
            <a:off x="566928" y="2194560"/>
            <a:ext cx="1581912" cy="502920"/>
          </a:xfrm>
          <a:prstGeom prst="rect">
            <a:avLst/>
          </a:prstGeom>
          <a:noFill/>
          <a:ln/>
        </p:spPr>
        <p:txBody>
          <a:bodyPr wrap="square" lIns="0" tIns="0" rIns="0" bIns="0" rtlCol="0" anchor="t"/>
          <a:lstStyle/>
          <a:p>
            <a:pPr indent="0" marL="0">
              <a:buNone/>
            </a:pPr>
            <a:r>
              <a:rPr lang="en-US" sz="950" dirty="0">
                <a:solidFill>
                  <a:srgbClr val="334150"/>
                </a:solidFill>
                <a:latin typeface="Calibri" pitchFamily="34" charset="0"/>
                <a:ea typeface="Calibri" pitchFamily="34" charset="-122"/>
                <a:cs typeface="Calibri" pitchFamily="34" charset="-120"/>
              </a:rPr>
              <a:t>Cameras on both faces, down to 0.2 mm</a:t>
            </a:r>
            <a:endParaRPr lang="en-US" sz="950" dirty="0"/>
          </a:p>
        </p:txBody>
      </p:sp>
      <p:sp>
        <p:nvSpPr>
          <p:cNvPr id="24" name="Shape 21"/>
          <p:cNvSpPr/>
          <p:nvPr/>
        </p:nvSpPr>
        <p:spPr>
          <a:xfrm>
            <a:off x="566928" y="2761488"/>
            <a:ext cx="822960" cy="201168"/>
          </a:xfrm>
          <a:prstGeom prst="roundRect">
            <a:avLst>
              <a:gd name="adj" fmla="val 27273"/>
            </a:avLst>
          </a:prstGeom>
          <a:solidFill>
            <a:srgbClr val="5F6B78"/>
          </a:solidFill>
          <a:ln w="12700">
            <a:solidFill>
              <a:srgbClr val="5F6B78"/>
            </a:solidFill>
            <a:prstDash val="solid"/>
          </a:ln>
        </p:spPr>
      </p:sp>
      <p:sp>
        <p:nvSpPr>
          <p:cNvPr id="25" name="Text 22"/>
          <p:cNvSpPr txBox="1"/>
          <p:nvPr/>
        </p:nvSpPr>
        <p:spPr>
          <a:xfrm>
            <a:off x="566928" y="2761488"/>
            <a:ext cx="822960" cy="201168"/>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TO BUILD</a:t>
            </a:r>
            <a:endParaRPr lang="en-US" sz="900" dirty="0"/>
          </a:p>
        </p:txBody>
      </p:sp>
      <p:sp>
        <p:nvSpPr>
          <p:cNvPr id="26" name="Shape 23"/>
          <p:cNvSpPr/>
          <p:nvPr/>
        </p:nvSpPr>
        <p:spPr>
          <a:xfrm>
            <a:off x="2253996" y="2194560"/>
            <a:ext cx="91440" cy="201168"/>
          </a:xfrm>
          <a:prstGeom prst="chevron">
            <a:avLst/>
          </a:prstGeom>
          <a:solidFill>
            <a:srgbClr val="0086C3"/>
          </a:solidFill>
          <a:ln w="12700">
            <a:solidFill>
              <a:srgbClr val="0086C3"/>
            </a:solidFill>
            <a:prstDash val="solid"/>
          </a:ln>
        </p:spPr>
      </p:sp>
      <p:sp>
        <p:nvSpPr>
          <p:cNvPr id="27" name="Shape 24"/>
          <p:cNvSpPr/>
          <p:nvPr/>
        </p:nvSpPr>
        <p:spPr>
          <a:xfrm>
            <a:off x="2355494" y="1572768"/>
            <a:ext cx="1783080" cy="1481328"/>
          </a:xfrm>
          <a:prstGeom prst="roundRect">
            <a:avLst>
              <a:gd name="adj" fmla="val 3704"/>
            </a:avLst>
          </a:prstGeom>
          <a:solidFill>
            <a:srgbClr val="F1F4F7"/>
          </a:solidFill>
          <a:ln w="12700">
            <a:solidFill>
              <a:srgbClr val="F1F4F7"/>
            </a:solidFill>
            <a:prstDash val="solid"/>
          </a:ln>
        </p:spPr>
      </p:sp>
      <p:sp>
        <p:nvSpPr>
          <p:cNvPr id="28" name="Shape 25"/>
          <p:cNvSpPr/>
          <p:nvPr/>
        </p:nvSpPr>
        <p:spPr>
          <a:xfrm>
            <a:off x="2465222" y="1664208"/>
            <a:ext cx="457200" cy="457200"/>
          </a:xfrm>
          <a:prstGeom prst="ellipse">
            <a:avLst/>
          </a:prstGeom>
          <a:solidFill>
            <a:srgbClr val="143A5A"/>
          </a:solidFill>
          <a:ln w="12700">
            <a:solidFill>
              <a:srgbClr val="143A5A"/>
            </a:solidFill>
            <a:prstDash val="solid"/>
          </a:ln>
        </p:spPr>
      </p:sp>
      <p:pic>
        <p:nvPicPr>
          <p:cNvPr id="29" name="Image 1" descr="img/icons/shield-check-white.png">    </p:cNvPr>
          <p:cNvPicPr>
            <a:picLocks noChangeAspect="1"/>
          </p:cNvPicPr>
          <p:nvPr/>
        </p:nvPicPr>
        <p:blipFill>
          <a:blip r:embed="rId2"/>
          <a:stretch>
            <a:fillRect/>
          </a:stretch>
        </p:blipFill>
        <p:spPr>
          <a:xfrm>
            <a:off x="2565806" y="1764792"/>
            <a:ext cx="256032" cy="256032"/>
          </a:xfrm>
          <a:prstGeom prst="rect">
            <a:avLst/>
          </a:prstGeom>
        </p:spPr>
      </p:pic>
      <p:sp>
        <p:nvSpPr>
          <p:cNvPr id="30" name="Text 26"/>
          <p:cNvSpPr txBox="1"/>
          <p:nvPr/>
        </p:nvSpPr>
        <p:spPr>
          <a:xfrm>
            <a:off x="2995574" y="1682496"/>
            <a:ext cx="1097280" cy="420624"/>
          </a:xfrm>
          <a:prstGeom prst="rect">
            <a:avLst/>
          </a:prstGeom>
          <a:noFill/>
          <a:ln/>
        </p:spPr>
        <p:txBody>
          <a:bodyPr wrap="square" lIns="0" tIns="0" rIns="0" bIns="0" rtlCol="0" anchor="ctr"/>
          <a:lstStyle/>
          <a:p>
            <a:pPr indent="0" marL="0">
              <a:buNone/>
            </a:pPr>
            <a:r>
              <a:rPr lang="en-US" sz="1200" b="1" dirty="0">
                <a:solidFill>
                  <a:srgbClr val="143A5A"/>
                </a:solidFill>
                <a:latin typeface="Calibri" pitchFamily="34" charset="0"/>
                <a:ea typeface="Calibri" pitchFamily="34" charset="-122"/>
                <a:cs typeface="Calibri" pitchFamily="34" charset="-120"/>
              </a:rPr>
              <a:t>Check</a:t>
            </a:r>
            <a:endParaRPr lang="en-US" sz="1200" dirty="0"/>
          </a:p>
        </p:txBody>
      </p:sp>
      <p:sp>
        <p:nvSpPr>
          <p:cNvPr id="31" name="Text 27"/>
          <p:cNvSpPr txBox="1"/>
          <p:nvPr/>
        </p:nvSpPr>
        <p:spPr>
          <a:xfrm>
            <a:off x="2465222" y="2194560"/>
            <a:ext cx="1581912" cy="502920"/>
          </a:xfrm>
          <a:prstGeom prst="rect">
            <a:avLst/>
          </a:prstGeom>
          <a:noFill/>
          <a:ln/>
        </p:spPr>
        <p:txBody>
          <a:bodyPr wrap="square" lIns="0" tIns="0" rIns="0" bIns="0" rtlCol="0" anchor="t"/>
          <a:lstStyle/>
          <a:p>
            <a:pPr indent="0" marL="0">
              <a:buNone/>
            </a:pPr>
            <a:r>
              <a:rPr lang="en-US" sz="950" dirty="0">
                <a:solidFill>
                  <a:srgbClr val="334150"/>
                </a:solidFill>
                <a:latin typeface="Calibri" pitchFamily="34" charset="0"/>
                <a:ea typeface="Calibri" pitchFamily="34" charset="-122"/>
                <a:cs typeface="Calibri" pitchFamily="34" charset="-120"/>
              </a:rPr>
              <a:t>Is it usable steel? If not, skip it</a:t>
            </a:r>
            <a:endParaRPr lang="en-US" sz="950" dirty="0"/>
          </a:p>
        </p:txBody>
      </p:sp>
      <p:sp>
        <p:nvSpPr>
          <p:cNvPr id="32" name="Shape 28"/>
          <p:cNvSpPr/>
          <p:nvPr/>
        </p:nvSpPr>
        <p:spPr>
          <a:xfrm>
            <a:off x="2465222" y="2761488"/>
            <a:ext cx="822960" cy="201168"/>
          </a:xfrm>
          <a:prstGeom prst="roundRect">
            <a:avLst>
              <a:gd name="adj" fmla="val 27273"/>
            </a:avLst>
          </a:prstGeom>
          <a:solidFill>
            <a:srgbClr val="2E7D32"/>
          </a:solidFill>
          <a:ln w="12700">
            <a:solidFill>
              <a:srgbClr val="2E7D32"/>
            </a:solidFill>
            <a:prstDash val="solid"/>
          </a:ln>
        </p:spPr>
      </p:sp>
      <p:sp>
        <p:nvSpPr>
          <p:cNvPr id="33" name="Text 29"/>
          <p:cNvSpPr txBox="1"/>
          <p:nvPr/>
        </p:nvSpPr>
        <p:spPr>
          <a:xfrm>
            <a:off x="2465222" y="2761488"/>
            <a:ext cx="822960" cy="201168"/>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BUILT</a:t>
            </a:r>
            <a:endParaRPr lang="en-US" sz="900" dirty="0"/>
          </a:p>
        </p:txBody>
      </p:sp>
      <p:sp>
        <p:nvSpPr>
          <p:cNvPr id="34" name="Shape 30"/>
          <p:cNvSpPr/>
          <p:nvPr/>
        </p:nvSpPr>
        <p:spPr>
          <a:xfrm>
            <a:off x="4152290" y="2194560"/>
            <a:ext cx="91440" cy="201168"/>
          </a:xfrm>
          <a:prstGeom prst="chevron">
            <a:avLst/>
          </a:prstGeom>
          <a:solidFill>
            <a:srgbClr val="0086C3"/>
          </a:solidFill>
          <a:ln w="12700">
            <a:solidFill>
              <a:srgbClr val="0086C3"/>
            </a:solidFill>
            <a:prstDash val="solid"/>
          </a:ln>
        </p:spPr>
      </p:sp>
      <p:sp>
        <p:nvSpPr>
          <p:cNvPr id="35" name="Shape 31"/>
          <p:cNvSpPr/>
          <p:nvPr/>
        </p:nvSpPr>
        <p:spPr>
          <a:xfrm>
            <a:off x="4253789" y="1572768"/>
            <a:ext cx="1783080" cy="1481328"/>
          </a:xfrm>
          <a:prstGeom prst="roundRect">
            <a:avLst>
              <a:gd name="adj" fmla="val 3704"/>
            </a:avLst>
          </a:prstGeom>
          <a:solidFill>
            <a:srgbClr val="F1F4F7"/>
          </a:solidFill>
          <a:ln w="12700">
            <a:solidFill>
              <a:srgbClr val="F1F4F7"/>
            </a:solidFill>
            <a:prstDash val="solid"/>
          </a:ln>
        </p:spPr>
      </p:sp>
      <p:sp>
        <p:nvSpPr>
          <p:cNvPr id="36" name="Shape 32"/>
          <p:cNvSpPr/>
          <p:nvPr/>
        </p:nvSpPr>
        <p:spPr>
          <a:xfrm>
            <a:off x="4363517" y="1664208"/>
            <a:ext cx="457200" cy="457200"/>
          </a:xfrm>
          <a:prstGeom prst="ellipse">
            <a:avLst/>
          </a:prstGeom>
          <a:solidFill>
            <a:srgbClr val="143A5A"/>
          </a:solidFill>
          <a:ln w="12700">
            <a:solidFill>
              <a:srgbClr val="143A5A"/>
            </a:solidFill>
            <a:prstDash val="solid"/>
          </a:ln>
        </p:spPr>
      </p:sp>
      <p:pic>
        <p:nvPicPr>
          <p:cNvPr id="37" name="Image 2" descr="img/icons/scan-search-white.png">    </p:cNvPr>
          <p:cNvPicPr>
            <a:picLocks noChangeAspect="1"/>
          </p:cNvPicPr>
          <p:nvPr/>
        </p:nvPicPr>
        <p:blipFill>
          <a:blip r:embed="rId3"/>
          <a:stretch>
            <a:fillRect/>
          </a:stretch>
        </p:blipFill>
        <p:spPr>
          <a:xfrm>
            <a:off x="4464101" y="1764792"/>
            <a:ext cx="256032" cy="256032"/>
          </a:xfrm>
          <a:prstGeom prst="rect">
            <a:avLst/>
          </a:prstGeom>
        </p:spPr>
      </p:pic>
      <p:sp>
        <p:nvSpPr>
          <p:cNvPr id="38" name="Text 33"/>
          <p:cNvSpPr txBox="1"/>
          <p:nvPr/>
        </p:nvSpPr>
        <p:spPr>
          <a:xfrm>
            <a:off x="4893869" y="1682496"/>
            <a:ext cx="1097280" cy="420624"/>
          </a:xfrm>
          <a:prstGeom prst="rect">
            <a:avLst/>
          </a:prstGeom>
          <a:noFill/>
          <a:ln/>
        </p:spPr>
        <p:txBody>
          <a:bodyPr wrap="square" lIns="0" tIns="0" rIns="0" bIns="0" rtlCol="0" anchor="ctr"/>
          <a:lstStyle/>
          <a:p>
            <a:pPr indent="0" marL="0">
              <a:buNone/>
            </a:pPr>
            <a:r>
              <a:rPr lang="en-US" sz="1200" b="1" dirty="0">
                <a:solidFill>
                  <a:srgbClr val="143A5A"/>
                </a:solidFill>
                <a:latin typeface="Calibri" pitchFamily="34" charset="0"/>
                <a:ea typeface="Calibri" pitchFamily="34" charset="-122"/>
                <a:cs typeface="Calibri" pitchFamily="34" charset="-120"/>
              </a:rPr>
              <a:t>Detect</a:t>
            </a:r>
            <a:endParaRPr lang="en-US" sz="1200" dirty="0"/>
          </a:p>
        </p:txBody>
      </p:sp>
      <p:sp>
        <p:nvSpPr>
          <p:cNvPr id="39" name="Text 34"/>
          <p:cNvSpPr txBox="1"/>
          <p:nvPr/>
        </p:nvSpPr>
        <p:spPr>
          <a:xfrm>
            <a:off x="4363517" y="2194560"/>
            <a:ext cx="1581912" cy="502920"/>
          </a:xfrm>
          <a:prstGeom prst="rect">
            <a:avLst/>
          </a:prstGeom>
          <a:noFill/>
          <a:ln/>
        </p:spPr>
        <p:txBody>
          <a:bodyPr wrap="square" lIns="0" tIns="0" rIns="0" bIns="0" rtlCol="0" anchor="t"/>
          <a:lstStyle/>
          <a:p>
            <a:pPr indent="0" marL="0">
              <a:buNone/>
            </a:pPr>
            <a:r>
              <a:rPr lang="en-US" sz="950" dirty="0">
                <a:solidFill>
                  <a:srgbClr val="334150"/>
                </a:solidFill>
                <a:latin typeface="Calibri" pitchFamily="34" charset="0"/>
                <a:ea typeface="Calibri" pitchFamily="34" charset="-122"/>
                <a:cs typeface="Calibri" pitchFamily="34" charset="-120"/>
              </a:rPr>
              <a:t>Find and classify every defect</a:t>
            </a:r>
            <a:endParaRPr lang="en-US" sz="950" dirty="0"/>
          </a:p>
        </p:txBody>
      </p:sp>
      <p:sp>
        <p:nvSpPr>
          <p:cNvPr id="40" name="Shape 35"/>
          <p:cNvSpPr/>
          <p:nvPr/>
        </p:nvSpPr>
        <p:spPr>
          <a:xfrm>
            <a:off x="4363517" y="2761488"/>
            <a:ext cx="822960" cy="201168"/>
          </a:xfrm>
          <a:prstGeom prst="roundRect">
            <a:avLst>
              <a:gd name="adj" fmla="val 27273"/>
            </a:avLst>
          </a:prstGeom>
          <a:solidFill>
            <a:srgbClr val="2E7D32"/>
          </a:solidFill>
          <a:ln w="12700">
            <a:solidFill>
              <a:srgbClr val="2E7D32"/>
            </a:solidFill>
            <a:prstDash val="solid"/>
          </a:ln>
        </p:spPr>
      </p:sp>
      <p:sp>
        <p:nvSpPr>
          <p:cNvPr id="41" name="Text 36"/>
          <p:cNvSpPr txBox="1"/>
          <p:nvPr/>
        </p:nvSpPr>
        <p:spPr>
          <a:xfrm>
            <a:off x="4363517" y="2761488"/>
            <a:ext cx="822960" cy="201168"/>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BUILT</a:t>
            </a:r>
            <a:endParaRPr lang="en-US" sz="900" dirty="0"/>
          </a:p>
        </p:txBody>
      </p:sp>
      <p:sp>
        <p:nvSpPr>
          <p:cNvPr id="42" name="Shape 37"/>
          <p:cNvSpPr/>
          <p:nvPr/>
        </p:nvSpPr>
        <p:spPr>
          <a:xfrm>
            <a:off x="6050585" y="2194560"/>
            <a:ext cx="91440" cy="201168"/>
          </a:xfrm>
          <a:prstGeom prst="chevron">
            <a:avLst/>
          </a:prstGeom>
          <a:solidFill>
            <a:srgbClr val="0086C3"/>
          </a:solidFill>
          <a:ln w="12700">
            <a:solidFill>
              <a:srgbClr val="0086C3"/>
            </a:solidFill>
            <a:prstDash val="solid"/>
          </a:ln>
        </p:spPr>
      </p:sp>
      <p:sp>
        <p:nvSpPr>
          <p:cNvPr id="43" name="Shape 38"/>
          <p:cNvSpPr/>
          <p:nvPr/>
        </p:nvSpPr>
        <p:spPr>
          <a:xfrm>
            <a:off x="6152083" y="1572768"/>
            <a:ext cx="1783080" cy="1481328"/>
          </a:xfrm>
          <a:prstGeom prst="roundRect">
            <a:avLst>
              <a:gd name="adj" fmla="val 3704"/>
            </a:avLst>
          </a:prstGeom>
          <a:solidFill>
            <a:srgbClr val="F1F4F7"/>
          </a:solidFill>
          <a:ln w="12700">
            <a:solidFill>
              <a:srgbClr val="F1F4F7"/>
            </a:solidFill>
            <a:prstDash val="solid"/>
          </a:ln>
        </p:spPr>
      </p:sp>
      <p:sp>
        <p:nvSpPr>
          <p:cNvPr id="44" name="Shape 39"/>
          <p:cNvSpPr/>
          <p:nvPr/>
        </p:nvSpPr>
        <p:spPr>
          <a:xfrm>
            <a:off x="6261811" y="1664208"/>
            <a:ext cx="457200" cy="457200"/>
          </a:xfrm>
          <a:prstGeom prst="ellipse">
            <a:avLst/>
          </a:prstGeom>
          <a:solidFill>
            <a:srgbClr val="143A5A"/>
          </a:solidFill>
          <a:ln w="12700">
            <a:solidFill>
              <a:srgbClr val="143A5A"/>
            </a:solidFill>
            <a:prstDash val="solid"/>
          </a:ln>
        </p:spPr>
      </p:sp>
      <p:pic>
        <p:nvPicPr>
          <p:cNvPr id="45" name="Image 3" descr="img/icons/gauge-white.png">    </p:cNvPr>
          <p:cNvPicPr>
            <a:picLocks noChangeAspect="1"/>
          </p:cNvPicPr>
          <p:nvPr/>
        </p:nvPicPr>
        <p:blipFill>
          <a:blip r:embed="rId4"/>
          <a:stretch>
            <a:fillRect/>
          </a:stretch>
        </p:blipFill>
        <p:spPr>
          <a:xfrm>
            <a:off x="6362395" y="1764792"/>
            <a:ext cx="256032" cy="256032"/>
          </a:xfrm>
          <a:prstGeom prst="rect">
            <a:avLst/>
          </a:prstGeom>
        </p:spPr>
      </p:pic>
      <p:sp>
        <p:nvSpPr>
          <p:cNvPr id="46" name="Text 40"/>
          <p:cNvSpPr txBox="1"/>
          <p:nvPr/>
        </p:nvSpPr>
        <p:spPr>
          <a:xfrm>
            <a:off x="6792163" y="1682496"/>
            <a:ext cx="1097280" cy="420624"/>
          </a:xfrm>
          <a:prstGeom prst="rect">
            <a:avLst/>
          </a:prstGeom>
          <a:noFill/>
          <a:ln/>
        </p:spPr>
        <p:txBody>
          <a:bodyPr wrap="square" lIns="0" tIns="0" rIns="0" bIns="0" rtlCol="0" anchor="ctr"/>
          <a:lstStyle/>
          <a:p>
            <a:pPr indent="0" marL="0">
              <a:buNone/>
            </a:pPr>
            <a:r>
              <a:rPr lang="en-US" sz="1200" b="1" dirty="0">
                <a:solidFill>
                  <a:srgbClr val="143A5A"/>
                </a:solidFill>
                <a:latin typeface="Calibri" pitchFamily="34" charset="0"/>
                <a:ea typeface="Calibri" pitchFamily="34" charset="-122"/>
                <a:cs typeface="Calibri" pitchFamily="34" charset="-120"/>
              </a:rPr>
              <a:t>Score</a:t>
            </a:r>
            <a:endParaRPr lang="en-US" sz="1200" dirty="0"/>
          </a:p>
        </p:txBody>
      </p:sp>
      <p:sp>
        <p:nvSpPr>
          <p:cNvPr id="47" name="Text 41"/>
          <p:cNvSpPr txBox="1"/>
          <p:nvPr/>
        </p:nvSpPr>
        <p:spPr>
          <a:xfrm>
            <a:off x="6261811" y="2194560"/>
            <a:ext cx="1581912" cy="502920"/>
          </a:xfrm>
          <a:prstGeom prst="rect">
            <a:avLst/>
          </a:prstGeom>
          <a:noFill/>
          <a:ln/>
        </p:spPr>
        <p:txBody>
          <a:bodyPr wrap="square" lIns="0" tIns="0" rIns="0" bIns="0" rtlCol="0" anchor="t"/>
          <a:lstStyle/>
          <a:p>
            <a:pPr indent="0" marL="0">
              <a:buNone/>
            </a:pPr>
            <a:r>
              <a:rPr lang="en-US" sz="950" dirty="0">
                <a:solidFill>
                  <a:srgbClr val="334150"/>
                </a:solidFill>
                <a:latin typeface="Calibri" pitchFamily="34" charset="0"/>
                <a:ea typeface="Calibri" pitchFamily="34" charset="-122"/>
                <a:cs typeface="Calibri" pitchFamily="34" charset="-120"/>
              </a:rPr>
              <a:t>Confidence, severity 0-100, coil position</a:t>
            </a:r>
            <a:endParaRPr lang="en-US" sz="950" dirty="0"/>
          </a:p>
        </p:txBody>
      </p:sp>
      <p:sp>
        <p:nvSpPr>
          <p:cNvPr id="48" name="Shape 42"/>
          <p:cNvSpPr/>
          <p:nvPr/>
        </p:nvSpPr>
        <p:spPr>
          <a:xfrm>
            <a:off x="6261811" y="2761488"/>
            <a:ext cx="822960" cy="201168"/>
          </a:xfrm>
          <a:prstGeom prst="roundRect">
            <a:avLst>
              <a:gd name="adj" fmla="val 27273"/>
            </a:avLst>
          </a:prstGeom>
          <a:solidFill>
            <a:srgbClr val="2E7D32"/>
          </a:solidFill>
          <a:ln w="12700">
            <a:solidFill>
              <a:srgbClr val="2E7D32"/>
            </a:solidFill>
            <a:prstDash val="solid"/>
          </a:ln>
        </p:spPr>
      </p:sp>
      <p:sp>
        <p:nvSpPr>
          <p:cNvPr id="49" name="Text 43"/>
          <p:cNvSpPr txBox="1"/>
          <p:nvPr/>
        </p:nvSpPr>
        <p:spPr>
          <a:xfrm>
            <a:off x="6261811" y="2761488"/>
            <a:ext cx="822960" cy="201168"/>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BUILT</a:t>
            </a:r>
            <a:endParaRPr lang="en-US" sz="900" dirty="0"/>
          </a:p>
        </p:txBody>
      </p:sp>
      <p:sp>
        <p:nvSpPr>
          <p:cNvPr id="50" name="Shape 44"/>
          <p:cNvSpPr/>
          <p:nvPr/>
        </p:nvSpPr>
        <p:spPr>
          <a:xfrm>
            <a:off x="7948879" y="2194560"/>
            <a:ext cx="91440" cy="201168"/>
          </a:xfrm>
          <a:prstGeom prst="chevron">
            <a:avLst/>
          </a:prstGeom>
          <a:solidFill>
            <a:srgbClr val="0086C3"/>
          </a:solidFill>
          <a:ln w="12700">
            <a:solidFill>
              <a:srgbClr val="0086C3"/>
            </a:solidFill>
            <a:prstDash val="solid"/>
          </a:ln>
        </p:spPr>
      </p:sp>
      <p:sp>
        <p:nvSpPr>
          <p:cNvPr id="51" name="Shape 45"/>
          <p:cNvSpPr/>
          <p:nvPr/>
        </p:nvSpPr>
        <p:spPr>
          <a:xfrm>
            <a:off x="8050378" y="1572768"/>
            <a:ext cx="1783080" cy="1481328"/>
          </a:xfrm>
          <a:prstGeom prst="roundRect">
            <a:avLst>
              <a:gd name="adj" fmla="val 3704"/>
            </a:avLst>
          </a:prstGeom>
          <a:solidFill>
            <a:srgbClr val="F1F4F7"/>
          </a:solidFill>
          <a:ln w="12700">
            <a:solidFill>
              <a:srgbClr val="F1F4F7"/>
            </a:solidFill>
            <a:prstDash val="solid"/>
          </a:ln>
        </p:spPr>
      </p:sp>
      <p:sp>
        <p:nvSpPr>
          <p:cNvPr id="52" name="Shape 46"/>
          <p:cNvSpPr/>
          <p:nvPr/>
        </p:nvSpPr>
        <p:spPr>
          <a:xfrm>
            <a:off x="8160106" y="1664208"/>
            <a:ext cx="457200" cy="457200"/>
          </a:xfrm>
          <a:prstGeom prst="ellipse">
            <a:avLst/>
          </a:prstGeom>
          <a:solidFill>
            <a:srgbClr val="143A5A"/>
          </a:solidFill>
          <a:ln w="12700">
            <a:solidFill>
              <a:srgbClr val="143A5A"/>
            </a:solidFill>
            <a:prstDash val="solid"/>
          </a:ln>
        </p:spPr>
      </p:sp>
      <p:pic>
        <p:nvPicPr>
          <p:cNvPr id="53" name="Image 4" descr="img/icons/split-white.png">    </p:cNvPr>
          <p:cNvPicPr>
            <a:picLocks noChangeAspect="1"/>
          </p:cNvPicPr>
          <p:nvPr/>
        </p:nvPicPr>
        <p:blipFill>
          <a:blip r:embed="rId5"/>
          <a:stretch>
            <a:fillRect/>
          </a:stretch>
        </p:blipFill>
        <p:spPr>
          <a:xfrm>
            <a:off x="8260690" y="1764792"/>
            <a:ext cx="256032" cy="256032"/>
          </a:xfrm>
          <a:prstGeom prst="rect">
            <a:avLst/>
          </a:prstGeom>
        </p:spPr>
      </p:pic>
      <p:sp>
        <p:nvSpPr>
          <p:cNvPr id="54" name="Text 47"/>
          <p:cNvSpPr txBox="1"/>
          <p:nvPr/>
        </p:nvSpPr>
        <p:spPr>
          <a:xfrm>
            <a:off x="8690458" y="1682496"/>
            <a:ext cx="1097280" cy="420624"/>
          </a:xfrm>
          <a:prstGeom prst="rect">
            <a:avLst/>
          </a:prstGeom>
          <a:noFill/>
          <a:ln/>
        </p:spPr>
        <p:txBody>
          <a:bodyPr wrap="square" lIns="0" tIns="0" rIns="0" bIns="0" rtlCol="0" anchor="ctr"/>
          <a:lstStyle/>
          <a:p>
            <a:pPr indent="0" marL="0">
              <a:buNone/>
            </a:pPr>
            <a:r>
              <a:rPr lang="en-US" sz="1200" b="1" dirty="0">
                <a:solidFill>
                  <a:srgbClr val="143A5A"/>
                </a:solidFill>
                <a:latin typeface="Calibri" pitchFamily="34" charset="0"/>
                <a:ea typeface="Calibri" pitchFamily="34" charset="-122"/>
                <a:cs typeface="Calibri" pitchFamily="34" charset="-120"/>
              </a:rPr>
              <a:t>Decide</a:t>
            </a:r>
            <a:endParaRPr lang="en-US" sz="1200" dirty="0"/>
          </a:p>
        </p:txBody>
      </p:sp>
      <p:sp>
        <p:nvSpPr>
          <p:cNvPr id="55" name="Text 48"/>
          <p:cNvSpPr txBox="1"/>
          <p:nvPr/>
        </p:nvSpPr>
        <p:spPr>
          <a:xfrm>
            <a:off x="8160106" y="2194560"/>
            <a:ext cx="1581912" cy="502920"/>
          </a:xfrm>
          <a:prstGeom prst="rect">
            <a:avLst/>
          </a:prstGeom>
          <a:noFill/>
          <a:ln/>
        </p:spPr>
        <p:txBody>
          <a:bodyPr wrap="square" lIns="0" tIns="0" rIns="0" bIns="0" rtlCol="0" anchor="t"/>
          <a:lstStyle/>
          <a:p>
            <a:pPr indent="0" marL="0">
              <a:buNone/>
            </a:pPr>
            <a:r>
              <a:rPr lang="en-US" sz="950" dirty="0">
                <a:solidFill>
                  <a:srgbClr val="334150"/>
                </a:solidFill>
                <a:latin typeface="Calibri" pitchFamily="34" charset="0"/>
                <a:ea typeface="Calibri" pitchFamily="34" charset="-122"/>
                <a:cs typeface="Calibri" pitchFamily="34" charset="-120"/>
              </a:rPr>
              <a:t>Accept, downgrade or hold, per grade</a:t>
            </a:r>
            <a:endParaRPr lang="en-US" sz="950" dirty="0"/>
          </a:p>
        </p:txBody>
      </p:sp>
      <p:sp>
        <p:nvSpPr>
          <p:cNvPr id="56" name="Shape 49"/>
          <p:cNvSpPr/>
          <p:nvPr/>
        </p:nvSpPr>
        <p:spPr>
          <a:xfrm>
            <a:off x="8160106" y="2761488"/>
            <a:ext cx="822960" cy="201168"/>
          </a:xfrm>
          <a:prstGeom prst="roundRect">
            <a:avLst>
              <a:gd name="adj" fmla="val 27273"/>
            </a:avLst>
          </a:prstGeom>
          <a:solidFill>
            <a:srgbClr val="B77900"/>
          </a:solidFill>
          <a:ln w="12700">
            <a:solidFill>
              <a:srgbClr val="B77900"/>
            </a:solidFill>
            <a:prstDash val="solid"/>
          </a:ln>
        </p:spPr>
      </p:sp>
      <p:sp>
        <p:nvSpPr>
          <p:cNvPr id="57" name="Text 50"/>
          <p:cNvSpPr txBox="1"/>
          <p:nvPr/>
        </p:nvSpPr>
        <p:spPr>
          <a:xfrm>
            <a:off x="8160106" y="2761488"/>
            <a:ext cx="822960" cy="201168"/>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PARTIAL</a:t>
            </a:r>
            <a:endParaRPr lang="en-US" sz="900" dirty="0"/>
          </a:p>
        </p:txBody>
      </p:sp>
      <p:sp>
        <p:nvSpPr>
          <p:cNvPr id="58" name="Shape 51"/>
          <p:cNvSpPr/>
          <p:nvPr/>
        </p:nvSpPr>
        <p:spPr>
          <a:xfrm>
            <a:off x="9847174" y="2194560"/>
            <a:ext cx="91440" cy="201168"/>
          </a:xfrm>
          <a:prstGeom prst="chevron">
            <a:avLst/>
          </a:prstGeom>
          <a:solidFill>
            <a:srgbClr val="0086C3"/>
          </a:solidFill>
          <a:ln w="12700">
            <a:solidFill>
              <a:srgbClr val="0086C3"/>
            </a:solidFill>
            <a:prstDash val="solid"/>
          </a:ln>
        </p:spPr>
      </p:sp>
      <p:sp>
        <p:nvSpPr>
          <p:cNvPr id="59" name="Shape 52"/>
          <p:cNvSpPr/>
          <p:nvPr/>
        </p:nvSpPr>
        <p:spPr>
          <a:xfrm>
            <a:off x="9948672" y="1572768"/>
            <a:ext cx="1783080" cy="1481328"/>
          </a:xfrm>
          <a:prstGeom prst="roundRect">
            <a:avLst>
              <a:gd name="adj" fmla="val 3704"/>
            </a:avLst>
          </a:prstGeom>
          <a:solidFill>
            <a:srgbClr val="E4EEF6"/>
          </a:solidFill>
          <a:ln w="12700">
            <a:solidFill>
              <a:srgbClr val="E4EEF6"/>
            </a:solidFill>
            <a:prstDash val="solid"/>
          </a:ln>
        </p:spPr>
      </p:sp>
      <p:sp>
        <p:nvSpPr>
          <p:cNvPr id="60" name="Shape 53"/>
          <p:cNvSpPr/>
          <p:nvPr/>
        </p:nvSpPr>
        <p:spPr>
          <a:xfrm>
            <a:off x="10058400" y="1664208"/>
            <a:ext cx="457200" cy="457200"/>
          </a:xfrm>
          <a:prstGeom prst="ellipse">
            <a:avLst/>
          </a:prstGeom>
          <a:solidFill>
            <a:srgbClr val="143A5A"/>
          </a:solidFill>
          <a:ln w="12700">
            <a:solidFill>
              <a:srgbClr val="143A5A"/>
            </a:solidFill>
            <a:prstDash val="solid"/>
          </a:ln>
        </p:spPr>
      </p:sp>
      <p:pic>
        <p:nvPicPr>
          <p:cNvPr id="61" name="Image 5" descr="img/icons/refresh-cw-white.png">    </p:cNvPr>
          <p:cNvPicPr>
            <a:picLocks noChangeAspect="1"/>
          </p:cNvPicPr>
          <p:nvPr/>
        </p:nvPicPr>
        <p:blipFill>
          <a:blip r:embed="rId6"/>
          <a:stretch>
            <a:fillRect/>
          </a:stretch>
        </p:blipFill>
        <p:spPr>
          <a:xfrm>
            <a:off x="10158984" y="1764792"/>
            <a:ext cx="256032" cy="256032"/>
          </a:xfrm>
          <a:prstGeom prst="rect">
            <a:avLst/>
          </a:prstGeom>
        </p:spPr>
      </p:pic>
      <p:sp>
        <p:nvSpPr>
          <p:cNvPr id="62" name="Text 54"/>
          <p:cNvSpPr txBox="1"/>
          <p:nvPr/>
        </p:nvSpPr>
        <p:spPr>
          <a:xfrm>
            <a:off x="10588752" y="1682496"/>
            <a:ext cx="1097280" cy="420624"/>
          </a:xfrm>
          <a:prstGeom prst="rect">
            <a:avLst/>
          </a:prstGeom>
          <a:noFill/>
          <a:ln/>
        </p:spPr>
        <p:txBody>
          <a:bodyPr wrap="square" lIns="0" tIns="0" rIns="0" bIns="0" rtlCol="0" anchor="ctr"/>
          <a:lstStyle/>
          <a:p>
            <a:pPr indent="0" marL="0">
              <a:buNone/>
            </a:pPr>
            <a:r>
              <a:rPr lang="en-US" sz="1200" b="1" dirty="0">
                <a:solidFill>
                  <a:srgbClr val="143A5A"/>
                </a:solidFill>
                <a:latin typeface="Calibri" pitchFamily="34" charset="0"/>
                <a:ea typeface="Calibri" pitchFamily="34" charset="-122"/>
                <a:cs typeface="Calibri" pitchFamily="34" charset="-120"/>
              </a:rPr>
              <a:t>Act &amp; learn</a:t>
            </a:r>
            <a:endParaRPr lang="en-US" sz="1200" dirty="0"/>
          </a:p>
        </p:txBody>
      </p:sp>
      <p:sp>
        <p:nvSpPr>
          <p:cNvPr id="63" name="Text 55"/>
          <p:cNvSpPr txBox="1"/>
          <p:nvPr/>
        </p:nvSpPr>
        <p:spPr>
          <a:xfrm>
            <a:off x="10058400" y="2194560"/>
            <a:ext cx="1581912" cy="502920"/>
          </a:xfrm>
          <a:prstGeom prst="rect">
            <a:avLst/>
          </a:prstGeom>
          <a:noFill/>
          <a:ln/>
        </p:spPr>
        <p:txBody>
          <a:bodyPr wrap="square" lIns="0" tIns="0" rIns="0" bIns="0" rtlCol="0" anchor="t"/>
          <a:lstStyle/>
          <a:p>
            <a:pPr indent="0" marL="0">
              <a:buNone/>
            </a:pPr>
            <a:r>
              <a:rPr lang="en-US" sz="950" dirty="0">
                <a:solidFill>
                  <a:srgbClr val="334150"/>
                </a:solidFill>
                <a:latin typeface="Calibri" pitchFamily="34" charset="0"/>
                <a:ea typeface="Calibri" pitchFamily="34" charset="-122"/>
                <a:cs typeface="Calibri" pitchFamily="34" charset="-120"/>
              </a:rPr>
              <a:t>Alert, hold, work order; corrections retrain it</a:t>
            </a:r>
            <a:endParaRPr lang="en-US" sz="950" dirty="0"/>
          </a:p>
        </p:txBody>
      </p:sp>
      <p:sp>
        <p:nvSpPr>
          <p:cNvPr id="64" name="Shape 56"/>
          <p:cNvSpPr/>
          <p:nvPr/>
        </p:nvSpPr>
        <p:spPr>
          <a:xfrm>
            <a:off x="10058400" y="2761488"/>
            <a:ext cx="822960" cy="201168"/>
          </a:xfrm>
          <a:prstGeom prst="roundRect">
            <a:avLst>
              <a:gd name="adj" fmla="val 27273"/>
            </a:avLst>
          </a:prstGeom>
          <a:solidFill>
            <a:srgbClr val="5F6B78"/>
          </a:solidFill>
          <a:ln w="12700">
            <a:solidFill>
              <a:srgbClr val="5F6B78"/>
            </a:solidFill>
            <a:prstDash val="solid"/>
          </a:ln>
        </p:spPr>
      </p:sp>
      <p:sp>
        <p:nvSpPr>
          <p:cNvPr id="65" name="Text 57"/>
          <p:cNvSpPr txBox="1"/>
          <p:nvPr/>
        </p:nvSpPr>
        <p:spPr>
          <a:xfrm>
            <a:off x="10058400" y="2761488"/>
            <a:ext cx="822960" cy="201168"/>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TO BUILD</a:t>
            </a:r>
            <a:endParaRPr lang="en-US" sz="900" dirty="0"/>
          </a:p>
        </p:txBody>
      </p:sp>
      <p:sp>
        <p:nvSpPr>
          <p:cNvPr id="66" name="Shape 58"/>
          <p:cNvSpPr/>
          <p:nvPr/>
        </p:nvSpPr>
        <p:spPr>
          <a:xfrm>
            <a:off x="457200" y="3218688"/>
            <a:ext cx="3429000" cy="274320"/>
          </a:xfrm>
          <a:prstGeom prst="rect">
            <a:avLst/>
          </a:prstGeom>
          <a:solidFill>
            <a:srgbClr val="2B5B80"/>
          </a:solidFill>
          <a:ln w="12700">
            <a:solidFill>
              <a:srgbClr val="2B5B80"/>
            </a:solidFill>
            <a:prstDash val="solid"/>
          </a:ln>
        </p:spPr>
      </p:sp>
      <p:sp>
        <p:nvSpPr>
          <p:cNvPr id="67" name="Text 59"/>
          <p:cNvSpPr txBox="1"/>
          <p:nvPr/>
        </p:nvSpPr>
        <p:spPr>
          <a:xfrm>
            <a:off x="548640" y="3218688"/>
            <a:ext cx="3246120" cy="274320"/>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Running today</a:t>
            </a:r>
            <a:endParaRPr lang="en-US" sz="1100" dirty="0"/>
          </a:p>
        </p:txBody>
      </p:sp>
      <p:sp>
        <p:nvSpPr>
          <p:cNvPr id="68" name="Shape 60"/>
          <p:cNvSpPr/>
          <p:nvPr/>
        </p:nvSpPr>
        <p:spPr>
          <a:xfrm>
            <a:off x="457200" y="3493008"/>
            <a:ext cx="3429000" cy="2395728"/>
          </a:xfrm>
          <a:prstGeom prst="roundRect">
            <a:avLst>
              <a:gd name="adj" fmla="val 2290"/>
            </a:avLst>
          </a:prstGeom>
          <a:solidFill>
            <a:srgbClr val="F1F4F7"/>
          </a:solidFill>
          <a:ln w="12700">
            <a:solidFill>
              <a:srgbClr val="F1F4F7"/>
            </a:solidFill>
            <a:prstDash val="solid"/>
          </a:ln>
        </p:spPr>
      </p:sp>
      <p:pic>
        <p:nvPicPr>
          <p:cNvPr id="69" name="Image 6" descr="img/det_scratches.png">    </p:cNvPr>
          <p:cNvPicPr>
            <a:picLocks noChangeAspect="1"/>
          </p:cNvPicPr>
          <p:nvPr/>
        </p:nvPicPr>
        <p:blipFill>
          <a:blip r:embed="rId7"/>
          <a:stretch>
            <a:fillRect/>
          </a:stretch>
        </p:blipFill>
        <p:spPr>
          <a:xfrm>
            <a:off x="566928" y="3593592"/>
            <a:ext cx="1828800" cy="1828800"/>
          </a:xfrm>
          <a:prstGeom prst="rect">
            <a:avLst/>
          </a:prstGeom>
        </p:spPr>
      </p:pic>
      <p:sp>
        <p:nvSpPr>
          <p:cNvPr id="70" name="Text 61"/>
          <p:cNvSpPr txBox="1"/>
          <p:nvPr/>
        </p:nvSpPr>
        <p:spPr>
          <a:xfrm>
            <a:off x="2487168" y="3611880"/>
            <a:ext cx="1371600" cy="1371600"/>
          </a:xfrm>
          <a:prstGeom prst="rect">
            <a:avLst/>
          </a:prstGeom>
          <a:noFill/>
          <a:ln/>
        </p:spPr>
        <p:txBody>
          <a:bodyPr wrap="square" lIns="0" tIns="0" rIns="0" bIns="0" rtlCol="0" anchor="t"/>
          <a:lstStyle/>
          <a:p>
            <a:pPr indent="0" marL="0">
              <a:buNone/>
            </a:pPr>
            <a:r>
              <a:rPr lang="en-US" sz="950" b="1" dirty="0">
                <a:solidFill>
                  <a:srgbClr val="143A5A"/>
                </a:solidFill>
                <a:latin typeface="Calibri" pitchFamily="34" charset="0"/>
                <a:ea typeface="Calibri" pitchFamily="34" charset="-122"/>
                <a:cs typeface="Calibri" pitchFamily="34" charset="-120"/>
              </a:rPr>
              <a:t>Upload a strip image, get:
</a:t>
            </a:r>
            <a:pPr indent="0" marL="0">
              <a:buNone/>
            </a:pPr>
            <a:r>
              <a:rPr lang="en-US" sz="950" dirty="0">
                <a:solidFill>
                  <a:srgbClr val="334150"/>
                </a:solidFill>
                <a:latin typeface="Calibri" pitchFamily="34" charset="0"/>
                <a:ea typeface="Calibri" pitchFamily="34" charset="-122"/>
                <a:cs typeface="Calibri" pitchFamily="34" charset="-120"/>
              </a:rPr>
              <a:t>•  box on the defect</a:t>
            </a:r>
            <a:endParaRPr lang="en-US" sz="950" dirty="0"/>
          </a:p>
          <a:p>
            <a:pPr indent="0" marL="0">
              <a:buNone/>
            </a:pPr>
            <a:r>
              <a:rPr lang="en-US" sz="950" dirty="0">
                <a:solidFill>
                  <a:srgbClr val="334150"/>
                </a:solidFill>
                <a:latin typeface="Calibri" pitchFamily="34" charset="0"/>
                <a:ea typeface="Calibri" pitchFamily="34" charset="-122"/>
                <a:cs typeface="Calibri" pitchFamily="34" charset="-120"/>
              </a:rPr>
              <a:t>•  defect type</a:t>
            </a:r>
            <a:endParaRPr lang="en-US" sz="950" dirty="0"/>
          </a:p>
          <a:p>
            <a:pPr indent="0" marL="0">
              <a:buNone/>
            </a:pPr>
            <a:r>
              <a:rPr lang="en-US" sz="950" dirty="0">
                <a:solidFill>
                  <a:srgbClr val="334150"/>
                </a:solidFill>
                <a:latin typeface="Calibri" pitchFamily="34" charset="0"/>
                <a:ea typeface="Calibri" pitchFamily="34" charset="-122"/>
                <a:cs typeface="Calibri" pitchFamily="34" charset="-120"/>
              </a:rPr>
              <a:t>•  confidence</a:t>
            </a:r>
            <a:endParaRPr lang="en-US" sz="950" dirty="0"/>
          </a:p>
          <a:p>
            <a:pPr indent="0" marL="0">
              <a:buNone/>
            </a:pPr>
            <a:r>
              <a:rPr lang="en-US" sz="950" dirty="0">
                <a:solidFill>
                  <a:srgbClr val="334150"/>
                </a:solidFill>
                <a:latin typeface="Calibri" pitchFamily="34" charset="0"/>
                <a:ea typeface="Calibri" pitchFamily="34" charset="-122"/>
                <a:cs typeface="Calibri" pitchFamily="34" charset="-120"/>
              </a:rPr>
              <a:t>•  severity score</a:t>
            </a:r>
            <a:endParaRPr lang="en-US" sz="950" dirty="0"/>
          </a:p>
        </p:txBody>
      </p:sp>
      <p:sp>
        <p:nvSpPr>
          <p:cNvPr id="71" name="Text 62"/>
          <p:cNvSpPr txBox="1"/>
          <p:nvPr/>
        </p:nvSpPr>
        <p:spPr>
          <a:xfrm>
            <a:off x="566928" y="5504688"/>
            <a:ext cx="3246120" cy="274320"/>
          </a:xfrm>
          <a:prstGeom prst="rect">
            <a:avLst/>
          </a:prstGeom>
          <a:noFill/>
          <a:ln/>
        </p:spPr>
        <p:txBody>
          <a:bodyPr wrap="square" lIns="0" tIns="0" rIns="0" bIns="0" rtlCol="0" anchor="ctr"/>
          <a:lstStyle/>
          <a:p>
            <a:pPr indent="0" marL="0">
              <a:buNone/>
            </a:pPr>
            <a:r>
              <a:rPr lang="en-US" sz="950" b="1" dirty="0">
                <a:solidFill>
                  <a:srgbClr val="0086C3"/>
                </a:solidFill>
                <a:latin typeface="Calibri" pitchFamily="34" charset="0"/>
                <a:ea typeface="Calibri" pitchFamily="34" charset="-122"/>
                <a:cs typeface="Calibri" pitchFamily="34" charset="-120"/>
              </a:rPr>
              <a:t>surface-vision.github.io</a:t>
            </a:r>
            <a:pPr indent="0" marL="0">
              <a:buNone/>
            </a:pPr>
            <a:r>
              <a:rPr lang="en-US" sz="950" dirty="0">
                <a:solidFill>
                  <a:srgbClr val="5F6B78"/>
                </a:solidFill>
                <a:latin typeface="Calibri" pitchFamily="34" charset="0"/>
                <a:ea typeface="Calibri" pitchFamily="34" charset="-122"/>
                <a:cs typeface="Calibri" pitchFamily="34" charset="-120"/>
              </a:rPr>
              <a:t>  runs in the browser</a:t>
            </a:r>
            <a:endParaRPr lang="en-US" sz="950" dirty="0"/>
          </a:p>
        </p:txBody>
      </p:sp>
      <p:sp>
        <p:nvSpPr>
          <p:cNvPr id="72" name="Shape 63"/>
          <p:cNvSpPr/>
          <p:nvPr/>
        </p:nvSpPr>
        <p:spPr>
          <a:xfrm>
            <a:off x="4041648" y="3218688"/>
            <a:ext cx="3749040" cy="274320"/>
          </a:xfrm>
          <a:prstGeom prst="rect">
            <a:avLst/>
          </a:prstGeom>
          <a:solidFill>
            <a:srgbClr val="2B5B80"/>
          </a:solidFill>
          <a:ln w="12700">
            <a:solidFill>
              <a:srgbClr val="2B5B80"/>
            </a:solidFill>
            <a:prstDash val="solid"/>
          </a:ln>
        </p:spPr>
      </p:sp>
      <p:sp>
        <p:nvSpPr>
          <p:cNvPr id="73" name="Text 64"/>
          <p:cNvSpPr txBox="1"/>
          <p:nvPr/>
        </p:nvSpPr>
        <p:spPr>
          <a:xfrm>
            <a:off x="4133088" y="3218688"/>
            <a:ext cx="3566160" cy="274320"/>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What is new beyond a standard detector</a:t>
            </a:r>
            <a:endParaRPr lang="en-US" sz="1100" dirty="0"/>
          </a:p>
        </p:txBody>
      </p:sp>
      <p:sp>
        <p:nvSpPr>
          <p:cNvPr id="74" name="Shape 65"/>
          <p:cNvSpPr/>
          <p:nvPr/>
        </p:nvSpPr>
        <p:spPr>
          <a:xfrm>
            <a:off x="4114800" y="3611880"/>
            <a:ext cx="402336" cy="402336"/>
          </a:xfrm>
          <a:prstGeom prst="ellipse">
            <a:avLst/>
          </a:prstGeom>
          <a:solidFill>
            <a:srgbClr val="0086C3"/>
          </a:solidFill>
          <a:ln w="12700">
            <a:solidFill>
              <a:srgbClr val="0086C3"/>
            </a:solidFill>
            <a:prstDash val="solid"/>
          </a:ln>
        </p:spPr>
      </p:sp>
      <p:pic>
        <p:nvPicPr>
          <p:cNvPr id="75" name="Image 7" descr="img/icons/layers-white.png">    </p:cNvPr>
          <p:cNvPicPr>
            <a:picLocks noChangeAspect="1"/>
          </p:cNvPicPr>
          <p:nvPr/>
        </p:nvPicPr>
        <p:blipFill>
          <a:blip r:embed="rId8"/>
          <a:stretch>
            <a:fillRect/>
          </a:stretch>
        </p:blipFill>
        <p:spPr>
          <a:xfrm>
            <a:off x="4203314" y="3700394"/>
            <a:ext cx="225308" cy="225308"/>
          </a:xfrm>
          <a:prstGeom prst="rect">
            <a:avLst/>
          </a:prstGeom>
        </p:spPr>
      </p:pic>
      <p:sp>
        <p:nvSpPr>
          <p:cNvPr id="76" name="Text 66"/>
          <p:cNvSpPr txBox="1"/>
          <p:nvPr/>
        </p:nvSpPr>
        <p:spPr>
          <a:xfrm>
            <a:off x="4617720" y="3593592"/>
            <a:ext cx="3108960" cy="237744"/>
          </a:xfrm>
          <a:prstGeom prst="rect">
            <a:avLst/>
          </a:prstGeom>
          <a:noFill/>
          <a:ln/>
        </p:spPr>
        <p:txBody>
          <a:bodyPr wrap="square" lIns="0" tIns="0" rIns="0" bIns="0" rtlCol="0" anchor="t"/>
          <a:lstStyle/>
          <a:p>
            <a:pPr indent="0" marL="0">
              <a:buNone/>
            </a:pPr>
            <a:r>
              <a:rPr lang="en-US" sz="1050" b="1" dirty="0">
                <a:solidFill>
                  <a:srgbClr val="143A5A"/>
                </a:solidFill>
                <a:latin typeface="Calibri" pitchFamily="34" charset="0"/>
                <a:ea typeface="Calibri" pitchFamily="34" charset="-122"/>
                <a:cs typeface="Calibri" pitchFamily="34" charset="-120"/>
              </a:rPr>
              <a:t>Trained on clean strip too</a:t>
            </a:r>
            <a:endParaRPr lang="en-US" sz="1050" dirty="0"/>
          </a:p>
        </p:txBody>
      </p:sp>
      <p:sp>
        <p:nvSpPr>
          <p:cNvPr id="77" name="Text 67"/>
          <p:cNvSpPr txBox="1"/>
          <p:nvPr/>
        </p:nvSpPr>
        <p:spPr>
          <a:xfrm>
            <a:off x="4617720" y="3831336"/>
            <a:ext cx="3108960" cy="237744"/>
          </a:xfrm>
          <a:prstGeom prst="rect">
            <a:avLst/>
          </a:prstGeom>
          <a:noFill/>
          <a:ln/>
        </p:spPr>
        <p:txBody>
          <a:bodyPr wrap="square" lIns="0" tIns="0" rIns="0" bIns="0" rtlCol="0" anchor="t"/>
          <a:lstStyle/>
          <a:p>
            <a:pPr indent="0" marL="0">
              <a:buNone/>
            </a:pPr>
            <a:r>
              <a:rPr lang="en-US" sz="950" dirty="0">
                <a:solidFill>
                  <a:srgbClr val="334150"/>
                </a:solidFill>
                <a:latin typeface="Calibri" pitchFamily="34" charset="0"/>
                <a:ea typeface="Calibri" pitchFamily="34" charset="-122"/>
                <a:cs typeface="Calibri" pitchFamily="34" charset="-120"/>
              </a:rPr>
              <a:t>false alarms 52% → 4.7%</a:t>
            </a:r>
            <a:endParaRPr lang="en-US" sz="950" dirty="0"/>
          </a:p>
        </p:txBody>
      </p:sp>
      <p:sp>
        <p:nvSpPr>
          <p:cNvPr id="78" name="Shape 68"/>
          <p:cNvSpPr/>
          <p:nvPr/>
        </p:nvSpPr>
        <p:spPr>
          <a:xfrm>
            <a:off x="4114800" y="4178808"/>
            <a:ext cx="402336" cy="402336"/>
          </a:xfrm>
          <a:prstGeom prst="ellipse">
            <a:avLst/>
          </a:prstGeom>
          <a:solidFill>
            <a:srgbClr val="0086C3"/>
          </a:solidFill>
          <a:ln w="12700">
            <a:solidFill>
              <a:srgbClr val="0086C3"/>
            </a:solidFill>
            <a:prstDash val="solid"/>
          </a:ln>
        </p:spPr>
      </p:sp>
      <p:pic>
        <p:nvPicPr>
          <p:cNvPr id="79" name="Image 8" descr="img/icons/split-white.png">    </p:cNvPr>
          <p:cNvPicPr>
            <a:picLocks noChangeAspect="1"/>
          </p:cNvPicPr>
          <p:nvPr/>
        </p:nvPicPr>
        <p:blipFill>
          <a:blip r:embed="rId9"/>
          <a:stretch>
            <a:fillRect/>
          </a:stretch>
        </p:blipFill>
        <p:spPr>
          <a:xfrm>
            <a:off x="4203314" y="4267322"/>
            <a:ext cx="225308" cy="225308"/>
          </a:xfrm>
          <a:prstGeom prst="rect">
            <a:avLst/>
          </a:prstGeom>
        </p:spPr>
      </p:pic>
      <p:sp>
        <p:nvSpPr>
          <p:cNvPr id="80" name="Text 69"/>
          <p:cNvSpPr txBox="1"/>
          <p:nvPr/>
        </p:nvSpPr>
        <p:spPr>
          <a:xfrm>
            <a:off x="4617720" y="4160520"/>
            <a:ext cx="3108960" cy="237744"/>
          </a:xfrm>
          <a:prstGeom prst="rect">
            <a:avLst/>
          </a:prstGeom>
          <a:noFill/>
          <a:ln/>
        </p:spPr>
        <p:txBody>
          <a:bodyPr wrap="square" lIns="0" tIns="0" rIns="0" bIns="0" rtlCol="0" anchor="t"/>
          <a:lstStyle/>
          <a:p>
            <a:pPr indent="0" marL="0">
              <a:buNone/>
            </a:pPr>
            <a:r>
              <a:rPr lang="en-US" sz="1050" b="1" dirty="0">
                <a:solidFill>
                  <a:srgbClr val="143A5A"/>
                </a:solidFill>
                <a:latin typeface="Calibri" pitchFamily="34" charset="0"/>
                <a:ea typeface="Calibri" pitchFamily="34" charset="-122"/>
                <a:cs typeface="Calibri" pitchFamily="34" charset="-120"/>
              </a:rPr>
              <a:t>Root-cause routing</a:t>
            </a:r>
            <a:endParaRPr lang="en-US" sz="1050" dirty="0"/>
          </a:p>
        </p:txBody>
      </p:sp>
      <p:sp>
        <p:nvSpPr>
          <p:cNvPr id="81" name="Text 70"/>
          <p:cNvSpPr txBox="1"/>
          <p:nvPr/>
        </p:nvSpPr>
        <p:spPr>
          <a:xfrm>
            <a:off x="4617720" y="4398264"/>
            <a:ext cx="3108960" cy="237744"/>
          </a:xfrm>
          <a:prstGeom prst="rect">
            <a:avLst/>
          </a:prstGeom>
          <a:noFill/>
          <a:ln/>
        </p:spPr>
        <p:txBody>
          <a:bodyPr wrap="square" lIns="0" tIns="0" rIns="0" bIns="0" rtlCol="0" anchor="t"/>
          <a:lstStyle/>
          <a:p>
            <a:pPr indent="0" marL="0">
              <a:buNone/>
            </a:pPr>
            <a:r>
              <a:rPr lang="en-US" sz="950" dirty="0">
                <a:solidFill>
                  <a:srgbClr val="334150"/>
                </a:solidFill>
                <a:latin typeface="Calibri" pitchFamily="34" charset="0"/>
                <a:ea typeface="Calibri" pitchFamily="34" charset="-122"/>
                <a:cs typeface="Calibri" pitchFamily="34" charset="-120"/>
              </a:rPr>
              <a:t>every alarm becomes a work order</a:t>
            </a:r>
            <a:endParaRPr lang="en-US" sz="950" dirty="0"/>
          </a:p>
        </p:txBody>
      </p:sp>
      <p:sp>
        <p:nvSpPr>
          <p:cNvPr id="82" name="Shape 71"/>
          <p:cNvSpPr/>
          <p:nvPr/>
        </p:nvSpPr>
        <p:spPr>
          <a:xfrm>
            <a:off x="4114800" y="4745736"/>
            <a:ext cx="402336" cy="402336"/>
          </a:xfrm>
          <a:prstGeom prst="ellipse">
            <a:avLst/>
          </a:prstGeom>
          <a:solidFill>
            <a:srgbClr val="0086C3"/>
          </a:solidFill>
          <a:ln w="12700">
            <a:solidFill>
              <a:srgbClr val="0086C3"/>
            </a:solidFill>
            <a:prstDash val="solid"/>
          </a:ln>
        </p:spPr>
      </p:sp>
      <p:pic>
        <p:nvPicPr>
          <p:cNvPr id="83" name="Image 9" descr="img/icons/microscope-white.png">    </p:cNvPr>
          <p:cNvPicPr>
            <a:picLocks noChangeAspect="1"/>
          </p:cNvPicPr>
          <p:nvPr/>
        </p:nvPicPr>
        <p:blipFill>
          <a:blip r:embed="rId10"/>
          <a:stretch>
            <a:fillRect/>
          </a:stretch>
        </p:blipFill>
        <p:spPr>
          <a:xfrm>
            <a:off x="4203314" y="4834250"/>
            <a:ext cx="225308" cy="225308"/>
          </a:xfrm>
          <a:prstGeom prst="rect">
            <a:avLst/>
          </a:prstGeom>
        </p:spPr>
      </p:pic>
      <p:sp>
        <p:nvSpPr>
          <p:cNvPr id="84" name="Text 72"/>
          <p:cNvSpPr txBox="1"/>
          <p:nvPr/>
        </p:nvSpPr>
        <p:spPr>
          <a:xfrm>
            <a:off x="4617720" y="4727448"/>
            <a:ext cx="3108960" cy="237744"/>
          </a:xfrm>
          <a:prstGeom prst="rect">
            <a:avLst/>
          </a:prstGeom>
          <a:noFill/>
          <a:ln/>
        </p:spPr>
        <p:txBody>
          <a:bodyPr wrap="square" lIns="0" tIns="0" rIns="0" bIns="0" rtlCol="0" anchor="t"/>
          <a:lstStyle/>
          <a:p>
            <a:pPr indent="0" marL="0">
              <a:buNone/>
            </a:pPr>
            <a:r>
              <a:rPr lang="en-US" sz="1050" b="1" dirty="0">
                <a:solidFill>
                  <a:srgbClr val="143A5A"/>
                </a:solidFill>
                <a:latin typeface="Calibri" pitchFamily="34" charset="0"/>
                <a:ea typeface="Calibri" pitchFamily="34" charset="-122"/>
                <a:cs typeface="Calibri" pitchFamily="34" charset="-120"/>
              </a:rPr>
              <a:t>Unseen-defect check</a:t>
            </a:r>
            <a:endParaRPr lang="en-US" sz="1050" dirty="0"/>
          </a:p>
        </p:txBody>
      </p:sp>
      <p:sp>
        <p:nvSpPr>
          <p:cNvPr id="85" name="Text 73"/>
          <p:cNvSpPr txBox="1"/>
          <p:nvPr/>
        </p:nvSpPr>
        <p:spPr>
          <a:xfrm>
            <a:off x="4617720" y="4965192"/>
            <a:ext cx="3108960" cy="237744"/>
          </a:xfrm>
          <a:prstGeom prst="rect">
            <a:avLst/>
          </a:prstGeom>
          <a:noFill/>
          <a:ln/>
        </p:spPr>
        <p:txBody>
          <a:bodyPr wrap="square" lIns="0" tIns="0" rIns="0" bIns="0" rtlCol="0" anchor="t"/>
          <a:lstStyle/>
          <a:p>
            <a:pPr indent="0" marL="0">
              <a:buNone/>
            </a:pPr>
            <a:r>
              <a:rPr lang="en-US" sz="950" dirty="0">
                <a:solidFill>
                  <a:srgbClr val="334150"/>
                </a:solidFill>
                <a:latin typeface="Calibri" pitchFamily="34" charset="0"/>
                <a:ea typeface="Calibri" pitchFamily="34" charset="-122"/>
                <a:cs typeface="Calibri" pitchFamily="34" charset="-120"/>
              </a:rPr>
              <a:t>flags patterns never labelled (proposed)</a:t>
            </a:r>
            <a:endParaRPr lang="en-US" sz="950" dirty="0"/>
          </a:p>
        </p:txBody>
      </p:sp>
      <p:sp>
        <p:nvSpPr>
          <p:cNvPr id="86" name="Shape 74"/>
          <p:cNvSpPr/>
          <p:nvPr/>
        </p:nvSpPr>
        <p:spPr>
          <a:xfrm>
            <a:off x="4114800" y="5312664"/>
            <a:ext cx="402336" cy="402336"/>
          </a:xfrm>
          <a:prstGeom prst="ellipse">
            <a:avLst/>
          </a:prstGeom>
          <a:solidFill>
            <a:srgbClr val="0086C3"/>
          </a:solidFill>
          <a:ln w="12700">
            <a:solidFill>
              <a:srgbClr val="0086C3"/>
            </a:solidFill>
            <a:prstDash val="solid"/>
          </a:ln>
        </p:spPr>
      </p:sp>
      <p:pic>
        <p:nvPicPr>
          <p:cNvPr id="87" name="Image 10" descr="img/icons/archive-white.png">    </p:cNvPr>
          <p:cNvPicPr>
            <a:picLocks noChangeAspect="1"/>
          </p:cNvPicPr>
          <p:nvPr/>
        </p:nvPicPr>
        <p:blipFill>
          <a:blip r:embed="rId11"/>
          <a:stretch>
            <a:fillRect/>
          </a:stretch>
        </p:blipFill>
        <p:spPr>
          <a:xfrm>
            <a:off x="4203314" y="5401178"/>
            <a:ext cx="225308" cy="225308"/>
          </a:xfrm>
          <a:prstGeom prst="rect">
            <a:avLst/>
          </a:prstGeom>
        </p:spPr>
      </p:pic>
      <p:sp>
        <p:nvSpPr>
          <p:cNvPr id="88" name="Text 75"/>
          <p:cNvSpPr txBox="1"/>
          <p:nvPr/>
        </p:nvSpPr>
        <p:spPr>
          <a:xfrm>
            <a:off x="4617720" y="5294376"/>
            <a:ext cx="3108960" cy="237744"/>
          </a:xfrm>
          <a:prstGeom prst="rect">
            <a:avLst/>
          </a:prstGeom>
          <a:noFill/>
          <a:ln/>
        </p:spPr>
        <p:txBody>
          <a:bodyPr wrap="square" lIns="0" tIns="0" rIns="0" bIns="0" rtlCol="0" anchor="t"/>
          <a:lstStyle/>
          <a:p>
            <a:pPr indent="0" marL="0">
              <a:buNone/>
            </a:pPr>
            <a:r>
              <a:rPr lang="en-US" sz="1050" b="1" dirty="0">
                <a:solidFill>
                  <a:srgbClr val="143A5A"/>
                </a:solidFill>
                <a:latin typeface="Calibri" pitchFamily="34" charset="0"/>
                <a:ea typeface="Calibri" pitchFamily="34" charset="-122"/>
                <a:cs typeface="Calibri" pitchFamily="34" charset="-120"/>
              </a:rPr>
              <a:t>Learns from unlabelled coils</a:t>
            </a:r>
            <a:endParaRPr lang="en-US" sz="1050" dirty="0"/>
          </a:p>
        </p:txBody>
      </p:sp>
      <p:sp>
        <p:nvSpPr>
          <p:cNvPr id="89" name="Text 76"/>
          <p:cNvSpPr txBox="1"/>
          <p:nvPr/>
        </p:nvSpPr>
        <p:spPr>
          <a:xfrm>
            <a:off x="4617720" y="5532120"/>
            <a:ext cx="3108960" cy="237744"/>
          </a:xfrm>
          <a:prstGeom prst="rect">
            <a:avLst/>
          </a:prstGeom>
          <a:noFill/>
          <a:ln/>
        </p:spPr>
        <p:txBody>
          <a:bodyPr wrap="square" lIns="0" tIns="0" rIns="0" bIns="0" rtlCol="0" anchor="t"/>
          <a:lstStyle/>
          <a:p>
            <a:pPr indent="0" marL="0">
              <a:buNone/>
            </a:pPr>
            <a:r>
              <a:rPr lang="en-US" sz="950" dirty="0">
                <a:solidFill>
                  <a:srgbClr val="334150"/>
                </a:solidFill>
                <a:latin typeface="Calibri" pitchFamily="34" charset="0"/>
                <a:ea typeface="Calibri" pitchFamily="34" charset="-122"/>
                <a:cs typeface="Calibri" pitchFamily="34" charset="-120"/>
              </a:rPr>
              <a:t>JSL's image archive becomes an asset</a:t>
            </a:r>
            <a:endParaRPr lang="en-US" sz="950" dirty="0"/>
          </a:p>
        </p:txBody>
      </p:sp>
      <p:sp>
        <p:nvSpPr>
          <p:cNvPr id="90" name="Shape 77"/>
          <p:cNvSpPr/>
          <p:nvPr/>
        </p:nvSpPr>
        <p:spPr>
          <a:xfrm>
            <a:off x="7955280" y="3218688"/>
            <a:ext cx="3776472" cy="274320"/>
          </a:xfrm>
          <a:prstGeom prst="rect">
            <a:avLst/>
          </a:prstGeom>
          <a:solidFill>
            <a:srgbClr val="2B5B80"/>
          </a:solidFill>
          <a:ln w="12700">
            <a:solidFill>
              <a:srgbClr val="2B5B80"/>
            </a:solidFill>
            <a:prstDash val="solid"/>
          </a:ln>
        </p:spPr>
      </p:sp>
      <p:sp>
        <p:nvSpPr>
          <p:cNvPr id="91" name="Text 78"/>
          <p:cNvSpPr txBox="1"/>
          <p:nvPr/>
        </p:nvSpPr>
        <p:spPr>
          <a:xfrm>
            <a:off x="8046720" y="3218688"/>
            <a:ext cx="3593592" cy="274320"/>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Build vs buy</a:t>
            </a:r>
            <a:endParaRPr lang="en-US" sz="1100" dirty="0"/>
          </a:p>
        </p:txBody>
      </p:sp>
      <p:sp>
        <p:nvSpPr>
          <p:cNvPr id="92" name="Text 79"/>
          <p:cNvSpPr txBox="1"/>
          <p:nvPr/>
        </p:nvSpPr>
        <p:spPr>
          <a:xfrm>
            <a:off x="9400032" y="3529584"/>
            <a:ext cx="548640" cy="384048"/>
          </a:xfrm>
          <a:prstGeom prst="rect">
            <a:avLst/>
          </a:prstGeom>
          <a:noFill/>
          <a:ln/>
        </p:spPr>
        <p:txBody>
          <a:bodyPr wrap="square" lIns="0" tIns="0" rIns="0" bIns="0" rtlCol="0" anchor="b"/>
          <a:lstStyle/>
          <a:p>
            <a:pPr algn="ctr" indent="0" marL="0">
              <a:buNone/>
            </a:pPr>
            <a:r>
              <a:rPr lang="en-US" sz="900" b="1" dirty="0">
                <a:solidFill>
                  <a:srgbClr val="334150"/>
                </a:solidFill>
                <a:latin typeface="Calibri" pitchFamily="34" charset="0"/>
                <a:ea typeface="Calibri" pitchFamily="34" charset="-122"/>
                <a:cs typeface="Calibri" pitchFamily="34" charset="-120"/>
              </a:rPr>
              <a:t>Cost per line</a:t>
            </a:r>
            <a:endParaRPr lang="en-US" sz="900" dirty="0"/>
          </a:p>
        </p:txBody>
      </p:sp>
      <p:sp>
        <p:nvSpPr>
          <p:cNvPr id="93" name="Text 80"/>
          <p:cNvSpPr txBox="1"/>
          <p:nvPr/>
        </p:nvSpPr>
        <p:spPr>
          <a:xfrm>
            <a:off x="9976104" y="3529584"/>
            <a:ext cx="548640" cy="384048"/>
          </a:xfrm>
          <a:prstGeom prst="rect">
            <a:avLst/>
          </a:prstGeom>
          <a:noFill/>
          <a:ln/>
        </p:spPr>
        <p:txBody>
          <a:bodyPr wrap="square" lIns="0" tIns="0" rIns="0" bIns="0" rtlCol="0" anchor="b"/>
          <a:lstStyle/>
          <a:p>
            <a:pPr algn="ctr" indent="0" marL="0">
              <a:buNone/>
            </a:pPr>
            <a:r>
              <a:rPr lang="en-US" sz="900" b="1" dirty="0">
                <a:solidFill>
                  <a:srgbClr val="334150"/>
                </a:solidFill>
                <a:latin typeface="Calibri" pitchFamily="34" charset="0"/>
                <a:ea typeface="Calibri" pitchFamily="34" charset="-122"/>
                <a:cs typeface="Calibri" pitchFamily="34" charset="-120"/>
              </a:rPr>
              <a:t>Proven at speed</a:t>
            </a:r>
            <a:endParaRPr lang="en-US" sz="900" dirty="0"/>
          </a:p>
        </p:txBody>
      </p:sp>
      <p:sp>
        <p:nvSpPr>
          <p:cNvPr id="94" name="Text 81"/>
          <p:cNvSpPr txBox="1"/>
          <p:nvPr/>
        </p:nvSpPr>
        <p:spPr>
          <a:xfrm>
            <a:off x="10552176" y="3529584"/>
            <a:ext cx="548640" cy="384048"/>
          </a:xfrm>
          <a:prstGeom prst="rect">
            <a:avLst/>
          </a:prstGeom>
          <a:noFill/>
          <a:ln/>
        </p:spPr>
        <p:txBody>
          <a:bodyPr wrap="square" lIns="0" tIns="0" rIns="0" bIns="0" rtlCol="0" anchor="b"/>
          <a:lstStyle/>
          <a:p>
            <a:pPr algn="ctr" indent="0" marL="0">
              <a:buNone/>
            </a:pPr>
            <a:r>
              <a:rPr lang="en-US" sz="900" b="1" dirty="0">
                <a:solidFill>
                  <a:srgbClr val="334150"/>
                </a:solidFill>
                <a:latin typeface="Calibri" pitchFamily="34" charset="0"/>
                <a:ea typeface="Calibri" pitchFamily="34" charset="-122"/>
                <a:cs typeface="Calibri" pitchFamily="34" charset="-120"/>
              </a:rPr>
              <a:t>Tuned to JSL grades</a:t>
            </a:r>
            <a:endParaRPr lang="en-US" sz="900" dirty="0"/>
          </a:p>
        </p:txBody>
      </p:sp>
      <p:sp>
        <p:nvSpPr>
          <p:cNvPr id="95" name="Text 82"/>
          <p:cNvSpPr txBox="1"/>
          <p:nvPr/>
        </p:nvSpPr>
        <p:spPr>
          <a:xfrm>
            <a:off x="11128248" y="3529584"/>
            <a:ext cx="548640" cy="384048"/>
          </a:xfrm>
          <a:prstGeom prst="rect">
            <a:avLst/>
          </a:prstGeom>
          <a:noFill/>
          <a:ln/>
        </p:spPr>
        <p:txBody>
          <a:bodyPr wrap="square" lIns="0" tIns="0" rIns="0" bIns="0" rtlCol="0" anchor="b"/>
          <a:lstStyle/>
          <a:p>
            <a:pPr algn="ctr" indent="0" marL="0">
              <a:buNone/>
            </a:pPr>
            <a:r>
              <a:rPr lang="en-US" sz="900" b="1" dirty="0">
                <a:solidFill>
                  <a:srgbClr val="334150"/>
                </a:solidFill>
                <a:latin typeface="Calibri" pitchFamily="34" charset="0"/>
                <a:ea typeface="Calibri" pitchFamily="34" charset="-122"/>
                <a:cs typeface="Calibri" pitchFamily="34" charset="-120"/>
              </a:rPr>
              <a:t>JSL owns model</a:t>
            </a:r>
            <a:endParaRPr lang="en-US" sz="900" dirty="0"/>
          </a:p>
        </p:txBody>
      </p:sp>
      <p:sp>
        <p:nvSpPr>
          <p:cNvPr id="96" name="Text 83"/>
          <p:cNvSpPr txBox="1"/>
          <p:nvPr/>
        </p:nvSpPr>
        <p:spPr>
          <a:xfrm>
            <a:off x="8046720" y="4023360"/>
            <a:ext cx="1371600" cy="182880"/>
          </a:xfrm>
          <a:prstGeom prst="rect">
            <a:avLst/>
          </a:prstGeom>
          <a:noFill/>
          <a:ln/>
        </p:spPr>
        <p:txBody>
          <a:bodyPr wrap="square" lIns="0" tIns="0" rIns="0" bIns="0" rtlCol="0" anchor="t"/>
          <a:lstStyle/>
          <a:p>
            <a:pPr indent="0" marL="0">
              <a:buNone/>
            </a:pPr>
            <a:r>
              <a:rPr lang="en-US" sz="1000" b="1" dirty="0">
                <a:solidFill>
                  <a:srgbClr val="141C24"/>
                </a:solidFill>
                <a:latin typeface="Calibri" pitchFamily="34" charset="0"/>
                <a:ea typeface="Calibri" pitchFamily="34" charset="-122"/>
                <a:cs typeface="Calibri" pitchFamily="34" charset="-120"/>
              </a:rPr>
              <a:t>Commercial</a:t>
            </a:r>
            <a:endParaRPr lang="en-US" sz="1000" dirty="0"/>
          </a:p>
        </p:txBody>
      </p:sp>
      <p:sp>
        <p:nvSpPr>
          <p:cNvPr id="97" name="Text 84"/>
          <p:cNvSpPr txBox="1"/>
          <p:nvPr/>
        </p:nvSpPr>
        <p:spPr>
          <a:xfrm>
            <a:off x="8046720" y="4206240"/>
            <a:ext cx="1371600" cy="182880"/>
          </a:xfrm>
          <a:prstGeom prst="rect">
            <a:avLst/>
          </a:prstGeom>
          <a:noFill/>
          <a:ln/>
        </p:spPr>
        <p:txBody>
          <a:bodyPr wrap="square" lIns="0" tIns="0" rIns="0" bIns="0" rtlCol="0" anchor="t"/>
          <a:lstStyle/>
          <a:p>
            <a:pPr indent="0" marL="0">
              <a:buNone/>
            </a:pPr>
            <a:r>
              <a:rPr lang="en-US" sz="900" dirty="0">
                <a:solidFill>
                  <a:srgbClr val="5F6B78"/>
                </a:solidFill>
                <a:latin typeface="Calibri" pitchFamily="34" charset="0"/>
                <a:ea typeface="Calibri" pitchFamily="34" charset="-122"/>
                <a:cs typeface="Calibri" pitchFamily="34" charset="-120"/>
              </a:rPr>
              <a:t>USD 1-3M (unverified)</a:t>
            </a:r>
            <a:endParaRPr lang="en-US" sz="900" dirty="0"/>
          </a:p>
        </p:txBody>
      </p:sp>
      <p:sp>
        <p:nvSpPr>
          <p:cNvPr id="98" name="Shape 85"/>
          <p:cNvSpPr/>
          <p:nvPr/>
        </p:nvSpPr>
        <p:spPr>
          <a:xfrm>
            <a:off x="9582912" y="4096512"/>
            <a:ext cx="182880" cy="182880"/>
          </a:xfrm>
          <a:prstGeom prst="ellipse">
            <a:avLst/>
          </a:prstGeom>
          <a:solidFill>
            <a:srgbClr val="C62828"/>
          </a:solidFill>
          <a:ln w="12700">
            <a:solidFill>
              <a:srgbClr val="C62828"/>
            </a:solidFill>
            <a:prstDash val="solid"/>
          </a:ln>
        </p:spPr>
      </p:sp>
      <p:sp>
        <p:nvSpPr>
          <p:cNvPr id="99" name="Shape 86"/>
          <p:cNvSpPr/>
          <p:nvPr/>
        </p:nvSpPr>
        <p:spPr>
          <a:xfrm>
            <a:off x="10158984" y="4096512"/>
            <a:ext cx="182880" cy="182880"/>
          </a:xfrm>
          <a:prstGeom prst="ellipse">
            <a:avLst/>
          </a:prstGeom>
          <a:solidFill>
            <a:srgbClr val="2E7D32"/>
          </a:solidFill>
          <a:ln w="12700">
            <a:solidFill>
              <a:srgbClr val="2E7D32"/>
            </a:solidFill>
            <a:prstDash val="solid"/>
          </a:ln>
        </p:spPr>
      </p:sp>
      <p:sp>
        <p:nvSpPr>
          <p:cNvPr id="100" name="Shape 87"/>
          <p:cNvSpPr/>
          <p:nvPr/>
        </p:nvSpPr>
        <p:spPr>
          <a:xfrm>
            <a:off x="10735056" y="4096512"/>
            <a:ext cx="182880" cy="182880"/>
          </a:xfrm>
          <a:prstGeom prst="ellipse">
            <a:avLst/>
          </a:prstGeom>
          <a:solidFill>
            <a:srgbClr val="B77900"/>
          </a:solidFill>
          <a:ln w="12700">
            <a:solidFill>
              <a:srgbClr val="B77900"/>
            </a:solidFill>
            <a:prstDash val="solid"/>
          </a:ln>
        </p:spPr>
      </p:sp>
      <p:sp>
        <p:nvSpPr>
          <p:cNvPr id="101" name="Shape 88"/>
          <p:cNvSpPr/>
          <p:nvPr/>
        </p:nvSpPr>
        <p:spPr>
          <a:xfrm>
            <a:off x="11311128" y="4096512"/>
            <a:ext cx="182880" cy="182880"/>
          </a:xfrm>
          <a:prstGeom prst="ellipse">
            <a:avLst/>
          </a:prstGeom>
          <a:solidFill>
            <a:srgbClr val="C62828"/>
          </a:solidFill>
          <a:ln w="12700">
            <a:solidFill>
              <a:srgbClr val="C62828"/>
            </a:solidFill>
            <a:prstDash val="solid"/>
          </a:ln>
        </p:spPr>
      </p:sp>
      <p:sp>
        <p:nvSpPr>
          <p:cNvPr id="102" name="Text 89"/>
          <p:cNvSpPr txBox="1"/>
          <p:nvPr/>
        </p:nvSpPr>
        <p:spPr>
          <a:xfrm>
            <a:off x="8046720" y="4498848"/>
            <a:ext cx="1371600" cy="182880"/>
          </a:xfrm>
          <a:prstGeom prst="rect">
            <a:avLst/>
          </a:prstGeom>
          <a:noFill/>
          <a:ln/>
        </p:spPr>
        <p:txBody>
          <a:bodyPr wrap="square" lIns="0" tIns="0" rIns="0" bIns="0" rtlCol="0" anchor="t"/>
          <a:lstStyle/>
          <a:p>
            <a:pPr indent="0" marL="0">
              <a:buNone/>
            </a:pPr>
            <a:r>
              <a:rPr lang="en-US" sz="1000" b="1" dirty="0">
                <a:solidFill>
                  <a:srgbClr val="141C24"/>
                </a:solidFill>
                <a:latin typeface="Calibri" pitchFamily="34" charset="0"/>
                <a:ea typeface="Calibri" pitchFamily="34" charset="-122"/>
                <a:cs typeface="Calibri" pitchFamily="34" charset="-120"/>
              </a:rPr>
              <a:t>Fully in-house</a:t>
            </a:r>
            <a:endParaRPr lang="en-US" sz="1000" dirty="0"/>
          </a:p>
        </p:txBody>
      </p:sp>
      <p:sp>
        <p:nvSpPr>
          <p:cNvPr id="103" name="Text 90"/>
          <p:cNvSpPr txBox="1"/>
          <p:nvPr/>
        </p:nvSpPr>
        <p:spPr>
          <a:xfrm>
            <a:off x="8046720" y="4681728"/>
            <a:ext cx="1371600" cy="182880"/>
          </a:xfrm>
          <a:prstGeom prst="rect">
            <a:avLst/>
          </a:prstGeom>
          <a:noFill/>
          <a:ln/>
        </p:spPr>
        <p:txBody>
          <a:bodyPr wrap="square" lIns="0" tIns="0" rIns="0" bIns="0" rtlCol="0" anchor="t"/>
          <a:lstStyle/>
          <a:p>
            <a:pPr indent="0" marL="0">
              <a:buNone/>
            </a:pPr>
            <a:r>
              <a:rPr lang="en-US" sz="900" dirty="0">
                <a:solidFill>
                  <a:srgbClr val="5F6B78"/>
                </a:solidFill>
                <a:latin typeface="Calibri" pitchFamily="34" charset="0"/>
                <a:ea typeface="Calibri" pitchFamily="34" charset="-122"/>
                <a:cs typeface="Calibri" pitchFamily="34" charset="-120"/>
              </a:rPr>
              <a:t>₹2-3 cr (est.)</a:t>
            </a:r>
            <a:endParaRPr lang="en-US" sz="900" dirty="0"/>
          </a:p>
        </p:txBody>
      </p:sp>
      <p:sp>
        <p:nvSpPr>
          <p:cNvPr id="104" name="Shape 91"/>
          <p:cNvSpPr/>
          <p:nvPr/>
        </p:nvSpPr>
        <p:spPr>
          <a:xfrm>
            <a:off x="9582912" y="4572000"/>
            <a:ext cx="182880" cy="182880"/>
          </a:xfrm>
          <a:prstGeom prst="ellipse">
            <a:avLst/>
          </a:prstGeom>
          <a:solidFill>
            <a:srgbClr val="2E7D32"/>
          </a:solidFill>
          <a:ln w="12700">
            <a:solidFill>
              <a:srgbClr val="2E7D32"/>
            </a:solidFill>
            <a:prstDash val="solid"/>
          </a:ln>
        </p:spPr>
      </p:sp>
      <p:sp>
        <p:nvSpPr>
          <p:cNvPr id="105" name="Shape 92"/>
          <p:cNvSpPr/>
          <p:nvPr/>
        </p:nvSpPr>
        <p:spPr>
          <a:xfrm>
            <a:off x="10158984" y="4572000"/>
            <a:ext cx="182880" cy="182880"/>
          </a:xfrm>
          <a:prstGeom prst="ellipse">
            <a:avLst/>
          </a:prstGeom>
          <a:solidFill>
            <a:srgbClr val="C62828"/>
          </a:solidFill>
          <a:ln w="12700">
            <a:solidFill>
              <a:srgbClr val="C62828"/>
            </a:solidFill>
            <a:prstDash val="solid"/>
          </a:ln>
        </p:spPr>
      </p:sp>
      <p:sp>
        <p:nvSpPr>
          <p:cNvPr id="106" name="Shape 93"/>
          <p:cNvSpPr/>
          <p:nvPr/>
        </p:nvSpPr>
        <p:spPr>
          <a:xfrm>
            <a:off x="10735056" y="4572000"/>
            <a:ext cx="182880" cy="182880"/>
          </a:xfrm>
          <a:prstGeom prst="ellipse">
            <a:avLst/>
          </a:prstGeom>
          <a:solidFill>
            <a:srgbClr val="2E7D32"/>
          </a:solidFill>
          <a:ln w="12700">
            <a:solidFill>
              <a:srgbClr val="2E7D32"/>
            </a:solidFill>
            <a:prstDash val="solid"/>
          </a:ln>
        </p:spPr>
      </p:sp>
      <p:sp>
        <p:nvSpPr>
          <p:cNvPr id="107" name="Shape 94"/>
          <p:cNvSpPr/>
          <p:nvPr/>
        </p:nvSpPr>
        <p:spPr>
          <a:xfrm>
            <a:off x="11311128" y="4572000"/>
            <a:ext cx="182880" cy="182880"/>
          </a:xfrm>
          <a:prstGeom prst="ellipse">
            <a:avLst/>
          </a:prstGeom>
          <a:solidFill>
            <a:srgbClr val="2E7D32"/>
          </a:solidFill>
          <a:ln w="12700">
            <a:solidFill>
              <a:srgbClr val="2E7D32"/>
            </a:solidFill>
            <a:prstDash val="solid"/>
          </a:ln>
        </p:spPr>
      </p:sp>
      <p:sp>
        <p:nvSpPr>
          <p:cNvPr id="108" name="Shape 95"/>
          <p:cNvSpPr/>
          <p:nvPr/>
        </p:nvSpPr>
        <p:spPr>
          <a:xfrm>
            <a:off x="7973568" y="4919472"/>
            <a:ext cx="3739896" cy="457200"/>
          </a:xfrm>
          <a:prstGeom prst="roundRect">
            <a:avLst>
              <a:gd name="adj" fmla="val 12000"/>
            </a:avLst>
          </a:prstGeom>
          <a:solidFill>
            <a:srgbClr val="E4EEF6"/>
          </a:solidFill>
          <a:ln w="12700">
            <a:solidFill>
              <a:srgbClr val="E4EEF6"/>
            </a:solidFill>
            <a:prstDash val="solid"/>
          </a:ln>
        </p:spPr>
      </p:sp>
      <p:sp>
        <p:nvSpPr>
          <p:cNvPr id="109" name="Text 96"/>
          <p:cNvSpPr txBox="1"/>
          <p:nvPr/>
        </p:nvSpPr>
        <p:spPr>
          <a:xfrm>
            <a:off x="8046720" y="4974336"/>
            <a:ext cx="1371600" cy="182880"/>
          </a:xfrm>
          <a:prstGeom prst="rect">
            <a:avLst/>
          </a:prstGeom>
          <a:noFill/>
          <a:ln/>
        </p:spPr>
        <p:txBody>
          <a:bodyPr wrap="square" lIns="0" tIns="0" rIns="0" bIns="0" rtlCol="0" anchor="t"/>
          <a:lstStyle/>
          <a:p>
            <a:pPr indent="0" marL="0">
              <a:buNone/>
            </a:pPr>
            <a:r>
              <a:rPr lang="en-US" sz="1000" b="1" dirty="0">
                <a:solidFill>
                  <a:srgbClr val="0086C3"/>
                </a:solidFill>
                <a:latin typeface="Calibri" pitchFamily="34" charset="0"/>
                <a:ea typeface="Calibri" pitchFamily="34" charset="-122"/>
                <a:cs typeface="Calibri" pitchFamily="34" charset="-120"/>
              </a:rPr>
              <a:t>Hybrid (ours)</a:t>
            </a:r>
            <a:endParaRPr lang="en-US" sz="1000" dirty="0"/>
          </a:p>
        </p:txBody>
      </p:sp>
      <p:sp>
        <p:nvSpPr>
          <p:cNvPr id="110" name="Text 97"/>
          <p:cNvSpPr txBox="1"/>
          <p:nvPr/>
        </p:nvSpPr>
        <p:spPr>
          <a:xfrm>
            <a:off x="8046720" y="5157216"/>
            <a:ext cx="1371600" cy="182880"/>
          </a:xfrm>
          <a:prstGeom prst="rect">
            <a:avLst/>
          </a:prstGeom>
          <a:noFill/>
          <a:ln/>
        </p:spPr>
        <p:txBody>
          <a:bodyPr wrap="square" lIns="0" tIns="0" rIns="0" bIns="0" rtlCol="0" anchor="t"/>
          <a:lstStyle/>
          <a:p>
            <a:pPr indent="0" marL="0">
              <a:buNone/>
            </a:pPr>
            <a:r>
              <a:rPr lang="en-US" sz="900" dirty="0">
                <a:solidFill>
                  <a:srgbClr val="5F6B78"/>
                </a:solidFill>
                <a:latin typeface="Calibri" pitchFamily="34" charset="0"/>
                <a:ea typeface="Calibri" pitchFamily="34" charset="-122"/>
                <a:cs typeface="Calibri" pitchFamily="34" charset="-120"/>
              </a:rPr>
              <a:t>₹2.5-4.2 cr (est.)</a:t>
            </a:r>
            <a:endParaRPr lang="en-US" sz="900" dirty="0"/>
          </a:p>
        </p:txBody>
      </p:sp>
      <p:sp>
        <p:nvSpPr>
          <p:cNvPr id="111" name="Shape 98"/>
          <p:cNvSpPr/>
          <p:nvPr/>
        </p:nvSpPr>
        <p:spPr>
          <a:xfrm>
            <a:off x="9582912" y="5047488"/>
            <a:ext cx="182880" cy="182880"/>
          </a:xfrm>
          <a:prstGeom prst="ellipse">
            <a:avLst/>
          </a:prstGeom>
          <a:solidFill>
            <a:srgbClr val="2E7D32"/>
          </a:solidFill>
          <a:ln w="12700">
            <a:solidFill>
              <a:srgbClr val="2E7D32"/>
            </a:solidFill>
            <a:prstDash val="solid"/>
          </a:ln>
        </p:spPr>
      </p:sp>
      <p:sp>
        <p:nvSpPr>
          <p:cNvPr id="112" name="Shape 99"/>
          <p:cNvSpPr/>
          <p:nvPr/>
        </p:nvSpPr>
        <p:spPr>
          <a:xfrm>
            <a:off x="10158984" y="5047488"/>
            <a:ext cx="182880" cy="182880"/>
          </a:xfrm>
          <a:prstGeom prst="ellipse">
            <a:avLst/>
          </a:prstGeom>
          <a:solidFill>
            <a:srgbClr val="B77900"/>
          </a:solidFill>
          <a:ln w="12700">
            <a:solidFill>
              <a:srgbClr val="B77900"/>
            </a:solidFill>
            <a:prstDash val="solid"/>
          </a:ln>
        </p:spPr>
      </p:sp>
      <p:sp>
        <p:nvSpPr>
          <p:cNvPr id="113" name="Shape 100"/>
          <p:cNvSpPr/>
          <p:nvPr/>
        </p:nvSpPr>
        <p:spPr>
          <a:xfrm>
            <a:off x="10735056" y="5047488"/>
            <a:ext cx="182880" cy="182880"/>
          </a:xfrm>
          <a:prstGeom prst="ellipse">
            <a:avLst/>
          </a:prstGeom>
          <a:solidFill>
            <a:srgbClr val="2E7D32"/>
          </a:solidFill>
          <a:ln w="12700">
            <a:solidFill>
              <a:srgbClr val="2E7D32"/>
            </a:solidFill>
            <a:prstDash val="solid"/>
          </a:ln>
        </p:spPr>
      </p:sp>
      <p:sp>
        <p:nvSpPr>
          <p:cNvPr id="114" name="Shape 101"/>
          <p:cNvSpPr/>
          <p:nvPr/>
        </p:nvSpPr>
        <p:spPr>
          <a:xfrm>
            <a:off x="11311128" y="5047488"/>
            <a:ext cx="182880" cy="182880"/>
          </a:xfrm>
          <a:prstGeom prst="ellipse">
            <a:avLst/>
          </a:prstGeom>
          <a:solidFill>
            <a:srgbClr val="2E7D32"/>
          </a:solidFill>
          <a:ln w="12700">
            <a:solidFill>
              <a:srgbClr val="2E7D32"/>
            </a:solidFill>
            <a:prstDash val="solid"/>
          </a:ln>
        </p:spPr>
      </p:sp>
      <p:sp>
        <p:nvSpPr>
          <p:cNvPr id="115" name="Shape 102"/>
          <p:cNvSpPr/>
          <p:nvPr/>
        </p:nvSpPr>
        <p:spPr>
          <a:xfrm>
            <a:off x="8065008" y="5477256"/>
            <a:ext cx="128016" cy="128016"/>
          </a:xfrm>
          <a:prstGeom prst="ellipse">
            <a:avLst/>
          </a:prstGeom>
          <a:solidFill>
            <a:srgbClr val="2E7D32"/>
          </a:solidFill>
          <a:ln w="12700">
            <a:solidFill>
              <a:srgbClr val="2E7D32"/>
            </a:solidFill>
            <a:prstDash val="solid"/>
          </a:ln>
        </p:spPr>
      </p:sp>
      <p:sp>
        <p:nvSpPr>
          <p:cNvPr id="116" name="Text 103"/>
          <p:cNvSpPr txBox="1"/>
          <p:nvPr/>
        </p:nvSpPr>
        <p:spPr>
          <a:xfrm>
            <a:off x="8229600" y="5431536"/>
            <a:ext cx="594360" cy="201168"/>
          </a:xfrm>
          <a:prstGeom prst="rect">
            <a:avLst/>
          </a:prstGeom>
          <a:noFill/>
          <a:ln/>
        </p:spPr>
        <p:txBody>
          <a:bodyPr wrap="square" lIns="0" tIns="0" rIns="0" bIns="0" rtlCol="0" anchor="ctr"/>
          <a:lstStyle/>
          <a:p>
            <a:pPr indent="0" marL="0">
              <a:buNone/>
            </a:pPr>
            <a:r>
              <a:rPr lang="en-US" sz="900" dirty="0">
                <a:solidFill>
                  <a:srgbClr val="5F6B78"/>
                </a:solidFill>
                <a:latin typeface="Calibri" pitchFamily="34" charset="0"/>
                <a:ea typeface="Calibri" pitchFamily="34" charset="-122"/>
                <a:cs typeface="Calibri" pitchFamily="34" charset="-120"/>
              </a:rPr>
              <a:t>strong</a:t>
            </a:r>
            <a:endParaRPr lang="en-US" sz="900" dirty="0"/>
          </a:p>
        </p:txBody>
      </p:sp>
      <p:sp>
        <p:nvSpPr>
          <p:cNvPr id="117" name="Shape 104"/>
          <p:cNvSpPr/>
          <p:nvPr/>
        </p:nvSpPr>
        <p:spPr>
          <a:xfrm>
            <a:off x="8842248" y="5477256"/>
            <a:ext cx="128016" cy="128016"/>
          </a:xfrm>
          <a:prstGeom prst="ellipse">
            <a:avLst/>
          </a:prstGeom>
          <a:solidFill>
            <a:srgbClr val="B77900"/>
          </a:solidFill>
          <a:ln w="12700">
            <a:solidFill>
              <a:srgbClr val="B77900"/>
            </a:solidFill>
            <a:prstDash val="solid"/>
          </a:ln>
        </p:spPr>
      </p:sp>
      <p:sp>
        <p:nvSpPr>
          <p:cNvPr id="118" name="Text 105"/>
          <p:cNvSpPr txBox="1"/>
          <p:nvPr/>
        </p:nvSpPr>
        <p:spPr>
          <a:xfrm>
            <a:off x="9006840" y="5431536"/>
            <a:ext cx="594360" cy="201168"/>
          </a:xfrm>
          <a:prstGeom prst="rect">
            <a:avLst/>
          </a:prstGeom>
          <a:noFill/>
          <a:ln/>
        </p:spPr>
        <p:txBody>
          <a:bodyPr wrap="square" lIns="0" tIns="0" rIns="0" bIns="0" rtlCol="0" anchor="ctr"/>
          <a:lstStyle/>
          <a:p>
            <a:pPr indent="0" marL="0">
              <a:buNone/>
            </a:pPr>
            <a:r>
              <a:rPr lang="en-US" sz="900" dirty="0">
                <a:solidFill>
                  <a:srgbClr val="5F6B78"/>
                </a:solidFill>
                <a:latin typeface="Calibri" pitchFamily="34" charset="0"/>
                <a:ea typeface="Calibri" pitchFamily="34" charset="-122"/>
                <a:cs typeface="Calibri" pitchFamily="34" charset="-120"/>
              </a:rPr>
              <a:t>partial</a:t>
            </a:r>
            <a:endParaRPr lang="en-US" sz="900" dirty="0"/>
          </a:p>
        </p:txBody>
      </p:sp>
      <p:sp>
        <p:nvSpPr>
          <p:cNvPr id="119" name="Shape 106"/>
          <p:cNvSpPr/>
          <p:nvPr/>
        </p:nvSpPr>
        <p:spPr>
          <a:xfrm>
            <a:off x="9619488" y="5477256"/>
            <a:ext cx="128016" cy="128016"/>
          </a:xfrm>
          <a:prstGeom prst="ellipse">
            <a:avLst/>
          </a:prstGeom>
          <a:solidFill>
            <a:srgbClr val="C62828"/>
          </a:solidFill>
          <a:ln w="12700">
            <a:solidFill>
              <a:srgbClr val="C62828"/>
            </a:solidFill>
            <a:prstDash val="solid"/>
          </a:ln>
        </p:spPr>
      </p:sp>
      <p:sp>
        <p:nvSpPr>
          <p:cNvPr id="120" name="Text 107"/>
          <p:cNvSpPr txBox="1"/>
          <p:nvPr/>
        </p:nvSpPr>
        <p:spPr>
          <a:xfrm>
            <a:off x="9784080" y="5431536"/>
            <a:ext cx="594360" cy="201168"/>
          </a:xfrm>
          <a:prstGeom prst="rect">
            <a:avLst/>
          </a:prstGeom>
          <a:noFill/>
          <a:ln/>
        </p:spPr>
        <p:txBody>
          <a:bodyPr wrap="square" lIns="0" tIns="0" rIns="0" bIns="0" rtlCol="0" anchor="ctr"/>
          <a:lstStyle/>
          <a:p>
            <a:pPr indent="0" marL="0">
              <a:buNone/>
            </a:pPr>
            <a:r>
              <a:rPr lang="en-US" sz="900" dirty="0">
                <a:solidFill>
                  <a:srgbClr val="5F6B78"/>
                </a:solidFill>
                <a:latin typeface="Calibri" pitchFamily="34" charset="0"/>
                <a:ea typeface="Calibri" pitchFamily="34" charset="-122"/>
                <a:cs typeface="Calibri" pitchFamily="34" charset="-120"/>
              </a:rPr>
              <a:t>weak</a:t>
            </a:r>
            <a:endParaRPr lang="en-US" sz="900" dirty="0"/>
          </a:p>
        </p:txBody>
      </p:sp>
      <p:sp>
        <p:nvSpPr>
          <p:cNvPr id="121" name="Text 108"/>
          <p:cNvSpPr txBox="1"/>
          <p:nvPr/>
        </p:nvSpPr>
        <p:spPr>
          <a:xfrm>
            <a:off x="8046720" y="5641848"/>
            <a:ext cx="3657600" cy="219456"/>
          </a:xfrm>
          <a:prstGeom prst="rect">
            <a:avLst/>
          </a:prstGeom>
          <a:noFill/>
          <a:ln/>
        </p:spPr>
        <p:txBody>
          <a:bodyPr wrap="square" lIns="0" tIns="0" rIns="0" bIns="0" rtlCol="0" anchor="ctr"/>
          <a:lstStyle/>
          <a:p>
            <a:pPr indent="0" marL="0">
              <a:buNone/>
            </a:pPr>
            <a:r>
              <a:rPr lang="en-US" sz="1000" b="1" dirty="0">
                <a:solidFill>
                  <a:srgbClr val="0086C3"/>
                </a:solidFill>
                <a:latin typeface="Calibri" pitchFamily="34" charset="0"/>
                <a:ea typeface="Calibri" pitchFamily="34" charset="-122"/>
                <a:cs typeface="Calibri" pitchFamily="34" charset="-120"/>
              </a:rPr>
              <a:t>Output: hybrid is never weak.</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201168"/>
            <a:ext cx="1481328" cy="274320"/>
          </a:xfrm>
          <a:prstGeom prst="rect">
            <a:avLst/>
          </a:prstGeom>
          <a:solidFill>
            <a:srgbClr val="F1F4F7"/>
          </a:solidFill>
          <a:ln w="12700">
            <a:solidFill>
              <a:srgbClr val="F1F4F7"/>
            </a:solidFill>
            <a:prstDash val="solid"/>
          </a:ln>
        </p:spPr>
      </p:sp>
      <p:sp>
        <p:nvSpPr>
          <p:cNvPr id="3" name="Text 1"/>
          <p:cNvSpPr txBox="1"/>
          <p:nvPr/>
        </p:nvSpPr>
        <p:spPr>
          <a:xfrm>
            <a:off x="457200" y="201168"/>
            <a:ext cx="1481328" cy="274320"/>
          </a:xfrm>
          <a:prstGeom prst="rect">
            <a:avLst/>
          </a:prstGeom>
          <a:noFill/>
          <a:ln/>
        </p:spPr>
        <p:txBody>
          <a:bodyPr wrap="square" lIns="0" tIns="0" rIns="0" bIns="0" rtlCol="0" anchor="ctr"/>
          <a:lstStyle/>
          <a:p>
            <a:pPr algn="ctr" indent="0" marL="0">
              <a:buNone/>
            </a:pPr>
            <a:r>
              <a:rPr lang="en-US" sz="1000" dirty="0">
                <a:solidFill>
                  <a:srgbClr val="5F6B78"/>
                </a:solidFill>
                <a:latin typeface="Calibri" pitchFamily="34" charset="0"/>
                <a:ea typeface="Calibri" pitchFamily="34" charset="-122"/>
                <a:cs typeface="Calibri" pitchFamily="34" charset="-120"/>
              </a:rPr>
              <a:t>1  Problem</a:t>
            </a:r>
            <a:endParaRPr lang="en-US" sz="1000" dirty="0"/>
          </a:p>
        </p:txBody>
      </p:sp>
      <p:sp>
        <p:nvSpPr>
          <p:cNvPr id="4" name="Shape 2"/>
          <p:cNvSpPr/>
          <p:nvPr/>
        </p:nvSpPr>
        <p:spPr>
          <a:xfrm>
            <a:off x="1993392" y="201168"/>
            <a:ext cx="1481328" cy="274320"/>
          </a:xfrm>
          <a:prstGeom prst="rect">
            <a:avLst/>
          </a:prstGeom>
          <a:solidFill>
            <a:srgbClr val="F1F4F7"/>
          </a:solidFill>
          <a:ln w="12700">
            <a:solidFill>
              <a:srgbClr val="F1F4F7"/>
            </a:solidFill>
            <a:prstDash val="solid"/>
          </a:ln>
        </p:spPr>
      </p:sp>
      <p:sp>
        <p:nvSpPr>
          <p:cNvPr id="5" name="Text 3"/>
          <p:cNvSpPr txBox="1"/>
          <p:nvPr/>
        </p:nvSpPr>
        <p:spPr>
          <a:xfrm>
            <a:off x="1993392" y="201168"/>
            <a:ext cx="1481328" cy="274320"/>
          </a:xfrm>
          <a:prstGeom prst="rect">
            <a:avLst/>
          </a:prstGeom>
          <a:noFill/>
          <a:ln/>
        </p:spPr>
        <p:txBody>
          <a:bodyPr wrap="square" lIns="0" tIns="0" rIns="0" bIns="0" rtlCol="0" anchor="ctr"/>
          <a:lstStyle/>
          <a:p>
            <a:pPr algn="ctr" indent="0" marL="0">
              <a:buNone/>
            </a:pPr>
            <a:r>
              <a:rPr lang="en-US" sz="1000" dirty="0">
                <a:solidFill>
                  <a:srgbClr val="5F6B78"/>
                </a:solidFill>
                <a:latin typeface="Calibri" pitchFamily="34" charset="0"/>
                <a:ea typeface="Calibri" pitchFamily="34" charset="-122"/>
                <a:cs typeface="Calibri" pitchFamily="34" charset="-120"/>
              </a:rPr>
              <a:t>2  Insights</a:t>
            </a:r>
            <a:endParaRPr lang="en-US" sz="1000" dirty="0"/>
          </a:p>
        </p:txBody>
      </p:sp>
      <p:sp>
        <p:nvSpPr>
          <p:cNvPr id="6" name="Shape 4"/>
          <p:cNvSpPr/>
          <p:nvPr/>
        </p:nvSpPr>
        <p:spPr>
          <a:xfrm>
            <a:off x="3529584" y="201168"/>
            <a:ext cx="1481328" cy="274320"/>
          </a:xfrm>
          <a:prstGeom prst="rect">
            <a:avLst/>
          </a:prstGeom>
          <a:solidFill>
            <a:srgbClr val="143A5A"/>
          </a:solidFill>
          <a:ln w="12700">
            <a:solidFill>
              <a:srgbClr val="143A5A"/>
            </a:solidFill>
            <a:prstDash val="solid"/>
          </a:ln>
        </p:spPr>
      </p:sp>
      <p:sp>
        <p:nvSpPr>
          <p:cNvPr id="7" name="Text 5"/>
          <p:cNvSpPr txBox="1"/>
          <p:nvPr/>
        </p:nvSpPr>
        <p:spPr>
          <a:xfrm>
            <a:off x="3529584" y="201168"/>
            <a:ext cx="1481328"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3  Solution</a:t>
            </a:r>
            <a:endParaRPr lang="en-US" sz="1000" dirty="0"/>
          </a:p>
        </p:txBody>
      </p:sp>
      <p:sp>
        <p:nvSpPr>
          <p:cNvPr id="8" name="Shape 6"/>
          <p:cNvSpPr/>
          <p:nvPr/>
        </p:nvSpPr>
        <p:spPr>
          <a:xfrm>
            <a:off x="5065776" y="201168"/>
            <a:ext cx="1481328" cy="274320"/>
          </a:xfrm>
          <a:prstGeom prst="rect">
            <a:avLst/>
          </a:prstGeom>
          <a:solidFill>
            <a:srgbClr val="F1F4F7"/>
          </a:solidFill>
          <a:ln w="12700">
            <a:solidFill>
              <a:srgbClr val="F1F4F7"/>
            </a:solidFill>
            <a:prstDash val="solid"/>
          </a:ln>
        </p:spPr>
      </p:sp>
      <p:sp>
        <p:nvSpPr>
          <p:cNvPr id="9" name="Text 7"/>
          <p:cNvSpPr txBox="1"/>
          <p:nvPr/>
        </p:nvSpPr>
        <p:spPr>
          <a:xfrm>
            <a:off x="5065776" y="201168"/>
            <a:ext cx="1481328" cy="274320"/>
          </a:xfrm>
          <a:prstGeom prst="rect">
            <a:avLst/>
          </a:prstGeom>
          <a:noFill/>
          <a:ln/>
        </p:spPr>
        <p:txBody>
          <a:bodyPr wrap="square" lIns="0" tIns="0" rIns="0" bIns="0" rtlCol="0" anchor="ctr"/>
          <a:lstStyle/>
          <a:p>
            <a:pPr algn="ctr" indent="0" marL="0">
              <a:buNone/>
            </a:pPr>
            <a:r>
              <a:rPr lang="en-US" sz="1000" dirty="0">
                <a:solidFill>
                  <a:srgbClr val="5F6B78"/>
                </a:solidFill>
                <a:latin typeface="Calibri" pitchFamily="34" charset="0"/>
                <a:ea typeface="Calibri" pitchFamily="34" charset="-122"/>
                <a:cs typeface="Calibri" pitchFamily="34" charset="-120"/>
              </a:rPr>
              <a:t>4  Implementation</a:t>
            </a:r>
            <a:endParaRPr lang="en-US" sz="1000" dirty="0"/>
          </a:p>
        </p:txBody>
      </p:sp>
      <p:sp>
        <p:nvSpPr>
          <p:cNvPr id="10" name="Shape 8"/>
          <p:cNvSpPr/>
          <p:nvPr/>
        </p:nvSpPr>
        <p:spPr>
          <a:xfrm>
            <a:off x="6601968" y="201168"/>
            <a:ext cx="1481328" cy="274320"/>
          </a:xfrm>
          <a:prstGeom prst="rect">
            <a:avLst/>
          </a:prstGeom>
          <a:solidFill>
            <a:srgbClr val="F1F4F7"/>
          </a:solidFill>
          <a:ln w="12700">
            <a:solidFill>
              <a:srgbClr val="F1F4F7"/>
            </a:solidFill>
            <a:prstDash val="solid"/>
          </a:ln>
        </p:spPr>
      </p:sp>
      <p:sp>
        <p:nvSpPr>
          <p:cNvPr id="11" name="Text 9"/>
          <p:cNvSpPr txBox="1"/>
          <p:nvPr/>
        </p:nvSpPr>
        <p:spPr>
          <a:xfrm>
            <a:off x="6601968" y="201168"/>
            <a:ext cx="1481328" cy="274320"/>
          </a:xfrm>
          <a:prstGeom prst="rect">
            <a:avLst/>
          </a:prstGeom>
          <a:noFill/>
          <a:ln/>
        </p:spPr>
        <p:txBody>
          <a:bodyPr wrap="square" lIns="0" tIns="0" rIns="0" bIns="0" rtlCol="0" anchor="ctr"/>
          <a:lstStyle/>
          <a:p>
            <a:pPr algn="ctr" indent="0" marL="0">
              <a:buNone/>
            </a:pPr>
            <a:r>
              <a:rPr lang="en-US" sz="1000" dirty="0">
                <a:solidFill>
                  <a:srgbClr val="5F6B78"/>
                </a:solidFill>
                <a:latin typeface="Calibri" pitchFamily="34" charset="0"/>
                <a:ea typeface="Calibri" pitchFamily="34" charset="-122"/>
                <a:cs typeface="Calibri" pitchFamily="34" charset="-120"/>
              </a:rPr>
              <a:t>5  Impact</a:t>
            </a:r>
            <a:endParaRPr lang="en-US" sz="1000" dirty="0"/>
          </a:p>
        </p:txBody>
      </p:sp>
      <p:sp>
        <p:nvSpPr>
          <p:cNvPr id="12" name="Text 10"/>
          <p:cNvSpPr txBox="1"/>
          <p:nvPr/>
        </p:nvSpPr>
        <p:spPr>
          <a:xfrm>
            <a:off x="8229600" y="201168"/>
            <a:ext cx="3502152" cy="274320"/>
          </a:xfrm>
          <a:prstGeom prst="rect">
            <a:avLst/>
          </a:prstGeom>
          <a:noFill/>
          <a:ln/>
        </p:spPr>
        <p:txBody>
          <a:bodyPr wrap="square" lIns="0" tIns="0" rIns="0" bIns="0" rtlCol="0" anchor="ctr"/>
          <a:lstStyle/>
          <a:p>
            <a:pPr algn="r" indent="0" marL="0">
              <a:buNone/>
            </a:pPr>
            <a:r>
              <a:rPr lang="en-US" sz="900" dirty="0">
                <a:solidFill>
                  <a:srgbClr val="5F6B78"/>
                </a:solidFill>
                <a:latin typeface="Calibri" pitchFamily="34" charset="0"/>
                <a:ea typeface="Calibri" pitchFamily="34" charset="-122"/>
                <a:cs typeface="Calibri" pitchFamily="34" charset="-120"/>
              </a:rPr>
              <a:t>STAINLESS SPARK ROUND 2  |  PS1  |  IIT Bombay</a:t>
            </a:r>
            <a:endParaRPr lang="en-US" sz="900" dirty="0"/>
          </a:p>
        </p:txBody>
      </p:sp>
      <p:sp>
        <p:nvSpPr>
          <p:cNvPr id="13" name="Text 11"/>
          <p:cNvSpPr txBox="1"/>
          <p:nvPr/>
        </p:nvSpPr>
        <p:spPr>
          <a:xfrm>
            <a:off x="457200" y="566928"/>
            <a:ext cx="11274552" cy="566928"/>
          </a:xfrm>
          <a:prstGeom prst="rect">
            <a:avLst/>
          </a:prstGeom>
          <a:noFill/>
          <a:ln/>
        </p:spPr>
        <p:txBody>
          <a:bodyPr wrap="square" lIns="0" tIns="0" rIns="0" bIns="0" rtlCol="0" anchor="ctr"/>
          <a:lstStyle/>
          <a:p>
            <a:pPr indent="0" marL="0">
              <a:buNone/>
            </a:pPr>
            <a:r>
              <a:rPr lang="en-US" sz="2000" b="1" dirty="0">
                <a:solidFill>
                  <a:srgbClr val="143A5A"/>
                </a:solidFill>
                <a:latin typeface="Calibri" pitchFamily="34" charset="0"/>
                <a:ea typeface="Calibri" pitchFamily="34" charset="-122"/>
                <a:cs typeface="Calibri" pitchFamily="34" charset="-120"/>
              </a:rPr>
              <a:t>It already works on public steel data; the pilot's job is to prove it on JSL's own strip</a:t>
            </a:r>
            <a:endParaRPr lang="en-US" sz="2000" dirty="0"/>
          </a:p>
        </p:txBody>
      </p:sp>
      <p:sp>
        <p:nvSpPr>
          <p:cNvPr id="14" name="Shape 12"/>
          <p:cNvSpPr/>
          <p:nvPr/>
        </p:nvSpPr>
        <p:spPr>
          <a:xfrm>
            <a:off x="457200" y="6236208"/>
            <a:ext cx="11274552" cy="420624"/>
          </a:xfrm>
          <a:prstGeom prst="rect">
            <a:avLst/>
          </a:prstGeom>
          <a:solidFill>
            <a:srgbClr val="143A5A"/>
          </a:solidFill>
          <a:ln w="12700">
            <a:solidFill>
              <a:srgbClr val="143A5A"/>
            </a:solidFill>
            <a:prstDash val="solid"/>
          </a:ln>
        </p:spPr>
      </p:sp>
      <p:sp>
        <p:nvSpPr>
          <p:cNvPr id="15" name="Text 13"/>
          <p:cNvSpPr txBox="1"/>
          <p:nvPr/>
        </p:nvSpPr>
        <p:spPr>
          <a:xfrm>
            <a:off x="621792" y="6236208"/>
            <a:ext cx="10972800" cy="420624"/>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Strong on four of six defect families today. Every weak spot is known, and each has a fix in the pilot plan.</a:t>
            </a:r>
            <a:endParaRPr lang="en-US" sz="1200" dirty="0"/>
          </a:p>
        </p:txBody>
      </p:sp>
      <p:sp>
        <p:nvSpPr>
          <p:cNvPr id="16" name="Text 14"/>
          <p:cNvSpPr txBox="1"/>
          <p:nvPr/>
        </p:nvSpPr>
        <p:spPr>
          <a:xfrm>
            <a:off x="457200" y="5971032"/>
            <a:ext cx="11274552" cy="237744"/>
          </a:xfrm>
          <a:prstGeom prst="rect">
            <a:avLst/>
          </a:prstGeom>
          <a:noFill/>
          <a:ln/>
        </p:spPr>
        <p:txBody>
          <a:bodyPr wrap="square" lIns="0" tIns="0" rIns="0" bIns="0" rtlCol="0" anchor="ctr"/>
          <a:lstStyle/>
          <a:p>
            <a:pPr indent="0" marL="0">
              <a:buNone/>
            </a:pPr>
            <a:r>
              <a:rPr lang="en-US" sz="900" dirty="0">
                <a:solidFill>
                  <a:srgbClr val="5F6B78"/>
                </a:solidFill>
                <a:latin typeface="Calibri" pitchFamily="34" charset="0"/>
                <a:ea typeface="Calibri" pitchFamily="34" charset="-122"/>
                <a:cs typeface="Calibri" pitchFamily="34" charset="-120"/>
              </a:rPr>
              <a:t>Datasets: NEU-DET (Northeastern Univ.); Severstal steel defects (Kaggle); GC10-DET (Lv et al. 2020, CC BY 4.0). All scores on held-out images the model never saw in training; model chosen on validation across four training runs.</a:t>
            </a:r>
            <a:endParaRPr lang="en-US" sz="900" dirty="0"/>
          </a:p>
        </p:txBody>
      </p:sp>
      <p:sp>
        <p:nvSpPr>
          <p:cNvPr id="17" name="Shape 15"/>
          <p:cNvSpPr/>
          <p:nvPr/>
        </p:nvSpPr>
        <p:spPr>
          <a:xfrm>
            <a:off x="457200" y="1234440"/>
            <a:ext cx="5541264" cy="274320"/>
          </a:xfrm>
          <a:prstGeom prst="rect">
            <a:avLst/>
          </a:prstGeom>
          <a:solidFill>
            <a:srgbClr val="2B5B80"/>
          </a:solidFill>
          <a:ln w="12700">
            <a:solidFill>
              <a:srgbClr val="2B5B80"/>
            </a:solidFill>
            <a:prstDash val="solid"/>
          </a:ln>
        </p:spPr>
      </p:sp>
      <p:sp>
        <p:nvSpPr>
          <p:cNvPr id="18" name="Text 16"/>
          <p:cNvSpPr txBox="1"/>
          <p:nvPr/>
        </p:nvSpPr>
        <p:spPr>
          <a:xfrm>
            <a:off x="548640" y="1234440"/>
            <a:ext cx="5358384" cy="274320"/>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Tested on three public steel datasets</a:t>
            </a:r>
            <a:endParaRPr lang="en-US" sz="1100" dirty="0"/>
          </a:p>
        </p:txBody>
      </p:sp>
      <p:sp>
        <p:nvSpPr>
          <p:cNvPr id="19" name="Shape 17"/>
          <p:cNvSpPr/>
          <p:nvPr/>
        </p:nvSpPr>
        <p:spPr>
          <a:xfrm>
            <a:off x="457200" y="1572768"/>
            <a:ext cx="1783080" cy="2148840"/>
          </a:xfrm>
          <a:prstGeom prst="roundRect">
            <a:avLst>
              <a:gd name="adj" fmla="val 3077"/>
            </a:avLst>
          </a:prstGeom>
          <a:solidFill>
            <a:srgbClr val="F1F4F7"/>
          </a:solidFill>
          <a:ln w="12700">
            <a:solidFill>
              <a:srgbClr val="F1F4F7"/>
            </a:solidFill>
            <a:prstDash val="solid"/>
          </a:ln>
        </p:spPr>
      </p:sp>
      <p:sp>
        <p:nvSpPr>
          <p:cNvPr id="20" name="Shape 18"/>
          <p:cNvSpPr/>
          <p:nvPr/>
        </p:nvSpPr>
        <p:spPr>
          <a:xfrm>
            <a:off x="548640" y="1645920"/>
            <a:ext cx="1600200" cy="1078992"/>
          </a:xfrm>
          <a:prstGeom prst="rect">
            <a:avLst/>
          </a:prstGeom>
          <a:solidFill>
            <a:srgbClr val="FFFFFF"/>
          </a:solidFill>
          <a:ln w="12700">
            <a:solidFill>
              <a:srgbClr val="FFFFFF"/>
            </a:solidFill>
            <a:prstDash val="solid"/>
          </a:ln>
        </p:spPr>
      </p:sp>
      <p:pic>
        <p:nvPicPr>
          <p:cNvPr id="21" name="Image 0" descr="img/det_patches.png">    </p:cNvPr>
          <p:cNvPicPr>
            <a:picLocks noChangeAspect="1"/>
          </p:cNvPicPr>
          <p:nvPr/>
        </p:nvPicPr>
        <p:blipFill>
          <a:blip r:embed="rId1"/>
          <a:stretch>
            <a:fillRect/>
          </a:stretch>
        </p:blipFill>
        <p:spPr>
          <a:xfrm>
            <a:off x="845820" y="1682496"/>
            <a:ext cx="1005840" cy="1005840"/>
          </a:xfrm>
          <a:prstGeom prst="rect">
            <a:avLst/>
          </a:prstGeom>
        </p:spPr>
      </p:pic>
      <p:sp>
        <p:nvSpPr>
          <p:cNvPr id="22" name="Text 19"/>
          <p:cNvSpPr txBox="1"/>
          <p:nvPr/>
        </p:nvSpPr>
        <p:spPr>
          <a:xfrm>
            <a:off x="548640" y="2788920"/>
            <a:ext cx="1600200" cy="237744"/>
          </a:xfrm>
          <a:prstGeom prst="rect">
            <a:avLst/>
          </a:prstGeom>
          <a:noFill/>
          <a:ln/>
        </p:spPr>
        <p:txBody>
          <a:bodyPr wrap="square" lIns="0" tIns="0" rIns="0" bIns="0" rtlCol="0" anchor="t"/>
          <a:lstStyle/>
          <a:p>
            <a:pPr indent="0" marL="0">
              <a:buNone/>
            </a:pPr>
            <a:r>
              <a:rPr lang="en-US" sz="1100" b="1" dirty="0">
                <a:solidFill>
                  <a:srgbClr val="143A5A"/>
                </a:solidFill>
                <a:latin typeface="Calibri" pitchFamily="34" charset="0"/>
                <a:ea typeface="Calibri" pitchFamily="34" charset="-122"/>
                <a:cs typeface="Calibri" pitchFamily="34" charset="-120"/>
              </a:rPr>
              <a:t>NEU-DET</a:t>
            </a:r>
            <a:endParaRPr lang="en-US" sz="1100" dirty="0"/>
          </a:p>
        </p:txBody>
      </p:sp>
      <p:sp>
        <p:nvSpPr>
          <p:cNvPr id="23" name="Text 20"/>
          <p:cNvSpPr txBox="1"/>
          <p:nvPr/>
        </p:nvSpPr>
        <p:spPr>
          <a:xfrm>
            <a:off x="548640" y="3026664"/>
            <a:ext cx="1645920" cy="219456"/>
          </a:xfrm>
          <a:prstGeom prst="rect">
            <a:avLst/>
          </a:prstGeom>
          <a:noFill/>
          <a:ln/>
        </p:spPr>
        <p:txBody>
          <a:bodyPr wrap="square" lIns="0" tIns="0" rIns="0" bIns="0" rtlCol="0" anchor="t"/>
          <a:lstStyle/>
          <a:p>
            <a:pPr indent="0" marL="0">
              <a:buNone/>
            </a:pPr>
            <a:r>
              <a:rPr lang="en-US" sz="950" b="1" dirty="0">
                <a:solidFill>
                  <a:srgbClr val="0086C3"/>
                </a:solidFill>
                <a:latin typeface="Calibri" pitchFamily="34" charset="0"/>
                <a:ea typeface="Calibri" pitchFamily="34" charset="-122"/>
                <a:cs typeface="Calibri" pitchFamily="34" charset="-120"/>
              </a:rPr>
              <a:t>1,800 images, 6 defect types</a:t>
            </a:r>
            <a:endParaRPr lang="en-US" sz="950" dirty="0"/>
          </a:p>
        </p:txBody>
      </p:sp>
      <p:sp>
        <p:nvSpPr>
          <p:cNvPr id="24" name="Text 21"/>
          <p:cNvSpPr txBox="1"/>
          <p:nvPr/>
        </p:nvSpPr>
        <p:spPr>
          <a:xfrm>
            <a:off x="548640" y="3255264"/>
            <a:ext cx="1645920" cy="402336"/>
          </a:xfrm>
          <a:prstGeom prst="rect">
            <a:avLst/>
          </a:prstGeom>
          <a:noFill/>
          <a:ln/>
        </p:spPr>
        <p:txBody>
          <a:bodyPr wrap="square" lIns="0" tIns="0" rIns="0" bIns="0" rtlCol="0" anchor="t"/>
          <a:lstStyle/>
          <a:p>
            <a:pPr indent="0" marL="0">
              <a:buNone/>
            </a:pPr>
            <a:r>
              <a:rPr lang="en-US" sz="900" dirty="0">
                <a:solidFill>
                  <a:srgbClr val="334150"/>
                </a:solidFill>
                <a:latin typeface="Calibri" pitchFamily="34" charset="0"/>
                <a:ea typeface="Calibri" pitchFamily="34" charset="-122"/>
                <a:cs typeface="Calibri" pitchFamily="34" charset="-120"/>
              </a:rPr>
              <a:t>University benchmark, hot-rolled strip</a:t>
            </a:r>
            <a:endParaRPr lang="en-US" sz="900" dirty="0"/>
          </a:p>
        </p:txBody>
      </p:sp>
      <p:sp>
        <p:nvSpPr>
          <p:cNvPr id="25" name="Shape 22"/>
          <p:cNvSpPr/>
          <p:nvPr/>
        </p:nvSpPr>
        <p:spPr>
          <a:xfrm>
            <a:off x="2336292" y="1572768"/>
            <a:ext cx="1783080" cy="2148840"/>
          </a:xfrm>
          <a:prstGeom prst="roundRect">
            <a:avLst>
              <a:gd name="adj" fmla="val 3077"/>
            </a:avLst>
          </a:prstGeom>
          <a:solidFill>
            <a:srgbClr val="F1F4F7"/>
          </a:solidFill>
          <a:ln w="12700">
            <a:solidFill>
              <a:srgbClr val="F1F4F7"/>
            </a:solidFill>
            <a:prstDash val="solid"/>
          </a:ln>
        </p:spPr>
      </p:sp>
      <p:sp>
        <p:nvSpPr>
          <p:cNvPr id="26" name="Shape 23"/>
          <p:cNvSpPr/>
          <p:nvPr/>
        </p:nvSpPr>
        <p:spPr>
          <a:xfrm>
            <a:off x="2427732" y="1645920"/>
            <a:ext cx="1600200" cy="1078992"/>
          </a:xfrm>
          <a:prstGeom prst="rect">
            <a:avLst/>
          </a:prstGeom>
          <a:solidFill>
            <a:srgbClr val="FFFFFF"/>
          </a:solidFill>
          <a:ln w="12700">
            <a:solidFill>
              <a:srgbClr val="FFFFFF"/>
            </a:solidFill>
            <a:prstDash val="solid"/>
          </a:ln>
        </p:spPr>
      </p:sp>
      <p:pic>
        <p:nvPicPr>
          <p:cNvPr id="27" name="Image 1" descr="img/proof_severstal.png">    </p:cNvPr>
          <p:cNvPicPr>
            <a:picLocks noChangeAspect="1"/>
          </p:cNvPicPr>
          <p:nvPr/>
        </p:nvPicPr>
        <p:blipFill>
          <a:blip r:embed="rId2"/>
          <a:stretch>
            <a:fillRect/>
          </a:stretch>
        </p:blipFill>
        <p:spPr>
          <a:xfrm>
            <a:off x="2724912" y="1682496"/>
            <a:ext cx="1005840" cy="1005840"/>
          </a:xfrm>
          <a:prstGeom prst="rect">
            <a:avLst/>
          </a:prstGeom>
        </p:spPr>
      </p:pic>
      <p:sp>
        <p:nvSpPr>
          <p:cNvPr id="28" name="Text 24"/>
          <p:cNvSpPr txBox="1"/>
          <p:nvPr/>
        </p:nvSpPr>
        <p:spPr>
          <a:xfrm>
            <a:off x="2427732" y="2788920"/>
            <a:ext cx="1600200" cy="237744"/>
          </a:xfrm>
          <a:prstGeom prst="rect">
            <a:avLst/>
          </a:prstGeom>
          <a:noFill/>
          <a:ln/>
        </p:spPr>
        <p:txBody>
          <a:bodyPr wrap="square" lIns="0" tIns="0" rIns="0" bIns="0" rtlCol="0" anchor="t"/>
          <a:lstStyle/>
          <a:p>
            <a:pPr indent="0" marL="0">
              <a:buNone/>
            </a:pPr>
            <a:r>
              <a:rPr lang="en-US" sz="1100" b="1" dirty="0">
                <a:solidFill>
                  <a:srgbClr val="143A5A"/>
                </a:solidFill>
                <a:latin typeface="Calibri" pitchFamily="34" charset="0"/>
                <a:ea typeface="Calibri" pitchFamily="34" charset="-122"/>
                <a:cs typeface="Calibri" pitchFamily="34" charset="-120"/>
              </a:rPr>
              <a:t>Severstal</a:t>
            </a:r>
            <a:endParaRPr lang="en-US" sz="1100" dirty="0"/>
          </a:p>
        </p:txBody>
      </p:sp>
      <p:sp>
        <p:nvSpPr>
          <p:cNvPr id="29" name="Text 25"/>
          <p:cNvSpPr txBox="1"/>
          <p:nvPr/>
        </p:nvSpPr>
        <p:spPr>
          <a:xfrm>
            <a:off x="2427732" y="3026664"/>
            <a:ext cx="1645920" cy="219456"/>
          </a:xfrm>
          <a:prstGeom prst="rect">
            <a:avLst/>
          </a:prstGeom>
          <a:noFill/>
          <a:ln/>
        </p:spPr>
        <p:txBody>
          <a:bodyPr wrap="square" lIns="0" tIns="0" rIns="0" bIns="0" rtlCol="0" anchor="t"/>
          <a:lstStyle/>
          <a:p>
            <a:pPr indent="0" marL="0">
              <a:buNone/>
            </a:pPr>
            <a:r>
              <a:rPr lang="en-US" sz="950" b="1" dirty="0">
                <a:solidFill>
                  <a:srgbClr val="0086C3"/>
                </a:solidFill>
                <a:latin typeface="Calibri" pitchFamily="34" charset="0"/>
                <a:ea typeface="Calibri" pitchFamily="34" charset="-122"/>
                <a:cs typeface="Calibri" pitchFamily="34" charset="-120"/>
              </a:rPr>
              <a:t>12,568 real mill frames</a:t>
            </a:r>
            <a:endParaRPr lang="en-US" sz="950" dirty="0"/>
          </a:p>
        </p:txBody>
      </p:sp>
      <p:sp>
        <p:nvSpPr>
          <p:cNvPr id="30" name="Text 26"/>
          <p:cNvSpPr txBox="1"/>
          <p:nvPr/>
        </p:nvSpPr>
        <p:spPr>
          <a:xfrm>
            <a:off x="2427732" y="3255264"/>
            <a:ext cx="1645920" cy="402336"/>
          </a:xfrm>
          <a:prstGeom prst="rect">
            <a:avLst/>
          </a:prstGeom>
          <a:noFill/>
          <a:ln/>
        </p:spPr>
        <p:txBody>
          <a:bodyPr wrap="square" lIns="0" tIns="0" rIns="0" bIns="0" rtlCol="0" anchor="t"/>
          <a:lstStyle/>
          <a:p>
            <a:pPr indent="0" marL="0">
              <a:buNone/>
            </a:pPr>
            <a:r>
              <a:rPr lang="en-US" sz="900" dirty="0">
                <a:solidFill>
                  <a:srgbClr val="334150"/>
                </a:solidFill>
                <a:latin typeface="Calibri" pitchFamily="34" charset="0"/>
                <a:ea typeface="Calibri" pitchFamily="34" charset="-122"/>
                <a:cs typeface="Calibri" pitchFamily="34" charset="-120"/>
              </a:rPr>
              <a:t>Production strip from a steel mill</a:t>
            </a:r>
            <a:endParaRPr lang="en-US" sz="900" dirty="0"/>
          </a:p>
        </p:txBody>
      </p:sp>
      <p:sp>
        <p:nvSpPr>
          <p:cNvPr id="31" name="Shape 27"/>
          <p:cNvSpPr/>
          <p:nvPr/>
        </p:nvSpPr>
        <p:spPr>
          <a:xfrm>
            <a:off x="4215384" y="1572768"/>
            <a:ext cx="1783080" cy="2148840"/>
          </a:xfrm>
          <a:prstGeom prst="roundRect">
            <a:avLst>
              <a:gd name="adj" fmla="val 3077"/>
            </a:avLst>
          </a:prstGeom>
          <a:solidFill>
            <a:srgbClr val="F1F4F7"/>
          </a:solidFill>
          <a:ln w="12700">
            <a:solidFill>
              <a:srgbClr val="F1F4F7"/>
            </a:solidFill>
            <a:prstDash val="solid"/>
          </a:ln>
        </p:spPr>
      </p:sp>
      <p:sp>
        <p:nvSpPr>
          <p:cNvPr id="32" name="Shape 28"/>
          <p:cNvSpPr/>
          <p:nvPr/>
        </p:nvSpPr>
        <p:spPr>
          <a:xfrm>
            <a:off x="4306824" y="1645920"/>
            <a:ext cx="1600200" cy="1078992"/>
          </a:xfrm>
          <a:prstGeom prst="rect">
            <a:avLst/>
          </a:prstGeom>
          <a:solidFill>
            <a:srgbClr val="FFFFFF"/>
          </a:solidFill>
          <a:ln w="12700">
            <a:solidFill>
              <a:srgbClr val="FFFFFF"/>
            </a:solidFill>
            <a:prstDash val="solid"/>
          </a:ln>
        </p:spPr>
      </p:sp>
      <p:pic>
        <p:nvPicPr>
          <p:cNvPr id="33" name="Image 2" descr="img/proof_gc10.png">    </p:cNvPr>
          <p:cNvPicPr>
            <a:picLocks noChangeAspect="1"/>
          </p:cNvPicPr>
          <p:nvPr/>
        </p:nvPicPr>
        <p:blipFill>
          <a:blip r:embed="rId3"/>
          <a:stretch>
            <a:fillRect/>
          </a:stretch>
        </p:blipFill>
        <p:spPr>
          <a:xfrm>
            <a:off x="4306824" y="1645920"/>
            <a:ext cx="1600200" cy="1078992"/>
          </a:xfrm>
          <a:prstGeom prst="rect">
            <a:avLst/>
          </a:prstGeom>
        </p:spPr>
      </p:pic>
      <p:sp>
        <p:nvSpPr>
          <p:cNvPr id="34" name="Text 29"/>
          <p:cNvSpPr txBox="1"/>
          <p:nvPr/>
        </p:nvSpPr>
        <p:spPr>
          <a:xfrm>
            <a:off x="4306824" y="2788920"/>
            <a:ext cx="1600200" cy="237744"/>
          </a:xfrm>
          <a:prstGeom prst="rect">
            <a:avLst/>
          </a:prstGeom>
          <a:noFill/>
          <a:ln/>
        </p:spPr>
        <p:txBody>
          <a:bodyPr wrap="square" lIns="0" tIns="0" rIns="0" bIns="0" rtlCol="0" anchor="t"/>
          <a:lstStyle/>
          <a:p>
            <a:pPr indent="0" marL="0">
              <a:buNone/>
            </a:pPr>
            <a:r>
              <a:rPr lang="en-US" sz="1100" b="1" dirty="0">
                <a:solidFill>
                  <a:srgbClr val="143A5A"/>
                </a:solidFill>
                <a:latin typeface="Calibri" pitchFamily="34" charset="0"/>
                <a:ea typeface="Calibri" pitchFamily="34" charset="-122"/>
                <a:cs typeface="Calibri" pitchFamily="34" charset="-120"/>
              </a:rPr>
              <a:t>GC10-DET</a:t>
            </a:r>
            <a:endParaRPr lang="en-US" sz="1100" dirty="0"/>
          </a:p>
        </p:txBody>
      </p:sp>
      <p:sp>
        <p:nvSpPr>
          <p:cNvPr id="35" name="Text 30"/>
          <p:cNvSpPr txBox="1"/>
          <p:nvPr/>
        </p:nvSpPr>
        <p:spPr>
          <a:xfrm>
            <a:off x="4306824" y="3026664"/>
            <a:ext cx="1645920" cy="219456"/>
          </a:xfrm>
          <a:prstGeom prst="rect">
            <a:avLst/>
          </a:prstGeom>
          <a:noFill/>
          <a:ln/>
        </p:spPr>
        <p:txBody>
          <a:bodyPr wrap="square" lIns="0" tIns="0" rIns="0" bIns="0" rtlCol="0" anchor="t"/>
          <a:lstStyle/>
          <a:p>
            <a:pPr indent="0" marL="0">
              <a:buNone/>
            </a:pPr>
            <a:r>
              <a:rPr lang="en-US" sz="950" b="1" dirty="0">
                <a:solidFill>
                  <a:srgbClr val="0086C3"/>
                </a:solidFill>
                <a:latin typeface="Calibri" pitchFamily="34" charset="0"/>
                <a:ea typeface="Calibri" pitchFamily="34" charset="-122"/>
                <a:cs typeface="Calibri" pitchFamily="34" charset="-120"/>
              </a:rPr>
              <a:t>2,294 frames, 10 types</a:t>
            </a:r>
            <a:endParaRPr lang="en-US" sz="950" dirty="0"/>
          </a:p>
        </p:txBody>
      </p:sp>
      <p:sp>
        <p:nvSpPr>
          <p:cNvPr id="36" name="Text 31"/>
          <p:cNvSpPr txBox="1"/>
          <p:nvPr/>
        </p:nvSpPr>
        <p:spPr>
          <a:xfrm>
            <a:off x="4306824" y="3255264"/>
            <a:ext cx="1645920" cy="402336"/>
          </a:xfrm>
          <a:prstGeom prst="rect">
            <a:avLst/>
          </a:prstGeom>
          <a:noFill/>
          <a:ln/>
        </p:spPr>
        <p:txBody>
          <a:bodyPr wrap="square" lIns="0" tIns="0" rIns="0" bIns="0" rtlCol="0" anchor="t"/>
          <a:lstStyle/>
          <a:p>
            <a:pPr indent="0" marL="0">
              <a:buNone/>
            </a:pPr>
            <a:r>
              <a:rPr lang="en-US" sz="900" dirty="0">
                <a:solidFill>
                  <a:srgbClr val="334150"/>
                </a:solidFill>
                <a:latin typeface="Calibri" pitchFamily="34" charset="0"/>
                <a:ea typeface="Calibri" pitchFamily="34" charset="-122"/>
                <a:cs typeface="Calibri" pitchFamily="34" charset="-120"/>
              </a:rPr>
              <a:t>Full-width line-scan camera frames (roll marks shown)</a:t>
            </a:r>
            <a:endParaRPr lang="en-US" sz="900" dirty="0"/>
          </a:p>
        </p:txBody>
      </p:sp>
      <p:sp>
        <p:nvSpPr>
          <p:cNvPr id="37" name="Shape 32"/>
          <p:cNvSpPr/>
          <p:nvPr/>
        </p:nvSpPr>
        <p:spPr>
          <a:xfrm>
            <a:off x="6190488" y="1234440"/>
            <a:ext cx="5541264" cy="274320"/>
          </a:xfrm>
          <a:prstGeom prst="rect">
            <a:avLst/>
          </a:prstGeom>
          <a:solidFill>
            <a:srgbClr val="2B5B80"/>
          </a:solidFill>
          <a:ln w="12700">
            <a:solidFill>
              <a:srgbClr val="2B5B80"/>
            </a:solidFill>
            <a:prstDash val="solid"/>
          </a:ln>
        </p:spPr>
      </p:sp>
      <p:sp>
        <p:nvSpPr>
          <p:cNvPr id="38" name="Text 33"/>
          <p:cNvSpPr txBox="1"/>
          <p:nvPr/>
        </p:nvSpPr>
        <p:spPr>
          <a:xfrm>
            <a:off x="6281928" y="1234440"/>
            <a:ext cx="5358384" cy="274320"/>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How well it finds each defect type (accuracy, held-out images)</a:t>
            </a:r>
            <a:endParaRPr lang="en-US" sz="1100" dirty="0"/>
          </a:p>
        </p:txBody>
      </p:sp>
      <p:sp>
        <p:nvSpPr>
          <p:cNvPr id="39" name="Shape 34"/>
          <p:cNvSpPr/>
          <p:nvPr/>
        </p:nvSpPr>
        <p:spPr>
          <a:xfrm>
            <a:off x="10085832" y="1591056"/>
            <a:ext cx="356616" cy="2011680"/>
          </a:xfrm>
          <a:prstGeom prst="rect">
            <a:avLst/>
          </a:prstGeom>
          <a:solidFill>
            <a:srgbClr val="E4EEF6"/>
          </a:solidFill>
          <a:ln w="12700">
            <a:solidFill>
              <a:srgbClr val="E4EEF6"/>
            </a:solidFill>
            <a:prstDash val="solid"/>
          </a:ln>
        </p:spPr>
      </p:sp>
      <p:sp>
        <p:nvSpPr>
          <p:cNvPr id="40" name="Text 35"/>
          <p:cNvSpPr txBox="1"/>
          <p:nvPr/>
        </p:nvSpPr>
        <p:spPr>
          <a:xfrm>
            <a:off x="9811512" y="3584448"/>
            <a:ext cx="905256" cy="164592"/>
          </a:xfrm>
          <a:prstGeom prst="rect">
            <a:avLst/>
          </a:prstGeom>
          <a:noFill/>
          <a:ln/>
        </p:spPr>
        <p:txBody>
          <a:bodyPr wrap="square" lIns="0" tIns="0" rIns="0" bIns="0" rtlCol="0" anchor="t"/>
          <a:lstStyle/>
          <a:p>
            <a:pPr algn="ctr" indent="0" marL="0">
              <a:buNone/>
            </a:pPr>
            <a:r>
              <a:rPr lang="en-US" sz="900" dirty="0">
                <a:solidFill>
                  <a:srgbClr val="5F6B78"/>
                </a:solidFill>
                <a:latin typeface="Calibri" pitchFamily="34" charset="0"/>
                <a:ea typeface="Calibri" pitchFamily="34" charset="-122"/>
                <a:cs typeface="Calibri" pitchFamily="34" charset="-120"/>
              </a:rPr>
              <a:t>published range</a:t>
            </a:r>
            <a:endParaRPr lang="en-US" sz="900" dirty="0"/>
          </a:p>
        </p:txBody>
      </p:sp>
      <p:sp>
        <p:nvSpPr>
          <p:cNvPr id="41" name="Text 36"/>
          <p:cNvSpPr txBox="1"/>
          <p:nvPr/>
        </p:nvSpPr>
        <p:spPr>
          <a:xfrm>
            <a:off x="6281928" y="1645920"/>
            <a:ext cx="1280160" cy="256032"/>
          </a:xfrm>
          <a:prstGeom prst="rect">
            <a:avLst/>
          </a:prstGeom>
          <a:noFill/>
          <a:ln/>
        </p:spPr>
        <p:txBody>
          <a:bodyPr wrap="square" lIns="0" tIns="0" rIns="0" bIns="0" rtlCol="0" anchor="ctr"/>
          <a:lstStyle/>
          <a:p>
            <a:pPr indent="0" marL="0">
              <a:buNone/>
            </a:pPr>
            <a:r>
              <a:rPr lang="en-US" sz="1000" dirty="0">
                <a:solidFill>
                  <a:srgbClr val="141C24"/>
                </a:solidFill>
                <a:latin typeface="Calibri" pitchFamily="34" charset="0"/>
                <a:ea typeface="Calibri" pitchFamily="34" charset="-122"/>
                <a:cs typeface="Calibri" pitchFamily="34" charset="-120"/>
              </a:rPr>
              <a:t>Patches</a:t>
            </a:r>
            <a:endParaRPr lang="en-US" sz="1000" dirty="0"/>
          </a:p>
        </p:txBody>
      </p:sp>
      <p:sp>
        <p:nvSpPr>
          <p:cNvPr id="42" name="Shape 37"/>
          <p:cNvSpPr/>
          <p:nvPr/>
        </p:nvSpPr>
        <p:spPr>
          <a:xfrm>
            <a:off x="7589520" y="1691640"/>
            <a:ext cx="3359323" cy="173736"/>
          </a:xfrm>
          <a:prstGeom prst="rect">
            <a:avLst/>
          </a:prstGeom>
          <a:solidFill>
            <a:srgbClr val="0086C3"/>
          </a:solidFill>
          <a:ln w="12700">
            <a:solidFill>
              <a:srgbClr val="0086C3"/>
            </a:solidFill>
            <a:prstDash val="solid"/>
          </a:ln>
        </p:spPr>
      </p:sp>
      <p:sp>
        <p:nvSpPr>
          <p:cNvPr id="43" name="Text 38"/>
          <p:cNvSpPr txBox="1"/>
          <p:nvPr/>
        </p:nvSpPr>
        <p:spPr>
          <a:xfrm>
            <a:off x="11003707" y="1645920"/>
            <a:ext cx="457200" cy="256032"/>
          </a:xfrm>
          <a:prstGeom prst="rect">
            <a:avLst/>
          </a:prstGeom>
          <a:noFill/>
          <a:ln/>
        </p:spPr>
        <p:txBody>
          <a:bodyPr wrap="square" lIns="0" tIns="0" rIns="0" bIns="0" rtlCol="0" anchor="ctr"/>
          <a:lstStyle/>
          <a:p>
            <a:pPr indent="0" marL="0">
              <a:buNone/>
            </a:pPr>
            <a:r>
              <a:rPr lang="en-US" sz="1000" b="1" dirty="0">
                <a:solidFill>
                  <a:srgbClr val="141C24"/>
                </a:solidFill>
                <a:latin typeface="Calibri" pitchFamily="34" charset="0"/>
                <a:ea typeface="Calibri" pitchFamily="34" charset="-122"/>
                <a:cs typeface="Calibri" pitchFamily="34" charset="-120"/>
              </a:rPr>
              <a:t>0.94</a:t>
            </a:r>
            <a:endParaRPr lang="en-US" sz="1000" dirty="0"/>
          </a:p>
        </p:txBody>
      </p:sp>
      <p:sp>
        <p:nvSpPr>
          <p:cNvPr id="44" name="Text 39"/>
          <p:cNvSpPr txBox="1"/>
          <p:nvPr/>
        </p:nvSpPr>
        <p:spPr>
          <a:xfrm>
            <a:off x="6281928" y="1965960"/>
            <a:ext cx="1280160" cy="256032"/>
          </a:xfrm>
          <a:prstGeom prst="rect">
            <a:avLst/>
          </a:prstGeom>
          <a:noFill/>
          <a:ln/>
        </p:spPr>
        <p:txBody>
          <a:bodyPr wrap="square" lIns="0" tIns="0" rIns="0" bIns="0" rtlCol="0" anchor="ctr"/>
          <a:lstStyle/>
          <a:p>
            <a:pPr indent="0" marL="0">
              <a:buNone/>
            </a:pPr>
            <a:r>
              <a:rPr lang="en-US" sz="1000" dirty="0">
                <a:solidFill>
                  <a:srgbClr val="141C24"/>
                </a:solidFill>
                <a:latin typeface="Calibri" pitchFamily="34" charset="0"/>
                <a:ea typeface="Calibri" pitchFamily="34" charset="-122"/>
                <a:cs typeface="Calibri" pitchFamily="34" charset="-120"/>
              </a:rPr>
              <a:t>Inclusion</a:t>
            </a:r>
            <a:endParaRPr lang="en-US" sz="1000" dirty="0"/>
          </a:p>
        </p:txBody>
      </p:sp>
      <p:sp>
        <p:nvSpPr>
          <p:cNvPr id="45" name="Shape 40"/>
          <p:cNvSpPr/>
          <p:nvPr/>
        </p:nvSpPr>
        <p:spPr>
          <a:xfrm>
            <a:off x="7589520" y="2011680"/>
            <a:ext cx="2835097" cy="173736"/>
          </a:xfrm>
          <a:prstGeom prst="rect">
            <a:avLst/>
          </a:prstGeom>
          <a:solidFill>
            <a:srgbClr val="0086C3"/>
          </a:solidFill>
          <a:ln w="12700">
            <a:solidFill>
              <a:srgbClr val="0086C3"/>
            </a:solidFill>
            <a:prstDash val="solid"/>
          </a:ln>
        </p:spPr>
      </p:sp>
      <p:sp>
        <p:nvSpPr>
          <p:cNvPr id="46" name="Text 41"/>
          <p:cNvSpPr txBox="1"/>
          <p:nvPr/>
        </p:nvSpPr>
        <p:spPr>
          <a:xfrm>
            <a:off x="10479481" y="1965960"/>
            <a:ext cx="457200" cy="256032"/>
          </a:xfrm>
          <a:prstGeom prst="rect">
            <a:avLst/>
          </a:prstGeom>
          <a:noFill/>
          <a:ln/>
        </p:spPr>
        <p:txBody>
          <a:bodyPr wrap="square" lIns="0" tIns="0" rIns="0" bIns="0" rtlCol="0" anchor="ctr"/>
          <a:lstStyle/>
          <a:p>
            <a:pPr indent="0" marL="0">
              <a:buNone/>
            </a:pPr>
            <a:r>
              <a:rPr lang="en-US" sz="1000" b="1" dirty="0">
                <a:solidFill>
                  <a:srgbClr val="141C24"/>
                </a:solidFill>
                <a:latin typeface="Calibri" pitchFamily="34" charset="0"/>
                <a:ea typeface="Calibri" pitchFamily="34" charset="-122"/>
                <a:cs typeface="Calibri" pitchFamily="34" charset="-120"/>
              </a:rPr>
              <a:t>0.80</a:t>
            </a:r>
            <a:endParaRPr lang="en-US" sz="1000" dirty="0"/>
          </a:p>
        </p:txBody>
      </p:sp>
      <p:sp>
        <p:nvSpPr>
          <p:cNvPr id="47" name="Text 42"/>
          <p:cNvSpPr txBox="1"/>
          <p:nvPr/>
        </p:nvSpPr>
        <p:spPr>
          <a:xfrm>
            <a:off x="6281928" y="2286000"/>
            <a:ext cx="1280160" cy="256032"/>
          </a:xfrm>
          <a:prstGeom prst="rect">
            <a:avLst/>
          </a:prstGeom>
          <a:noFill/>
          <a:ln/>
        </p:spPr>
        <p:txBody>
          <a:bodyPr wrap="square" lIns="0" tIns="0" rIns="0" bIns="0" rtlCol="0" anchor="ctr"/>
          <a:lstStyle/>
          <a:p>
            <a:pPr indent="0" marL="0">
              <a:buNone/>
            </a:pPr>
            <a:r>
              <a:rPr lang="en-US" sz="1000" dirty="0">
                <a:solidFill>
                  <a:srgbClr val="141C24"/>
                </a:solidFill>
                <a:latin typeface="Calibri" pitchFamily="34" charset="0"/>
                <a:ea typeface="Calibri" pitchFamily="34" charset="-122"/>
                <a:cs typeface="Calibri" pitchFamily="34" charset="-120"/>
              </a:rPr>
              <a:t>Scratches</a:t>
            </a:r>
            <a:endParaRPr lang="en-US" sz="1000" dirty="0"/>
          </a:p>
        </p:txBody>
      </p:sp>
      <p:sp>
        <p:nvSpPr>
          <p:cNvPr id="48" name="Shape 43"/>
          <p:cNvSpPr/>
          <p:nvPr/>
        </p:nvSpPr>
        <p:spPr>
          <a:xfrm>
            <a:off x="7589520" y="2331720"/>
            <a:ext cx="2831531" cy="173736"/>
          </a:xfrm>
          <a:prstGeom prst="rect">
            <a:avLst/>
          </a:prstGeom>
          <a:solidFill>
            <a:srgbClr val="0086C3"/>
          </a:solidFill>
          <a:ln w="12700">
            <a:solidFill>
              <a:srgbClr val="0086C3"/>
            </a:solidFill>
            <a:prstDash val="solid"/>
          </a:ln>
        </p:spPr>
      </p:sp>
      <p:sp>
        <p:nvSpPr>
          <p:cNvPr id="49" name="Text 44"/>
          <p:cNvSpPr txBox="1"/>
          <p:nvPr/>
        </p:nvSpPr>
        <p:spPr>
          <a:xfrm>
            <a:off x="10475915" y="2286000"/>
            <a:ext cx="457200" cy="256032"/>
          </a:xfrm>
          <a:prstGeom prst="rect">
            <a:avLst/>
          </a:prstGeom>
          <a:noFill/>
          <a:ln/>
        </p:spPr>
        <p:txBody>
          <a:bodyPr wrap="square" lIns="0" tIns="0" rIns="0" bIns="0" rtlCol="0" anchor="ctr"/>
          <a:lstStyle/>
          <a:p>
            <a:pPr indent="0" marL="0">
              <a:buNone/>
            </a:pPr>
            <a:r>
              <a:rPr lang="en-US" sz="1000" b="1" dirty="0">
                <a:solidFill>
                  <a:srgbClr val="141C24"/>
                </a:solidFill>
                <a:latin typeface="Calibri" pitchFamily="34" charset="0"/>
                <a:ea typeface="Calibri" pitchFamily="34" charset="-122"/>
                <a:cs typeface="Calibri" pitchFamily="34" charset="-120"/>
              </a:rPr>
              <a:t>0.79</a:t>
            </a:r>
            <a:endParaRPr lang="en-US" sz="1000" dirty="0"/>
          </a:p>
        </p:txBody>
      </p:sp>
      <p:sp>
        <p:nvSpPr>
          <p:cNvPr id="50" name="Text 45"/>
          <p:cNvSpPr txBox="1"/>
          <p:nvPr/>
        </p:nvSpPr>
        <p:spPr>
          <a:xfrm>
            <a:off x="6281928" y="2606040"/>
            <a:ext cx="1280160" cy="256032"/>
          </a:xfrm>
          <a:prstGeom prst="rect">
            <a:avLst/>
          </a:prstGeom>
          <a:noFill/>
          <a:ln/>
        </p:spPr>
        <p:txBody>
          <a:bodyPr wrap="square" lIns="0" tIns="0" rIns="0" bIns="0" rtlCol="0" anchor="ctr"/>
          <a:lstStyle/>
          <a:p>
            <a:pPr indent="0" marL="0">
              <a:buNone/>
            </a:pPr>
            <a:r>
              <a:rPr lang="en-US" sz="1000" dirty="0">
                <a:solidFill>
                  <a:srgbClr val="141C24"/>
                </a:solidFill>
                <a:latin typeface="Calibri" pitchFamily="34" charset="0"/>
                <a:ea typeface="Calibri" pitchFamily="34" charset="-122"/>
                <a:cs typeface="Calibri" pitchFamily="34" charset="-120"/>
              </a:rPr>
              <a:t>Pitted surface</a:t>
            </a:r>
            <a:endParaRPr lang="en-US" sz="1000" dirty="0"/>
          </a:p>
        </p:txBody>
      </p:sp>
      <p:sp>
        <p:nvSpPr>
          <p:cNvPr id="51" name="Shape 46"/>
          <p:cNvSpPr/>
          <p:nvPr/>
        </p:nvSpPr>
        <p:spPr>
          <a:xfrm>
            <a:off x="7589520" y="2651760"/>
            <a:ext cx="2720980" cy="173736"/>
          </a:xfrm>
          <a:prstGeom prst="rect">
            <a:avLst/>
          </a:prstGeom>
          <a:solidFill>
            <a:srgbClr val="0086C3"/>
          </a:solidFill>
          <a:ln w="12700">
            <a:solidFill>
              <a:srgbClr val="0086C3"/>
            </a:solidFill>
            <a:prstDash val="solid"/>
          </a:ln>
        </p:spPr>
      </p:sp>
      <p:sp>
        <p:nvSpPr>
          <p:cNvPr id="52" name="Text 47"/>
          <p:cNvSpPr txBox="1"/>
          <p:nvPr/>
        </p:nvSpPr>
        <p:spPr>
          <a:xfrm>
            <a:off x="10365364" y="2606040"/>
            <a:ext cx="457200" cy="256032"/>
          </a:xfrm>
          <a:prstGeom prst="rect">
            <a:avLst/>
          </a:prstGeom>
          <a:noFill/>
          <a:ln/>
        </p:spPr>
        <p:txBody>
          <a:bodyPr wrap="square" lIns="0" tIns="0" rIns="0" bIns="0" rtlCol="0" anchor="ctr"/>
          <a:lstStyle/>
          <a:p>
            <a:pPr indent="0" marL="0">
              <a:buNone/>
            </a:pPr>
            <a:r>
              <a:rPr lang="en-US" sz="1000" b="1" dirty="0">
                <a:solidFill>
                  <a:srgbClr val="141C24"/>
                </a:solidFill>
                <a:latin typeface="Calibri" pitchFamily="34" charset="0"/>
                <a:ea typeface="Calibri" pitchFamily="34" charset="-122"/>
                <a:cs typeface="Calibri" pitchFamily="34" charset="-120"/>
              </a:rPr>
              <a:t>0.76</a:t>
            </a:r>
            <a:endParaRPr lang="en-US" sz="1000" dirty="0"/>
          </a:p>
        </p:txBody>
      </p:sp>
      <p:sp>
        <p:nvSpPr>
          <p:cNvPr id="53" name="Text 48"/>
          <p:cNvSpPr txBox="1"/>
          <p:nvPr/>
        </p:nvSpPr>
        <p:spPr>
          <a:xfrm>
            <a:off x="6281928" y="2926080"/>
            <a:ext cx="1280160" cy="256032"/>
          </a:xfrm>
          <a:prstGeom prst="rect">
            <a:avLst/>
          </a:prstGeom>
          <a:noFill/>
          <a:ln/>
        </p:spPr>
        <p:txBody>
          <a:bodyPr wrap="square" lIns="0" tIns="0" rIns="0" bIns="0" rtlCol="0" anchor="ctr"/>
          <a:lstStyle/>
          <a:p>
            <a:pPr indent="0" marL="0">
              <a:buNone/>
            </a:pPr>
            <a:r>
              <a:rPr lang="en-US" sz="1000" b="1" dirty="0">
                <a:solidFill>
                  <a:srgbClr val="141C24"/>
                </a:solidFill>
                <a:latin typeface="Calibri" pitchFamily="34" charset="0"/>
                <a:ea typeface="Calibri" pitchFamily="34" charset="-122"/>
                <a:cs typeface="Calibri" pitchFamily="34" charset="-120"/>
              </a:rPr>
              <a:t>Rolled-in scale</a:t>
            </a:r>
            <a:endParaRPr lang="en-US" sz="1000" dirty="0"/>
          </a:p>
        </p:txBody>
      </p:sp>
      <p:sp>
        <p:nvSpPr>
          <p:cNvPr id="54" name="Shape 49"/>
          <p:cNvSpPr/>
          <p:nvPr/>
        </p:nvSpPr>
        <p:spPr>
          <a:xfrm>
            <a:off x="7589520" y="2971800"/>
            <a:ext cx="2128998" cy="173736"/>
          </a:xfrm>
          <a:prstGeom prst="rect">
            <a:avLst/>
          </a:prstGeom>
          <a:solidFill>
            <a:srgbClr val="9AA7B4"/>
          </a:solidFill>
          <a:ln w="12700">
            <a:solidFill>
              <a:srgbClr val="9AA7B4"/>
            </a:solidFill>
            <a:prstDash val="solid"/>
          </a:ln>
        </p:spPr>
      </p:sp>
      <p:sp>
        <p:nvSpPr>
          <p:cNvPr id="55" name="Text 50"/>
          <p:cNvSpPr txBox="1"/>
          <p:nvPr/>
        </p:nvSpPr>
        <p:spPr>
          <a:xfrm>
            <a:off x="9773382" y="2926080"/>
            <a:ext cx="457200" cy="256032"/>
          </a:xfrm>
          <a:prstGeom prst="rect">
            <a:avLst/>
          </a:prstGeom>
          <a:noFill/>
          <a:ln/>
        </p:spPr>
        <p:txBody>
          <a:bodyPr wrap="square" lIns="0" tIns="0" rIns="0" bIns="0" rtlCol="0" anchor="ctr"/>
          <a:lstStyle/>
          <a:p>
            <a:pPr indent="0" marL="0">
              <a:buNone/>
            </a:pPr>
            <a:r>
              <a:rPr lang="en-US" sz="1000" b="1" dirty="0">
                <a:solidFill>
                  <a:srgbClr val="334150"/>
                </a:solidFill>
                <a:latin typeface="Calibri" pitchFamily="34" charset="0"/>
                <a:ea typeface="Calibri" pitchFamily="34" charset="-122"/>
                <a:cs typeface="Calibri" pitchFamily="34" charset="-120"/>
              </a:rPr>
              <a:t>0.60</a:t>
            </a:r>
            <a:endParaRPr lang="en-US" sz="1000" dirty="0"/>
          </a:p>
        </p:txBody>
      </p:sp>
      <p:sp>
        <p:nvSpPr>
          <p:cNvPr id="56" name="Text 51"/>
          <p:cNvSpPr txBox="1"/>
          <p:nvPr/>
        </p:nvSpPr>
        <p:spPr>
          <a:xfrm>
            <a:off x="6281928" y="3246120"/>
            <a:ext cx="1280160" cy="256032"/>
          </a:xfrm>
          <a:prstGeom prst="rect">
            <a:avLst/>
          </a:prstGeom>
          <a:noFill/>
          <a:ln/>
        </p:spPr>
        <p:txBody>
          <a:bodyPr wrap="square" lIns="0" tIns="0" rIns="0" bIns="0" rtlCol="0" anchor="ctr"/>
          <a:lstStyle/>
          <a:p>
            <a:pPr indent="0" marL="0">
              <a:buNone/>
            </a:pPr>
            <a:r>
              <a:rPr lang="en-US" sz="1000" b="1" dirty="0">
                <a:solidFill>
                  <a:srgbClr val="141C24"/>
                </a:solidFill>
                <a:latin typeface="Calibri" pitchFamily="34" charset="0"/>
                <a:ea typeface="Calibri" pitchFamily="34" charset="-122"/>
                <a:cs typeface="Calibri" pitchFamily="34" charset="-120"/>
              </a:rPr>
              <a:t>Crazing</a:t>
            </a:r>
            <a:endParaRPr lang="en-US" sz="1000" dirty="0"/>
          </a:p>
        </p:txBody>
      </p:sp>
      <p:sp>
        <p:nvSpPr>
          <p:cNvPr id="57" name="Shape 52"/>
          <p:cNvSpPr/>
          <p:nvPr/>
        </p:nvSpPr>
        <p:spPr>
          <a:xfrm>
            <a:off x="7589520" y="3291840"/>
            <a:ext cx="2071939" cy="173736"/>
          </a:xfrm>
          <a:prstGeom prst="rect">
            <a:avLst/>
          </a:prstGeom>
          <a:solidFill>
            <a:srgbClr val="9AA7B4"/>
          </a:solidFill>
          <a:ln w="12700">
            <a:solidFill>
              <a:srgbClr val="9AA7B4"/>
            </a:solidFill>
            <a:prstDash val="solid"/>
          </a:ln>
        </p:spPr>
      </p:sp>
      <p:sp>
        <p:nvSpPr>
          <p:cNvPr id="58" name="Text 53"/>
          <p:cNvSpPr txBox="1"/>
          <p:nvPr/>
        </p:nvSpPr>
        <p:spPr>
          <a:xfrm>
            <a:off x="9716323" y="3246120"/>
            <a:ext cx="457200" cy="256032"/>
          </a:xfrm>
          <a:prstGeom prst="rect">
            <a:avLst/>
          </a:prstGeom>
          <a:noFill/>
          <a:ln/>
        </p:spPr>
        <p:txBody>
          <a:bodyPr wrap="square" lIns="0" tIns="0" rIns="0" bIns="0" rtlCol="0" anchor="ctr"/>
          <a:lstStyle/>
          <a:p>
            <a:pPr indent="0" marL="0">
              <a:buNone/>
            </a:pPr>
            <a:r>
              <a:rPr lang="en-US" sz="1000" b="1" dirty="0">
                <a:solidFill>
                  <a:srgbClr val="334150"/>
                </a:solidFill>
                <a:latin typeface="Calibri" pitchFamily="34" charset="0"/>
                <a:ea typeface="Calibri" pitchFamily="34" charset="-122"/>
                <a:cs typeface="Calibri" pitchFamily="34" charset="-120"/>
              </a:rPr>
              <a:t>0.58</a:t>
            </a:r>
            <a:endParaRPr lang="en-US" sz="1000" dirty="0"/>
          </a:p>
        </p:txBody>
      </p:sp>
      <p:sp>
        <p:nvSpPr>
          <p:cNvPr id="59" name="Shape 54"/>
          <p:cNvSpPr/>
          <p:nvPr/>
        </p:nvSpPr>
        <p:spPr>
          <a:xfrm>
            <a:off x="457200" y="3886200"/>
            <a:ext cx="5541264" cy="274320"/>
          </a:xfrm>
          <a:prstGeom prst="rect">
            <a:avLst/>
          </a:prstGeom>
          <a:solidFill>
            <a:srgbClr val="2B5B80"/>
          </a:solidFill>
          <a:ln w="12700">
            <a:solidFill>
              <a:srgbClr val="2B5B80"/>
            </a:solidFill>
            <a:prstDash val="solid"/>
          </a:ln>
        </p:spPr>
      </p:sp>
      <p:sp>
        <p:nvSpPr>
          <p:cNvPr id="60" name="Text 55"/>
          <p:cNvSpPr txBox="1"/>
          <p:nvPr/>
        </p:nvSpPr>
        <p:spPr>
          <a:xfrm>
            <a:off x="548640" y="3886200"/>
            <a:ext cx="5358384" cy="274320"/>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Headline results</a:t>
            </a:r>
            <a:endParaRPr lang="en-US" sz="1100" dirty="0"/>
          </a:p>
        </p:txBody>
      </p:sp>
      <p:sp>
        <p:nvSpPr>
          <p:cNvPr id="61" name="Shape 56"/>
          <p:cNvSpPr/>
          <p:nvPr/>
        </p:nvSpPr>
        <p:spPr>
          <a:xfrm>
            <a:off x="457200" y="4224528"/>
            <a:ext cx="1783080" cy="1645920"/>
          </a:xfrm>
          <a:prstGeom prst="roundRect">
            <a:avLst>
              <a:gd name="adj" fmla="val 3333"/>
            </a:avLst>
          </a:prstGeom>
          <a:solidFill>
            <a:srgbClr val="F1F4F7"/>
          </a:solidFill>
          <a:ln w="12700">
            <a:solidFill>
              <a:srgbClr val="F1F4F7"/>
            </a:solidFill>
            <a:prstDash val="solid"/>
          </a:ln>
        </p:spPr>
      </p:sp>
      <p:sp>
        <p:nvSpPr>
          <p:cNvPr id="62" name="Shape 57"/>
          <p:cNvSpPr/>
          <p:nvPr/>
        </p:nvSpPr>
        <p:spPr>
          <a:xfrm>
            <a:off x="566928" y="4315968"/>
            <a:ext cx="402336" cy="402336"/>
          </a:xfrm>
          <a:prstGeom prst="ellipse">
            <a:avLst/>
          </a:prstGeom>
          <a:solidFill>
            <a:srgbClr val="143A5A"/>
          </a:solidFill>
          <a:ln w="12700">
            <a:solidFill>
              <a:srgbClr val="143A5A"/>
            </a:solidFill>
            <a:prstDash val="solid"/>
          </a:ln>
        </p:spPr>
      </p:sp>
      <p:pic>
        <p:nvPicPr>
          <p:cNvPr id="63" name="Image 3" descr="img/icons/target-white.png">    </p:cNvPr>
          <p:cNvPicPr>
            <a:picLocks noChangeAspect="1"/>
          </p:cNvPicPr>
          <p:nvPr/>
        </p:nvPicPr>
        <p:blipFill>
          <a:blip r:embed="rId4"/>
          <a:stretch>
            <a:fillRect/>
          </a:stretch>
        </p:blipFill>
        <p:spPr>
          <a:xfrm>
            <a:off x="655442" y="4404482"/>
            <a:ext cx="225308" cy="225308"/>
          </a:xfrm>
          <a:prstGeom prst="rect">
            <a:avLst/>
          </a:prstGeom>
        </p:spPr>
      </p:pic>
      <p:sp>
        <p:nvSpPr>
          <p:cNvPr id="64" name="Text 58"/>
          <p:cNvSpPr txBox="1"/>
          <p:nvPr/>
        </p:nvSpPr>
        <p:spPr>
          <a:xfrm>
            <a:off x="566928" y="4773168"/>
            <a:ext cx="1645920" cy="402336"/>
          </a:xfrm>
          <a:prstGeom prst="rect">
            <a:avLst/>
          </a:prstGeom>
          <a:noFill/>
          <a:ln/>
        </p:spPr>
        <p:txBody>
          <a:bodyPr wrap="square" lIns="0" tIns="0" rIns="0" bIns="0" rtlCol="0" anchor="ctr"/>
          <a:lstStyle/>
          <a:p>
            <a:pPr indent="0" marL="0">
              <a:buNone/>
            </a:pPr>
            <a:r>
              <a:rPr lang="en-US" sz="2000" b="1" dirty="0">
                <a:solidFill>
                  <a:srgbClr val="143A5A"/>
                </a:solidFill>
                <a:latin typeface="Calibri" pitchFamily="34" charset="0"/>
                <a:ea typeface="Calibri" pitchFamily="34" charset="-122"/>
                <a:cs typeface="Calibri" pitchFamily="34" charset="-120"/>
              </a:rPr>
              <a:t>178 of 180</a:t>
            </a:r>
            <a:endParaRPr lang="en-US" sz="2000" dirty="0"/>
          </a:p>
        </p:txBody>
      </p:sp>
      <p:sp>
        <p:nvSpPr>
          <p:cNvPr id="65" name="Text 59"/>
          <p:cNvSpPr txBox="1"/>
          <p:nvPr/>
        </p:nvSpPr>
        <p:spPr>
          <a:xfrm>
            <a:off x="566928" y="5193792"/>
            <a:ext cx="1600200" cy="603504"/>
          </a:xfrm>
          <a:prstGeom prst="rect">
            <a:avLst/>
          </a:prstGeom>
          <a:noFill/>
          <a:ln/>
        </p:spPr>
        <p:txBody>
          <a:bodyPr wrap="square" lIns="0" tIns="0" rIns="0" bIns="0" rtlCol="0" anchor="t"/>
          <a:lstStyle/>
          <a:p>
            <a:pPr indent="0" marL="0">
              <a:buNone/>
            </a:pPr>
            <a:r>
              <a:rPr lang="en-US" sz="950" dirty="0">
                <a:solidFill>
                  <a:srgbClr val="334150"/>
                </a:solidFill>
                <a:latin typeface="Calibri" pitchFamily="34" charset="0"/>
                <a:ea typeface="Calibri" pitchFamily="34" charset="-122"/>
                <a:cs typeface="Calibri" pitchFamily="34" charset="-120"/>
              </a:rPr>
              <a:t>test images: the right defect type named</a:t>
            </a:r>
            <a:endParaRPr lang="en-US" sz="950" dirty="0"/>
          </a:p>
        </p:txBody>
      </p:sp>
      <p:sp>
        <p:nvSpPr>
          <p:cNvPr id="66" name="Shape 60"/>
          <p:cNvSpPr/>
          <p:nvPr/>
        </p:nvSpPr>
        <p:spPr>
          <a:xfrm>
            <a:off x="2336292" y="4224528"/>
            <a:ext cx="1783080" cy="1645920"/>
          </a:xfrm>
          <a:prstGeom prst="roundRect">
            <a:avLst>
              <a:gd name="adj" fmla="val 3333"/>
            </a:avLst>
          </a:prstGeom>
          <a:solidFill>
            <a:srgbClr val="F1F4F7"/>
          </a:solidFill>
          <a:ln w="12700">
            <a:solidFill>
              <a:srgbClr val="F1F4F7"/>
            </a:solidFill>
            <a:prstDash val="solid"/>
          </a:ln>
        </p:spPr>
      </p:sp>
      <p:sp>
        <p:nvSpPr>
          <p:cNvPr id="67" name="Shape 61"/>
          <p:cNvSpPr/>
          <p:nvPr/>
        </p:nvSpPr>
        <p:spPr>
          <a:xfrm>
            <a:off x="2446020" y="4315968"/>
            <a:ext cx="402336" cy="402336"/>
          </a:xfrm>
          <a:prstGeom prst="ellipse">
            <a:avLst/>
          </a:prstGeom>
          <a:solidFill>
            <a:srgbClr val="143A5A"/>
          </a:solidFill>
          <a:ln w="12700">
            <a:solidFill>
              <a:srgbClr val="143A5A"/>
            </a:solidFill>
            <a:prstDash val="solid"/>
          </a:ln>
        </p:spPr>
      </p:sp>
      <p:pic>
        <p:nvPicPr>
          <p:cNvPr id="68" name="Image 4" descr="img/icons/gauge-white.png">    </p:cNvPr>
          <p:cNvPicPr>
            <a:picLocks noChangeAspect="1"/>
          </p:cNvPicPr>
          <p:nvPr/>
        </p:nvPicPr>
        <p:blipFill>
          <a:blip r:embed="rId5"/>
          <a:stretch>
            <a:fillRect/>
          </a:stretch>
        </p:blipFill>
        <p:spPr>
          <a:xfrm>
            <a:off x="2534534" y="4404482"/>
            <a:ext cx="225308" cy="225308"/>
          </a:xfrm>
          <a:prstGeom prst="rect">
            <a:avLst/>
          </a:prstGeom>
        </p:spPr>
      </p:pic>
      <p:sp>
        <p:nvSpPr>
          <p:cNvPr id="69" name="Text 62"/>
          <p:cNvSpPr txBox="1"/>
          <p:nvPr/>
        </p:nvSpPr>
        <p:spPr>
          <a:xfrm>
            <a:off x="2446020" y="4773168"/>
            <a:ext cx="1645920" cy="402336"/>
          </a:xfrm>
          <a:prstGeom prst="rect">
            <a:avLst/>
          </a:prstGeom>
          <a:noFill/>
          <a:ln/>
        </p:spPr>
        <p:txBody>
          <a:bodyPr wrap="square" lIns="0" tIns="0" rIns="0" bIns="0" rtlCol="0" anchor="ctr"/>
          <a:lstStyle/>
          <a:p>
            <a:pPr indent="0" marL="0">
              <a:buNone/>
            </a:pPr>
            <a:r>
              <a:rPr lang="en-US" sz="2000" b="1" dirty="0">
                <a:solidFill>
                  <a:srgbClr val="143A5A"/>
                </a:solidFill>
                <a:latin typeface="Calibri" pitchFamily="34" charset="0"/>
                <a:ea typeface="Calibri" pitchFamily="34" charset="-122"/>
                <a:cs typeface="Calibri" pitchFamily="34" charset="-120"/>
              </a:rPr>
              <a:t>~55 ms</a:t>
            </a:r>
            <a:endParaRPr lang="en-US" sz="2000" dirty="0"/>
          </a:p>
        </p:txBody>
      </p:sp>
      <p:sp>
        <p:nvSpPr>
          <p:cNvPr id="70" name="Text 63"/>
          <p:cNvSpPr txBox="1"/>
          <p:nvPr/>
        </p:nvSpPr>
        <p:spPr>
          <a:xfrm>
            <a:off x="2446020" y="5193792"/>
            <a:ext cx="1600200" cy="603504"/>
          </a:xfrm>
          <a:prstGeom prst="rect">
            <a:avLst/>
          </a:prstGeom>
          <a:noFill/>
          <a:ln/>
        </p:spPr>
        <p:txBody>
          <a:bodyPr wrap="square" lIns="0" tIns="0" rIns="0" bIns="0" rtlCol="0" anchor="t"/>
          <a:lstStyle/>
          <a:p>
            <a:pPr indent="0" marL="0">
              <a:buNone/>
            </a:pPr>
            <a:r>
              <a:rPr lang="en-US" sz="950" dirty="0">
                <a:solidFill>
                  <a:srgbClr val="334150"/>
                </a:solidFill>
                <a:latin typeface="Calibri" pitchFamily="34" charset="0"/>
                <a:ea typeface="Calibri" pitchFamily="34" charset="-122"/>
                <a:cs typeface="Calibri" pitchFamily="34" charset="-120"/>
              </a:rPr>
              <a:t>per image, running in an ordinary laptop browser</a:t>
            </a:r>
            <a:endParaRPr lang="en-US" sz="950" dirty="0"/>
          </a:p>
        </p:txBody>
      </p:sp>
      <p:sp>
        <p:nvSpPr>
          <p:cNvPr id="71" name="Shape 64"/>
          <p:cNvSpPr/>
          <p:nvPr/>
        </p:nvSpPr>
        <p:spPr>
          <a:xfrm>
            <a:off x="4215384" y="4224528"/>
            <a:ext cx="1783080" cy="1645920"/>
          </a:xfrm>
          <a:prstGeom prst="roundRect">
            <a:avLst>
              <a:gd name="adj" fmla="val 3333"/>
            </a:avLst>
          </a:prstGeom>
          <a:solidFill>
            <a:srgbClr val="F1F4F7"/>
          </a:solidFill>
          <a:ln w="12700">
            <a:solidFill>
              <a:srgbClr val="F1F4F7"/>
            </a:solidFill>
            <a:prstDash val="solid"/>
          </a:ln>
        </p:spPr>
      </p:sp>
      <p:sp>
        <p:nvSpPr>
          <p:cNvPr id="72" name="Shape 65"/>
          <p:cNvSpPr/>
          <p:nvPr/>
        </p:nvSpPr>
        <p:spPr>
          <a:xfrm>
            <a:off x="4325112" y="4315968"/>
            <a:ext cx="402336" cy="402336"/>
          </a:xfrm>
          <a:prstGeom prst="ellipse">
            <a:avLst/>
          </a:prstGeom>
          <a:solidFill>
            <a:srgbClr val="143A5A"/>
          </a:solidFill>
          <a:ln w="12700">
            <a:solidFill>
              <a:srgbClr val="143A5A"/>
            </a:solidFill>
            <a:prstDash val="solid"/>
          </a:ln>
        </p:spPr>
      </p:sp>
      <p:pic>
        <p:nvPicPr>
          <p:cNvPr id="73" name="Image 5" descr="img/icons/archive-white.png">    </p:cNvPr>
          <p:cNvPicPr>
            <a:picLocks noChangeAspect="1"/>
          </p:cNvPicPr>
          <p:nvPr/>
        </p:nvPicPr>
        <p:blipFill>
          <a:blip r:embed="rId6"/>
          <a:stretch>
            <a:fillRect/>
          </a:stretch>
        </p:blipFill>
        <p:spPr>
          <a:xfrm>
            <a:off x="4413626" y="4404482"/>
            <a:ext cx="225308" cy="225308"/>
          </a:xfrm>
          <a:prstGeom prst="rect">
            <a:avLst/>
          </a:prstGeom>
        </p:spPr>
      </p:pic>
      <p:sp>
        <p:nvSpPr>
          <p:cNvPr id="74" name="Text 66"/>
          <p:cNvSpPr txBox="1"/>
          <p:nvPr/>
        </p:nvSpPr>
        <p:spPr>
          <a:xfrm>
            <a:off x="4325112" y="4773168"/>
            <a:ext cx="1645920" cy="402336"/>
          </a:xfrm>
          <a:prstGeom prst="rect">
            <a:avLst/>
          </a:prstGeom>
          <a:noFill/>
          <a:ln/>
        </p:spPr>
        <p:txBody>
          <a:bodyPr wrap="square" lIns="0" tIns="0" rIns="0" bIns="0" rtlCol="0" anchor="ctr"/>
          <a:lstStyle/>
          <a:p>
            <a:pPr indent="0" marL="0">
              <a:buNone/>
            </a:pPr>
            <a:r>
              <a:rPr lang="en-US" sz="2000" b="1" dirty="0">
                <a:solidFill>
                  <a:srgbClr val="143A5A"/>
                </a:solidFill>
                <a:latin typeface="Calibri" pitchFamily="34" charset="0"/>
                <a:ea typeface="Calibri" pitchFamily="34" charset="-122"/>
                <a:cs typeface="Calibri" pitchFamily="34" charset="-120"/>
              </a:rPr>
              <a:t>~10,100</a:t>
            </a:r>
            <a:endParaRPr lang="en-US" sz="2000" dirty="0"/>
          </a:p>
        </p:txBody>
      </p:sp>
      <p:sp>
        <p:nvSpPr>
          <p:cNvPr id="75" name="Text 67"/>
          <p:cNvSpPr txBox="1"/>
          <p:nvPr/>
        </p:nvSpPr>
        <p:spPr>
          <a:xfrm>
            <a:off x="4325112" y="5193792"/>
            <a:ext cx="1600200" cy="603504"/>
          </a:xfrm>
          <a:prstGeom prst="rect">
            <a:avLst/>
          </a:prstGeom>
          <a:noFill/>
          <a:ln/>
        </p:spPr>
        <p:txBody>
          <a:bodyPr wrap="square" lIns="0" tIns="0" rIns="0" bIns="0" rtlCol="0" anchor="t"/>
          <a:lstStyle/>
          <a:p>
            <a:pPr indent="0" marL="0">
              <a:buNone/>
            </a:pPr>
            <a:r>
              <a:rPr lang="en-US" sz="950" dirty="0">
                <a:solidFill>
                  <a:srgbClr val="334150"/>
                </a:solidFill>
                <a:latin typeface="Calibri" pitchFamily="34" charset="0"/>
                <a:ea typeface="Calibri" pitchFamily="34" charset="-122"/>
                <a:cs typeface="Calibri" pitchFamily="34" charset="-120"/>
              </a:rPr>
              <a:t>images across three datasets, for training and testing</a:t>
            </a:r>
            <a:endParaRPr lang="en-US" sz="950" dirty="0"/>
          </a:p>
        </p:txBody>
      </p:sp>
      <p:sp>
        <p:nvSpPr>
          <p:cNvPr id="76" name="Shape 68"/>
          <p:cNvSpPr/>
          <p:nvPr/>
        </p:nvSpPr>
        <p:spPr>
          <a:xfrm>
            <a:off x="6190488" y="3886200"/>
            <a:ext cx="5541264" cy="274320"/>
          </a:xfrm>
          <a:prstGeom prst="rect">
            <a:avLst/>
          </a:prstGeom>
          <a:solidFill>
            <a:srgbClr val="2B5B80"/>
          </a:solidFill>
          <a:ln w="12700">
            <a:solidFill>
              <a:srgbClr val="2B5B80"/>
            </a:solidFill>
            <a:prstDash val="solid"/>
          </a:ln>
        </p:spPr>
      </p:sp>
      <p:sp>
        <p:nvSpPr>
          <p:cNvPr id="77" name="Text 69"/>
          <p:cNvSpPr txBox="1"/>
          <p:nvPr/>
        </p:nvSpPr>
        <p:spPr>
          <a:xfrm>
            <a:off x="6281928" y="3886200"/>
            <a:ext cx="5358384" cy="274320"/>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Known weak spots, and the fix for each</a:t>
            </a:r>
            <a:endParaRPr lang="en-US" sz="11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6190488" y="4224528"/>
          <a:ext cx="5541264" cy="914400"/>
        </p:xfrm>
        <a:graphic>
          <a:graphicData uri="http://schemas.openxmlformats.org/drawingml/2006/table">
            <a:tbl>
              <a:tblPr/>
              <a:tblGrid>
                <a:gridCol w="2514600"/>
                <a:gridCol w="960120"/>
                <a:gridCol w="2066544"/>
              </a:tblGrid>
              <a:tr h="274320">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Weak spot</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143A5A"/>
                    </a:solidFill>
                  </a:tcPr>
                </a:tc>
                <a:tc>
                  <a:txBody>
                    <a:bodyPr/>
                    <a:lstStyle/>
                    <a:p>
                      <a:pPr algn="ctr" indent="0" marL="0">
                        <a:buNone/>
                      </a:pPr>
                      <a:r>
                        <a:rPr lang="en-US" sz="950" b="1" dirty="0">
                          <a:solidFill>
                            <a:srgbClr val="FFFFFF"/>
                          </a:solidFill>
                          <a:latin typeface="Calibri" pitchFamily="34" charset="0"/>
                          <a:ea typeface="Calibri" pitchFamily="34" charset="-122"/>
                          <a:cs typeface="Calibri" pitchFamily="34" charset="-120"/>
                        </a:rPr>
                        <a:t>Today (0-1)</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143A5A"/>
                    </a:solidFill>
                  </a:tcPr>
                </a:tc>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Fix in the pilot</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143A5A"/>
                    </a:solidFill>
                  </a:tcPr>
                </a:tc>
              </a:tr>
              <a:tr h="457200">
                <a:tc>
                  <a:txBody>
                    <a:bodyPr/>
                    <a:lstStyle/>
                    <a:p>
                      <a:pPr indent="0" marL="0">
                        <a:buNone/>
                      </a:pPr>
                      <a:r>
                        <a:rPr lang="en-US" sz="950" b="1" dirty="0">
                          <a:solidFill>
                            <a:srgbClr val="141C24"/>
                          </a:solidFill>
                          <a:latin typeface="Calibri" pitchFamily="34" charset="0"/>
                          <a:ea typeface="Calibri" pitchFamily="34" charset="-122"/>
                          <a:cs typeface="Calibri" pitchFamily="34" charset="-120"/>
                        </a:rPr>
                        <a:t>Low-contrast texture: crazing, rolled-in scale</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tc>
                  <a:txBody>
                    <a:bodyPr/>
                    <a:lstStyle/>
                    <a:p>
                      <a:pPr algn="ctr" indent="0" marL="0">
                        <a:buNone/>
                      </a:pPr>
                      <a:r>
                        <a:rPr lang="en-US" sz="950" b="1" dirty="0">
                          <a:solidFill>
                            <a:srgbClr val="B77900"/>
                          </a:solidFill>
                          <a:latin typeface="Calibri" pitchFamily="34" charset="0"/>
                          <a:ea typeface="Calibri" pitchFamily="34" charset="-122"/>
                          <a:cs typeface="Calibri" pitchFamily="34" charset="-120"/>
                        </a:rPr>
                        <a:t>0.58-0.60</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tc>
                  <a:txBody>
                    <a:bodyPr/>
                    <a:lstStyle/>
                    <a:p>
                      <a:pPr indent="0" marL="0">
                        <a:buNone/>
                      </a:pPr>
                      <a:r>
                        <a:rPr lang="en-US" sz="950" dirty="0">
                          <a:solidFill>
                            <a:srgbClr val="141C24"/>
                          </a:solidFill>
                          <a:latin typeface="Calibri" pitchFamily="34" charset="0"/>
                          <a:ea typeface="Calibri" pitchFamily="34" charset="-122"/>
                          <a:cs typeface="Calibri" pitchFamily="34" charset="-120"/>
                        </a:rPr>
                        <a:t>Angled lighting; JSL labels in P1</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tr>
              <a:tr h="457200">
                <a:tc>
                  <a:txBody>
                    <a:bodyPr/>
                    <a:lstStyle/>
                    <a:p>
                      <a:pPr indent="0" marL="0">
                        <a:buNone/>
                      </a:pPr>
                      <a:r>
                        <a:rPr lang="en-US" sz="950" b="1" dirty="0">
                          <a:solidFill>
                            <a:srgbClr val="141C24"/>
                          </a:solidFill>
                          <a:latin typeface="Calibri" pitchFamily="34" charset="0"/>
                          <a:ea typeface="Calibri" pitchFamily="34" charset="-122"/>
                          <a:cs typeface="Calibri" pitchFamily="34" charset="-120"/>
                        </a:rPr>
                        <a:t>Real mill frames are harder than the lab benchmark</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tc>
                  <a:txBody>
                    <a:bodyPr/>
                    <a:lstStyle/>
                    <a:p>
                      <a:pPr algn="ctr" indent="0" marL="0">
                        <a:buNone/>
                      </a:pPr>
                      <a:r>
                        <a:rPr lang="en-US" sz="950" b="1" dirty="0">
                          <a:solidFill>
                            <a:srgbClr val="B77900"/>
                          </a:solidFill>
                          <a:latin typeface="Calibri" pitchFamily="34" charset="0"/>
                          <a:ea typeface="Calibri" pitchFamily="34" charset="-122"/>
                          <a:cs typeface="Calibri" pitchFamily="34" charset="-120"/>
                        </a:rPr>
                        <a:t>0.57 vs 0.75</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tc>
                  <a:txBody>
                    <a:bodyPr/>
                    <a:lstStyle/>
                    <a:p>
                      <a:pPr indent="0" marL="0">
                        <a:buNone/>
                      </a:pPr>
                      <a:r>
                        <a:rPr lang="en-US" sz="950" dirty="0">
                          <a:solidFill>
                            <a:srgbClr val="141C24"/>
                          </a:solidFill>
                          <a:latin typeface="Calibri" pitchFamily="34" charset="0"/>
                          <a:ea typeface="Calibri" pitchFamily="34" charset="-122"/>
                          <a:cs typeface="Calibri" pitchFamily="34" charset="-120"/>
                        </a:rPr>
                        <a:t>Train on JSL's own strip in P1</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tr>
              <a:tr h="457200">
                <a:tc>
                  <a:txBody>
                    <a:bodyPr/>
                    <a:lstStyle/>
                    <a:p>
                      <a:pPr indent="0" marL="0">
                        <a:buNone/>
                      </a:pPr>
                      <a:r>
                        <a:rPr lang="en-US" sz="950" b="1" dirty="0">
                          <a:solidFill>
                            <a:srgbClr val="141C24"/>
                          </a:solidFill>
                          <a:latin typeface="Calibri" pitchFamily="34" charset="0"/>
                          <a:ea typeface="Calibri" pitchFamily="34" charset="-122"/>
                          <a:cs typeface="Calibri" pitchFamily="34" charset="-120"/>
                        </a:rPr>
                        <a:t>Roll marks and edge cracks: few examples</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tc>
                  <a:txBody>
                    <a:bodyPr/>
                    <a:lstStyle/>
                    <a:p>
                      <a:pPr algn="ctr" indent="0" marL="0">
                        <a:buNone/>
                      </a:pPr>
                      <a:r>
                        <a:rPr lang="en-US" sz="950" b="1" dirty="0">
                          <a:solidFill>
                            <a:srgbClr val="C62828"/>
                          </a:solidFill>
                          <a:latin typeface="Calibri" pitchFamily="34" charset="0"/>
                          <a:ea typeface="Calibri" pitchFamily="34" charset="-122"/>
                          <a:cs typeface="Calibri" pitchFamily="34" charset="-120"/>
                        </a:rPr>
                        <a:t>0.20</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tc>
                  <a:txBody>
                    <a:bodyPr/>
                    <a:lstStyle/>
                    <a:p>
                      <a:pPr indent="0" marL="0">
                        <a:buNone/>
                      </a:pPr>
                      <a:r>
                        <a:rPr lang="en-US" sz="950" dirty="0">
                          <a:solidFill>
                            <a:srgbClr val="141C24"/>
                          </a:solidFill>
                          <a:latin typeface="Calibri" pitchFamily="34" charset="0"/>
                          <a:ea typeface="Calibri" pitchFamily="34" charset="-122"/>
                          <a:cs typeface="Calibri" pitchFamily="34" charset="-120"/>
                        </a:rPr>
                        <a:t>Edge cameras; targeted labelling</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201168"/>
            <a:ext cx="1481328" cy="274320"/>
          </a:xfrm>
          <a:prstGeom prst="rect">
            <a:avLst/>
          </a:prstGeom>
          <a:solidFill>
            <a:srgbClr val="F1F4F7"/>
          </a:solidFill>
          <a:ln w="12700">
            <a:solidFill>
              <a:srgbClr val="F1F4F7"/>
            </a:solidFill>
            <a:prstDash val="solid"/>
          </a:ln>
        </p:spPr>
      </p:sp>
      <p:sp>
        <p:nvSpPr>
          <p:cNvPr id="3" name="Text 1"/>
          <p:cNvSpPr txBox="1"/>
          <p:nvPr/>
        </p:nvSpPr>
        <p:spPr>
          <a:xfrm>
            <a:off x="457200" y="201168"/>
            <a:ext cx="1481328" cy="274320"/>
          </a:xfrm>
          <a:prstGeom prst="rect">
            <a:avLst/>
          </a:prstGeom>
          <a:noFill/>
          <a:ln/>
        </p:spPr>
        <p:txBody>
          <a:bodyPr wrap="square" lIns="0" tIns="0" rIns="0" bIns="0" rtlCol="0" anchor="ctr"/>
          <a:lstStyle/>
          <a:p>
            <a:pPr algn="ctr" indent="0" marL="0">
              <a:buNone/>
            </a:pPr>
            <a:r>
              <a:rPr lang="en-US" sz="1000" dirty="0">
                <a:solidFill>
                  <a:srgbClr val="5F6B78"/>
                </a:solidFill>
                <a:latin typeface="Calibri" pitchFamily="34" charset="0"/>
                <a:ea typeface="Calibri" pitchFamily="34" charset="-122"/>
                <a:cs typeface="Calibri" pitchFamily="34" charset="-120"/>
              </a:rPr>
              <a:t>1  Problem</a:t>
            </a:r>
            <a:endParaRPr lang="en-US" sz="1000" dirty="0"/>
          </a:p>
        </p:txBody>
      </p:sp>
      <p:sp>
        <p:nvSpPr>
          <p:cNvPr id="4" name="Shape 2"/>
          <p:cNvSpPr/>
          <p:nvPr/>
        </p:nvSpPr>
        <p:spPr>
          <a:xfrm>
            <a:off x="1993392" y="201168"/>
            <a:ext cx="1481328" cy="274320"/>
          </a:xfrm>
          <a:prstGeom prst="rect">
            <a:avLst/>
          </a:prstGeom>
          <a:solidFill>
            <a:srgbClr val="F1F4F7"/>
          </a:solidFill>
          <a:ln w="12700">
            <a:solidFill>
              <a:srgbClr val="F1F4F7"/>
            </a:solidFill>
            <a:prstDash val="solid"/>
          </a:ln>
        </p:spPr>
      </p:sp>
      <p:sp>
        <p:nvSpPr>
          <p:cNvPr id="5" name="Text 3"/>
          <p:cNvSpPr txBox="1"/>
          <p:nvPr/>
        </p:nvSpPr>
        <p:spPr>
          <a:xfrm>
            <a:off x="1993392" y="201168"/>
            <a:ext cx="1481328" cy="274320"/>
          </a:xfrm>
          <a:prstGeom prst="rect">
            <a:avLst/>
          </a:prstGeom>
          <a:noFill/>
          <a:ln/>
        </p:spPr>
        <p:txBody>
          <a:bodyPr wrap="square" lIns="0" tIns="0" rIns="0" bIns="0" rtlCol="0" anchor="ctr"/>
          <a:lstStyle/>
          <a:p>
            <a:pPr algn="ctr" indent="0" marL="0">
              <a:buNone/>
            </a:pPr>
            <a:r>
              <a:rPr lang="en-US" sz="1000" dirty="0">
                <a:solidFill>
                  <a:srgbClr val="5F6B78"/>
                </a:solidFill>
                <a:latin typeface="Calibri" pitchFamily="34" charset="0"/>
                <a:ea typeface="Calibri" pitchFamily="34" charset="-122"/>
                <a:cs typeface="Calibri" pitchFamily="34" charset="-120"/>
              </a:rPr>
              <a:t>2  Insights</a:t>
            </a:r>
            <a:endParaRPr lang="en-US" sz="1000" dirty="0"/>
          </a:p>
        </p:txBody>
      </p:sp>
      <p:sp>
        <p:nvSpPr>
          <p:cNvPr id="6" name="Shape 4"/>
          <p:cNvSpPr/>
          <p:nvPr/>
        </p:nvSpPr>
        <p:spPr>
          <a:xfrm>
            <a:off x="3529584" y="201168"/>
            <a:ext cx="1481328" cy="274320"/>
          </a:xfrm>
          <a:prstGeom prst="rect">
            <a:avLst/>
          </a:prstGeom>
          <a:solidFill>
            <a:srgbClr val="F1F4F7"/>
          </a:solidFill>
          <a:ln w="12700">
            <a:solidFill>
              <a:srgbClr val="F1F4F7"/>
            </a:solidFill>
            <a:prstDash val="solid"/>
          </a:ln>
        </p:spPr>
      </p:sp>
      <p:sp>
        <p:nvSpPr>
          <p:cNvPr id="7" name="Text 5"/>
          <p:cNvSpPr txBox="1"/>
          <p:nvPr/>
        </p:nvSpPr>
        <p:spPr>
          <a:xfrm>
            <a:off x="3529584" y="201168"/>
            <a:ext cx="1481328" cy="274320"/>
          </a:xfrm>
          <a:prstGeom prst="rect">
            <a:avLst/>
          </a:prstGeom>
          <a:noFill/>
          <a:ln/>
        </p:spPr>
        <p:txBody>
          <a:bodyPr wrap="square" lIns="0" tIns="0" rIns="0" bIns="0" rtlCol="0" anchor="ctr"/>
          <a:lstStyle/>
          <a:p>
            <a:pPr algn="ctr" indent="0" marL="0">
              <a:buNone/>
            </a:pPr>
            <a:r>
              <a:rPr lang="en-US" sz="1000" dirty="0">
                <a:solidFill>
                  <a:srgbClr val="5F6B78"/>
                </a:solidFill>
                <a:latin typeface="Calibri" pitchFamily="34" charset="0"/>
                <a:ea typeface="Calibri" pitchFamily="34" charset="-122"/>
                <a:cs typeface="Calibri" pitchFamily="34" charset="-120"/>
              </a:rPr>
              <a:t>3  Solution</a:t>
            </a:r>
            <a:endParaRPr lang="en-US" sz="1000" dirty="0"/>
          </a:p>
        </p:txBody>
      </p:sp>
      <p:sp>
        <p:nvSpPr>
          <p:cNvPr id="8" name="Shape 6"/>
          <p:cNvSpPr/>
          <p:nvPr/>
        </p:nvSpPr>
        <p:spPr>
          <a:xfrm>
            <a:off x="5065776" y="201168"/>
            <a:ext cx="1481328" cy="274320"/>
          </a:xfrm>
          <a:prstGeom prst="rect">
            <a:avLst/>
          </a:prstGeom>
          <a:solidFill>
            <a:srgbClr val="143A5A"/>
          </a:solidFill>
          <a:ln w="12700">
            <a:solidFill>
              <a:srgbClr val="143A5A"/>
            </a:solidFill>
            <a:prstDash val="solid"/>
          </a:ln>
        </p:spPr>
      </p:sp>
      <p:sp>
        <p:nvSpPr>
          <p:cNvPr id="9" name="Text 7"/>
          <p:cNvSpPr txBox="1"/>
          <p:nvPr/>
        </p:nvSpPr>
        <p:spPr>
          <a:xfrm>
            <a:off x="5065776" y="201168"/>
            <a:ext cx="1481328"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4  Implementation</a:t>
            </a:r>
            <a:endParaRPr lang="en-US" sz="1000" dirty="0"/>
          </a:p>
        </p:txBody>
      </p:sp>
      <p:sp>
        <p:nvSpPr>
          <p:cNvPr id="10" name="Shape 8"/>
          <p:cNvSpPr/>
          <p:nvPr/>
        </p:nvSpPr>
        <p:spPr>
          <a:xfrm>
            <a:off x="6601968" y="201168"/>
            <a:ext cx="1481328" cy="274320"/>
          </a:xfrm>
          <a:prstGeom prst="rect">
            <a:avLst/>
          </a:prstGeom>
          <a:solidFill>
            <a:srgbClr val="F1F4F7"/>
          </a:solidFill>
          <a:ln w="12700">
            <a:solidFill>
              <a:srgbClr val="F1F4F7"/>
            </a:solidFill>
            <a:prstDash val="solid"/>
          </a:ln>
        </p:spPr>
      </p:sp>
      <p:sp>
        <p:nvSpPr>
          <p:cNvPr id="11" name="Text 9"/>
          <p:cNvSpPr txBox="1"/>
          <p:nvPr/>
        </p:nvSpPr>
        <p:spPr>
          <a:xfrm>
            <a:off x="6601968" y="201168"/>
            <a:ext cx="1481328" cy="274320"/>
          </a:xfrm>
          <a:prstGeom prst="rect">
            <a:avLst/>
          </a:prstGeom>
          <a:noFill/>
          <a:ln/>
        </p:spPr>
        <p:txBody>
          <a:bodyPr wrap="square" lIns="0" tIns="0" rIns="0" bIns="0" rtlCol="0" anchor="ctr"/>
          <a:lstStyle/>
          <a:p>
            <a:pPr algn="ctr" indent="0" marL="0">
              <a:buNone/>
            </a:pPr>
            <a:r>
              <a:rPr lang="en-US" sz="1000" dirty="0">
                <a:solidFill>
                  <a:srgbClr val="5F6B78"/>
                </a:solidFill>
                <a:latin typeface="Calibri" pitchFamily="34" charset="0"/>
                <a:ea typeface="Calibri" pitchFamily="34" charset="-122"/>
                <a:cs typeface="Calibri" pitchFamily="34" charset="-120"/>
              </a:rPr>
              <a:t>5  Impact</a:t>
            </a:r>
            <a:endParaRPr lang="en-US" sz="1000" dirty="0"/>
          </a:p>
        </p:txBody>
      </p:sp>
      <p:sp>
        <p:nvSpPr>
          <p:cNvPr id="12" name="Text 10"/>
          <p:cNvSpPr txBox="1"/>
          <p:nvPr/>
        </p:nvSpPr>
        <p:spPr>
          <a:xfrm>
            <a:off x="8229600" y="201168"/>
            <a:ext cx="3502152" cy="274320"/>
          </a:xfrm>
          <a:prstGeom prst="rect">
            <a:avLst/>
          </a:prstGeom>
          <a:noFill/>
          <a:ln/>
        </p:spPr>
        <p:txBody>
          <a:bodyPr wrap="square" lIns="0" tIns="0" rIns="0" bIns="0" rtlCol="0" anchor="ctr"/>
          <a:lstStyle/>
          <a:p>
            <a:pPr algn="r" indent="0" marL="0">
              <a:buNone/>
            </a:pPr>
            <a:r>
              <a:rPr lang="en-US" sz="900" dirty="0">
                <a:solidFill>
                  <a:srgbClr val="5F6B78"/>
                </a:solidFill>
                <a:latin typeface="Calibri" pitchFamily="34" charset="0"/>
                <a:ea typeface="Calibri" pitchFamily="34" charset="-122"/>
                <a:cs typeface="Calibri" pitchFamily="34" charset="-120"/>
              </a:rPr>
              <a:t>STAINLESS SPARK ROUND 2  |  PS1  |  IIT Bombay</a:t>
            </a:r>
            <a:endParaRPr lang="en-US" sz="900" dirty="0"/>
          </a:p>
        </p:txBody>
      </p:sp>
      <p:sp>
        <p:nvSpPr>
          <p:cNvPr id="13" name="Text 11"/>
          <p:cNvSpPr txBox="1"/>
          <p:nvPr/>
        </p:nvSpPr>
        <p:spPr>
          <a:xfrm>
            <a:off x="457200" y="566928"/>
            <a:ext cx="11274552" cy="566928"/>
          </a:xfrm>
          <a:prstGeom prst="rect">
            <a:avLst/>
          </a:prstGeom>
          <a:noFill/>
          <a:ln/>
        </p:spPr>
        <p:txBody>
          <a:bodyPr wrap="square" lIns="0" tIns="0" rIns="0" bIns="0" rtlCol="0" anchor="ctr"/>
          <a:lstStyle/>
          <a:p>
            <a:pPr indent="0" marL="0">
              <a:buNone/>
            </a:pPr>
            <a:r>
              <a:rPr lang="en-US" sz="2000" b="1" dirty="0">
                <a:solidFill>
                  <a:srgbClr val="143A5A"/>
                </a:solidFill>
                <a:latin typeface="Calibri" pitchFamily="34" charset="0"/>
                <a:ea typeface="Calibri" pitchFamily="34" charset="-122"/>
                <a:cs typeface="Calibri" pitchFamily="34" charset="-120"/>
              </a:rPr>
              <a:t>Seven months to shadow mode on one line, and nothing touches the mill until trust is earned</a:t>
            </a:r>
            <a:endParaRPr lang="en-US" sz="2000" dirty="0"/>
          </a:p>
        </p:txBody>
      </p:sp>
      <p:sp>
        <p:nvSpPr>
          <p:cNvPr id="14" name="Shape 12"/>
          <p:cNvSpPr/>
          <p:nvPr/>
        </p:nvSpPr>
        <p:spPr>
          <a:xfrm>
            <a:off x="457200" y="6236208"/>
            <a:ext cx="11274552" cy="420624"/>
          </a:xfrm>
          <a:prstGeom prst="rect">
            <a:avLst/>
          </a:prstGeom>
          <a:solidFill>
            <a:srgbClr val="143A5A"/>
          </a:solidFill>
          <a:ln w="12700">
            <a:solidFill>
              <a:srgbClr val="143A5A"/>
            </a:solidFill>
            <a:prstDash val="solid"/>
          </a:ln>
        </p:spPr>
      </p:sp>
      <p:sp>
        <p:nvSpPr>
          <p:cNvPr id="15" name="Text 13"/>
          <p:cNvSpPr txBox="1"/>
          <p:nvPr/>
        </p:nvSpPr>
        <p:spPr>
          <a:xfrm>
            <a:off x="621792" y="6236208"/>
            <a:ext cx="10972800" cy="420624"/>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Commit ₹2.5-4.2 cr and one line for seven months. The month-7 go/no-go is decided on JSL's own alarm and recall numbers.</a:t>
            </a:r>
            <a:endParaRPr lang="en-US" sz="1200" dirty="0"/>
          </a:p>
        </p:txBody>
      </p:sp>
      <p:sp>
        <p:nvSpPr>
          <p:cNvPr id="16" name="Text 14"/>
          <p:cNvSpPr txBox="1"/>
          <p:nvPr/>
        </p:nvSpPr>
        <p:spPr>
          <a:xfrm>
            <a:off x="457200" y="5971032"/>
            <a:ext cx="11274552" cy="237744"/>
          </a:xfrm>
          <a:prstGeom prst="rect">
            <a:avLst/>
          </a:prstGeom>
          <a:noFill/>
          <a:ln/>
        </p:spPr>
        <p:txBody>
          <a:bodyPr wrap="square" lIns="0" tIns="0" rIns="0" bIns="0" rtlCol="0" anchor="ctr"/>
          <a:lstStyle/>
          <a:p>
            <a:pPr indent="0" marL="0">
              <a:buNone/>
            </a:pPr>
            <a:r>
              <a:rPr lang="en-US" sz="900" dirty="0">
                <a:solidFill>
                  <a:srgbClr val="5F6B78"/>
                </a:solidFill>
                <a:latin typeface="Calibri" pitchFamily="34" charset="0"/>
                <a:ea typeface="Calibri" pitchFamily="34" charset="-122"/>
                <a:cs typeface="Calibri" pitchFamily="34" charset="-120"/>
              </a:rPr>
              <a:t>Costs are team estimates for a 1.3-1.6 m line inspected on both faces, at INR 95.8/USD, to be replaced by vendor quotes in P0. KPI targets to be agreed with JSL Quality in P0.</a:t>
            </a:r>
            <a:endParaRPr lang="en-US" sz="900" dirty="0"/>
          </a:p>
        </p:txBody>
      </p:sp>
      <p:sp>
        <p:nvSpPr>
          <p:cNvPr id="17" name="Shape 15"/>
          <p:cNvSpPr/>
          <p:nvPr/>
        </p:nvSpPr>
        <p:spPr>
          <a:xfrm>
            <a:off x="457200" y="1234440"/>
            <a:ext cx="7178040" cy="274320"/>
          </a:xfrm>
          <a:prstGeom prst="rect">
            <a:avLst/>
          </a:prstGeom>
          <a:solidFill>
            <a:srgbClr val="2B5B80"/>
          </a:solidFill>
          <a:ln w="12700">
            <a:solidFill>
              <a:srgbClr val="2B5B80"/>
            </a:solidFill>
            <a:prstDash val="solid"/>
          </a:ln>
        </p:spPr>
      </p:sp>
      <p:sp>
        <p:nvSpPr>
          <p:cNvPr id="18" name="Text 16"/>
          <p:cNvSpPr txBox="1"/>
          <p:nvPr/>
        </p:nvSpPr>
        <p:spPr>
          <a:xfrm>
            <a:off x="548640" y="1234440"/>
            <a:ext cx="6995160" cy="274320"/>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Stage-gate roadmap (months)</a:t>
            </a:r>
            <a:endParaRPr lang="en-US" sz="1100" dirty="0"/>
          </a:p>
        </p:txBody>
      </p:sp>
      <p:sp>
        <p:nvSpPr>
          <p:cNvPr id="19" name="Text 17"/>
          <p:cNvSpPr txBox="1"/>
          <p:nvPr/>
        </p:nvSpPr>
        <p:spPr>
          <a:xfrm>
            <a:off x="2331720" y="1554480"/>
            <a:ext cx="365760" cy="182880"/>
          </a:xfrm>
          <a:prstGeom prst="rect">
            <a:avLst/>
          </a:prstGeom>
          <a:noFill/>
          <a:ln/>
        </p:spPr>
        <p:txBody>
          <a:bodyPr wrap="square" lIns="0" tIns="0" rIns="0" bIns="0" rtlCol="0" anchor="t"/>
          <a:lstStyle/>
          <a:p>
            <a:pPr algn="ctr" indent="0" marL="0">
              <a:buNone/>
            </a:pPr>
            <a:r>
              <a:rPr lang="en-US" sz="900" dirty="0">
                <a:solidFill>
                  <a:srgbClr val="5F6B78"/>
                </a:solidFill>
                <a:latin typeface="Calibri" pitchFamily="34" charset="0"/>
                <a:ea typeface="Calibri" pitchFamily="34" charset="-122"/>
                <a:cs typeface="Calibri" pitchFamily="34" charset="-120"/>
              </a:rPr>
              <a:t>m0</a:t>
            </a:r>
            <a:endParaRPr lang="en-US" sz="900" dirty="0"/>
          </a:p>
        </p:txBody>
      </p:sp>
      <p:sp>
        <p:nvSpPr>
          <p:cNvPr id="20" name="Text 18"/>
          <p:cNvSpPr txBox="1"/>
          <p:nvPr/>
        </p:nvSpPr>
        <p:spPr>
          <a:xfrm>
            <a:off x="2980944" y="1554480"/>
            <a:ext cx="365760" cy="182880"/>
          </a:xfrm>
          <a:prstGeom prst="rect">
            <a:avLst/>
          </a:prstGeom>
          <a:noFill/>
          <a:ln/>
        </p:spPr>
        <p:txBody>
          <a:bodyPr wrap="square" lIns="0" tIns="0" rIns="0" bIns="0" rtlCol="0" anchor="t"/>
          <a:lstStyle/>
          <a:p>
            <a:pPr algn="ctr" indent="0" marL="0">
              <a:buNone/>
            </a:pPr>
            <a:r>
              <a:rPr lang="en-US" sz="900" dirty="0">
                <a:solidFill>
                  <a:srgbClr val="5F6B78"/>
                </a:solidFill>
                <a:latin typeface="Calibri" pitchFamily="34" charset="0"/>
                <a:ea typeface="Calibri" pitchFamily="34" charset="-122"/>
                <a:cs typeface="Calibri" pitchFamily="34" charset="-120"/>
              </a:rPr>
              <a:t>m4</a:t>
            </a:r>
            <a:endParaRPr lang="en-US" sz="900" dirty="0"/>
          </a:p>
        </p:txBody>
      </p:sp>
      <p:sp>
        <p:nvSpPr>
          <p:cNvPr id="21" name="Text 19"/>
          <p:cNvSpPr txBox="1"/>
          <p:nvPr/>
        </p:nvSpPr>
        <p:spPr>
          <a:xfrm>
            <a:off x="3630168" y="1554480"/>
            <a:ext cx="365760" cy="182880"/>
          </a:xfrm>
          <a:prstGeom prst="rect">
            <a:avLst/>
          </a:prstGeom>
          <a:noFill/>
          <a:ln/>
        </p:spPr>
        <p:txBody>
          <a:bodyPr wrap="square" lIns="0" tIns="0" rIns="0" bIns="0" rtlCol="0" anchor="t"/>
          <a:lstStyle/>
          <a:p>
            <a:pPr algn="ctr" indent="0" marL="0">
              <a:buNone/>
            </a:pPr>
            <a:r>
              <a:rPr lang="en-US" sz="900" dirty="0">
                <a:solidFill>
                  <a:srgbClr val="5F6B78"/>
                </a:solidFill>
                <a:latin typeface="Calibri" pitchFamily="34" charset="0"/>
                <a:ea typeface="Calibri" pitchFamily="34" charset="-122"/>
                <a:cs typeface="Calibri" pitchFamily="34" charset="-120"/>
              </a:rPr>
              <a:t>m8</a:t>
            </a:r>
            <a:endParaRPr lang="en-US" sz="900" dirty="0"/>
          </a:p>
        </p:txBody>
      </p:sp>
      <p:sp>
        <p:nvSpPr>
          <p:cNvPr id="22" name="Text 20"/>
          <p:cNvSpPr txBox="1"/>
          <p:nvPr/>
        </p:nvSpPr>
        <p:spPr>
          <a:xfrm>
            <a:off x="4279392" y="1554480"/>
            <a:ext cx="365760" cy="182880"/>
          </a:xfrm>
          <a:prstGeom prst="rect">
            <a:avLst/>
          </a:prstGeom>
          <a:noFill/>
          <a:ln/>
        </p:spPr>
        <p:txBody>
          <a:bodyPr wrap="square" lIns="0" tIns="0" rIns="0" bIns="0" rtlCol="0" anchor="t"/>
          <a:lstStyle/>
          <a:p>
            <a:pPr algn="ctr" indent="0" marL="0">
              <a:buNone/>
            </a:pPr>
            <a:r>
              <a:rPr lang="en-US" sz="900" dirty="0">
                <a:solidFill>
                  <a:srgbClr val="5F6B78"/>
                </a:solidFill>
                <a:latin typeface="Calibri" pitchFamily="34" charset="0"/>
                <a:ea typeface="Calibri" pitchFamily="34" charset="-122"/>
                <a:cs typeface="Calibri" pitchFamily="34" charset="-120"/>
              </a:rPr>
              <a:t>m12</a:t>
            </a:r>
            <a:endParaRPr lang="en-US" sz="900" dirty="0"/>
          </a:p>
        </p:txBody>
      </p:sp>
      <p:sp>
        <p:nvSpPr>
          <p:cNvPr id="23" name="Text 21"/>
          <p:cNvSpPr txBox="1"/>
          <p:nvPr/>
        </p:nvSpPr>
        <p:spPr>
          <a:xfrm>
            <a:off x="4928616" y="1554480"/>
            <a:ext cx="365760" cy="182880"/>
          </a:xfrm>
          <a:prstGeom prst="rect">
            <a:avLst/>
          </a:prstGeom>
          <a:noFill/>
          <a:ln/>
        </p:spPr>
        <p:txBody>
          <a:bodyPr wrap="square" lIns="0" tIns="0" rIns="0" bIns="0" rtlCol="0" anchor="t"/>
          <a:lstStyle/>
          <a:p>
            <a:pPr algn="ctr" indent="0" marL="0">
              <a:buNone/>
            </a:pPr>
            <a:r>
              <a:rPr lang="en-US" sz="900" dirty="0">
                <a:solidFill>
                  <a:srgbClr val="5F6B78"/>
                </a:solidFill>
                <a:latin typeface="Calibri" pitchFamily="34" charset="0"/>
                <a:ea typeface="Calibri" pitchFamily="34" charset="-122"/>
                <a:cs typeface="Calibri" pitchFamily="34" charset="-120"/>
              </a:rPr>
              <a:t>m16</a:t>
            </a:r>
            <a:endParaRPr lang="en-US" sz="900" dirty="0"/>
          </a:p>
        </p:txBody>
      </p:sp>
      <p:sp>
        <p:nvSpPr>
          <p:cNvPr id="24" name="Text 22"/>
          <p:cNvSpPr txBox="1"/>
          <p:nvPr/>
        </p:nvSpPr>
        <p:spPr>
          <a:xfrm>
            <a:off x="5577840" y="1554480"/>
            <a:ext cx="365760" cy="182880"/>
          </a:xfrm>
          <a:prstGeom prst="rect">
            <a:avLst/>
          </a:prstGeom>
          <a:noFill/>
          <a:ln/>
        </p:spPr>
        <p:txBody>
          <a:bodyPr wrap="square" lIns="0" tIns="0" rIns="0" bIns="0" rtlCol="0" anchor="t"/>
          <a:lstStyle/>
          <a:p>
            <a:pPr algn="ctr" indent="0" marL="0">
              <a:buNone/>
            </a:pPr>
            <a:r>
              <a:rPr lang="en-US" sz="900" dirty="0">
                <a:solidFill>
                  <a:srgbClr val="5F6B78"/>
                </a:solidFill>
                <a:latin typeface="Calibri" pitchFamily="34" charset="0"/>
                <a:ea typeface="Calibri" pitchFamily="34" charset="-122"/>
                <a:cs typeface="Calibri" pitchFamily="34" charset="-120"/>
              </a:rPr>
              <a:t>m20</a:t>
            </a:r>
            <a:endParaRPr lang="en-US" sz="900" dirty="0"/>
          </a:p>
        </p:txBody>
      </p:sp>
      <p:sp>
        <p:nvSpPr>
          <p:cNvPr id="25" name="Text 23"/>
          <p:cNvSpPr txBox="1"/>
          <p:nvPr/>
        </p:nvSpPr>
        <p:spPr>
          <a:xfrm>
            <a:off x="5943600" y="1554480"/>
            <a:ext cx="1645920" cy="182880"/>
          </a:xfrm>
          <a:prstGeom prst="rect">
            <a:avLst/>
          </a:prstGeom>
          <a:noFill/>
          <a:ln/>
        </p:spPr>
        <p:txBody>
          <a:bodyPr wrap="square" lIns="0" tIns="0" rIns="0" bIns="0" rtlCol="0" anchor="t"/>
          <a:lstStyle/>
          <a:p>
            <a:pPr indent="0" marL="0">
              <a:buNone/>
            </a:pPr>
            <a:r>
              <a:rPr lang="en-US" sz="900" b="1" dirty="0">
                <a:solidFill>
                  <a:srgbClr val="5F6B78"/>
                </a:solidFill>
                <a:latin typeface="Calibri" pitchFamily="34" charset="0"/>
                <a:ea typeface="Calibri" pitchFamily="34" charset="-122"/>
                <a:cs typeface="Calibri" pitchFamily="34" charset="-120"/>
              </a:rPr>
              <a:t>EXIT GATE</a:t>
            </a:r>
            <a:endParaRPr lang="en-US" sz="900" dirty="0"/>
          </a:p>
        </p:txBody>
      </p:sp>
      <p:sp>
        <p:nvSpPr>
          <p:cNvPr id="26" name="Text 24"/>
          <p:cNvSpPr txBox="1"/>
          <p:nvPr/>
        </p:nvSpPr>
        <p:spPr>
          <a:xfrm>
            <a:off x="530352" y="1783080"/>
            <a:ext cx="320040" cy="310896"/>
          </a:xfrm>
          <a:prstGeom prst="rect">
            <a:avLst/>
          </a:prstGeom>
          <a:noFill/>
          <a:ln/>
        </p:spPr>
        <p:txBody>
          <a:bodyPr wrap="square" lIns="0" tIns="0" rIns="0" bIns="0" rtlCol="0" anchor="ctr"/>
          <a:lstStyle/>
          <a:p>
            <a:pPr indent="0" marL="0">
              <a:buNone/>
            </a:pPr>
            <a:r>
              <a:rPr lang="en-US" sz="1100" b="1" dirty="0">
                <a:solidFill>
                  <a:srgbClr val="0086C3"/>
                </a:solidFill>
                <a:latin typeface="Calibri" pitchFamily="34" charset="0"/>
                <a:ea typeface="Calibri" pitchFamily="34" charset="-122"/>
                <a:cs typeface="Calibri" pitchFamily="34" charset="-120"/>
              </a:rPr>
              <a:t>P0</a:t>
            </a:r>
            <a:endParaRPr lang="en-US" sz="1100" dirty="0"/>
          </a:p>
        </p:txBody>
      </p:sp>
      <p:sp>
        <p:nvSpPr>
          <p:cNvPr id="27" name="Text 25"/>
          <p:cNvSpPr txBox="1"/>
          <p:nvPr/>
        </p:nvSpPr>
        <p:spPr>
          <a:xfrm>
            <a:off x="850392" y="1783080"/>
            <a:ext cx="1645920" cy="310896"/>
          </a:xfrm>
          <a:prstGeom prst="rect">
            <a:avLst/>
          </a:prstGeom>
          <a:noFill/>
          <a:ln/>
        </p:spPr>
        <p:txBody>
          <a:bodyPr wrap="square" lIns="0" tIns="0" rIns="0" bIns="0" rtlCol="0" anchor="ctr"/>
          <a:lstStyle/>
          <a:p>
            <a:pPr indent="0" marL="0">
              <a:buNone/>
            </a:pPr>
            <a:r>
              <a:rPr lang="en-US" sz="950" dirty="0">
                <a:solidFill>
                  <a:srgbClr val="141C24"/>
                </a:solidFill>
                <a:latin typeface="Calibri" pitchFamily="34" charset="0"/>
                <a:ea typeface="Calibri" pitchFamily="34" charset="-122"/>
                <a:cs typeface="Calibri" pitchFamily="34" charset="-120"/>
              </a:rPr>
              <a:t>Instrument one line</a:t>
            </a:r>
            <a:endParaRPr lang="en-US" sz="950" dirty="0"/>
          </a:p>
        </p:txBody>
      </p:sp>
      <p:sp>
        <p:nvSpPr>
          <p:cNvPr id="28" name="Shape 26"/>
          <p:cNvSpPr/>
          <p:nvPr/>
        </p:nvSpPr>
        <p:spPr>
          <a:xfrm>
            <a:off x="2514600" y="1847088"/>
            <a:ext cx="3246120" cy="182880"/>
          </a:xfrm>
          <a:prstGeom prst="rect">
            <a:avLst/>
          </a:prstGeom>
          <a:solidFill>
            <a:srgbClr val="F1F4F7"/>
          </a:solidFill>
          <a:ln w="12700">
            <a:solidFill>
              <a:srgbClr val="F1F4F7"/>
            </a:solidFill>
            <a:prstDash val="solid"/>
          </a:ln>
        </p:spPr>
      </p:sp>
      <p:sp>
        <p:nvSpPr>
          <p:cNvPr id="29" name="Shape 27"/>
          <p:cNvSpPr/>
          <p:nvPr/>
        </p:nvSpPr>
        <p:spPr>
          <a:xfrm>
            <a:off x="2514600" y="1847088"/>
            <a:ext cx="243459" cy="182880"/>
          </a:xfrm>
          <a:prstGeom prst="rect">
            <a:avLst/>
          </a:prstGeom>
          <a:solidFill>
            <a:srgbClr val="0086C3"/>
          </a:solidFill>
          <a:ln w="12700">
            <a:solidFill>
              <a:srgbClr val="0086C3"/>
            </a:solidFill>
            <a:prstDash val="solid"/>
          </a:ln>
        </p:spPr>
      </p:sp>
      <p:sp>
        <p:nvSpPr>
          <p:cNvPr id="30" name="Text 28"/>
          <p:cNvSpPr txBox="1"/>
          <p:nvPr/>
        </p:nvSpPr>
        <p:spPr>
          <a:xfrm>
            <a:off x="5943600" y="1783080"/>
            <a:ext cx="1691640" cy="310896"/>
          </a:xfrm>
          <a:prstGeom prst="rect">
            <a:avLst/>
          </a:prstGeom>
          <a:noFill/>
          <a:ln/>
        </p:spPr>
        <p:txBody>
          <a:bodyPr wrap="square" lIns="0" tIns="0" rIns="0" bIns="0" rtlCol="0" anchor="ctr"/>
          <a:lstStyle/>
          <a:p>
            <a:pPr indent="0" marL="0">
              <a:buNone/>
            </a:pPr>
            <a:r>
              <a:rPr lang="en-US" sz="900" dirty="0">
                <a:solidFill>
                  <a:srgbClr val="334150"/>
                </a:solidFill>
                <a:latin typeface="Calibri" pitchFamily="34" charset="0"/>
                <a:ea typeface="Calibri" pitchFamily="34" charset="-122"/>
                <a:cs typeface="Calibri" pitchFamily="34" charset="-120"/>
              </a:rPr>
              <a:t>Resolution and grade matrix fixed</a:t>
            </a:r>
            <a:endParaRPr lang="en-US" sz="900" dirty="0"/>
          </a:p>
        </p:txBody>
      </p:sp>
      <p:sp>
        <p:nvSpPr>
          <p:cNvPr id="31" name="Text 29"/>
          <p:cNvSpPr txBox="1"/>
          <p:nvPr/>
        </p:nvSpPr>
        <p:spPr>
          <a:xfrm>
            <a:off x="530352" y="2130552"/>
            <a:ext cx="320040" cy="310896"/>
          </a:xfrm>
          <a:prstGeom prst="rect">
            <a:avLst/>
          </a:prstGeom>
          <a:noFill/>
          <a:ln/>
        </p:spPr>
        <p:txBody>
          <a:bodyPr wrap="square" lIns="0" tIns="0" rIns="0" bIns="0" rtlCol="0" anchor="ctr"/>
          <a:lstStyle/>
          <a:p>
            <a:pPr indent="0" marL="0">
              <a:buNone/>
            </a:pPr>
            <a:r>
              <a:rPr lang="en-US" sz="1100" b="1" dirty="0">
                <a:solidFill>
                  <a:srgbClr val="0086C3"/>
                </a:solidFill>
                <a:latin typeface="Calibri" pitchFamily="34" charset="0"/>
                <a:ea typeface="Calibri" pitchFamily="34" charset="-122"/>
                <a:cs typeface="Calibri" pitchFamily="34" charset="-120"/>
              </a:rPr>
              <a:t>P1</a:t>
            </a:r>
            <a:endParaRPr lang="en-US" sz="1100" dirty="0"/>
          </a:p>
        </p:txBody>
      </p:sp>
      <p:sp>
        <p:nvSpPr>
          <p:cNvPr id="32" name="Text 30"/>
          <p:cNvSpPr txBox="1"/>
          <p:nvPr/>
        </p:nvSpPr>
        <p:spPr>
          <a:xfrm>
            <a:off x="850392" y="2130552"/>
            <a:ext cx="1645920" cy="310896"/>
          </a:xfrm>
          <a:prstGeom prst="rect">
            <a:avLst/>
          </a:prstGeom>
          <a:noFill/>
          <a:ln/>
        </p:spPr>
        <p:txBody>
          <a:bodyPr wrap="square" lIns="0" tIns="0" rIns="0" bIns="0" rtlCol="0" anchor="ctr"/>
          <a:lstStyle/>
          <a:p>
            <a:pPr indent="0" marL="0">
              <a:buNone/>
            </a:pPr>
            <a:r>
              <a:rPr lang="en-US" sz="950" dirty="0">
                <a:solidFill>
                  <a:srgbClr val="141C24"/>
                </a:solidFill>
                <a:latin typeface="Calibri" pitchFamily="34" charset="0"/>
                <a:ea typeface="Calibri" pitchFamily="34" charset="-122"/>
                <a:cs typeface="Calibri" pitchFamily="34" charset="-120"/>
              </a:rPr>
              <a:t>Train on JSL strip</a:t>
            </a:r>
            <a:endParaRPr lang="en-US" sz="950" dirty="0"/>
          </a:p>
        </p:txBody>
      </p:sp>
      <p:sp>
        <p:nvSpPr>
          <p:cNvPr id="33" name="Shape 31"/>
          <p:cNvSpPr/>
          <p:nvPr/>
        </p:nvSpPr>
        <p:spPr>
          <a:xfrm>
            <a:off x="2514600" y="2194560"/>
            <a:ext cx="3246120" cy="182880"/>
          </a:xfrm>
          <a:prstGeom prst="rect">
            <a:avLst/>
          </a:prstGeom>
          <a:solidFill>
            <a:srgbClr val="F1F4F7"/>
          </a:solidFill>
          <a:ln w="12700">
            <a:solidFill>
              <a:srgbClr val="F1F4F7"/>
            </a:solidFill>
            <a:prstDash val="solid"/>
          </a:ln>
        </p:spPr>
      </p:sp>
      <p:sp>
        <p:nvSpPr>
          <p:cNvPr id="34" name="Shape 32"/>
          <p:cNvSpPr/>
          <p:nvPr/>
        </p:nvSpPr>
        <p:spPr>
          <a:xfrm>
            <a:off x="2758059" y="2194560"/>
            <a:ext cx="405765" cy="182880"/>
          </a:xfrm>
          <a:prstGeom prst="rect">
            <a:avLst/>
          </a:prstGeom>
          <a:solidFill>
            <a:srgbClr val="0086C3"/>
          </a:solidFill>
          <a:ln w="12700">
            <a:solidFill>
              <a:srgbClr val="0086C3"/>
            </a:solidFill>
            <a:prstDash val="solid"/>
          </a:ln>
        </p:spPr>
      </p:sp>
      <p:sp>
        <p:nvSpPr>
          <p:cNvPr id="35" name="Text 33"/>
          <p:cNvSpPr txBox="1"/>
          <p:nvPr/>
        </p:nvSpPr>
        <p:spPr>
          <a:xfrm>
            <a:off x="5943600" y="2130552"/>
            <a:ext cx="1691640" cy="310896"/>
          </a:xfrm>
          <a:prstGeom prst="rect">
            <a:avLst/>
          </a:prstGeom>
          <a:noFill/>
          <a:ln/>
        </p:spPr>
        <p:txBody>
          <a:bodyPr wrap="square" lIns="0" tIns="0" rIns="0" bIns="0" rtlCol="0" anchor="ctr"/>
          <a:lstStyle/>
          <a:p>
            <a:pPr indent="0" marL="0">
              <a:buNone/>
            </a:pPr>
            <a:r>
              <a:rPr lang="en-US" sz="900" dirty="0">
                <a:solidFill>
                  <a:srgbClr val="334150"/>
                </a:solidFill>
                <a:latin typeface="Calibri" pitchFamily="34" charset="0"/>
                <a:ea typeface="Calibri" pitchFamily="34" charset="-122"/>
                <a:cs typeface="Calibri" pitchFamily="34" charset="-120"/>
              </a:rPr>
              <a:t>Clean alarms ≤ 25%, recall ≥ 90%</a:t>
            </a:r>
            <a:endParaRPr lang="en-US" sz="900" dirty="0"/>
          </a:p>
        </p:txBody>
      </p:sp>
      <p:sp>
        <p:nvSpPr>
          <p:cNvPr id="36" name="Text 34"/>
          <p:cNvSpPr txBox="1"/>
          <p:nvPr/>
        </p:nvSpPr>
        <p:spPr>
          <a:xfrm>
            <a:off x="530352" y="2478024"/>
            <a:ext cx="320040" cy="310896"/>
          </a:xfrm>
          <a:prstGeom prst="rect">
            <a:avLst/>
          </a:prstGeom>
          <a:noFill/>
          <a:ln/>
        </p:spPr>
        <p:txBody>
          <a:bodyPr wrap="square" lIns="0" tIns="0" rIns="0" bIns="0" rtlCol="0" anchor="ctr"/>
          <a:lstStyle/>
          <a:p>
            <a:pPr indent="0" marL="0">
              <a:buNone/>
            </a:pPr>
            <a:r>
              <a:rPr lang="en-US" sz="1100" b="1" dirty="0">
                <a:solidFill>
                  <a:srgbClr val="0086C3"/>
                </a:solidFill>
                <a:latin typeface="Calibri" pitchFamily="34" charset="0"/>
                <a:ea typeface="Calibri" pitchFamily="34" charset="-122"/>
                <a:cs typeface="Calibri" pitchFamily="34" charset="-120"/>
              </a:rPr>
              <a:t>P2</a:t>
            </a:r>
            <a:endParaRPr lang="en-US" sz="1100" dirty="0"/>
          </a:p>
        </p:txBody>
      </p:sp>
      <p:sp>
        <p:nvSpPr>
          <p:cNvPr id="37" name="Text 35"/>
          <p:cNvSpPr txBox="1"/>
          <p:nvPr/>
        </p:nvSpPr>
        <p:spPr>
          <a:xfrm>
            <a:off x="850392" y="2478024"/>
            <a:ext cx="1645920" cy="310896"/>
          </a:xfrm>
          <a:prstGeom prst="rect">
            <a:avLst/>
          </a:prstGeom>
          <a:noFill/>
          <a:ln/>
        </p:spPr>
        <p:txBody>
          <a:bodyPr wrap="square" lIns="0" tIns="0" rIns="0" bIns="0" rtlCol="0" anchor="ctr"/>
          <a:lstStyle/>
          <a:p>
            <a:pPr indent="0" marL="0">
              <a:buNone/>
            </a:pPr>
            <a:r>
              <a:rPr lang="en-US" sz="950" dirty="0">
                <a:solidFill>
                  <a:srgbClr val="141C24"/>
                </a:solidFill>
                <a:latin typeface="Calibri" pitchFamily="34" charset="0"/>
                <a:ea typeface="Calibri" pitchFamily="34" charset="-122"/>
                <a:cs typeface="Calibri" pitchFamily="34" charset="-120"/>
              </a:rPr>
              <a:t>Shadow mode: advises only</a:t>
            </a:r>
            <a:endParaRPr lang="en-US" sz="950" dirty="0"/>
          </a:p>
        </p:txBody>
      </p:sp>
      <p:sp>
        <p:nvSpPr>
          <p:cNvPr id="38" name="Shape 36"/>
          <p:cNvSpPr/>
          <p:nvPr/>
        </p:nvSpPr>
        <p:spPr>
          <a:xfrm>
            <a:off x="2514600" y="2542032"/>
            <a:ext cx="3246120" cy="182880"/>
          </a:xfrm>
          <a:prstGeom prst="rect">
            <a:avLst/>
          </a:prstGeom>
          <a:solidFill>
            <a:srgbClr val="F1F4F7"/>
          </a:solidFill>
          <a:ln w="12700">
            <a:solidFill>
              <a:srgbClr val="F1F4F7"/>
            </a:solidFill>
            <a:prstDash val="solid"/>
          </a:ln>
        </p:spPr>
      </p:sp>
      <p:sp>
        <p:nvSpPr>
          <p:cNvPr id="39" name="Shape 37"/>
          <p:cNvSpPr/>
          <p:nvPr/>
        </p:nvSpPr>
        <p:spPr>
          <a:xfrm>
            <a:off x="3163824" y="2542032"/>
            <a:ext cx="486918" cy="182880"/>
          </a:xfrm>
          <a:prstGeom prst="rect">
            <a:avLst/>
          </a:prstGeom>
          <a:solidFill>
            <a:srgbClr val="0086C3"/>
          </a:solidFill>
          <a:ln w="12700">
            <a:solidFill>
              <a:srgbClr val="0086C3"/>
            </a:solidFill>
            <a:prstDash val="solid"/>
          </a:ln>
        </p:spPr>
      </p:sp>
      <p:sp>
        <p:nvSpPr>
          <p:cNvPr id="40" name="Text 38"/>
          <p:cNvSpPr txBox="1"/>
          <p:nvPr/>
        </p:nvSpPr>
        <p:spPr>
          <a:xfrm>
            <a:off x="5943600" y="2478024"/>
            <a:ext cx="1691640" cy="310896"/>
          </a:xfrm>
          <a:prstGeom prst="rect">
            <a:avLst/>
          </a:prstGeom>
          <a:noFill/>
          <a:ln/>
        </p:spPr>
        <p:txBody>
          <a:bodyPr wrap="square" lIns="0" tIns="0" rIns="0" bIns="0" rtlCol="0" anchor="ctr"/>
          <a:lstStyle/>
          <a:p>
            <a:pPr indent="0" marL="0">
              <a:buNone/>
            </a:pPr>
            <a:r>
              <a:rPr lang="en-US" sz="900" dirty="0">
                <a:solidFill>
                  <a:srgbClr val="334150"/>
                </a:solidFill>
                <a:latin typeface="Calibri" pitchFamily="34" charset="0"/>
                <a:ea typeface="Calibri" pitchFamily="34" charset="-122"/>
                <a:cs typeface="Calibri" pitchFamily="34" charset="-120"/>
              </a:rPr>
              <a:t>≥ 90% operator agreement</a:t>
            </a:r>
            <a:endParaRPr lang="en-US" sz="900" dirty="0"/>
          </a:p>
        </p:txBody>
      </p:sp>
      <p:sp>
        <p:nvSpPr>
          <p:cNvPr id="41" name="Text 39"/>
          <p:cNvSpPr txBox="1"/>
          <p:nvPr/>
        </p:nvSpPr>
        <p:spPr>
          <a:xfrm>
            <a:off x="530352" y="2825496"/>
            <a:ext cx="320040" cy="310896"/>
          </a:xfrm>
          <a:prstGeom prst="rect">
            <a:avLst/>
          </a:prstGeom>
          <a:noFill/>
          <a:ln/>
        </p:spPr>
        <p:txBody>
          <a:bodyPr wrap="square" lIns="0" tIns="0" rIns="0" bIns="0" rtlCol="0" anchor="ctr"/>
          <a:lstStyle/>
          <a:p>
            <a:pPr indent="0" marL="0">
              <a:buNone/>
            </a:pPr>
            <a:r>
              <a:rPr lang="en-US" sz="1100" b="1" dirty="0">
                <a:solidFill>
                  <a:srgbClr val="0086C3"/>
                </a:solidFill>
                <a:latin typeface="Calibri" pitchFamily="34" charset="0"/>
                <a:ea typeface="Calibri" pitchFamily="34" charset="-122"/>
                <a:cs typeface="Calibri" pitchFamily="34" charset="-120"/>
              </a:rPr>
              <a:t>P3</a:t>
            </a:r>
            <a:endParaRPr lang="en-US" sz="1100" dirty="0"/>
          </a:p>
        </p:txBody>
      </p:sp>
      <p:sp>
        <p:nvSpPr>
          <p:cNvPr id="42" name="Text 40"/>
          <p:cNvSpPr txBox="1"/>
          <p:nvPr/>
        </p:nvSpPr>
        <p:spPr>
          <a:xfrm>
            <a:off x="850392" y="2825496"/>
            <a:ext cx="1645920" cy="310896"/>
          </a:xfrm>
          <a:prstGeom prst="rect">
            <a:avLst/>
          </a:prstGeom>
          <a:noFill/>
          <a:ln/>
        </p:spPr>
        <p:txBody>
          <a:bodyPr wrap="square" lIns="0" tIns="0" rIns="0" bIns="0" rtlCol="0" anchor="ctr"/>
          <a:lstStyle/>
          <a:p>
            <a:pPr indent="0" marL="0">
              <a:buNone/>
            </a:pPr>
            <a:r>
              <a:rPr lang="en-US" sz="950" dirty="0">
                <a:solidFill>
                  <a:srgbClr val="141C24"/>
                </a:solidFill>
                <a:latin typeface="Calibri" pitchFamily="34" charset="0"/>
                <a:ea typeface="Calibri" pitchFamily="34" charset="-122"/>
                <a:cs typeface="Calibri" pitchFamily="34" charset="-120"/>
              </a:rPr>
              <a:t>Auto-hold on severe defects</a:t>
            </a:r>
            <a:endParaRPr lang="en-US" sz="950" dirty="0"/>
          </a:p>
        </p:txBody>
      </p:sp>
      <p:sp>
        <p:nvSpPr>
          <p:cNvPr id="43" name="Shape 41"/>
          <p:cNvSpPr/>
          <p:nvPr/>
        </p:nvSpPr>
        <p:spPr>
          <a:xfrm>
            <a:off x="2514600" y="2889504"/>
            <a:ext cx="3246120" cy="182880"/>
          </a:xfrm>
          <a:prstGeom prst="rect">
            <a:avLst/>
          </a:prstGeom>
          <a:solidFill>
            <a:srgbClr val="F1F4F7"/>
          </a:solidFill>
          <a:ln w="12700">
            <a:solidFill>
              <a:srgbClr val="F1F4F7"/>
            </a:solidFill>
            <a:prstDash val="solid"/>
          </a:ln>
        </p:spPr>
      </p:sp>
      <p:sp>
        <p:nvSpPr>
          <p:cNvPr id="44" name="Shape 42"/>
          <p:cNvSpPr/>
          <p:nvPr/>
        </p:nvSpPr>
        <p:spPr>
          <a:xfrm>
            <a:off x="3650742" y="2889504"/>
            <a:ext cx="811530" cy="182880"/>
          </a:xfrm>
          <a:prstGeom prst="rect">
            <a:avLst/>
          </a:prstGeom>
          <a:solidFill>
            <a:srgbClr val="2B5B80"/>
          </a:solidFill>
          <a:ln w="12700">
            <a:solidFill>
              <a:srgbClr val="2B5B80"/>
            </a:solidFill>
            <a:prstDash val="solid"/>
          </a:ln>
        </p:spPr>
      </p:sp>
      <p:sp>
        <p:nvSpPr>
          <p:cNvPr id="45" name="Text 43"/>
          <p:cNvSpPr txBox="1"/>
          <p:nvPr/>
        </p:nvSpPr>
        <p:spPr>
          <a:xfrm>
            <a:off x="5943600" y="2825496"/>
            <a:ext cx="1691640" cy="310896"/>
          </a:xfrm>
          <a:prstGeom prst="rect">
            <a:avLst/>
          </a:prstGeom>
          <a:noFill/>
          <a:ln/>
        </p:spPr>
        <p:txBody>
          <a:bodyPr wrap="square" lIns="0" tIns="0" rIns="0" bIns="0" rtlCol="0" anchor="ctr"/>
          <a:lstStyle/>
          <a:p>
            <a:pPr indent="0" marL="0">
              <a:buNone/>
            </a:pPr>
            <a:r>
              <a:rPr lang="en-US" sz="900" dirty="0">
                <a:solidFill>
                  <a:srgbClr val="334150"/>
                </a:solidFill>
                <a:latin typeface="Calibri" pitchFamily="34" charset="0"/>
                <a:ea typeface="Calibri" pitchFamily="34" charset="-122"/>
                <a:cs typeface="Calibri" pitchFamily="34" charset="-120"/>
              </a:rPr>
              <a:t>Holds trusted; downgrade measured</a:t>
            </a:r>
            <a:endParaRPr lang="en-US" sz="900" dirty="0"/>
          </a:p>
        </p:txBody>
      </p:sp>
      <p:sp>
        <p:nvSpPr>
          <p:cNvPr id="46" name="Text 44"/>
          <p:cNvSpPr txBox="1"/>
          <p:nvPr/>
        </p:nvSpPr>
        <p:spPr>
          <a:xfrm>
            <a:off x="530352" y="3172968"/>
            <a:ext cx="320040" cy="310896"/>
          </a:xfrm>
          <a:prstGeom prst="rect">
            <a:avLst/>
          </a:prstGeom>
          <a:noFill/>
          <a:ln/>
        </p:spPr>
        <p:txBody>
          <a:bodyPr wrap="square" lIns="0" tIns="0" rIns="0" bIns="0" rtlCol="0" anchor="ctr"/>
          <a:lstStyle/>
          <a:p>
            <a:pPr indent="0" marL="0">
              <a:buNone/>
            </a:pPr>
            <a:r>
              <a:rPr lang="en-US" sz="1100" b="1" dirty="0">
                <a:solidFill>
                  <a:srgbClr val="0086C3"/>
                </a:solidFill>
                <a:latin typeface="Calibri" pitchFamily="34" charset="0"/>
                <a:ea typeface="Calibri" pitchFamily="34" charset="-122"/>
                <a:cs typeface="Calibri" pitchFamily="34" charset="-120"/>
              </a:rPr>
              <a:t>P4</a:t>
            </a:r>
            <a:endParaRPr lang="en-US" sz="1100" dirty="0"/>
          </a:p>
        </p:txBody>
      </p:sp>
      <p:sp>
        <p:nvSpPr>
          <p:cNvPr id="47" name="Text 45"/>
          <p:cNvSpPr txBox="1"/>
          <p:nvPr/>
        </p:nvSpPr>
        <p:spPr>
          <a:xfrm>
            <a:off x="850392" y="3172968"/>
            <a:ext cx="1645920" cy="310896"/>
          </a:xfrm>
          <a:prstGeom prst="rect">
            <a:avLst/>
          </a:prstGeom>
          <a:noFill/>
          <a:ln/>
        </p:spPr>
        <p:txBody>
          <a:bodyPr wrap="square" lIns="0" tIns="0" rIns="0" bIns="0" rtlCol="0" anchor="ctr"/>
          <a:lstStyle/>
          <a:p>
            <a:pPr indent="0" marL="0">
              <a:buNone/>
            </a:pPr>
            <a:r>
              <a:rPr lang="en-US" sz="950" dirty="0">
                <a:solidFill>
                  <a:srgbClr val="141C24"/>
                </a:solidFill>
                <a:latin typeface="Calibri" pitchFamily="34" charset="0"/>
                <a:ea typeface="Calibri" pitchFamily="34" charset="-122"/>
                <a:cs typeface="Calibri" pitchFamily="34" charset="-120"/>
              </a:rPr>
              <a:t>Second line and grade</a:t>
            </a:r>
            <a:endParaRPr lang="en-US" sz="950" dirty="0"/>
          </a:p>
        </p:txBody>
      </p:sp>
      <p:sp>
        <p:nvSpPr>
          <p:cNvPr id="48" name="Shape 46"/>
          <p:cNvSpPr/>
          <p:nvPr/>
        </p:nvSpPr>
        <p:spPr>
          <a:xfrm>
            <a:off x="2514600" y="3236976"/>
            <a:ext cx="3246120" cy="182880"/>
          </a:xfrm>
          <a:prstGeom prst="rect">
            <a:avLst/>
          </a:prstGeom>
          <a:solidFill>
            <a:srgbClr val="F1F4F7"/>
          </a:solidFill>
          <a:ln w="12700">
            <a:solidFill>
              <a:srgbClr val="F1F4F7"/>
            </a:solidFill>
            <a:prstDash val="solid"/>
          </a:ln>
        </p:spPr>
      </p:sp>
      <p:sp>
        <p:nvSpPr>
          <p:cNvPr id="49" name="Shape 47"/>
          <p:cNvSpPr/>
          <p:nvPr/>
        </p:nvSpPr>
        <p:spPr>
          <a:xfrm>
            <a:off x="4462272" y="3236976"/>
            <a:ext cx="1298448" cy="182880"/>
          </a:xfrm>
          <a:prstGeom prst="rect">
            <a:avLst/>
          </a:prstGeom>
          <a:solidFill>
            <a:srgbClr val="2B5B80"/>
          </a:solidFill>
          <a:ln w="12700">
            <a:solidFill>
              <a:srgbClr val="2B5B80"/>
            </a:solidFill>
            <a:prstDash val="solid"/>
          </a:ln>
        </p:spPr>
      </p:sp>
      <p:sp>
        <p:nvSpPr>
          <p:cNvPr id="50" name="Text 48"/>
          <p:cNvSpPr txBox="1"/>
          <p:nvPr/>
        </p:nvSpPr>
        <p:spPr>
          <a:xfrm>
            <a:off x="5943600" y="3172968"/>
            <a:ext cx="1691640" cy="310896"/>
          </a:xfrm>
          <a:prstGeom prst="rect">
            <a:avLst/>
          </a:prstGeom>
          <a:noFill/>
          <a:ln/>
        </p:spPr>
        <p:txBody>
          <a:bodyPr wrap="square" lIns="0" tIns="0" rIns="0" bIns="0" rtlCol="0" anchor="ctr"/>
          <a:lstStyle/>
          <a:p>
            <a:pPr indent="0" marL="0">
              <a:buNone/>
            </a:pPr>
            <a:r>
              <a:rPr lang="en-US" sz="900" dirty="0">
                <a:solidFill>
                  <a:srgbClr val="334150"/>
                </a:solidFill>
                <a:latin typeface="Calibri" pitchFamily="34" charset="0"/>
                <a:ea typeface="Calibri" pitchFamily="34" charset="-122"/>
                <a:cs typeface="Calibri" pitchFamily="34" charset="-120"/>
              </a:rPr>
              <a:t>Fleet decision on real payback</a:t>
            </a:r>
            <a:endParaRPr lang="en-US" sz="900" dirty="0"/>
          </a:p>
        </p:txBody>
      </p:sp>
      <p:sp>
        <p:nvSpPr>
          <p:cNvPr id="51" name="Shape 49"/>
          <p:cNvSpPr/>
          <p:nvPr/>
        </p:nvSpPr>
        <p:spPr>
          <a:xfrm>
            <a:off x="3641598" y="1755648"/>
            <a:ext cx="22860" cy="1737360"/>
          </a:xfrm>
          <a:prstGeom prst="rect">
            <a:avLst/>
          </a:prstGeom>
          <a:solidFill>
            <a:srgbClr val="C62828"/>
          </a:solidFill>
          <a:ln w="12700">
            <a:solidFill>
              <a:srgbClr val="C62828"/>
            </a:solidFill>
            <a:prstDash val="solid"/>
          </a:ln>
        </p:spPr>
      </p:sp>
      <p:sp>
        <p:nvSpPr>
          <p:cNvPr id="52" name="Text 50"/>
          <p:cNvSpPr txBox="1"/>
          <p:nvPr/>
        </p:nvSpPr>
        <p:spPr>
          <a:xfrm>
            <a:off x="3056382" y="3502152"/>
            <a:ext cx="1188720" cy="182880"/>
          </a:xfrm>
          <a:prstGeom prst="rect">
            <a:avLst/>
          </a:prstGeom>
          <a:noFill/>
          <a:ln/>
        </p:spPr>
        <p:txBody>
          <a:bodyPr wrap="square" lIns="0" tIns="0" rIns="0" bIns="0" rtlCol="0" anchor="t"/>
          <a:lstStyle/>
          <a:p>
            <a:pPr indent="0" marL="0">
              <a:buNone/>
            </a:pPr>
            <a:r>
              <a:rPr lang="en-US" sz="900" b="1" dirty="0">
                <a:solidFill>
                  <a:srgbClr val="C62828"/>
                </a:solidFill>
                <a:latin typeface="Calibri" pitchFamily="34" charset="0"/>
                <a:ea typeface="Calibri" pitchFamily="34" charset="-122"/>
                <a:cs typeface="Calibri" pitchFamily="34" charset="-120"/>
              </a:rPr>
              <a:t>pilot go / no-go</a:t>
            </a:r>
            <a:endParaRPr lang="en-US" sz="900" dirty="0"/>
          </a:p>
        </p:txBody>
      </p:sp>
      <p:sp>
        <p:nvSpPr>
          <p:cNvPr id="53" name="Shape 51"/>
          <p:cNvSpPr/>
          <p:nvPr/>
        </p:nvSpPr>
        <p:spPr>
          <a:xfrm>
            <a:off x="7863840" y="1234440"/>
            <a:ext cx="3867912" cy="274320"/>
          </a:xfrm>
          <a:prstGeom prst="rect">
            <a:avLst/>
          </a:prstGeom>
          <a:solidFill>
            <a:srgbClr val="2B5B80"/>
          </a:solidFill>
          <a:ln w="12700">
            <a:solidFill>
              <a:srgbClr val="2B5B80"/>
            </a:solidFill>
            <a:prstDash val="solid"/>
          </a:ln>
        </p:spPr>
      </p:sp>
      <p:sp>
        <p:nvSpPr>
          <p:cNvPr id="54" name="Text 52"/>
          <p:cNvSpPr txBox="1"/>
          <p:nvPr/>
        </p:nvSpPr>
        <p:spPr>
          <a:xfrm>
            <a:off x="7955280" y="1234440"/>
            <a:ext cx="3685032" cy="274320"/>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Cost per line, estimated</a:t>
            </a:r>
            <a:endParaRPr lang="en-US" sz="1100" dirty="0"/>
          </a:p>
        </p:txBody>
      </p:sp>
      <p:graphicFrame>
        <p:nvGraphicFramePr>
          <p:cNvPr id="55" name="Chart 0" descr=""/>
          <p:cNvGraphicFramePr/>
          <p:nvPr/>
        </p:nvGraphicFramePr>
        <p:xfrm>
          <a:off x="7863840" y="1554480"/>
          <a:ext cx="1783080" cy="1783080"/>
        </p:xfrm>
        <a:graphic xmlns:a="http://schemas.openxmlformats.org/drawingml/2006/main">
          <a:graphicData uri="http://schemas.openxmlformats.org/drawingml/2006/chart">
            <c:chart xmlns:c="http://schemas.openxmlformats.org/drawingml/2006/chart" r:id="rId1"/>
          </a:graphicData>
        </a:graphic>
      </p:graphicFrame>
      <p:sp>
        <p:nvSpPr>
          <p:cNvPr id="56" name="Text 53"/>
          <p:cNvSpPr txBox="1"/>
          <p:nvPr/>
        </p:nvSpPr>
        <p:spPr>
          <a:xfrm>
            <a:off x="8092440" y="2176272"/>
            <a:ext cx="1325880" cy="548640"/>
          </a:xfrm>
          <a:prstGeom prst="rect">
            <a:avLst/>
          </a:prstGeom>
          <a:noFill/>
          <a:ln/>
        </p:spPr>
        <p:txBody>
          <a:bodyPr wrap="square" lIns="0" tIns="0" rIns="0" bIns="0" rtlCol="0" anchor="ctr"/>
          <a:lstStyle/>
          <a:p>
            <a:pPr algn="ctr" indent="0" marL="0">
              <a:buNone/>
            </a:pPr>
            <a:r>
              <a:rPr lang="en-US" sz="1300" b="1" dirty="0">
                <a:solidFill>
                  <a:srgbClr val="143A5A"/>
                </a:solidFill>
                <a:latin typeface="Calibri" pitchFamily="34" charset="0"/>
                <a:ea typeface="Calibri" pitchFamily="34" charset="-122"/>
                <a:cs typeface="Calibri" pitchFamily="34" charset="-120"/>
              </a:rPr>
              <a:t>₹2.5-4.2</a:t>
            </a:r>
            <a:pPr algn="ctr" indent="0" marL="0">
              <a:buNone/>
            </a:pPr>
            <a:endParaRPr lang="en-US" sz="1000" dirty="0"/>
          </a:p>
          <a:p>
            <a:pPr algn="ctr" indent="0" marL="0">
              <a:buNone/>
            </a:pPr>
            <a:r>
              <a:rPr lang="en-US" sz="900" dirty="0">
                <a:solidFill>
                  <a:srgbClr val="5F6B78"/>
                </a:solidFill>
                <a:latin typeface="Calibri" pitchFamily="34" charset="0"/>
                <a:ea typeface="Calibri" pitchFamily="34" charset="-122"/>
                <a:cs typeface="Calibri" pitchFamily="34" charset="-120"/>
              </a:rPr>
              <a:t>cr per line</a:t>
            </a:r>
            <a:endParaRPr lang="en-US" sz="1000" dirty="0"/>
          </a:p>
        </p:txBody>
      </p:sp>
      <p:sp>
        <p:nvSpPr>
          <p:cNvPr id="57" name="Shape 54"/>
          <p:cNvSpPr/>
          <p:nvPr/>
        </p:nvSpPr>
        <p:spPr>
          <a:xfrm>
            <a:off x="9738360" y="1746504"/>
            <a:ext cx="146304" cy="146304"/>
          </a:xfrm>
          <a:prstGeom prst="rect">
            <a:avLst/>
          </a:prstGeom>
          <a:solidFill>
            <a:srgbClr val="143A5A"/>
          </a:solidFill>
          <a:ln w="12700">
            <a:solidFill>
              <a:srgbClr val="143A5A"/>
            </a:solidFill>
            <a:prstDash val="solid"/>
          </a:ln>
        </p:spPr>
      </p:sp>
      <p:sp>
        <p:nvSpPr>
          <p:cNvPr id="58" name="Text 55"/>
          <p:cNvSpPr txBox="1"/>
          <p:nvPr/>
        </p:nvSpPr>
        <p:spPr>
          <a:xfrm>
            <a:off x="9948672" y="1673352"/>
            <a:ext cx="1783080" cy="182880"/>
          </a:xfrm>
          <a:prstGeom prst="rect">
            <a:avLst/>
          </a:prstGeom>
          <a:noFill/>
          <a:ln/>
        </p:spPr>
        <p:txBody>
          <a:bodyPr wrap="square" lIns="0" tIns="0" rIns="0" bIns="0" rtlCol="0" anchor="t"/>
          <a:lstStyle/>
          <a:p>
            <a:pPr indent="0" marL="0">
              <a:buNone/>
            </a:pPr>
            <a:r>
              <a:rPr lang="en-US" sz="900" dirty="0">
                <a:solidFill>
                  <a:srgbClr val="141C24"/>
                </a:solidFill>
                <a:latin typeface="Calibri" pitchFamily="34" charset="0"/>
                <a:ea typeface="Calibri" pitchFamily="34" charset="-122"/>
                <a:cs typeface="Calibri" pitchFamily="34" charset="-120"/>
              </a:rPr>
              <a:t>Cameras &amp; lighting</a:t>
            </a:r>
            <a:endParaRPr lang="en-US" sz="900" dirty="0"/>
          </a:p>
        </p:txBody>
      </p:sp>
      <p:sp>
        <p:nvSpPr>
          <p:cNvPr id="59" name="Text 56"/>
          <p:cNvSpPr txBox="1"/>
          <p:nvPr/>
        </p:nvSpPr>
        <p:spPr>
          <a:xfrm>
            <a:off x="9948672" y="1837944"/>
            <a:ext cx="1783080" cy="182880"/>
          </a:xfrm>
          <a:prstGeom prst="rect">
            <a:avLst/>
          </a:prstGeom>
          <a:noFill/>
          <a:ln/>
        </p:spPr>
        <p:txBody>
          <a:bodyPr wrap="square" lIns="0" tIns="0" rIns="0" bIns="0" rtlCol="0" anchor="t"/>
          <a:lstStyle/>
          <a:p>
            <a:pPr indent="0" marL="0">
              <a:buNone/>
            </a:pPr>
            <a:r>
              <a:rPr lang="en-US" sz="900" b="1" dirty="0">
                <a:solidFill>
                  <a:srgbClr val="334150"/>
                </a:solidFill>
                <a:latin typeface="Calibri" pitchFamily="34" charset="0"/>
                <a:ea typeface="Calibri" pitchFamily="34" charset="-122"/>
                <a:cs typeface="Calibri" pitchFamily="34" charset="-120"/>
              </a:rPr>
              <a:t>₹85-145 L</a:t>
            </a:r>
            <a:endParaRPr lang="en-US" sz="900" dirty="0"/>
          </a:p>
        </p:txBody>
      </p:sp>
      <p:sp>
        <p:nvSpPr>
          <p:cNvPr id="60" name="Shape 57"/>
          <p:cNvSpPr/>
          <p:nvPr/>
        </p:nvSpPr>
        <p:spPr>
          <a:xfrm>
            <a:off x="9738360" y="2112264"/>
            <a:ext cx="146304" cy="146304"/>
          </a:xfrm>
          <a:prstGeom prst="rect">
            <a:avLst/>
          </a:prstGeom>
          <a:solidFill>
            <a:srgbClr val="1F6FA8"/>
          </a:solidFill>
          <a:ln w="12700">
            <a:solidFill>
              <a:srgbClr val="1F6FA8"/>
            </a:solidFill>
            <a:prstDash val="solid"/>
          </a:ln>
        </p:spPr>
      </p:sp>
      <p:sp>
        <p:nvSpPr>
          <p:cNvPr id="61" name="Text 58"/>
          <p:cNvSpPr txBox="1"/>
          <p:nvPr/>
        </p:nvSpPr>
        <p:spPr>
          <a:xfrm>
            <a:off x="9948672" y="2039112"/>
            <a:ext cx="1783080" cy="182880"/>
          </a:xfrm>
          <a:prstGeom prst="rect">
            <a:avLst/>
          </a:prstGeom>
          <a:noFill/>
          <a:ln/>
        </p:spPr>
        <p:txBody>
          <a:bodyPr wrap="square" lIns="0" tIns="0" rIns="0" bIns="0" rtlCol="0" anchor="t"/>
          <a:lstStyle/>
          <a:p>
            <a:pPr indent="0" marL="0">
              <a:buNone/>
            </a:pPr>
            <a:r>
              <a:rPr lang="en-US" sz="900" dirty="0">
                <a:solidFill>
                  <a:srgbClr val="141C24"/>
                </a:solidFill>
                <a:latin typeface="Calibri" pitchFamily="34" charset="0"/>
                <a:ea typeface="Calibri" pitchFamily="34" charset="-122"/>
                <a:cs typeface="Calibri" pitchFamily="34" charset="-120"/>
              </a:rPr>
              <a:t>Installation &amp; integration</a:t>
            </a:r>
            <a:endParaRPr lang="en-US" sz="900" dirty="0"/>
          </a:p>
        </p:txBody>
      </p:sp>
      <p:sp>
        <p:nvSpPr>
          <p:cNvPr id="62" name="Text 59"/>
          <p:cNvSpPr txBox="1"/>
          <p:nvPr/>
        </p:nvSpPr>
        <p:spPr>
          <a:xfrm>
            <a:off x="9948672" y="2203704"/>
            <a:ext cx="1783080" cy="182880"/>
          </a:xfrm>
          <a:prstGeom prst="rect">
            <a:avLst/>
          </a:prstGeom>
          <a:noFill/>
          <a:ln/>
        </p:spPr>
        <p:txBody>
          <a:bodyPr wrap="square" lIns="0" tIns="0" rIns="0" bIns="0" rtlCol="0" anchor="t"/>
          <a:lstStyle/>
          <a:p>
            <a:pPr indent="0" marL="0">
              <a:buNone/>
            </a:pPr>
            <a:r>
              <a:rPr lang="en-US" sz="900" b="1" dirty="0">
                <a:solidFill>
                  <a:srgbClr val="334150"/>
                </a:solidFill>
                <a:latin typeface="Calibri" pitchFamily="34" charset="0"/>
                <a:ea typeface="Calibri" pitchFamily="34" charset="-122"/>
                <a:cs typeface="Calibri" pitchFamily="34" charset="-120"/>
              </a:rPr>
              <a:t>₹90-150 L</a:t>
            </a:r>
            <a:endParaRPr lang="en-US" sz="900" dirty="0"/>
          </a:p>
        </p:txBody>
      </p:sp>
      <p:sp>
        <p:nvSpPr>
          <p:cNvPr id="63" name="Shape 60"/>
          <p:cNvSpPr/>
          <p:nvPr/>
        </p:nvSpPr>
        <p:spPr>
          <a:xfrm>
            <a:off x="9738360" y="2478024"/>
            <a:ext cx="146304" cy="146304"/>
          </a:xfrm>
          <a:prstGeom prst="rect">
            <a:avLst/>
          </a:prstGeom>
          <a:solidFill>
            <a:srgbClr val="5E9CCB"/>
          </a:solidFill>
          <a:ln w="12700">
            <a:solidFill>
              <a:srgbClr val="5E9CCB"/>
            </a:solidFill>
            <a:prstDash val="solid"/>
          </a:ln>
        </p:spPr>
      </p:sp>
      <p:sp>
        <p:nvSpPr>
          <p:cNvPr id="64" name="Text 61"/>
          <p:cNvSpPr txBox="1"/>
          <p:nvPr/>
        </p:nvSpPr>
        <p:spPr>
          <a:xfrm>
            <a:off x="9948672" y="2404872"/>
            <a:ext cx="1783080" cy="182880"/>
          </a:xfrm>
          <a:prstGeom prst="rect">
            <a:avLst/>
          </a:prstGeom>
          <a:noFill/>
          <a:ln/>
        </p:spPr>
        <p:txBody>
          <a:bodyPr wrap="square" lIns="0" tIns="0" rIns="0" bIns="0" rtlCol="0" anchor="t"/>
          <a:lstStyle/>
          <a:p>
            <a:pPr indent="0" marL="0">
              <a:buNone/>
            </a:pPr>
            <a:r>
              <a:rPr lang="en-US" sz="900" dirty="0">
                <a:solidFill>
                  <a:srgbClr val="141C24"/>
                </a:solidFill>
                <a:latin typeface="Calibri" pitchFamily="34" charset="0"/>
                <a:ea typeface="Calibri" pitchFamily="34" charset="-122"/>
                <a:cs typeface="Calibri" pitchFamily="34" charset="-120"/>
              </a:rPr>
              <a:t>Computing hardware</a:t>
            </a:r>
            <a:endParaRPr lang="en-US" sz="900" dirty="0"/>
          </a:p>
        </p:txBody>
      </p:sp>
      <p:sp>
        <p:nvSpPr>
          <p:cNvPr id="65" name="Text 62"/>
          <p:cNvSpPr txBox="1"/>
          <p:nvPr/>
        </p:nvSpPr>
        <p:spPr>
          <a:xfrm>
            <a:off x="9948672" y="2569464"/>
            <a:ext cx="1783080" cy="182880"/>
          </a:xfrm>
          <a:prstGeom prst="rect">
            <a:avLst/>
          </a:prstGeom>
          <a:noFill/>
          <a:ln/>
        </p:spPr>
        <p:txBody>
          <a:bodyPr wrap="square" lIns="0" tIns="0" rIns="0" bIns="0" rtlCol="0" anchor="t"/>
          <a:lstStyle/>
          <a:p>
            <a:pPr indent="0" marL="0">
              <a:buNone/>
            </a:pPr>
            <a:r>
              <a:rPr lang="en-US" sz="900" b="1" dirty="0">
                <a:solidFill>
                  <a:srgbClr val="334150"/>
                </a:solidFill>
                <a:latin typeface="Calibri" pitchFamily="34" charset="0"/>
                <a:ea typeface="Calibri" pitchFamily="34" charset="-122"/>
                <a:cs typeface="Calibri" pitchFamily="34" charset="-120"/>
              </a:rPr>
              <a:t>₹45-75 L</a:t>
            </a:r>
            <a:endParaRPr lang="en-US" sz="900" dirty="0"/>
          </a:p>
        </p:txBody>
      </p:sp>
      <p:sp>
        <p:nvSpPr>
          <p:cNvPr id="66" name="Shape 63"/>
          <p:cNvSpPr/>
          <p:nvPr/>
        </p:nvSpPr>
        <p:spPr>
          <a:xfrm>
            <a:off x="9738360" y="2843784"/>
            <a:ext cx="146304" cy="146304"/>
          </a:xfrm>
          <a:prstGeom prst="rect">
            <a:avLst/>
          </a:prstGeom>
          <a:solidFill>
            <a:srgbClr val="A9CBE6"/>
          </a:solidFill>
          <a:ln w="12700">
            <a:solidFill>
              <a:srgbClr val="A9CBE6"/>
            </a:solidFill>
            <a:prstDash val="solid"/>
          </a:ln>
        </p:spPr>
      </p:sp>
      <p:sp>
        <p:nvSpPr>
          <p:cNvPr id="67" name="Text 64"/>
          <p:cNvSpPr txBox="1"/>
          <p:nvPr/>
        </p:nvSpPr>
        <p:spPr>
          <a:xfrm>
            <a:off x="9948672" y="2770632"/>
            <a:ext cx="1783080" cy="182880"/>
          </a:xfrm>
          <a:prstGeom prst="rect">
            <a:avLst/>
          </a:prstGeom>
          <a:noFill/>
          <a:ln/>
        </p:spPr>
        <p:txBody>
          <a:bodyPr wrap="square" lIns="0" tIns="0" rIns="0" bIns="0" rtlCol="0" anchor="t"/>
          <a:lstStyle/>
          <a:p>
            <a:pPr indent="0" marL="0">
              <a:buNone/>
            </a:pPr>
            <a:r>
              <a:rPr lang="en-US" sz="900" dirty="0">
                <a:solidFill>
                  <a:srgbClr val="141C24"/>
                </a:solidFill>
                <a:latin typeface="Calibri" pitchFamily="34" charset="0"/>
                <a:ea typeface="Calibri" pitchFamily="34" charset="-122"/>
                <a:cs typeface="Calibri" pitchFamily="34" charset="-120"/>
              </a:rPr>
              <a:t>Training on JSL strip</a:t>
            </a:r>
            <a:endParaRPr lang="en-US" sz="900" dirty="0"/>
          </a:p>
        </p:txBody>
      </p:sp>
      <p:sp>
        <p:nvSpPr>
          <p:cNvPr id="68" name="Text 65"/>
          <p:cNvSpPr txBox="1"/>
          <p:nvPr/>
        </p:nvSpPr>
        <p:spPr>
          <a:xfrm>
            <a:off x="9948672" y="2935224"/>
            <a:ext cx="1783080" cy="182880"/>
          </a:xfrm>
          <a:prstGeom prst="rect">
            <a:avLst/>
          </a:prstGeom>
          <a:noFill/>
          <a:ln/>
        </p:spPr>
        <p:txBody>
          <a:bodyPr wrap="square" lIns="0" tIns="0" rIns="0" bIns="0" rtlCol="0" anchor="t"/>
          <a:lstStyle/>
          <a:p>
            <a:pPr indent="0" marL="0">
              <a:buNone/>
            </a:pPr>
            <a:r>
              <a:rPr lang="en-US" sz="900" b="1" dirty="0">
                <a:solidFill>
                  <a:srgbClr val="334150"/>
                </a:solidFill>
                <a:latin typeface="Calibri" pitchFamily="34" charset="0"/>
                <a:ea typeface="Calibri" pitchFamily="34" charset="-122"/>
                <a:cs typeface="Calibri" pitchFamily="34" charset="-120"/>
              </a:rPr>
              <a:t>₹30-50 L</a:t>
            </a:r>
            <a:endParaRPr lang="en-US" sz="900" dirty="0"/>
          </a:p>
        </p:txBody>
      </p:sp>
      <p:sp>
        <p:nvSpPr>
          <p:cNvPr id="69" name="Text 66"/>
          <p:cNvSpPr txBox="1"/>
          <p:nvPr/>
        </p:nvSpPr>
        <p:spPr>
          <a:xfrm>
            <a:off x="9738360" y="3172968"/>
            <a:ext cx="1965960" cy="201168"/>
          </a:xfrm>
          <a:prstGeom prst="rect">
            <a:avLst/>
          </a:prstGeom>
          <a:noFill/>
          <a:ln/>
        </p:spPr>
        <p:txBody>
          <a:bodyPr wrap="square" lIns="0" tIns="0" rIns="0" bIns="0" rtlCol="0" anchor="t"/>
          <a:lstStyle/>
          <a:p>
            <a:pPr indent="0" marL="0">
              <a:buNone/>
            </a:pPr>
            <a:r>
              <a:rPr lang="en-US" sz="900" i="1" dirty="0">
                <a:solidFill>
                  <a:srgbClr val="5F6B78"/>
                </a:solidFill>
                <a:latin typeface="Calibri" pitchFamily="34" charset="0"/>
                <a:ea typeface="Calibri" pitchFamily="34" charset="-122"/>
                <a:cs typeface="Calibri" pitchFamily="34" charset="-120"/>
              </a:rPr>
              <a:t>Running cost ~₹50 L a year</a:t>
            </a:r>
            <a:endParaRPr lang="en-US" sz="900" dirty="0"/>
          </a:p>
        </p:txBody>
      </p:sp>
      <p:sp>
        <p:nvSpPr>
          <p:cNvPr id="70" name="Shape 67"/>
          <p:cNvSpPr/>
          <p:nvPr/>
        </p:nvSpPr>
        <p:spPr>
          <a:xfrm>
            <a:off x="457200" y="3730752"/>
            <a:ext cx="5541264" cy="274320"/>
          </a:xfrm>
          <a:prstGeom prst="rect">
            <a:avLst/>
          </a:prstGeom>
          <a:solidFill>
            <a:srgbClr val="2B5B80"/>
          </a:solidFill>
          <a:ln w="12700">
            <a:solidFill>
              <a:srgbClr val="2B5B80"/>
            </a:solidFill>
            <a:prstDash val="solid"/>
          </a:ln>
        </p:spPr>
      </p:sp>
      <p:sp>
        <p:nvSpPr>
          <p:cNvPr id="71" name="Text 68"/>
          <p:cNvSpPr txBox="1"/>
          <p:nvPr/>
        </p:nvSpPr>
        <p:spPr>
          <a:xfrm>
            <a:off x="548640" y="3730752"/>
            <a:ext cx="5358384" cy="274320"/>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Top risks, and when each is retired</a:t>
            </a:r>
            <a:endParaRPr lang="en-US" sz="11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457200" y="4059936"/>
          <a:ext cx="5541264" cy="914400"/>
        </p:xfrm>
        <a:graphic>
          <a:graphicData uri="http://schemas.openxmlformats.org/drawingml/2006/table">
            <a:tbl>
              <a:tblPr/>
              <a:tblGrid>
                <a:gridCol w="2377440"/>
                <a:gridCol w="2432304"/>
                <a:gridCol w="731520"/>
              </a:tblGrid>
              <a:tr h="297180">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Risk</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143A5A"/>
                    </a:solidFill>
                  </a:tcPr>
                </a:tc>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Mitigation</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143A5A"/>
                    </a:solidFill>
                  </a:tcPr>
                </a:tc>
                <a:tc>
                  <a:txBody>
                    <a:bodyPr/>
                    <a:lstStyle/>
                    <a:p>
                      <a:pPr algn="ctr" indent="0" marL="0">
                        <a:buNone/>
                      </a:pPr>
                      <a:r>
                        <a:rPr lang="en-US" sz="950" b="1" dirty="0">
                          <a:solidFill>
                            <a:srgbClr val="FFFFFF"/>
                          </a:solidFill>
                          <a:latin typeface="Calibri" pitchFamily="34" charset="0"/>
                          <a:ea typeface="Calibri" pitchFamily="34" charset="-122"/>
                          <a:cs typeface="Calibri" pitchFamily="34" charset="-120"/>
                        </a:rPr>
                        <a:t>Retired</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143A5A"/>
                    </a:solidFill>
                  </a:tcPr>
                </a:tc>
              </a:tr>
              <a:tr h="297180">
                <a:tc>
                  <a:txBody>
                    <a:bodyPr/>
                    <a:lstStyle/>
                    <a:p>
                      <a:pPr indent="0" marL="0">
                        <a:buNone/>
                      </a:pPr>
                      <a:r>
                        <a:rPr lang="en-US" sz="950" b="1" dirty="0">
                          <a:solidFill>
                            <a:srgbClr val="141C24"/>
                          </a:solidFill>
                          <a:latin typeface="Calibri" pitchFamily="34" charset="0"/>
                          <a:ea typeface="Calibri" pitchFamily="34" charset="-122"/>
                          <a:cs typeface="Calibri" pitchFamily="34" charset="-120"/>
                        </a:rPr>
                        <a:t>Model does not transfer to JSL strip</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tc>
                  <a:txBody>
                    <a:bodyPr/>
                    <a:lstStyle/>
                    <a:p>
                      <a:pPr indent="0" marL="0">
                        <a:buNone/>
                      </a:pPr>
                      <a:r>
                        <a:rPr lang="en-US" sz="950" dirty="0">
                          <a:solidFill>
                            <a:srgbClr val="141C24"/>
                          </a:solidFill>
                          <a:latin typeface="Calibri" pitchFamily="34" charset="0"/>
                          <a:ea typeface="Calibri" pitchFamily="34" charset="-122"/>
                          <a:cs typeface="Calibri" pitchFamily="34" charset="-120"/>
                        </a:rPr>
                        <a:t>Train on JSL clean and defect images</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tc>
                  <a:txBody>
                    <a:bodyPr/>
                    <a:lstStyle/>
                    <a:p>
                      <a:pPr algn="ctr" indent="0" marL="0">
                        <a:buNone/>
                      </a:pPr>
                      <a:r>
                        <a:rPr lang="en-US" sz="950" b="1" dirty="0">
                          <a:solidFill>
                            <a:srgbClr val="0086C3"/>
                          </a:solidFill>
                          <a:latin typeface="Calibri" pitchFamily="34" charset="0"/>
                          <a:ea typeface="Calibri" pitchFamily="34" charset="-122"/>
                          <a:cs typeface="Calibri" pitchFamily="34" charset="-120"/>
                        </a:rPr>
                        <a:t>P1</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tr>
              <a:tr h="297180">
                <a:tc>
                  <a:txBody>
                    <a:bodyPr/>
                    <a:lstStyle/>
                    <a:p>
                      <a:pPr indent="0" marL="0">
                        <a:buNone/>
                      </a:pPr>
                      <a:r>
                        <a:rPr lang="en-US" sz="950" b="1" dirty="0">
                          <a:solidFill>
                            <a:srgbClr val="141C24"/>
                          </a:solidFill>
                          <a:latin typeface="Calibri" pitchFamily="34" charset="0"/>
                          <a:ea typeface="Calibri" pitchFamily="34" charset="-122"/>
                          <a:cs typeface="Calibri" pitchFamily="34" charset="-120"/>
                        </a:rPr>
                        <a:t>Low-contrast defects missed</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tc>
                  <a:txBody>
                    <a:bodyPr/>
                    <a:lstStyle/>
                    <a:p>
                      <a:pPr indent="0" marL="0">
                        <a:buNone/>
                      </a:pPr>
                      <a:r>
                        <a:rPr lang="en-US" sz="950" dirty="0">
                          <a:solidFill>
                            <a:srgbClr val="141C24"/>
                          </a:solidFill>
                          <a:latin typeface="Calibri" pitchFamily="34" charset="0"/>
                          <a:ea typeface="Calibri" pitchFamily="34" charset="-122"/>
                          <a:cs typeface="Calibri" pitchFamily="34" charset="-120"/>
                        </a:rPr>
                        <a:t>Angled lighting, sharper images</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tc>
                  <a:txBody>
                    <a:bodyPr/>
                    <a:lstStyle/>
                    <a:p>
                      <a:pPr algn="ctr" indent="0" marL="0">
                        <a:buNone/>
                      </a:pPr>
                      <a:r>
                        <a:rPr lang="en-US" sz="950" b="1" dirty="0">
                          <a:solidFill>
                            <a:srgbClr val="0086C3"/>
                          </a:solidFill>
                          <a:latin typeface="Calibri" pitchFamily="34" charset="0"/>
                          <a:ea typeface="Calibri" pitchFamily="34" charset="-122"/>
                          <a:cs typeface="Calibri" pitchFamily="34" charset="-120"/>
                        </a:rPr>
                        <a:t>P0-P1</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tr>
              <a:tr h="297180">
                <a:tc>
                  <a:txBody>
                    <a:bodyPr/>
                    <a:lstStyle/>
                    <a:p>
                      <a:pPr indent="0" marL="0">
                        <a:buNone/>
                      </a:pPr>
                      <a:r>
                        <a:rPr lang="en-US" sz="950" b="1" dirty="0">
                          <a:solidFill>
                            <a:srgbClr val="141C24"/>
                          </a:solidFill>
                          <a:latin typeface="Calibri" pitchFamily="34" charset="0"/>
                          <a:ea typeface="Calibri" pitchFamily="34" charset="-122"/>
                          <a:cs typeface="Calibri" pitchFamily="34" charset="-120"/>
                        </a:rPr>
                        <a:t>Rare defects under-learnt</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tc>
                  <a:txBody>
                    <a:bodyPr/>
                    <a:lstStyle/>
                    <a:p>
                      <a:pPr indent="0" marL="0">
                        <a:buNone/>
                      </a:pPr>
                      <a:r>
                        <a:rPr lang="en-US" sz="950" dirty="0">
                          <a:solidFill>
                            <a:srgbClr val="141C24"/>
                          </a:solidFill>
                          <a:latin typeface="Calibri" pitchFamily="34" charset="0"/>
                          <a:ea typeface="Calibri" pitchFamily="34" charset="-122"/>
                          <a:cs typeface="Calibri" pitchFamily="34" charset="-120"/>
                        </a:rPr>
                        <a:t>Edge cameras, targeted labelling</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tc>
                  <a:txBody>
                    <a:bodyPr/>
                    <a:lstStyle/>
                    <a:p>
                      <a:pPr algn="ctr" indent="0" marL="0">
                        <a:buNone/>
                      </a:pPr>
                      <a:r>
                        <a:rPr lang="en-US" sz="950" b="1" dirty="0">
                          <a:solidFill>
                            <a:srgbClr val="0086C3"/>
                          </a:solidFill>
                          <a:latin typeface="Calibri" pitchFamily="34" charset="0"/>
                          <a:ea typeface="Calibri" pitchFamily="34" charset="-122"/>
                          <a:cs typeface="Calibri" pitchFamily="34" charset="-120"/>
                        </a:rPr>
                        <a:t>P1-P3</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tr>
              <a:tr h="297180">
                <a:tc>
                  <a:txBody>
                    <a:bodyPr/>
                    <a:lstStyle/>
                    <a:p>
                      <a:pPr indent="0" marL="0">
                        <a:buNone/>
                      </a:pPr>
                      <a:r>
                        <a:rPr lang="en-US" sz="950" b="1" dirty="0">
                          <a:solidFill>
                            <a:srgbClr val="141C24"/>
                          </a:solidFill>
                          <a:latin typeface="Calibri" pitchFamily="34" charset="0"/>
                          <a:ea typeface="Calibri" pitchFamily="34" charset="-122"/>
                          <a:cs typeface="Calibri" pitchFamily="34" charset="-120"/>
                        </a:rPr>
                        <a:t>Operators ignore alarms</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tc>
                  <a:txBody>
                    <a:bodyPr/>
                    <a:lstStyle/>
                    <a:p>
                      <a:pPr indent="0" marL="0">
                        <a:buNone/>
                      </a:pPr>
                      <a:r>
                        <a:rPr lang="en-US" sz="950" dirty="0">
                          <a:solidFill>
                            <a:srgbClr val="141C24"/>
                          </a:solidFill>
                          <a:latin typeface="Calibri" pitchFamily="34" charset="0"/>
                          <a:ea typeface="Calibri" pitchFamily="34" charset="-122"/>
                          <a:cs typeface="Calibri" pitchFamily="34" charset="-120"/>
                        </a:rPr>
                        <a:t>Trusted scores, shadow mode first</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tc>
                  <a:txBody>
                    <a:bodyPr/>
                    <a:lstStyle/>
                    <a:p>
                      <a:pPr algn="ctr" indent="0" marL="0">
                        <a:buNone/>
                      </a:pPr>
                      <a:r>
                        <a:rPr lang="en-US" sz="950" b="1" dirty="0">
                          <a:solidFill>
                            <a:srgbClr val="0086C3"/>
                          </a:solidFill>
                          <a:latin typeface="Calibri" pitchFamily="34" charset="0"/>
                          <a:ea typeface="Calibri" pitchFamily="34" charset="-122"/>
                          <a:cs typeface="Calibri" pitchFamily="34" charset="-120"/>
                        </a:rPr>
                        <a:t>P2</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tr>
              <a:tr h="297180">
                <a:tc>
                  <a:txBody>
                    <a:bodyPr/>
                    <a:lstStyle/>
                    <a:p>
                      <a:pPr indent="0" marL="0">
                        <a:buNone/>
                      </a:pPr>
                      <a:r>
                        <a:rPr lang="en-US" sz="950" b="1" dirty="0">
                          <a:solidFill>
                            <a:srgbClr val="141C24"/>
                          </a:solidFill>
                          <a:latin typeface="Calibri" pitchFamily="34" charset="0"/>
                          <a:ea typeface="Calibri" pitchFamily="34" charset="-122"/>
                          <a:cs typeface="Calibri" pitchFamily="34" charset="-120"/>
                        </a:rPr>
                        <a:t>Heat, dust, acid fumes</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tc>
                  <a:txBody>
                    <a:bodyPr/>
                    <a:lstStyle/>
                    <a:p>
                      <a:pPr indent="0" marL="0">
                        <a:buNone/>
                      </a:pPr>
                      <a:r>
                        <a:rPr lang="en-US" sz="950" dirty="0">
                          <a:solidFill>
                            <a:srgbClr val="141C24"/>
                          </a:solidFill>
                          <a:latin typeface="Calibri" pitchFamily="34" charset="0"/>
                          <a:ea typeface="Calibri" pitchFamily="34" charset="-122"/>
                          <a:cs typeface="Calibri" pitchFamily="34" charset="-120"/>
                        </a:rPr>
                        <a:t>Sealed, cooled enclosures</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tc>
                  <a:txBody>
                    <a:bodyPr/>
                    <a:lstStyle/>
                    <a:p>
                      <a:pPr algn="ctr" indent="0" marL="0">
                        <a:buNone/>
                      </a:pPr>
                      <a:r>
                        <a:rPr lang="en-US" sz="950" b="1" dirty="0">
                          <a:solidFill>
                            <a:srgbClr val="0086C3"/>
                          </a:solidFill>
                          <a:latin typeface="Calibri" pitchFamily="34" charset="0"/>
                          <a:ea typeface="Calibri" pitchFamily="34" charset="-122"/>
                          <a:cs typeface="Calibri" pitchFamily="34" charset="-120"/>
                        </a:rPr>
                        <a:t>P0</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tr>
            </a:tbl>
          </a:graphicData>
        </a:graphic>
      </p:graphicFrame>
      <p:sp>
        <p:nvSpPr>
          <p:cNvPr id="73" name="Shape 69"/>
          <p:cNvSpPr/>
          <p:nvPr/>
        </p:nvSpPr>
        <p:spPr>
          <a:xfrm>
            <a:off x="6190488" y="3730752"/>
            <a:ext cx="5541264" cy="274320"/>
          </a:xfrm>
          <a:prstGeom prst="rect">
            <a:avLst/>
          </a:prstGeom>
          <a:solidFill>
            <a:srgbClr val="2B5B80"/>
          </a:solidFill>
          <a:ln w="12700">
            <a:solidFill>
              <a:srgbClr val="2B5B80"/>
            </a:solidFill>
            <a:prstDash val="solid"/>
          </a:ln>
        </p:spPr>
      </p:sp>
      <p:sp>
        <p:nvSpPr>
          <p:cNvPr id="74" name="Text 70"/>
          <p:cNvSpPr txBox="1"/>
          <p:nvPr/>
        </p:nvSpPr>
        <p:spPr>
          <a:xfrm>
            <a:off x="6281928" y="3730752"/>
            <a:ext cx="5358384" cy="274320"/>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Pilot KPIs: how JSL will know it works</a:t>
            </a:r>
            <a:endParaRPr lang="en-US" sz="1100" dirty="0"/>
          </a:p>
        </p:txBody>
      </p:sp>
      <p:sp>
        <p:nvSpPr>
          <p:cNvPr id="75" name="Shape 71"/>
          <p:cNvSpPr/>
          <p:nvPr/>
        </p:nvSpPr>
        <p:spPr>
          <a:xfrm>
            <a:off x="6190488" y="4059936"/>
            <a:ext cx="1810512" cy="850392"/>
          </a:xfrm>
          <a:prstGeom prst="roundRect">
            <a:avLst>
              <a:gd name="adj" fmla="val 6452"/>
            </a:avLst>
          </a:prstGeom>
          <a:solidFill>
            <a:srgbClr val="F1F4F7"/>
          </a:solidFill>
          <a:ln w="12700">
            <a:solidFill>
              <a:srgbClr val="F1F4F7"/>
            </a:solidFill>
            <a:prstDash val="solid"/>
          </a:ln>
        </p:spPr>
      </p:sp>
      <p:sp>
        <p:nvSpPr>
          <p:cNvPr id="76" name="Text 72"/>
          <p:cNvSpPr txBox="1"/>
          <p:nvPr/>
        </p:nvSpPr>
        <p:spPr>
          <a:xfrm>
            <a:off x="6281928" y="4096512"/>
            <a:ext cx="1645920" cy="347472"/>
          </a:xfrm>
          <a:prstGeom prst="rect">
            <a:avLst/>
          </a:prstGeom>
          <a:noFill/>
          <a:ln/>
        </p:spPr>
        <p:txBody>
          <a:bodyPr wrap="square" lIns="0" tIns="0" rIns="0" bIns="0" rtlCol="0" anchor="ctr"/>
          <a:lstStyle/>
          <a:p>
            <a:pPr indent="0" marL="0">
              <a:buNone/>
            </a:pPr>
            <a:r>
              <a:rPr lang="en-US" sz="1800" b="1" dirty="0">
                <a:solidFill>
                  <a:srgbClr val="143A5A"/>
                </a:solidFill>
                <a:latin typeface="Calibri" pitchFamily="34" charset="0"/>
                <a:ea typeface="Calibri" pitchFamily="34" charset="-122"/>
                <a:cs typeface="Calibri" pitchFamily="34" charset="-120"/>
              </a:rPr>
              <a:t>≥ 90%</a:t>
            </a:r>
            <a:endParaRPr lang="en-US" sz="1800" dirty="0"/>
          </a:p>
        </p:txBody>
      </p:sp>
      <p:sp>
        <p:nvSpPr>
          <p:cNvPr id="77" name="Text 73"/>
          <p:cNvSpPr txBox="1"/>
          <p:nvPr/>
        </p:nvSpPr>
        <p:spPr>
          <a:xfrm>
            <a:off x="6281928" y="4443984"/>
            <a:ext cx="1691640" cy="201168"/>
          </a:xfrm>
          <a:prstGeom prst="rect">
            <a:avLst/>
          </a:prstGeom>
          <a:noFill/>
          <a:ln/>
        </p:spPr>
        <p:txBody>
          <a:bodyPr wrap="square" lIns="0" tIns="0" rIns="0" bIns="0" rtlCol="0" anchor="t"/>
          <a:lstStyle/>
          <a:p>
            <a:pPr indent="0" marL="0">
              <a:buNone/>
            </a:pPr>
            <a:r>
              <a:rPr lang="en-US" sz="900" dirty="0">
                <a:solidFill>
                  <a:srgbClr val="141C24"/>
                </a:solidFill>
                <a:latin typeface="Calibri" pitchFamily="34" charset="0"/>
                <a:ea typeface="Calibri" pitchFamily="34" charset="-122"/>
                <a:cs typeface="Calibri" pitchFamily="34" charset="-120"/>
              </a:rPr>
              <a:t>defective strip flagged</a:t>
            </a:r>
            <a:endParaRPr lang="en-US" sz="900" dirty="0"/>
          </a:p>
        </p:txBody>
      </p:sp>
      <p:sp>
        <p:nvSpPr>
          <p:cNvPr id="78" name="Text 74"/>
          <p:cNvSpPr txBox="1"/>
          <p:nvPr/>
        </p:nvSpPr>
        <p:spPr>
          <a:xfrm>
            <a:off x="6281928" y="4645152"/>
            <a:ext cx="1691640" cy="201168"/>
          </a:xfrm>
          <a:prstGeom prst="rect">
            <a:avLst/>
          </a:prstGeom>
          <a:noFill/>
          <a:ln/>
        </p:spPr>
        <p:txBody>
          <a:bodyPr wrap="square" lIns="0" tIns="0" rIns="0" bIns="0" rtlCol="0" anchor="t"/>
          <a:lstStyle/>
          <a:p>
            <a:pPr indent="0" marL="0">
              <a:buNone/>
            </a:pPr>
            <a:r>
              <a:rPr lang="en-US" sz="900" dirty="0">
                <a:solidFill>
                  <a:srgbClr val="B77900"/>
                </a:solidFill>
                <a:latin typeface="Calibri" pitchFamily="34" charset="0"/>
                <a:ea typeface="Calibri" pitchFamily="34" charset="-122"/>
                <a:cs typeface="Calibri" pitchFamily="34" charset="-120"/>
              </a:rPr>
              <a:t>measured 258 of 288 (89.6%)</a:t>
            </a:r>
            <a:endParaRPr lang="en-US" sz="900" dirty="0"/>
          </a:p>
        </p:txBody>
      </p:sp>
      <p:sp>
        <p:nvSpPr>
          <p:cNvPr id="79" name="Shape 75"/>
          <p:cNvSpPr/>
          <p:nvPr/>
        </p:nvSpPr>
        <p:spPr>
          <a:xfrm>
            <a:off x="8055864" y="4059936"/>
            <a:ext cx="1810512" cy="850392"/>
          </a:xfrm>
          <a:prstGeom prst="roundRect">
            <a:avLst>
              <a:gd name="adj" fmla="val 6452"/>
            </a:avLst>
          </a:prstGeom>
          <a:solidFill>
            <a:srgbClr val="F1F4F7"/>
          </a:solidFill>
          <a:ln w="12700">
            <a:solidFill>
              <a:srgbClr val="F1F4F7"/>
            </a:solidFill>
            <a:prstDash val="solid"/>
          </a:ln>
        </p:spPr>
      </p:sp>
      <p:sp>
        <p:nvSpPr>
          <p:cNvPr id="80" name="Text 76"/>
          <p:cNvSpPr txBox="1"/>
          <p:nvPr/>
        </p:nvSpPr>
        <p:spPr>
          <a:xfrm>
            <a:off x="8147304" y="4096512"/>
            <a:ext cx="1645920" cy="347472"/>
          </a:xfrm>
          <a:prstGeom prst="rect">
            <a:avLst/>
          </a:prstGeom>
          <a:noFill/>
          <a:ln/>
        </p:spPr>
        <p:txBody>
          <a:bodyPr wrap="square" lIns="0" tIns="0" rIns="0" bIns="0" rtlCol="0" anchor="ctr"/>
          <a:lstStyle/>
          <a:p>
            <a:pPr indent="0" marL="0">
              <a:buNone/>
            </a:pPr>
            <a:r>
              <a:rPr lang="en-US" sz="1800" b="1" dirty="0">
                <a:solidFill>
                  <a:srgbClr val="143A5A"/>
                </a:solidFill>
                <a:latin typeface="Calibri" pitchFamily="34" charset="0"/>
                <a:ea typeface="Calibri" pitchFamily="34" charset="-122"/>
                <a:cs typeface="Calibri" pitchFamily="34" charset="-120"/>
              </a:rPr>
              <a:t>≤ 25%</a:t>
            </a:r>
            <a:endParaRPr lang="en-US" sz="1800" dirty="0"/>
          </a:p>
        </p:txBody>
      </p:sp>
      <p:sp>
        <p:nvSpPr>
          <p:cNvPr id="81" name="Text 77"/>
          <p:cNvSpPr txBox="1"/>
          <p:nvPr/>
        </p:nvSpPr>
        <p:spPr>
          <a:xfrm>
            <a:off x="8147304" y="4443984"/>
            <a:ext cx="1691640" cy="201168"/>
          </a:xfrm>
          <a:prstGeom prst="rect">
            <a:avLst/>
          </a:prstGeom>
          <a:noFill/>
          <a:ln/>
        </p:spPr>
        <p:txBody>
          <a:bodyPr wrap="square" lIns="0" tIns="0" rIns="0" bIns="0" rtlCol="0" anchor="t"/>
          <a:lstStyle/>
          <a:p>
            <a:pPr indent="0" marL="0">
              <a:buNone/>
            </a:pPr>
            <a:r>
              <a:rPr lang="en-US" sz="900" dirty="0">
                <a:solidFill>
                  <a:srgbClr val="141C24"/>
                </a:solidFill>
                <a:latin typeface="Calibri" pitchFamily="34" charset="0"/>
                <a:ea typeface="Calibri" pitchFamily="34" charset="-122"/>
                <a:cs typeface="Calibri" pitchFamily="34" charset="-120"/>
              </a:rPr>
              <a:t>clean strip wrongly flagged</a:t>
            </a:r>
            <a:endParaRPr lang="en-US" sz="900" dirty="0"/>
          </a:p>
        </p:txBody>
      </p:sp>
      <p:sp>
        <p:nvSpPr>
          <p:cNvPr id="82" name="Text 78"/>
          <p:cNvSpPr txBox="1"/>
          <p:nvPr/>
        </p:nvSpPr>
        <p:spPr>
          <a:xfrm>
            <a:off x="8147304" y="4645152"/>
            <a:ext cx="1691640" cy="201168"/>
          </a:xfrm>
          <a:prstGeom prst="rect">
            <a:avLst/>
          </a:prstGeom>
          <a:noFill/>
          <a:ln/>
        </p:spPr>
        <p:txBody>
          <a:bodyPr wrap="square" lIns="0" tIns="0" rIns="0" bIns="0" rtlCol="0" anchor="t"/>
          <a:lstStyle/>
          <a:p>
            <a:pPr indent="0" marL="0">
              <a:buNone/>
            </a:pPr>
            <a:r>
              <a:rPr lang="en-US" sz="900" b="1" dirty="0">
                <a:solidFill>
                  <a:srgbClr val="2E7D32"/>
                </a:solidFill>
                <a:latin typeface="Calibri" pitchFamily="34" charset="0"/>
                <a:ea typeface="Calibri" pitchFamily="34" charset="-122"/>
                <a:cs typeface="Calibri" pitchFamily="34" charset="-120"/>
              </a:rPr>
              <a:t>measured 4.7% on mill strip</a:t>
            </a:r>
            <a:endParaRPr lang="en-US" sz="900" dirty="0"/>
          </a:p>
        </p:txBody>
      </p:sp>
      <p:sp>
        <p:nvSpPr>
          <p:cNvPr id="83" name="Shape 79"/>
          <p:cNvSpPr/>
          <p:nvPr/>
        </p:nvSpPr>
        <p:spPr>
          <a:xfrm>
            <a:off x="9921240" y="4059936"/>
            <a:ext cx="1810512" cy="850392"/>
          </a:xfrm>
          <a:prstGeom prst="roundRect">
            <a:avLst>
              <a:gd name="adj" fmla="val 6452"/>
            </a:avLst>
          </a:prstGeom>
          <a:solidFill>
            <a:srgbClr val="F1F4F7"/>
          </a:solidFill>
          <a:ln w="12700">
            <a:solidFill>
              <a:srgbClr val="F1F4F7"/>
            </a:solidFill>
            <a:prstDash val="solid"/>
          </a:ln>
        </p:spPr>
      </p:sp>
      <p:sp>
        <p:nvSpPr>
          <p:cNvPr id="84" name="Text 80"/>
          <p:cNvSpPr txBox="1"/>
          <p:nvPr/>
        </p:nvSpPr>
        <p:spPr>
          <a:xfrm>
            <a:off x="10012680" y="4096512"/>
            <a:ext cx="1645920" cy="347472"/>
          </a:xfrm>
          <a:prstGeom prst="rect">
            <a:avLst/>
          </a:prstGeom>
          <a:noFill/>
          <a:ln/>
        </p:spPr>
        <p:txBody>
          <a:bodyPr wrap="square" lIns="0" tIns="0" rIns="0" bIns="0" rtlCol="0" anchor="ctr"/>
          <a:lstStyle/>
          <a:p>
            <a:pPr indent="0" marL="0">
              <a:buNone/>
            </a:pPr>
            <a:r>
              <a:rPr lang="en-US" sz="1800" b="1" dirty="0">
                <a:solidFill>
                  <a:srgbClr val="143A5A"/>
                </a:solidFill>
                <a:latin typeface="Calibri" pitchFamily="34" charset="0"/>
                <a:ea typeface="Calibri" pitchFamily="34" charset="-122"/>
                <a:cs typeface="Calibri" pitchFamily="34" charset="-120"/>
              </a:rPr>
              <a:t>≤ 5 pts</a:t>
            </a:r>
            <a:endParaRPr lang="en-US" sz="1800" dirty="0"/>
          </a:p>
        </p:txBody>
      </p:sp>
      <p:sp>
        <p:nvSpPr>
          <p:cNvPr id="85" name="Text 81"/>
          <p:cNvSpPr txBox="1"/>
          <p:nvPr/>
        </p:nvSpPr>
        <p:spPr>
          <a:xfrm>
            <a:off x="10012680" y="4443984"/>
            <a:ext cx="1691640" cy="201168"/>
          </a:xfrm>
          <a:prstGeom prst="rect">
            <a:avLst/>
          </a:prstGeom>
          <a:noFill/>
          <a:ln/>
        </p:spPr>
        <p:txBody>
          <a:bodyPr wrap="square" lIns="0" tIns="0" rIns="0" bIns="0" rtlCol="0" anchor="t"/>
          <a:lstStyle/>
          <a:p>
            <a:pPr indent="0" marL="0">
              <a:buNone/>
            </a:pPr>
            <a:r>
              <a:rPr lang="en-US" sz="900" dirty="0">
                <a:solidFill>
                  <a:srgbClr val="141C24"/>
                </a:solidFill>
                <a:latin typeface="Calibri" pitchFamily="34" charset="0"/>
                <a:ea typeface="Calibri" pitchFamily="34" charset="-122"/>
                <a:cs typeface="Calibri" pitchFamily="34" charset="-120"/>
              </a:rPr>
              <a:t>confidence vs reality gap</a:t>
            </a:r>
            <a:endParaRPr lang="en-US" sz="900" dirty="0"/>
          </a:p>
        </p:txBody>
      </p:sp>
      <p:sp>
        <p:nvSpPr>
          <p:cNvPr id="86" name="Text 82"/>
          <p:cNvSpPr txBox="1"/>
          <p:nvPr/>
        </p:nvSpPr>
        <p:spPr>
          <a:xfrm>
            <a:off x="10012680" y="4645152"/>
            <a:ext cx="1691640" cy="201168"/>
          </a:xfrm>
          <a:prstGeom prst="rect">
            <a:avLst/>
          </a:prstGeom>
          <a:noFill/>
          <a:ln/>
        </p:spPr>
        <p:txBody>
          <a:bodyPr wrap="square" lIns="0" tIns="0" rIns="0" bIns="0" rtlCol="0" anchor="t"/>
          <a:lstStyle/>
          <a:p>
            <a:pPr indent="0" marL="0">
              <a:buNone/>
            </a:pPr>
            <a:r>
              <a:rPr lang="en-US" sz="900" b="1" dirty="0">
                <a:solidFill>
                  <a:srgbClr val="2E7D32"/>
                </a:solidFill>
                <a:latin typeface="Calibri" pitchFamily="34" charset="0"/>
                <a:ea typeface="Calibri" pitchFamily="34" charset="-122"/>
                <a:cs typeface="Calibri" pitchFamily="34" charset="-120"/>
              </a:rPr>
              <a:t>measured 3.3 pts</a:t>
            </a:r>
            <a:endParaRPr lang="en-US" sz="900" dirty="0"/>
          </a:p>
        </p:txBody>
      </p:sp>
      <p:sp>
        <p:nvSpPr>
          <p:cNvPr id="87" name="Shape 83"/>
          <p:cNvSpPr/>
          <p:nvPr/>
        </p:nvSpPr>
        <p:spPr>
          <a:xfrm>
            <a:off x="6190488" y="4974336"/>
            <a:ext cx="1810512" cy="850392"/>
          </a:xfrm>
          <a:prstGeom prst="roundRect">
            <a:avLst>
              <a:gd name="adj" fmla="val 6452"/>
            </a:avLst>
          </a:prstGeom>
          <a:solidFill>
            <a:srgbClr val="F1F4F7"/>
          </a:solidFill>
          <a:ln w="12700">
            <a:solidFill>
              <a:srgbClr val="F1F4F7"/>
            </a:solidFill>
            <a:prstDash val="solid"/>
          </a:ln>
        </p:spPr>
      </p:sp>
      <p:sp>
        <p:nvSpPr>
          <p:cNvPr id="88" name="Text 84"/>
          <p:cNvSpPr txBox="1"/>
          <p:nvPr/>
        </p:nvSpPr>
        <p:spPr>
          <a:xfrm>
            <a:off x="6281928" y="5010912"/>
            <a:ext cx="1645920" cy="347472"/>
          </a:xfrm>
          <a:prstGeom prst="rect">
            <a:avLst/>
          </a:prstGeom>
          <a:noFill/>
          <a:ln/>
        </p:spPr>
        <p:txBody>
          <a:bodyPr wrap="square" lIns="0" tIns="0" rIns="0" bIns="0" rtlCol="0" anchor="ctr"/>
          <a:lstStyle/>
          <a:p>
            <a:pPr indent="0" marL="0">
              <a:buNone/>
            </a:pPr>
            <a:r>
              <a:rPr lang="en-US" sz="1800" b="1" dirty="0">
                <a:solidFill>
                  <a:srgbClr val="143A5A"/>
                </a:solidFill>
                <a:latin typeface="Calibri" pitchFamily="34" charset="0"/>
                <a:ea typeface="Calibri" pitchFamily="34" charset="-122"/>
                <a:cs typeface="Calibri" pitchFamily="34" charset="-120"/>
              </a:rPr>
              <a:t>&lt; 0.2 s</a:t>
            </a:r>
            <a:endParaRPr lang="en-US" sz="1800" dirty="0"/>
          </a:p>
        </p:txBody>
      </p:sp>
      <p:sp>
        <p:nvSpPr>
          <p:cNvPr id="89" name="Text 85"/>
          <p:cNvSpPr txBox="1"/>
          <p:nvPr/>
        </p:nvSpPr>
        <p:spPr>
          <a:xfrm>
            <a:off x="6281928" y="5358384"/>
            <a:ext cx="1691640" cy="201168"/>
          </a:xfrm>
          <a:prstGeom prst="rect">
            <a:avLst/>
          </a:prstGeom>
          <a:noFill/>
          <a:ln/>
        </p:spPr>
        <p:txBody>
          <a:bodyPr wrap="square" lIns="0" tIns="0" rIns="0" bIns="0" rtlCol="0" anchor="t"/>
          <a:lstStyle/>
          <a:p>
            <a:pPr indent="0" marL="0">
              <a:buNone/>
            </a:pPr>
            <a:r>
              <a:rPr lang="en-US" sz="900" dirty="0">
                <a:solidFill>
                  <a:srgbClr val="141C24"/>
                </a:solidFill>
                <a:latin typeface="Calibri" pitchFamily="34" charset="0"/>
                <a:ea typeface="Calibri" pitchFamily="34" charset="-122"/>
                <a:cs typeface="Calibri" pitchFamily="34" charset="-120"/>
              </a:rPr>
              <a:t>defect to operator screen</a:t>
            </a:r>
            <a:endParaRPr lang="en-US" sz="900" dirty="0"/>
          </a:p>
        </p:txBody>
      </p:sp>
      <p:sp>
        <p:nvSpPr>
          <p:cNvPr id="90" name="Text 86"/>
          <p:cNvSpPr txBox="1"/>
          <p:nvPr/>
        </p:nvSpPr>
        <p:spPr>
          <a:xfrm>
            <a:off x="6281928" y="5559552"/>
            <a:ext cx="1691640" cy="201168"/>
          </a:xfrm>
          <a:prstGeom prst="rect">
            <a:avLst/>
          </a:prstGeom>
          <a:noFill/>
          <a:ln/>
        </p:spPr>
        <p:txBody>
          <a:bodyPr wrap="square" lIns="0" tIns="0" rIns="0" bIns="0" rtlCol="0" anchor="t"/>
          <a:lstStyle/>
          <a:p>
            <a:pPr indent="0" marL="0">
              <a:buNone/>
            </a:pPr>
            <a:r>
              <a:rPr lang="en-US" sz="900" dirty="0">
                <a:solidFill>
                  <a:srgbClr val="5F6B78"/>
                </a:solidFill>
                <a:latin typeface="Calibri" pitchFamily="34" charset="0"/>
                <a:ea typeface="Calibri" pitchFamily="34" charset="-122"/>
                <a:cs typeface="Calibri" pitchFamily="34" charset="-120"/>
              </a:rPr>
              <a:t>design target</a:t>
            </a:r>
            <a:endParaRPr lang="en-US" sz="900" dirty="0"/>
          </a:p>
        </p:txBody>
      </p:sp>
      <p:sp>
        <p:nvSpPr>
          <p:cNvPr id="91" name="Shape 87"/>
          <p:cNvSpPr/>
          <p:nvPr/>
        </p:nvSpPr>
        <p:spPr>
          <a:xfrm>
            <a:off x="8055864" y="4974336"/>
            <a:ext cx="1810512" cy="850392"/>
          </a:xfrm>
          <a:prstGeom prst="roundRect">
            <a:avLst>
              <a:gd name="adj" fmla="val 6452"/>
            </a:avLst>
          </a:prstGeom>
          <a:solidFill>
            <a:srgbClr val="F1F4F7"/>
          </a:solidFill>
          <a:ln w="12700">
            <a:solidFill>
              <a:srgbClr val="F1F4F7"/>
            </a:solidFill>
            <a:prstDash val="solid"/>
          </a:ln>
        </p:spPr>
      </p:sp>
      <p:sp>
        <p:nvSpPr>
          <p:cNvPr id="92" name="Text 88"/>
          <p:cNvSpPr txBox="1"/>
          <p:nvPr/>
        </p:nvSpPr>
        <p:spPr>
          <a:xfrm>
            <a:off x="8147304" y="5010912"/>
            <a:ext cx="1645920" cy="347472"/>
          </a:xfrm>
          <a:prstGeom prst="rect">
            <a:avLst/>
          </a:prstGeom>
          <a:noFill/>
          <a:ln/>
        </p:spPr>
        <p:txBody>
          <a:bodyPr wrap="square" lIns="0" tIns="0" rIns="0" bIns="0" rtlCol="0" anchor="ctr"/>
          <a:lstStyle/>
          <a:p>
            <a:pPr indent="0" marL="0">
              <a:buNone/>
            </a:pPr>
            <a:r>
              <a:rPr lang="en-US" sz="1800" b="1" dirty="0">
                <a:solidFill>
                  <a:srgbClr val="143A5A"/>
                </a:solidFill>
                <a:latin typeface="Calibri" pitchFamily="34" charset="0"/>
                <a:ea typeface="Calibri" pitchFamily="34" charset="-122"/>
                <a:cs typeface="Calibri" pitchFamily="34" charset="-120"/>
              </a:rPr>
              <a:t>≥ 90%</a:t>
            </a:r>
            <a:endParaRPr lang="en-US" sz="1800" dirty="0"/>
          </a:p>
        </p:txBody>
      </p:sp>
      <p:sp>
        <p:nvSpPr>
          <p:cNvPr id="93" name="Text 89"/>
          <p:cNvSpPr txBox="1"/>
          <p:nvPr/>
        </p:nvSpPr>
        <p:spPr>
          <a:xfrm>
            <a:off x="8147304" y="5358384"/>
            <a:ext cx="1691640" cy="201168"/>
          </a:xfrm>
          <a:prstGeom prst="rect">
            <a:avLst/>
          </a:prstGeom>
          <a:noFill/>
          <a:ln/>
        </p:spPr>
        <p:txBody>
          <a:bodyPr wrap="square" lIns="0" tIns="0" rIns="0" bIns="0" rtlCol="0" anchor="t"/>
          <a:lstStyle/>
          <a:p>
            <a:pPr indent="0" marL="0">
              <a:buNone/>
            </a:pPr>
            <a:r>
              <a:rPr lang="en-US" sz="900" dirty="0">
                <a:solidFill>
                  <a:srgbClr val="141C24"/>
                </a:solidFill>
                <a:latin typeface="Calibri" pitchFamily="34" charset="0"/>
                <a:ea typeface="Calibri" pitchFamily="34" charset="-122"/>
                <a:cs typeface="Calibri" pitchFamily="34" charset="-120"/>
              </a:rPr>
              <a:t>operator agreement, shadow</a:t>
            </a:r>
            <a:endParaRPr lang="en-US" sz="900" dirty="0"/>
          </a:p>
        </p:txBody>
      </p:sp>
      <p:sp>
        <p:nvSpPr>
          <p:cNvPr id="94" name="Text 90"/>
          <p:cNvSpPr txBox="1"/>
          <p:nvPr/>
        </p:nvSpPr>
        <p:spPr>
          <a:xfrm>
            <a:off x="8147304" y="5559552"/>
            <a:ext cx="1691640" cy="201168"/>
          </a:xfrm>
          <a:prstGeom prst="rect">
            <a:avLst/>
          </a:prstGeom>
          <a:noFill/>
          <a:ln/>
        </p:spPr>
        <p:txBody>
          <a:bodyPr wrap="square" lIns="0" tIns="0" rIns="0" bIns="0" rtlCol="0" anchor="t"/>
          <a:lstStyle/>
          <a:p>
            <a:pPr indent="0" marL="0">
              <a:buNone/>
            </a:pPr>
            <a:r>
              <a:rPr lang="en-US" sz="900" dirty="0">
                <a:solidFill>
                  <a:srgbClr val="5F6B78"/>
                </a:solidFill>
                <a:latin typeface="Calibri" pitchFamily="34" charset="0"/>
                <a:ea typeface="Calibri" pitchFamily="34" charset="-122"/>
                <a:cs typeface="Calibri" pitchFamily="34" charset="-120"/>
              </a:rPr>
              <a:t>measured in P2</a:t>
            </a:r>
            <a:endParaRPr lang="en-US" sz="900" dirty="0"/>
          </a:p>
        </p:txBody>
      </p:sp>
      <p:sp>
        <p:nvSpPr>
          <p:cNvPr id="95" name="Shape 91"/>
          <p:cNvSpPr/>
          <p:nvPr/>
        </p:nvSpPr>
        <p:spPr>
          <a:xfrm>
            <a:off x="9921240" y="4974336"/>
            <a:ext cx="1810512" cy="850392"/>
          </a:xfrm>
          <a:prstGeom prst="roundRect">
            <a:avLst>
              <a:gd name="adj" fmla="val 6452"/>
            </a:avLst>
          </a:prstGeom>
          <a:solidFill>
            <a:srgbClr val="F1F4F7"/>
          </a:solidFill>
          <a:ln w="12700">
            <a:solidFill>
              <a:srgbClr val="F1F4F7"/>
            </a:solidFill>
            <a:prstDash val="solid"/>
          </a:ln>
        </p:spPr>
      </p:sp>
      <p:sp>
        <p:nvSpPr>
          <p:cNvPr id="96" name="Text 92"/>
          <p:cNvSpPr txBox="1"/>
          <p:nvPr/>
        </p:nvSpPr>
        <p:spPr>
          <a:xfrm>
            <a:off x="10012680" y="5010912"/>
            <a:ext cx="1645920" cy="347472"/>
          </a:xfrm>
          <a:prstGeom prst="rect">
            <a:avLst/>
          </a:prstGeom>
          <a:noFill/>
          <a:ln/>
        </p:spPr>
        <p:txBody>
          <a:bodyPr wrap="square" lIns="0" tIns="0" rIns="0" bIns="0" rtlCol="0" anchor="ctr"/>
          <a:lstStyle/>
          <a:p>
            <a:pPr indent="0" marL="0">
              <a:buNone/>
            </a:pPr>
            <a:r>
              <a:rPr lang="en-US" sz="1800" b="1" dirty="0">
                <a:solidFill>
                  <a:srgbClr val="143A5A"/>
                </a:solidFill>
                <a:latin typeface="Calibri" pitchFamily="34" charset="0"/>
                <a:ea typeface="Calibri" pitchFamily="34" charset="-122"/>
                <a:cs typeface="Calibri" pitchFamily="34" charset="-120"/>
              </a:rPr>
              <a:t>&lt; 8 h</a:t>
            </a:r>
            <a:endParaRPr lang="en-US" sz="1800" dirty="0"/>
          </a:p>
        </p:txBody>
      </p:sp>
      <p:sp>
        <p:nvSpPr>
          <p:cNvPr id="97" name="Text 93"/>
          <p:cNvSpPr txBox="1"/>
          <p:nvPr/>
        </p:nvSpPr>
        <p:spPr>
          <a:xfrm>
            <a:off x="10012680" y="5358384"/>
            <a:ext cx="1691640" cy="201168"/>
          </a:xfrm>
          <a:prstGeom prst="rect">
            <a:avLst/>
          </a:prstGeom>
          <a:noFill/>
          <a:ln/>
        </p:spPr>
        <p:txBody>
          <a:bodyPr wrap="square" lIns="0" tIns="0" rIns="0" bIns="0" rtlCol="0" anchor="t"/>
          <a:lstStyle/>
          <a:p>
            <a:pPr indent="0" marL="0">
              <a:buNone/>
            </a:pPr>
            <a:r>
              <a:rPr lang="en-US" sz="900" dirty="0">
                <a:solidFill>
                  <a:srgbClr val="141C24"/>
                </a:solidFill>
                <a:latin typeface="Calibri" pitchFamily="34" charset="0"/>
                <a:ea typeface="Calibri" pitchFamily="34" charset="-122"/>
                <a:cs typeface="Calibri" pitchFamily="34" charset="-120"/>
              </a:rPr>
              <a:t>retrain for a new grade</a:t>
            </a:r>
            <a:endParaRPr lang="en-US" sz="900" dirty="0"/>
          </a:p>
        </p:txBody>
      </p:sp>
      <p:sp>
        <p:nvSpPr>
          <p:cNvPr id="98" name="Text 94"/>
          <p:cNvSpPr txBox="1"/>
          <p:nvPr/>
        </p:nvSpPr>
        <p:spPr>
          <a:xfrm>
            <a:off x="10012680" y="5559552"/>
            <a:ext cx="1691640" cy="201168"/>
          </a:xfrm>
          <a:prstGeom prst="rect">
            <a:avLst/>
          </a:prstGeom>
          <a:noFill/>
          <a:ln/>
        </p:spPr>
        <p:txBody>
          <a:bodyPr wrap="square" lIns="0" tIns="0" rIns="0" bIns="0" rtlCol="0" anchor="t"/>
          <a:lstStyle/>
          <a:p>
            <a:pPr indent="0" marL="0">
              <a:buNone/>
            </a:pPr>
            <a:r>
              <a:rPr lang="en-US" sz="900" dirty="0">
                <a:solidFill>
                  <a:srgbClr val="5F6B78"/>
                </a:solidFill>
                <a:latin typeface="Calibri" pitchFamily="34" charset="0"/>
                <a:ea typeface="Calibri" pitchFamily="34" charset="-122"/>
                <a:cs typeface="Calibri" pitchFamily="34" charset="-120"/>
              </a:rPr>
              <a:t>measured 0.6 h</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201168"/>
            <a:ext cx="1481328" cy="274320"/>
          </a:xfrm>
          <a:prstGeom prst="rect">
            <a:avLst/>
          </a:prstGeom>
          <a:solidFill>
            <a:srgbClr val="F1F4F7"/>
          </a:solidFill>
          <a:ln w="12700">
            <a:solidFill>
              <a:srgbClr val="F1F4F7"/>
            </a:solidFill>
            <a:prstDash val="solid"/>
          </a:ln>
        </p:spPr>
      </p:sp>
      <p:sp>
        <p:nvSpPr>
          <p:cNvPr id="3" name="Text 1"/>
          <p:cNvSpPr txBox="1"/>
          <p:nvPr/>
        </p:nvSpPr>
        <p:spPr>
          <a:xfrm>
            <a:off x="457200" y="201168"/>
            <a:ext cx="1481328" cy="274320"/>
          </a:xfrm>
          <a:prstGeom prst="rect">
            <a:avLst/>
          </a:prstGeom>
          <a:noFill/>
          <a:ln/>
        </p:spPr>
        <p:txBody>
          <a:bodyPr wrap="square" lIns="0" tIns="0" rIns="0" bIns="0" rtlCol="0" anchor="ctr"/>
          <a:lstStyle/>
          <a:p>
            <a:pPr algn="ctr" indent="0" marL="0">
              <a:buNone/>
            </a:pPr>
            <a:r>
              <a:rPr lang="en-US" sz="1000" dirty="0">
                <a:solidFill>
                  <a:srgbClr val="5F6B78"/>
                </a:solidFill>
                <a:latin typeface="Calibri" pitchFamily="34" charset="0"/>
                <a:ea typeface="Calibri" pitchFamily="34" charset="-122"/>
                <a:cs typeface="Calibri" pitchFamily="34" charset="-120"/>
              </a:rPr>
              <a:t>1  Problem</a:t>
            </a:r>
            <a:endParaRPr lang="en-US" sz="1000" dirty="0"/>
          </a:p>
        </p:txBody>
      </p:sp>
      <p:sp>
        <p:nvSpPr>
          <p:cNvPr id="4" name="Shape 2"/>
          <p:cNvSpPr/>
          <p:nvPr/>
        </p:nvSpPr>
        <p:spPr>
          <a:xfrm>
            <a:off x="1993392" y="201168"/>
            <a:ext cx="1481328" cy="274320"/>
          </a:xfrm>
          <a:prstGeom prst="rect">
            <a:avLst/>
          </a:prstGeom>
          <a:solidFill>
            <a:srgbClr val="F1F4F7"/>
          </a:solidFill>
          <a:ln w="12700">
            <a:solidFill>
              <a:srgbClr val="F1F4F7"/>
            </a:solidFill>
            <a:prstDash val="solid"/>
          </a:ln>
        </p:spPr>
      </p:sp>
      <p:sp>
        <p:nvSpPr>
          <p:cNvPr id="5" name="Text 3"/>
          <p:cNvSpPr txBox="1"/>
          <p:nvPr/>
        </p:nvSpPr>
        <p:spPr>
          <a:xfrm>
            <a:off x="1993392" y="201168"/>
            <a:ext cx="1481328" cy="274320"/>
          </a:xfrm>
          <a:prstGeom prst="rect">
            <a:avLst/>
          </a:prstGeom>
          <a:noFill/>
          <a:ln/>
        </p:spPr>
        <p:txBody>
          <a:bodyPr wrap="square" lIns="0" tIns="0" rIns="0" bIns="0" rtlCol="0" anchor="ctr"/>
          <a:lstStyle/>
          <a:p>
            <a:pPr algn="ctr" indent="0" marL="0">
              <a:buNone/>
            </a:pPr>
            <a:r>
              <a:rPr lang="en-US" sz="1000" dirty="0">
                <a:solidFill>
                  <a:srgbClr val="5F6B78"/>
                </a:solidFill>
                <a:latin typeface="Calibri" pitchFamily="34" charset="0"/>
                <a:ea typeface="Calibri" pitchFamily="34" charset="-122"/>
                <a:cs typeface="Calibri" pitchFamily="34" charset="-120"/>
              </a:rPr>
              <a:t>2  Insights</a:t>
            </a:r>
            <a:endParaRPr lang="en-US" sz="1000" dirty="0"/>
          </a:p>
        </p:txBody>
      </p:sp>
      <p:sp>
        <p:nvSpPr>
          <p:cNvPr id="6" name="Shape 4"/>
          <p:cNvSpPr/>
          <p:nvPr/>
        </p:nvSpPr>
        <p:spPr>
          <a:xfrm>
            <a:off x="3529584" y="201168"/>
            <a:ext cx="1481328" cy="274320"/>
          </a:xfrm>
          <a:prstGeom prst="rect">
            <a:avLst/>
          </a:prstGeom>
          <a:solidFill>
            <a:srgbClr val="F1F4F7"/>
          </a:solidFill>
          <a:ln w="12700">
            <a:solidFill>
              <a:srgbClr val="F1F4F7"/>
            </a:solidFill>
            <a:prstDash val="solid"/>
          </a:ln>
        </p:spPr>
      </p:sp>
      <p:sp>
        <p:nvSpPr>
          <p:cNvPr id="7" name="Text 5"/>
          <p:cNvSpPr txBox="1"/>
          <p:nvPr/>
        </p:nvSpPr>
        <p:spPr>
          <a:xfrm>
            <a:off x="3529584" y="201168"/>
            <a:ext cx="1481328" cy="274320"/>
          </a:xfrm>
          <a:prstGeom prst="rect">
            <a:avLst/>
          </a:prstGeom>
          <a:noFill/>
          <a:ln/>
        </p:spPr>
        <p:txBody>
          <a:bodyPr wrap="square" lIns="0" tIns="0" rIns="0" bIns="0" rtlCol="0" anchor="ctr"/>
          <a:lstStyle/>
          <a:p>
            <a:pPr algn="ctr" indent="0" marL="0">
              <a:buNone/>
            </a:pPr>
            <a:r>
              <a:rPr lang="en-US" sz="1000" dirty="0">
                <a:solidFill>
                  <a:srgbClr val="5F6B78"/>
                </a:solidFill>
                <a:latin typeface="Calibri" pitchFamily="34" charset="0"/>
                <a:ea typeface="Calibri" pitchFamily="34" charset="-122"/>
                <a:cs typeface="Calibri" pitchFamily="34" charset="-120"/>
              </a:rPr>
              <a:t>3  Solution</a:t>
            </a:r>
            <a:endParaRPr lang="en-US" sz="1000" dirty="0"/>
          </a:p>
        </p:txBody>
      </p:sp>
      <p:sp>
        <p:nvSpPr>
          <p:cNvPr id="8" name="Shape 6"/>
          <p:cNvSpPr/>
          <p:nvPr/>
        </p:nvSpPr>
        <p:spPr>
          <a:xfrm>
            <a:off x="5065776" y="201168"/>
            <a:ext cx="1481328" cy="274320"/>
          </a:xfrm>
          <a:prstGeom prst="rect">
            <a:avLst/>
          </a:prstGeom>
          <a:solidFill>
            <a:srgbClr val="F1F4F7"/>
          </a:solidFill>
          <a:ln w="12700">
            <a:solidFill>
              <a:srgbClr val="F1F4F7"/>
            </a:solidFill>
            <a:prstDash val="solid"/>
          </a:ln>
        </p:spPr>
      </p:sp>
      <p:sp>
        <p:nvSpPr>
          <p:cNvPr id="9" name="Text 7"/>
          <p:cNvSpPr txBox="1"/>
          <p:nvPr/>
        </p:nvSpPr>
        <p:spPr>
          <a:xfrm>
            <a:off x="5065776" y="201168"/>
            <a:ext cx="1481328" cy="274320"/>
          </a:xfrm>
          <a:prstGeom prst="rect">
            <a:avLst/>
          </a:prstGeom>
          <a:noFill/>
          <a:ln/>
        </p:spPr>
        <p:txBody>
          <a:bodyPr wrap="square" lIns="0" tIns="0" rIns="0" bIns="0" rtlCol="0" anchor="ctr"/>
          <a:lstStyle/>
          <a:p>
            <a:pPr algn="ctr" indent="0" marL="0">
              <a:buNone/>
            </a:pPr>
            <a:r>
              <a:rPr lang="en-US" sz="1000" dirty="0">
                <a:solidFill>
                  <a:srgbClr val="5F6B78"/>
                </a:solidFill>
                <a:latin typeface="Calibri" pitchFamily="34" charset="0"/>
                <a:ea typeface="Calibri" pitchFamily="34" charset="-122"/>
                <a:cs typeface="Calibri" pitchFamily="34" charset="-120"/>
              </a:rPr>
              <a:t>4  Implementation</a:t>
            </a:r>
            <a:endParaRPr lang="en-US" sz="1000" dirty="0"/>
          </a:p>
        </p:txBody>
      </p:sp>
      <p:sp>
        <p:nvSpPr>
          <p:cNvPr id="10" name="Shape 8"/>
          <p:cNvSpPr/>
          <p:nvPr/>
        </p:nvSpPr>
        <p:spPr>
          <a:xfrm>
            <a:off x="6601968" y="201168"/>
            <a:ext cx="1481328" cy="274320"/>
          </a:xfrm>
          <a:prstGeom prst="rect">
            <a:avLst/>
          </a:prstGeom>
          <a:solidFill>
            <a:srgbClr val="143A5A"/>
          </a:solidFill>
          <a:ln w="12700">
            <a:solidFill>
              <a:srgbClr val="143A5A"/>
            </a:solidFill>
            <a:prstDash val="solid"/>
          </a:ln>
        </p:spPr>
      </p:sp>
      <p:sp>
        <p:nvSpPr>
          <p:cNvPr id="11" name="Text 9"/>
          <p:cNvSpPr txBox="1"/>
          <p:nvPr/>
        </p:nvSpPr>
        <p:spPr>
          <a:xfrm>
            <a:off x="6601968" y="201168"/>
            <a:ext cx="1481328"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5  Impact</a:t>
            </a:r>
            <a:endParaRPr lang="en-US" sz="1000" dirty="0"/>
          </a:p>
        </p:txBody>
      </p:sp>
      <p:sp>
        <p:nvSpPr>
          <p:cNvPr id="12" name="Text 10"/>
          <p:cNvSpPr txBox="1"/>
          <p:nvPr/>
        </p:nvSpPr>
        <p:spPr>
          <a:xfrm>
            <a:off x="8229600" y="201168"/>
            <a:ext cx="3502152" cy="274320"/>
          </a:xfrm>
          <a:prstGeom prst="rect">
            <a:avLst/>
          </a:prstGeom>
          <a:noFill/>
          <a:ln/>
        </p:spPr>
        <p:txBody>
          <a:bodyPr wrap="square" lIns="0" tIns="0" rIns="0" bIns="0" rtlCol="0" anchor="ctr"/>
          <a:lstStyle/>
          <a:p>
            <a:pPr algn="r" indent="0" marL="0">
              <a:buNone/>
            </a:pPr>
            <a:r>
              <a:rPr lang="en-US" sz="900" dirty="0">
                <a:solidFill>
                  <a:srgbClr val="5F6B78"/>
                </a:solidFill>
                <a:latin typeface="Calibri" pitchFamily="34" charset="0"/>
                <a:ea typeface="Calibri" pitchFamily="34" charset="-122"/>
                <a:cs typeface="Calibri" pitchFamily="34" charset="-120"/>
              </a:rPr>
              <a:t>STAINLESS SPARK ROUND 2  |  PS1  |  IIT Bombay</a:t>
            </a:r>
            <a:endParaRPr lang="en-US" sz="900" dirty="0"/>
          </a:p>
        </p:txBody>
      </p:sp>
      <p:sp>
        <p:nvSpPr>
          <p:cNvPr id="13" name="Text 11"/>
          <p:cNvSpPr txBox="1"/>
          <p:nvPr/>
        </p:nvSpPr>
        <p:spPr>
          <a:xfrm>
            <a:off x="457200" y="566928"/>
            <a:ext cx="11274552" cy="566928"/>
          </a:xfrm>
          <a:prstGeom prst="rect">
            <a:avLst/>
          </a:prstGeom>
          <a:noFill/>
          <a:ln/>
        </p:spPr>
        <p:txBody>
          <a:bodyPr wrap="square" lIns="0" tIns="0" rIns="0" bIns="0" rtlCol="0" anchor="ctr"/>
          <a:lstStyle/>
          <a:p>
            <a:pPr indent="0" marL="0">
              <a:buNone/>
            </a:pPr>
            <a:r>
              <a:rPr lang="en-US" sz="2000" b="1" dirty="0">
                <a:solidFill>
                  <a:srgbClr val="143A5A"/>
                </a:solidFill>
                <a:latin typeface="Calibri" pitchFamily="34" charset="0"/>
                <a:ea typeface="Calibri" pitchFamily="34" charset="-122"/>
                <a:cs typeface="Calibri" pitchFamily="34" charset="-120"/>
              </a:rPr>
              <a:t>At a conservative 1% downgrade rate one line pays back in ~2.2 years; the fleet protects ~₹13 cr a year</a:t>
            </a:r>
            <a:endParaRPr lang="en-US" sz="2000" dirty="0"/>
          </a:p>
        </p:txBody>
      </p:sp>
      <p:sp>
        <p:nvSpPr>
          <p:cNvPr id="14" name="Shape 12"/>
          <p:cNvSpPr/>
          <p:nvPr/>
        </p:nvSpPr>
        <p:spPr>
          <a:xfrm>
            <a:off x="457200" y="6236208"/>
            <a:ext cx="11274552" cy="420624"/>
          </a:xfrm>
          <a:prstGeom prst="rect">
            <a:avLst/>
          </a:prstGeom>
          <a:solidFill>
            <a:srgbClr val="143A5A"/>
          </a:solidFill>
          <a:ln w="12700">
            <a:solidFill>
              <a:srgbClr val="143A5A"/>
            </a:solidFill>
            <a:prstDash val="solid"/>
          </a:ln>
        </p:spPr>
      </p:sp>
      <p:sp>
        <p:nvSpPr>
          <p:cNvPr id="15" name="Text 13"/>
          <p:cNvSpPr txBox="1"/>
          <p:nvPr/>
        </p:nvSpPr>
        <p:spPr>
          <a:xfrm>
            <a:off x="621792" y="6236208"/>
            <a:ext cx="10972800" cy="420624"/>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Recommendation: approve a 7-month pilot on one 300-series cold-rolled line. JSL's own downgrade rate decides fleet rollout.</a:t>
            </a:r>
            <a:endParaRPr lang="en-US" sz="1200" dirty="0"/>
          </a:p>
        </p:txBody>
      </p:sp>
      <p:sp>
        <p:nvSpPr>
          <p:cNvPr id="16" name="Text 14"/>
          <p:cNvSpPr txBox="1"/>
          <p:nvPr/>
        </p:nvSpPr>
        <p:spPr>
          <a:xfrm>
            <a:off x="457200" y="5971032"/>
            <a:ext cx="11274552" cy="237744"/>
          </a:xfrm>
          <a:prstGeom prst="rect">
            <a:avLst/>
          </a:prstGeom>
          <a:noFill/>
          <a:ln/>
        </p:spPr>
        <p:txBody>
          <a:bodyPr wrap="square" lIns="0" tIns="0" rIns="0" bIns="0" rtlCol="0" anchor="ctr"/>
          <a:lstStyle/>
          <a:p>
            <a:pPr indent="0" marL="0">
              <a:buNone/>
            </a:pPr>
            <a:r>
              <a:rPr lang="en-US" sz="900" dirty="0">
                <a:solidFill>
                  <a:srgbClr val="5F6B78"/>
                </a:solidFill>
                <a:latin typeface="Calibri" pitchFamily="34" charset="0"/>
                <a:ea typeface="Calibri" pitchFamily="34" charset="-122"/>
                <a:cs typeface="Calibri" pitchFamily="34" charset="-120"/>
              </a:rPr>
              <a:t>Inputs: JSL FY26 (INR 1,67,407/t; 25,65,902 t). Base: 0.4 Mt line, 30% of loss recovered, ₹3.35 cr capex, ₹0.5 cr/yr run cost, 12% rate. Commercial: USD 2M at INR 95.8.</a:t>
            </a:r>
            <a:endParaRPr lang="en-US" sz="900" dirty="0"/>
          </a:p>
        </p:txBody>
      </p:sp>
      <p:sp>
        <p:nvSpPr>
          <p:cNvPr id="17" name="Shape 15"/>
          <p:cNvSpPr/>
          <p:nvPr/>
        </p:nvSpPr>
        <p:spPr>
          <a:xfrm>
            <a:off x="457200" y="1234440"/>
            <a:ext cx="3977640" cy="274320"/>
          </a:xfrm>
          <a:prstGeom prst="rect">
            <a:avLst/>
          </a:prstGeom>
          <a:solidFill>
            <a:srgbClr val="2B5B80"/>
          </a:solidFill>
          <a:ln w="12700">
            <a:solidFill>
              <a:srgbClr val="2B5B80"/>
            </a:solidFill>
            <a:prstDash val="solid"/>
          </a:ln>
        </p:spPr>
      </p:sp>
      <p:sp>
        <p:nvSpPr>
          <p:cNvPr id="18" name="Text 16"/>
          <p:cNvSpPr txBox="1"/>
          <p:nvPr/>
        </p:nvSpPr>
        <p:spPr>
          <a:xfrm>
            <a:off x="548640" y="1234440"/>
            <a:ext cx="3794760" cy="274320"/>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Loss pool per line, ₹ cr a year</a:t>
            </a:r>
            <a:endParaRPr lang="en-US" sz="1100" dirty="0"/>
          </a:p>
        </p:txBody>
      </p:sp>
      <p:sp>
        <p:nvSpPr>
          <p:cNvPr id="19" name="Text 17"/>
          <p:cNvSpPr txBox="1"/>
          <p:nvPr/>
        </p:nvSpPr>
        <p:spPr>
          <a:xfrm>
            <a:off x="457200" y="1554480"/>
            <a:ext cx="3977640" cy="219456"/>
          </a:xfrm>
          <a:prstGeom prst="rect">
            <a:avLst/>
          </a:prstGeom>
          <a:noFill/>
          <a:ln/>
        </p:spPr>
        <p:txBody>
          <a:bodyPr wrap="square" lIns="0" tIns="0" rIns="0" bIns="0" rtlCol="0" anchor="t"/>
          <a:lstStyle/>
          <a:p>
            <a:pPr indent="0" marL="0">
              <a:buNone/>
            </a:pPr>
            <a:r>
              <a:rPr lang="en-US" sz="950" i="1" dirty="0">
                <a:solidFill>
                  <a:srgbClr val="334150"/>
                </a:solidFill>
                <a:latin typeface="Calibri" pitchFamily="34" charset="0"/>
                <a:ea typeface="Calibri" pitchFamily="34" charset="-122"/>
                <a:cs typeface="Calibri" pitchFamily="34" charset="-120"/>
              </a:rPr>
              <a:t>0.4 Mt × downgrade rate × price discount × ₹1,67,407/t</a:t>
            </a:r>
            <a:endParaRPr lang="en-US" sz="95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457200" y="1828800"/>
          <a:ext cx="3977640" cy="914400"/>
        </p:xfrm>
        <a:graphic>
          <a:graphicData uri="http://schemas.openxmlformats.org/drawingml/2006/table">
            <a:tbl>
              <a:tblPr/>
              <a:tblGrid>
                <a:gridCol w="1234440"/>
                <a:gridCol w="914400"/>
                <a:gridCol w="914400"/>
                <a:gridCol w="914400"/>
              </a:tblGrid>
              <a:tr h="274320">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Downgraded</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143A5A"/>
                    </a:solidFill>
                  </a:tcPr>
                </a:tc>
                <a:tc>
                  <a:txBody>
                    <a:bodyPr/>
                    <a:lstStyle/>
                    <a:p>
                      <a:pPr algn="ctr" indent="0" marL="0">
                        <a:buNone/>
                      </a:pPr>
                      <a:r>
                        <a:rPr lang="en-US" sz="950" b="1" dirty="0">
                          <a:solidFill>
                            <a:srgbClr val="FFFFFF"/>
                          </a:solidFill>
                          <a:latin typeface="Calibri" pitchFamily="34" charset="0"/>
                          <a:ea typeface="Calibri" pitchFamily="34" charset="-122"/>
                          <a:cs typeface="Calibri" pitchFamily="34" charset="-120"/>
                        </a:rPr>
                        <a:t>10% off</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143A5A"/>
                    </a:solidFill>
                  </a:tcPr>
                </a:tc>
                <a:tc>
                  <a:txBody>
                    <a:bodyPr/>
                    <a:lstStyle/>
                    <a:p>
                      <a:pPr algn="ctr" indent="0" marL="0">
                        <a:buNone/>
                      </a:pPr>
                      <a:r>
                        <a:rPr lang="en-US" sz="950" b="1" dirty="0">
                          <a:solidFill>
                            <a:srgbClr val="FFFFFF"/>
                          </a:solidFill>
                          <a:latin typeface="Calibri" pitchFamily="34" charset="0"/>
                          <a:ea typeface="Calibri" pitchFamily="34" charset="-122"/>
                          <a:cs typeface="Calibri" pitchFamily="34" charset="-120"/>
                        </a:rPr>
                        <a:t>15% off</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143A5A"/>
                    </a:solidFill>
                  </a:tcPr>
                </a:tc>
                <a:tc>
                  <a:txBody>
                    <a:bodyPr/>
                    <a:lstStyle/>
                    <a:p>
                      <a:pPr algn="ctr" indent="0" marL="0">
                        <a:buNone/>
                      </a:pPr>
                      <a:r>
                        <a:rPr lang="en-US" sz="950" b="1" dirty="0">
                          <a:solidFill>
                            <a:srgbClr val="FFFFFF"/>
                          </a:solidFill>
                          <a:latin typeface="Calibri" pitchFamily="34" charset="0"/>
                          <a:ea typeface="Calibri" pitchFamily="34" charset="-122"/>
                          <a:cs typeface="Calibri" pitchFamily="34" charset="-120"/>
                        </a:rPr>
                        <a:t>20% off</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143A5A"/>
                    </a:solidFill>
                  </a:tcPr>
                </a:tc>
              </a:tr>
              <a:tr h="384048">
                <a:tc>
                  <a:txBody>
                    <a:bodyPr/>
                    <a:lstStyle/>
                    <a:p>
                      <a:pPr indent="0" marL="0">
                        <a:buNone/>
                      </a:pPr>
                      <a:r>
                        <a:rPr lang="en-US" sz="950" b="1" dirty="0">
                          <a:solidFill>
                            <a:srgbClr val="141C24"/>
                          </a:solidFill>
                          <a:latin typeface="Calibri" pitchFamily="34" charset="0"/>
                          <a:ea typeface="Calibri" pitchFamily="34" charset="-122"/>
                          <a:cs typeface="Calibri" pitchFamily="34" charset="-120"/>
                        </a:rPr>
                        <a:t>0.5% of volume</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tc>
                  <a:txBody>
                    <a:bodyPr/>
                    <a:lstStyle/>
                    <a:p>
                      <a:pPr algn="ctr" indent="0" marL="0">
                        <a:buNone/>
                      </a:pPr>
                      <a:r>
                        <a:rPr lang="en-US" sz="1200" b="1" dirty="0">
                          <a:solidFill>
                            <a:srgbClr val="141C24"/>
                          </a:solidFill>
                          <a:latin typeface="Calibri" pitchFamily="34" charset="0"/>
                          <a:ea typeface="Calibri" pitchFamily="34" charset="-122"/>
                          <a:cs typeface="Calibri" pitchFamily="34" charset="-120"/>
                        </a:rPr>
                        <a:t>3.3</a:t>
                      </a:r>
                      <a:endParaRPr lang="en-US" sz="120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DCEAF5"/>
                    </a:solidFill>
                  </a:tcPr>
                </a:tc>
                <a:tc>
                  <a:txBody>
                    <a:bodyPr/>
                    <a:lstStyle/>
                    <a:p>
                      <a:pPr algn="ctr" indent="0" marL="0">
                        <a:buNone/>
                      </a:pPr>
                      <a:r>
                        <a:rPr lang="en-US" sz="1200" b="1" dirty="0">
                          <a:solidFill>
                            <a:srgbClr val="141C24"/>
                          </a:solidFill>
                          <a:latin typeface="Calibri" pitchFamily="34" charset="0"/>
                          <a:ea typeface="Calibri" pitchFamily="34" charset="-122"/>
                          <a:cs typeface="Calibri" pitchFamily="34" charset="-120"/>
                        </a:rPr>
                        <a:t>5.0</a:t>
                      </a:r>
                      <a:endParaRPr lang="en-US" sz="120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DCEAF5"/>
                    </a:solidFill>
                  </a:tcPr>
                </a:tc>
                <a:tc>
                  <a:txBody>
                    <a:bodyPr/>
                    <a:lstStyle/>
                    <a:p>
                      <a:pPr algn="ctr" indent="0" marL="0">
                        <a:buNone/>
                      </a:pPr>
                      <a:r>
                        <a:rPr lang="en-US" sz="1200" b="1" dirty="0">
                          <a:solidFill>
                            <a:srgbClr val="141C24"/>
                          </a:solidFill>
                          <a:latin typeface="Calibri" pitchFamily="34" charset="0"/>
                          <a:ea typeface="Calibri" pitchFamily="34" charset="-122"/>
                          <a:cs typeface="Calibri" pitchFamily="34" charset="-120"/>
                        </a:rPr>
                        <a:t>6.7</a:t>
                      </a:r>
                      <a:endParaRPr lang="en-US" sz="120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A9CBE6"/>
                    </a:solidFill>
                  </a:tcPr>
                </a:tc>
              </a:tr>
              <a:tr h="384048">
                <a:tc>
                  <a:txBody>
                    <a:bodyPr/>
                    <a:lstStyle/>
                    <a:p>
                      <a:pPr indent="0" marL="0">
                        <a:buNone/>
                      </a:pPr>
                      <a:r>
                        <a:rPr lang="en-US" sz="950" b="1" dirty="0">
                          <a:solidFill>
                            <a:srgbClr val="141C24"/>
                          </a:solidFill>
                          <a:latin typeface="Calibri" pitchFamily="34" charset="0"/>
                          <a:ea typeface="Calibri" pitchFamily="34" charset="-122"/>
                          <a:cs typeface="Calibri" pitchFamily="34" charset="-120"/>
                        </a:rPr>
                        <a:t>1.0% of volume</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6.7</a:t>
                      </a:r>
                      <a:endParaRPr lang="en-US" sz="120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143A5A"/>
                    </a:solidFill>
                  </a:tcPr>
                </a:tc>
                <a:tc>
                  <a:txBody>
                    <a:bodyPr/>
                    <a:lstStyle/>
                    <a:p>
                      <a:pPr algn="ctr" indent="0" marL="0">
                        <a:buNone/>
                      </a:pPr>
                      <a:r>
                        <a:rPr lang="en-US" sz="1200" b="1" dirty="0">
                          <a:solidFill>
                            <a:srgbClr val="141C24"/>
                          </a:solidFill>
                          <a:latin typeface="Calibri" pitchFamily="34" charset="0"/>
                          <a:ea typeface="Calibri" pitchFamily="34" charset="-122"/>
                          <a:cs typeface="Calibri" pitchFamily="34" charset="-120"/>
                        </a:rPr>
                        <a:t>10.0</a:t>
                      </a:r>
                      <a:endParaRPr lang="en-US" sz="120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A9CBE6"/>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13.4</a:t>
                      </a:r>
                      <a:endParaRPr lang="en-US" sz="120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5E9CCB"/>
                    </a:solidFill>
                  </a:tcPr>
                </a:tc>
              </a:tr>
              <a:tr h="384048">
                <a:tc>
                  <a:txBody>
                    <a:bodyPr/>
                    <a:lstStyle/>
                    <a:p>
                      <a:pPr indent="0" marL="0">
                        <a:buNone/>
                      </a:pPr>
                      <a:r>
                        <a:rPr lang="en-US" sz="950" b="1" dirty="0">
                          <a:solidFill>
                            <a:srgbClr val="141C24"/>
                          </a:solidFill>
                          <a:latin typeface="Calibri" pitchFamily="34" charset="0"/>
                          <a:ea typeface="Calibri" pitchFamily="34" charset="-122"/>
                          <a:cs typeface="Calibri" pitchFamily="34" charset="-120"/>
                        </a:rPr>
                        <a:t>2.0% of volume</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13.4</a:t>
                      </a:r>
                      <a:endParaRPr lang="en-US" sz="120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5E9CCB"/>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20.1</a:t>
                      </a:r>
                      <a:endParaRPr lang="en-US" sz="120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1F6FA8"/>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26.8</a:t>
                      </a:r>
                      <a:endParaRPr lang="en-US" sz="120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1F6FA8"/>
                    </a:solidFill>
                  </a:tcPr>
                </a:tc>
              </a:tr>
            </a:tbl>
          </a:graphicData>
        </a:graphic>
      </p:graphicFrame>
      <p:sp>
        <p:nvSpPr>
          <p:cNvPr id="21" name="Text 18"/>
          <p:cNvSpPr txBox="1"/>
          <p:nvPr/>
        </p:nvSpPr>
        <p:spPr>
          <a:xfrm>
            <a:off x="457200" y="3310128"/>
            <a:ext cx="3977640" cy="566928"/>
          </a:xfrm>
          <a:prstGeom prst="rect">
            <a:avLst/>
          </a:prstGeom>
          <a:noFill/>
          <a:ln/>
        </p:spPr>
        <p:txBody>
          <a:bodyPr wrap="square" lIns="0" tIns="0" rIns="0" bIns="0" rtlCol="0" anchor="t"/>
          <a:lstStyle/>
          <a:p>
            <a:pPr indent="0" marL="0">
              <a:buNone/>
            </a:pPr>
            <a:r>
              <a:rPr lang="en-US" sz="950" b="1" dirty="0">
                <a:solidFill>
                  <a:srgbClr val="143A5A"/>
                </a:solidFill>
                <a:latin typeface="Calibri" pitchFamily="34" charset="0"/>
                <a:ea typeface="Calibri" pitchFamily="34" charset="-122"/>
                <a:cs typeface="Calibri" pitchFamily="34" charset="-120"/>
              </a:rPr>
              <a:t>Base case (dark): </a:t>
            </a:r>
            <a:pPr indent="0" marL="0">
              <a:buNone/>
            </a:pPr>
            <a:r>
              <a:rPr lang="en-US" sz="950" dirty="0">
                <a:solidFill>
                  <a:srgbClr val="334150"/>
                </a:solidFill>
                <a:latin typeface="Calibri" pitchFamily="34" charset="0"/>
                <a:ea typeface="Calibri" pitchFamily="34" charset="-122"/>
                <a:cs typeface="Calibri" pitchFamily="34" charset="-120"/>
              </a:rPr>
              <a:t>₹6.7 cr pool. Recover 30% = ₹2.0 cr/yr, ₹1.5 cr net of run cost. Fleet (2.57 Mt): ₹43 cr pool, ₹12.9 cr/yr recovered.</a:t>
            </a:r>
            <a:endParaRPr lang="en-US" sz="950" dirty="0"/>
          </a:p>
        </p:txBody>
      </p:sp>
      <p:sp>
        <p:nvSpPr>
          <p:cNvPr id="22" name="Shape 19"/>
          <p:cNvSpPr/>
          <p:nvPr/>
        </p:nvSpPr>
        <p:spPr>
          <a:xfrm>
            <a:off x="4617720" y="1234440"/>
            <a:ext cx="3520440" cy="274320"/>
          </a:xfrm>
          <a:prstGeom prst="rect">
            <a:avLst/>
          </a:prstGeom>
          <a:solidFill>
            <a:srgbClr val="2B5B80"/>
          </a:solidFill>
          <a:ln w="12700">
            <a:solidFill>
              <a:srgbClr val="2B5B80"/>
            </a:solidFill>
            <a:prstDash val="solid"/>
          </a:ln>
        </p:spPr>
      </p:sp>
      <p:sp>
        <p:nvSpPr>
          <p:cNvPr id="23" name="Text 20"/>
          <p:cNvSpPr txBox="1"/>
          <p:nvPr/>
        </p:nvSpPr>
        <p:spPr>
          <a:xfrm>
            <a:off x="4709160" y="1234440"/>
            <a:ext cx="3337560" cy="274320"/>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Payback per line, base case</a:t>
            </a:r>
            <a:endParaRPr lang="en-US" sz="1100" dirty="0"/>
          </a:p>
        </p:txBody>
      </p:sp>
      <p:sp>
        <p:nvSpPr>
          <p:cNvPr id="24" name="Text 21"/>
          <p:cNvSpPr txBox="1"/>
          <p:nvPr/>
        </p:nvSpPr>
        <p:spPr>
          <a:xfrm>
            <a:off x="4663440" y="1627632"/>
            <a:ext cx="1828800" cy="201168"/>
          </a:xfrm>
          <a:prstGeom prst="rect">
            <a:avLst/>
          </a:prstGeom>
          <a:noFill/>
          <a:ln/>
        </p:spPr>
        <p:txBody>
          <a:bodyPr wrap="square" lIns="0" tIns="0" rIns="0" bIns="0" rtlCol="0" anchor="t"/>
          <a:lstStyle/>
          <a:p>
            <a:pPr indent="0" marL="0">
              <a:buNone/>
            </a:pPr>
            <a:r>
              <a:rPr lang="en-US" sz="1000" b="1" dirty="0">
                <a:solidFill>
                  <a:srgbClr val="0086C3"/>
                </a:solidFill>
                <a:latin typeface="Calibri" pitchFamily="34" charset="0"/>
                <a:ea typeface="Calibri" pitchFamily="34" charset="-122"/>
                <a:cs typeface="Calibri" pitchFamily="34" charset="-120"/>
              </a:rPr>
              <a:t>Hybrid (ours)</a:t>
            </a:r>
            <a:endParaRPr lang="en-US" sz="1000" dirty="0"/>
          </a:p>
        </p:txBody>
      </p:sp>
      <p:sp>
        <p:nvSpPr>
          <p:cNvPr id="25" name="Shape 22"/>
          <p:cNvSpPr/>
          <p:nvPr/>
        </p:nvSpPr>
        <p:spPr>
          <a:xfrm>
            <a:off x="4663440" y="1856232"/>
            <a:ext cx="475200" cy="237744"/>
          </a:xfrm>
          <a:prstGeom prst="rect">
            <a:avLst/>
          </a:prstGeom>
          <a:solidFill>
            <a:srgbClr val="0086C3"/>
          </a:solidFill>
          <a:ln w="12700">
            <a:solidFill>
              <a:srgbClr val="0086C3"/>
            </a:solidFill>
            <a:prstDash val="solid"/>
          </a:ln>
        </p:spPr>
      </p:sp>
      <p:sp>
        <p:nvSpPr>
          <p:cNvPr id="26" name="Text 23"/>
          <p:cNvSpPr txBox="1"/>
          <p:nvPr/>
        </p:nvSpPr>
        <p:spPr>
          <a:xfrm>
            <a:off x="5193504" y="1847088"/>
            <a:ext cx="685800" cy="256032"/>
          </a:xfrm>
          <a:prstGeom prst="rect">
            <a:avLst/>
          </a:prstGeom>
          <a:noFill/>
          <a:ln/>
        </p:spPr>
        <p:txBody>
          <a:bodyPr wrap="square" lIns="0" tIns="0" rIns="0" bIns="0" rtlCol="0" anchor="ctr"/>
          <a:lstStyle/>
          <a:p>
            <a:pPr indent="0" marL="0">
              <a:buNone/>
            </a:pPr>
            <a:r>
              <a:rPr lang="en-US" sz="1100" b="1" dirty="0">
                <a:solidFill>
                  <a:srgbClr val="141C24"/>
                </a:solidFill>
                <a:latin typeface="Calibri" pitchFamily="34" charset="0"/>
                <a:ea typeface="Calibri" pitchFamily="34" charset="-122"/>
                <a:cs typeface="Calibri" pitchFamily="34" charset="-120"/>
              </a:rPr>
              <a:t>2.2 yr</a:t>
            </a:r>
            <a:endParaRPr lang="en-US" sz="1100" dirty="0"/>
          </a:p>
        </p:txBody>
      </p:sp>
      <p:sp>
        <p:nvSpPr>
          <p:cNvPr id="27" name="Text 24"/>
          <p:cNvSpPr txBox="1"/>
          <p:nvPr/>
        </p:nvSpPr>
        <p:spPr>
          <a:xfrm>
            <a:off x="4663440" y="2231136"/>
            <a:ext cx="1828800" cy="201168"/>
          </a:xfrm>
          <a:prstGeom prst="rect">
            <a:avLst/>
          </a:prstGeom>
          <a:noFill/>
          <a:ln/>
        </p:spPr>
        <p:txBody>
          <a:bodyPr wrap="square" lIns="0" tIns="0" rIns="0" bIns="0" rtlCol="0" anchor="t"/>
          <a:lstStyle/>
          <a:p>
            <a:pPr indent="0" marL="0">
              <a:buNone/>
            </a:pPr>
            <a:r>
              <a:rPr lang="en-US" sz="1000" b="1" dirty="0">
                <a:solidFill>
                  <a:srgbClr val="141C24"/>
                </a:solidFill>
                <a:latin typeface="Calibri" pitchFamily="34" charset="0"/>
                <a:ea typeface="Calibri" pitchFamily="34" charset="-122"/>
                <a:cs typeface="Calibri" pitchFamily="34" charset="-120"/>
              </a:rPr>
              <a:t>Commercial system</a:t>
            </a:r>
            <a:endParaRPr lang="en-US" sz="1000" dirty="0"/>
          </a:p>
        </p:txBody>
      </p:sp>
      <p:sp>
        <p:nvSpPr>
          <p:cNvPr id="28" name="Shape 25"/>
          <p:cNvSpPr/>
          <p:nvPr/>
        </p:nvSpPr>
        <p:spPr>
          <a:xfrm>
            <a:off x="4663440" y="2459736"/>
            <a:ext cx="2743200" cy="237744"/>
          </a:xfrm>
          <a:prstGeom prst="rect">
            <a:avLst/>
          </a:prstGeom>
          <a:solidFill>
            <a:srgbClr val="9AA7B4"/>
          </a:solidFill>
          <a:ln w="12700">
            <a:solidFill>
              <a:srgbClr val="9AA7B4"/>
            </a:solidFill>
            <a:prstDash val="solid"/>
          </a:ln>
        </p:spPr>
      </p:sp>
      <p:sp>
        <p:nvSpPr>
          <p:cNvPr id="29" name="Text 26"/>
          <p:cNvSpPr txBox="1"/>
          <p:nvPr/>
        </p:nvSpPr>
        <p:spPr>
          <a:xfrm>
            <a:off x="7461504" y="2450592"/>
            <a:ext cx="685800" cy="256032"/>
          </a:xfrm>
          <a:prstGeom prst="rect">
            <a:avLst/>
          </a:prstGeom>
          <a:noFill/>
          <a:ln/>
        </p:spPr>
        <p:txBody>
          <a:bodyPr wrap="square" lIns="0" tIns="0" rIns="0" bIns="0" rtlCol="0" anchor="ctr"/>
          <a:lstStyle/>
          <a:p>
            <a:pPr indent="0" marL="0">
              <a:buNone/>
            </a:pPr>
            <a:r>
              <a:rPr lang="en-US" sz="1100" b="1" dirty="0">
                <a:solidFill>
                  <a:srgbClr val="141C24"/>
                </a:solidFill>
                <a:latin typeface="Calibri" pitchFamily="34" charset="0"/>
                <a:ea typeface="Calibri" pitchFamily="34" charset="-122"/>
                <a:cs typeface="Calibri" pitchFamily="34" charset="-120"/>
              </a:rPr>
              <a:t>12.7 yr</a:t>
            </a:r>
            <a:endParaRPr lang="en-US" sz="1100" dirty="0"/>
          </a:p>
        </p:txBody>
      </p:sp>
      <p:sp>
        <p:nvSpPr>
          <p:cNvPr id="30" name="Text 27"/>
          <p:cNvSpPr txBox="1"/>
          <p:nvPr/>
        </p:nvSpPr>
        <p:spPr>
          <a:xfrm>
            <a:off x="4663440" y="2926080"/>
            <a:ext cx="3474720" cy="274320"/>
          </a:xfrm>
          <a:prstGeom prst="rect">
            <a:avLst/>
          </a:prstGeom>
          <a:noFill/>
          <a:ln/>
        </p:spPr>
        <p:txBody>
          <a:bodyPr wrap="square" lIns="0" tIns="0" rIns="0" bIns="0" rtlCol="0" anchor="ctr"/>
          <a:lstStyle/>
          <a:p>
            <a:pPr indent="0" marL="0">
              <a:buNone/>
            </a:pPr>
            <a:r>
              <a:rPr lang="en-US" sz="1400" b="1" dirty="0">
                <a:solidFill>
                  <a:srgbClr val="0086C3"/>
                </a:solidFill>
                <a:latin typeface="Calibri" pitchFamily="34" charset="0"/>
                <a:ea typeface="Calibri" pitchFamily="34" charset="-122"/>
                <a:cs typeface="Calibri" pitchFamily="34" charset="-120"/>
              </a:rPr>
              <a:t>+₹2.1 cr</a:t>
            </a:r>
            <a:pPr indent="0" marL="0">
              <a:buNone/>
            </a:pPr>
            <a:r>
              <a:rPr lang="en-US" sz="950" dirty="0">
                <a:solidFill>
                  <a:srgbClr val="334150"/>
                </a:solidFill>
                <a:latin typeface="Calibri" pitchFamily="34" charset="0"/>
                <a:ea typeface="Calibri" pitchFamily="34" charset="-122"/>
                <a:cs typeface="Calibri" pitchFamily="34" charset="-120"/>
              </a:rPr>
              <a:t>  5-year NPV per line at 12%</a:t>
            </a:r>
            <a:endParaRPr lang="en-US" sz="950" dirty="0"/>
          </a:p>
        </p:txBody>
      </p:sp>
      <p:sp>
        <p:nvSpPr>
          <p:cNvPr id="31" name="Text 28"/>
          <p:cNvSpPr txBox="1"/>
          <p:nvPr/>
        </p:nvSpPr>
        <p:spPr>
          <a:xfrm>
            <a:off x="4663440" y="3246120"/>
            <a:ext cx="3474720" cy="548640"/>
          </a:xfrm>
          <a:prstGeom prst="rect">
            <a:avLst/>
          </a:prstGeom>
          <a:noFill/>
          <a:ln/>
        </p:spPr>
        <p:txBody>
          <a:bodyPr wrap="square" lIns="0" tIns="0" rIns="0" bIns="0" rtlCol="0" anchor="t"/>
          <a:lstStyle/>
          <a:p>
            <a:pPr indent="0" marL="0">
              <a:buNone/>
            </a:pPr>
            <a:r>
              <a:rPr lang="en-US" sz="1400" b="1" dirty="0">
                <a:solidFill>
                  <a:srgbClr val="0086C3"/>
                </a:solidFill>
                <a:latin typeface="Calibri" pitchFamily="34" charset="0"/>
                <a:ea typeface="Calibri" pitchFamily="34" charset="-122"/>
                <a:cs typeface="Calibri" pitchFamily="34" charset="-120"/>
              </a:rPr>
              <a:t>≥ 0.11%</a:t>
            </a:r>
            <a:pPr indent="0" marL="0">
              <a:buNone/>
            </a:pPr>
            <a:r>
              <a:rPr lang="en-US" sz="950" dirty="0">
                <a:solidFill>
                  <a:srgbClr val="334150"/>
                </a:solidFill>
                <a:latin typeface="Calibri" pitchFamily="34" charset="0"/>
                <a:ea typeface="Calibri" pitchFamily="34" charset="-122"/>
                <a:cs typeface="Calibri" pitchFamily="34" charset="-120"/>
              </a:rPr>
              <a:t>  of line revenue lost to downgrade is enough for a 2-year payback</a:t>
            </a:r>
            <a:endParaRPr lang="en-US" sz="950" dirty="0"/>
          </a:p>
        </p:txBody>
      </p:sp>
      <p:sp>
        <p:nvSpPr>
          <p:cNvPr id="32" name="Shape 29"/>
          <p:cNvSpPr/>
          <p:nvPr/>
        </p:nvSpPr>
        <p:spPr>
          <a:xfrm>
            <a:off x="8321040" y="1234440"/>
            <a:ext cx="3410712" cy="274320"/>
          </a:xfrm>
          <a:prstGeom prst="rect">
            <a:avLst/>
          </a:prstGeom>
          <a:solidFill>
            <a:srgbClr val="2B5B80"/>
          </a:solidFill>
          <a:ln w="12700">
            <a:solidFill>
              <a:srgbClr val="2B5B80"/>
            </a:solidFill>
            <a:prstDash val="solid"/>
          </a:ln>
        </p:spPr>
      </p:sp>
      <p:sp>
        <p:nvSpPr>
          <p:cNvPr id="33" name="Text 30"/>
          <p:cNvSpPr txBox="1"/>
          <p:nvPr/>
        </p:nvSpPr>
        <p:spPr>
          <a:xfrm>
            <a:off x="8412480" y="1234440"/>
            <a:ext cx="3227832" cy="274320"/>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What moves payback (years)</a:t>
            </a:r>
            <a:endParaRPr lang="en-US" sz="1100" dirty="0"/>
          </a:p>
        </p:txBody>
      </p:sp>
      <p:sp>
        <p:nvSpPr>
          <p:cNvPr id="34" name="Text 31"/>
          <p:cNvSpPr txBox="1"/>
          <p:nvPr/>
        </p:nvSpPr>
        <p:spPr>
          <a:xfrm>
            <a:off x="8366760" y="1645920"/>
            <a:ext cx="1353312" cy="274320"/>
          </a:xfrm>
          <a:prstGeom prst="rect">
            <a:avLst/>
          </a:prstGeom>
          <a:noFill/>
          <a:ln/>
        </p:spPr>
        <p:txBody>
          <a:bodyPr wrap="square" lIns="0" tIns="0" rIns="0" bIns="0" rtlCol="0" anchor="ctr"/>
          <a:lstStyle/>
          <a:p>
            <a:pPr indent="0" marL="0">
              <a:buNone/>
            </a:pPr>
            <a:r>
              <a:rPr lang="en-US" sz="900" dirty="0">
                <a:solidFill>
                  <a:srgbClr val="334150"/>
                </a:solidFill>
                <a:latin typeface="Calibri" pitchFamily="34" charset="0"/>
                <a:ea typeface="Calibri" pitchFamily="34" charset="-122"/>
                <a:cs typeface="Calibri" pitchFamily="34" charset="-120"/>
              </a:rPr>
              <a:t>Downgrade rate 0.5-2%</a:t>
            </a:r>
            <a:endParaRPr lang="en-US" sz="900" dirty="0"/>
          </a:p>
        </p:txBody>
      </p:sp>
      <p:sp>
        <p:nvSpPr>
          <p:cNvPr id="35" name="Shape 32"/>
          <p:cNvSpPr/>
          <p:nvPr/>
        </p:nvSpPr>
        <p:spPr>
          <a:xfrm>
            <a:off x="9930711" y="1691640"/>
            <a:ext cx="257142" cy="182880"/>
          </a:xfrm>
          <a:prstGeom prst="rect">
            <a:avLst/>
          </a:prstGeom>
          <a:solidFill>
            <a:srgbClr val="0086C3"/>
          </a:solidFill>
          <a:ln w="12700">
            <a:solidFill>
              <a:srgbClr val="0086C3"/>
            </a:solidFill>
            <a:prstDash val="solid"/>
          </a:ln>
        </p:spPr>
      </p:sp>
      <p:sp>
        <p:nvSpPr>
          <p:cNvPr id="36" name="Shape 33"/>
          <p:cNvSpPr/>
          <p:nvPr/>
        </p:nvSpPr>
        <p:spPr>
          <a:xfrm>
            <a:off x="10187853" y="1691640"/>
            <a:ext cx="894936" cy="182880"/>
          </a:xfrm>
          <a:prstGeom prst="rect">
            <a:avLst/>
          </a:prstGeom>
          <a:solidFill>
            <a:srgbClr val="9AA7B4"/>
          </a:solidFill>
          <a:ln w="12700">
            <a:solidFill>
              <a:srgbClr val="9AA7B4"/>
            </a:solidFill>
            <a:prstDash val="solid"/>
          </a:ln>
        </p:spPr>
      </p:sp>
      <p:sp>
        <p:nvSpPr>
          <p:cNvPr id="37" name="Text 34"/>
          <p:cNvSpPr txBox="1"/>
          <p:nvPr/>
        </p:nvSpPr>
        <p:spPr>
          <a:xfrm>
            <a:off x="11119365" y="1645920"/>
            <a:ext cx="502920" cy="274320"/>
          </a:xfrm>
          <a:prstGeom prst="rect">
            <a:avLst/>
          </a:prstGeom>
          <a:noFill/>
          <a:ln/>
        </p:spPr>
        <p:txBody>
          <a:bodyPr wrap="square" lIns="0" tIns="0" rIns="0" bIns="0" rtlCol="0" anchor="ctr"/>
          <a:lstStyle/>
          <a:p>
            <a:pPr indent="0" marL="0">
              <a:buNone/>
            </a:pPr>
            <a:r>
              <a:rPr lang="en-US" sz="900" b="1" dirty="0">
                <a:solidFill>
                  <a:srgbClr val="141C24"/>
                </a:solidFill>
                <a:latin typeface="Calibri" pitchFamily="34" charset="0"/>
                <a:ea typeface="Calibri" pitchFamily="34" charset="-122"/>
                <a:cs typeface="Calibri" pitchFamily="34" charset="-120"/>
              </a:rPr>
              <a:t>0.9-6.6</a:t>
            </a:r>
            <a:endParaRPr lang="en-US" sz="900" dirty="0"/>
          </a:p>
        </p:txBody>
      </p:sp>
      <p:sp>
        <p:nvSpPr>
          <p:cNvPr id="38" name="Text 35"/>
          <p:cNvSpPr txBox="1"/>
          <p:nvPr/>
        </p:nvSpPr>
        <p:spPr>
          <a:xfrm>
            <a:off x="8366760" y="2048256"/>
            <a:ext cx="1353312" cy="274320"/>
          </a:xfrm>
          <a:prstGeom prst="rect">
            <a:avLst/>
          </a:prstGeom>
          <a:noFill/>
          <a:ln/>
        </p:spPr>
        <p:txBody>
          <a:bodyPr wrap="square" lIns="0" tIns="0" rIns="0" bIns="0" rtlCol="0" anchor="ctr"/>
          <a:lstStyle/>
          <a:p>
            <a:pPr indent="0" marL="0">
              <a:buNone/>
            </a:pPr>
            <a:r>
              <a:rPr lang="en-US" sz="900" dirty="0">
                <a:solidFill>
                  <a:srgbClr val="334150"/>
                </a:solidFill>
                <a:latin typeface="Calibri" pitchFamily="34" charset="0"/>
                <a:ea typeface="Calibri" pitchFamily="34" charset="-122"/>
                <a:cs typeface="Calibri" pitchFamily="34" charset="-120"/>
              </a:rPr>
              <a:t>Share recovered 15-45%</a:t>
            </a:r>
            <a:endParaRPr lang="en-US" sz="900" dirty="0"/>
          </a:p>
        </p:txBody>
      </p:sp>
      <p:sp>
        <p:nvSpPr>
          <p:cNvPr id="39" name="Shape 36"/>
          <p:cNvSpPr/>
          <p:nvPr/>
        </p:nvSpPr>
        <p:spPr>
          <a:xfrm>
            <a:off x="10007651" y="2093976"/>
            <a:ext cx="180202" cy="182880"/>
          </a:xfrm>
          <a:prstGeom prst="rect">
            <a:avLst/>
          </a:prstGeom>
          <a:solidFill>
            <a:srgbClr val="0086C3"/>
          </a:solidFill>
          <a:ln w="12700">
            <a:solidFill>
              <a:srgbClr val="0086C3"/>
            </a:solidFill>
            <a:prstDash val="solid"/>
          </a:ln>
        </p:spPr>
      </p:sp>
      <p:sp>
        <p:nvSpPr>
          <p:cNvPr id="40" name="Shape 37"/>
          <p:cNvSpPr/>
          <p:nvPr/>
        </p:nvSpPr>
        <p:spPr>
          <a:xfrm>
            <a:off x="10187853" y="2093976"/>
            <a:ext cx="894936" cy="182880"/>
          </a:xfrm>
          <a:prstGeom prst="rect">
            <a:avLst/>
          </a:prstGeom>
          <a:solidFill>
            <a:srgbClr val="9AA7B4"/>
          </a:solidFill>
          <a:ln w="12700">
            <a:solidFill>
              <a:srgbClr val="9AA7B4"/>
            </a:solidFill>
            <a:prstDash val="solid"/>
          </a:ln>
        </p:spPr>
      </p:sp>
      <p:sp>
        <p:nvSpPr>
          <p:cNvPr id="41" name="Text 38"/>
          <p:cNvSpPr txBox="1"/>
          <p:nvPr/>
        </p:nvSpPr>
        <p:spPr>
          <a:xfrm>
            <a:off x="11119365" y="2048256"/>
            <a:ext cx="502920" cy="274320"/>
          </a:xfrm>
          <a:prstGeom prst="rect">
            <a:avLst/>
          </a:prstGeom>
          <a:noFill/>
          <a:ln/>
        </p:spPr>
        <p:txBody>
          <a:bodyPr wrap="square" lIns="0" tIns="0" rIns="0" bIns="0" rtlCol="0" anchor="ctr"/>
          <a:lstStyle/>
          <a:p>
            <a:pPr indent="0" marL="0">
              <a:buNone/>
            </a:pPr>
            <a:r>
              <a:rPr lang="en-US" sz="900" b="1" dirty="0">
                <a:solidFill>
                  <a:srgbClr val="141C24"/>
                </a:solidFill>
                <a:latin typeface="Calibri" pitchFamily="34" charset="0"/>
                <a:ea typeface="Calibri" pitchFamily="34" charset="-122"/>
                <a:cs typeface="Calibri" pitchFamily="34" charset="-120"/>
              </a:rPr>
              <a:t>1.3-6.6</a:t>
            </a:r>
            <a:endParaRPr lang="en-US" sz="900" dirty="0"/>
          </a:p>
        </p:txBody>
      </p:sp>
      <p:sp>
        <p:nvSpPr>
          <p:cNvPr id="42" name="Text 39"/>
          <p:cNvSpPr txBox="1"/>
          <p:nvPr/>
        </p:nvSpPr>
        <p:spPr>
          <a:xfrm>
            <a:off x="8366760" y="2450592"/>
            <a:ext cx="1353312" cy="274320"/>
          </a:xfrm>
          <a:prstGeom prst="rect">
            <a:avLst/>
          </a:prstGeom>
          <a:noFill/>
          <a:ln/>
        </p:spPr>
        <p:txBody>
          <a:bodyPr wrap="square" lIns="0" tIns="0" rIns="0" bIns="0" rtlCol="0" anchor="ctr"/>
          <a:lstStyle/>
          <a:p>
            <a:pPr indent="0" marL="0">
              <a:buNone/>
            </a:pPr>
            <a:r>
              <a:rPr lang="en-US" sz="900" dirty="0">
                <a:solidFill>
                  <a:srgbClr val="334150"/>
                </a:solidFill>
                <a:latin typeface="Calibri" pitchFamily="34" charset="0"/>
                <a:ea typeface="Calibri" pitchFamily="34" charset="-122"/>
                <a:cs typeface="Calibri" pitchFamily="34" charset="-120"/>
              </a:rPr>
              <a:t>Line volume 0.3-0.5 Mt</a:t>
            </a:r>
            <a:endParaRPr lang="en-US" sz="900" dirty="0"/>
          </a:p>
        </p:txBody>
      </p:sp>
      <p:sp>
        <p:nvSpPr>
          <p:cNvPr id="43" name="Shape 40"/>
          <p:cNvSpPr/>
          <p:nvPr/>
        </p:nvSpPr>
        <p:spPr>
          <a:xfrm>
            <a:off x="10076492" y="2496312"/>
            <a:ext cx="111361" cy="182880"/>
          </a:xfrm>
          <a:prstGeom prst="rect">
            <a:avLst/>
          </a:prstGeom>
          <a:solidFill>
            <a:srgbClr val="0086C3"/>
          </a:solidFill>
          <a:ln w="12700">
            <a:solidFill>
              <a:srgbClr val="0086C3"/>
            </a:solidFill>
            <a:prstDash val="solid"/>
          </a:ln>
        </p:spPr>
      </p:sp>
      <p:sp>
        <p:nvSpPr>
          <p:cNvPr id="44" name="Shape 41"/>
          <p:cNvSpPr/>
          <p:nvPr/>
        </p:nvSpPr>
        <p:spPr>
          <a:xfrm>
            <a:off x="10187853" y="2496312"/>
            <a:ext cx="224746" cy="182880"/>
          </a:xfrm>
          <a:prstGeom prst="rect">
            <a:avLst/>
          </a:prstGeom>
          <a:solidFill>
            <a:srgbClr val="9AA7B4"/>
          </a:solidFill>
          <a:ln w="12700">
            <a:solidFill>
              <a:srgbClr val="9AA7B4"/>
            </a:solidFill>
            <a:prstDash val="solid"/>
          </a:ln>
        </p:spPr>
      </p:sp>
      <p:sp>
        <p:nvSpPr>
          <p:cNvPr id="45" name="Text 42"/>
          <p:cNvSpPr txBox="1"/>
          <p:nvPr/>
        </p:nvSpPr>
        <p:spPr>
          <a:xfrm>
            <a:off x="10449175" y="2450592"/>
            <a:ext cx="502920" cy="274320"/>
          </a:xfrm>
          <a:prstGeom prst="rect">
            <a:avLst/>
          </a:prstGeom>
          <a:noFill/>
          <a:ln/>
        </p:spPr>
        <p:txBody>
          <a:bodyPr wrap="square" lIns="0" tIns="0" rIns="0" bIns="0" rtlCol="0" anchor="ctr"/>
          <a:lstStyle/>
          <a:p>
            <a:pPr indent="0" marL="0">
              <a:buNone/>
            </a:pPr>
            <a:r>
              <a:rPr lang="en-US" sz="900" b="1" dirty="0">
                <a:solidFill>
                  <a:srgbClr val="141C24"/>
                </a:solidFill>
                <a:latin typeface="Calibri" pitchFamily="34" charset="0"/>
                <a:ea typeface="Calibri" pitchFamily="34" charset="-122"/>
                <a:cs typeface="Calibri" pitchFamily="34" charset="-120"/>
              </a:rPr>
              <a:t>1.7-3.3</a:t>
            </a:r>
            <a:endParaRPr lang="en-US" sz="900" dirty="0"/>
          </a:p>
        </p:txBody>
      </p:sp>
      <p:sp>
        <p:nvSpPr>
          <p:cNvPr id="46" name="Text 43"/>
          <p:cNvSpPr txBox="1"/>
          <p:nvPr/>
        </p:nvSpPr>
        <p:spPr>
          <a:xfrm>
            <a:off x="8366760" y="2852928"/>
            <a:ext cx="1353312" cy="274320"/>
          </a:xfrm>
          <a:prstGeom prst="rect">
            <a:avLst/>
          </a:prstGeom>
          <a:noFill/>
          <a:ln/>
        </p:spPr>
        <p:txBody>
          <a:bodyPr wrap="square" lIns="0" tIns="0" rIns="0" bIns="0" rtlCol="0" anchor="ctr"/>
          <a:lstStyle/>
          <a:p>
            <a:pPr indent="0" marL="0">
              <a:buNone/>
            </a:pPr>
            <a:r>
              <a:rPr lang="en-US" sz="900" dirty="0">
                <a:solidFill>
                  <a:srgbClr val="334150"/>
                </a:solidFill>
                <a:latin typeface="Calibri" pitchFamily="34" charset="0"/>
                <a:ea typeface="Calibri" pitchFamily="34" charset="-122"/>
                <a:cs typeface="Calibri" pitchFamily="34" charset="-120"/>
              </a:rPr>
              <a:t>Capex ₹2.5-4.2 cr</a:t>
            </a:r>
            <a:endParaRPr lang="en-US" sz="900" dirty="0"/>
          </a:p>
        </p:txBody>
      </p:sp>
      <p:sp>
        <p:nvSpPr>
          <p:cNvPr id="47" name="Shape 44"/>
          <p:cNvSpPr/>
          <p:nvPr/>
        </p:nvSpPr>
        <p:spPr>
          <a:xfrm>
            <a:off x="10074467" y="2898648"/>
            <a:ext cx="113386" cy="182880"/>
          </a:xfrm>
          <a:prstGeom prst="rect">
            <a:avLst/>
          </a:prstGeom>
          <a:solidFill>
            <a:srgbClr val="0086C3"/>
          </a:solidFill>
          <a:ln w="12700">
            <a:solidFill>
              <a:srgbClr val="0086C3"/>
            </a:solidFill>
            <a:prstDash val="solid"/>
          </a:ln>
        </p:spPr>
      </p:sp>
      <p:sp>
        <p:nvSpPr>
          <p:cNvPr id="48" name="Shape 45"/>
          <p:cNvSpPr/>
          <p:nvPr/>
        </p:nvSpPr>
        <p:spPr>
          <a:xfrm>
            <a:off x="10187853" y="2898648"/>
            <a:ext cx="113386" cy="182880"/>
          </a:xfrm>
          <a:prstGeom prst="rect">
            <a:avLst/>
          </a:prstGeom>
          <a:solidFill>
            <a:srgbClr val="9AA7B4"/>
          </a:solidFill>
          <a:ln w="12700">
            <a:solidFill>
              <a:srgbClr val="9AA7B4"/>
            </a:solidFill>
            <a:prstDash val="solid"/>
          </a:ln>
        </p:spPr>
      </p:sp>
      <p:sp>
        <p:nvSpPr>
          <p:cNvPr id="49" name="Text 46"/>
          <p:cNvSpPr txBox="1"/>
          <p:nvPr/>
        </p:nvSpPr>
        <p:spPr>
          <a:xfrm>
            <a:off x="10337815" y="2852928"/>
            <a:ext cx="502920" cy="274320"/>
          </a:xfrm>
          <a:prstGeom prst="rect">
            <a:avLst/>
          </a:prstGeom>
          <a:noFill/>
          <a:ln/>
        </p:spPr>
        <p:txBody>
          <a:bodyPr wrap="square" lIns="0" tIns="0" rIns="0" bIns="0" rtlCol="0" anchor="ctr"/>
          <a:lstStyle/>
          <a:p>
            <a:pPr indent="0" marL="0">
              <a:buNone/>
            </a:pPr>
            <a:r>
              <a:rPr lang="en-US" sz="900" b="1" dirty="0">
                <a:solidFill>
                  <a:srgbClr val="141C24"/>
                </a:solidFill>
                <a:latin typeface="Calibri" pitchFamily="34" charset="0"/>
                <a:ea typeface="Calibri" pitchFamily="34" charset="-122"/>
                <a:cs typeface="Calibri" pitchFamily="34" charset="-120"/>
              </a:rPr>
              <a:t>1.7-2.8</a:t>
            </a:r>
            <a:endParaRPr lang="en-US" sz="900" dirty="0"/>
          </a:p>
        </p:txBody>
      </p:sp>
      <p:sp>
        <p:nvSpPr>
          <p:cNvPr id="50" name="Text 47"/>
          <p:cNvSpPr txBox="1"/>
          <p:nvPr/>
        </p:nvSpPr>
        <p:spPr>
          <a:xfrm>
            <a:off x="8366760" y="3255264"/>
            <a:ext cx="1353312" cy="274320"/>
          </a:xfrm>
          <a:prstGeom prst="rect">
            <a:avLst/>
          </a:prstGeom>
          <a:noFill/>
          <a:ln/>
        </p:spPr>
        <p:txBody>
          <a:bodyPr wrap="square" lIns="0" tIns="0" rIns="0" bIns="0" rtlCol="0" anchor="ctr"/>
          <a:lstStyle/>
          <a:p>
            <a:pPr indent="0" marL="0">
              <a:buNone/>
            </a:pPr>
            <a:r>
              <a:rPr lang="en-US" sz="900" dirty="0">
                <a:solidFill>
                  <a:srgbClr val="334150"/>
                </a:solidFill>
                <a:latin typeface="Calibri" pitchFamily="34" charset="0"/>
                <a:ea typeface="Calibri" pitchFamily="34" charset="-122"/>
                <a:cs typeface="Calibri" pitchFamily="34" charset="-120"/>
              </a:rPr>
              <a:t>Price discount 10-20%</a:t>
            </a:r>
            <a:endParaRPr lang="en-US" sz="900" dirty="0"/>
          </a:p>
        </p:txBody>
      </p:sp>
      <p:sp>
        <p:nvSpPr>
          <p:cNvPr id="51" name="Shape 48"/>
          <p:cNvSpPr/>
          <p:nvPr/>
        </p:nvSpPr>
        <p:spPr>
          <a:xfrm>
            <a:off x="9930711" y="3300984"/>
            <a:ext cx="257142" cy="182880"/>
          </a:xfrm>
          <a:prstGeom prst="rect">
            <a:avLst/>
          </a:prstGeom>
          <a:solidFill>
            <a:srgbClr val="0086C3"/>
          </a:solidFill>
          <a:ln w="12700">
            <a:solidFill>
              <a:srgbClr val="0086C3"/>
            </a:solidFill>
            <a:prstDash val="solid"/>
          </a:ln>
        </p:spPr>
      </p:sp>
      <p:sp>
        <p:nvSpPr>
          <p:cNvPr id="52" name="Text 49"/>
          <p:cNvSpPr txBox="1"/>
          <p:nvPr/>
        </p:nvSpPr>
        <p:spPr>
          <a:xfrm>
            <a:off x="10224429" y="3255264"/>
            <a:ext cx="502920" cy="274320"/>
          </a:xfrm>
          <a:prstGeom prst="rect">
            <a:avLst/>
          </a:prstGeom>
          <a:noFill/>
          <a:ln/>
        </p:spPr>
        <p:txBody>
          <a:bodyPr wrap="square" lIns="0" tIns="0" rIns="0" bIns="0" rtlCol="0" anchor="ctr"/>
          <a:lstStyle/>
          <a:p>
            <a:pPr indent="0" marL="0">
              <a:buNone/>
            </a:pPr>
            <a:r>
              <a:rPr lang="en-US" sz="900" b="1" dirty="0">
                <a:solidFill>
                  <a:srgbClr val="141C24"/>
                </a:solidFill>
                <a:latin typeface="Calibri" pitchFamily="34" charset="0"/>
                <a:ea typeface="Calibri" pitchFamily="34" charset="-122"/>
                <a:cs typeface="Calibri" pitchFamily="34" charset="-120"/>
              </a:rPr>
              <a:t>0.9-2.2</a:t>
            </a:r>
            <a:endParaRPr lang="en-US" sz="900" dirty="0"/>
          </a:p>
        </p:txBody>
      </p:sp>
      <p:sp>
        <p:nvSpPr>
          <p:cNvPr id="53" name="Shape 50"/>
          <p:cNvSpPr/>
          <p:nvPr/>
        </p:nvSpPr>
        <p:spPr>
          <a:xfrm>
            <a:off x="10178709" y="1591056"/>
            <a:ext cx="18288" cy="2057400"/>
          </a:xfrm>
          <a:prstGeom prst="rect">
            <a:avLst/>
          </a:prstGeom>
          <a:solidFill>
            <a:srgbClr val="143A5A"/>
          </a:solidFill>
          <a:ln w="12700">
            <a:solidFill>
              <a:srgbClr val="143A5A"/>
            </a:solidFill>
            <a:prstDash val="solid"/>
          </a:ln>
        </p:spPr>
      </p:sp>
      <p:sp>
        <p:nvSpPr>
          <p:cNvPr id="54" name="Text 51"/>
          <p:cNvSpPr txBox="1"/>
          <p:nvPr/>
        </p:nvSpPr>
        <p:spPr>
          <a:xfrm>
            <a:off x="9730653" y="3648456"/>
            <a:ext cx="914400" cy="182880"/>
          </a:xfrm>
          <a:prstGeom prst="rect">
            <a:avLst/>
          </a:prstGeom>
          <a:noFill/>
          <a:ln/>
        </p:spPr>
        <p:txBody>
          <a:bodyPr wrap="square" lIns="0" tIns="0" rIns="0" bIns="0" rtlCol="0" anchor="t"/>
          <a:lstStyle/>
          <a:p>
            <a:pPr algn="ctr" indent="0" marL="0">
              <a:buNone/>
            </a:pPr>
            <a:r>
              <a:rPr lang="en-US" sz="900" b="1" dirty="0">
                <a:solidFill>
                  <a:srgbClr val="143A5A"/>
                </a:solidFill>
                <a:latin typeface="Calibri" pitchFamily="34" charset="0"/>
                <a:ea typeface="Calibri" pitchFamily="34" charset="-122"/>
                <a:cs typeface="Calibri" pitchFamily="34" charset="-120"/>
              </a:rPr>
              <a:t>base 2.2 yr</a:t>
            </a:r>
            <a:endParaRPr lang="en-US" sz="900" dirty="0"/>
          </a:p>
        </p:txBody>
      </p:sp>
      <p:sp>
        <p:nvSpPr>
          <p:cNvPr id="55" name="Shape 52"/>
          <p:cNvSpPr/>
          <p:nvPr/>
        </p:nvSpPr>
        <p:spPr>
          <a:xfrm>
            <a:off x="457200" y="4005072"/>
            <a:ext cx="7680960" cy="274320"/>
          </a:xfrm>
          <a:prstGeom prst="rect">
            <a:avLst/>
          </a:prstGeom>
          <a:solidFill>
            <a:srgbClr val="2B5B80"/>
          </a:solidFill>
          <a:ln w="12700">
            <a:solidFill>
              <a:srgbClr val="2B5B80"/>
            </a:solidFill>
            <a:prstDash val="solid"/>
          </a:ln>
        </p:spPr>
      </p:sp>
      <p:sp>
        <p:nvSpPr>
          <p:cNvPr id="56" name="Text 53"/>
          <p:cNvSpPr txBox="1"/>
          <p:nvPr/>
        </p:nvSpPr>
        <p:spPr>
          <a:xfrm>
            <a:off x="548640" y="4005072"/>
            <a:ext cx="7498080" cy="274320"/>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Impact beyond the P&amp;L</a:t>
            </a:r>
            <a:endParaRPr lang="en-US" sz="1100" dirty="0"/>
          </a:p>
        </p:txBody>
      </p:sp>
      <p:sp>
        <p:nvSpPr>
          <p:cNvPr id="57" name="Shape 54"/>
          <p:cNvSpPr/>
          <p:nvPr/>
        </p:nvSpPr>
        <p:spPr>
          <a:xfrm>
            <a:off x="457200" y="4334256"/>
            <a:ext cx="1234440" cy="1554480"/>
          </a:xfrm>
          <a:prstGeom prst="roundRect">
            <a:avLst>
              <a:gd name="adj" fmla="val 4444"/>
            </a:avLst>
          </a:prstGeom>
          <a:solidFill>
            <a:srgbClr val="F1F4F7"/>
          </a:solidFill>
          <a:ln w="12700">
            <a:solidFill>
              <a:srgbClr val="F1F4F7"/>
            </a:solidFill>
            <a:prstDash val="solid"/>
          </a:ln>
        </p:spPr>
      </p:sp>
      <p:sp>
        <p:nvSpPr>
          <p:cNvPr id="58" name="Shape 55"/>
          <p:cNvSpPr/>
          <p:nvPr/>
        </p:nvSpPr>
        <p:spPr>
          <a:xfrm>
            <a:off x="850392" y="4425696"/>
            <a:ext cx="457200" cy="457200"/>
          </a:xfrm>
          <a:prstGeom prst="ellipse">
            <a:avLst/>
          </a:prstGeom>
          <a:solidFill>
            <a:srgbClr val="0086C3"/>
          </a:solidFill>
          <a:ln w="12700">
            <a:solidFill>
              <a:srgbClr val="0086C3"/>
            </a:solidFill>
            <a:prstDash val="solid"/>
          </a:ln>
        </p:spPr>
      </p:sp>
      <p:pic>
        <p:nvPicPr>
          <p:cNvPr id="59" name="Image 0" descr="img/icons/scan-line-white.png">    </p:cNvPr>
          <p:cNvPicPr>
            <a:picLocks noChangeAspect="1"/>
          </p:cNvPicPr>
          <p:nvPr/>
        </p:nvPicPr>
        <p:blipFill>
          <a:blip r:embed="rId1"/>
          <a:stretch>
            <a:fillRect/>
          </a:stretch>
        </p:blipFill>
        <p:spPr>
          <a:xfrm>
            <a:off x="950976" y="4526280"/>
            <a:ext cx="256032" cy="256032"/>
          </a:xfrm>
          <a:prstGeom prst="rect">
            <a:avLst/>
          </a:prstGeom>
        </p:spPr>
      </p:pic>
      <p:sp>
        <p:nvSpPr>
          <p:cNvPr id="60" name="Text 56"/>
          <p:cNvSpPr txBox="1"/>
          <p:nvPr/>
        </p:nvSpPr>
        <p:spPr>
          <a:xfrm>
            <a:off x="502920" y="4937760"/>
            <a:ext cx="1143000" cy="219456"/>
          </a:xfrm>
          <a:prstGeom prst="rect">
            <a:avLst/>
          </a:prstGeom>
          <a:noFill/>
          <a:ln/>
        </p:spPr>
        <p:txBody>
          <a:bodyPr wrap="square" lIns="0" tIns="0" rIns="0" bIns="0" rtlCol="0" anchor="t"/>
          <a:lstStyle/>
          <a:p>
            <a:pPr algn="ctr" indent="0" marL="0">
              <a:buNone/>
            </a:pPr>
            <a:r>
              <a:rPr lang="en-US" sz="1050" b="1" dirty="0">
                <a:solidFill>
                  <a:srgbClr val="143A5A"/>
                </a:solidFill>
                <a:latin typeface="Calibri" pitchFamily="34" charset="0"/>
                <a:ea typeface="Calibri" pitchFamily="34" charset="-122"/>
                <a:cs typeface="Calibri" pitchFamily="34" charset="-120"/>
              </a:rPr>
              <a:t>Coverage</a:t>
            </a:r>
            <a:endParaRPr lang="en-US" sz="1050" dirty="0"/>
          </a:p>
        </p:txBody>
      </p:sp>
      <p:sp>
        <p:nvSpPr>
          <p:cNvPr id="61" name="Text 57"/>
          <p:cNvSpPr txBox="1"/>
          <p:nvPr/>
        </p:nvSpPr>
        <p:spPr>
          <a:xfrm>
            <a:off x="521208" y="5175504"/>
            <a:ext cx="1106424" cy="640080"/>
          </a:xfrm>
          <a:prstGeom prst="rect">
            <a:avLst/>
          </a:prstGeom>
          <a:noFill/>
          <a:ln/>
        </p:spPr>
        <p:txBody>
          <a:bodyPr wrap="square" lIns="0" tIns="0" rIns="0" bIns="0" rtlCol="0" anchor="t"/>
          <a:lstStyle/>
          <a:p>
            <a:pPr algn="ctr" indent="0" marL="0">
              <a:buNone/>
            </a:pPr>
            <a:r>
              <a:rPr lang="en-US" sz="900" dirty="0">
                <a:solidFill>
                  <a:srgbClr val="334150"/>
                </a:solidFill>
                <a:latin typeface="Calibri" pitchFamily="34" charset="0"/>
                <a:ea typeface="Calibri" pitchFamily="34" charset="-122"/>
                <a:cs typeface="Calibri" pitchFamily="34" charset="-120"/>
              </a:rPr>
              <a:t>100% of both faces, every coil</a:t>
            </a:r>
            <a:endParaRPr lang="en-US" sz="900" dirty="0"/>
          </a:p>
        </p:txBody>
      </p:sp>
      <p:sp>
        <p:nvSpPr>
          <p:cNvPr id="62" name="Shape 58"/>
          <p:cNvSpPr/>
          <p:nvPr/>
        </p:nvSpPr>
        <p:spPr>
          <a:xfrm>
            <a:off x="1751076" y="4334256"/>
            <a:ext cx="1234440" cy="1554480"/>
          </a:xfrm>
          <a:prstGeom prst="roundRect">
            <a:avLst>
              <a:gd name="adj" fmla="val 4444"/>
            </a:avLst>
          </a:prstGeom>
          <a:solidFill>
            <a:srgbClr val="F1F4F7"/>
          </a:solidFill>
          <a:ln w="12700">
            <a:solidFill>
              <a:srgbClr val="F1F4F7"/>
            </a:solidFill>
            <a:prstDash val="solid"/>
          </a:ln>
        </p:spPr>
      </p:sp>
      <p:sp>
        <p:nvSpPr>
          <p:cNvPr id="63" name="Shape 59"/>
          <p:cNvSpPr/>
          <p:nvPr/>
        </p:nvSpPr>
        <p:spPr>
          <a:xfrm>
            <a:off x="2144268" y="4425696"/>
            <a:ext cx="457200" cy="457200"/>
          </a:xfrm>
          <a:prstGeom prst="ellipse">
            <a:avLst/>
          </a:prstGeom>
          <a:solidFill>
            <a:srgbClr val="0086C3"/>
          </a:solidFill>
          <a:ln w="12700">
            <a:solidFill>
              <a:srgbClr val="0086C3"/>
            </a:solidFill>
            <a:prstDash val="solid"/>
          </a:ln>
        </p:spPr>
      </p:sp>
      <p:pic>
        <p:nvPicPr>
          <p:cNvPr id="64" name="Image 1" descr="img/icons/users-white.png">    </p:cNvPr>
          <p:cNvPicPr>
            <a:picLocks noChangeAspect="1"/>
          </p:cNvPicPr>
          <p:nvPr/>
        </p:nvPicPr>
        <p:blipFill>
          <a:blip r:embed="rId2"/>
          <a:stretch>
            <a:fillRect/>
          </a:stretch>
        </p:blipFill>
        <p:spPr>
          <a:xfrm>
            <a:off x="2244852" y="4526280"/>
            <a:ext cx="256032" cy="256032"/>
          </a:xfrm>
          <a:prstGeom prst="rect">
            <a:avLst/>
          </a:prstGeom>
        </p:spPr>
      </p:pic>
      <p:sp>
        <p:nvSpPr>
          <p:cNvPr id="65" name="Text 60"/>
          <p:cNvSpPr txBox="1"/>
          <p:nvPr/>
        </p:nvSpPr>
        <p:spPr>
          <a:xfrm>
            <a:off x="1796796" y="4937760"/>
            <a:ext cx="1143000" cy="219456"/>
          </a:xfrm>
          <a:prstGeom prst="rect">
            <a:avLst/>
          </a:prstGeom>
          <a:noFill/>
          <a:ln/>
        </p:spPr>
        <p:txBody>
          <a:bodyPr wrap="square" lIns="0" tIns="0" rIns="0" bIns="0" rtlCol="0" anchor="t"/>
          <a:lstStyle/>
          <a:p>
            <a:pPr algn="ctr" indent="0" marL="0">
              <a:buNone/>
            </a:pPr>
            <a:r>
              <a:rPr lang="en-US" sz="1050" b="1" dirty="0">
                <a:solidFill>
                  <a:srgbClr val="143A5A"/>
                </a:solidFill>
                <a:latin typeface="Calibri" pitchFamily="34" charset="0"/>
                <a:ea typeface="Calibri" pitchFamily="34" charset="-122"/>
                <a:cs typeface="Calibri" pitchFamily="34" charset="-120"/>
              </a:rPr>
              <a:t>Customers</a:t>
            </a:r>
            <a:endParaRPr lang="en-US" sz="1050" dirty="0"/>
          </a:p>
        </p:txBody>
      </p:sp>
      <p:sp>
        <p:nvSpPr>
          <p:cNvPr id="66" name="Text 61"/>
          <p:cNvSpPr txBox="1"/>
          <p:nvPr/>
        </p:nvSpPr>
        <p:spPr>
          <a:xfrm>
            <a:off x="1815084" y="5175504"/>
            <a:ext cx="1106424" cy="640080"/>
          </a:xfrm>
          <a:prstGeom prst="rect">
            <a:avLst/>
          </a:prstGeom>
          <a:noFill/>
          <a:ln/>
        </p:spPr>
        <p:txBody>
          <a:bodyPr wrap="square" lIns="0" tIns="0" rIns="0" bIns="0" rtlCol="0" anchor="t"/>
          <a:lstStyle/>
          <a:p>
            <a:pPr algn="ctr" indent="0" marL="0">
              <a:buNone/>
            </a:pPr>
            <a:r>
              <a:rPr lang="en-US" sz="900" dirty="0">
                <a:solidFill>
                  <a:srgbClr val="334150"/>
                </a:solidFill>
                <a:latin typeface="Calibri" pitchFamily="34" charset="0"/>
                <a:ea typeface="Calibri" pitchFamily="34" charset="-122"/>
                <a:cs typeface="Calibri" pitchFamily="34" charset="-120"/>
              </a:rPr>
              <a:t>Defect map per coil, fewer claims</a:t>
            </a:r>
            <a:endParaRPr lang="en-US" sz="900" dirty="0"/>
          </a:p>
        </p:txBody>
      </p:sp>
      <p:sp>
        <p:nvSpPr>
          <p:cNvPr id="67" name="Shape 62"/>
          <p:cNvSpPr/>
          <p:nvPr/>
        </p:nvSpPr>
        <p:spPr>
          <a:xfrm>
            <a:off x="3044952" y="4334256"/>
            <a:ext cx="1234440" cy="1554480"/>
          </a:xfrm>
          <a:prstGeom prst="roundRect">
            <a:avLst>
              <a:gd name="adj" fmla="val 4444"/>
            </a:avLst>
          </a:prstGeom>
          <a:solidFill>
            <a:srgbClr val="F1F4F7"/>
          </a:solidFill>
          <a:ln w="12700">
            <a:solidFill>
              <a:srgbClr val="F1F4F7"/>
            </a:solidFill>
            <a:prstDash val="solid"/>
          </a:ln>
        </p:spPr>
      </p:sp>
      <p:sp>
        <p:nvSpPr>
          <p:cNvPr id="68" name="Shape 63"/>
          <p:cNvSpPr/>
          <p:nvPr/>
        </p:nvSpPr>
        <p:spPr>
          <a:xfrm>
            <a:off x="3438144" y="4425696"/>
            <a:ext cx="457200" cy="457200"/>
          </a:xfrm>
          <a:prstGeom prst="ellipse">
            <a:avLst/>
          </a:prstGeom>
          <a:solidFill>
            <a:srgbClr val="0086C3"/>
          </a:solidFill>
          <a:ln w="12700">
            <a:solidFill>
              <a:srgbClr val="0086C3"/>
            </a:solidFill>
            <a:prstDash val="solid"/>
          </a:ln>
        </p:spPr>
      </p:sp>
      <p:pic>
        <p:nvPicPr>
          <p:cNvPr id="69" name="Image 2" descr="img/icons/wrench-white.png">    </p:cNvPr>
          <p:cNvPicPr>
            <a:picLocks noChangeAspect="1"/>
          </p:cNvPicPr>
          <p:nvPr/>
        </p:nvPicPr>
        <p:blipFill>
          <a:blip r:embed="rId3"/>
          <a:stretch>
            <a:fillRect/>
          </a:stretch>
        </p:blipFill>
        <p:spPr>
          <a:xfrm>
            <a:off x="3538728" y="4526280"/>
            <a:ext cx="256032" cy="256032"/>
          </a:xfrm>
          <a:prstGeom prst="rect">
            <a:avLst/>
          </a:prstGeom>
        </p:spPr>
      </p:pic>
      <p:sp>
        <p:nvSpPr>
          <p:cNvPr id="70" name="Text 64"/>
          <p:cNvSpPr txBox="1"/>
          <p:nvPr/>
        </p:nvSpPr>
        <p:spPr>
          <a:xfrm>
            <a:off x="3090672" y="4937760"/>
            <a:ext cx="1143000" cy="219456"/>
          </a:xfrm>
          <a:prstGeom prst="rect">
            <a:avLst/>
          </a:prstGeom>
          <a:noFill/>
          <a:ln/>
        </p:spPr>
        <p:txBody>
          <a:bodyPr wrap="square" lIns="0" tIns="0" rIns="0" bIns="0" rtlCol="0" anchor="t"/>
          <a:lstStyle/>
          <a:p>
            <a:pPr algn="ctr" indent="0" marL="0">
              <a:buNone/>
            </a:pPr>
            <a:r>
              <a:rPr lang="en-US" sz="1050" b="1" dirty="0">
                <a:solidFill>
                  <a:srgbClr val="143A5A"/>
                </a:solidFill>
                <a:latin typeface="Calibri" pitchFamily="34" charset="0"/>
                <a:ea typeface="Calibri" pitchFamily="34" charset="-122"/>
                <a:cs typeface="Calibri" pitchFamily="34" charset="-120"/>
              </a:rPr>
              <a:t>Process</a:t>
            </a:r>
            <a:endParaRPr lang="en-US" sz="1050" dirty="0"/>
          </a:p>
        </p:txBody>
      </p:sp>
      <p:sp>
        <p:nvSpPr>
          <p:cNvPr id="71" name="Text 65"/>
          <p:cNvSpPr txBox="1"/>
          <p:nvPr/>
        </p:nvSpPr>
        <p:spPr>
          <a:xfrm>
            <a:off x="3108960" y="5175504"/>
            <a:ext cx="1106424" cy="640080"/>
          </a:xfrm>
          <a:prstGeom prst="rect">
            <a:avLst/>
          </a:prstGeom>
          <a:noFill/>
          <a:ln/>
        </p:spPr>
        <p:txBody>
          <a:bodyPr wrap="square" lIns="0" tIns="0" rIns="0" bIns="0" rtlCol="0" anchor="t"/>
          <a:lstStyle/>
          <a:p>
            <a:pPr algn="ctr" indent="0" marL="0">
              <a:buNone/>
            </a:pPr>
            <a:r>
              <a:rPr lang="en-US" sz="900" dirty="0">
                <a:solidFill>
                  <a:srgbClr val="334150"/>
                </a:solidFill>
                <a:latin typeface="Calibri" pitchFamily="34" charset="0"/>
                <a:ea typeface="Calibri" pitchFamily="34" charset="-122"/>
                <a:cs typeface="Calibri" pitchFamily="34" charset="-120"/>
              </a:rPr>
              <a:t>Defects tied to heat and coil IDs</a:t>
            </a:r>
            <a:endParaRPr lang="en-US" sz="900" dirty="0"/>
          </a:p>
        </p:txBody>
      </p:sp>
      <p:sp>
        <p:nvSpPr>
          <p:cNvPr id="72" name="Shape 66"/>
          <p:cNvSpPr/>
          <p:nvPr/>
        </p:nvSpPr>
        <p:spPr>
          <a:xfrm>
            <a:off x="4338828" y="4334256"/>
            <a:ext cx="1234440" cy="1554480"/>
          </a:xfrm>
          <a:prstGeom prst="roundRect">
            <a:avLst>
              <a:gd name="adj" fmla="val 4444"/>
            </a:avLst>
          </a:prstGeom>
          <a:solidFill>
            <a:srgbClr val="F1F4F7"/>
          </a:solidFill>
          <a:ln w="12700">
            <a:solidFill>
              <a:srgbClr val="F1F4F7"/>
            </a:solidFill>
            <a:prstDash val="solid"/>
          </a:ln>
        </p:spPr>
      </p:sp>
      <p:sp>
        <p:nvSpPr>
          <p:cNvPr id="73" name="Shape 67"/>
          <p:cNvSpPr/>
          <p:nvPr/>
        </p:nvSpPr>
        <p:spPr>
          <a:xfrm>
            <a:off x="4732020" y="4425696"/>
            <a:ext cx="457200" cy="457200"/>
          </a:xfrm>
          <a:prstGeom prst="ellipse">
            <a:avLst/>
          </a:prstGeom>
          <a:solidFill>
            <a:srgbClr val="0086C3"/>
          </a:solidFill>
          <a:ln w="12700">
            <a:solidFill>
              <a:srgbClr val="0086C3"/>
            </a:solidFill>
            <a:prstDash val="solid"/>
          </a:ln>
        </p:spPr>
      </p:sp>
      <p:pic>
        <p:nvPicPr>
          <p:cNvPr id="74" name="Image 3" descr="img/icons/hard-hat-white.png">    </p:cNvPr>
          <p:cNvPicPr>
            <a:picLocks noChangeAspect="1"/>
          </p:cNvPicPr>
          <p:nvPr/>
        </p:nvPicPr>
        <p:blipFill>
          <a:blip r:embed="rId4"/>
          <a:stretch>
            <a:fillRect/>
          </a:stretch>
        </p:blipFill>
        <p:spPr>
          <a:xfrm>
            <a:off x="4832604" y="4526280"/>
            <a:ext cx="256032" cy="256032"/>
          </a:xfrm>
          <a:prstGeom prst="rect">
            <a:avLst/>
          </a:prstGeom>
        </p:spPr>
      </p:pic>
      <p:sp>
        <p:nvSpPr>
          <p:cNvPr id="75" name="Text 68"/>
          <p:cNvSpPr txBox="1"/>
          <p:nvPr/>
        </p:nvSpPr>
        <p:spPr>
          <a:xfrm>
            <a:off x="4384548" y="4937760"/>
            <a:ext cx="1143000" cy="219456"/>
          </a:xfrm>
          <a:prstGeom prst="rect">
            <a:avLst/>
          </a:prstGeom>
          <a:noFill/>
          <a:ln/>
        </p:spPr>
        <p:txBody>
          <a:bodyPr wrap="square" lIns="0" tIns="0" rIns="0" bIns="0" rtlCol="0" anchor="t"/>
          <a:lstStyle/>
          <a:p>
            <a:pPr algn="ctr" indent="0" marL="0">
              <a:buNone/>
            </a:pPr>
            <a:r>
              <a:rPr lang="en-US" sz="1050" b="1" dirty="0">
                <a:solidFill>
                  <a:srgbClr val="143A5A"/>
                </a:solidFill>
                <a:latin typeface="Calibri" pitchFamily="34" charset="0"/>
                <a:ea typeface="Calibri" pitchFamily="34" charset="-122"/>
                <a:cs typeface="Calibri" pitchFamily="34" charset="-120"/>
              </a:rPr>
              <a:t>Safety</a:t>
            </a:r>
            <a:endParaRPr lang="en-US" sz="1050" dirty="0"/>
          </a:p>
        </p:txBody>
      </p:sp>
      <p:sp>
        <p:nvSpPr>
          <p:cNvPr id="76" name="Text 69"/>
          <p:cNvSpPr txBox="1"/>
          <p:nvPr/>
        </p:nvSpPr>
        <p:spPr>
          <a:xfrm>
            <a:off x="4402836" y="5175504"/>
            <a:ext cx="1106424" cy="640080"/>
          </a:xfrm>
          <a:prstGeom prst="rect">
            <a:avLst/>
          </a:prstGeom>
          <a:noFill/>
          <a:ln/>
        </p:spPr>
        <p:txBody>
          <a:bodyPr wrap="square" lIns="0" tIns="0" rIns="0" bIns="0" rtlCol="0" anchor="t"/>
          <a:lstStyle/>
          <a:p>
            <a:pPr algn="ctr" indent="0" marL="0">
              <a:buNone/>
            </a:pPr>
            <a:r>
              <a:rPr lang="en-US" sz="900" dirty="0">
                <a:solidFill>
                  <a:srgbClr val="334150"/>
                </a:solidFill>
                <a:latin typeface="Calibri" pitchFamily="34" charset="0"/>
                <a:ea typeface="Calibri" pitchFamily="34" charset="-122"/>
                <a:cs typeface="Calibri" pitchFamily="34" charset="-120"/>
              </a:rPr>
              <a:t>Severe-defect holds prevent strip breaks</a:t>
            </a:r>
            <a:endParaRPr lang="en-US" sz="900" dirty="0"/>
          </a:p>
        </p:txBody>
      </p:sp>
      <p:sp>
        <p:nvSpPr>
          <p:cNvPr id="77" name="Shape 70"/>
          <p:cNvSpPr/>
          <p:nvPr/>
        </p:nvSpPr>
        <p:spPr>
          <a:xfrm>
            <a:off x="5632704" y="4334256"/>
            <a:ext cx="1234440" cy="1554480"/>
          </a:xfrm>
          <a:prstGeom prst="roundRect">
            <a:avLst>
              <a:gd name="adj" fmla="val 4444"/>
            </a:avLst>
          </a:prstGeom>
          <a:solidFill>
            <a:srgbClr val="F1F4F7"/>
          </a:solidFill>
          <a:ln w="12700">
            <a:solidFill>
              <a:srgbClr val="F1F4F7"/>
            </a:solidFill>
            <a:prstDash val="solid"/>
          </a:ln>
        </p:spPr>
      </p:sp>
      <p:sp>
        <p:nvSpPr>
          <p:cNvPr id="78" name="Shape 71"/>
          <p:cNvSpPr/>
          <p:nvPr/>
        </p:nvSpPr>
        <p:spPr>
          <a:xfrm>
            <a:off x="6025896" y="4425696"/>
            <a:ext cx="457200" cy="457200"/>
          </a:xfrm>
          <a:prstGeom prst="ellipse">
            <a:avLst/>
          </a:prstGeom>
          <a:solidFill>
            <a:srgbClr val="0086C3"/>
          </a:solidFill>
          <a:ln w="12700">
            <a:solidFill>
              <a:srgbClr val="0086C3"/>
            </a:solidFill>
            <a:prstDash val="solid"/>
          </a:ln>
        </p:spPr>
      </p:sp>
      <p:pic>
        <p:nvPicPr>
          <p:cNvPr id="79" name="Image 4" descr="img/icons/leaf-white.png">    </p:cNvPr>
          <p:cNvPicPr>
            <a:picLocks noChangeAspect="1"/>
          </p:cNvPicPr>
          <p:nvPr/>
        </p:nvPicPr>
        <p:blipFill>
          <a:blip r:embed="rId5"/>
          <a:stretch>
            <a:fillRect/>
          </a:stretch>
        </p:blipFill>
        <p:spPr>
          <a:xfrm>
            <a:off x="6126480" y="4526280"/>
            <a:ext cx="256032" cy="256032"/>
          </a:xfrm>
          <a:prstGeom prst="rect">
            <a:avLst/>
          </a:prstGeom>
        </p:spPr>
      </p:pic>
      <p:sp>
        <p:nvSpPr>
          <p:cNvPr id="80" name="Text 72"/>
          <p:cNvSpPr txBox="1"/>
          <p:nvPr/>
        </p:nvSpPr>
        <p:spPr>
          <a:xfrm>
            <a:off x="5678424" y="4937760"/>
            <a:ext cx="1143000" cy="219456"/>
          </a:xfrm>
          <a:prstGeom prst="rect">
            <a:avLst/>
          </a:prstGeom>
          <a:noFill/>
          <a:ln/>
        </p:spPr>
        <p:txBody>
          <a:bodyPr wrap="square" lIns="0" tIns="0" rIns="0" bIns="0" rtlCol="0" anchor="t"/>
          <a:lstStyle/>
          <a:p>
            <a:pPr algn="ctr" indent="0" marL="0">
              <a:buNone/>
            </a:pPr>
            <a:r>
              <a:rPr lang="en-US" sz="1050" b="1" dirty="0">
                <a:solidFill>
                  <a:srgbClr val="143A5A"/>
                </a:solidFill>
                <a:latin typeface="Calibri" pitchFamily="34" charset="0"/>
                <a:ea typeface="Calibri" pitchFamily="34" charset="-122"/>
                <a:cs typeface="Calibri" pitchFamily="34" charset="-120"/>
              </a:rPr>
              <a:t>Sustainability</a:t>
            </a:r>
            <a:endParaRPr lang="en-US" sz="1050" dirty="0"/>
          </a:p>
        </p:txBody>
      </p:sp>
      <p:sp>
        <p:nvSpPr>
          <p:cNvPr id="81" name="Text 73"/>
          <p:cNvSpPr txBox="1"/>
          <p:nvPr/>
        </p:nvSpPr>
        <p:spPr>
          <a:xfrm>
            <a:off x="5696712" y="5175504"/>
            <a:ext cx="1106424" cy="640080"/>
          </a:xfrm>
          <a:prstGeom prst="rect">
            <a:avLst/>
          </a:prstGeom>
          <a:noFill/>
          <a:ln/>
        </p:spPr>
        <p:txBody>
          <a:bodyPr wrap="square" lIns="0" tIns="0" rIns="0" bIns="0" rtlCol="0" anchor="t"/>
          <a:lstStyle/>
          <a:p>
            <a:pPr algn="ctr" indent="0" marL="0">
              <a:buNone/>
            </a:pPr>
            <a:r>
              <a:rPr lang="en-US" sz="900" dirty="0">
                <a:solidFill>
                  <a:srgbClr val="334150"/>
                </a:solidFill>
                <a:latin typeface="Calibri" pitchFamily="34" charset="0"/>
                <a:ea typeface="Calibri" pitchFamily="34" charset="-122"/>
                <a:cs typeface="Calibri" pitchFamily="34" charset="-120"/>
              </a:rPr>
              <a:t>Less remelt, acid and nickel waste</a:t>
            </a:r>
            <a:endParaRPr lang="en-US" sz="900" dirty="0"/>
          </a:p>
        </p:txBody>
      </p:sp>
      <p:sp>
        <p:nvSpPr>
          <p:cNvPr id="82" name="Shape 74"/>
          <p:cNvSpPr/>
          <p:nvPr/>
        </p:nvSpPr>
        <p:spPr>
          <a:xfrm>
            <a:off x="6926580" y="4334256"/>
            <a:ext cx="1234440" cy="1554480"/>
          </a:xfrm>
          <a:prstGeom prst="roundRect">
            <a:avLst>
              <a:gd name="adj" fmla="val 4444"/>
            </a:avLst>
          </a:prstGeom>
          <a:solidFill>
            <a:srgbClr val="F1F4F7"/>
          </a:solidFill>
          <a:ln w="12700">
            <a:solidFill>
              <a:srgbClr val="F1F4F7"/>
            </a:solidFill>
            <a:prstDash val="solid"/>
          </a:ln>
        </p:spPr>
      </p:sp>
      <p:sp>
        <p:nvSpPr>
          <p:cNvPr id="83" name="Shape 75"/>
          <p:cNvSpPr/>
          <p:nvPr/>
        </p:nvSpPr>
        <p:spPr>
          <a:xfrm>
            <a:off x="7319772" y="4425696"/>
            <a:ext cx="457200" cy="457200"/>
          </a:xfrm>
          <a:prstGeom prst="ellipse">
            <a:avLst/>
          </a:prstGeom>
          <a:solidFill>
            <a:srgbClr val="0086C3"/>
          </a:solidFill>
          <a:ln w="12700">
            <a:solidFill>
              <a:srgbClr val="0086C3"/>
            </a:solidFill>
            <a:prstDash val="solid"/>
          </a:ln>
        </p:spPr>
      </p:sp>
      <p:pic>
        <p:nvPicPr>
          <p:cNvPr id="84" name="Image 5" descr="img/icons/user-check-white.png">    </p:cNvPr>
          <p:cNvPicPr>
            <a:picLocks noChangeAspect="1"/>
          </p:cNvPicPr>
          <p:nvPr/>
        </p:nvPicPr>
        <p:blipFill>
          <a:blip r:embed="rId6"/>
          <a:stretch>
            <a:fillRect/>
          </a:stretch>
        </p:blipFill>
        <p:spPr>
          <a:xfrm>
            <a:off x="7420356" y="4526280"/>
            <a:ext cx="256032" cy="256032"/>
          </a:xfrm>
          <a:prstGeom prst="rect">
            <a:avLst/>
          </a:prstGeom>
        </p:spPr>
      </p:pic>
      <p:sp>
        <p:nvSpPr>
          <p:cNvPr id="85" name="Text 76"/>
          <p:cNvSpPr txBox="1"/>
          <p:nvPr/>
        </p:nvSpPr>
        <p:spPr>
          <a:xfrm>
            <a:off x="6972300" y="4937760"/>
            <a:ext cx="1143000" cy="219456"/>
          </a:xfrm>
          <a:prstGeom prst="rect">
            <a:avLst/>
          </a:prstGeom>
          <a:noFill/>
          <a:ln/>
        </p:spPr>
        <p:txBody>
          <a:bodyPr wrap="square" lIns="0" tIns="0" rIns="0" bIns="0" rtlCol="0" anchor="t"/>
          <a:lstStyle/>
          <a:p>
            <a:pPr algn="ctr" indent="0" marL="0">
              <a:buNone/>
            </a:pPr>
            <a:r>
              <a:rPr lang="en-US" sz="1050" b="1" dirty="0">
                <a:solidFill>
                  <a:srgbClr val="143A5A"/>
                </a:solidFill>
                <a:latin typeface="Calibri" pitchFamily="34" charset="0"/>
                <a:ea typeface="Calibri" pitchFamily="34" charset="-122"/>
                <a:cs typeface="Calibri" pitchFamily="34" charset="-120"/>
              </a:rPr>
              <a:t>People</a:t>
            </a:r>
            <a:endParaRPr lang="en-US" sz="1050" dirty="0"/>
          </a:p>
        </p:txBody>
      </p:sp>
      <p:sp>
        <p:nvSpPr>
          <p:cNvPr id="86" name="Text 77"/>
          <p:cNvSpPr txBox="1"/>
          <p:nvPr/>
        </p:nvSpPr>
        <p:spPr>
          <a:xfrm>
            <a:off x="6990588" y="5175504"/>
            <a:ext cx="1106424" cy="640080"/>
          </a:xfrm>
          <a:prstGeom prst="rect">
            <a:avLst/>
          </a:prstGeom>
          <a:noFill/>
          <a:ln/>
        </p:spPr>
        <p:txBody>
          <a:bodyPr wrap="square" lIns="0" tIns="0" rIns="0" bIns="0" rtlCol="0" anchor="t"/>
          <a:lstStyle/>
          <a:p>
            <a:pPr algn="ctr" indent="0" marL="0">
              <a:buNone/>
            </a:pPr>
            <a:r>
              <a:rPr lang="en-US" sz="900" dirty="0">
                <a:solidFill>
                  <a:srgbClr val="334150"/>
                </a:solidFill>
                <a:latin typeface="Calibri" pitchFamily="34" charset="0"/>
                <a:ea typeface="Calibri" pitchFamily="34" charset="-122"/>
                <a:cs typeface="Calibri" pitchFamily="34" charset="-120"/>
              </a:rPr>
              <a:t>Inspectors move to decisions</a:t>
            </a:r>
            <a:endParaRPr lang="en-US" sz="900" dirty="0"/>
          </a:p>
        </p:txBody>
      </p:sp>
      <p:sp>
        <p:nvSpPr>
          <p:cNvPr id="87" name="Shape 78"/>
          <p:cNvSpPr/>
          <p:nvPr/>
        </p:nvSpPr>
        <p:spPr>
          <a:xfrm>
            <a:off x="8321040" y="4005072"/>
            <a:ext cx="3410712" cy="1883664"/>
          </a:xfrm>
          <a:prstGeom prst="roundRect">
            <a:avLst>
              <a:gd name="adj" fmla="val 2913"/>
            </a:avLst>
          </a:prstGeom>
          <a:solidFill>
            <a:srgbClr val="143A5A"/>
          </a:solidFill>
          <a:ln w="12700">
            <a:solidFill>
              <a:srgbClr val="143A5A"/>
            </a:solidFill>
            <a:prstDash val="solid"/>
          </a:ln>
        </p:spPr>
      </p:sp>
      <p:sp>
        <p:nvSpPr>
          <p:cNvPr id="88" name="Text 79"/>
          <p:cNvSpPr txBox="1"/>
          <p:nvPr/>
        </p:nvSpPr>
        <p:spPr>
          <a:xfrm>
            <a:off x="8458200" y="4078224"/>
            <a:ext cx="3200400" cy="237744"/>
          </a:xfrm>
          <a:prstGeom prst="rect">
            <a:avLst/>
          </a:prstGeom>
          <a:noFill/>
          <a:ln/>
        </p:spPr>
        <p:txBody>
          <a:bodyPr wrap="square" lIns="0" tIns="0" rIns="0" bIns="0" rtlCol="0" anchor="t"/>
          <a:lstStyle/>
          <a:p>
            <a:pPr indent="0" marL="0">
              <a:buNone/>
            </a:pPr>
            <a:r>
              <a:rPr lang="en-US" sz="1100" b="1" dirty="0">
                <a:solidFill>
                  <a:srgbClr val="BFD2E2"/>
                </a:solidFill>
                <a:latin typeface="Calibri" pitchFamily="34" charset="0"/>
                <a:ea typeface="Calibri" pitchFamily="34" charset="-122"/>
                <a:cs typeface="Calibri" pitchFamily="34" charset="-120"/>
              </a:rPr>
              <a:t>WHAT WE ASK OF JSL</a:t>
            </a:r>
            <a:endParaRPr lang="en-US" sz="1100" dirty="0"/>
          </a:p>
        </p:txBody>
      </p:sp>
      <p:sp>
        <p:nvSpPr>
          <p:cNvPr id="89" name="Text 80"/>
          <p:cNvSpPr txBox="1"/>
          <p:nvPr/>
        </p:nvSpPr>
        <p:spPr>
          <a:xfrm>
            <a:off x="8458200" y="4352544"/>
            <a:ext cx="3200400" cy="960120"/>
          </a:xfrm>
          <a:prstGeom prst="rect">
            <a:avLst/>
          </a:prstGeom>
          <a:noFill/>
          <a:ln/>
        </p:spPr>
        <p:txBody>
          <a:bodyPr wrap="square" lIns="0" tIns="0" rIns="0" bIns="0" rtlCol="0" anchor="t"/>
          <a:lstStyle/>
          <a:p>
            <a:pPr marL="342900" indent="-342900">
              <a:spcAft>
                <a:spcPts val="200"/>
              </a:spcAft>
              <a:buSzPct val="100000"/>
              <a:buChar char="•"/>
            </a:pPr>
            <a:r>
              <a:rPr lang="en-US" sz="1000" dirty="0">
                <a:solidFill>
                  <a:srgbClr val="FFFFFF"/>
                </a:solidFill>
                <a:latin typeface="Calibri" pitchFamily="34" charset="0"/>
                <a:ea typeface="Calibri" pitchFamily="34" charset="-122"/>
                <a:cs typeface="Calibri" pitchFamily="34" charset="-120"/>
              </a:rPr>
              <a:t>One 300-series cold-rolled line, 7 months</a:t>
            </a:r>
            <a:endParaRPr lang="en-US" sz="1000" dirty="0"/>
          </a:p>
          <a:p>
            <a:pPr marL="342900" indent="-342900">
              <a:spcAft>
                <a:spcPts val="200"/>
              </a:spcAft>
              <a:buSzPct val="100000"/>
              <a:buChar char="•"/>
            </a:pPr>
            <a:r>
              <a:rPr lang="en-US" sz="1000" dirty="0">
                <a:solidFill>
                  <a:srgbClr val="FFFFFF"/>
                </a:solidFill>
                <a:latin typeface="Calibri" pitchFamily="34" charset="0"/>
                <a:ea typeface="Calibri" pitchFamily="34" charset="-122"/>
                <a:cs typeface="Calibri" pitchFamily="34" charset="-120"/>
              </a:rPr>
              <a:t>₹2.5-4.2 cr pilot budget</a:t>
            </a:r>
            <a:endParaRPr lang="en-US" sz="1000" dirty="0"/>
          </a:p>
          <a:p>
            <a:pPr marL="342900" indent="-342900">
              <a:spcAft>
                <a:spcPts val="200"/>
              </a:spcAft>
              <a:buSzPct val="100000"/>
              <a:buChar char="•"/>
            </a:pPr>
            <a:r>
              <a:rPr lang="en-US" sz="1000" dirty="0">
                <a:solidFill>
                  <a:srgbClr val="FFFFFF"/>
                </a:solidFill>
                <a:latin typeface="Calibri" pitchFamily="34" charset="0"/>
                <a:ea typeface="Calibri" pitchFamily="34" charset="-122"/>
                <a:cs typeface="Calibri" pitchFamily="34" charset="-120"/>
              </a:rPr>
              <a:t>Downgrade rate by line and grade</a:t>
            </a:r>
            <a:endParaRPr lang="en-US" sz="1000" dirty="0"/>
          </a:p>
          <a:p>
            <a:pPr marL="342900" indent="-342900">
              <a:spcAft>
                <a:spcPts val="200"/>
              </a:spcAft>
              <a:buSzPct val="100000"/>
              <a:buChar char="•"/>
            </a:pPr>
            <a:r>
              <a:rPr lang="en-US" sz="1000" dirty="0">
                <a:solidFill>
                  <a:srgbClr val="FFFFFF"/>
                </a:solidFill>
                <a:latin typeface="Calibri" pitchFamily="34" charset="0"/>
                <a:ea typeface="Calibri" pitchFamily="34" charset="-122"/>
                <a:cs typeface="Calibri" pitchFamily="34" charset="-120"/>
              </a:rPr>
              <a:t>A metallurgist at 20% for root causes</a:t>
            </a:r>
            <a:endParaRPr lang="en-US" sz="1000" dirty="0"/>
          </a:p>
        </p:txBody>
      </p:sp>
      <p:sp>
        <p:nvSpPr>
          <p:cNvPr id="90" name="Text 81"/>
          <p:cNvSpPr txBox="1"/>
          <p:nvPr/>
        </p:nvSpPr>
        <p:spPr>
          <a:xfrm>
            <a:off x="8458200" y="5340096"/>
            <a:ext cx="3200400" cy="475488"/>
          </a:xfrm>
          <a:prstGeom prst="rect">
            <a:avLst/>
          </a:prstGeom>
          <a:noFill/>
          <a:ln/>
        </p:spPr>
        <p:txBody>
          <a:bodyPr wrap="square" lIns="0" tIns="0" rIns="0" bIns="0" rtlCol="0" anchor="t"/>
          <a:lstStyle/>
          <a:p>
            <a:pPr indent="0" marL="0">
              <a:buNone/>
            </a:pPr>
            <a:r>
              <a:rPr lang="en-US" sz="950" b="1" dirty="0">
                <a:solidFill>
                  <a:srgbClr val="BFD2E2"/>
                </a:solidFill>
                <a:latin typeface="Calibri" pitchFamily="34" charset="0"/>
                <a:ea typeface="Calibri" pitchFamily="34" charset="-122"/>
                <a:cs typeface="Calibri" pitchFamily="34" charset="-120"/>
              </a:rPr>
              <a:t>In return: measured downgrade rate, payback and a go / no-go at month 7.</a:t>
            </a:r>
            <a:endParaRPr lang="en-US" sz="9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Slide 1</vt:lpstr>
      <vt:lpstr>Slide 2</vt:lpstr>
      <vt:lpstr>Slide 3</vt:lpstr>
      <vt:lpstr>Slide 4</vt:lpstr>
      <vt:lpstr>Slide 5</vt:lpstr>
      <vt:lpstr>Slide 6</vt:lpstr>
      <vt:lpstr>Slide 7</vt:lpstr>
      <vt:lpstr>Slide 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Stainless Spark Round 2 - AI Surface Defect Detection</dc:title>
  <dc:subject>PptxGenJS Presentation</dc:subject>
  <dc:creator>PptxGenJS</dc:creator>
  <cp:lastModifiedBy>PptxGenJS</cp:lastModifiedBy>
  <cp:revision>1</cp:revision>
  <dcterms:created xsi:type="dcterms:W3CDTF">2026-09-26T15:59:40Z</dcterms:created>
  <dcterms:modified xsi:type="dcterms:W3CDTF">2026-09-26T15:59:40Z</dcterms:modified>
</cp:coreProperties>
</file>