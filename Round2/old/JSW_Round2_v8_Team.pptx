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0086C3"/>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Sheet1!$B$2:$B$7</c:f>
              <c:numCache>
                <c:formatCode>General</c:formatCode>
                <c:ptCount val="6"/>
                <c:pt idx="0">
                  <c:v>2.61</c:v>
                </c:pt>
                <c:pt idx="1">
                  <c:v>3.46</c:v>
                </c:pt>
                <c:pt idx="2">
                  <c:v>3.94</c:v>
                </c:pt>
                <c:pt idx="3">
                  <c:v>4.49</c:v>
                </c:pt>
                <c:pt idx="4">
                  <c:v>4.8</c:v>
                </c:pt>
                <c:pt idx="5">
                  <c:v>0</c:v>
                </c:pt>
              </c:numCache>
            </c:numRef>
          </c:val>
        </c:ser>
        <c:ser>
          <c:idx val="1"/>
          <c:order val="1"/>
          <c:tx>
            <c:strRef>
              <c:f>Sheet1!$C$1</c:f>
              <c:strCache>
                <c:ptCount val="1"/>
                <c:pt idx="0">
                  <c:v>Forecast</c:v>
                </c:pt>
              </c:strCache>
            </c:strRef>
          </c:tx>
          <c:spPr>
            <a:solidFill>
              <a:srgbClr val="A9CBE6"/>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Sheet1!$C$2:$C$7</c:f>
              <c:numCache>
                <c:formatCode>General</c:formatCode>
                <c:ptCount val="6"/>
                <c:pt idx="0">
                  <c:v>0</c:v>
                </c:pt>
                <c:pt idx="1">
                  <c:v>0</c:v>
                </c:pt>
                <c:pt idx="2">
                  <c:v>0</c:v>
                </c:pt>
                <c:pt idx="3">
                  <c:v>0</c:v>
                </c:pt>
                <c:pt idx="4">
                  <c:v>0</c:v>
                </c:pt>
                <c:pt idx="5">
                  <c:v>6.8</c:v>
                </c:pt>
              </c:numCache>
            </c:numRef>
          </c:val>
        </c:ser>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defects caught</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clean strip flagged</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Training on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strip of six images is real output from our model on held-out steel images. The QR opens the live demo, which runs in the judge's browser. Four numbers tell the story: on real mill strip it catches 9 in 10 defects and wrongly flags fewer than 1 in 20 clean images, at a fraction of commercial cost, paying back in about two years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been paid for. Why stainless hurts more: every tonne of 304 carries INR 126,000-165,000 of nickel, and a 2B or BA mill finish cannot be polished back. Why now: Indian stainless demand grew 84% in five years to 4.8 Mt and is heading to 6.8 Mt by FY30, led by rail and metro coaches; imports hit 1.73 Mt in FY25 and DGTR opened an anti-dumping probe on cold-rolled 300/400 series in September 2025, so quality is the domestic producer's moat; BIS certification to IS 6911 has been mandatory for sheet and strip since August 2024; and JSL is adding cold-rolling capacity. The cost-of-quality frame is the output: inspection moves spend from failure to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our model's real detections on held-out frames; each family is born at a different stage, so a typed detection goes straight to the right owner as a work order. The owner mapping needs a JSL metallurgist's sign-off in P0. Precedent: Outokumpu, Europe's largest stainless producer, switched on an AI surface inspection system at Tornio in October 2024, built to run without internet and scale across sites; Tata Steel Kalinganagar, India's first WEF Lighthouse, uses video analytics for surface defects on cold-rolled products; Parsytec systems on stainless lines use 170 micron cameras with bright and dark field light and make a decision per coil. We copy the offline edge design, an in-house model team, and the optics spec. The grade matrix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because it is trained on clean steel as well as defects, it flags only 14 of 300 clean mill images while catching 258 of 288 real defects. Two: a 12 MB model is enough; larger models and sharper images added no accuracy, so money goes into cameras. Three: at full detail a 250 m/min line needs about 18 processors; resolution is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the plant-side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model never saw in training. Per defect, four of six families sit at or above the published range; crazing and rolled-in scale are low-contrast textures and are weaker. The honest headline is the second weak spot: on real mill frames accuracy is 0.57 against 0.75 on the lab benchmark. That is exactly why P1 trains on JSL's own strip before anything is trusted. Roll marks score 0.20 on GC10 because there are only a few dozen examples; edge cameras and targeted labelling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P0 plugs into Project Pragati, JSL's own digitalisation programme with Dassault Systemes and Capgemini, whose Phase 2 brings Level-2 process data at Jajpur; so each defect is tied to its heat and coil without a new integration project. Mirror-like BA and 2B finishes are handled the way stainless lines already do it: bright and dark-field light, with deflectometry for BA. The plant network is protected by IEC 62443 zones and the system runs offline, as Outokumpu's does. Every retrained model must beat the live one on a fixed JSL test set before it ships. Cost is INR 2.5-4.2 crore per line, against USD 1-3M for a commercial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Our discounts are conservative: non-prime coil typically trades 10-30% below prime. Downgrade rate and recovery share dominate the tornado; neither is public, so both are measured in P2-P3. Beyond the P&amp;L: JSL supplies stainless for Vande Bharat sleeper coaches, Vande Metro and several metros, and those buyers see the surface; a defect map per coil is a sales tool. Less rework and remelting supports JSL's target of halving emission intensity by 2035 and net zero by 2050; intensity was 1.76 tCO2e per tonne in FY26.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0"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1" Type="http://schemas.openxmlformats.org/officeDocument/2006/relationships/image" Target="../media/image-2-10.png"/><Relationship Id="rId12" Type="http://schemas.openxmlformats.org/officeDocument/2006/relationships/image" Target="../media/image-2-11.png"/><Relationship Id="rId13" Type="http://schemas.openxmlformats.org/officeDocument/2006/relationships/image" Target="../media/image-2-12.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png"/><Relationship Id="rId21" Type="http://schemas.openxmlformats.org/officeDocument/2006/relationships/image" Target="../media/image-4-1.png"/><Relationship Id="rId22" Type="http://schemas.openxmlformats.org/officeDocument/2006/relationships/image" Target="../media/image-4-1.png"/><Relationship Id="rId23" Type="http://schemas.openxmlformats.org/officeDocument/2006/relationships/image" Target="../media/image-4-1.png"/><Relationship Id="rId24" Type="http://schemas.openxmlformats.org/officeDocument/2006/relationships/image" Target="../media/image-4-1.png"/><Relationship Id="rId25" Type="http://schemas.openxmlformats.org/officeDocument/2006/relationships/image" Target="../media/image-4-23.png"/><Relationship Id="rId26" Type="http://schemas.openxmlformats.org/officeDocument/2006/relationships/image" Target="../media/image-4-24.png"/><Relationship Id="rId27" Type="http://schemas.openxmlformats.org/officeDocument/2006/relationships/slideLayout" Target="../slideLayouts/slideLayout1.xml"/><Relationship Id="rId2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90%</a:t>
            </a:r>
            <a:endParaRPr lang="en-US" sz="24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strip it had never seen</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4.7%</a:t>
            </a:r>
            <a:endParaRPr lang="en-US" sz="24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fewer than 1 in 20</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DETECTIONS BY OUR MODEL, ON STEEL IMAGES IT NEVER SAW IN TRAINING</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TEAM  Futuristic   |   Krishna Kanta Mondal  ·  Prathmesh Walimbe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AMETEK/Ternium (2020); ASSDA; IISE; ASTM A240; LME nickel USD 16,402/t at INR 95.8/USD (22 Sep 2026); ISSDA (FY25); DGTR (29 Sep 2025); BIS Steel QCO 2024;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18488"/>
            <a:ext cx="2788920" cy="274320"/>
          </a:xfrm>
          <a:prstGeom prst="rect">
            <a:avLst/>
          </a:prstGeom>
          <a:noFill/>
          <a:ln/>
        </p:spPr>
        <p:txBody>
          <a:bodyPr wrap="square" lIns="0" tIns="0" rIns="0" bIns="0" rtlCol="0" anchor="ctr"/>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361188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3429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pic>
        <p:nvPicPr>
          <p:cNvPr id="70" name="Image 6" descr="img/icons/gauge-accent.png">    </p:cNvPr>
          <p:cNvPicPr>
            <a:picLocks noChangeAspect="1"/>
          </p:cNvPicPr>
          <p:nvPr/>
        </p:nvPicPr>
        <p:blipFill>
          <a:blip r:embed="rId7"/>
          <a:stretch>
            <a:fillRect/>
          </a:stretch>
        </p:blipFill>
        <p:spPr>
          <a:xfrm>
            <a:off x="530352" y="4370832"/>
            <a:ext cx="292608" cy="292608"/>
          </a:xfrm>
          <a:prstGeom prst="rect">
            <a:avLst/>
          </a:prstGeom>
        </p:spPr>
      </p:pic>
      <p:sp>
        <p:nvSpPr>
          <p:cNvPr id="71" name="Text 62"/>
          <p:cNvSpPr txBox="1"/>
          <p:nvPr/>
        </p:nvSpPr>
        <p:spPr>
          <a:xfrm>
            <a:off x="896112" y="4297680"/>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300 m/min</a:t>
            </a:r>
            <a:endParaRPr lang="en-US" sz="1200" dirty="0"/>
          </a:p>
        </p:txBody>
      </p:sp>
      <p:sp>
        <p:nvSpPr>
          <p:cNvPr id="72" name="Text 63"/>
          <p:cNvSpPr txBox="1"/>
          <p:nvPr/>
        </p:nvSpPr>
        <p:spPr>
          <a:xfrm>
            <a:off x="2176272" y="4297680"/>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too fast for the eye to see the whole surface</a:t>
            </a:r>
            <a:endParaRPr lang="en-US" sz="900" dirty="0"/>
          </a:p>
        </p:txBody>
      </p:sp>
      <p:pic>
        <p:nvPicPr>
          <p:cNvPr id="73" name="Image 7" descr="img/icons/coins-accent.png">    </p:cNvPr>
          <p:cNvPicPr>
            <a:picLocks noChangeAspect="1"/>
          </p:cNvPicPr>
          <p:nvPr/>
        </p:nvPicPr>
        <p:blipFill>
          <a:blip r:embed="rId8"/>
          <a:stretch>
            <a:fillRect/>
          </a:stretch>
        </p:blipFill>
        <p:spPr>
          <a:xfrm>
            <a:off x="530352" y="4901184"/>
            <a:ext cx="292608" cy="292608"/>
          </a:xfrm>
          <a:prstGeom prst="rect">
            <a:avLst/>
          </a:prstGeom>
        </p:spPr>
      </p:pic>
      <p:sp>
        <p:nvSpPr>
          <p:cNvPr id="74" name="Text 64"/>
          <p:cNvSpPr txBox="1"/>
          <p:nvPr/>
        </p:nvSpPr>
        <p:spPr>
          <a:xfrm>
            <a:off x="896112" y="4828032"/>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₹126k-165k</a:t>
            </a:r>
            <a:endParaRPr lang="en-US" sz="1200" dirty="0"/>
          </a:p>
        </p:txBody>
      </p:sp>
      <p:sp>
        <p:nvSpPr>
          <p:cNvPr id="75" name="Text 65"/>
          <p:cNvSpPr txBox="1"/>
          <p:nvPr/>
        </p:nvSpPr>
        <p:spPr>
          <a:xfrm>
            <a:off x="2176272" y="4828032"/>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00" dirty="0"/>
          </a:p>
        </p:txBody>
      </p:sp>
      <p:pic>
        <p:nvPicPr>
          <p:cNvPr id="76" name="Image 8" descr="img/icons/sparkles-accent.png">    </p:cNvPr>
          <p:cNvPicPr>
            <a:picLocks noChangeAspect="1"/>
          </p:cNvPicPr>
          <p:nvPr/>
        </p:nvPicPr>
        <p:blipFill>
          <a:blip r:embed="rId9"/>
          <a:stretch>
            <a:fillRect/>
          </a:stretch>
        </p:blipFill>
        <p:spPr>
          <a:xfrm>
            <a:off x="530352" y="5431536"/>
            <a:ext cx="292608" cy="292608"/>
          </a:xfrm>
          <a:prstGeom prst="rect">
            <a:avLst/>
          </a:prstGeom>
        </p:spPr>
      </p:pic>
      <p:sp>
        <p:nvSpPr>
          <p:cNvPr id="77" name="Text 66"/>
          <p:cNvSpPr txBox="1"/>
          <p:nvPr/>
        </p:nvSpPr>
        <p:spPr>
          <a:xfrm>
            <a:off x="896112" y="5358384"/>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No repair</a:t>
            </a:r>
            <a:endParaRPr lang="en-US" sz="1200" dirty="0"/>
          </a:p>
        </p:txBody>
      </p:sp>
      <p:sp>
        <p:nvSpPr>
          <p:cNvPr id="78" name="Text 67"/>
          <p:cNvSpPr txBox="1"/>
          <p:nvPr/>
        </p:nvSpPr>
        <p:spPr>
          <a:xfrm>
            <a:off x="2176272" y="5358384"/>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damage on 2B/BA mill finishes cannot be polished out</a:t>
            </a:r>
            <a:endParaRPr lang="en-US" sz="900" dirty="0"/>
          </a:p>
        </p:txBody>
      </p:sp>
      <p:sp>
        <p:nvSpPr>
          <p:cNvPr id="79" name="Shape 68"/>
          <p:cNvSpPr/>
          <p:nvPr/>
        </p:nvSpPr>
        <p:spPr>
          <a:xfrm>
            <a:off x="4206240" y="3931920"/>
            <a:ext cx="3886200" cy="274320"/>
          </a:xfrm>
          <a:prstGeom prst="rect">
            <a:avLst/>
          </a:prstGeom>
          <a:solidFill>
            <a:srgbClr val="2B5B80"/>
          </a:solidFill>
          <a:ln w="12700">
            <a:solidFill>
              <a:srgbClr val="2B5B80"/>
            </a:solidFill>
            <a:prstDash val="solid"/>
          </a:ln>
        </p:spPr>
      </p:sp>
      <p:sp>
        <p:nvSpPr>
          <p:cNvPr id="80" name="Text 69"/>
          <p:cNvSpPr txBox="1"/>
          <p:nvPr/>
        </p:nvSpPr>
        <p:spPr>
          <a:xfrm>
            <a:off x="4297680" y="3931920"/>
            <a:ext cx="3703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now</a:t>
            </a:r>
            <a:endParaRPr lang="en-US" sz="1100" dirty="0"/>
          </a:p>
        </p:txBody>
      </p:sp>
      <p:sp>
        <p:nvSpPr>
          <p:cNvPr id="81" name="Text 70"/>
          <p:cNvSpPr txBox="1"/>
          <p:nvPr/>
        </p:nvSpPr>
        <p:spPr>
          <a:xfrm>
            <a:off x="4251960" y="4242816"/>
            <a:ext cx="1920240" cy="201168"/>
          </a:xfrm>
          <a:prstGeom prst="rect">
            <a:avLst/>
          </a:prstGeom>
          <a:noFill/>
          <a:ln/>
        </p:spPr>
        <p:txBody>
          <a:bodyPr wrap="square" lIns="0" tIns="0" rIns="0" bIns="0" rtlCol="0" anchor="t"/>
          <a:lstStyle/>
          <a:p>
            <a:pPr indent="0" marL="0">
              <a:buNone/>
            </a:pPr>
            <a:r>
              <a:rPr lang="en-US" sz="900" b="1" dirty="0">
                <a:solidFill>
                  <a:srgbClr val="143A5A"/>
                </a:solidFill>
                <a:latin typeface="Calibri" pitchFamily="34" charset="0"/>
                <a:ea typeface="Calibri" pitchFamily="34" charset="-122"/>
                <a:cs typeface="Calibri" pitchFamily="34" charset="-120"/>
              </a:rPr>
              <a:t>India demand, Mt</a:t>
            </a:r>
            <a:pPr indent="0" marL="0">
              <a:buNone/>
            </a:pPr>
            <a:r>
              <a:rPr lang="en-US" sz="900" b="1" dirty="0">
                <a:solidFill>
                  <a:srgbClr val="0086C3"/>
                </a:solidFill>
                <a:latin typeface="Calibri" pitchFamily="34" charset="0"/>
                <a:ea typeface="Calibri" pitchFamily="34" charset="-122"/>
                <a:cs typeface="Calibri" pitchFamily="34" charset="-120"/>
              </a:rPr>
              <a:t>  +84% in 5 yrs</a:t>
            </a:r>
            <a:endParaRPr lang="en-US" sz="900" dirty="0"/>
          </a:p>
        </p:txBody>
      </p:sp>
      <p:graphicFrame>
        <p:nvGraphicFramePr>
          <p:cNvPr id="82" name="Chart 0" descr=""/>
          <p:cNvGraphicFramePr/>
          <p:nvPr/>
        </p:nvGraphicFramePr>
        <p:xfrm>
          <a:off x="4206240" y="4425696"/>
          <a:ext cx="1965960" cy="1463040"/>
        </p:xfrm>
        <a:graphic xmlns:a="http://schemas.openxmlformats.org/drawingml/2006/main">
          <a:graphicData uri="http://schemas.openxmlformats.org/drawingml/2006/chart">
            <c:chart xmlns:c="http://schemas.openxmlformats.org/drawingml/2006/chart" r:id="rId10"/>
          </a:graphicData>
        </a:graphic>
      </p:graphicFrame>
      <p:pic>
        <p:nvPicPr>
          <p:cNvPr id="83" name="Image 9" descr="img/icons/ship-accent.png">    </p:cNvPr>
          <p:cNvPicPr>
            <a:picLocks noChangeAspect="1"/>
          </p:cNvPicPr>
          <p:nvPr/>
        </p:nvPicPr>
        <p:blipFill>
          <a:blip r:embed="rId11"/>
          <a:stretch>
            <a:fillRect/>
          </a:stretch>
        </p:blipFill>
        <p:spPr>
          <a:xfrm>
            <a:off x="6217920" y="4279392"/>
            <a:ext cx="237744" cy="237744"/>
          </a:xfrm>
          <a:prstGeom prst="rect">
            <a:avLst/>
          </a:prstGeom>
        </p:spPr>
      </p:pic>
      <p:sp>
        <p:nvSpPr>
          <p:cNvPr id="84" name="Text 71"/>
          <p:cNvSpPr txBox="1"/>
          <p:nvPr/>
        </p:nvSpPr>
        <p:spPr>
          <a:xfrm>
            <a:off x="6510528" y="4261104"/>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1.73 Mt imports</a:t>
            </a:r>
            <a:endParaRPr lang="en-US" sz="1000" dirty="0"/>
          </a:p>
        </p:txBody>
      </p:sp>
      <p:sp>
        <p:nvSpPr>
          <p:cNvPr id="85" name="Text 72"/>
          <p:cNvSpPr txBox="1"/>
          <p:nvPr/>
        </p:nvSpPr>
        <p:spPr>
          <a:xfrm>
            <a:off x="6510528" y="4471416"/>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FY25; anti-dumping probe on cold-rolled 300/400, Sep 2025</a:t>
            </a:r>
            <a:endParaRPr lang="en-US" sz="900" dirty="0"/>
          </a:p>
        </p:txBody>
      </p:sp>
      <p:pic>
        <p:nvPicPr>
          <p:cNvPr id="86" name="Image 10" descr="img/icons/badge-check-accent.png">    </p:cNvPr>
          <p:cNvPicPr>
            <a:picLocks noChangeAspect="1"/>
          </p:cNvPicPr>
          <p:nvPr/>
        </p:nvPicPr>
        <p:blipFill>
          <a:blip r:embed="rId12"/>
          <a:stretch>
            <a:fillRect/>
          </a:stretch>
        </p:blipFill>
        <p:spPr>
          <a:xfrm>
            <a:off x="6217920" y="4818888"/>
            <a:ext cx="237744" cy="237744"/>
          </a:xfrm>
          <a:prstGeom prst="rect">
            <a:avLst/>
          </a:prstGeom>
        </p:spPr>
      </p:pic>
      <p:sp>
        <p:nvSpPr>
          <p:cNvPr id="87" name="Text 73"/>
          <p:cNvSpPr txBox="1"/>
          <p:nvPr/>
        </p:nvSpPr>
        <p:spPr>
          <a:xfrm>
            <a:off x="6510528" y="4800600"/>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IS 6911 mandatory</a:t>
            </a:r>
            <a:endParaRPr lang="en-US" sz="1000" dirty="0"/>
          </a:p>
        </p:txBody>
      </p:sp>
      <p:sp>
        <p:nvSpPr>
          <p:cNvPr id="88" name="Text 74"/>
          <p:cNvSpPr txBox="1"/>
          <p:nvPr/>
        </p:nvSpPr>
        <p:spPr>
          <a:xfrm>
            <a:off x="6510528" y="5010912"/>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BIS certification for sheet and strip, since Aug 2024</a:t>
            </a:r>
            <a:endParaRPr lang="en-US" sz="900" dirty="0"/>
          </a:p>
        </p:txBody>
      </p:sp>
      <p:pic>
        <p:nvPicPr>
          <p:cNvPr id="89" name="Image 11" descr="img/icons/factory-accent.png">    </p:cNvPr>
          <p:cNvPicPr>
            <a:picLocks noChangeAspect="1"/>
          </p:cNvPicPr>
          <p:nvPr/>
        </p:nvPicPr>
        <p:blipFill>
          <a:blip r:embed="rId13"/>
          <a:stretch>
            <a:fillRect/>
          </a:stretch>
        </p:blipFill>
        <p:spPr>
          <a:xfrm>
            <a:off x="6217920" y="5358384"/>
            <a:ext cx="237744" cy="237744"/>
          </a:xfrm>
          <a:prstGeom prst="rect">
            <a:avLst/>
          </a:prstGeom>
        </p:spPr>
      </p:pic>
      <p:sp>
        <p:nvSpPr>
          <p:cNvPr id="90" name="Text 75"/>
          <p:cNvSpPr txBox="1"/>
          <p:nvPr/>
        </p:nvSpPr>
        <p:spPr>
          <a:xfrm>
            <a:off x="6510528" y="5340096"/>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2.67 MTPA</a:t>
            </a:r>
            <a:endParaRPr lang="en-US" sz="1000" dirty="0"/>
          </a:p>
        </p:txBody>
      </p:sp>
      <p:sp>
        <p:nvSpPr>
          <p:cNvPr id="91" name="Text 76"/>
          <p:cNvSpPr txBox="1"/>
          <p:nvPr/>
        </p:nvSpPr>
        <p:spPr>
          <a:xfrm>
            <a:off x="6510528" y="5550408"/>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JSL cold rolling by FY28, up from 2.05</a:t>
            </a:r>
            <a:endParaRPr lang="en-US" sz="900" dirty="0"/>
          </a:p>
        </p:txBody>
      </p:sp>
      <p:sp>
        <p:nvSpPr>
          <p:cNvPr id="92" name="Shape 77"/>
          <p:cNvSpPr/>
          <p:nvPr/>
        </p:nvSpPr>
        <p:spPr>
          <a:xfrm>
            <a:off x="8229600" y="3931920"/>
            <a:ext cx="3502152" cy="274320"/>
          </a:xfrm>
          <a:prstGeom prst="rect">
            <a:avLst/>
          </a:prstGeom>
          <a:solidFill>
            <a:srgbClr val="2B5B80"/>
          </a:solidFill>
          <a:ln w="12700">
            <a:solidFill>
              <a:srgbClr val="2B5B80"/>
            </a:solidFill>
            <a:prstDash val="solid"/>
          </a:ln>
        </p:spPr>
      </p:sp>
      <p:sp>
        <p:nvSpPr>
          <p:cNvPr id="93" name="Text 78"/>
          <p:cNvSpPr txBox="1"/>
          <p:nvPr/>
        </p:nvSpPr>
        <p:spPr>
          <a:xfrm>
            <a:off x="8321040" y="3931920"/>
            <a:ext cx="33192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where AI moves the money</a:t>
            </a:r>
            <a:endParaRPr lang="en-US" sz="1100" dirty="0"/>
          </a:p>
        </p:txBody>
      </p:sp>
      <p:sp>
        <p:nvSpPr>
          <p:cNvPr id="94" name="Text 79"/>
          <p:cNvSpPr/>
          <p:nvPr/>
        </p:nvSpPr>
        <p:spPr>
          <a:xfrm>
            <a:off x="8275320" y="4261104"/>
            <a:ext cx="3410712" cy="274320"/>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spend moves from failure to prevention</a:t>
            </a:r>
            <a:endParaRPr lang="en-US" sz="900" dirty="0"/>
          </a:p>
        </p:txBody>
      </p:sp>
      <p:sp>
        <p:nvSpPr>
          <p:cNvPr id="95" name="Shape 80"/>
          <p:cNvSpPr/>
          <p:nvPr/>
        </p:nvSpPr>
        <p:spPr>
          <a:xfrm>
            <a:off x="8275320" y="4599432"/>
            <a:ext cx="1682496" cy="502920"/>
          </a:xfrm>
          <a:prstGeom prst="roundRect">
            <a:avLst>
              <a:gd name="adj" fmla="val 10909"/>
            </a:avLst>
          </a:prstGeom>
          <a:solidFill>
            <a:srgbClr val="E4EEF6"/>
          </a:solidFill>
          <a:ln w="12700">
            <a:solidFill>
              <a:srgbClr val="E4EEF6"/>
            </a:solidFill>
            <a:prstDash val="solid"/>
          </a:ln>
        </p:spPr>
      </p:sp>
      <p:sp>
        <p:nvSpPr>
          <p:cNvPr id="96" name="Text 81"/>
          <p:cNvSpPr txBox="1"/>
          <p:nvPr/>
        </p:nvSpPr>
        <p:spPr>
          <a:xfrm>
            <a:off x="8339328"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Prevention</a:t>
            </a:r>
            <a:endParaRPr lang="en-US" sz="950" dirty="0"/>
          </a:p>
        </p:txBody>
      </p:sp>
      <p:sp>
        <p:nvSpPr>
          <p:cNvPr id="97" name="Text 82"/>
          <p:cNvSpPr txBox="1"/>
          <p:nvPr/>
        </p:nvSpPr>
        <p:spPr>
          <a:xfrm>
            <a:off x="8339328"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defect sent to its owner in minutes</a:t>
            </a:r>
            <a:endParaRPr lang="en-US" sz="900" dirty="0"/>
          </a:p>
        </p:txBody>
      </p:sp>
      <p:sp>
        <p:nvSpPr>
          <p:cNvPr id="98" name="Shape 83"/>
          <p:cNvSpPr/>
          <p:nvPr/>
        </p:nvSpPr>
        <p:spPr>
          <a:xfrm>
            <a:off x="10003536" y="4599432"/>
            <a:ext cx="1682496" cy="502920"/>
          </a:xfrm>
          <a:prstGeom prst="roundRect">
            <a:avLst>
              <a:gd name="adj" fmla="val 10909"/>
            </a:avLst>
          </a:prstGeom>
          <a:solidFill>
            <a:srgbClr val="F1F4F7"/>
          </a:solidFill>
          <a:ln w="12700">
            <a:solidFill>
              <a:srgbClr val="F1F4F7"/>
            </a:solidFill>
            <a:prstDash val="solid"/>
          </a:ln>
        </p:spPr>
      </p:sp>
      <p:sp>
        <p:nvSpPr>
          <p:cNvPr id="99" name="Text 84"/>
          <p:cNvSpPr txBox="1"/>
          <p:nvPr/>
        </p:nvSpPr>
        <p:spPr>
          <a:xfrm>
            <a:off x="10067544"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Internal failure</a:t>
            </a:r>
            <a:endParaRPr lang="en-US" sz="950" dirty="0"/>
          </a:p>
        </p:txBody>
      </p:sp>
      <p:sp>
        <p:nvSpPr>
          <p:cNvPr id="100" name="Text 85"/>
          <p:cNvSpPr txBox="1"/>
          <p:nvPr/>
        </p:nvSpPr>
        <p:spPr>
          <a:xfrm>
            <a:off x="10067544"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caught before more value is added</a:t>
            </a:r>
            <a:endParaRPr lang="en-US" sz="900" dirty="0"/>
          </a:p>
        </p:txBody>
      </p:sp>
      <p:sp>
        <p:nvSpPr>
          <p:cNvPr id="101" name="Shape 86"/>
          <p:cNvSpPr/>
          <p:nvPr/>
        </p:nvSpPr>
        <p:spPr>
          <a:xfrm>
            <a:off x="8275320" y="5148072"/>
            <a:ext cx="1682496" cy="502920"/>
          </a:xfrm>
          <a:prstGeom prst="roundRect">
            <a:avLst>
              <a:gd name="adj" fmla="val 10909"/>
            </a:avLst>
          </a:prstGeom>
          <a:solidFill>
            <a:srgbClr val="E4EEF6"/>
          </a:solidFill>
          <a:ln w="12700">
            <a:solidFill>
              <a:srgbClr val="E4EEF6"/>
            </a:solidFill>
            <a:prstDash val="solid"/>
          </a:ln>
        </p:spPr>
      </p:sp>
      <p:sp>
        <p:nvSpPr>
          <p:cNvPr id="102" name="Text 87"/>
          <p:cNvSpPr txBox="1"/>
          <p:nvPr/>
        </p:nvSpPr>
        <p:spPr>
          <a:xfrm>
            <a:off x="8339328"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Appraisal</a:t>
            </a:r>
            <a:endParaRPr lang="en-US" sz="950" dirty="0"/>
          </a:p>
        </p:txBody>
      </p:sp>
      <p:sp>
        <p:nvSpPr>
          <p:cNvPr id="103" name="Text 88"/>
          <p:cNvSpPr txBox="1"/>
          <p:nvPr/>
        </p:nvSpPr>
        <p:spPr>
          <a:xfrm>
            <a:off x="8339328"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100% of the surface, every coil</a:t>
            </a:r>
            <a:endParaRPr lang="en-US" sz="900" dirty="0"/>
          </a:p>
        </p:txBody>
      </p:sp>
      <p:sp>
        <p:nvSpPr>
          <p:cNvPr id="104" name="Shape 89"/>
          <p:cNvSpPr/>
          <p:nvPr/>
        </p:nvSpPr>
        <p:spPr>
          <a:xfrm>
            <a:off x="10003536" y="5148072"/>
            <a:ext cx="1682496" cy="502920"/>
          </a:xfrm>
          <a:prstGeom prst="roundRect">
            <a:avLst>
              <a:gd name="adj" fmla="val 10909"/>
            </a:avLst>
          </a:prstGeom>
          <a:solidFill>
            <a:srgbClr val="F1F4F7"/>
          </a:solidFill>
          <a:ln w="12700">
            <a:solidFill>
              <a:srgbClr val="F1F4F7"/>
            </a:solidFill>
            <a:prstDash val="solid"/>
          </a:ln>
        </p:spPr>
      </p:sp>
      <p:sp>
        <p:nvSpPr>
          <p:cNvPr id="105" name="Text 90"/>
          <p:cNvSpPr txBox="1"/>
          <p:nvPr/>
        </p:nvSpPr>
        <p:spPr>
          <a:xfrm>
            <a:off x="10067544"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External failure</a:t>
            </a:r>
            <a:endParaRPr lang="en-US" sz="950" dirty="0"/>
          </a:p>
        </p:txBody>
      </p:sp>
      <p:sp>
        <p:nvSpPr>
          <p:cNvPr id="106" name="Text 91"/>
          <p:cNvSpPr txBox="1"/>
          <p:nvPr/>
        </p:nvSpPr>
        <p:spPr>
          <a:xfrm>
            <a:off x="10067544"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fewer escapes to customers</a:t>
            </a:r>
            <a:endParaRPr lang="en-US" sz="900" dirty="0"/>
          </a:p>
        </p:txBody>
      </p:sp>
      <p:sp>
        <p:nvSpPr>
          <p:cNvPr id="107" name="Text 92"/>
          <p:cNvSpPr txBox="1"/>
          <p:nvPr/>
        </p:nvSpPr>
        <p:spPr>
          <a:xfrm>
            <a:off x="8275320" y="5696712"/>
            <a:ext cx="3456432" cy="201168"/>
          </a:xfrm>
          <a:prstGeom prst="rect">
            <a:avLst/>
          </a:prstGeom>
          <a:noFill/>
          <a:ln/>
        </p:spPr>
        <p:txBody>
          <a:bodyPr wrap="square" lIns="0" tIns="0" rIns="0" bIns="0" rtlCol="0" anchor="t"/>
          <a:lstStyle/>
          <a:p>
            <a:pPr indent="0" marL="0">
              <a:buNone/>
            </a:pPr>
            <a:r>
              <a:rPr lang="en-US" sz="900" i="1" dirty="0">
                <a:solidFill>
                  <a:srgbClr val="334150"/>
                </a:solidFill>
                <a:latin typeface="Calibri" pitchFamily="34" charset="0"/>
                <a:ea typeface="Calibri" pitchFamily="34" charset="-122"/>
                <a:cs typeface="Calibri" pitchFamily="34" charset="-120"/>
              </a:rPr>
              <a:t>Poor quality costs ~15% of sales in manufacturing (IISE).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by our model. Sources: Nortal/Outokumpu (2024); Tata Steel; Parsytec (Stainless Steel World); Leão 2021; Steel in Translation 2023. Owners: team hypothesis. Grade risks: team hypothesis.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six different owners (real detections by our model)</a:t>
            </a:r>
            <a:endParaRPr lang="en-US" sz="1100" dirty="0"/>
          </a:p>
        </p:txBody>
      </p:sp>
      <p:sp>
        <p:nvSpPr>
          <p:cNvPr id="19" name="Shape 17"/>
          <p:cNvSpPr/>
          <p:nvPr/>
        </p:nvSpPr>
        <p:spPr>
          <a:xfrm>
            <a:off x="457200" y="1572768"/>
            <a:ext cx="1783080" cy="2432304"/>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653796" y="1627632"/>
            <a:ext cx="1389888" cy="1389888"/>
          </a:xfrm>
          <a:prstGeom prst="rect">
            <a:avLst/>
          </a:prstGeom>
        </p:spPr>
      </p:pic>
      <p:sp>
        <p:nvSpPr>
          <p:cNvPr id="21" name="Text 18"/>
          <p:cNvSpPr txBox="1"/>
          <p:nvPr/>
        </p:nvSpPr>
        <p:spPr>
          <a:xfrm>
            <a:off x="548640"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432304"/>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552090" y="1627632"/>
            <a:ext cx="1389888" cy="1389888"/>
          </a:xfrm>
          <a:prstGeom prst="rect">
            <a:avLst/>
          </a:prstGeom>
        </p:spPr>
      </p:pic>
      <p:sp>
        <p:nvSpPr>
          <p:cNvPr id="26" name="Text 22"/>
          <p:cNvSpPr txBox="1"/>
          <p:nvPr/>
        </p:nvSpPr>
        <p:spPr>
          <a:xfrm>
            <a:off x="2446934"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432304"/>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450385" y="1627632"/>
            <a:ext cx="1389888" cy="1389888"/>
          </a:xfrm>
          <a:prstGeom prst="rect">
            <a:avLst/>
          </a:prstGeom>
        </p:spPr>
      </p:pic>
      <p:sp>
        <p:nvSpPr>
          <p:cNvPr id="31" name="Text 26"/>
          <p:cNvSpPr txBox="1"/>
          <p:nvPr/>
        </p:nvSpPr>
        <p:spPr>
          <a:xfrm>
            <a:off x="4345229"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432304"/>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348679" y="1627632"/>
            <a:ext cx="1389888" cy="1389888"/>
          </a:xfrm>
          <a:prstGeom prst="rect">
            <a:avLst/>
          </a:prstGeom>
        </p:spPr>
      </p:pic>
      <p:sp>
        <p:nvSpPr>
          <p:cNvPr id="36" name="Text 30"/>
          <p:cNvSpPr txBox="1"/>
          <p:nvPr/>
        </p:nvSpPr>
        <p:spPr>
          <a:xfrm>
            <a:off x="6243523"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432304"/>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246974" y="1627632"/>
            <a:ext cx="1389888" cy="1389888"/>
          </a:xfrm>
          <a:prstGeom prst="rect">
            <a:avLst/>
          </a:prstGeom>
        </p:spPr>
      </p:pic>
      <p:sp>
        <p:nvSpPr>
          <p:cNvPr id="41" name="Text 34"/>
          <p:cNvSpPr txBox="1"/>
          <p:nvPr/>
        </p:nvSpPr>
        <p:spPr>
          <a:xfrm>
            <a:off x="8141818"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432304"/>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145268" y="1627632"/>
            <a:ext cx="1389888" cy="1389888"/>
          </a:xfrm>
          <a:prstGeom prst="rect">
            <a:avLst/>
          </a:prstGeom>
        </p:spPr>
      </p:pic>
      <p:sp>
        <p:nvSpPr>
          <p:cNvPr id="46" name="Text 38"/>
          <p:cNvSpPr txBox="1"/>
          <p:nvPr/>
        </p:nvSpPr>
        <p:spPr>
          <a:xfrm>
            <a:off x="10040112"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Text 41"/>
          <p:cNvSpPr txBox="1"/>
          <p:nvPr/>
        </p:nvSpPr>
        <p:spPr>
          <a:xfrm>
            <a:off x="457200" y="4050792"/>
            <a:ext cx="2606040" cy="237744"/>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Stainless-only types to add with JSL data:</a:t>
            </a:r>
            <a:endParaRPr lang="en-US" sz="950" dirty="0"/>
          </a:p>
        </p:txBody>
      </p:sp>
      <p:sp>
        <p:nvSpPr>
          <p:cNvPr id="50" name="Shape 42"/>
          <p:cNvSpPr/>
          <p:nvPr/>
        </p:nvSpPr>
        <p:spPr>
          <a:xfrm>
            <a:off x="3090672" y="4069080"/>
            <a:ext cx="548640" cy="201168"/>
          </a:xfrm>
          <a:prstGeom prst="roundRect">
            <a:avLst>
              <a:gd name="adj" fmla="val 27273"/>
            </a:avLst>
          </a:prstGeom>
          <a:solidFill>
            <a:srgbClr val="E4EEF6"/>
          </a:solidFill>
          <a:ln w="12700">
            <a:solidFill>
              <a:srgbClr val="E4EEF6"/>
            </a:solidFill>
            <a:prstDash val="solid"/>
          </a:ln>
        </p:spPr>
      </p:sp>
      <p:sp>
        <p:nvSpPr>
          <p:cNvPr id="51" name="Text 43"/>
          <p:cNvSpPr txBox="1"/>
          <p:nvPr/>
        </p:nvSpPr>
        <p:spPr>
          <a:xfrm>
            <a:off x="3090672" y="4069080"/>
            <a:ext cx="548640"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Roping</a:t>
            </a:r>
            <a:endParaRPr lang="en-US" sz="900" dirty="0"/>
          </a:p>
        </p:txBody>
      </p:sp>
      <p:sp>
        <p:nvSpPr>
          <p:cNvPr id="52" name="Shape 44"/>
          <p:cNvSpPr/>
          <p:nvPr/>
        </p:nvSpPr>
        <p:spPr>
          <a:xfrm>
            <a:off x="3712464" y="4069080"/>
            <a:ext cx="1426464" cy="201168"/>
          </a:xfrm>
          <a:prstGeom prst="roundRect">
            <a:avLst>
              <a:gd name="adj" fmla="val 27273"/>
            </a:avLst>
          </a:prstGeom>
          <a:solidFill>
            <a:srgbClr val="E4EEF6"/>
          </a:solidFill>
          <a:ln w="12700">
            <a:solidFill>
              <a:srgbClr val="E4EEF6"/>
            </a:solidFill>
            <a:prstDash val="solid"/>
          </a:ln>
        </p:spPr>
      </p:sp>
      <p:sp>
        <p:nvSpPr>
          <p:cNvPr id="53" name="Text 45"/>
          <p:cNvSpPr txBox="1"/>
          <p:nvPr/>
        </p:nvSpPr>
        <p:spPr>
          <a:xfrm>
            <a:off x="3712464" y="4069080"/>
            <a:ext cx="1426464"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Ridging (ferritic 430)</a:t>
            </a:r>
            <a:endParaRPr lang="en-US" sz="900" dirty="0"/>
          </a:p>
        </p:txBody>
      </p:sp>
      <p:sp>
        <p:nvSpPr>
          <p:cNvPr id="54" name="Shape 46"/>
          <p:cNvSpPr/>
          <p:nvPr/>
        </p:nvSpPr>
        <p:spPr>
          <a:xfrm>
            <a:off x="5212080" y="4069080"/>
            <a:ext cx="822960" cy="201168"/>
          </a:xfrm>
          <a:prstGeom prst="roundRect">
            <a:avLst>
              <a:gd name="adj" fmla="val 27273"/>
            </a:avLst>
          </a:prstGeom>
          <a:solidFill>
            <a:srgbClr val="E4EEF6"/>
          </a:solidFill>
          <a:ln w="12700">
            <a:solidFill>
              <a:srgbClr val="E4EEF6"/>
            </a:solidFill>
            <a:prstDash val="solid"/>
          </a:ln>
        </p:spPr>
      </p:sp>
      <p:sp>
        <p:nvSpPr>
          <p:cNvPr id="55" name="Text 47"/>
          <p:cNvSpPr txBox="1"/>
          <p:nvPr/>
        </p:nvSpPr>
        <p:spPr>
          <a:xfrm>
            <a:off x="5212080" y="4069080"/>
            <a:ext cx="822960"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Orange peel</a:t>
            </a:r>
            <a:endParaRPr lang="en-US" sz="900" dirty="0"/>
          </a:p>
        </p:txBody>
      </p:sp>
      <p:sp>
        <p:nvSpPr>
          <p:cNvPr id="56" name="Shape 48"/>
          <p:cNvSpPr/>
          <p:nvPr/>
        </p:nvSpPr>
        <p:spPr>
          <a:xfrm>
            <a:off x="6108192" y="4069080"/>
            <a:ext cx="932688" cy="201168"/>
          </a:xfrm>
          <a:prstGeom prst="roundRect">
            <a:avLst>
              <a:gd name="adj" fmla="val 27273"/>
            </a:avLst>
          </a:prstGeom>
          <a:solidFill>
            <a:srgbClr val="E4EEF6"/>
          </a:solidFill>
          <a:ln w="12700">
            <a:solidFill>
              <a:srgbClr val="E4EEF6"/>
            </a:solidFill>
            <a:prstDash val="solid"/>
          </a:ln>
        </p:spPr>
      </p:sp>
      <p:sp>
        <p:nvSpPr>
          <p:cNvPr id="57" name="Text 49"/>
          <p:cNvSpPr txBox="1"/>
          <p:nvPr/>
        </p:nvSpPr>
        <p:spPr>
          <a:xfrm>
            <a:off x="6108192" y="4069080"/>
            <a:ext cx="932688"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Anneal colour</a:t>
            </a:r>
            <a:endParaRPr lang="en-US" sz="900" dirty="0"/>
          </a:p>
        </p:txBody>
      </p:sp>
      <p:sp>
        <p:nvSpPr>
          <p:cNvPr id="58" name="Shape 50"/>
          <p:cNvSpPr/>
          <p:nvPr/>
        </p:nvSpPr>
        <p:spPr>
          <a:xfrm>
            <a:off x="7114032" y="4069080"/>
            <a:ext cx="713232" cy="201168"/>
          </a:xfrm>
          <a:prstGeom prst="roundRect">
            <a:avLst>
              <a:gd name="adj" fmla="val 27273"/>
            </a:avLst>
          </a:prstGeom>
          <a:solidFill>
            <a:srgbClr val="E4EEF6"/>
          </a:solidFill>
          <a:ln w="12700">
            <a:solidFill>
              <a:srgbClr val="E4EEF6"/>
            </a:solidFill>
            <a:prstDash val="solid"/>
          </a:ln>
        </p:spPr>
      </p:sp>
      <p:sp>
        <p:nvSpPr>
          <p:cNvPr id="59" name="Text 51"/>
          <p:cNvSpPr txBox="1"/>
          <p:nvPr/>
        </p:nvSpPr>
        <p:spPr>
          <a:xfrm>
            <a:off x="7114032" y="4069080"/>
            <a:ext cx="713232"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BA stains</a:t>
            </a:r>
            <a:endParaRPr lang="en-US" sz="900" dirty="0"/>
          </a:p>
        </p:txBody>
      </p:sp>
      <p:sp>
        <p:nvSpPr>
          <p:cNvPr id="60" name="Shape 52"/>
          <p:cNvSpPr/>
          <p:nvPr/>
        </p:nvSpPr>
        <p:spPr>
          <a:xfrm>
            <a:off x="7900416" y="4069080"/>
            <a:ext cx="768096" cy="201168"/>
          </a:xfrm>
          <a:prstGeom prst="roundRect">
            <a:avLst>
              <a:gd name="adj" fmla="val 27273"/>
            </a:avLst>
          </a:prstGeom>
          <a:solidFill>
            <a:srgbClr val="E4EEF6"/>
          </a:solidFill>
          <a:ln w="12700">
            <a:solidFill>
              <a:srgbClr val="E4EEF6"/>
            </a:solidFill>
            <a:prstDash val="solid"/>
          </a:ln>
        </p:spPr>
      </p:sp>
      <p:sp>
        <p:nvSpPr>
          <p:cNvPr id="61" name="Text 53"/>
          <p:cNvSpPr txBox="1"/>
          <p:nvPr/>
        </p:nvSpPr>
        <p:spPr>
          <a:xfrm>
            <a:off x="7900416" y="4069080"/>
            <a:ext cx="768096"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Lamination</a:t>
            </a:r>
            <a:endParaRPr lang="en-US" sz="900" dirty="0"/>
          </a:p>
        </p:txBody>
      </p:sp>
      <p:sp>
        <p:nvSpPr>
          <p:cNvPr id="62" name="Shape 54"/>
          <p:cNvSpPr/>
          <p:nvPr/>
        </p:nvSpPr>
        <p:spPr>
          <a:xfrm>
            <a:off x="457200" y="4370832"/>
            <a:ext cx="4572000" cy="274320"/>
          </a:xfrm>
          <a:prstGeom prst="rect">
            <a:avLst/>
          </a:prstGeom>
          <a:solidFill>
            <a:srgbClr val="2B5B80"/>
          </a:solidFill>
          <a:ln w="12700">
            <a:solidFill>
              <a:srgbClr val="2B5B80"/>
            </a:solidFill>
            <a:prstDash val="solid"/>
          </a:ln>
        </p:spPr>
      </p:sp>
      <p:sp>
        <p:nvSpPr>
          <p:cNvPr id="63" name="Text 55"/>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Precedent: who already does this, and what we copy</a:t>
            </a:r>
            <a:endParaRPr lang="en-US" sz="1100" dirty="0"/>
          </a:p>
        </p:txBody>
      </p:sp>
      <p:sp>
        <p:nvSpPr>
          <p:cNvPr id="64" name="Text 56"/>
          <p:cNvSpPr txBox="1"/>
          <p:nvPr/>
        </p:nvSpPr>
        <p:spPr>
          <a:xfrm>
            <a:off x="502920" y="4690872"/>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Outokumpu</a:t>
            </a:r>
            <a:endParaRPr lang="en-US" sz="950" dirty="0"/>
          </a:p>
        </p:txBody>
      </p:sp>
      <p:sp>
        <p:nvSpPr>
          <p:cNvPr id="65" name="Text 57"/>
          <p:cNvSpPr txBox="1"/>
          <p:nvPr/>
        </p:nvSpPr>
        <p:spPr>
          <a:xfrm>
            <a:off x="1572768" y="4690872"/>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Europe's #1 stainless maker; AI inspection live at Tornio since 2024, runs offline.</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offline edge, multi-site</a:t>
            </a:r>
            <a:endParaRPr lang="en-US" sz="900" dirty="0"/>
          </a:p>
        </p:txBody>
      </p:sp>
      <p:sp>
        <p:nvSpPr>
          <p:cNvPr id="66" name="Text 58"/>
          <p:cNvSpPr txBox="1"/>
          <p:nvPr/>
        </p:nvSpPr>
        <p:spPr>
          <a:xfrm>
            <a:off x="502920" y="5093208"/>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Tata Steel</a:t>
            </a:r>
            <a:endParaRPr lang="en-US" sz="950" dirty="0"/>
          </a:p>
        </p:txBody>
      </p:sp>
      <p:sp>
        <p:nvSpPr>
          <p:cNvPr id="67" name="Text 59"/>
          <p:cNvSpPr txBox="1"/>
          <p:nvPr/>
        </p:nvSpPr>
        <p:spPr>
          <a:xfrm>
            <a:off x="1572768" y="5093208"/>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Kalinganagar (WEF Lighthouse) finds cold-rolled surface defects by video analytics.</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in-house model team</a:t>
            </a:r>
            <a:endParaRPr lang="en-US" sz="900" dirty="0"/>
          </a:p>
        </p:txBody>
      </p:sp>
      <p:sp>
        <p:nvSpPr>
          <p:cNvPr id="68" name="Text 60"/>
          <p:cNvSpPr txBox="1"/>
          <p:nvPr/>
        </p:nvSpPr>
        <p:spPr>
          <a:xfrm>
            <a:off x="502920" y="5495544"/>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Parsytec</a:t>
            </a:r>
            <a:endParaRPr lang="en-US" sz="950" dirty="0"/>
          </a:p>
        </p:txBody>
      </p:sp>
      <p:sp>
        <p:nvSpPr>
          <p:cNvPr id="69" name="Text 61"/>
          <p:cNvSpPr txBox="1"/>
          <p:nvPr/>
        </p:nvSpPr>
        <p:spPr>
          <a:xfrm>
            <a:off x="1572768" y="5495544"/>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On stainless lines: 170 µm cameras, bright + dark-field light, a decision per coil.</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optics, coil decision</a:t>
            </a:r>
            <a:endParaRPr lang="en-US" sz="900" dirty="0"/>
          </a:p>
        </p:txBody>
      </p:sp>
      <p:sp>
        <p:nvSpPr>
          <p:cNvPr id="70" name="Shape 62"/>
          <p:cNvSpPr/>
          <p:nvPr/>
        </p:nvSpPr>
        <p:spPr>
          <a:xfrm>
            <a:off x="5257800" y="4370832"/>
            <a:ext cx="6473952" cy="274320"/>
          </a:xfrm>
          <a:prstGeom prst="rect">
            <a:avLst/>
          </a:prstGeom>
          <a:solidFill>
            <a:srgbClr val="2B5B80"/>
          </a:solidFill>
          <a:ln w="12700">
            <a:solidFill>
              <a:srgbClr val="2B5B80"/>
            </a:solidFill>
            <a:prstDash val="solid"/>
          </a:ln>
        </p:spPr>
      </p:sp>
      <p:sp>
        <p:nvSpPr>
          <p:cNvPr id="71" name="Text 63"/>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73" name="Shape 64"/>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74" name="Text 65"/>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Four design choices behind the system, each proven in our own tests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image resolution and trustworthy confidence decide whether the system works.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Trained on clean steel too, so its alarms mean something</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94360" y="1591056"/>
          <a:ext cx="1371600" cy="13716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90%</a:t>
            </a:r>
            <a:endParaRPr lang="en-US" sz="1800" dirty="0"/>
          </a:p>
        </p:txBody>
      </p:sp>
      <p:sp>
        <p:nvSpPr>
          <p:cNvPr id="22" name="Text 19"/>
          <p:cNvSpPr txBox="1"/>
          <p:nvPr/>
        </p:nvSpPr>
        <p:spPr>
          <a:xfrm>
            <a:off x="201168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defects caught</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258 of 288 defective mill images</a:t>
            </a:r>
            <a:endParaRPr lang="en-US" sz="950" dirty="0"/>
          </a:p>
        </p:txBody>
      </p:sp>
      <p:graphicFrame>
        <p:nvGraphicFramePr>
          <p:cNvPr id="23" name="Chart 1" descr=""/>
          <p:cNvGraphicFramePr/>
          <p:nvPr/>
        </p:nvGraphicFramePr>
        <p:xfrm>
          <a:off x="3291840" y="1591056"/>
          <a:ext cx="1371600" cy="137160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329184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4.7%</a:t>
            </a:r>
            <a:endParaRPr lang="en-US" sz="1800" dirty="0"/>
          </a:p>
        </p:txBody>
      </p:sp>
      <p:sp>
        <p:nvSpPr>
          <p:cNvPr id="25" name="Text 21"/>
          <p:cNvSpPr txBox="1"/>
          <p:nvPr/>
        </p:nvSpPr>
        <p:spPr>
          <a:xfrm>
            <a:off x="470916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clean strip flagged</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14 of 300 clean mill images</a:t>
            </a:r>
            <a:endParaRPr lang="en-US" sz="950" dirty="0"/>
          </a:p>
        </p:txBody>
      </p:sp>
      <p:sp>
        <p:nvSpPr>
          <p:cNvPr id="26" name="Text 22"/>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7" name="Shape 23"/>
          <p:cNvSpPr/>
          <p:nvPr/>
        </p:nvSpPr>
        <p:spPr>
          <a:xfrm>
            <a:off x="6190488" y="1234440"/>
            <a:ext cx="5541264" cy="274320"/>
          </a:xfrm>
          <a:prstGeom prst="rect">
            <a:avLst/>
          </a:prstGeom>
          <a:solidFill>
            <a:srgbClr val="2B5B80"/>
          </a:solidFill>
          <a:ln w="12700">
            <a:solidFill>
              <a:srgbClr val="2B5B80"/>
            </a:solidFill>
            <a:prstDash val="solid"/>
          </a:ln>
        </p:spPr>
      </p:sp>
      <p:sp>
        <p:nvSpPr>
          <p:cNvPr id="28" name="Text 24"/>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compact model is enough</a:t>
            </a:r>
            <a:endParaRPr lang="en-US" sz="1100" dirty="0"/>
          </a:p>
        </p:txBody>
      </p:sp>
      <p:sp>
        <p:nvSpPr>
          <p:cNvPr id="29" name="Shape 25"/>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30" name="Text 26"/>
          <p:cNvSpPr txBox="1"/>
          <p:nvPr/>
        </p:nvSpPr>
        <p:spPr>
          <a:xfrm>
            <a:off x="6327648"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12 MB</a:t>
            </a:r>
            <a:endParaRPr lang="en-US" sz="2200" dirty="0"/>
          </a:p>
        </p:txBody>
      </p:sp>
      <p:sp>
        <p:nvSpPr>
          <p:cNvPr id="31" name="Text 27"/>
          <p:cNvSpPr txBox="1"/>
          <p:nvPr/>
        </p:nvSpPr>
        <p:spPr>
          <a:xfrm>
            <a:off x="6327648"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the whole model; loads in any browser</a:t>
            </a:r>
            <a:endParaRPr lang="en-US" sz="950" dirty="0"/>
          </a:p>
        </p:txBody>
      </p:sp>
      <p:sp>
        <p:nvSpPr>
          <p:cNvPr id="32" name="Text 28"/>
          <p:cNvSpPr txBox="1"/>
          <p:nvPr/>
        </p:nvSpPr>
        <p:spPr>
          <a:xfrm>
            <a:off x="8092440"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~55 ms</a:t>
            </a:r>
            <a:endParaRPr lang="en-US" sz="2200" dirty="0"/>
          </a:p>
        </p:txBody>
      </p:sp>
      <p:sp>
        <p:nvSpPr>
          <p:cNvPr id="33" name="Text 29"/>
          <p:cNvSpPr txBox="1"/>
          <p:nvPr/>
        </p:nvSpPr>
        <p:spPr>
          <a:xfrm>
            <a:off x="8092440"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on an ordinary laptop CPU</a:t>
            </a:r>
            <a:endParaRPr lang="en-US" sz="950" dirty="0"/>
          </a:p>
        </p:txBody>
      </p:sp>
      <p:sp>
        <p:nvSpPr>
          <p:cNvPr id="34" name="Text 30"/>
          <p:cNvSpPr txBox="1"/>
          <p:nvPr/>
        </p:nvSpPr>
        <p:spPr>
          <a:xfrm>
            <a:off x="9857232"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0.75</a:t>
            </a:r>
            <a:endParaRPr lang="en-US" sz="2200" dirty="0"/>
          </a:p>
        </p:txBody>
      </p:sp>
      <p:sp>
        <p:nvSpPr>
          <p:cNvPr id="35" name="Text 31"/>
          <p:cNvSpPr txBox="1"/>
          <p:nvPr/>
        </p:nvSpPr>
        <p:spPr>
          <a:xfrm>
            <a:off x="9857232"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accuracy, inside the 0.70-0.80 published range</a:t>
            </a:r>
            <a:endParaRPr lang="en-US" sz="950" dirty="0"/>
          </a:p>
        </p:txBody>
      </p:sp>
      <p:sp>
        <p:nvSpPr>
          <p:cNvPr id="36" name="Text 32"/>
          <p:cNvSpPr txBox="1"/>
          <p:nvPr/>
        </p:nvSpPr>
        <p:spPr>
          <a:xfrm>
            <a:off x="6327648" y="2761488"/>
            <a:ext cx="5303520" cy="219456"/>
          </a:xfrm>
          <a:prstGeom prst="rect">
            <a:avLst/>
          </a:prstGeom>
          <a:noFill/>
          <a:ln/>
        </p:spPr>
        <p:txBody>
          <a:bodyPr wrap="square" lIns="0" tIns="0" rIns="0" bIns="0" rtlCol="0" anchor="t"/>
          <a:lstStyle/>
          <a:p>
            <a:pPr indent="0" marL="0">
              <a:buNone/>
            </a:pPr>
            <a:r>
              <a:rPr lang="en-US" sz="950" i="1" dirty="0">
                <a:solidFill>
                  <a:srgbClr val="5F6B78"/>
                </a:solidFill>
                <a:latin typeface="Calibri" pitchFamily="34" charset="0"/>
                <a:ea typeface="Calibri" pitchFamily="34" charset="-122"/>
                <a:cs typeface="Calibri" pitchFamily="34" charset="-120"/>
              </a:rPr>
              <a:t>Larger models and sharper images added no accuracy in our tests.</a:t>
            </a:r>
            <a:endParaRPr lang="en-US" sz="950" dirty="0"/>
          </a:p>
        </p:txBody>
      </p:sp>
      <p:sp>
        <p:nvSpPr>
          <p:cNvPr id="37" name="Text 33"/>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a:t>
            </a:r>
            <a:endParaRPr lang="en-US" sz="1000" dirty="0"/>
          </a:p>
        </p:txBody>
      </p:sp>
      <p:sp>
        <p:nvSpPr>
          <p:cNvPr id="38" name="Shape 34"/>
          <p:cNvSpPr/>
          <p:nvPr/>
        </p:nvSpPr>
        <p:spPr>
          <a:xfrm>
            <a:off x="457200" y="3630168"/>
            <a:ext cx="5541264" cy="274320"/>
          </a:xfrm>
          <a:prstGeom prst="rect">
            <a:avLst/>
          </a:prstGeom>
          <a:solidFill>
            <a:srgbClr val="2B5B80"/>
          </a:solidFill>
          <a:ln w="12700">
            <a:solidFill>
              <a:srgbClr val="2B5B80"/>
            </a:solidFill>
            <a:prstDash val="solid"/>
          </a:ln>
        </p:spPr>
      </p:sp>
      <p:sp>
        <p:nvSpPr>
          <p:cNvPr id="39" name="Text 35"/>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Image detail, not the model, sets the hardware bill</a:t>
            </a:r>
            <a:endParaRPr lang="en-US" sz="1100" dirty="0"/>
          </a:p>
        </p:txBody>
      </p:sp>
      <p:sp>
        <p:nvSpPr>
          <p:cNvPr id="40" name="Shape 36"/>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sp>
        <p:nvSpPr>
          <p:cNvPr id="41" name="Text 37"/>
          <p:cNvSpPr txBox="1"/>
          <p:nvPr/>
        </p:nvSpPr>
        <p:spPr>
          <a:xfrm>
            <a:off x="585216" y="3950208"/>
            <a:ext cx="1691640"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0.2 mm per pixel</a:t>
            </a:r>
            <a:endParaRPr lang="en-US" sz="1000" dirty="0"/>
          </a:p>
        </p:txBody>
      </p:sp>
      <p:pic>
        <p:nvPicPr>
          <p:cNvPr id="42" name="Image 0" descr="img/icons/cpu-navy.png">    </p:cNvPr>
          <p:cNvPicPr>
            <a:picLocks noChangeAspect="1"/>
          </p:cNvPicPr>
          <p:nvPr/>
        </p:nvPicPr>
        <p:blipFill>
          <a:blip r:embed="rId3"/>
          <a:stretch>
            <a:fillRect/>
          </a:stretch>
        </p:blipFill>
        <p:spPr>
          <a:xfrm>
            <a:off x="585216" y="4206240"/>
            <a:ext cx="192024" cy="192024"/>
          </a:xfrm>
          <a:prstGeom prst="rect">
            <a:avLst/>
          </a:prstGeom>
        </p:spPr>
      </p:pic>
      <p:pic>
        <p:nvPicPr>
          <p:cNvPr id="43" name="Image 1" descr="img/icons/cpu-navy.png">    </p:cNvPr>
          <p:cNvPicPr>
            <a:picLocks noChangeAspect="1"/>
          </p:cNvPicPr>
          <p:nvPr/>
        </p:nvPicPr>
        <p:blipFill>
          <a:blip r:embed="rId4"/>
          <a:stretch>
            <a:fillRect/>
          </a:stretch>
        </p:blipFill>
        <p:spPr>
          <a:xfrm>
            <a:off x="822960" y="4206240"/>
            <a:ext cx="192024" cy="192024"/>
          </a:xfrm>
          <a:prstGeom prst="rect">
            <a:avLst/>
          </a:prstGeom>
        </p:spPr>
      </p:pic>
      <p:pic>
        <p:nvPicPr>
          <p:cNvPr id="44" name="Image 2" descr="img/icons/cpu-navy.png">    </p:cNvPr>
          <p:cNvPicPr>
            <a:picLocks noChangeAspect="1"/>
          </p:cNvPicPr>
          <p:nvPr/>
        </p:nvPicPr>
        <p:blipFill>
          <a:blip r:embed="rId5"/>
          <a:stretch>
            <a:fillRect/>
          </a:stretch>
        </p:blipFill>
        <p:spPr>
          <a:xfrm>
            <a:off x="1060704" y="4206240"/>
            <a:ext cx="192024" cy="192024"/>
          </a:xfrm>
          <a:prstGeom prst="rect">
            <a:avLst/>
          </a:prstGeom>
        </p:spPr>
      </p:pic>
      <p:pic>
        <p:nvPicPr>
          <p:cNvPr id="45" name="Image 3" descr="img/icons/cpu-navy.png">    </p:cNvPr>
          <p:cNvPicPr>
            <a:picLocks noChangeAspect="1"/>
          </p:cNvPicPr>
          <p:nvPr/>
        </p:nvPicPr>
        <p:blipFill>
          <a:blip r:embed="rId6"/>
          <a:stretch>
            <a:fillRect/>
          </a:stretch>
        </p:blipFill>
        <p:spPr>
          <a:xfrm>
            <a:off x="1298448" y="4206240"/>
            <a:ext cx="192024" cy="192024"/>
          </a:xfrm>
          <a:prstGeom prst="rect">
            <a:avLst/>
          </a:prstGeom>
        </p:spPr>
      </p:pic>
      <p:pic>
        <p:nvPicPr>
          <p:cNvPr id="46" name="Image 4" descr="img/icons/cpu-navy.png">    </p:cNvPr>
          <p:cNvPicPr>
            <a:picLocks noChangeAspect="1"/>
          </p:cNvPicPr>
          <p:nvPr/>
        </p:nvPicPr>
        <p:blipFill>
          <a:blip r:embed="rId7"/>
          <a:stretch>
            <a:fillRect/>
          </a:stretch>
        </p:blipFill>
        <p:spPr>
          <a:xfrm>
            <a:off x="1536192" y="4206240"/>
            <a:ext cx="192024" cy="192024"/>
          </a:xfrm>
          <a:prstGeom prst="rect">
            <a:avLst/>
          </a:prstGeom>
        </p:spPr>
      </p:pic>
      <p:pic>
        <p:nvPicPr>
          <p:cNvPr id="47" name="Image 5" descr="img/icons/cpu-navy.png">    </p:cNvPr>
          <p:cNvPicPr>
            <a:picLocks noChangeAspect="1"/>
          </p:cNvPicPr>
          <p:nvPr/>
        </p:nvPicPr>
        <p:blipFill>
          <a:blip r:embed="rId8"/>
          <a:stretch>
            <a:fillRect/>
          </a:stretch>
        </p:blipFill>
        <p:spPr>
          <a:xfrm>
            <a:off x="1773936" y="4206240"/>
            <a:ext cx="192024" cy="192024"/>
          </a:xfrm>
          <a:prstGeom prst="rect">
            <a:avLst/>
          </a:prstGeom>
        </p:spPr>
      </p:pic>
      <p:pic>
        <p:nvPicPr>
          <p:cNvPr id="48" name="Image 6" descr="img/icons/cpu-navy.png">    </p:cNvPr>
          <p:cNvPicPr>
            <a:picLocks noChangeAspect="1"/>
          </p:cNvPicPr>
          <p:nvPr/>
        </p:nvPicPr>
        <p:blipFill>
          <a:blip r:embed="rId9"/>
          <a:stretch>
            <a:fillRect/>
          </a:stretch>
        </p:blipFill>
        <p:spPr>
          <a:xfrm>
            <a:off x="585216" y="4434840"/>
            <a:ext cx="192024" cy="192024"/>
          </a:xfrm>
          <a:prstGeom prst="rect">
            <a:avLst/>
          </a:prstGeom>
        </p:spPr>
      </p:pic>
      <p:pic>
        <p:nvPicPr>
          <p:cNvPr id="49" name="Image 7" descr="img/icons/cpu-navy.png">    </p:cNvPr>
          <p:cNvPicPr>
            <a:picLocks noChangeAspect="1"/>
          </p:cNvPicPr>
          <p:nvPr/>
        </p:nvPicPr>
        <p:blipFill>
          <a:blip r:embed="rId10"/>
          <a:stretch>
            <a:fillRect/>
          </a:stretch>
        </p:blipFill>
        <p:spPr>
          <a:xfrm>
            <a:off x="822960" y="4434840"/>
            <a:ext cx="192024" cy="192024"/>
          </a:xfrm>
          <a:prstGeom prst="rect">
            <a:avLst/>
          </a:prstGeom>
        </p:spPr>
      </p:pic>
      <p:pic>
        <p:nvPicPr>
          <p:cNvPr id="50" name="Image 8" descr="img/icons/cpu-navy.png">    </p:cNvPr>
          <p:cNvPicPr>
            <a:picLocks noChangeAspect="1"/>
          </p:cNvPicPr>
          <p:nvPr/>
        </p:nvPicPr>
        <p:blipFill>
          <a:blip r:embed="rId11"/>
          <a:stretch>
            <a:fillRect/>
          </a:stretch>
        </p:blipFill>
        <p:spPr>
          <a:xfrm>
            <a:off x="1060704" y="4434840"/>
            <a:ext cx="192024" cy="192024"/>
          </a:xfrm>
          <a:prstGeom prst="rect">
            <a:avLst/>
          </a:prstGeom>
        </p:spPr>
      </p:pic>
      <p:pic>
        <p:nvPicPr>
          <p:cNvPr id="51" name="Image 9" descr="img/icons/cpu-navy.png">    </p:cNvPr>
          <p:cNvPicPr>
            <a:picLocks noChangeAspect="1"/>
          </p:cNvPicPr>
          <p:nvPr/>
        </p:nvPicPr>
        <p:blipFill>
          <a:blip r:embed="rId12"/>
          <a:stretch>
            <a:fillRect/>
          </a:stretch>
        </p:blipFill>
        <p:spPr>
          <a:xfrm>
            <a:off x="1298448" y="4434840"/>
            <a:ext cx="192024" cy="192024"/>
          </a:xfrm>
          <a:prstGeom prst="rect">
            <a:avLst/>
          </a:prstGeom>
        </p:spPr>
      </p:pic>
      <p:pic>
        <p:nvPicPr>
          <p:cNvPr id="52" name="Image 10" descr="img/icons/cpu-navy.png">    </p:cNvPr>
          <p:cNvPicPr>
            <a:picLocks noChangeAspect="1"/>
          </p:cNvPicPr>
          <p:nvPr/>
        </p:nvPicPr>
        <p:blipFill>
          <a:blip r:embed="rId13"/>
          <a:stretch>
            <a:fillRect/>
          </a:stretch>
        </p:blipFill>
        <p:spPr>
          <a:xfrm>
            <a:off x="1536192" y="4434840"/>
            <a:ext cx="192024" cy="192024"/>
          </a:xfrm>
          <a:prstGeom prst="rect">
            <a:avLst/>
          </a:prstGeom>
        </p:spPr>
      </p:pic>
      <p:pic>
        <p:nvPicPr>
          <p:cNvPr id="53" name="Image 11" descr="img/icons/cpu-navy.png">    </p:cNvPr>
          <p:cNvPicPr>
            <a:picLocks noChangeAspect="1"/>
          </p:cNvPicPr>
          <p:nvPr/>
        </p:nvPicPr>
        <p:blipFill>
          <a:blip r:embed="rId14"/>
          <a:stretch>
            <a:fillRect/>
          </a:stretch>
        </p:blipFill>
        <p:spPr>
          <a:xfrm>
            <a:off x="1773936" y="4434840"/>
            <a:ext cx="192024" cy="192024"/>
          </a:xfrm>
          <a:prstGeom prst="rect">
            <a:avLst/>
          </a:prstGeom>
        </p:spPr>
      </p:pic>
      <p:pic>
        <p:nvPicPr>
          <p:cNvPr id="54" name="Image 12" descr="img/icons/cpu-navy.png">    </p:cNvPr>
          <p:cNvPicPr>
            <a:picLocks noChangeAspect="1"/>
          </p:cNvPicPr>
          <p:nvPr/>
        </p:nvPicPr>
        <p:blipFill>
          <a:blip r:embed="rId15"/>
          <a:stretch>
            <a:fillRect/>
          </a:stretch>
        </p:blipFill>
        <p:spPr>
          <a:xfrm>
            <a:off x="585216" y="4663440"/>
            <a:ext cx="192024" cy="192024"/>
          </a:xfrm>
          <a:prstGeom prst="rect">
            <a:avLst/>
          </a:prstGeom>
        </p:spPr>
      </p:pic>
      <p:pic>
        <p:nvPicPr>
          <p:cNvPr id="55" name="Image 13" descr="img/icons/cpu-navy.png">    </p:cNvPr>
          <p:cNvPicPr>
            <a:picLocks noChangeAspect="1"/>
          </p:cNvPicPr>
          <p:nvPr/>
        </p:nvPicPr>
        <p:blipFill>
          <a:blip r:embed="rId16"/>
          <a:stretch>
            <a:fillRect/>
          </a:stretch>
        </p:blipFill>
        <p:spPr>
          <a:xfrm>
            <a:off x="822960" y="4663440"/>
            <a:ext cx="192024" cy="192024"/>
          </a:xfrm>
          <a:prstGeom prst="rect">
            <a:avLst/>
          </a:prstGeom>
        </p:spPr>
      </p:pic>
      <p:pic>
        <p:nvPicPr>
          <p:cNvPr id="56" name="Image 14" descr="img/icons/cpu-navy.png">    </p:cNvPr>
          <p:cNvPicPr>
            <a:picLocks noChangeAspect="1"/>
          </p:cNvPicPr>
          <p:nvPr/>
        </p:nvPicPr>
        <p:blipFill>
          <a:blip r:embed="rId17"/>
          <a:stretch>
            <a:fillRect/>
          </a:stretch>
        </p:blipFill>
        <p:spPr>
          <a:xfrm>
            <a:off x="1060704" y="4663440"/>
            <a:ext cx="192024" cy="192024"/>
          </a:xfrm>
          <a:prstGeom prst="rect">
            <a:avLst/>
          </a:prstGeom>
        </p:spPr>
      </p:pic>
      <p:pic>
        <p:nvPicPr>
          <p:cNvPr id="57" name="Image 15" descr="img/icons/cpu-navy.png">    </p:cNvPr>
          <p:cNvPicPr>
            <a:picLocks noChangeAspect="1"/>
          </p:cNvPicPr>
          <p:nvPr/>
        </p:nvPicPr>
        <p:blipFill>
          <a:blip r:embed="rId18"/>
          <a:stretch>
            <a:fillRect/>
          </a:stretch>
        </p:blipFill>
        <p:spPr>
          <a:xfrm>
            <a:off x="1298448" y="4663440"/>
            <a:ext cx="192024" cy="192024"/>
          </a:xfrm>
          <a:prstGeom prst="rect">
            <a:avLst/>
          </a:prstGeom>
        </p:spPr>
      </p:pic>
      <p:pic>
        <p:nvPicPr>
          <p:cNvPr id="58" name="Image 16" descr="img/icons/cpu-navy.png">    </p:cNvPr>
          <p:cNvPicPr>
            <a:picLocks noChangeAspect="1"/>
          </p:cNvPicPr>
          <p:nvPr/>
        </p:nvPicPr>
        <p:blipFill>
          <a:blip r:embed="rId19"/>
          <a:stretch>
            <a:fillRect/>
          </a:stretch>
        </p:blipFill>
        <p:spPr>
          <a:xfrm>
            <a:off x="1536192" y="4663440"/>
            <a:ext cx="192024" cy="192024"/>
          </a:xfrm>
          <a:prstGeom prst="rect">
            <a:avLst/>
          </a:prstGeom>
        </p:spPr>
      </p:pic>
      <p:pic>
        <p:nvPicPr>
          <p:cNvPr id="59" name="Image 17" descr="img/icons/cpu-navy.png">    </p:cNvPr>
          <p:cNvPicPr>
            <a:picLocks noChangeAspect="1"/>
          </p:cNvPicPr>
          <p:nvPr/>
        </p:nvPicPr>
        <p:blipFill>
          <a:blip r:embed="rId20"/>
          <a:stretch>
            <a:fillRect/>
          </a:stretch>
        </p:blipFill>
        <p:spPr>
          <a:xfrm>
            <a:off x="1773936" y="4663440"/>
            <a:ext cx="192024" cy="192024"/>
          </a:xfrm>
          <a:prstGeom prst="rect">
            <a:avLst/>
          </a:prstGeom>
        </p:spPr>
      </p:pic>
      <p:sp>
        <p:nvSpPr>
          <p:cNvPr id="60" name="Text 38"/>
          <p:cNvSpPr txBox="1"/>
          <p:nvPr/>
        </p:nvSpPr>
        <p:spPr>
          <a:xfrm>
            <a:off x="585216"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~18 processors</a:t>
            </a:r>
            <a:endParaRPr lang="en-US" sz="1100" dirty="0"/>
          </a:p>
        </p:txBody>
      </p:sp>
      <p:sp>
        <p:nvSpPr>
          <p:cNvPr id="61" name="Text 39"/>
          <p:cNvSpPr txBox="1"/>
          <p:nvPr/>
        </p:nvSpPr>
        <p:spPr>
          <a:xfrm>
            <a:off x="585216"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sees defects from ~0.5 mm</a:t>
            </a:r>
            <a:endParaRPr lang="en-US" sz="900" dirty="0"/>
          </a:p>
        </p:txBody>
      </p:sp>
      <p:sp>
        <p:nvSpPr>
          <p:cNvPr id="62" name="Shape 40"/>
          <p:cNvSpPr/>
          <p:nvPr/>
        </p:nvSpPr>
        <p:spPr>
          <a:xfrm>
            <a:off x="2304288" y="3986784"/>
            <a:ext cx="9144" cy="1298448"/>
          </a:xfrm>
          <a:prstGeom prst="rect">
            <a:avLst/>
          </a:prstGeom>
          <a:solidFill>
            <a:srgbClr val="D5DCE3"/>
          </a:solidFill>
          <a:ln w="12700">
            <a:solidFill>
              <a:srgbClr val="D5DCE3"/>
            </a:solidFill>
            <a:prstDash val="solid"/>
          </a:ln>
        </p:spPr>
      </p:sp>
      <p:sp>
        <p:nvSpPr>
          <p:cNvPr id="63" name="Text 41"/>
          <p:cNvSpPr txBox="1"/>
          <p:nvPr/>
        </p:nvSpPr>
        <p:spPr>
          <a:xfrm>
            <a:off x="2395728" y="3950208"/>
            <a:ext cx="1691640" cy="219456"/>
          </a:xfrm>
          <a:prstGeom prst="rect">
            <a:avLst/>
          </a:prstGeom>
          <a:noFill/>
          <a:ln/>
        </p:spPr>
        <p:txBody>
          <a:bodyPr wrap="square" lIns="0" tIns="0" rIns="0" bIns="0" rtlCol="0" anchor="t"/>
          <a:lstStyle/>
          <a:p>
            <a:pPr indent="0" marL="0">
              <a:buNone/>
            </a:pPr>
            <a:r>
              <a:rPr lang="en-US" sz="1000" b="1" dirty="0">
                <a:solidFill>
                  <a:srgbClr val="334150"/>
                </a:solidFill>
                <a:latin typeface="Calibri" pitchFamily="34" charset="0"/>
                <a:ea typeface="Calibri" pitchFamily="34" charset="-122"/>
                <a:cs typeface="Calibri" pitchFamily="34" charset="-120"/>
              </a:rPr>
              <a:t>0.5 mm per pixel</a:t>
            </a:r>
            <a:endParaRPr lang="en-US" sz="1000" dirty="0"/>
          </a:p>
        </p:txBody>
      </p:sp>
      <p:pic>
        <p:nvPicPr>
          <p:cNvPr id="64" name="Image 18" descr="img/icons/cpu-navy.png">    </p:cNvPr>
          <p:cNvPicPr>
            <a:picLocks noChangeAspect="1"/>
          </p:cNvPicPr>
          <p:nvPr/>
        </p:nvPicPr>
        <p:blipFill>
          <a:blip r:embed="rId21"/>
          <a:stretch>
            <a:fillRect/>
          </a:stretch>
        </p:blipFill>
        <p:spPr>
          <a:xfrm>
            <a:off x="2395728" y="4206240"/>
            <a:ext cx="192024" cy="192024"/>
          </a:xfrm>
          <a:prstGeom prst="rect">
            <a:avLst/>
          </a:prstGeom>
        </p:spPr>
      </p:pic>
      <p:pic>
        <p:nvPicPr>
          <p:cNvPr id="65" name="Image 19" descr="img/icons/cpu-navy.png">    </p:cNvPr>
          <p:cNvPicPr>
            <a:picLocks noChangeAspect="1"/>
          </p:cNvPicPr>
          <p:nvPr/>
        </p:nvPicPr>
        <p:blipFill>
          <a:blip r:embed="rId22"/>
          <a:stretch>
            <a:fillRect/>
          </a:stretch>
        </p:blipFill>
        <p:spPr>
          <a:xfrm>
            <a:off x="2633472" y="4206240"/>
            <a:ext cx="192024" cy="192024"/>
          </a:xfrm>
          <a:prstGeom prst="rect">
            <a:avLst/>
          </a:prstGeom>
        </p:spPr>
      </p:pic>
      <p:pic>
        <p:nvPicPr>
          <p:cNvPr id="66" name="Image 20" descr="img/icons/cpu-navy.png">    </p:cNvPr>
          <p:cNvPicPr>
            <a:picLocks noChangeAspect="1"/>
          </p:cNvPicPr>
          <p:nvPr/>
        </p:nvPicPr>
        <p:blipFill>
          <a:blip r:embed="rId23"/>
          <a:stretch>
            <a:fillRect/>
          </a:stretch>
        </p:blipFill>
        <p:spPr>
          <a:xfrm>
            <a:off x="2871216" y="4206240"/>
            <a:ext cx="192024" cy="192024"/>
          </a:xfrm>
          <a:prstGeom prst="rect">
            <a:avLst/>
          </a:prstGeom>
        </p:spPr>
      </p:pic>
      <p:sp>
        <p:nvSpPr>
          <p:cNvPr id="67" name="Text 42"/>
          <p:cNvSpPr txBox="1"/>
          <p:nvPr/>
        </p:nvSpPr>
        <p:spPr>
          <a:xfrm>
            <a:off x="2395728"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~3 processors</a:t>
            </a:r>
            <a:endParaRPr lang="en-US" sz="1100" dirty="0"/>
          </a:p>
        </p:txBody>
      </p:sp>
      <p:sp>
        <p:nvSpPr>
          <p:cNvPr id="68" name="Text 43"/>
          <p:cNvSpPr txBox="1"/>
          <p:nvPr/>
        </p:nvSpPr>
        <p:spPr>
          <a:xfrm>
            <a:off x="2395728"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sees defects from ~1.3 mm</a:t>
            </a:r>
            <a:endParaRPr lang="en-US" sz="900" dirty="0"/>
          </a:p>
        </p:txBody>
      </p:sp>
      <p:sp>
        <p:nvSpPr>
          <p:cNvPr id="69" name="Shape 44"/>
          <p:cNvSpPr/>
          <p:nvPr/>
        </p:nvSpPr>
        <p:spPr>
          <a:xfrm>
            <a:off x="4114800" y="3986784"/>
            <a:ext cx="9144" cy="1298448"/>
          </a:xfrm>
          <a:prstGeom prst="rect">
            <a:avLst/>
          </a:prstGeom>
          <a:solidFill>
            <a:srgbClr val="D5DCE3"/>
          </a:solidFill>
          <a:ln w="12700">
            <a:solidFill>
              <a:srgbClr val="D5DCE3"/>
            </a:solidFill>
            <a:prstDash val="solid"/>
          </a:ln>
        </p:spPr>
      </p:sp>
      <p:sp>
        <p:nvSpPr>
          <p:cNvPr id="70" name="Text 45"/>
          <p:cNvSpPr txBox="1"/>
          <p:nvPr/>
        </p:nvSpPr>
        <p:spPr>
          <a:xfrm>
            <a:off x="4206240" y="3950208"/>
            <a:ext cx="1691640" cy="219456"/>
          </a:xfrm>
          <a:prstGeom prst="rect">
            <a:avLst/>
          </a:prstGeom>
          <a:noFill/>
          <a:ln/>
        </p:spPr>
        <p:txBody>
          <a:bodyPr wrap="square" lIns="0" tIns="0" rIns="0" bIns="0" rtlCol="0" anchor="t"/>
          <a:lstStyle/>
          <a:p>
            <a:pPr indent="0" marL="0">
              <a:buNone/>
            </a:pPr>
            <a:r>
              <a:rPr lang="en-US" sz="1000" b="1" dirty="0">
                <a:solidFill>
                  <a:srgbClr val="334150"/>
                </a:solidFill>
                <a:latin typeface="Calibri" pitchFamily="34" charset="0"/>
                <a:ea typeface="Calibri" pitchFamily="34" charset="-122"/>
                <a:cs typeface="Calibri" pitchFamily="34" charset="-120"/>
              </a:rPr>
              <a:t>1.28 mm per pixel</a:t>
            </a:r>
            <a:endParaRPr lang="en-US" sz="1000" dirty="0"/>
          </a:p>
        </p:txBody>
      </p:sp>
      <p:pic>
        <p:nvPicPr>
          <p:cNvPr id="71" name="Image 21" descr="img/icons/cpu-navy.png">    </p:cNvPr>
          <p:cNvPicPr>
            <a:picLocks noChangeAspect="1"/>
          </p:cNvPicPr>
          <p:nvPr/>
        </p:nvPicPr>
        <p:blipFill>
          <a:blip r:embed="rId24"/>
          <a:stretch>
            <a:fillRect/>
          </a:stretch>
        </p:blipFill>
        <p:spPr>
          <a:xfrm>
            <a:off x="4206240" y="4206240"/>
            <a:ext cx="192024" cy="192024"/>
          </a:xfrm>
          <a:prstGeom prst="rect">
            <a:avLst/>
          </a:prstGeom>
        </p:spPr>
      </p:pic>
      <p:sp>
        <p:nvSpPr>
          <p:cNvPr id="72" name="Text 46"/>
          <p:cNvSpPr txBox="1"/>
          <p:nvPr/>
        </p:nvSpPr>
        <p:spPr>
          <a:xfrm>
            <a:off x="4206240"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1 processor</a:t>
            </a:r>
            <a:endParaRPr lang="en-US" sz="1100" dirty="0"/>
          </a:p>
        </p:txBody>
      </p:sp>
      <p:sp>
        <p:nvSpPr>
          <p:cNvPr id="73" name="Text 47"/>
          <p:cNvSpPr txBox="1"/>
          <p:nvPr/>
        </p:nvSpPr>
        <p:spPr>
          <a:xfrm>
            <a:off x="4206240"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fine scratches vanish (~3 mm)</a:t>
            </a:r>
            <a:endParaRPr lang="en-US" sz="900" dirty="0"/>
          </a:p>
        </p:txBody>
      </p:sp>
      <p:sp>
        <p:nvSpPr>
          <p:cNvPr id="74" name="Text 48"/>
          <p:cNvSpPr txBox="1"/>
          <p:nvPr/>
        </p:nvSpPr>
        <p:spPr>
          <a:xfrm>
            <a:off x="585216" y="5330952"/>
            <a:ext cx="530352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1.28 m strip at 250 m/min. Processors scale with pixels; a defect needs 2-3 pixels.</a:t>
            </a:r>
            <a:endParaRPr lang="en-US" sz="900" dirty="0"/>
          </a:p>
        </p:txBody>
      </p:sp>
      <p:sp>
        <p:nvSpPr>
          <p:cNvPr id="75" name="Text 49"/>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76" name="Shape 50"/>
          <p:cNvSpPr/>
          <p:nvPr/>
        </p:nvSpPr>
        <p:spPr>
          <a:xfrm>
            <a:off x="6190488" y="3630168"/>
            <a:ext cx="5541264" cy="274320"/>
          </a:xfrm>
          <a:prstGeom prst="rect">
            <a:avLst/>
          </a:prstGeom>
          <a:solidFill>
            <a:srgbClr val="2B5B80"/>
          </a:solidFill>
          <a:ln w="12700">
            <a:solidFill>
              <a:srgbClr val="2B5B80"/>
            </a:solidFill>
            <a:prstDash val="solid"/>
          </a:ln>
        </p:spPr>
      </p:sp>
      <p:sp>
        <p:nvSpPr>
          <p:cNvPr id="77" name="Text 51"/>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78" name="Shape 52"/>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79" name="Shape 53"/>
          <p:cNvSpPr/>
          <p:nvPr/>
        </p:nvSpPr>
        <p:spPr>
          <a:xfrm>
            <a:off x="6327648" y="4087368"/>
            <a:ext cx="457200" cy="457200"/>
          </a:xfrm>
          <a:prstGeom prst="ellipse">
            <a:avLst/>
          </a:prstGeom>
          <a:solidFill>
            <a:srgbClr val="143A5A"/>
          </a:solidFill>
          <a:ln w="12700">
            <a:solidFill>
              <a:srgbClr val="143A5A"/>
            </a:solidFill>
            <a:prstDash val="solid"/>
          </a:ln>
        </p:spPr>
      </p:sp>
      <p:pic>
        <p:nvPicPr>
          <p:cNvPr id="80" name="Image 22" descr="img/icons/target-white.png">    </p:cNvPr>
          <p:cNvPicPr>
            <a:picLocks noChangeAspect="1"/>
          </p:cNvPicPr>
          <p:nvPr/>
        </p:nvPicPr>
        <p:blipFill>
          <a:blip r:embed="rId25"/>
          <a:stretch>
            <a:fillRect/>
          </a:stretch>
        </p:blipFill>
        <p:spPr>
          <a:xfrm>
            <a:off x="6428232" y="4187952"/>
            <a:ext cx="256032" cy="256032"/>
          </a:xfrm>
          <a:prstGeom prst="rect">
            <a:avLst/>
          </a:prstGeom>
        </p:spPr>
      </p:pic>
      <p:sp>
        <p:nvSpPr>
          <p:cNvPr id="81" name="Text 54"/>
          <p:cNvSpPr txBox="1"/>
          <p:nvPr/>
        </p:nvSpPr>
        <p:spPr>
          <a:xfrm>
            <a:off x="6903720" y="4041648"/>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±3 pts</a:t>
            </a:r>
            <a:endParaRPr lang="en-US" sz="1800" dirty="0"/>
          </a:p>
        </p:txBody>
      </p:sp>
      <p:sp>
        <p:nvSpPr>
          <p:cNvPr id="82" name="Text 55"/>
          <p:cNvSpPr txBox="1"/>
          <p:nvPr/>
        </p:nvSpPr>
        <p:spPr>
          <a:xfrm>
            <a:off x="8412480" y="4041648"/>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between stated confidence and reality, so a "70%" alarm is right about 70% of the time</a:t>
            </a:r>
            <a:endParaRPr lang="en-US" sz="950" dirty="0"/>
          </a:p>
        </p:txBody>
      </p:sp>
      <p:sp>
        <p:nvSpPr>
          <p:cNvPr id="83" name="Shape 56"/>
          <p:cNvSpPr/>
          <p:nvPr/>
        </p:nvSpPr>
        <p:spPr>
          <a:xfrm>
            <a:off x="6327648" y="4800600"/>
            <a:ext cx="457200" cy="457200"/>
          </a:xfrm>
          <a:prstGeom prst="ellipse">
            <a:avLst/>
          </a:prstGeom>
          <a:solidFill>
            <a:srgbClr val="143A5A"/>
          </a:solidFill>
          <a:ln w="12700">
            <a:solidFill>
              <a:srgbClr val="143A5A"/>
            </a:solidFill>
            <a:prstDash val="solid"/>
          </a:ln>
        </p:spPr>
      </p:sp>
      <p:pic>
        <p:nvPicPr>
          <p:cNvPr id="84" name="Image 23" descr="img/icons/shield-check-white.png">    </p:cNvPr>
          <p:cNvPicPr>
            <a:picLocks noChangeAspect="1"/>
          </p:cNvPicPr>
          <p:nvPr/>
        </p:nvPicPr>
        <p:blipFill>
          <a:blip r:embed="rId26"/>
          <a:stretch>
            <a:fillRect/>
          </a:stretch>
        </p:blipFill>
        <p:spPr>
          <a:xfrm>
            <a:off x="6428232" y="4901184"/>
            <a:ext cx="256032" cy="256032"/>
          </a:xfrm>
          <a:prstGeom prst="rect">
            <a:avLst/>
          </a:prstGeom>
        </p:spPr>
      </p:pic>
      <p:sp>
        <p:nvSpPr>
          <p:cNvPr id="85" name="Text 57"/>
          <p:cNvSpPr txBox="1"/>
          <p:nvPr/>
        </p:nvSpPr>
        <p:spPr>
          <a:xfrm>
            <a:off x="6903720" y="4754880"/>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0 of 3,200</a:t>
            </a:r>
            <a:endParaRPr lang="en-US" sz="1800" dirty="0"/>
          </a:p>
        </p:txBody>
      </p:sp>
      <p:sp>
        <p:nvSpPr>
          <p:cNvPr id="86" name="Text 58"/>
          <p:cNvSpPr txBox="1"/>
          <p:nvPr/>
        </p:nvSpPr>
        <p:spPr>
          <a:xfrm>
            <a:off x="8412480" y="4754880"/>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a:t>
            </a:r>
            <a:endParaRPr lang="en-US" sz="950" dirty="0"/>
          </a:p>
        </p:txBody>
      </p:sp>
      <p:sp>
        <p:nvSpPr>
          <p:cNvPr id="87" name="Text 59"/>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every alarm carries a trustworthy confidence and a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model: vendor-grade capture with a detector trained on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188720"/>
          </a:xfrm>
          <a:prstGeom prst="roundRect">
            <a:avLst>
              <a:gd name="adj" fmla="val 4615"/>
            </a:avLst>
          </a:prstGeom>
          <a:solidFill>
            <a:srgbClr val="F1F4F7"/>
          </a:solidFill>
          <a:ln w="12700">
            <a:solidFill>
              <a:srgbClr val="F1F4F7"/>
            </a:solidFill>
            <a:prstDash val="solid"/>
          </a:ln>
        </p:spPr>
      </p:sp>
      <p:sp>
        <p:nvSpPr>
          <p:cNvPr id="20" name="Shape 18"/>
          <p:cNvSpPr/>
          <p:nvPr/>
        </p:nvSpPr>
        <p:spPr>
          <a:xfrm>
            <a:off x="566928" y="1627632"/>
            <a:ext cx="420624" cy="420624"/>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59465" y="1720169"/>
            <a:ext cx="235549" cy="235549"/>
          </a:xfrm>
          <a:prstGeom prst="rect">
            <a:avLst/>
          </a:prstGeom>
        </p:spPr>
      </p:pic>
      <p:sp>
        <p:nvSpPr>
          <p:cNvPr id="22" name="Text 19"/>
          <p:cNvSpPr txBox="1"/>
          <p:nvPr/>
        </p:nvSpPr>
        <p:spPr>
          <a:xfrm>
            <a:off x="1060704"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Both faces, bright + dark-field light, 0.2 mm detail</a:t>
            </a:r>
            <a:endParaRPr lang="en-US" sz="900" dirty="0"/>
          </a:p>
        </p:txBody>
      </p:sp>
      <p:sp>
        <p:nvSpPr>
          <p:cNvPr id="24" name="Shape 21"/>
          <p:cNvSpPr/>
          <p:nvPr/>
        </p:nvSpPr>
        <p:spPr>
          <a:xfrm>
            <a:off x="566928" y="2505456"/>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01168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188720"/>
          </a:xfrm>
          <a:prstGeom prst="roundRect">
            <a:avLst>
              <a:gd name="adj" fmla="val 4615"/>
            </a:avLst>
          </a:prstGeom>
          <a:solidFill>
            <a:srgbClr val="F1F4F7"/>
          </a:solidFill>
          <a:ln w="12700">
            <a:solidFill>
              <a:srgbClr val="F1F4F7"/>
            </a:solidFill>
            <a:prstDash val="solid"/>
          </a:ln>
        </p:spPr>
      </p:sp>
      <p:sp>
        <p:nvSpPr>
          <p:cNvPr id="28" name="Shape 25"/>
          <p:cNvSpPr/>
          <p:nvPr/>
        </p:nvSpPr>
        <p:spPr>
          <a:xfrm>
            <a:off x="2465222" y="1627632"/>
            <a:ext cx="420624" cy="420624"/>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57760" y="1720169"/>
            <a:ext cx="235549" cy="235549"/>
          </a:xfrm>
          <a:prstGeom prst="rect">
            <a:avLst/>
          </a:prstGeom>
        </p:spPr>
      </p:pic>
      <p:sp>
        <p:nvSpPr>
          <p:cNvPr id="30" name="Text 26"/>
          <p:cNvSpPr txBox="1"/>
          <p:nvPr/>
        </p:nvSpPr>
        <p:spPr>
          <a:xfrm>
            <a:off x="2958998"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Is it usable steel? If not, skip it</a:t>
            </a:r>
            <a:endParaRPr lang="en-US" sz="900" dirty="0"/>
          </a:p>
        </p:txBody>
      </p:sp>
      <p:sp>
        <p:nvSpPr>
          <p:cNvPr id="32" name="Shape 28"/>
          <p:cNvSpPr/>
          <p:nvPr/>
        </p:nvSpPr>
        <p:spPr>
          <a:xfrm>
            <a:off x="2465222" y="2505456"/>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01168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188720"/>
          </a:xfrm>
          <a:prstGeom prst="roundRect">
            <a:avLst>
              <a:gd name="adj" fmla="val 4615"/>
            </a:avLst>
          </a:prstGeom>
          <a:solidFill>
            <a:srgbClr val="F1F4F7"/>
          </a:solidFill>
          <a:ln w="12700">
            <a:solidFill>
              <a:srgbClr val="F1F4F7"/>
            </a:solidFill>
            <a:prstDash val="solid"/>
          </a:ln>
        </p:spPr>
      </p:sp>
      <p:sp>
        <p:nvSpPr>
          <p:cNvPr id="36" name="Shape 32"/>
          <p:cNvSpPr/>
          <p:nvPr/>
        </p:nvSpPr>
        <p:spPr>
          <a:xfrm>
            <a:off x="4363517" y="1627632"/>
            <a:ext cx="420624" cy="420624"/>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56054" y="1720169"/>
            <a:ext cx="235549" cy="235549"/>
          </a:xfrm>
          <a:prstGeom prst="rect">
            <a:avLst/>
          </a:prstGeom>
        </p:spPr>
      </p:pic>
      <p:sp>
        <p:nvSpPr>
          <p:cNvPr id="38" name="Text 33"/>
          <p:cNvSpPr txBox="1"/>
          <p:nvPr/>
        </p:nvSpPr>
        <p:spPr>
          <a:xfrm>
            <a:off x="4857293"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Find and classify every defect</a:t>
            </a:r>
            <a:endParaRPr lang="en-US" sz="900" dirty="0"/>
          </a:p>
        </p:txBody>
      </p:sp>
      <p:sp>
        <p:nvSpPr>
          <p:cNvPr id="40" name="Shape 35"/>
          <p:cNvSpPr/>
          <p:nvPr/>
        </p:nvSpPr>
        <p:spPr>
          <a:xfrm>
            <a:off x="4363517" y="2505456"/>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01168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188720"/>
          </a:xfrm>
          <a:prstGeom prst="roundRect">
            <a:avLst>
              <a:gd name="adj" fmla="val 4615"/>
            </a:avLst>
          </a:prstGeom>
          <a:solidFill>
            <a:srgbClr val="F1F4F7"/>
          </a:solidFill>
          <a:ln w="12700">
            <a:solidFill>
              <a:srgbClr val="F1F4F7"/>
            </a:solidFill>
            <a:prstDash val="solid"/>
          </a:ln>
        </p:spPr>
      </p:sp>
      <p:sp>
        <p:nvSpPr>
          <p:cNvPr id="44" name="Shape 39"/>
          <p:cNvSpPr/>
          <p:nvPr/>
        </p:nvSpPr>
        <p:spPr>
          <a:xfrm>
            <a:off x="6261811" y="1627632"/>
            <a:ext cx="420624" cy="420624"/>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54348" y="1720169"/>
            <a:ext cx="235549" cy="235549"/>
          </a:xfrm>
          <a:prstGeom prst="rect">
            <a:avLst/>
          </a:prstGeom>
        </p:spPr>
      </p:pic>
      <p:sp>
        <p:nvSpPr>
          <p:cNvPr id="46" name="Text 40"/>
          <p:cNvSpPr txBox="1"/>
          <p:nvPr/>
        </p:nvSpPr>
        <p:spPr>
          <a:xfrm>
            <a:off x="6755587"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Confidence, severity 0-100, coil position</a:t>
            </a:r>
            <a:endParaRPr lang="en-US" sz="900" dirty="0"/>
          </a:p>
        </p:txBody>
      </p:sp>
      <p:sp>
        <p:nvSpPr>
          <p:cNvPr id="48" name="Shape 42"/>
          <p:cNvSpPr/>
          <p:nvPr/>
        </p:nvSpPr>
        <p:spPr>
          <a:xfrm>
            <a:off x="6261811" y="2505456"/>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01168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188720"/>
          </a:xfrm>
          <a:prstGeom prst="roundRect">
            <a:avLst>
              <a:gd name="adj" fmla="val 4615"/>
            </a:avLst>
          </a:prstGeom>
          <a:solidFill>
            <a:srgbClr val="F1F4F7"/>
          </a:solidFill>
          <a:ln w="12700">
            <a:solidFill>
              <a:srgbClr val="F1F4F7"/>
            </a:solidFill>
            <a:prstDash val="solid"/>
          </a:ln>
        </p:spPr>
      </p:sp>
      <p:sp>
        <p:nvSpPr>
          <p:cNvPr id="52" name="Shape 46"/>
          <p:cNvSpPr/>
          <p:nvPr/>
        </p:nvSpPr>
        <p:spPr>
          <a:xfrm>
            <a:off x="8160106" y="1627632"/>
            <a:ext cx="420624" cy="420624"/>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52643" y="1720169"/>
            <a:ext cx="235549" cy="235549"/>
          </a:xfrm>
          <a:prstGeom prst="rect">
            <a:avLst/>
          </a:prstGeom>
        </p:spPr>
      </p:pic>
      <p:sp>
        <p:nvSpPr>
          <p:cNvPr id="54" name="Text 47"/>
          <p:cNvSpPr txBox="1"/>
          <p:nvPr/>
        </p:nvSpPr>
        <p:spPr>
          <a:xfrm>
            <a:off x="8653882"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Accept, downgrade or hold, per grade</a:t>
            </a:r>
            <a:endParaRPr lang="en-US" sz="900" dirty="0"/>
          </a:p>
        </p:txBody>
      </p:sp>
      <p:sp>
        <p:nvSpPr>
          <p:cNvPr id="56" name="Shape 49"/>
          <p:cNvSpPr/>
          <p:nvPr/>
        </p:nvSpPr>
        <p:spPr>
          <a:xfrm>
            <a:off x="8160106" y="2505456"/>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01168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188720"/>
          </a:xfrm>
          <a:prstGeom prst="roundRect">
            <a:avLst>
              <a:gd name="adj" fmla="val 4615"/>
            </a:avLst>
          </a:prstGeom>
          <a:solidFill>
            <a:srgbClr val="E4EEF6"/>
          </a:solidFill>
          <a:ln w="12700">
            <a:solidFill>
              <a:srgbClr val="E4EEF6"/>
            </a:solidFill>
            <a:prstDash val="solid"/>
          </a:ln>
        </p:spPr>
      </p:sp>
      <p:sp>
        <p:nvSpPr>
          <p:cNvPr id="60" name="Shape 53"/>
          <p:cNvSpPr/>
          <p:nvPr/>
        </p:nvSpPr>
        <p:spPr>
          <a:xfrm>
            <a:off x="10058400" y="1627632"/>
            <a:ext cx="420624" cy="420624"/>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0937" y="1720169"/>
            <a:ext cx="235549" cy="235549"/>
          </a:xfrm>
          <a:prstGeom prst="rect">
            <a:avLst/>
          </a:prstGeom>
        </p:spPr>
      </p:pic>
      <p:sp>
        <p:nvSpPr>
          <p:cNvPr id="62" name="Text 54"/>
          <p:cNvSpPr txBox="1"/>
          <p:nvPr/>
        </p:nvSpPr>
        <p:spPr>
          <a:xfrm>
            <a:off x="10552176"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Alert, hold, work order; corrections retrain it</a:t>
            </a:r>
            <a:endParaRPr lang="en-US" sz="900" dirty="0"/>
          </a:p>
        </p:txBody>
      </p:sp>
      <p:sp>
        <p:nvSpPr>
          <p:cNvPr id="64" name="Shape 56"/>
          <p:cNvSpPr/>
          <p:nvPr/>
        </p:nvSpPr>
        <p:spPr>
          <a:xfrm>
            <a:off x="10058400" y="2505456"/>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2816352"/>
            <a:ext cx="1783080" cy="45720"/>
          </a:xfrm>
          <a:prstGeom prst="rect">
            <a:avLst/>
          </a:prstGeom>
          <a:solidFill>
            <a:srgbClr val="5F6B78"/>
          </a:solidFill>
          <a:ln w="12700">
            <a:solidFill>
              <a:srgbClr val="5F6B78"/>
            </a:solidFill>
            <a:prstDash val="solid"/>
          </a:ln>
        </p:spPr>
      </p:sp>
      <p:sp>
        <p:nvSpPr>
          <p:cNvPr id="67" name="Text 59"/>
          <p:cNvSpPr txBox="1"/>
          <p:nvPr/>
        </p:nvSpPr>
        <p:spPr>
          <a:xfrm>
            <a:off x="457200" y="2871216"/>
            <a:ext cx="1783080" cy="219456"/>
          </a:xfrm>
          <a:prstGeom prst="rect">
            <a:avLst/>
          </a:prstGeom>
          <a:noFill/>
          <a:ln/>
        </p:spPr>
        <p:txBody>
          <a:bodyPr wrap="square" lIns="0" tIns="0" rIns="0" bIns="0" rtlCol="0" anchor="ctr"/>
          <a:lstStyle/>
          <a:p>
            <a:pPr algn="ctr" indent="0" marL="0">
              <a:buNone/>
            </a:pPr>
            <a:r>
              <a:rPr lang="en-US" sz="900" b="1" dirty="0">
                <a:solidFill>
                  <a:srgbClr val="5F6B78"/>
                </a:solidFill>
                <a:latin typeface="Calibri" pitchFamily="34" charset="0"/>
                <a:ea typeface="Calibri" pitchFamily="34" charset="-122"/>
                <a:cs typeface="Calibri" pitchFamily="34" charset="-120"/>
              </a:rPr>
              <a:t>At the line: cameras, lights</a:t>
            </a:r>
            <a:endParaRPr lang="en-US" sz="900" dirty="0"/>
          </a:p>
        </p:txBody>
      </p:sp>
      <p:sp>
        <p:nvSpPr>
          <p:cNvPr id="68" name="Shape 60"/>
          <p:cNvSpPr/>
          <p:nvPr/>
        </p:nvSpPr>
        <p:spPr>
          <a:xfrm>
            <a:off x="2355494" y="2816352"/>
            <a:ext cx="5579669" cy="45720"/>
          </a:xfrm>
          <a:prstGeom prst="rect">
            <a:avLst/>
          </a:prstGeom>
          <a:solidFill>
            <a:srgbClr val="0086C3"/>
          </a:solidFill>
          <a:ln w="12700">
            <a:solidFill>
              <a:srgbClr val="0086C3"/>
            </a:solidFill>
            <a:prstDash val="solid"/>
          </a:ln>
        </p:spPr>
      </p:sp>
      <p:sp>
        <p:nvSpPr>
          <p:cNvPr id="69" name="Text 61"/>
          <p:cNvSpPr txBox="1"/>
          <p:nvPr/>
        </p:nvSpPr>
        <p:spPr>
          <a:xfrm>
            <a:off x="2355494" y="2871216"/>
            <a:ext cx="5579669" cy="219456"/>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Edge server beside the line: runs offline, ~55 ms per image</a:t>
            </a:r>
            <a:endParaRPr lang="en-US" sz="900" dirty="0"/>
          </a:p>
        </p:txBody>
      </p:sp>
      <p:sp>
        <p:nvSpPr>
          <p:cNvPr id="70" name="Shape 62"/>
          <p:cNvSpPr/>
          <p:nvPr/>
        </p:nvSpPr>
        <p:spPr>
          <a:xfrm>
            <a:off x="8050378" y="2816352"/>
            <a:ext cx="1783080" cy="45720"/>
          </a:xfrm>
          <a:prstGeom prst="rect">
            <a:avLst/>
          </a:prstGeom>
          <a:solidFill>
            <a:srgbClr val="2B5B80"/>
          </a:solidFill>
          <a:ln w="12700">
            <a:solidFill>
              <a:srgbClr val="2B5B80"/>
            </a:solidFill>
            <a:prstDash val="solid"/>
          </a:ln>
        </p:spPr>
      </p:sp>
      <p:sp>
        <p:nvSpPr>
          <p:cNvPr id="71" name="Text 63"/>
          <p:cNvSpPr txBox="1"/>
          <p:nvPr/>
        </p:nvSpPr>
        <p:spPr>
          <a:xfrm>
            <a:off x="8050378" y="2871216"/>
            <a:ext cx="1783080" cy="219456"/>
          </a:xfrm>
          <a:prstGeom prst="rect">
            <a:avLst/>
          </a:prstGeom>
          <a:noFill/>
          <a:ln/>
        </p:spPr>
        <p:txBody>
          <a:bodyPr wrap="square" lIns="0" tIns="0" rIns="0" bIns="0" rtlCol="0" anchor="ctr"/>
          <a:lstStyle/>
          <a:p>
            <a:pPr algn="ctr" indent="0" marL="0">
              <a:buNone/>
            </a:pPr>
            <a:r>
              <a:rPr lang="en-US" sz="900" b="1" dirty="0">
                <a:solidFill>
                  <a:srgbClr val="2B5B80"/>
                </a:solidFill>
                <a:latin typeface="Calibri" pitchFamily="34" charset="0"/>
                <a:ea typeface="Calibri" pitchFamily="34" charset="-122"/>
                <a:cs typeface="Calibri" pitchFamily="34" charset="-120"/>
              </a:rPr>
              <a:t>Plant network (IEC 62443)</a:t>
            </a:r>
            <a:endParaRPr lang="en-US" sz="900" dirty="0"/>
          </a:p>
        </p:txBody>
      </p:sp>
      <p:sp>
        <p:nvSpPr>
          <p:cNvPr id="72" name="Shape 64"/>
          <p:cNvSpPr/>
          <p:nvPr/>
        </p:nvSpPr>
        <p:spPr>
          <a:xfrm>
            <a:off x="9948672" y="2816352"/>
            <a:ext cx="1783080" cy="45720"/>
          </a:xfrm>
          <a:prstGeom prst="rect">
            <a:avLst/>
          </a:prstGeom>
          <a:solidFill>
            <a:srgbClr val="143A5A"/>
          </a:solidFill>
          <a:ln w="12700">
            <a:solidFill>
              <a:srgbClr val="143A5A"/>
            </a:solidFill>
            <a:prstDash val="solid"/>
          </a:ln>
        </p:spPr>
      </p:sp>
      <p:sp>
        <p:nvSpPr>
          <p:cNvPr id="73" name="Text 65"/>
          <p:cNvSpPr txBox="1"/>
          <p:nvPr/>
        </p:nvSpPr>
        <p:spPr>
          <a:xfrm>
            <a:off x="9948672" y="2871216"/>
            <a:ext cx="1783080" cy="219456"/>
          </a:xfrm>
          <a:prstGeom prst="rect">
            <a:avLst/>
          </a:prstGeom>
          <a:noFill/>
          <a:ln/>
        </p:spPr>
        <p:txBody>
          <a:bodyPr wrap="square" lIns="0" tIns="0" rIns="0" bIns="0" rtlCol="0" anchor="ctr"/>
          <a:lstStyle/>
          <a:p>
            <a:pPr algn="ctr" indent="0" marL="0">
              <a:buNone/>
            </a:pPr>
            <a:r>
              <a:rPr lang="en-US" sz="900" b="1" dirty="0">
                <a:solidFill>
                  <a:srgbClr val="143A5A"/>
                </a:solidFill>
                <a:latin typeface="Calibri" pitchFamily="34" charset="0"/>
                <a:ea typeface="Calibri" pitchFamily="34" charset="-122"/>
                <a:cs typeface="Calibri" pitchFamily="34" charset="-120"/>
              </a:rPr>
              <a:t>People: screen, work orders</a:t>
            </a:r>
            <a:endParaRPr lang="en-US" sz="900" dirty="0"/>
          </a:p>
        </p:txBody>
      </p:sp>
      <p:sp>
        <p:nvSpPr>
          <p:cNvPr id="74" name="Shape 66"/>
          <p:cNvSpPr/>
          <p:nvPr/>
        </p:nvSpPr>
        <p:spPr>
          <a:xfrm>
            <a:off x="457200" y="3218688"/>
            <a:ext cx="3429000" cy="274320"/>
          </a:xfrm>
          <a:prstGeom prst="rect">
            <a:avLst/>
          </a:prstGeom>
          <a:solidFill>
            <a:srgbClr val="2B5B80"/>
          </a:solidFill>
          <a:ln w="12700">
            <a:solidFill>
              <a:srgbClr val="2B5B80"/>
            </a:solidFill>
            <a:prstDash val="solid"/>
          </a:ln>
        </p:spPr>
      </p:sp>
      <p:sp>
        <p:nvSpPr>
          <p:cNvPr id="75" name="Text 67"/>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76" name="Shape 68"/>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77"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8" name="Text 69"/>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9" name="Text 70"/>
          <p:cNvSpPr txBox="1"/>
          <p:nvPr/>
        </p:nvSpPr>
        <p:spPr>
          <a:xfrm>
            <a:off x="2487168" y="4846320"/>
            <a:ext cx="1371600" cy="603504"/>
          </a:xfrm>
          <a:prstGeom prst="rect">
            <a:avLst/>
          </a:prstGeom>
          <a:noFill/>
          <a:ln/>
        </p:spPr>
        <p:txBody>
          <a:bodyPr wrap="square" lIns="0" tIns="0" rIns="0" bIns="0" rtlCol="0" anchor="t"/>
          <a:lstStyle/>
          <a:p>
            <a:pPr indent="0" marL="0">
              <a:buNone/>
            </a:pPr>
            <a:r>
              <a:rPr lang="en-US" sz="900" b="1" dirty="0">
                <a:solidFill>
                  <a:srgbClr val="143A5A"/>
                </a:solidFill>
                <a:latin typeface="Calibri" pitchFamily="34" charset="0"/>
                <a:ea typeface="Calibri" pitchFamily="34" charset="-122"/>
                <a:cs typeface="Calibri" pitchFamily="34" charset="-120"/>
              </a:rPr>
              <a:t>16 samples built in</a:t>
            </a:r>
            <a:pPr indent="0" marL="0">
              <a:buNone/>
            </a:pPr>
            <a:r>
              <a:rPr lang="en-US" sz="900" dirty="0">
                <a:solidFill>
                  <a:srgbClr val="334150"/>
                </a:solidFill>
                <a:latin typeface="Calibri" pitchFamily="34" charset="0"/>
                <a:ea typeface="Calibri" pitchFamily="34" charset="-122"/>
                <a:cs typeface="Calibri" pitchFamily="34" charset="-120"/>
              </a:rPr>
              <a:t>, including clean mill strip. Or drop your own photo.</a:t>
            </a:r>
            <a:endParaRPr lang="en-US" sz="900" dirty="0"/>
          </a:p>
        </p:txBody>
      </p:sp>
      <p:sp>
        <p:nvSpPr>
          <p:cNvPr id="80" name="Text 71"/>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81" name="Shape 72"/>
          <p:cNvSpPr/>
          <p:nvPr/>
        </p:nvSpPr>
        <p:spPr>
          <a:xfrm>
            <a:off x="4041648" y="3218688"/>
            <a:ext cx="3749040" cy="274320"/>
          </a:xfrm>
          <a:prstGeom prst="rect">
            <a:avLst/>
          </a:prstGeom>
          <a:solidFill>
            <a:srgbClr val="2B5B80"/>
          </a:solidFill>
          <a:ln w="12700">
            <a:solidFill>
              <a:srgbClr val="2B5B80"/>
            </a:solidFill>
            <a:prstDash val="solid"/>
          </a:ln>
        </p:spPr>
      </p:sp>
      <p:sp>
        <p:nvSpPr>
          <p:cNvPr id="82" name="Text 73"/>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83" name="Shape 74"/>
          <p:cNvSpPr/>
          <p:nvPr/>
        </p:nvSpPr>
        <p:spPr>
          <a:xfrm>
            <a:off x="4114800" y="3611880"/>
            <a:ext cx="402336" cy="402336"/>
          </a:xfrm>
          <a:prstGeom prst="ellipse">
            <a:avLst/>
          </a:prstGeom>
          <a:solidFill>
            <a:srgbClr val="0086C3"/>
          </a:solidFill>
          <a:ln w="12700">
            <a:solidFill>
              <a:srgbClr val="0086C3"/>
            </a:solidFill>
            <a:prstDash val="solid"/>
          </a:ln>
        </p:spPr>
      </p:sp>
      <p:pic>
        <p:nvPicPr>
          <p:cNvPr id="84" name="Image 7" descr="img/icons/layers-white.png">    </p:cNvPr>
          <p:cNvPicPr>
            <a:picLocks noChangeAspect="1"/>
          </p:cNvPicPr>
          <p:nvPr/>
        </p:nvPicPr>
        <p:blipFill>
          <a:blip r:embed="rId8"/>
          <a:stretch>
            <a:fillRect/>
          </a:stretch>
        </p:blipFill>
        <p:spPr>
          <a:xfrm>
            <a:off x="4203314" y="3700394"/>
            <a:ext cx="225308" cy="225308"/>
          </a:xfrm>
          <a:prstGeom prst="rect">
            <a:avLst/>
          </a:prstGeom>
        </p:spPr>
      </p:pic>
      <p:sp>
        <p:nvSpPr>
          <p:cNvPr id="85" name="Text 75"/>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too</a:t>
            </a:r>
            <a:endParaRPr lang="en-US" sz="1050" dirty="0"/>
          </a:p>
        </p:txBody>
      </p:sp>
      <p:sp>
        <p:nvSpPr>
          <p:cNvPr id="86" name="Text 76"/>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only 4.7% of clean strip raises an alarm</a:t>
            </a:r>
            <a:endParaRPr lang="en-US" sz="950" dirty="0"/>
          </a:p>
        </p:txBody>
      </p:sp>
      <p:sp>
        <p:nvSpPr>
          <p:cNvPr id="87" name="Shape 77"/>
          <p:cNvSpPr/>
          <p:nvPr/>
        </p:nvSpPr>
        <p:spPr>
          <a:xfrm>
            <a:off x="4114800" y="4178808"/>
            <a:ext cx="402336" cy="402336"/>
          </a:xfrm>
          <a:prstGeom prst="ellipse">
            <a:avLst/>
          </a:prstGeom>
          <a:solidFill>
            <a:srgbClr val="0086C3"/>
          </a:solidFill>
          <a:ln w="12700">
            <a:solidFill>
              <a:srgbClr val="0086C3"/>
            </a:solidFill>
            <a:prstDash val="solid"/>
          </a:ln>
        </p:spPr>
      </p:sp>
      <p:pic>
        <p:nvPicPr>
          <p:cNvPr id="88"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9" name="Text 78"/>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90" name="Text 79"/>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a:t>
            </a:r>
            <a:endParaRPr lang="en-US" sz="950" dirty="0"/>
          </a:p>
        </p:txBody>
      </p:sp>
      <p:sp>
        <p:nvSpPr>
          <p:cNvPr id="91" name="Shape 80"/>
          <p:cNvSpPr/>
          <p:nvPr/>
        </p:nvSpPr>
        <p:spPr>
          <a:xfrm>
            <a:off x="4114800" y="4745736"/>
            <a:ext cx="402336" cy="402336"/>
          </a:xfrm>
          <a:prstGeom prst="ellipse">
            <a:avLst/>
          </a:prstGeom>
          <a:solidFill>
            <a:srgbClr val="0086C3"/>
          </a:solidFill>
          <a:ln w="12700">
            <a:solidFill>
              <a:srgbClr val="0086C3"/>
            </a:solidFill>
            <a:prstDash val="solid"/>
          </a:ln>
        </p:spPr>
      </p:sp>
      <p:pic>
        <p:nvPicPr>
          <p:cNvPr id="92" name="Image 9" descr="img/icons/microscope-white.png">    </p:cNvPr>
          <p:cNvPicPr>
            <a:picLocks noChangeAspect="1"/>
          </p:cNvPicPr>
          <p:nvPr/>
        </p:nvPicPr>
        <p:blipFill>
          <a:blip r:embed="rId10"/>
          <a:stretch>
            <a:fillRect/>
          </a:stretch>
        </p:blipFill>
        <p:spPr>
          <a:xfrm>
            <a:off x="4203314" y="4834250"/>
            <a:ext cx="225308" cy="225308"/>
          </a:xfrm>
          <a:prstGeom prst="rect">
            <a:avLst/>
          </a:prstGeom>
        </p:spPr>
      </p:pic>
      <p:sp>
        <p:nvSpPr>
          <p:cNvPr id="93" name="Text 81"/>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Unseen-defect check</a:t>
            </a:r>
            <a:endParaRPr lang="en-US" sz="1050" dirty="0"/>
          </a:p>
        </p:txBody>
      </p:sp>
      <p:sp>
        <p:nvSpPr>
          <p:cNvPr id="94" name="Text 82"/>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flags patterns never labelled (proposed)</a:t>
            </a:r>
            <a:endParaRPr lang="en-US" sz="950" dirty="0"/>
          </a:p>
        </p:txBody>
      </p:sp>
      <p:sp>
        <p:nvSpPr>
          <p:cNvPr id="95" name="Shape 83"/>
          <p:cNvSpPr/>
          <p:nvPr/>
        </p:nvSpPr>
        <p:spPr>
          <a:xfrm>
            <a:off x="4114800" y="5312664"/>
            <a:ext cx="402336" cy="402336"/>
          </a:xfrm>
          <a:prstGeom prst="ellipse">
            <a:avLst/>
          </a:prstGeom>
          <a:solidFill>
            <a:srgbClr val="0086C3"/>
          </a:solidFill>
          <a:ln w="12700">
            <a:solidFill>
              <a:srgbClr val="0086C3"/>
            </a:solidFill>
            <a:prstDash val="solid"/>
          </a:ln>
        </p:spPr>
      </p:sp>
      <p:pic>
        <p:nvPicPr>
          <p:cNvPr id="96" name="Image 10" descr="img/icons/archive-white.png">    </p:cNvPr>
          <p:cNvPicPr>
            <a:picLocks noChangeAspect="1"/>
          </p:cNvPicPr>
          <p:nvPr/>
        </p:nvPicPr>
        <p:blipFill>
          <a:blip r:embed="rId11"/>
          <a:stretch>
            <a:fillRect/>
          </a:stretch>
        </p:blipFill>
        <p:spPr>
          <a:xfrm>
            <a:off x="4203314" y="5401178"/>
            <a:ext cx="225308" cy="225308"/>
          </a:xfrm>
          <a:prstGeom prst="rect">
            <a:avLst/>
          </a:prstGeom>
        </p:spPr>
      </p:pic>
      <p:sp>
        <p:nvSpPr>
          <p:cNvPr id="97" name="Text 84"/>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unlabelled coils</a:t>
            </a:r>
            <a:endParaRPr lang="en-US" sz="1050" dirty="0"/>
          </a:p>
        </p:txBody>
      </p:sp>
      <p:sp>
        <p:nvSpPr>
          <p:cNvPr id="98" name="Text 85"/>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JSL's image archive becomes an asset</a:t>
            </a:r>
            <a:endParaRPr lang="en-US" sz="950" dirty="0"/>
          </a:p>
        </p:txBody>
      </p:sp>
      <p:sp>
        <p:nvSpPr>
          <p:cNvPr id="99" name="Shape 86"/>
          <p:cNvSpPr/>
          <p:nvPr/>
        </p:nvSpPr>
        <p:spPr>
          <a:xfrm>
            <a:off x="7955280" y="3218688"/>
            <a:ext cx="3776472" cy="274320"/>
          </a:xfrm>
          <a:prstGeom prst="rect">
            <a:avLst/>
          </a:prstGeom>
          <a:solidFill>
            <a:srgbClr val="2B5B80"/>
          </a:solidFill>
          <a:ln w="12700">
            <a:solidFill>
              <a:srgbClr val="2B5B80"/>
            </a:solidFill>
            <a:prstDash val="solid"/>
          </a:ln>
        </p:spPr>
      </p:sp>
      <p:sp>
        <p:nvSpPr>
          <p:cNvPr id="100" name="Text 87"/>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101" name="Text 88"/>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102" name="Text 89"/>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103" name="Text 90"/>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104" name="Text 91"/>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model</a:t>
            </a:r>
            <a:endParaRPr lang="en-US" sz="900" dirty="0"/>
          </a:p>
        </p:txBody>
      </p:sp>
      <p:sp>
        <p:nvSpPr>
          <p:cNvPr id="105" name="Text 92"/>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106" name="Text 93"/>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107" name="Shape 94"/>
          <p:cNvSpPr/>
          <p:nvPr/>
        </p:nvSpPr>
        <p:spPr>
          <a:xfrm>
            <a:off x="9582912" y="4096512"/>
            <a:ext cx="182880" cy="182880"/>
          </a:xfrm>
          <a:prstGeom prst="ellipse">
            <a:avLst/>
          </a:prstGeom>
          <a:solidFill>
            <a:srgbClr val="C62828"/>
          </a:solidFill>
          <a:ln w="12700">
            <a:solidFill>
              <a:srgbClr val="C62828"/>
            </a:solidFill>
            <a:prstDash val="solid"/>
          </a:ln>
        </p:spPr>
      </p:sp>
      <p:sp>
        <p:nvSpPr>
          <p:cNvPr id="108" name="Shape 95"/>
          <p:cNvSpPr/>
          <p:nvPr/>
        </p:nvSpPr>
        <p:spPr>
          <a:xfrm>
            <a:off x="10158984" y="4096512"/>
            <a:ext cx="182880" cy="182880"/>
          </a:xfrm>
          <a:prstGeom prst="ellipse">
            <a:avLst/>
          </a:prstGeom>
          <a:solidFill>
            <a:srgbClr val="2E7D32"/>
          </a:solidFill>
          <a:ln w="12700">
            <a:solidFill>
              <a:srgbClr val="2E7D32"/>
            </a:solidFill>
            <a:prstDash val="solid"/>
          </a:ln>
        </p:spPr>
      </p:sp>
      <p:sp>
        <p:nvSpPr>
          <p:cNvPr id="109" name="Shape 96"/>
          <p:cNvSpPr/>
          <p:nvPr/>
        </p:nvSpPr>
        <p:spPr>
          <a:xfrm>
            <a:off x="10735056" y="4096512"/>
            <a:ext cx="182880" cy="182880"/>
          </a:xfrm>
          <a:prstGeom prst="ellipse">
            <a:avLst/>
          </a:prstGeom>
          <a:solidFill>
            <a:srgbClr val="B77900"/>
          </a:solidFill>
          <a:ln w="12700">
            <a:solidFill>
              <a:srgbClr val="B77900"/>
            </a:solidFill>
            <a:prstDash val="solid"/>
          </a:ln>
        </p:spPr>
      </p:sp>
      <p:sp>
        <p:nvSpPr>
          <p:cNvPr id="110" name="Shape 97"/>
          <p:cNvSpPr/>
          <p:nvPr/>
        </p:nvSpPr>
        <p:spPr>
          <a:xfrm>
            <a:off x="11311128" y="4096512"/>
            <a:ext cx="182880" cy="182880"/>
          </a:xfrm>
          <a:prstGeom prst="ellipse">
            <a:avLst/>
          </a:prstGeom>
          <a:solidFill>
            <a:srgbClr val="C62828"/>
          </a:solidFill>
          <a:ln w="12700">
            <a:solidFill>
              <a:srgbClr val="C62828"/>
            </a:solidFill>
            <a:prstDash val="solid"/>
          </a:ln>
        </p:spPr>
      </p:sp>
      <p:sp>
        <p:nvSpPr>
          <p:cNvPr id="111" name="Text 98"/>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12" name="Text 99"/>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13" name="Shape 100"/>
          <p:cNvSpPr/>
          <p:nvPr/>
        </p:nvSpPr>
        <p:spPr>
          <a:xfrm>
            <a:off x="9582912" y="4572000"/>
            <a:ext cx="182880" cy="182880"/>
          </a:xfrm>
          <a:prstGeom prst="ellipse">
            <a:avLst/>
          </a:prstGeom>
          <a:solidFill>
            <a:srgbClr val="2E7D32"/>
          </a:solidFill>
          <a:ln w="12700">
            <a:solidFill>
              <a:srgbClr val="2E7D32"/>
            </a:solidFill>
            <a:prstDash val="solid"/>
          </a:ln>
        </p:spPr>
      </p:sp>
      <p:sp>
        <p:nvSpPr>
          <p:cNvPr id="114" name="Shape 101"/>
          <p:cNvSpPr/>
          <p:nvPr/>
        </p:nvSpPr>
        <p:spPr>
          <a:xfrm>
            <a:off x="10158984" y="4572000"/>
            <a:ext cx="182880" cy="182880"/>
          </a:xfrm>
          <a:prstGeom prst="ellipse">
            <a:avLst/>
          </a:prstGeom>
          <a:solidFill>
            <a:srgbClr val="C62828"/>
          </a:solidFill>
          <a:ln w="12700">
            <a:solidFill>
              <a:srgbClr val="C62828"/>
            </a:solidFill>
            <a:prstDash val="solid"/>
          </a:ln>
        </p:spPr>
      </p:sp>
      <p:sp>
        <p:nvSpPr>
          <p:cNvPr id="115" name="Shape 102"/>
          <p:cNvSpPr/>
          <p:nvPr/>
        </p:nvSpPr>
        <p:spPr>
          <a:xfrm>
            <a:off x="10735056" y="4572000"/>
            <a:ext cx="182880" cy="182880"/>
          </a:xfrm>
          <a:prstGeom prst="ellipse">
            <a:avLst/>
          </a:prstGeom>
          <a:solidFill>
            <a:srgbClr val="2E7D32"/>
          </a:solidFill>
          <a:ln w="12700">
            <a:solidFill>
              <a:srgbClr val="2E7D32"/>
            </a:solidFill>
            <a:prstDash val="solid"/>
          </a:ln>
        </p:spPr>
      </p:sp>
      <p:sp>
        <p:nvSpPr>
          <p:cNvPr id="116" name="Shape 103"/>
          <p:cNvSpPr/>
          <p:nvPr/>
        </p:nvSpPr>
        <p:spPr>
          <a:xfrm>
            <a:off x="11311128" y="4572000"/>
            <a:ext cx="182880" cy="182880"/>
          </a:xfrm>
          <a:prstGeom prst="ellipse">
            <a:avLst/>
          </a:prstGeom>
          <a:solidFill>
            <a:srgbClr val="2E7D32"/>
          </a:solidFill>
          <a:ln w="12700">
            <a:solidFill>
              <a:srgbClr val="2E7D32"/>
            </a:solidFill>
            <a:prstDash val="solid"/>
          </a:ln>
        </p:spPr>
      </p:sp>
      <p:sp>
        <p:nvSpPr>
          <p:cNvPr id="117" name="Shape 104"/>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18" name="Text 105"/>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(recommended)</a:t>
            </a:r>
            <a:endParaRPr lang="en-US" sz="1000" dirty="0"/>
          </a:p>
        </p:txBody>
      </p:sp>
      <p:sp>
        <p:nvSpPr>
          <p:cNvPr id="119" name="Text 106"/>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20" name="Shape 107"/>
          <p:cNvSpPr/>
          <p:nvPr/>
        </p:nvSpPr>
        <p:spPr>
          <a:xfrm>
            <a:off x="9582912" y="5047488"/>
            <a:ext cx="182880" cy="182880"/>
          </a:xfrm>
          <a:prstGeom prst="ellipse">
            <a:avLst/>
          </a:prstGeom>
          <a:solidFill>
            <a:srgbClr val="2E7D32"/>
          </a:solidFill>
          <a:ln w="12700">
            <a:solidFill>
              <a:srgbClr val="2E7D32"/>
            </a:solidFill>
            <a:prstDash val="solid"/>
          </a:ln>
        </p:spPr>
      </p:sp>
      <p:sp>
        <p:nvSpPr>
          <p:cNvPr id="121" name="Shape 108"/>
          <p:cNvSpPr/>
          <p:nvPr/>
        </p:nvSpPr>
        <p:spPr>
          <a:xfrm>
            <a:off x="10158984" y="5047488"/>
            <a:ext cx="182880" cy="182880"/>
          </a:xfrm>
          <a:prstGeom prst="ellipse">
            <a:avLst/>
          </a:prstGeom>
          <a:solidFill>
            <a:srgbClr val="B77900"/>
          </a:solidFill>
          <a:ln w="12700">
            <a:solidFill>
              <a:srgbClr val="B77900"/>
            </a:solidFill>
            <a:prstDash val="solid"/>
          </a:ln>
        </p:spPr>
      </p:sp>
      <p:sp>
        <p:nvSpPr>
          <p:cNvPr id="122" name="Shape 109"/>
          <p:cNvSpPr/>
          <p:nvPr/>
        </p:nvSpPr>
        <p:spPr>
          <a:xfrm>
            <a:off x="10735056" y="5047488"/>
            <a:ext cx="182880" cy="182880"/>
          </a:xfrm>
          <a:prstGeom prst="ellipse">
            <a:avLst/>
          </a:prstGeom>
          <a:solidFill>
            <a:srgbClr val="2E7D32"/>
          </a:solidFill>
          <a:ln w="12700">
            <a:solidFill>
              <a:srgbClr val="2E7D32"/>
            </a:solidFill>
            <a:prstDash val="solid"/>
          </a:ln>
        </p:spPr>
      </p:sp>
      <p:sp>
        <p:nvSpPr>
          <p:cNvPr id="123" name="Shape 110"/>
          <p:cNvSpPr/>
          <p:nvPr/>
        </p:nvSpPr>
        <p:spPr>
          <a:xfrm>
            <a:off x="11311128" y="5047488"/>
            <a:ext cx="182880" cy="182880"/>
          </a:xfrm>
          <a:prstGeom prst="ellipse">
            <a:avLst/>
          </a:prstGeom>
          <a:solidFill>
            <a:srgbClr val="2E7D32"/>
          </a:solidFill>
          <a:ln w="12700">
            <a:solidFill>
              <a:srgbClr val="2E7D32"/>
            </a:solidFill>
            <a:prstDash val="solid"/>
          </a:ln>
        </p:spPr>
      </p:sp>
      <p:sp>
        <p:nvSpPr>
          <p:cNvPr id="124" name="Shape 111"/>
          <p:cNvSpPr/>
          <p:nvPr/>
        </p:nvSpPr>
        <p:spPr>
          <a:xfrm>
            <a:off x="8065008" y="5477256"/>
            <a:ext cx="128016" cy="128016"/>
          </a:xfrm>
          <a:prstGeom prst="ellipse">
            <a:avLst/>
          </a:prstGeom>
          <a:solidFill>
            <a:srgbClr val="2E7D32"/>
          </a:solidFill>
          <a:ln w="12700">
            <a:solidFill>
              <a:srgbClr val="2E7D32"/>
            </a:solidFill>
            <a:prstDash val="solid"/>
          </a:ln>
        </p:spPr>
      </p:sp>
      <p:sp>
        <p:nvSpPr>
          <p:cNvPr id="125" name="Text 112"/>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26" name="Shape 113"/>
          <p:cNvSpPr/>
          <p:nvPr/>
        </p:nvSpPr>
        <p:spPr>
          <a:xfrm>
            <a:off x="8842248" y="5477256"/>
            <a:ext cx="128016" cy="128016"/>
          </a:xfrm>
          <a:prstGeom prst="ellipse">
            <a:avLst/>
          </a:prstGeom>
          <a:solidFill>
            <a:srgbClr val="B77900"/>
          </a:solidFill>
          <a:ln w="12700">
            <a:solidFill>
              <a:srgbClr val="B77900"/>
            </a:solidFill>
            <a:prstDash val="solid"/>
          </a:ln>
        </p:spPr>
      </p:sp>
      <p:sp>
        <p:nvSpPr>
          <p:cNvPr id="127" name="Text 114"/>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28" name="Shape 115"/>
          <p:cNvSpPr/>
          <p:nvPr/>
        </p:nvSpPr>
        <p:spPr>
          <a:xfrm>
            <a:off x="9619488" y="5477256"/>
            <a:ext cx="128016" cy="128016"/>
          </a:xfrm>
          <a:prstGeom prst="ellipse">
            <a:avLst/>
          </a:prstGeom>
          <a:solidFill>
            <a:srgbClr val="C62828"/>
          </a:solidFill>
          <a:ln w="12700">
            <a:solidFill>
              <a:srgbClr val="C62828"/>
            </a:solidFill>
            <a:prstDash val="solid"/>
          </a:ln>
        </p:spPr>
      </p:sp>
      <p:sp>
        <p:nvSpPr>
          <p:cNvPr id="129" name="Text 116"/>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30" name="Text 117"/>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model never saw in training; model chosen on validation across four training runs.</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39496"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36676" y="1682496"/>
            <a:ext cx="1005840" cy="1005840"/>
          </a:xfrm>
          <a:prstGeom prst="rect">
            <a:avLst/>
          </a:prstGeom>
        </p:spPr>
      </p:pic>
      <p:sp>
        <p:nvSpPr>
          <p:cNvPr id="22" name="Text 19"/>
          <p:cNvSpPr txBox="1"/>
          <p:nvPr/>
        </p:nvSpPr>
        <p:spPr>
          <a:xfrm>
            <a:off x="539496" y="2761488"/>
            <a:ext cx="1655064"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39496" y="2999232"/>
            <a:ext cx="1673352" cy="219456"/>
          </a:xfrm>
          <a:prstGeom prst="rect">
            <a:avLst/>
          </a:prstGeom>
          <a:noFill/>
          <a:ln/>
        </p:spPr>
        <p:txBody>
          <a:bodyPr wrap="square" lIns="0" tIns="0" rIns="0" bIns="0" rtlCol="0" anchor="t"/>
          <a:lstStyle/>
          <a:p>
            <a:pPr indent="0" marL="0">
              <a:buNone/>
            </a:pPr>
            <a:r>
              <a:rPr lang="en-US" sz="900" b="1" dirty="0">
                <a:solidFill>
                  <a:srgbClr val="0086C3"/>
                </a:solidFill>
                <a:latin typeface="Calibri" pitchFamily="34" charset="0"/>
                <a:ea typeface="Calibri" pitchFamily="34" charset="-122"/>
                <a:cs typeface="Calibri" pitchFamily="34" charset="-120"/>
              </a:rPr>
              <a:t>1,800 images, 6 types</a:t>
            </a:r>
            <a:endParaRPr lang="en-US" sz="900" dirty="0"/>
          </a:p>
        </p:txBody>
      </p:sp>
      <p:sp>
        <p:nvSpPr>
          <p:cNvPr id="24" name="Text 21"/>
          <p:cNvSpPr txBox="1"/>
          <p:nvPr/>
        </p:nvSpPr>
        <p:spPr>
          <a:xfrm>
            <a:off x="539496" y="3227832"/>
            <a:ext cx="1673352" cy="603504"/>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18588"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15768" y="1682496"/>
            <a:ext cx="1005840" cy="1005840"/>
          </a:xfrm>
          <a:prstGeom prst="rect">
            <a:avLst/>
          </a:prstGeom>
        </p:spPr>
      </p:pic>
      <p:sp>
        <p:nvSpPr>
          <p:cNvPr id="28" name="Text 24"/>
          <p:cNvSpPr txBox="1"/>
          <p:nvPr/>
        </p:nvSpPr>
        <p:spPr>
          <a:xfrm>
            <a:off x="2418588" y="2761488"/>
            <a:ext cx="1655064"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18588" y="2999232"/>
            <a:ext cx="1673352" cy="219456"/>
          </a:xfrm>
          <a:prstGeom prst="rect">
            <a:avLst/>
          </a:prstGeom>
          <a:noFill/>
          <a:ln/>
        </p:spPr>
        <p:txBody>
          <a:bodyPr wrap="square" lIns="0" tIns="0" rIns="0" bIns="0" rtlCol="0" anchor="t"/>
          <a:lstStyle/>
          <a:p>
            <a:pPr indent="0" marL="0">
              <a:buNone/>
            </a:pPr>
            <a:r>
              <a:rPr lang="en-US" sz="900" b="1" dirty="0">
                <a:solidFill>
                  <a:srgbClr val="0086C3"/>
                </a:solidFill>
                <a:latin typeface="Calibri" pitchFamily="34" charset="0"/>
                <a:ea typeface="Calibri" pitchFamily="34" charset="-122"/>
                <a:cs typeface="Calibri" pitchFamily="34" charset="-120"/>
              </a:rPr>
              <a:t>12,568 real mill frames</a:t>
            </a:r>
            <a:endParaRPr lang="en-US" sz="900" dirty="0"/>
          </a:p>
        </p:txBody>
      </p:sp>
      <p:sp>
        <p:nvSpPr>
          <p:cNvPr id="30" name="Text 26"/>
          <p:cNvSpPr txBox="1"/>
          <p:nvPr/>
        </p:nvSpPr>
        <p:spPr>
          <a:xfrm>
            <a:off x="2418588" y="3227832"/>
            <a:ext cx="1673352" cy="603504"/>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297680"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297680" y="1645920"/>
            <a:ext cx="1600200" cy="1078992"/>
          </a:xfrm>
          <a:prstGeom prst="rect">
            <a:avLst/>
          </a:prstGeom>
        </p:spPr>
      </p:pic>
      <p:sp>
        <p:nvSpPr>
          <p:cNvPr id="34" name="Text 29"/>
          <p:cNvSpPr txBox="1"/>
          <p:nvPr/>
        </p:nvSpPr>
        <p:spPr>
          <a:xfrm>
            <a:off x="4297680" y="2761488"/>
            <a:ext cx="1655064"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297680" y="2999232"/>
            <a:ext cx="1673352" cy="219456"/>
          </a:xfrm>
          <a:prstGeom prst="rect">
            <a:avLst/>
          </a:prstGeom>
          <a:noFill/>
          <a:ln/>
        </p:spPr>
        <p:txBody>
          <a:bodyPr wrap="square" lIns="0" tIns="0" rIns="0" bIns="0" rtlCol="0" anchor="t"/>
          <a:lstStyle/>
          <a:p>
            <a:pPr indent="0" marL="0">
              <a:buNone/>
            </a:pPr>
            <a:r>
              <a:rPr lang="en-US" sz="900" b="1" dirty="0">
                <a:solidFill>
                  <a:srgbClr val="0086C3"/>
                </a:solidFill>
                <a:latin typeface="Calibri" pitchFamily="34" charset="0"/>
                <a:ea typeface="Calibri" pitchFamily="34" charset="-122"/>
                <a:cs typeface="Calibri" pitchFamily="34" charset="-120"/>
              </a:rPr>
              <a:t>2,294 frames, 10 types</a:t>
            </a:r>
            <a:endParaRPr lang="en-US" sz="900" dirty="0"/>
          </a:p>
        </p:txBody>
      </p:sp>
      <p:sp>
        <p:nvSpPr>
          <p:cNvPr id="36" name="Text 31"/>
          <p:cNvSpPr txBox="1"/>
          <p:nvPr/>
        </p:nvSpPr>
        <p:spPr>
          <a:xfrm>
            <a:off x="4297680" y="3227832"/>
            <a:ext cx="1673352" cy="603504"/>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359323" cy="173736"/>
          </a:xfrm>
          <a:prstGeom prst="rect">
            <a:avLst/>
          </a:prstGeom>
          <a:solidFill>
            <a:srgbClr val="0086C3"/>
          </a:solidFill>
          <a:ln w="12700">
            <a:solidFill>
              <a:srgbClr val="0086C3"/>
            </a:solidFill>
            <a:prstDash val="solid"/>
          </a:ln>
        </p:spPr>
      </p:sp>
      <p:sp>
        <p:nvSpPr>
          <p:cNvPr id="43" name="Text 38"/>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0.94</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45" name="Shape 40"/>
          <p:cNvSpPr/>
          <p:nvPr/>
        </p:nvSpPr>
        <p:spPr>
          <a:xfrm>
            <a:off x="7589520" y="2011680"/>
            <a:ext cx="2835097" cy="173736"/>
          </a:xfrm>
          <a:prstGeom prst="rect">
            <a:avLst/>
          </a:prstGeom>
          <a:solidFill>
            <a:srgbClr val="0086C3"/>
          </a:solidFill>
          <a:ln w="12700">
            <a:solidFill>
              <a:srgbClr val="0086C3"/>
            </a:solidFill>
            <a:prstDash val="solid"/>
          </a:ln>
        </p:spPr>
      </p:sp>
      <p:sp>
        <p:nvSpPr>
          <p:cNvPr id="46" name="Text 41"/>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0.80</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8" name="Shape 43"/>
          <p:cNvSpPr/>
          <p:nvPr/>
        </p:nvSpPr>
        <p:spPr>
          <a:xfrm>
            <a:off x="7589520" y="2331720"/>
            <a:ext cx="2831531" cy="173736"/>
          </a:xfrm>
          <a:prstGeom prst="rect">
            <a:avLst/>
          </a:prstGeom>
          <a:solidFill>
            <a:srgbClr val="0086C3"/>
          </a:solidFill>
          <a:ln w="12700">
            <a:solidFill>
              <a:srgbClr val="0086C3"/>
            </a:solidFill>
            <a:prstDash val="solid"/>
          </a:ln>
        </p:spPr>
      </p:sp>
      <p:sp>
        <p:nvSpPr>
          <p:cNvPr id="49" name="Text 44"/>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51" name="Shape 46"/>
          <p:cNvSpPr/>
          <p:nvPr/>
        </p:nvSpPr>
        <p:spPr>
          <a:xfrm>
            <a:off x="7589520" y="2651760"/>
            <a:ext cx="2720980" cy="173736"/>
          </a:xfrm>
          <a:prstGeom prst="rect">
            <a:avLst/>
          </a:prstGeom>
          <a:solidFill>
            <a:srgbClr val="0086C3"/>
          </a:solidFill>
          <a:ln w="12700">
            <a:solidFill>
              <a:srgbClr val="0086C3"/>
            </a:solidFill>
            <a:prstDash val="solid"/>
          </a:ln>
        </p:spPr>
      </p:sp>
      <p:sp>
        <p:nvSpPr>
          <p:cNvPr id="52" name="Text 47"/>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28998" cy="173736"/>
          </a:xfrm>
          <a:prstGeom prst="rect">
            <a:avLst/>
          </a:prstGeom>
          <a:solidFill>
            <a:srgbClr val="9AA7B4"/>
          </a:solidFill>
          <a:ln w="12700">
            <a:solidFill>
              <a:srgbClr val="9AA7B4"/>
            </a:solidFill>
            <a:prstDash val="solid"/>
          </a:ln>
        </p:spPr>
      </p:sp>
      <p:sp>
        <p:nvSpPr>
          <p:cNvPr id="55" name="Text 50"/>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71939" cy="173736"/>
          </a:xfrm>
          <a:prstGeom prst="rect">
            <a:avLst/>
          </a:prstGeom>
          <a:solidFill>
            <a:srgbClr val="9AA7B4"/>
          </a:solidFill>
          <a:ln w="12700">
            <a:solidFill>
              <a:srgbClr val="9AA7B4"/>
            </a:solidFill>
            <a:prstDash val="solid"/>
          </a:ln>
        </p:spPr>
      </p:sp>
      <p:sp>
        <p:nvSpPr>
          <p:cNvPr id="58" name="Text 53"/>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178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gauge-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~55 ms</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running in an ordinary laptop browser</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Shape 67"/>
          <p:cNvSpPr/>
          <p:nvPr/>
        </p:nvSpPr>
        <p:spPr>
          <a:xfrm>
            <a:off x="4325112" y="5212080"/>
            <a:ext cx="277173" cy="164592"/>
          </a:xfrm>
          <a:prstGeom prst="rect">
            <a:avLst/>
          </a:prstGeom>
          <a:solidFill>
            <a:srgbClr val="1F6FA8"/>
          </a:solidFill>
          <a:ln w="12700">
            <a:solidFill>
              <a:srgbClr val="1F6FA8"/>
            </a:solidFill>
            <a:prstDash val="solid"/>
          </a:ln>
        </p:spPr>
      </p:sp>
      <p:sp>
        <p:nvSpPr>
          <p:cNvPr id="76" name="Shape 68"/>
          <p:cNvSpPr/>
          <p:nvPr/>
        </p:nvSpPr>
        <p:spPr>
          <a:xfrm>
            <a:off x="4602285" y="5212080"/>
            <a:ext cx="924065" cy="164592"/>
          </a:xfrm>
          <a:prstGeom prst="rect">
            <a:avLst/>
          </a:prstGeom>
          <a:solidFill>
            <a:srgbClr val="0086C3"/>
          </a:solidFill>
          <a:ln w="12700">
            <a:solidFill>
              <a:srgbClr val="0086C3"/>
            </a:solidFill>
            <a:prstDash val="solid"/>
          </a:ln>
        </p:spPr>
      </p:sp>
      <p:sp>
        <p:nvSpPr>
          <p:cNvPr id="77" name="Shape 69"/>
          <p:cNvSpPr/>
          <p:nvPr/>
        </p:nvSpPr>
        <p:spPr>
          <a:xfrm>
            <a:off x="5526350" y="5212080"/>
            <a:ext cx="353242" cy="164592"/>
          </a:xfrm>
          <a:prstGeom prst="rect">
            <a:avLst/>
          </a:prstGeom>
          <a:solidFill>
            <a:srgbClr val="A9CBE6"/>
          </a:solidFill>
          <a:ln w="12700">
            <a:solidFill>
              <a:srgbClr val="A9CBE6"/>
            </a:solidFill>
            <a:prstDash val="solid"/>
          </a:ln>
        </p:spPr>
      </p:sp>
      <p:sp>
        <p:nvSpPr>
          <p:cNvPr id="78" name="Shape 70"/>
          <p:cNvSpPr/>
          <p:nvPr/>
        </p:nvSpPr>
        <p:spPr>
          <a:xfrm>
            <a:off x="4325112" y="5454396"/>
            <a:ext cx="91440" cy="91440"/>
          </a:xfrm>
          <a:prstGeom prst="rect">
            <a:avLst/>
          </a:prstGeom>
          <a:solidFill>
            <a:srgbClr val="1F6FA8"/>
          </a:solidFill>
          <a:ln w="12700">
            <a:solidFill>
              <a:srgbClr val="1F6FA8"/>
            </a:solidFill>
            <a:prstDash val="solid"/>
          </a:ln>
        </p:spPr>
      </p:sp>
      <p:sp>
        <p:nvSpPr>
          <p:cNvPr id="79" name="Text 71"/>
          <p:cNvSpPr txBox="1"/>
          <p:nvPr/>
        </p:nvSpPr>
        <p:spPr>
          <a:xfrm>
            <a:off x="4471416" y="5422392"/>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Lab 1,800</a:t>
            </a:r>
            <a:endParaRPr lang="en-US" sz="900" dirty="0"/>
          </a:p>
        </p:txBody>
      </p:sp>
      <p:sp>
        <p:nvSpPr>
          <p:cNvPr id="80" name="Shape 72"/>
          <p:cNvSpPr/>
          <p:nvPr/>
        </p:nvSpPr>
        <p:spPr>
          <a:xfrm>
            <a:off x="4325112" y="5596128"/>
            <a:ext cx="91440" cy="91440"/>
          </a:xfrm>
          <a:prstGeom prst="rect">
            <a:avLst/>
          </a:prstGeom>
          <a:solidFill>
            <a:srgbClr val="0086C3"/>
          </a:solidFill>
          <a:ln w="12700">
            <a:solidFill>
              <a:srgbClr val="0086C3"/>
            </a:solidFill>
            <a:prstDash val="solid"/>
          </a:ln>
        </p:spPr>
      </p:sp>
      <p:sp>
        <p:nvSpPr>
          <p:cNvPr id="81" name="Text 73"/>
          <p:cNvSpPr txBox="1"/>
          <p:nvPr/>
        </p:nvSpPr>
        <p:spPr>
          <a:xfrm>
            <a:off x="4471416" y="5564124"/>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Mill strip 6,001</a:t>
            </a:r>
            <a:endParaRPr lang="en-US" sz="900" dirty="0"/>
          </a:p>
        </p:txBody>
      </p:sp>
      <p:sp>
        <p:nvSpPr>
          <p:cNvPr id="82" name="Shape 74"/>
          <p:cNvSpPr/>
          <p:nvPr/>
        </p:nvSpPr>
        <p:spPr>
          <a:xfrm>
            <a:off x="4325112" y="5737860"/>
            <a:ext cx="91440" cy="91440"/>
          </a:xfrm>
          <a:prstGeom prst="rect">
            <a:avLst/>
          </a:prstGeom>
          <a:solidFill>
            <a:srgbClr val="A9CBE6"/>
          </a:solidFill>
          <a:ln w="12700">
            <a:solidFill>
              <a:srgbClr val="A9CBE6"/>
            </a:solidFill>
            <a:prstDash val="solid"/>
          </a:ln>
        </p:spPr>
      </p:sp>
      <p:sp>
        <p:nvSpPr>
          <p:cNvPr id="83" name="Text 75"/>
          <p:cNvSpPr txBox="1"/>
          <p:nvPr/>
        </p:nvSpPr>
        <p:spPr>
          <a:xfrm>
            <a:off x="4471416" y="5705856"/>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Line-scan 2,294</a:t>
            </a:r>
            <a:endParaRPr lang="en-US" sz="900" dirty="0"/>
          </a:p>
        </p:txBody>
      </p:sp>
      <p:sp>
        <p:nvSpPr>
          <p:cNvPr id="84" name="Shape 76"/>
          <p:cNvSpPr/>
          <p:nvPr/>
        </p:nvSpPr>
        <p:spPr>
          <a:xfrm>
            <a:off x="6190488" y="3886200"/>
            <a:ext cx="5541264" cy="274320"/>
          </a:xfrm>
          <a:prstGeom prst="rect">
            <a:avLst/>
          </a:prstGeom>
          <a:solidFill>
            <a:srgbClr val="2B5B80"/>
          </a:solidFill>
          <a:ln w="12700">
            <a:solidFill>
              <a:srgbClr val="2B5B80"/>
            </a:solidFill>
            <a:prstDash val="solid"/>
          </a:ln>
        </p:spPr>
      </p:sp>
      <p:sp>
        <p:nvSpPr>
          <p:cNvPr id="85" name="Text 77"/>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synthetic defects; targeted labels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team estimates for a 1.3-1.6 m line, both faces, at INR 95.8/USD; vendor quotes replace them in P0. Pragati: JSL digitalisation, Phase 2 brings Level-2 data at Jajpur.</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 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Shape 28"/>
          <p:cNvSpPr/>
          <p:nvPr/>
        </p:nvSpPr>
        <p:spPr>
          <a:xfrm>
            <a:off x="2675763" y="1856232"/>
            <a:ext cx="164592" cy="164592"/>
          </a:xfrm>
          <a:prstGeom prst="diamond">
            <a:avLst/>
          </a:prstGeom>
          <a:solidFill>
            <a:srgbClr val="143A5A"/>
          </a:solidFill>
          <a:ln w="12700">
            <a:solidFill>
              <a:srgbClr val="FFFFFF"/>
            </a:solidFill>
            <a:prstDash val="solid"/>
          </a:ln>
        </p:spPr>
      </p:sp>
      <p:sp>
        <p:nvSpPr>
          <p:cNvPr id="31" name="Text 29"/>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Optics fixed; Pragati L2 data linked</a:t>
            </a:r>
            <a:endParaRPr lang="en-US" sz="900" dirty="0"/>
          </a:p>
        </p:txBody>
      </p:sp>
      <p:sp>
        <p:nvSpPr>
          <p:cNvPr id="32" name="Text 30"/>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3" name="Text 31"/>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Train on 5,000 JSL frames</a:t>
            </a:r>
            <a:endParaRPr lang="en-US" sz="950" dirty="0"/>
          </a:p>
        </p:txBody>
      </p:sp>
      <p:sp>
        <p:nvSpPr>
          <p:cNvPr id="34" name="Shape 32"/>
          <p:cNvSpPr/>
          <p:nvPr/>
        </p:nvSpPr>
        <p:spPr>
          <a:xfrm>
            <a:off x="2514600" y="2194560"/>
            <a:ext cx="3246120" cy="182880"/>
          </a:xfrm>
          <a:prstGeom prst="rect">
            <a:avLst/>
          </a:prstGeom>
          <a:solidFill>
            <a:srgbClr val="F1F4F7"/>
          </a:solidFill>
          <a:ln w="12700">
            <a:solidFill>
              <a:srgbClr val="F1F4F7"/>
            </a:solidFill>
            <a:prstDash val="solid"/>
          </a:ln>
        </p:spPr>
      </p:sp>
      <p:sp>
        <p:nvSpPr>
          <p:cNvPr id="35" name="Shape 33"/>
          <p:cNvSpPr/>
          <p:nvPr/>
        </p:nvSpPr>
        <p:spPr>
          <a:xfrm>
            <a:off x="2758059" y="2194560"/>
            <a:ext cx="405765" cy="182880"/>
          </a:xfrm>
          <a:prstGeom prst="rect">
            <a:avLst/>
          </a:prstGeom>
          <a:solidFill>
            <a:srgbClr val="0086C3"/>
          </a:solidFill>
          <a:ln w="12700">
            <a:solidFill>
              <a:srgbClr val="0086C3"/>
            </a:solidFill>
            <a:prstDash val="solid"/>
          </a:ln>
        </p:spPr>
      </p:sp>
      <p:sp>
        <p:nvSpPr>
          <p:cNvPr id="36" name="Shape 34"/>
          <p:cNvSpPr/>
          <p:nvPr/>
        </p:nvSpPr>
        <p:spPr>
          <a:xfrm>
            <a:off x="3081528" y="2203704"/>
            <a:ext cx="164592" cy="164592"/>
          </a:xfrm>
          <a:prstGeom prst="diamond">
            <a:avLst/>
          </a:prstGeom>
          <a:solidFill>
            <a:srgbClr val="143A5A"/>
          </a:solidFill>
          <a:ln w="12700">
            <a:solidFill>
              <a:srgbClr val="FFFFFF"/>
            </a:solidFill>
            <a:prstDash val="solid"/>
          </a:ln>
        </p:spPr>
      </p:sp>
      <p:sp>
        <p:nvSpPr>
          <p:cNvPr id="37" name="Text 35"/>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8" name="Text 36"/>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9" name="Text 37"/>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40" name="Shape 38"/>
          <p:cNvSpPr/>
          <p:nvPr/>
        </p:nvSpPr>
        <p:spPr>
          <a:xfrm>
            <a:off x="2514600" y="2542032"/>
            <a:ext cx="3246120" cy="182880"/>
          </a:xfrm>
          <a:prstGeom prst="rect">
            <a:avLst/>
          </a:prstGeom>
          <a:solidFill>
            <a:srgbClr val="F1F4F7"/>
          </a:solidFill>
          <a:ln w="12700">
            <a:solidFill>
              <a:srgbClr val="F1F4F7"/>
            </a:solidFill>
            <a:prstDash val="solid"/>
          </a:ln>
        </p:spPr>
      </p:sp>
      <p:sp>
        <p:nvSpPr>
          <p:cNvPr id="41" name="Shape 39"/>
          <p:cNvSpPr/>
          <p:nvPr/>
        </p:nvSpPr>
        <p:spPr>
          <a:xfrm>
            <a:off x="3163824" y="2542032"/>
            <a:ext cx="486918" cy="182880"/>
          </a:xfrm>
          <a:prstGeom prst="rect">
            <a:avLst/>
          </a:prstGeom>
          <a:solidFill>
            <a:srgbClr val="0086C3"/>
          </a:solidFill>
          <a:ln w="12700">
            <a:solidFill>
              <a:srgbClr val="0086C3"/>
            </a:solidFill>
            <a:prstDash val="solid"/>
          </a:ln>
        </p:spPr>
      </p:sp>
      <p:sp>
        <p:nvSpPr>
          <p:cNvPr id="42" name="Shape 40"/>
          <p:cNvSpPr/>
          <p:nvPr/>
        </p:nvSpPr>
        <p:spPr>
          <a:xfrm>
            <a:off x="3568446" y="2551176"/>
            <a:ext cx="164592" cy="164592"/>
          </a:xfrm>
          <a:prstGeom prst="diamond">
            <a:avLst/>
          </a:prstGeom>
          <a:solidFill>
            <a:srgbClr val="143A5A"/>
          </a:solidFill>
          <a:ln w="12700">
            <a:solidFill>
              <a:srgbClr val="FFFFFF"/>
            </a:solidFill>
            <a:prstDash val="solid"/>
          </a:ln>
        </p:spPr>
      </p:sp>
      <p:sp>
        <p:nvSpPr>
          <p:cNvPr id="43" name="Text 41"/>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4" name="Text 42"/>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5" name="Text 43"/>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6" name="Shape 44"/>
          <p:cNvSpPr/>
          <p:nvPr/>
        </p:nvSpPr>
        <p:spPr>
          <a:xfrm>
            <a:off x="2514600" y="2889504"/>
            <a:ext cx="3246120" cy="182880"/>
          </a:xfrm>
          <a:prstGeom prst="rect">
            <a:avLst/>
          </a:prstGeom>
          <a:solidFill>
            <a:srgbClr val="F1F4F7"/>
          </a:solidFill>
          <a:ln w="12700">
            <a:solidFill>
              <a:srgbClr val="F1F4F7"/>
            </a:solidFill>
            <a:prstDash val="solid"/>
          </a:ln>
        </p:spPr>
      </p:sp>
      <p:sp>
        <p:nvSpPr>
          <p:cNvPr id="47" name="Shape 45"/>
          <p:cNvSpPr/>
          <p:nvPr/>
        </p:nvSpPr>
        <p:spPr>
          <a:xfrm>
            <a:off x="3650742" y="2889504"/>
            <a:ext cx="811530" cy="182880"/>
          </a:xfrm>
          <a:prstGeom prst="rect">
            <a:avLst/>
          </a:prstGeom>
          <a:solidFill>
            <a:srgbClr val="2B5B80"/>
          </a:solidFill>
          <a:ln w="12700">
            <a:solidFill>
              <a:srgbClr val="2B5B80"/>
            </a:solidFill>
            <a:prstDash val="solid"/>
          </a:ln>
        </p:spPr>
      </p:sp>
      <p:sp>
        <p:nvSpPr>
          <p:cNvPr id="48" name="Shape 46"/>
          <p:cNvSpPr/>
          <p:nvPr/>
        </p:nvSpPr>
        <p:spPr>
          <a:xfrm>
            <a:off x="4379976" y="2898648"/>
            <a:ext cx="164592" cy="164592"/>
          </a:xfrm>
          <a:prstGeom prst="diamond">
            <a:avLst/>
          </a:prstGeom>
          <a:solidFill>
            <a:srgbClr val="143A5A"/>
          </a:solidFill>
          <a:ln w="12700">
            <a:solidFill>
              <a:srgbClr val="FFFFFF"/>
            </a:solidFill>
            <a:prstDash val="solid"/>
          </a:ln>
        </p:spPr>
      </p:sp>
      <p:sp>
        <p:nvSpPr>
          <p:cNvPr id="49" name="Text 47"/>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50" name="Text 48"/>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51" name="Text 49"/>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52" name="Shape 50"/>
          <p:cNvSpPr/>
          <p:nvPr/>
        </p:nvSpPr>
        <p:spPr>
          <a:xfrm>
            <a:off x="2514600" y="3236976"/>
            <a:ext cx="3246120" cy="182880"/>
          </a:xfrm>
          <a:prstGeom prst="rect">
            <a:avLst/>
          </a:prstGeom>
          <a:solidFill>
            <a:srgbClr val="F1F4F7"/>
          </a:solidFill>
          <a:ln w="12700">
            <a:solidFill>
              <a:srgbClr val="F1F4F7"/>
            </a:solidFill>
            <a:prstDash val="solid"/>
          </a:ln>
        </p:spPr>
      </p:sp>
      <p:sp>
        <p:nvSpPr>
          <p:cNvPr id="53" name="Shape 51"/>
          <p:cNvSpPr/>
          <p:nvPr/>
        </p:nvSpPr>
        <p:spPr>
          <a:xfrm>
            <a:off x="4462272" y="3236976"/>
            <a:ext cx="1298448" cy="182880"/>
          </a:xfrm>
          <a:prstGeom prst="rect">
            <a:avLst/>
          </a:prstGeom>
          <a:solidFill>
            <a:srgbClr val="2B5B80"/>
          </a:solidFill>
          <a:ln w="12700">
            <a:solidFill>
              <a:srgbClr val="2B5B80"/>
            </a:solidFill>
            <a:prstDash val="solid"/>
          </a:ln>
        </p:spPr>
      </p:sp>
      <p:sp>
        <p:nvSpPr>
          <p:cNvPr id="54" name="Shape 52"/>
          <p:cNvSpPr/>
          <p:nvPr/>
        </p:nvSpPr>
        <p:spPr>
          <a:xfrm>
            <a:off x="5678424" y="3246120"/>
            <a:ext cx="164592" cy="164592"/>
          </a:xfrm>
          <a:prstGeom prst="diamond">
            <a:avLst/>
          </a:prstGeom>
          <a:solidFill>
            <a:srgbClr val="143A5A"/>
          </a:solidFill>
          <a:ln w="12700">
            <a:solidFill>
              <a:srgbClr val="FFFFFF"/>
            </a:solidFill>
            <a:prstDash val="solid"/>
          </a:ln>
        </p:spPr>
      </p:sp>
      <p:sp>
        <p:nvSpPr>
          <p:cNvPr id="55" name="Text 53"/>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6" name="Shape 54"/>
          <p:cNvSpPr/>
          <p:nvPr/>
        </p:nvSpPr>
        <p:spPr>
          <a:xfrm>
            <a:off x="3641598" y="1755648"/>
            <a:ext cx="22860" cy="1737360"/>
          </a:xfrm>
          <a:prstGeom prst="rect">
            <a:avLst/>
          </a:prstGeom>
          <a:solidFill>
            <a:srgbClr val="C62828"/>
          </a:solidFill>
          <a:ln w="12700">
            <a:solidFill>
              <a:srgbClr val="C62828"/>
            </a:solidFill>
            <a:prstDash val="solid"/>
          </a:ln>
        </p:spPr>
      </p:sp>
      <p:sp>
        <p:nvSpPr>
          <p:cNvPr id="57" name="Text 55"/>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8" name="Shape 56"/>
          <p:cNvSpPr/>
          <p:nvPr/>
        </p:nvSpPr>
        <p:spPr>
          <a:xfrm>
            <a:off x="7863840" y="1234440"/>
            <a:ext cx="3867912" cy="274320"/>
          </a:xfrm>
          <a:prstGeom prst="rect">
            <a:avLst/>
          </a:prstGeom>
          <a:solidFill>
            <a:srgbClr val="2B5B80"/>
          </a:solidFill>
          <a:ln w="12700">
            <a:solidFill>
              <a:srgbClr val="2B5B80"/>
            </a:solidFill>
            <a:prstDash val="solid"/>
          </a:ln>
        </p:spPr>
      </p:sp>
      <p:sp>
        <p:nvSpPr>
          <p:cNvPr id="59" name="Text 57"/>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60"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61" name="Text 58"/>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62" name="Shape 59"/>
          <p:cNvSpPr/>
          <p:nvPr/>
        </p:nvSpPr>
        <p:spPr>
          <a:xfrm>
            <a:off x="9738360" y="1746504"/>
            <a:ext cx="146304" cy="146304"/>
          </a:xfrm>
          <a:prstGeom prst="rect">
            <a:avLst/>
          </a:prstGeom>
          <a:solidFill>
            <a:srgbClr val="143A5A"/>
          </a:solidFill>
          <a:ln w="12700">
            <a:solidFill>
              <a:srgbClr val="143A5A"/>
            </a:solidFill>
            <a:prstDash val="solid"/>
          </a:ln>
        </p:spPr>
      </p:sp>
      <p:sp>
        <p:nvSpPr>
          <p:cNvPr id="63" name="Text 60"/>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64" name="Text 61"/>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₹0.85-1.45 cr</a:t>
            </a:r>
            <a:endParaRPr lang="en-US" sz="900" dirty="0"/>
          </a:p>
        </p:txBody>
      </p:sp>
      <p:sp>
        <p:nvSpPr>
          <p:cNvPr id="65" name="Shape 62"/>
          <p:cNvSpPr/>
          <p:nvPr/>
        </p:nvSpPr>
        <p:spPr>
          <a:xfrm>
            <a:off x="9738360" y="2112264"/>
            <a:ext cx="146304" cy="146304"/>
          </a:xfrm>
          <a:prstGeom prst="rect">
            <a:avLst/>
          </a:prstGeom>
          <a:solidFill>
            <a:srgbClr val="1F6FA8"/>
          </a:solidFill>
          <a:ln w="12700">
            <a:solidFill>
              <a:srgbClr val="1F6FA8"/>
            </a:solidFill>
            <a:prstDash val="solid"/>
          </a:ln>
        </p:spPr>
      </p:sp>
      <p:sp>
        <p:nvSpPr>
          <p:cNvPr id="66" name="Text 63"/>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7" name="Text 64"/>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₹0.9-1.5 cr</a:t>
            </a:r>
            <a:endParaRPr lang="en-US" sz="900" dirty="0"/>
          </a:p>
        </p:txBody>
      </p:sp>
      <p:sp>
        <p:nvSpPr>
          <p:cNvPr id="68" name="Shape 65"/>
          <p:cNvSpPr/>
          <p:nvPr/>
        </p:nvSpPr>
        <p:spPr>
          <a:xfrm>
            <a:off x="9738360" y="2478024"/>
            <a:ext cx="146304" cy="146304"/>
          </a:xfrm>
          <a:prstGeom prst="rect">
            <a:avLst/>
          </a:prstGeom>
          <a:solidFill>
            <a:srgbClr val="5E9CCB"/>
          </a:solidFill>
          <a:ln w="12700">
            <a:solidFill>
              <a:srgbClr val="5E9CCB"/>
            </a:solidFill>
            <a:prstDash val="solid"/>
          </a:ln>
        </p:spPr>
      </p:sp>
      <p:sp>
        <p:nvSpPr>
          <p:cNvPr id="69" name="Text 66"/>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70" name="Text 67"/>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₹0.45-0.75 cr</a:t>
            </a:r>
            <a:endParaRPr lang="en-US" sz="900" dirty="0"/>
          </a:p>
        </p:txBody>
      </p:sp>
      <p:sp>
        <p:nvSpPr>
          <p:cNvPr id="71" name="Shape 68"/>
          <p:cNvSpPr/>
          <p:nvPr/>
        </p:nvSpPr>
        <p:spPr>
          <a:xfrm>
            <a:off x="9738360" y="2843784"/>
            <a:ext cx="146304" cy="146304"/>
          </a:xfrm>
          <a:prstGeom prst="rect">
            <a:avLst/>
          </a:prstGeom>
          <a:solidFill>
            <a:srgbClr val="A9CBE6"/>
          </a:solidFill>
          <a:ln w="12700">
            <a:solidFill>
              <a:srgbClr val="A9CBE6"/>
            </a:solidFill>
            <a:prstDash val="solid"/>
          </a:ln>
        </p:spPr>
      </p:sp>
      <p:sp>
        <p:nvSpPr>
          <p:cNvPr id="72" name="Text 69"/>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Training on JSL strip</a:t>
            </a:r>
            <a:endParaRPr lang="en-US" sz="900" dirty="0"/>
          </a:p>
        </p:txBody>
      </p:sp>
      <p:sp>
        <p:nvSpPr>
          <p:cNvPr id="73" name="Text 70"/>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₹0.3-0.5 cr</a:t>
            </a:r>
            <a:endParaRPr lang="en-US" sz="900" dirty="0"/>
          </a:p>
        </p:txBody>
      </p:sp>
      <p:sp>
        <p:nvSpPr>
          <p:cNvPr id="74" name="Text 71"/>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~₹0.5 cr a year</a:t>
            </a:r>
            <a:endParaRPr lang="en-US" sz="900" dirty="0"/>
          </a:p>
        </p:txBody>
      </p:sp>
      <p:sp>
        <p:nvSpPr>
          <p:cNvPr id="75" name="Text 72"/>
          <p:cNvSpPr txBox="1"/>
          <p:nvPr/>
        </p:nvSpPr>
        <p:spPr>
          <a:xfrm>
            <a:off x="7909560" y="3401568"/>
            <a:ext cx="374904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Commercial system: </a:t>
            </a:r>
            <a:pPr indent="0" marL="0">
              <a:buNone/>
            </a:pPr>
            <a:r>
              <a:rPr lang="en-US" sz="900" b="1" dirty="0">
                <a:solidFill>
                  <a:srgbClr val="141C24"/>
                </a:solidFill>
                <a:latin typeface="Calibri" pitchFamily="34" charset="0"/>
                <a:ea typeface="Calibri" pitchFamily="34" charset="-122"/>
                <a:cs typeface="Calibri" pitchFamily="34" charset="-120"/>
              </a:rPr>
              <a:t>₹10-29 cr per line</a:t>
            </a:r>
            <a:endParaRPr lang="en-US" sz="900" dirty="0"/>
          </a:p>
        </p:txBody>
      </p:sp>
      <p:sp>
        <p:nvSpPr>
          <p:cNvPr id="76" name="Shape 73"/>
          <p:cNvSpPr/>
          <p:nvPr/>
        </p:nvSpPr>
        <p:spPr>
          <a:xfrm>
            <a:off x="457200" y="3730752"/>
            <a:ext cx="5541264" cy="274320"/>
          </a:xfrm>
          <a:prstGeom prst="rect">
            <a:avLst/>
          </a:prstGeom>
          <a:solidFill>
            <a:srgbClr val="2B5B80"/>
          </a:solidFill>
          <a:ln w="12700">
            <a:solidFill>
              <a:srgbClr val="2B5B80"/>
            </a:solidFill>
            <a:prstDash val="solid"/>
          </a:ln>
        </p:spPr>
      </p:sp>
      <p:sp>
        <p:nvSpPr>
          <p:cNvPr id="77" name="Text 74"/>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41648"/>
          <a:ext cx="5541264" cy="914400"/>
        </p:xfrm>
        <a:graphic>
          <a:graphicData uri="http://schemas.openxmlformats.org/drawingml/2006/table">
            <a:tbl>
              <a:tblPr/>
              <a:tblGrid>
                <a:gridCol w="2240280"/>
                <a:gridCol w="2660904"/>
                <a:gridCol w="6400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Retired</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Model does not transfer to JSL strip</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Train on JSL clean and defect images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Mirror-like BA/2B finish hides defects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Bright + dark-field light; deflectometry for BA</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Rare defects under-learnt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Edge cameras; synthetic defects; targeted labels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P1-P3</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Operators ignore alarms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Trusted scores; shadow mode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Plant network, heat and fumes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IEC 62443 zones, runs offline; sealed enclosures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Quality slips after a model update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Every retrain must beat the live model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9" name="Shape 75"/>
          <p:cNvSpPr/>
          <p:nvPr/>
        </p:nvSpPr>
        <p:spPr>
          <a:xfrm>
            <a:off x="6190488" y="3730752"/>
            <a:ext cx="5541264" cy="274320"/>
          </a:xfrm>
          <a:prstGeom prst="rect">
            <a:avLst/>
          </a:prstGeom>
          <a:solidFill>
            <a:srgbClr val="2B5B80"/>
          </a:solidFill>
          <a:ln w="12700">
            <a:solidFill>
              <a:srgbClr val="2B5B80"/>
            </a:solidFill>
            <a:prstDash val="solid"/>
          </a:ln>
        </p:spPr>
      </p:sp>
      <p:sp>
        <p:nvSpPr>
          <p:cNvPr id="80" name="Text 76"/>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81" name="Shape 77"/>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82" name="Text 78"/>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83" name="Text 79"/>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84" name="Text 80"/>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dirty="0">
                <a:solidFill>
                  <a:srgbClr val="B77900"/>
                </a:solidFill>
                <a:latin typeface="Calibri" pitchFamily="34" charset="0"/>
                <a:ea typeface="Calibri" pitchFamily="34" charset="-122"/>
                <a:cs typeface="Calibri" pitchFamily="34" charset="-120"/>
              </a:rPr>
              <a:t>measured 258 of 288 (89.6%)</a:t>
            </a:r>
            <a:endParaRPr lang="en-US" sz="900" dirty="0"/>
          </a:p>
        </p:txBody>
      </p:sp>
      <p:sp>
        <p:nvSpPr>
          <p:cNvPr id="85" name="Shape 81"/>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6" name="Text 82"/>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7" name="Text 83"/>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8" name="Text 84"/>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89" name="Shape 85"/>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90" name="Text 86"/>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5 pts</a:t>
            </a:r>
            <a:endParaRPr lang="en-US" sz="1800" dirty="0"/>
          </a:p>
        </p:txBody>
      </p:sp>
      <p:sp>
        <p:nvSpPr>
          <p:cNvPr id="91" name="Text 87"/>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confidence vs reality gap</a:t>
            </a:r>
            <a:endParaRPr lang="en-US" sz="900" dirty="0"/>
          </a:p>
        </p:txBody>
      </p:sp>
      <p:sp>
        <p:nvSpPr>
          <p:cNvPr id="92" name="Text 88"/>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3.3 pts</a:t>
            </a:r>
            <a:endParaRPr lang="en-US" sz="900" dirty="0"/>
          </a:p>
        </p:txBody>
      </p:sp>
      <p:sp>
        <p:nvSpPr>
          <p:cNvPr id="93" name="Shape 89"/>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94" name="Text 90"/>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95" name="Text 91"/>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6" name="Text 92"/>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7" name="Shape 93"/>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8" name="Text 94"/>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9" name="Text 95"/>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100" name="Text 96"/>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101" name="Shape 97"/>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102" name="Text 98"/>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8 h</a:t>
            </a:r>
            <a:endParaRPr lang="en-US" sz="1800" dirty="0"/>
          </a:p>
        </p:txBody>
      </p:sp>
      <p:sp>
        <p:nvSpPr>
          <p:cNvPr id="103" name="Text 99"/>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retrain for a new grade</a:t>
            </a:r>
            <a:endParaRPr lang="en-US" sz="900" dirty="0"/>
          </a:p>
        </p:txBody>
      </p:sp>
      <p:sp>
        <p:nvSpPr>
          <p:cNvPr id="104" name="Text 100"/>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₹2.0 cr/yr recovered (₹1.5 cr net). Fleet: ₹12.9 cr/yr. Non-prime coil sells 10-30% below prime, so these discounts are conservative.</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Cumulative cash per line, ₹ cr</a:t>
            </a:r>
            <a:endParaRPr lang="en-US" sz="1100" dirty="0"/>
          </a:p>
        </p:txBody>
      </p:sp>
      <p:sp>
        <p:nvSpPr>
          <p:cNvPr id="24" name="Shape 21"/>
          <p:cNvSpPr/>
          <p:nvPr/>
        </p:nvSpPr>
        <p:spPr>
          <a:xfrm>
            <a:off x="4709160" y="2278959"/>
            <a:ext cx="3337560" cy="10973"/>
          </a:xfrm>
          <a:prstGeom prst="rect">
            <a:avLst/>
          </a:prstGeom>
          <a:solidFill>
            <a:srgbClr val="334150"/>
          </a:solidFill>
          <a:ln w="12700">
            <a:solidFill>
              <a:srgbClr val="334150"/>
            </a:solidFill>
            <a:prstDash val="solid"/>
          </a:ln>
        </p:spPr>
      </p:sp>
      <p:sp>
        <p:nvSpPr>
          <p:cNvPr id="25" name="Shape 22"/>
          <p:cNvSpPr/>
          <p:nvPr/>
        </p:nvSpPr>
        <p:spPr>
          <a:xfrm>
            <a:off x="4846320" y="2278959"/>
            <a:ext cx="347472" cy="520751"/>
          </a:xfrm>
          <a:prstGeom prst="rect">
            <a:avLst/>
          </a:prstGeom>
          <a:solidFill>
            <a:srgbClr val="9AA7B4"/>
          </a:solidFill>
          <a:ln w="12700">
            <a:solidFill>
              <a:srgbClr val="9AA7B4"/>
            </a:solidFill>
            <a:prstDash val="solid"/>
          </a:ln>
        </p:spPr>
      </p:sp>
      <p:sp>
        <p:nvSpPr>
          <p:cNvPr id="26" name="Text 23"/>
          <p:cNvSpPr txBox="1"/>
          <p:nvPr/>
        </p:nvSpPr>
        <p:spPr>
          <a:xfrm>
            <a:off x="479145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Y0</a:t>
            </a:r>
            <a:endParaRPr lang="en-US" sz="900" dirty="0"/>
          </a:p>
        </p:txBody>
      </p:sp>
      <p:sp>
        <p:nvSpPr>
          <p:cNvPr id="27" name="Text 24"/>
          <p:cNvSpPr txBox="1"/>
          <p:nvPr/>
        </p:nvSpPr>
        <p:spPr>
          <a:xfrm>
            <a:off x="479145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-3.4</a:t>
            </a:r>
            <a:endParaRPr lang="en-US" sz="900" dirty="0"/>
          </a:p>
        </p:txBody>
      </p:sp>
      <p:sp>
        <p:nvSpPr>
          <p:cNvPr id="28" name="Shape 25"/>
          <p:cNvSpPr/>
          <p:nvPr/>
        </p:nvSpPr>
        <p:spPr>
          <a:xfrm>
            <a:off x="5394960" y="2278959"/>
            <a:ext cx="347472" cy="286024"/>
          </a:xfrm>
          <a:prstGeom prst="rect">
            <a:avLst/>
          </a:prstGeom>
          <a:solidFill>
            <a:srgbClr val="9AA7B4"/>
          </a:solidFill>
          <a:ln w="12700">
            <a:solidFill>
              <a:srgbClr val="9AA7B4"/>
            </a:solidFill>
            <a:prstDash val="solid"/>
          </a:ln>
        </p:spPr>
      </p:sp>
      <p:sp>
        <p:nvSpPr>
          <p:cNvPr id="29" name="Text 26"/>
          <p:cNvSpPr txBox="1"/>
          <p:nvPr/>
        </p:nvSpPr>
        <p:spPr>
          <a:xfrm>
            <a:off x="534009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Y1</a:t>
            </a:r>
            <a:endParaRPr lang="en-US" sz="900" dirty="0"/>
          </a:p>
        </p:txBody>
      </p:sp>
      <p:sp>
        <p:nvSpPr>
          <p:cNvPr id="30" name="Text 27"/>
          <p:cNvSpPr txBox="1"/>
          <p:nvPr/>
        </p:nvSpPr>
        <p:spPr>
          <a:xfrm>
            <a:off x="534009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-1.8</a:t>
            </a:r>
            <a:endParaRPr lang="en-US" sz="900" dirty="0"/>
          </a:p>
        </p:txBody>
      </p:sp>
      <p:sp>
        <p:nvSpPr>
          <p:cNvPr id="31" name="Shape 28"/>
          <p:cNvSpPr/>
          <p:nvPr/>
        </p:nvSpPr>
        <p:spPr>
          <a:xfrm>
            <a:off x="5943600" y="2278959"/>
            <a:ext cx="347472" cy="51298"/>
          </a:xfrm>
          <a:prstGeom prst="rect">
            <a:avLst/>
          </a:prstGeom>
          <a:solidFill>
            <a:srgbClr val="9AA7B4"/>
          </a:solidFill>
          <a:ln w="12700">
            <a:solidFill>
              <a:srgbClr val="9AA7B4"/>
            </a:solidFill>
            <a:prstDash val="solid"/>
          </a:ln>
        </p:spPr>
      </p:sp>
      <p:sp>
        <p:nvSpPr>
          <p:cNvPr id="32" name="Text 29"/>
          <p:cNvSpPr txBox="1"/>
          <p:nvPr/>
        </p:nvSpPr>
        <p:spPr>
          <a:xfrm>
            <a:off x="588873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Y2</a:t>
            </a:r>
            <a:endParaRPr lang="en-US" sz="900" dirty="0"/>
          </a:p>
        </p:txBody>
      </p:sp>
      <p:sp>
        <p:nvSpPr>
          <p:cNvPr id="33" name="Text 30"/>
          <p:cNvSpPr txBox="1"/>
          <p:nvPr/>
        </p:nvSpPr>
        <p:spPr>
          <a:xfrm>
            <a:off x="588873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-0.3</a:t>
            </a:r>
            <a:endParaRPr lang="en-US" sz="900" dirty="0"/>
          </a:p>
        </p:txBody>
      </p:sp>
      <p:sp>
        <p:nvSpPr>
          <p:cNvPr id="34" name="Shape 31"/>
          <p:cNvSpPr/>
          <p:nvPr/>
        </p:nvSpPr>
        <p:spPr>
          <a:xfrm>
            <a:off x="6492240" y="2095530"/>
            <a:ext cx="347472" cy="183429"/>
          </a:xfrm>
          <a:prstGeom prst="rect">
            <a:avLst/>
          </a:prstGeom>
          <a:solidFill>
            <a:srgbClr val="0086C3"/>
          </a:solidFill>
          <a:ln w="12700">
            <a:solidFill>
              <a:srgbClr val="0086C3"/>
            </a:solidFill>
            <a:prstDash val="solid"/>
          </a:ln>
        </p:spPr>
      </p:sp>
      <p:sp>
        <p:nvSpPr>
          <p:cNvPr id="35" name="Text 32"/>
          <p:cNvSpPr txBox="1"/>
          <p:nvPr/>
        </p:nvSpPr>
        <p:spPr>
          <a:xfrm>
            <a:off x="643737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Y3</a:t>
            </a:r>
            <a:endParaRPr lang="en-US" sz="900" dirty="0"/>
          </a:p>
        </p:txBody>
      </p:sp>
      <p:sp>
        <p:nvSpPr>
          <p:cNvPr id="36" name="Text 33"/>
          <p:cNvSpPr txBox="1"/>
          <p:nvPr/>
        </p:nvSpPr>
        <p:spPr>
          <a:xfrm>
            <a:off x="643737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+1.2</a:t>
            </a:r>
            <a:endParaRPr lang="en-US" sz="900" dirty="0"/>
          </a:p>
        </p:txBody>
      </p:sp>
      <p:sp>
        <p:nvSpPr>
          <p:cNvPr id="37" name="Shape 34"/>
          <p:cNvSpPr/>
          <p:nvPr/>
        </p:nvSpPr>
        <p:spPr>
          <a:xfrm>
            <a:off x="7040880" y="1860804"/>
            <a:ext cx="347472" cy="418155"/>
          </a:xfrm>
          <a:prstGeom prst="rect">
            <a:avLst/>
          </a:prstGeom>
          <a:solidFill>
            <a:srgbClr val="0086C3"/>
          </a:solidFill>
          <a:ln w="12700">
            <a:solidFill>
              <a:srgbClr val="0086C3"/>
            </a:solidFill>
            <a:prstDash val="solid"/>
          </a:ln>
        </p:spPr>
      </p:sp>
      <p:sp>
        <p:nvSpPr>
          <p:cNvPr id="38" name="Text 35"/>
          <p:cNvSpPr txBox="1"/>
          <p:nvPr/>
        </p:nvSpPr>
        <p:spPr>
          <a:xfrm>
            <a:off x="698601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Y4</a:t>
            </a:r>
            <a:endParaRPr lang="en-US" sz="900" dirty="0"/>
          </a:p>
        </p:txBody>
      </p:sp>
      <p:sp>
        <p:nvSpPr>
          <p:cNvPr id="39" name="Text 36"/>
          <p:cNvSpPr txBox="1"/>
          <p:nvPr/>
        </p:nvSpPr>
        <p:spPr>
          <a:xfrm>
            <a:off x="698601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+2.7</a:t>
            </a:r>
            <a:endParaRPr lang="en-US" sz="900" dirty="0"/>
          </a:p>
        </p:txBody>
      </p:sp>
      <p:sp>
        <p:nvSpPr>
          <p:cNvPr id="40" name="Shape 37"/>
          <p:cNvSpPr/>
          <p:nvPr/>
        </p:nvSpPr>
        <p:spPr>
          <a:xfrm>
            <a:off x="7589520" y="1627632"/>
            <a:ext cx="347472" cy="651327"/>
          </a:xfrm>
          <a:prstGeom prst="rect">
            <a:avLst/>
          </a:prstGeom>
          <a:solidFill>
            <a:srgbClr val="0086C3"/>
          </a:solidFill>
          <a:ln w="12700">
            <a:solidFill>
              <a:srgbClr val="0086C3"/>
            </a:solidFill>
            <a:prstDash val="solid"/>
          </a:ln>
        </p:spPr>
      </p:sp>
      <p:sp>
        <p:nvSpPr>
          <p:cNvPr id="41" name="Text 38"/>
          <p:cNvSpPr txBox="1"/>
          <p:nvPr/>
        </p:nvSpPr>
        <p:spPr>
          <a:xfrm>
            <a:off x="753465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Y5</a:t>
            </a:r>
            <a:endParaRPr lang="en-US" sz="900" dirty="0"/>
          </a:p>
        </p:txBody>
      </p:sp>
      <p:sp>
        <p:nvSpPr>
          <p:cNvPr id="42" name="Text 39"/>
          <p:cNvSpPr txBox="1"/>
          <p:nvPr/>
        </p:nvSpPr>
        <p:spPr>
          <a:xfrm>
            <a:off x="753465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+4.2</a:t>
            </a:r>
            <a:endParaRPr lang="en-US" sz="900" dirty="0"/>
          </a:p>
        </p:txBody>
      </p:sp>
      <p:sp>
        <p:nvSpPr>
          <p:cNvPr id="43" name="Shape 40"/>
          <p:cNvSpPr/>
          <p:nvPr/>
        </p:nvSpPr>
        <p:spPr>
          <a:xfrm>
            <a:off x="6227064" y="1591056"/>
            <a:ext cx="0" cy="1261872"/>
          </a:xfrm>
          <a:prstGeom prst="line">
            <a:avLst/>
          </a:prstGeom>
          <a:noFill/>
          <a:ln w="12700">
            <a:solidFill>
              <a:srgbClr val="143A5A"/>
            </a:solidFill>
            <a:prstDash val="dash"/>
          </a:ln>
        </p:spPr>
      </p:sp>
      <p:sp>
        <p:nvSpPr>
          <p:cNvPr id="44" name="Text 41"/>
          <p:cNvSpPr txBox="1"/>
          <p:nvPr/>
        </p:nvSpPr>
        <p:spPr>
          <a:xfrm>
            <a:off x="5038344" y="1572768"/>
            <a:ext cx="1143000" cy="182880"/>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pays back ~2.2 yr</a:t>
            </a:r>
            <a:endParaRPr lang="en-US" sz="900" dirty="0"/>
          </a:p>
        </p:txBody>
      </p:sp>
      <p:sp>
        <p:nvSpPr>
          <p:cNvPr id="45" name="Text 42"/>
          <p:cNvSpPr txBox="1"/>
          <p:nvPr/>
        </p:nvSpPr>
        <p:spPr>
          <a:xfrm>
            <a:off x="4663440" y="3218688"/>
            <a:ext cx="3474720" cy="219456"/>
          </a:xfrm>
          <a:prstGeom prst="rect">
            <a:avLst/>
          </a:prstGeom>
          <a:noFill/>
          <a:ln/>
        </p:spPr>
        <p:txBody>
          <a:bodyPr wrap="square" lIns="0" tIns="0" rIns="0" bIns="0" rtlCol="0" anchor="ctr"/>
          <a:lstStyle/>
          <a:p>
            <a:pPr indent="0" marL="0">
              <a:buNone/>
            </a:pPr>
            <a:r>
              <a:rPr lang="en-US" sz="12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46" name="Text 43"/>
          <p:cNvSpPr txBox="1"/>
          <p:nvPr/>
        </p:nvSpPr>
        <p:spPr>
          <a:xfrm>
            <a:off x="4663440" y="3438144"/>
            <a:ext cx="3474720" cy="219456"/>
          </a:xfrm>
          <a:prstGeom prst="rect">
            <a:avLst/>
          </a:prstGeom>
          <a:noFill/>
          <a:ln/>
        </p:spPr>
        <p:txBody>
          <a:bodyPr wrap="square" lIns="0" tIns="0" rIns="0" bIns="0" rtlCol="0" anchor="ctr"/>
          <a:lstStyle/>
          <a:p>
            <a:pPr indent="0" marL="0">
              <a:buNone/>
            </a:pPr>
            <a:r>
              <a:rPr lang="en-US" sz="1200" b="1" dirty="0">
                <a:solidFill>
                  <a:srgbClr val="141C24"/>
                </a:solidFill>
                <a:latin typeface="Calibri" pitchFamily="34" charset="0"/>
                <a:ea typeface="Calibri" pitchFamily="34" charset="-122"/>
                <a:cs typeface="Calibri" pitchFamily="34" charset="-120"/>
              </a:rPr>
              <a:t>−₹11.6 cr</a:t>
            </a:r>
            <a:pPr indent="0" marL="0">
              <a:buNone/>
            </a:pPr>
            <a:r>
              <a:rPr lang="en-US" sz="950" dirty="0">
                <a:solidFill>
                  <a:srgbClr val="334150"/>
                </a:solidFill>
                <a:latin typeface="Calibri" pitchFamily="34" charset="0"/>
                <a:ea typeface="Calibri" pitchFamily="34" charset="-122"/>
                <a:cs typeface="Calibri" pitchFamily="34" charset="-120"/>
              </a:rPr>
              <a:t>  commercial system after 5 years</a:t>
            </a:r>
            <a:endParaRPr lang="en-US" sz="950" dirty="0"/>
          </a:p>
        </p:txBody>
      </p:sp>
      <p:sp>
        <p:nvSpPr>
          <p:cNvPr id="47" name="Text 44"/>
          <p:cNvSpPr txBox="1"/>
          <p:nvPr/>
        </p:nvSpPr>
        <p:spPr>
          <a:xfrm>
            <a:off x="4663440" y="3657600"/>
            <a:ext cx="3474720" cy="219456"/>
          </a:xfrm>
          <a:prstGeom prst="rect">
            <a:avLst/>
          </a:prstGeom>
          <a:noFill/>
          <a:ln/>
        </p:spPr>
        <p:txBody>
          <a:bodyPr wrap="square" lIns="0" tIns="0" rIns="0" bIns="0" rtlCol="0" anchor="ctr"/>
          <a:lstStyle/>
          <a:p>
            <a:pPr indent="0" marL="0">
              <a:buNone/>
            </a:pPr>
            <a:r>
              <a:rPr lang="en-US" sz="12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revenue lost to downgrade = 2-yr payback</a:t>
            </a:r>
            <a:endParaRPr lang="en-US" sz="950" dirty="0"/>
          </a:p>
        </p:txBody>
      </p:sp>
      <p:sp>
        <p:nvSpPr>
          <p:cNvPr id="48" name="Shape 45"/>
          <p:cNvSpPr/>
          <p:nvPr/>
        </p:nvSpPr>
        <p:spPr>
          <a:xfrm>
            <a:off x="8321040" y="1234440"/>
            <a:ext cx="3410712" cy="274320"/>
          </a:xfrm>
          <a:prstGeom prst="rect">
            <a:avLst/>
          </a:prstGeom>
          <a:solidFill>
            <a:srgbClr val="2B5B80"/>
          </a:solidFill>
          <a:ln w="12700">
            <a:solidFill>
              <a:srgbClr val="2B5B80"/>
            </a:solidFill>
            <a:prstDash val="solid"/>
          </a:ln>
        </p:spPr>
      </p:sp>
      <p:sp>
        <p:nvSpPr>
          <p:cNvPr id="49" name="Text 46"/>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50" name="Text 47"/>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51" name="Shape 48"/>
          <p:cNvSpPr/>
          <p:nvPr/>
        </p:nvSpPr>
        <p:spPr>
          <a:xfrm>
            <a:off x="9930711" y="1691640"/>
            <a:ext cx="257142" cy="182880"/>
          </a:xfrm>
          <a:prstGeom prst="rect">
            <a:avLst/>
          </a:prstGeom>
          <a:solidFill>
            <a:srgbClr val="0086C3"/>
          </a:solidFill>
          <a:ln w="12700">
            <a:solidFill>
              <a:srgbClr val="0086C3"/>
            </a:solidFill>
            <a:prstDash val="solid"/>
          </a:ln>
        </p:spPr>
      </p:sp>
      <p:sp>
        <p:nvSpPr>
          <p:cNvPr id="52" name="Shape 49"/>
          <p:cNvSpPr/>
          <p:nvPr/>
        </p:nvSpPr>
        <p:spPr>
          <a:xfrm>
            <a:off x="10187853" y="1691640"/>
            <a:ext cx="894936" cy="182880"/>
          </a:xfrm>
          <a:prstGeom prst="rect">
            <a:avLst/>
          </a:prstGeom>
          <a:solidFill>
            <a:srgbClr val="9AA7B4"/>
          </a:solidFill>
          <a:ln w="12700">
            <a:solidFill>
              <a:srgbClr val="9AA7B4"/>
            </a:solidFill>
            <a:prstDash val="solid"/>
          </a:ln>
        </p:spPr>
      </p:sp>
      <p:sp>
        <p:nvSpPr>
          <p:cNvPr id="53" name="Text 50"/>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54" name="Text 51"/>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55" name="Shape 52"/>
          <p:cNvSpPr/>
          <p:nvPr/>
        </p:nvSpPr>
        <p:spPr>
          <a:xfrm>
            <a:off x="10007651" y="2093976"/>
            <a:ext cx="180202" cy="182880"/>
          </a:xfrm>
          <a:prstGeom prst="rect">
            <a:avLst/>
          </a:prstGeom>
          <a:solidFill>
            <a:srgbClr val="0086C3"/>
          </a:solidFill>
          <a:ln w="12700">
            <a:solidFill>
              <a:srgbClr val="0086C3"/>
            </a:solidFill>
            <a:prstDash val="solid"/>
          </a:ln>
        </p:spPr>
      </p:sp>
      <p:sp>
        <p:nvSpPr>
          <p:cNvPr id="56" name="Shape 53"/>
          <p:cNvSpPr/>
          <p:nvPr/>
        </p:nvSpPr>
        <p:spPr>
          <a:xfrm>
            <a:off x="10187853" y="2093976"/>
            <a:ext cx="894936" cy="182880"/>
          </a:xfrm>
          <a:prstGeom prst="rect">
            <a:avLst/>
          </a:prstGeom>
          <a:solidFill>
            <a:srgbClr val="9AA7B4"/>
          </a:solidFill>
          <a:ln w="12700">
            <a:solidFill>
              <a:srgbClr val="9AA7B4"/>
            </a:solidFill>
            <a:prstDash val="solid"/>
          </a:ln>
        </p:spPr>
      </p:sp>
      <p:sp>
        <p:nvSpPr>
          <p:cNvPr id="57" name="Text 54"/>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58" name="Text 55"/>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59" name="Shape 56"/>
          <p:cNvSpPr/>
          <p:nvPr/>
        </p:nvSpPr>
        <p:spPr>
          <a:xfrm>
            <a:off x="10076492" y="2496312"/>
            <a:ext cx="111361" cy="182880"/>
          </a:xfrm>
          <a:prstGeom prst="rect">
            <a:avLst/>
          </a:prstGeom>
          <a:solidFill>
            <a:srgbClr val="0086C3"/>
          </a:solidFill>
          <a:ln w="12700">
            <a:solidFill>
              <a:srgbClr val="0086C3"/>
            </a:solidFill>
            <a:prstDash val="solid"/>
          </a:ln>
        </p:spPr>
      </p:sp>
      <p:sp>
        <p:nvSpPr>
          <p:cNvPr id="60" name="Shape 57"/>
          <p:cNvSpPr/>
          <p:nvPr/>
        </p:nvSpPr>
        <p:spPr>
          <a:xfrm>
            <a:off x="10187853" y="2496312"/>
            <a:ext cx="224746" cy="182880"/>
          </a:xfrm>
          <a:prstGeom prst="rect">
            <a:avLst/>
          </a:prstGeom>
          <a:solidFill>
            <a:srgbClr val="9AA7B4"/>
          </a:solidFill>
          <a:ln w="12700">
            <a:solidFill>
              <a:srgbClr val="9AA7B4"/>
            </a:solidFill>
            <a:prstDash val="solid"/>
          </a:ln>
        </p:spPr>
      </p:sp>
      <p:sp>
        <p:nvSpPr>
          <p:cNvPr id="61" name="Text 58"/>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62" name="Text 59"/>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63" name="Shape 60"/>
          <p:cNvSpPr/>
          <p:nvPr/>
        </p:nvSpPr>
        <p:spPr>
          <a:xfrm>
            <a:off x="10074467" y="2898648"/>
            <a:ext cx="113386" cy="182880"/>
          </a:xfrm>
          <a:prstGeom prst="rect">
            <a:avLst/>
          </a:prstGeom>
          <a:solidFill>
            <a:srgbClr val="0086C3"/>
          </a:solidFill>
          <a:ln w="12700">
            <a:solidFill>
              <a:srgbClr val="0086C3"/>
            </a:solidFill>
            <a:prstDash val="solid"/>
          </a:ln>
        </p:spPr>
      </p:sp>
      <p:sp>
        <p:nvSpPr>
          <p:cNvPr id="64" name="Shape 61"/>
          <p:cNvSpPr/>
          <p:nvPr/>
        </p:nvSpPr>
        <p:spPr>
          <a:xfrm>
            <a:off x="10187853" y="2898648"/>
            <a:ext cx="113386" cy="182880"/>
          </a:xfrm>
          <a:prstGeom prst="rect">
            <a:avLst/>
          </a:prstGeom>
          <a:solidFill>
            <a:srgbClr val="9AA7B4"/>
          </a:solidFill>
          <a:ln w="12700">
            <a:solidFill>
              <a:srgbClr val="9AA7B4"/>
            </a:solidFill>
            <a:prstDash val="solid"/>
          </a:ln>
        </p:spPr>
      </p:sp>
      <p:sp>
        <p:nvSpPr>
          <p:cNvPr id="65" name="Text 62"/>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66" name="Text 63"/>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67" name="Shape 64"/>
          <p:cNvSpPr/>
          <p:nvPr/>
        </p:nvSpPr>
        <p:spPr>
          <a:xfrm>
            <a:off x="9930711" y="3300984"/>
            <a:ext cx="257142" cy="182880"/>
          </a:xfrm>
          <a:prstGeom prst="rect">
            <a:avLst/>
          </a:prstGeom>
          <a:solidFill>
            <a:srgbClr val="0086C3"/>
          </a:solidFill>
          <a:ln w="12700">
            <a:solidFill>
              <a:srgbClr val="0086C3"/>
            </a:solidFill>
            <a:prstDash val="solid"/>
          </a:ln>
        </p:spPr>
      </p:sp>
      <p:sp>
        <p:nvSpPr>
          <p:cNvPr id="68" name="Text 65"/>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69" name="Shape 66"/>
          <p:cNvSpPr/>
          <p:nvPr/>
        </p:nvSpPr>
        <p:spPr>
          <a:xfrm>
            <a:off x="10178709" y="1591056"/>
            <a:ext cx="18288" cy="2057400"/>
          </a:xfrm>
          <a:prstGeom prst="rect">
            <a:avLst/>
          </a:prstGeom>
          <a:solidFill>
            <a:srgbClr val="143A5A"/>
          </a:solidFill>
          <a:ln w="12700">
            <a:solidFill>
              <a:srgbClr val="143A5A"/>
            </a:solidFill>
            <a:prstDash val="solid"/>
          </a:ln>
        </p:spPr>
      </p:sp>
      <p:sp>
        <p:nvSpPr>
          <p:cNvPr id="70" name="Text 67"/>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71" name="Shape 68"/>
          <p:cNvSpPr/>
          <p:nvPr/>
        </p:nvSpPr>
        <p:spPr>
          <a:xfrm>
            <a:off x="457200" y="4005072"/>
            <a:ext cx="7680960" cy="274320"/>
          </a:xfrm>
          <a:prstGeom prst="rect">
            <a:avLst/>
          </a:prstGeom>
          <a:solidFill>
            <a:srgbClr val="2B5B80"/>
          </a:solidFill>
          <a:ln w="12700">
            <a:solidFill>
              <a:srgbClr val="2B5B80"/>
            </a:solidFill>
            <a:prstDash val="solid"/>
          </a:ln>
        </p:spPr>
      </p:sp>
      <p:sp>
        <p:nvSpPr>
          <p:cNvPr id="72" name="Text 69"/>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73" name="Shape 70"/>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74" name="Shape 71"/>
          <p:cNvSpPr/>
          <p:nvPr/>
        </p:nvSpPr>
        <p:spPr>
          <a:xfrm>
            <a:off x="850392" y="4425696"/>
            <a:ext cx="457200" cy="457200"/>
          </a:xfrm>
          <a:prstGeom prst="ellipse">
            <a:avLst/>
          </a:prstGeom>
          <a:solidFill>
            <a:srgbClr val="0086C3"/>
          </a:solidFill>
          <a:ln w="12700">
            <a:solidFill>
              <a:srgbClr val="0086C3"/>
            </a:solidFill>
            <a:prstDash val="solid"/>
          </a:ln>
        </p:spPr>
      </p:sp>
      <p:pic>
        <p:nvPicPr>
          <p:cNvPr id="75"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76" name="Text 72"/>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77" name="Text 73"/>
          <p:cNvSpPr txBox="1"/>
          <p:nvPr/>
        </p:nvSpPr>
        <p:spPr>
          <a:xfrm>
            <a:off x="521208"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78" name="Text 74"/>
          <p:cNvSpPr txBox="1"/>
          <p:nvPr/>
        </p:nvSpPr>
        <p:spPr>
          <a:xfrm>
            <a:off x="493776"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today: spot checks</a:t>
            </a:r>
            <a:endParaRPr lang="en-US" sz="900" dirty="0"/>
          </a:p>
        </p:txBody>
      </p:sp>
      <p:sp>
        <p:nvSpPr>
          <p:cNvPr id="79" name="Shape 75"/>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80" name="Shape 76"/>
          <p:cNvSpPr/>
          <p:nvPr/>
        </p:nvSpPr>
        <p:spPr>
          <a:xfrm>
            <a:off x="2144268" y="4425696"/>
            <a:ext cx="457200" cy="457200"/>
          </a:xfrm>
          <a:prstGeom prst="ellipse">
            <a:avLst/>
          </a:prstGeom>
          <a:solidFill>
            <a:srgbClr val="0086C3"/>
          </a:solidFill>
          <a:ln w="12700">
            <a:solidFill>
              <a:srgbClr val="0086C3"/>
            </a:solidFill>
            <a:prstDash val="solid"/>
          </a:ln>
        </p:spPr>
      </p:sp>
      <p:pic>
        <p:nvPicPr>
          <p:cNvPr id="81"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82" name="Text 77"/>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83" name="Text 78"/>
          <p:cNvSpPr txBox="1"/>
          <p:nvPr/>
        </p:nvSpPr>
        <p:spPr>
          <a:xfrm>
            <a:off x="1815084"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for rail, metro, auto buyers</a:t>
            </a:r>
            <a:endParaRPr lang="en-US" sz="900" dirty="0"/>
          </a:p>
        </p:txBody>
      </p:sp>
      <p:sp>
        <p:nvSpPr>
          <p:cNvPr id="84" name="Text 79"/>
          <p:cNvSpPr txBox="1"/>
          <p:nvPr/>
        </p:nvSpPr>
        <p:spPr>
          <a:xfrm>
            <a:off x="1787652"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Vande Bharat supplier</a:t>
            </a:r>
            <a:endParaRPr lang="en-US" sz="900" dirty="0"/>
          </a:p>
        </p:txBody>
      </p:sp>
      <p:sp>
        <p:nvSpPr>
          <p:cNvPr id="85" name="Shape 80"/>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86" name="Shape 81"/>
          <p:cNvSpPr/>
          <p:nvPr/>
        </p:nvSpPr>
        <p:spPr>
          <a:xfrm>
            <a:off x="3438144" y="4425696"/>
            <a:ext cx="457200" cy="457200"/>
          </a:xfrm>
          <a:prstGeom prst="ellipse">
            <a:avLst/>
          </a:prstGeom>
          <a:solidFill>
            <a:srgbClr val="0086C3"/>
          </a:solidFill>
          <a:ln w="12700">
            <a:solidFill>
              <a:srgbClr val="0086C3"/>
            </a:solidFill>
            <a:prstDash val="solid"/>
          </a:ln>
        </p:spPr>
      </p:sp>
      <p:pic>
        <p:nvPicPr>
          <p:cNvPr id="87"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88" name="Text 82"/>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89" name="Text 83"/>
          <p:cNvSpPr txBox="1"/>
          <p:nvPr/>
        </p:nvSpPr>
        <p:spPr>
          <a:xfrm>
            <a:off x="3108960"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90" name="Text 84"/>
          <p:cNvSpPr txBox="1"/>
          <p:nvPr/>
        </p:nvSpPr>
        <p:spPr>
          <a:xfrm>
            <a:off x="3081528"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6 families, 6 owners</a:t>
            </a:r>
            <a:endParaRPr lang="en-US" sz="900" dirty="0"/>
          </a:p>
        </p:txBody>
      </p:sp>
      <p:sp>
        <p:nvSpPr>
          <p:cNvPr id="91" name="Shape 85"/>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92" name="Shape 86"/>
          <p:cNvSpPr/>
          <p:nvPr/>
        </p:nvSpPr>
        <p:spPr>
          <a:xfrm>
            <a:off x="4732020" y="4425696"/>
            <a:ext cx="457200" cy="457200"/>
          </a:xfrm>
          <a:prstGeom prst="ellipse">
            <a:avLst/>
          </a:prstGeom>
          <a:solidFill>
            <a:srgbClr val="0086C3"/>
          </a:solidFill>
          <a:ln w="12700">
            <a:solidFill>
              <a:srgbClr val="0086C3"/>
            </a:solidFill>
            <a:prstDash val="solid"/>
          </a:ln>
        </p:spPr>
      </p:sp>
      <p:pic>
        <p:nvPicPr>
          <p:cNvPr id="93"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94" name="Text 87"/>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95" name="Text 88"/>
          <p:cNvSpPr txBox="1"/>
          <p:nvPr/>
        </p:nvSpPr>
        <p:spPr>
          <a:xfrm>
            <a:off x="4402836"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96" name="Text 89"/>
          <p:cNvSpPr txBox="1"/>
          <p:nvPr/>
        </p:nvSpPr>
        <p:spPr>
          <a:xfrm>
            <a:off x="4375404"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Ternium's business case</a:t>
            </a:r>
            <a:endParaRPr lang="en-US" sz="900" dirty="0"/>
          </a:p>
        </p:txBody>
      </p:sp>
      <p:sp>
        <p:nvSpPr>
          <p:cNvPr id="97" name="Shape 9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98" name="Shape 91"/>
          <p:cNvSpPr/>
          <p:nvPr/>
        </p:nvSpPr>
        <p:spPr>
          <a:xfrm>
            <a:off x="6025896" y="4425696"/>
            <a:ext cx="457200" cy="457200"/>
          </a:xfrm>
          <a:prstGeom prst="ellipse">
            <a:avLst/>
          </a:prstGeom>
          <a:solidFill>
            <a:srgbClr val="0086C3"/>
          </a:solidFill>
          <a:ln w="12700">
            <a:solidFill>
              <a:srgbClr val="0086C3"/>
            </a:solidFill>
            <a:prstDash val="solid"/>
          </a:ln>
        </p:spPr>
      </p:sp>
      <p:pic>
        <p:nvPicPr>
          <p:cNvPr id="9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100" name="Text 9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101" name="Text 93"/>
          <p:cNvSpPr txBox="1"/>
          <p:nvPr/>
        </p:nvSpPr>
        <p:spPr>
          <a:xfrm>
            <a:off x="5696712"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rework and remelt; backs net zero</a:t>
            </a:r>
            <a:endParaRPr lang="en-US" sz="900" dirty="0"/>
          </a:p>
        </p:txBody>
      </p:sp>
      <p:sp>
        <p:nvSpPr>
          <p:cNvPr id="102" name="Text 94"/>
          <p:cNvSpPr txBox="1"/>
          <p:nvPr/>
        </p:nvSpPr>
        <p:spPr>
          <a:xfrm>
            <a:off x="5669280"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JSL: 1.76 tCO2e/t, FY26</a:t>
            </a:r>
            <a:endParaRPr lang="en-US" sz="900" dirty="0"/>
          </a:p>
        </p:txBody>
      </p:sp>
      <p:sp>
        <p:nvSpPr>
          <p:cNvPr id="103" name="Shape 95"/>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104" name="Shape 96"/>
          <p:cNvSpPr/>
          <p:nvPr/>
        </p:nvSpPr>
        <p:spPr>
          <a:xfrm>
            <a:off x="7319772" y="4425696"/>
            <a:ext cx="457200" cy="457200"/>
          </a:xfrm>
          <a:prstGeom prst="ellipse">
            <a:avLst/>
          </a:prstGeom>
          <a:solidFill>
            <a:srgbClr val="0086C3"/>
          </a:solidFill>
          <a:ln w="12700">
            <a:solidFill>
              <a:srgbClr val="0086C3"/>
            </a:solidFill>
            <a:prstDash val="solid"/>
          </a:ln>
        </p:spPr>
      </p:sp>
      <p:pic>
        <p:nvPicPr>
          <p:cNvPr id="105"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106" name="Text 97"/>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107" name="Text 98"/>
          <p:cNvSpPr txBox="1"/>
          <p:nvPr/>
        </p:nvSpPr>
        <p:spPr>
          <a:xfrm>
            <a:off x="6990588"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108" name="Text 99"/>
          <p:cNvSpPr txBox="1"/>
          <p:nvPr/>
        </p:nvSpPr>
        <p:spPr>
          <a:xfrm>
            <a:off x="6963156"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HR AI: 95% self-served</a:t>
            </a:r>
            <a:endParaRPr lang="en-US" sz="900" dirty="0"/>
          </a:p>
        </p:txBody>
      </p:sp>
      <p:sp>
        <p:nvSpPr>
          <p:cNvPr id="109" name="Shape 100"/>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110" name="Text 101"/>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111" name="Text 102"/>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112" name="Text 103"/>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2026-09-27T12:06:37Z</dcterms:created>
  <dcterms:modified xsi:type="dcterms:W3CDTF">2026-09-27T12:06:37Z</dcterms:modified>
</cp:coreProperties>
</file>