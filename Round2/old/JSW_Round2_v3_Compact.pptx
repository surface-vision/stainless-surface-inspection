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Trained on defects only</c:v>
                </c:pt>
              </c:strCache>
            </c:strRef>
          </c:tx>
          <c:spPr>
            <a:solidFill>
              <a:srgbClr val="9AA7B4"/>
            </a:solidFill>
            <a:effectLst/>
          </c:spPr>
          <c:invertIfNegative val="0"/>
          <c:dLbls>
            <c:numFmt formatCode="0.0&quot;%&quot;" sourceLinked="0"/>
            <c:txPr>
              <a:bodyPr/>
              <a:lstStyle/>
              <a:p>
                <a:pPr>
                  <a:defRPr b="1" i="0" strike="noStrike" sz="1000" u="none">
                    <a:solidFill>
                      <a:srgbClr val="141C24"/>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Clean strip wrongly flagged</c:v>
                  </c:pt>
                  <c:pt idx="1">
                    <c:v>Defects caught</c:v>
                  </c:pt>
                </c:lvl>
              </c:multiLvlStrCache>
            </c:multiLvlStrRef>
          </c:cat>
          <c:val>
            <c:numRef>
              <c:f>Sheet1!$B$2:$B$3</c:f>
              <c:numCache>
                <c:formatCode>General</c:formatCode>
                <c:ptCount val="2"/>
                <c:pt idx="0">
                  <c:v>93.7</c:v>
                </c:pt>
                <c:pt idx="1">
                  <c:v>72</c:v>
                </c:pt>
              </c:numCache>
            </c:numRef>
          </c:val>
        </c:ser>
        <c:ser>
          <c:idx val="1"/>
          <c:order val="1"/>
          <c:tx>
            <c:strRef>
              <c:f>Sheet1!$C$1</c:f>
              <c:strCache>
                <c:ptCount val="1"/>
                <c:pt idx="0">
                  <c:v>With clean strip added (ours)</c:v>
                </c:pt>
              </c:strCache>
            </c:strRef>
          </c:tx>
          <c:spPr>
            <a:solidFill>
              <a:srgbClr val="0086C3"/>
            </a:solidFill>
            <a:effectLst/>
          </c:spPr>
          <c:invertIfNegative val="0"/>
          <c:dLbls>
            <c:numFmt formatCode="0.0&quot;%&quot;" sourceLinked="0"/>
            <c:txPr>
              <a:bodyPr/>
              <a:lstStyle/>
              <a:p>
                <a:pPr>
                  <a:defRPr b="1" i="0" strike="noStrike" sz="1000" u="none">
                    <a:solidFill>
                      <a:srgbClr val="141C24"/>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Clean strip wrongly flagged</c:v>
                  </c:pt>
                  <c:pt idx="1">
                    <c:v>Defects caught</c:v>
                  </c:pt>
                </c:lvl>
              </c:multiLvlStrCache>
            </c:multiLvlStrRef>
          </c:cat>
          <c:val>
            <c:numRef>
              <c:f>Sheet1!$C$2:$C$3</c:f>
              <c:numCache>
                <c:formatCode>General</c:formatCode>
                <c:ptCount val="2"/>
                <c:pt idx="0">
                  <c:v>32.5</c:v>
                </c:pt>
                <c:pt idx="1">
                  <c:v>86.6</c:v>
                </c:pt>
              </c:numCache>
            </c:numRef>
          </c:val>
        </c:ser>
        <c:dLbls>
          <c:numFmt formatCode="0.0&quot;%&quot;" sourceLinked="0"/>
          <c:txPr>
            <a:bodyPr/>
            <a:lstStyle/>
            <a:p>
              <a:pPr>
                <a:defRPr b="1" i="0" strike="noStrike" sz="1000" u="none">
                  <a:solidFill>
                    <a:srgbClr val="141C24"/>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334150"/>
                </a:solidFill>
                <a:latin typeface="Calibri"/>
              </a:defRPr>
            </a:pPr>
            <a:endParaRPr lang="en-US"/>
          </a:p>
        </c:txPr>
        <c:crossAx val="2094734552"/>
        <c:crosses val="autoZero"/>
        <c:auto val="1"/>
        <c:lblAlgn val="ctr"/>
        <c:noMultiLvlLbl val="1"/>
      </c:catAx>
      <c:valAx>
        <c:axId val="2094734552"/>
        <c:scaling>
          <c:orientation val="minMax"/>
          <c:max val="1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Cost</c:v>
                </c:pt>
              </c:strCache>
            </c:strRef>
          </c:tx>
          <c:spPr>
            <a:solidFill>
              <a:schemeClr val="accent1"/>
            </a:solidFill>
            <a:ln w="9525" cap="flat">
              <a:solidFill>
                <a:srgbClr val="F9F9F9"/>
              </a:solidFill>
              <a:prstDash val="solid"/>
              <a:round/>
            </a:ln>
            <a:effectLst/>
          </c:spPr>
          <c:dPt>
            <c:idx val="0"/>
            <c:bubble3D val="0"/>
            <c:spPr>
              <a:solidFill>
                <a:srgbClr val="143A5A"/>
              </a:solidFill>
              <a:ln w="12700" cap="flat">
                <a:solidFill>
                  <a:srgbClr val="FFFFFF"/>
                </a:solidFill>
                <a:prstDash val="solid"/>
                <a:round/>
              </a:ln>
              <a:effectLst/>
            </c:spPr>
          </c:dPt>
          <c:dPt>
            <c:idx val="1"/>
            <c:bubble3D val="0"/>
            <c:spPr>
              <a:solidFill>
                <a:srgbClr val="1F6FA8"/>
              </a:solidFill>
              <a:ln w="12700" cap="flat">
                <a:solidFill>
                  <a:srgbClr val="FFFFFF"/>
                </a:solidFill>
                <a:prstDash val="solid"/>
                <a:round/>
              </a:ln>
              <a:effectLst/>
            </c:spPr>
          </c:dPt>
          <c:dPt>
            <c:idx val="2"/>
            <c:bubble3D val="0"/>
            <c:spPr>
              <a:solidFill>
                <a:srgbClr val="5E9CCB"/>
              </a:solidFill>
              <a:ln w="12700" cap="flat">
                <a:solidFill>
                  <a:srgbClr val="FFFFFF"/>
                </a:solidFill>
                <a:prstDash val="solid"/>
                <a:round/>
              </a:ln>
              <a:effectLst/>
            </c:spPr>
          </c:dPt>
          <c:dPt>
            <c:idx val="3"/>
            <c:bubble3D val="0"/>
            <c:spPr>
              <a:solidFill>
                <a:srgbClr val="A9CBE6"/>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Cameras &amp; lighting</c:v>
                </c:pt>
                <c:pt idx="1">
                  <c:v>Installation &amp; integration</c:v>
                </c:pt>
                <c:pt idx="2">
                  <c:v>Computing hardware</c:v>
                </c:pt>
                <c:pt idx="3">
                  <c:v>Training on JSL strip</c:v>
                </c:pt>
              </c:strCache>
            </c:strRef>
          </c:cat>
          <c:val>
            <c:numRef>
              <c:f>Sheet1!$B$2:$B$5</c:f>
              <c:numCache>
                <c:ptCount val="4"/>
                <c:pt idx="0">
                  <c:v>115</c:v>
                </c:pt>
                <c:pt idx="1">
                  <c:v>120</c:v>
                </c:pt>
                <c:pt idx="2">
                  <c:v>60</c:v>
                </c:pt>
                <c:pt idx="3">
                  <c:v>40</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strip of six images is real output from our model on held-out steel images. The QR opens the live demo, which runs in the judge's browser. Four numbers tell the story: accurate within the published band, false alarms on clean steel cut from 93.7% to 32.5%, a fraction of commercial cost, and about two years to pay back on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Walk the ribbon left to right: a sliver born at the caster is only seen at finishing, after hot rolling, annealing, pickling and cold rolling have all been paid for. Nickel is why this hurts more on stainless: INR 1.26-1.65 lakh of nickel in every tonne of 304. The cost-of-quality frame is the output: AI inspection is an appraisal cost that moves spend out of internal and external failure. "Seen today" is typical practice; JSL's actual coverage is a P0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stainless-specific. The six images are our model's real detections on held-out frames. Each family is born at a different stage, so a typed detection can go straight to the right owner as a work order. The owner mapping draws on the metallurgy literature and needs a JSL metallurgist's sign-off in P0. The grade matrix is a hypothesis; its output is the pilot grade, 300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from our own tests, each of which changed the design. One: a model trained only on defect images flags 93.7% of clean steel; adding real clean strip cuts that to 32.5% and catches more defects. Two: a bigger model and sharper images did not improve accuracy, so money goes into cameras. Three: at full detail a 250 m/min line needs about 18 processors; resolution is a spec decision we make with JSL on day one. Four: operators act only on alarms they trust, so every alarm carries a calibrated confidence and passes an is-this-steel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Stages 2 to 4 are built and running today, including in the browser demo. Stage 5 has coil rules built, but grade- and finish-specific limits need JSL input. Stages 1 and 6 are the plant-side pilot work. What makes this more than a standard detector: it is trained on clean strip as well as defects, every defect is routed to the process that caused it, a second check catches defects it was never taught, and it can learn from JSL's unlabelled image archive. Build vs buy: commercial systems are proven but cost USD 1-3M per line and keep the model closed; hybrid is never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Three public datasets, about 10,100 images, all scored on images the model never saw in training. Per defect, four of six families sit at or above the published range; crazing and rolled-in scale are low-contrast textures and are weaker. The honest headline is the second weak spot: on real mill frames (Severstal) accuracy drops to 0.46 from 0.76 on the benchmark. That is exactly why P1 trains on JSL's own strip before anything is trusted. Roll marks score 0.20 on GC10 because there are only a few dozen examples; edge cameras and targeted labelling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Five phases, 20 months, with a hard go/no-go at month 7 after shadow mode. The system never acts on the mill until P3; before that it only reads data and advises. Cost is our estimate, INR 2.5-4.2 crore per line, against USD 1-3M (about INR 10-29 crore) for a commercial system; vendor quotes replace it in P0. The honest gap is clean strip wrongly flagged: 32.5% measured against a 25% target, which is exactly why P1 trains on JSL's own strip.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At 1% of volume downgraded at a 10% discount, one 0.4 Mt line loses INR 6.7 crore a year; recovering 30% less INR 0.5 crore run cost pays back INR 3.35 crore capex in about 2.2 years, against 12.7 years for a commercial system. Downgrade rate and recovery share dominate the tornado; neither is public, so both are measured in P2-P3 before fleet spend. Close on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image" Target="../media/image-4-1.png"/><Relationship Id="rId4" Type="http://schemas.openxmlformats.org/officeDocument/2006/relationships/image" Target="../media/image-4-1.png"/><Relationship Id="rId5" Type="http://schemas.openxmlformats.org/officeDocument/2006/relationships/image" Target="../media/image-4-1.png"/><Relationship Id="rId6" Type="http://schemas.openxmlformats.org/officeDocument/2006/relationships/image" Target="../media/image-4-1.png"/><Relationship Id="rId7" Type="http://schemas.openxmlformats.org/officeDocument/2006/relationships/image" Target="../media/image-4-1.png"/><Relationship Id="rId8" Type="http://schemas.openxmlformats.org/officeDocument/2006/relationships/image" Target="../media/image-4-1.png"/><Relationship Id="rId9" Type="http://schemas.openxmlformats.org/officeDocument/2006/relationships/image" Target="../media/image-4-1.png"/><Relationship Id="rId10" Type="http://schemas.openxmlformats.org/officeDocument/2006/relationships/image" Target="../media/image-4-1.png"/><Relationship Id="rId11" Type="http://schemas.openxmlformats.org/officeDocument/2006/relationships/image" Target="../media/image-4-1.png"/><Relationship Id="rId12" Type="http://schemas.openxmlformats.org/officeDocument/2006/relationships/image" Target="../media/image-4-1.png"/><Relationship Id="rId13" Type="http://schemas.openxmlformats.org/officeDocument/2006/relationships/image" Target="../media/image-4-1.png"/><Relationship Id="rId14" Type="http://schemas.openxmlformats.org/officeDocument/2006/relationships/image" Target="../media/image-4-1.png"/><Relationship Id="rId15" Type="http://schemas.openxmlformats.org/officeDocument/2006/relationships/image" Target="../media/image-4-1.png"/><Relationship Id="rId16" Type="http://schemas.openxmlformats.org/officeDocument/2006/relationships/image" Target="../media/image-4-1.png"/><Relationship Id="rId17" Type="http://schemas.openxmlformats.org/officeDocument/2006/relationships/image" Target="../media/image-4-1.png"/><Relationship Id="rId18" Type="http://schemas.openxmlformats.org/officeDocument/2006/relationships/image" Target="../media/image-4-1.png"/><Relationship Id="rId19" Type="http://schemas.openxmlformats.org/officeDocument/2006/relationships/image" Target="../media/image-4-1.png"/><Relationship Id="rId20" Type="http://schemas.openxmlformats.org/officeDocument/2006/relationships/image" Target="../media/image-4-19.png"/><Relationship Id="rId21" Type="http://schemas.openxmlformats.org/officeDocument/2006/relationships/image" Target="../media/image-4-20.png"/><Relationship Id="rId22" Type="http://schemas.openxmlformats.org/officeDocument/2006/relationships/image" Target="../media/image-4-21.png"/><Relationship Id="rId23" Type="http://schemas.openxmlformats.org/officeDocument/2006/relationships/slideLayout" Target="../slideLayouts/slideLayout1.xml"/><Relationship Id="rId2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5.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A5A"/>
        </a:solidFill>
      </p:bgPr>
    </p:bg>
    <p:spTree>
      <p:nvGrpSpPr>
        <p:cNvPr id="1" name=""/>
        <p:cNvGrpSpPr/>
        <p:nvPr/>
      </p:nvGrpSpPr>
      <p:grpSpPr>
        <a:xfrm>
          <a:off x="0" y="0"/>
          <a:ext cx="0" cy="0"/>
          <a:chOff x="0" y="0"/>
          <a:chExt cx="0" cy="0"/>
        </a:xfrm>
      </p:grpSpPr>
      <p:pic>
        <p:nvPicPr>
          <p:cNvPr id="2" name="Image 0" descr="img/cover_coil.jpg">    </p:cNvPr>
          <p:cNvPicPr>
            <a:picLocks noChangeAspect="1"/>
          </p:cNvPicPr>
          <p:nvPr/>
        </p:nvPicPr>
        <p:blipFill>
          <a:blip r:embed="rId1"/>
          <a:srcRect l="0" r="0" t="0" b="0"/>
          <a:stretch/>
        </p:blipFill>
        <p:spPr>
          <a:xfrm>
            <a:off x="7818120" y="0"/>
            <a:ext cx="4373575" cy="6858000"/>
          </a:xfrm>
          <a:prstGeom prst="rect">
            <a:avLst/>
          </a:prstGeom>
        </p:spPr>
      </p:pic>
      <p:sp>
        <p:nvSpPr>
          <p:cNvPr id="3" name="Shape 0"/>
          <p:cNvSpPr/>
          <p:nvPr/>
        </p:nvSpPr>
        <p:spPr>
          <a:xfrm>
            <a:off x="7818120" y="0"/>
            <a:ext cx="4373575" cy="6858000"/>
          </a:xfrm>
          <a:prstGeom prst="rect">
            <a:avLst/>
          </a:prstGeom>
          <a:solidFill>
            <a:srgbClr val="143A5A">
              <a:alpha val="55000"/>
            </a:srgbClr>
          </a:solidFill>
          <a:ln w="12700">
            <a:solidFill>
              <a:srgbClr val="143A5A"/>
            </a:solidFill>
            <a:prstDash val="solid"/>
          </a:ln>
        </p:spPr>
      </p:sp>
      <p:sp>
        <p:nvSpPr>
          <p:cNvPr id="4" name="Shape 1"/>
          <p:cNvSpPr/>
          <p:nvPr/>
        </p:nvSpPr>
        <p:spPr>
          <a:xfrm>
            <a:off x="7818120" y="0"/>
            <a:ext cx="54864" cy="6858000"/>
          </a:xfrm>
          <a:prstGeom prst="rect">
            <a:avLst/>
          </a:prstGeom>
          <a:solidFill>
            <a:srgbClr val="0086C3"/>
          </a:solidFill>
          <a:ln w="12700">
            <a:solidFill>
              <a:srgbClr val="0086C3"/>
            </a:solidFill>
            <a:prstDash val="solid"/>
          </a:ln>
        </p:spPr>
      </p:sp>
      <p:sp>
        <p:nvSpPr>
          <p:cNvPr id="5" name="Text 2"/>
          <p:cNvSpPr txBox="1"/>
          <p:nvPr/>
        </p:nvSpPr>
        <p:spPr>
          <a:xfrm>
            <a:off x="548640" y="411480"/>
            <a:ext cx="7132320" cy="274320"/>
          </a:xfrm>
          <a:prstGeom prst="rect">
            <a:avLst/>
          </a:prstGeom>
          <a:noFill/>
          <a:ln/>
        </p:spPr>
        <p:txBody>
          <a:bodyPr wrap="square" lIns="0" tIns="0" rIns="0" bIns="0" rtlCol="0" anchor="t"/>
          <a:lstStyle/>
          <a:p>
            <a:pPr indent="0" marL="0">
              <a:buNone/>
            </a:pPr>
            <a:r>
              <a:rPr lang="en-US" sz="1100" b="1" spc="100" kern="0" dirty="0">
                <a:solidFill>
                  <a:srgbClr val="BFD2E2"/>
                </a:solidFill>
                <a:latin typeface="Calibri" pitchFamily="34" charset="0"/>
                <a:ea typeface="Calibri" pitchFamily="34" charset="-122"/>
                <a:cs typeface="Calibri" pitchFamily="34" charset="-120"/>
              </a:rPr>
              <a:t>JINDAL STAINLESS  |  STAINLESS SPARK  |  ROUND 2  |  PROBLEM STATEMENT 1</a:t>
            </a:r>
            <a:endParaRPr lang="en-US" sz="1100" dirty="0"/>
          </a:p>
        </p:txBody>
      </p:sp>
      <p:sp>
        <p:nvSpPr>
          <p:cNvPr id="6" name="Text 3"/>
          <p:cNvSpPr txBox="1"/>
          <p:nvPr/>
        </p:nvSpPr>
        <p:spPr>
          <a:xfrm>
            <a:off x="548640" y="868680"/>
            <a:ext cx="7040880" cy="13258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Catch every strip defect where it is born, not where it is shipped</a:t>
            </a:r>
            <a:endParaRPr lang="en-US" sz="3400" dirty="0"/>
          </a:p>
        </p:txBody>
      </p:sp>
      <p:sp>
        <p:nvSpPr>
          <p:cNvPr id="7" name="Text 4"/>
          <p:cNvSpPr txBox="1"/>
          <p:nvPr/>
        </p:nvSpPr>
        <p:spPr>
          <a:xfrm>
            <a:off x="548640" y="2286000"/>
            <a:ext cx="6858000" cy="640080"/>
          </a:xfrm>
          <a:prstGeom prst="rect">
            <a:avLst/>
          </a:prstGeom>
          <a:noFill/>
          <a:ln/>
        </p:spPr>
        <p:txBody>
          <a:bodyPr wrap="square" lIns="0" tIns="0" rIns="0" bIns="0" rtlCol="0" anchor="t"/>
          <a:lstStyle/>
          <a:p>
            <a:pPr indent="0" marL="0">
              <a:buNone/>
            </a:pPr>
            <a:r>
              <a:rPr lang="en-US" sz="1500" dirty="0">
                <a:solidFill>
                  <a:srgbClr val="BFD2E2"/>
                </a:solidFill>
                <a:latin typeface="Calibri" pitchFamily="34" charset="0"/>
                <a:ea typeface="Calibri" pitchFamily="34" charset="-122"/>
                <a:cs typeface="Calibri" pitchFamily="34" charset="-120"/>
              </a:rPr>
              <a:t>AI surface inspection that finds, grades and routes every stainless strip defect to the process that caused it.</a:t>
            </a:r>
            <a:endParaRPr lang="en-US" sz="1500" dirty="0"/>
          </a:p>
        </p:txBody>
      </p:sp>
      <p:sp>
        <p:nvSpPr>
          <p:cNvPr id="8" name="Shape 5"/>
          <p:cNvSpPr/>
          <p:nvPr/>
        </p:nvSpPr>
        <p:spPr>
          <a:xfrm>
            <a:off x="548640" y="3127248"/>
            <a:ext cx="45720" cy="932688"/>
          </a:xfrm>
          <a:prstGeom prst="rect">
            <a:avLst/>
          </a:prstGeom>
          <a:solidFill>
            <a:srgbClr val="0086C3"/>
          </a:solidFill>
          <a:ln w="12700">
            <a:solidFill>
              <a:srgbClr val="0086C3"/>
            </a:solidFill>
            <a:prstDash val="solid"/>
          </a:ln>
        </p:spPr>
      </p:sp>
      <p:sp>
        <p:nvSpPr>
          <p:cNvPr id="9" name="Text 6"/>
          <p:cNvSpPr txBox="1"/>
          <p:nvPr/>
        </p:nvSpPr>
        <p:spPr>
          <a:xfrm>
            <a:off x="676656" y="3090672"/>
            <a:ext cx="1600200" cy="420624"/>
          </a:xfrm>
          <a:prstGeom prst="rect">
            <a:avLst/>
          </a:prstGeom>
          <a:noFill/>
          <a:ln/>
        </p:spPr>
        <p:txBody>
          <a:bodyPr wrap="square" lIns="0" tIns="0" rIns="0" bIns="0" rtlCol="0" anchor="b"/>
          <a:lstStyle/>
          <a:p>
            <a:pPr indent="0" marL="0">
              <a:buNone/>
            </a:pPr>
            <a:r>
              <a:rPr lang="en-US" sz="2400" b="1" dirty="0">
                <a:solidFill>
                  <a:srgbClr val="FFFFFF"/>
                </a:solidFill>
                <a:latin typeface="Calibri" pitchFamily="34" charset="0"/>
                <a:ea typeface="Calibri" pitchFamily="34" charset="-122"/>
                <a:cs typeface="Calibri" pitchFamily="34" charset="-120"/>
              </a:rPr>
              <a:t>0.764</a:t>
            </a:r>
            <a:endParaRPr lang="en-US" sz="2400" dirty="0"/>
          </a:p>
        </p:txBody>
      </p:sp>
      <p:sp>
        <p:nvSpPr>
          <p:cNvPr id="10" name="Text 7"/>
          <p:cNvSpPr txBox="1"/>
          <p:nvPr/>
        </p:nvSpPr>
        <p:spPr>
          <a:xfrm>
            <a:off x="676656"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accuracy on unseen steel</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(published range 0.70-0.80)</a:t>
            </a:r>
            <a:endParaRPr lang="en-US" sz="950" dirty="0"/>
          </a:p>
        </p:txBody>
      </p:sp>
      <p:sp>
        <p:nvSpPr>
          <p:cNvPr id="11" name="Shape 8"/>
          <p:cNvSpPr/>
          <p:nvPr/>
        </p:nvSpPr>
        <p:spPr>
          <a:xfrm>
            <a:off x="2304288" y="3127248"/>
            <a:ext cx="45720" cy="932688"/>
          </a:xfrm>
          <a:prstGeom prst="rect">
            <a:avLst/>
          </a:prstGeom>
          <a:solidFill>
            <a:srgbClr val="0086C3"/>
          </a:solidFill>
          <a:ln w="12700">
            <a:solidFill>
              <a:srgbClr val="0086C3"/>
            </a:solidFill>
            <a:prstDash val="solid"/>
          </a:ln>
        </p:spPr>
      </p:sp>
      <p:sp>
        <p:nvSpPr>
          <p:cNvPr id="12" name="Text 9"/>
          <p:cNvSpPr txBox="1"/>
          <p:nvPr/>
        </p:nvSpPr>
        <p:spPr>
          <a:xfrm>
            <a:off x="2432304" y="3090672"/>
            <a:ext cx="1600200" cy="420624"/>
          </a:xfrm>
          <a:prstGeom prst="rect">
            <a:avLst/>
          </a:prstGeom>
          <a:noFill/>
          <a:ln/>
        </p:spPr>
        <p:txBody>
          <a:bodyPr wrap="square" lIns="0" tIns="0" rIns="0" bIns="0" rtlCol="0" anchor="b"/>
          <a:lstStyle/>
          <a:p>
            <a:pPr indent="0" marL="0">
              <a:buNone/>
            </a:pPr>
            <a:r>
              <a:rPr lang="en-US" sz="1900" b="1" dirty="0">
                <a:solidFill>
                  <a:srgbClr val="FFFFFF"/>
                </a:solidFill>
                <a:latin typeface="Calibri" pitchFamily="34" charset="0"/>
                <a:ea typeface="Calibri" pitchFamily="34" charset="-122"/>
                <a:cs typeface="Calibri" pitchFamily="34" charset="-120"/>
              </a:rPr>
              <a:t>93.7% → 32.5%</a:t>
            </a:r>
            <a:endParaRPr lang="en-US" sz="1900" dirty="0"/>
          </a:p>
        </p:txBody>
      </p:sp>
      <p:sp>
        <p:nvSpPr>
          <p:cNvPr id="13" name="Text 10"/>
          <p:cNvSpPr txBox="1"/>
          <p:nvPr/>
        </p:nvSpPr>
        <p:spPr>
          <a:xfrm>
            <a:off x="2432304"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clean steel wrongly flagged,</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before vs after our fix</a:t>
            </a:r>
            <a:endParaRPr lang="en-US" sz="950" dirty="0"/>
          </a:p>
        </p:txBody>
      </p:sp>
      <p:sp>
        <p:nvSpPr>
          <p:cNvPr id="14" name="Shape 11"/>
          <p:cNvSpPr/>
          <p:nvPr/>
        </p:nvSpPr>
        <p:spPr>
          <a:xfrm>
            <a:off x="4059936" y="3127248"/>
            <a:ext cx="45720" cy="932688"/>
          </a:xfrm>
          <a:prstGeom prst="rect">
            <a:avLst/>
          </a:prstGeom>
          <a:solidFill>
            <a:srgbClr val="0086C3"/>
          </a:solidFill>
          <a:ln w="12700">
            <a:solidFill>
              <a:srgbClr val="0086C3"/>
            </a:solidFill>
            <a:prstDash val="solid"/>
          </a:ln>
        </p:spPr>
      </p:sp>
      <p:sp>
        <p:nvSpPr>
          <p:cNvPr id="15" name="Text 12"/>
          <p:cNvSpPr txBox="1"/>
          <p:nvPr/>
        </p:nvSpPr>
        <p:spPr>
          <a:xfrm>
            <a:off x="4187952" y="3090672"/>
            <a:ext cx="1600200" cy="420624"/>
          </a:xfrm>
          <a:prstGeom prst="rect">
            <a:avLst/>
          </a:prstGeom>
          <a:noFill/>
          <a:ln/>
        </p:spPr>
        <p:txBody>
          <a:bodyPr wrap="square" lIns="0" tIns="0" rIns="0" bIns="0" rtlCol="0" anchor="b"/>
          <a:lstStyle/>
          <a:p>
            <a:pPr indent="0" marL="0">
              <a:buNone/>
            </a:pPr>
            <a:r>
              <a:rPr lang="en-US" sz="2100" b="1" dirty="0">
                <a:solidFill>
                  <a:srgbClr val="FFFFFF"/>
                </a:solidFill>
                <a:latin typeface="Calibri" pitchFamily="34" charset="0"/>
                <a:ea typeface="Calibri" pitchFamily="34" charset="-122"/>
                <a:cs typeface="Calibri" pitchFamily="34" charset="-120"/>
              </a:rPr>
              <a:t>₹2.5-4.2 cr</a:t>
            </a:r>
            <a:endParaRPr lang="en-US" sz="2100" dirty="0"/>
          </a:p>
        </p:txBody>
      </p:sp>
      <p:sp>
        <p:nvSpPr>
          <p:cNvPr id="16" name="Text 13"/>
          <p:cNvSpPr txBox="1"/>
          <p:nvPr/>
        </p:nvSpPr>
        <p:spPr>
          <a:xfrm>
            <a:off x="4187952"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per line, vs ₹10-29 cr for a</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commercial system</a:t>
            </a:r>
            <a:endParaRPr lang="en-US" sz="950" dirty="0"/>
          </a:p>
        </p:txBody>
      </p:sp>
      <p:sp>
        <p:nvSpPr>
          <p:cNvPr id="17" name="Shape 14"/>
          <p:cNvSpPr/>
          <p:nvPr/>
        </p:nvSpPr>
        <p:spPr>
          <a:xfrm>
            <a:off x="5815584" y="3127248"/>
            <a:ext cx="45720" cy="932688"/>
          </a:xfrm>
          <a:prstGeom prst="rect">
            <a:avLst/>
          </a:prstGeom>
          <a:solidFill>
            <a:srgbClr val="0086C3"/>
          </a:solidFill>
          <a:ln w="12700">
            <a:solidFill>
              <a:srgbClr val="0086C3"/>
            </a:solidFill>
            <a:prstDash val="solid"/>
          </a:ln>
        </p:spPr>
      </p:sp>
      <p:sp>
        <p:nvSpPr>
          <p:cNvPr id="18" name="Text 15"/>
          <p:cNvSpPr txBox="1"/>
          <p:nvPr/>
        </p:nvSpPr>
        <p:spPr>
          <a:xfrm>
            <a:off x="5943600" y="3090672"/>
            <a:ext cx="1600200" cy="420624"/>
          </a:xfrm>
          <a:prstGeom prst="rect">
            <a:avLst/>
          </a:prstGeom>
          <a:noFill/>
          <a:ln/>
        </p:spPr>
        <p:txBody>
          <a:bodyPr wrap="square" lIns="0" tIns="0" rIns="0" bIns="0" rtlCol="0" anchor="b"/>
          <a:lstStyle/>
          <a:p>
            <a:pPr indent="0" marL="0">
              <a:buNone/>
            </a:pPr>
            <a:r>
              <a:rPr lang="en-US" sz="2200" b="1" dirty="0">
                <a:solidFill>
                  <a:srgbClr val="FFFFFF"/>
                </a:solidFill>
                <a:latin typeface="Calibri" pitchFamily="34" charset="0"/>
                <a:ea typeface="Calibri" pitchFamily="34" charset="-122"/>
                <a:cs typeface="Calibri" pitchFamily="34" charset="-120"/>
              </a:rPr>
              <a:t>~2.2 years</a:t>
            </a:r>
            <a:endParaRPr lang="en-US" sz="2200" dirty="0"/>
          </a:p>
        </p:txBody>
      </p:sp>
      <p:sp>
        <p:nvSpPr>
          <p:cNvPr id="19" name="Text 16"/>
          <p:cNvSpPr txBox="1"/>
          <p:nvPr/>
        </p:nvSpPr>
        <p:spPr>
          <a:xfrm>
            <a:off x="5943600"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payback on one line at a</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1% downgrade rate</a:t>
            </a:r>
            <a:endParaRPr lang="en-US" sz="950" dirty="0"/>
          </a:p>
        </p:txBody>
      </p:sp>
      <p:sp>
        <p:nvSpPr>
          <p:cNvPr id="20" name="Text 17"/>
          <p:cNvSpPr txBox="1"/>
          <p:nvPr/>
        </p:nvSpPr>
        <p:spPr>
          <a:xfrm>
            <a:off x="548640" y="4370832"/>
            <a:ext cx="6949440" cy="228600"/>
          </a:xfrm>
          <a:prstGeom prst="rect">
            <a:avLst/>
          </a:prstGeom>
          <a:noFill/>
          <a:ln/>
        </p:spPr>
        <p:txBody>
          <a:bodyPr wrap="square" lIns="0" tIns="0" rIns="0" bIns="0" rtlCol="0" anchor="t"/>
          <a:lstStyle/>
          <a:p>
            <a:pPr indent="0" marL="0">
              <a:buNone/>
            </a:pPr>
            <a:r>
              <a:rPr lang="en-US" sz="950" b="1" spc="100" kern="0" dirty="0">
                <a:solidFill>
                  <a:srgbClr val="BFD2E2"/>
                </a:solidFill>
                <a:latin typeface="Calibri" pitchFamily="34" charset="0"/>
                <a:ea typeface="Calibri" pitchFamily="34" charset="-122"/>
                <a:cs typeface="Calibri" pitchFamily="34" charset="-120"/>
              </a:rPr>
              <a:t>REAL DETECTIONS BY OUR MODEL, ON STEEL IMAGES IT NEVER SAW IN TRAINING</a:t>
            </a:r>
            <a:endParaRPr lang="en-US" sz="950" dirty="0"/>
          </a:p>
        </p:txBody>
      </p:sp>
      <p:pic>
        <p:nvPicPr>
          <p:cNvPr id="21" name="Image 1" descr="img/det_inclusion.png">    </p:cNvPr>
          <p:cNvPicPr>
            <a:picLocks noChangeAspect="1"/>
          </p:cNvPicPr>
          <p:nvPr/>
        </p:nvPicPr>
        <p:blipFill>
          <a:blip r:embed="rId2"/>
          <a:stretch>
            <a:fillRect/>
          </a:stretch>
        </p:blipFill>
        <p:spPr>
          <a:xfrm>
            <a:off x="548640" y="4645152"/>
            <a:ext cx="1069848" cy="1069848"/>
          </a:xfrm>
          <a:prstGeom prst="rect">
            <a:avLst/>
          </a:prstGeom>
        </p:spPr>
      </p:pic>
      <p:pic>
        <p:nvPicPr>
          <p:cNvPr id="22" name="Image 2" descr="img/det_crazing.png">    </p:cNvPr>
          <p:cNvPicPr>
            <a:picLocks noChangeAspect="1"/>
          </p:cNvPicPr>
          <p:nvPr/>
        </p:nvPicPr>
        <p:blipFill>
          <a:blip r:embed="rId3"/>
          <a:stretch>
            <a:fillRect/>
          </a:stretch>
        </p:blipFill>
        <p:spPr>
          <a:xfrm>
            <a:off x="1709928" y="4645152"/>
            <a:ext cx="1069848" cy="1069848"/>
          </a:xfrm>
          <a:prstGeom prst="rect">
            <a:avLst/>
          </a:prstGeom>
        </p:spPr>
      </p:pic>
      <p:pic>
        <p:nvPicPr>
          <p:cNvPr id="23" name="Image 3" descr="img/det_rolled-in_scale.png">    </p:cNvPr>
          <p:cNvPicPr>
            <a:picLocks noChangeAspect="1"/>
          </p:cNvPicPr>
          <p:nvPr/>
        </p:nvPicPr>
        <p:blipFill>
          <a:blip r:embed="rId4"/>
          <a:stretch>
            <a:fillRect/>
          </a:stretch>
        </p:blipFill>
        <p:spPr>
          <a:xfrm>
            <a:off x="2871216" y="4645152"/>
            <a:ext cx="1069848" cy="1069848"/>
          </a:xfrm>
          <a:prstGeom prst="rect">
            <a:avLst/>
          </a:prstGeom>
        </p:spPr>
      </p:pic>
      <p:pic>
        <p:nvPicPr>
          <p:cNvPr id="24" name="Image 4" descr="img/det_pitted_surface.png">    </p:cNvPr>
          <p:cNvPicPr>
            <a:picLocks noChangeAspect="1"/>
          </p:cNvPicPr>
          <p:nvPr/>
        </p:nvPicPr>
        <p:blipFill>
          <a:blip r:embed="rId5"/>
          <a:stretch>
            <a:fillRect/>
          </a:stretch>
        </p:blipFill>
        <p:spPr>
          <a:xfrm>
            <a:off x="4032504" y="4645152"/>
            <a:ext cx="1069848" cy="1069848"/>
          </a:xfrm>
          <a:prstGeom prst="rect">
            <a:avLst/>
          </a:prstGeom>
        </p:spPr>
      </p:pic>
      <p:pic>
        <p:nvPicPr>
          <p:cNvPr id="25" name="Image 5" descr="img/det_patches.png">    </p:cNvPr>
          <p:cNvPicPr>
            <a:picLocks noChangeAspect="1"/>
          </p:cNvPicPr>
          <p:nvPr/>
        </p:nvPicPr>
        <p:blipFill>
          <a:blip r:embed="rId6"/>
          <a:stretch>
            <a:fillRect/>
          </a:stretch>
        </p:blipFill>
        <p:spPr>
          <a:xfrm>
            <a:off x="5193792" y="4645152"/>
            <a:ext cx="1069848" cy="1069848"/>
          </a:xfrm>
          <a:prstGeom prst="rect">
            <a:avLst/>
          </a:prstGeom>
        </p:spPr>
      </p:pic>
      <p:pic>
        <p:nvPicPr>
          <p:cNvPr id="26" name="Image 6" descr="img/det_scratches.png">    </p:cNvPr>
          <p:cNvPicPr>
            <a:picLocks noChangeAspect="1"/>
          </p:cNvPicPr>
          <p:nvPr/>
        </p:nvPicPr>
        <p:blipFill>
          <a:blip r:embed="rId7"/>
          <a:stretch>
            <a:fillRect/>
          </a:stretch>
        </p:blipFill>
        <p:spPr>
          <a:xfrm>
            <a:off x="6355080" y="4645152"/>
            <a:ext cx="1069848" cy="1069848"/>
          </a:xfrm>
          <a:prstGeom prst="rect">
            <a:avLst/>
          </a:prstGeom>
        </p:spPr>
      </p:pic>
      <p:sp>
        <p:nvSpPr>
          <p:cNvPr id="27" name="Text 18"/>
          <p:cNvSpPr txBox="1"/>
          <p:nvPr/>
        </p:nvSpPr>
        <p:spPr>
          <a:xfrm>
            <a:off x="548640" y="5989320"/>
            <a:ext cx="713232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Prathmesh Walimbe  ·  Krishna Kanta Mondal   |   IIT Bombay</a:t>
            </a:r>
            <a:endParaRPr lang="en-US" sz="1200" dirty="0"/>
          </a:p>
        </p:txBody>
      </p:sp>
      <p:sp>
        <p:nvSpPr>
          <p:cNvPr id="28" name="Shape 19"/>
          <p:cNvSpPr/>
          <p:nvPr/>
        </p:nvSpPr>
        <p:spPr>
          <a:xfrm>
            <a:off x="8732520" y="3840480"/>
            <a:ext cx="2606040" cy="2331720"/>
          </a:xfrm>
          <a:prstGeom prst="roundRect">
            <a:avLst>
              <a:gd name="adj" fmla="val 2353"/>
            </a:avLst>
          </a:prstGeom>
          <a:solidFill>
            <a:srgbClr val="FFFFFF"/>
          </a:solidFill>
          <a:ln w="12700">
            <a:solidFill>
              <a:srgbClr val="FFFFFF"/>
            </a:solidFill>
            <a:prstDash val="solid"/>
          </a:ln>
        </p:spPr>
      </p:sp>
      <p:pic>
        <p:nvPicPr>
          <p:cNvPr id="29" name="Image 7" descr="qr.png">    </p:cNvPr>
          <p:cNvPicPr>
            <a:picLocks noChangeAspect="1"/>
          </p:cNvPicPr>
          <p:nvPr/>
        </p:nvPicPr>
        <p:blipFill>
          <a:blip r:embed="rId8"/>
          <a:stretch>
            <a:fillRect/>
          </a:stretch>
        </p:blipFill>
        <p:spPr>
          <a:xfrm>
            <a:off x="9418320" y="3931920"/>
            <a:ext cx="1234440" cy="1234440"/>
          </a:xfrm>
          <a:prstGeom prst="rect">
            <a:avLst/>
          </a:prstGeom>
        </p:spPr>
      </p:pic>
      <p:sp>
        <p:nvSpPr>
          <p:cNvPr id="30" name="Text 20"/>
          <p:cNvSpPr txBox="1"/>
          <p:nvPr/>
        </p:nvSpPr>
        <p:spPr>
          <a:xfrm>
            <a:off x="8778240" y="5193792"/>
            <a:ext cx="2514600" cy="228600"/>
          </a:xfrm>
          <a:prstGeom prst="rect">
            <a:avLst/>
          </a:prstGeom>
          <a:noFill/>
          <a:ln/>
        </p:spPr>
        <p:txBody>
          <a:bodyPr wrap="square" lIns="0" tIns="0" rIns="0" bIns="0" rtlCol="0" anchor="t"/>
          <a:lstStyle/>
          <a:p>
            <a:pPr algn="ctr" indent="0" marL="0">
              <a:buNone/>
            </a:pPr>
            <a:r>
              <a:rPr lang="en-US" sz="1000" b="1" dirty="0">
                <a:solidFill>
                  <a:srgbClr val="0086C3"/>
                </a:solidFill>
                <a:latin typeface="Calibri" pitchFamily="34" charset="0"/>
                <a:ea typeface="Calibri" pitchFamily="34" charset="-122"/>
                <a:cs typeface="Calibri" pitchFamily="34" charset="-120"/>
              </a:rPr>
              <a:t>TRY THE LIVE DEMO</a:t>
            </a:r>
            <a:endParaRPr lang="en-US" sz="1000" dirty="0"/>
          </a:p>
        </p:txBody>
      </p:sp>
      <p:sp>
        <p:nvSpPr>
          <p:cNvPr id="31" name="Text 21"/>
          <p:cNvSpPr txBox="1"/>
          <p:nvPr/>
        </p:nvSpPr>
        <p:spPr>
          <a:xfrm>
            <a:off x="8778240" y="5422392"/>
            <a:ext cx="2514600" cy="274320"/>
          </a:xfrm>
          <a:prstGeom prst="rect">
            <a:avLst/>
          </a:prstGeom>
          <a:noFill/>
          <a:ln/>
        </p:spPr>
        <p:txBody>
          <a:bodyPr wrap="square" lIns="0" tIns="0" rIns="0" bIns="0" rtlCol="0" anchor="t"/>
          <a:lstStyle/>
          <a:p>
            <a:pPr algn="ctr" indent="0" marL="0">
              <a:buNone/>
            </a:pPr>
            <a:r>
              <a:rPr lang="en-US" sz="1300" b="1" dirty="0">
                <a:solidFill>
                  <a:srgbClr val="143A5A"/>
                </a:solidFill>
                <a:latin typeface="Calibri" pitchFamily="34" charset="0"/>
                <a:ea typeface="Calibri" pitchFamily="34" charset="-122"/>
                <a:cs typeface="Calibri" pitchFamily="34" charset="-120"/>
              </a:rPr>
              <a:t>surface-vision.github.io</a:t>
            </a:r>
            <a:endParaRPr lang="en-US" sz="1300" dirty="0"/>
          </a:p>
        </p:txBody>
      </p:sp>
      <p:sp>
        <p:nvSpPr>
          <p:cNvPr id="32" name="Text 22"/>
          <p:cNvSpPr txBox="1"/>
          <p:nvPr/>
        </p:nvSpPr>
        <p:spPr>
          <a:xfrm>
            <a:off x="8823960" y="5705856"/>
            <a:ext cx="2423160" cy="36576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Runs in your browser. Nothing leaves the page.</a:t>
            </a:r>
            <a:endParaRPr lang="en-US" sz="900" dirty="0"/>
          </a:p>
        </p:txBody>
      </p:sp>
      <p:sp>
        <p:nvSpPr>
          <p:cNvPr id="33" name="Text 23"/>
          <p:cNvSpPr txBox="1"/>
          <p:nvPr/>
        </p:nvSpPr>
        <p:spPr>
          <a:xfrm>
            <a:off x="8001000" y="6510528"/>
            <a:ext cx="4023360" cy="228600"/>
          </a:xfrm>
          <a:prstGeom prst="rect">
            <a:avLst/>
          </a:prstGeom>
          <a:noFill/>
          <a:ln/>
        </p:spPr>
        <p:txBody>
          <a:bodyPr wrap="square" lIns="0" tIns="0" rIns="0" bIns="0" rtlCol="0" anchor="t"/>
          <a:lstStyle/>
          <a:p>
            <a:pPr algn="r" indent="0" marL="0">
              <a:buNone/>
            </a:pPr>
            <a:r>
              <a:rPr lang="en-US" sz="900" dirty="0">
                <a:solidFill>
                  <a:srgbClr val="BFD2E2"/>
                </a:solidFill>
                <a:latin typeface="Calibri" pitchFamily="34" charset="0"/>
                <a:ea typeface="Calibri" pitchFamily="34" charset="-122"/>
                <a:cs typeface="Calibri" pitchFamily="34" charset="-120"/>
              </a:rPr>
              <a:t>Photo: Methem, Wikimedia Commons (public domain)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143A5A"/>
          </a:solidFill>
          <a:ln w="12700">
            <a:solidFill>
              <a:srgbClr val="143A5A"/>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 defect born at the caster is paid for at every later stage, but today it is found only at the end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problem is not that defects exist. They are found late, by sampling, and nobody is told which process caused them.</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Sources: AMETEK Surface Vision / Ternium case study (2020); IISE, Measuring the Cost of Quality; ASTM A240; LME nickel USD 16,402/t at INR 95.8/USD (22 Sep 2026); JSL FY26 results.</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Where stainless surface defects are born, and where they are seen today</a:t>
            </a:r>
            <a:endParaRPr lang="en-US" sz="1100" dirty="0"/>
          </a:p>
        </p:txBody>
      </p:sp>
      <p:sp>
        <p:nvSpPr>
          <p:cNvPr id="19" name="Shape 17"/>
          <p:cNvSpPr/>
          <p:nvPr/>
        </p:nvSpPr>
        <p:spPr>
          <a:xfrm flipH="1">
            <a:off x="548640" y="1591056"/>
            <a:ext cx="11091672" cy="310896"/>
          </a:xfrm>
          <a:prstGeom prst="rtTriangle">
            <a:avLst/>
          </a:prstGeom>
          <a:solidFill>
            <a:srgbClr val="DCEAF5"/>
          </a:solidFill>
          <a:ln w="12700">
            <a:solidFill>
              <a:srgbClr val="DCEAF5"/>
            </a:solidFill>
            <a:prstDash val="solid"/>
          </a:ln>
        </p:spPr>
      </p:sp>
      <p:sp>
        <p:nvSpPr>
          <p:cNvPr id="20" name="Text 18"/>
          <p:cNvSpPr txBox="1"/>
          <p:nvPr/>
        </p:nvSpPr>
        <p:spPr>
          <a:xfrm>
            <a:off x="8778240" y="1645920"/>
            <a:ext cx="2788920" cy="237744"/>
          </a:xfrm>
          <a:prstGeom prst="rect">
            <a:avLst/>
          </a:prstGeom>
          <a:noFill/>
          <a:ln/>
        </p:spPr>
        <p:txBody>
          <a:bodyPr wrap="square" lIns="0" tIns="0" rIns="0" bIns="0" rtlCol="0" anchor="t"/>
          <a:lstStyle/>
          <a:p>
            <a:pPr algn="r" indent="0" marL="0">
              <a:buNone/>
            </a:pPr>
            <a:r>
              <a:rPr lang="en-US" sz="900" b="1" dirty="0">
                <a:solidFill>
                  <a:srgbClr val="143A5A"/>
                </a:solidFill>
                <a:latin typeface="Calibri" pitchFamily="34" charset="0"/>
                <a:ea typeface="Calibri" pitchFamily="34" charset="-122"/>
                <a:cs typeface="Calibri" pitchFamily="34" charset="-120"/>
              </a:rPr>
              <a:t>VALUE ADDED KEEPS RISING  →</a:t>
            </a:r>
            <a:endParaRPr lang="en-US" sz="900" dirty="0"/>
          </a:p>
        </p:txBody>
      </p:sp>
      <p:sp>
        <p:nvSpPr>
          <p:cNvPr id="21" name="Shape 19"/>
          <p:cNvSpPr/>
          <p:nvPr/>
        </p:nvSpPr>
        <p:spPr>
          <a:xfrm>
            <a:off x="1714500" y="2304288"/>
            <a:ext cx="1166774" cy="0"/>
          </a:xfrm>
          <a:prstGeom prst="line">
            <a:avLst/>
          </a:prstGeom>
          <a:noFill/>
          <a:ln w="19050">
            <a:solidFill>
              <a:srgbClr val="5E9CCB"/>
            </a:solidFill>
            <a:prstDash val="dash"/>
            <a:tailEnd type="triangle"/>
          </a:ln>
        </p:spPr>
      </p:sp>
      <p:sp>
        <p:nvSpPr>
          <p:cNvPr id="22" name="Shape 20"/>
          <p:cNvSpPr/>
          <p:nvPr/>
        </p:nvSpPr>
        <p:spPr>
          <a:xfrm>
            <a:off x="1046988" y="2002536"/>
            <a:ext cx="603504" cy="603504"/>
          </a:xfrm>
          <a:prstGeom prst="ellipse">
            <a:avLst/>
          </a:prstGeom>
          <a:solidFill>
            <a:srgbClr val="143A5A"/>
          </a:solidFill>
          <a:ln w="12700">
            <a:solidFill>
              <a:srgbClr val="143A5A"/>
            </a:solidFill>
            <a:prstDash val="solid"/>
          </a:ln>
        </p:spPr>
      </p:sp>
      <p:pic>
        <p:nvPicPr>
          <p:cNvPr id="23" name="Image 0" descr="img/icons/flame-white.png">    </p:cNvPr>
          <p:cNvPicPr>
            <a:picLocks noChangeAspect="1"/>
          </p:cNvPicPr>
          <p:nvPr/>
        </p:nvPicPr>
        <p:blipFill>
          <a:blip r:embed="rId1"/>
          <a:stretch>
            <a:fillRect/>
          </a:stretch>
        </p:blipFill>
        <p:spPr>
          <a:xfrm>
            <a:off x="1179759" y="2135307"/>
            <a:ext cx="337962" cy="337962"/>
          </a:xfrm>
          <a:prstGeom prst="rect">
            <a:avLst/>
          </a:prstGeom>
        </p:spPr>
      </p:pic>
      <p:sp>
        <p:nvSpPr>
          <p:cNvPr id="24" name="Text 21"/>
          <p:cNvSpPr txBox="1"/>
          <p:nvPr/>
        </p:nvSpPr>
        <p:spPr>
          <a:xfrm>
            <a:off x="457200"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Melt &amp; cast</a:t>
            </a:r>
            <a:endParaRPr lang="en-US" sz="1100" dirty="0"/>
          </a:p>
        </p:txBody>
      </p:sp>
      <p:sp>
        <p:nvSpPr>
          <p:cNvPr id="25" name="Text 22"/>
          <p:cNvSpPr txBox="1"/>
          <p:nvPr/>
        </p:nvSpPr>
        <p:spPr>
          <a:xfrm>
            <a:off x="457200"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SMS</a:t>
            </a:r>
            <a:endParaRPr lang="en-US" sz="900" dirty="0"/>
          </a:p>
        </p:txBody>
      </p:sp>
      <p:sp>
        <p:nvSpPr>
          <p:cNvPr id="26" name="Text 23"/>
          <p:cNvSpPr txBox="1"/>
          <p:nvPr/>
        </p:nvSpPr>
        <p:spPr>
          <a:xfrm>
            <a:off x="457200"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Inclusions, slivers</a:t>
            </a:r>
            <a:endParaRPr lang="en-US" sz="950" dirty="0"/>
          </a:p>
        </p:txBody>
      </p:sp>
      <p:sp>
        <p:nvSpPr>
          <p:cNvPr id="27" name="Shape 24"/>
          <p:cNvSpPr/>
          <p:nvPr/>
        </p:nvSpPr>
        <p:spPr>
          <a:xfrm>
            <a:off x="891540" y="3502152"/>
            <a:ext cx="914400" cy="201168"/>
          </a:xfrm>
          <a:prstGeom prst="roundRect">
            <a:avLst>
              <a:gd name="adj" fmla="val 27273"/>
            </a:avLst>
          </a:prstGeom>
          <a:solidFill>
            <a:srgbClr val="C62828"/>
          </a:solidFill>
          <a:ln w="12700">
            <a:solidFill>
              <a:srgbClr val="C62828"/>
            </a:solidFill>
            <a:prstDash val="solid"/>
          </a:ln>
        </p:spPr>
      </p:sp>
      <p:sp>
        <p:nvSpPr>
          <p:cNvPr id="28" name="Text 25"/>
          <p:cNvSpPr txBox="1"/>
          <p:nvPr/>
        </p:nvSpPr>
        <p:spPr>
          <a:xfrm>
            <a:off x="891540"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29" name="Shape 26"/>
          <p:cNvSpPr/>
          <p:nvPr/>
        </p:nvSpPr>
        <p:spPr>
          <a:xfrm>
            <a:off x="3612794" y="2304288"/>
            <a:ext cx="1166774" cy="0"/>
          </a:xfrm>
          <a:prstGeom prst="line">
            <a:avLst/>
          </a:prstGeom>
          <a:noFill/>
          <a:ln w="19050">
            <a:solidFill>
              <a:srgbClr val="5E9CCB"/>
            </a:solidFill>
            <a:prstDash val="dash"/>
            <a:tailEnd type="triangle"/>
          </a:ln>
        </p:spPr>
      </p:sp>
      <p:sp>
        <p:nvSpPr>
          <p:cNvPr id="30" name="Shape 27"/>
          <p:cNvSpPr/>
          <p:nvPr/>
        </p:nvSpPr>
        <p:spPr>
          <a:xfrm>
            <a:off x="2945282" y="2002536"/>
            <a:ext cx="603504" cy="603504"/>
          </a:xfrm>
          <a:prstGeom prst="ellipse">
            <a:avLst/>
          </a:prstGeom>
          <a:solidFill>
            <a:srgbClr val="143A5A"/>
          </a:solidFill>
          <a:ln w="12700">
            <a:solidFill>
              <a:srgbClr val="143A5A"/>
            </a:solidFill>
            <a:prstDash val="solid"/>
          </a:ln>
        </p:spPr>
      </p:sp>
      <p:pic>
        <p:nvPicPr>
          <p:cNvPr id="31" name="Image 1" descr="img/icons/factory-white.png">    </p:cNvPr>
          <p:cNvPicPr>
            <a:picLocks noChangeAspect="1"/>
          </p:cNvPicPr>
          <p:nvPr/>
        </p:nvPicPr>
        <p:blipFill>
          <a:blip r:embed="rId2"/>
          <a:stretch>
            <a:fillRect/>
          </a:stretch>
        </p:blipFill>
        <p:spPr>
          <a:xfrm>
            <a:off x="3078053" y="2135307"/>
            <a:ext cx="337962" cy="337962"/>
          </a:xfrm>
          <a:prstGeom prst="rect">
            <a:avLst/>
          </a:prstGeom>
        </p:spPr>
      </p:pic>
      <p:sp>
        <p:nvSpPr>
          <p:cNvPr id="32" name="Text 28"/>
          <p:cNvSpPr txBox="1"/>
          <p:nvPr/>
        </p:nvSpPr>
        <p:spPr>
          <a:xfrm>
            <a:off x="2355494"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Hot rolling</a:t>
            </a:r>
            <a:endParaRPr lang="en-US" sz="1100" dirty="0"/>
          </a:p>
        </p:txBody>
      </p:sp>
      <p:sp>
        <p:nvSpPr>
          <p:cNvPr id="33" name="Text 29"/>
          <p:cNvSpPr txBox="1"/>
          <p:nvPr/>
        </p:nvSpPr>
        <p:spPr>
          <a:xfrm>
            <a:off x="2355494"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HSM</a:t>
            </a:r>
            <a:endParaRPr lang="en-US" sz="900" dirty="0"/>
          </a:p>
        </p:txBody>
      </p:sp>
      <p:sp>
        <p:nvSpPr>
          <p:cNvPr id="34" name="Text 30"/>
          <p:cNvSpPr txBox="1"/>
          <p:nvPr/>
        </p:nvSpPr>
        <p:spPr>
          <a:xfrm>
            <a:off x="2355494"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Scale, pits, edge cracks</a:t>
            </a:r>
            <a:endParaRPr lang="en-US" sz="950" dirty="0"/>
          </a:p>
        </p:txBody>
      </p:sp>
      <p:sp>
        <p:nvSpPr>
          <p:cNvPr id="35" name="Shape 31"/>
          <p:cNvSpPr/>
          <p:nvPr/>
        </p:nvSpPr>
        <p:spPr>
          <a:xfrm>
            <a:off x="2789834" y="3502152"/>
            <a:ext cx="914400" cy="201168"/>
          </a:xfrm>
          <a:prstGeom prst="roundRect">
            <a:avLst>
              <a:gd name="adj" fmla="val 27273"/>
            </a:avLst>
          </a:prstGeom>
          <a:solidFill>
            <a:srgbClr val="C62828"/>
          </a:solidFill>
          <a:ln w="12700">
            <a:solidFill>
              <a:srgbClr val="C62828"/>
            </a:solidFill>
            <a:prstDash val="solid"/>
          </a:ln>
        </p:spPr>
      </p:sp>
      <p:sp>
        <p:nvSpPr>
          <p:cNvPr id="36" name="Text 32"/>
          <p:cNvSpPr txBox="1"/>
          <p:nvPr/>
        </p:nvSpPr>
        <p:spPr>
          <a:xfrm>
            <a:off x="2789834"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37" name="Shape 33"/>
          <p:cNvSpPr/>
          <p:nvPr/>
        </p:nvSpPr>
        <p:spPr>
          <a:xfrm>
            <a:off x="5511089" y="2304288"/>
            <a:ext cx="1166774" cy="0"/>
          </a:xfrm>
          <a:prstGeom prst="line">
            <a:avLst/>
          </a:prstGeom>
          <a:noFill/>
          <a:ln w="19050">
            <a:solidFill>
              <a:srgbClr val="5E9CCB"/>
            </a:solidFill>
            <a:prstDash val="dash"/>
            <a:tailEnd type="triangle"/>
          </a:ln>
        </p:spPr>
      </p:sp>
      <p:sp>
        <p:nvSpPr>
          <p:cNvPr id="38" name="Shape 34"/>
          <p:cNvSpPr/>
          <p:nvPr/>
        </p:nvSpPr>
        <p:spPr>
          <a:xfrm>
            <a:off x="4843577" y="2002536"/>
            <a:ext cx="603504" cy="603504"/>
          </a:xfrm>
          <a:prstGeom prst="ellipse">
            <a:avLst/>
          </a:prstGeom>
          <a:solidFill>
            <a:srgbClr val="143A5A"/>
          </a:solidFill>
          <a:ln w="12700">
            <a:solidFill>
              <a:srgbClr val="143A5A"/>
            </a:solidFill>
            <a:prstDash val="solid"/>
          </a:ln>
        </p:spPr>
      </p:sp>
      <p:pic>
        <p:nvPicPr>
          <p:cNvPr id="39" name="Image 2" descr="img/icons/droplets-white.png">    </p:cNvPr>
          <p:cNvPicPr>
            <a:picLocks noChangeAspect="1"/>
          </p:cNvPicPr>
          <p:nvPr/>
        </p:nvPicPr>
        <p:blipFill>
          <a:blip r:embed="rId3"/>
          <a:stretch>
            <a:fillRect/>
          </a:stretch>
        </p:blipFill>
        <p:spPr>
          <a:xfrm>
            <a:off x="4976348" y="2135307"/>
            <a:ext cx="337962" cy="337962"/>
          </a:xfrm>
          <a:prstGeom prst="rect">
            <a:avLst/>
          </a:prstGeom>
        </p:spPr>
      </p:pic>
      <p:sp>
        <p:nvSpPr>
          <p:cNvPr id="40" name="Text 35"/>
          <p:cNvSpPr txBox="1"/>
          <p:nvPr/>
        </p:nvSpPr>
        <p:spPr>
          <a:xfrm>
            <a:off x="4253789"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Anneal &amp; pickle</a:t>
            </a:r>
            <a:endParaRPr lang="en-US" sz="1100" dirty="0"/>
          </a:p>
        </p:txBody>
      </p:sp>
      <p:sp>
        <p:nvSpPr>
          <p:cNvPr id="41" name="Text 36"/>
          <p:cNvSpPr txBox="1"/>
          <p:nvPr/>
        </p:nvSpPr>
        <p:spPr>
          <a:xfrm>
            <a:off x="4253789"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HRAP</a:t>
            </a:r>
            <a:endParaRPr lang="en-US" sz="900" dirty="0"/>
          </a:p>
        </p:txBody>
      </p:sp>
      <p:sp>
        <p:nvSpPr>
          <p:cNvPr id="42" name="Text 37"/>
          <p:cNvSpPr txBox="1"/>
          <p:nvPr/>
        </p:nvSpPr>
        <p:spPr>
          <a:xfrm>
            <a:off x="4253789"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Pickling patches</a:t>
            </a:r>
            <a:endParaRPr lang="en-US" sz="950" dirty="0"/>
          </a:p>
        </p:txBody>
      </p:sp>
      <p:sp>
        <p:nvSpPr>
          <p:cNvPr id="43" name="Shape 38"/>
          <p:cNvSpPr/>
          <p:nvPr/>
        </p:nvSpPr>
        <p:spPr>
          <a:xfrm>
            <a:off x="4688129" y="3502152"/>
            <a:ext cx="914400" cy="201168"/>
          </a:xfrm>
          <a:prstGeom prst="roundRect">
            <a:avLst>
              <a:gd name="adj" fmla="val 27273"/>
            </a:avLst>
          </a:prstGeom>
          <a:solidFill>
            <a:srgbClr val="B77900"/>
          </a:solidFill>
          <a:ln w="12700">
            <a:solidFill>
              <a:srgbClr val="B77900"/>
            </a:solidFill>
            <a:prstDash val="solid"/>
          </a:ln>
        </p:spPr>
      </p:sp>
      <p:sp>
        <p:nvSpPr>
          <p:cNvPr id="44" name="Text 39"/>
          <p:cNvSpPr txBox="1"/>
          <p:nvPr/>
        </p:nvSpPr>
        <p:spPr>
          <a:xfrm>
            <a:off x="4688129"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45" name="Shape 40"/>
          <p:cNvSpPr/>
          <p:nvPr/>
        </p:nvSpPr>
        <p:spPr>
          <a:xfrm>
            <a:off x="7409383" y="2304288"/>
            <a:ext cx="1166774" cy="0"/>
          </a:xfrm>
          <a:prstGeom prst="line">
            <a:avLst/>
          </a:prstGeom>
          <a:noFill/>
          <a:ln w="19050">
            <a:solidFill>
              <a:srgbClr val="5E9CCB"/>
            </a:solidFill>
            <a:prstDash val="dash"/>
            <a:tailEnd type="triangle"/>
          </a:ln>
        </p:spPr>
      </p:sp>
      <p:sp>
        <p:nvSpPr>
          <p:cNvPr id="46" name="Shape 41"/>
          <p:cNvSpPr/>
          <p:nvPr/>
        </p:nvSpPr>
        <p:spPr>
          <a:xfrm>
            <a:off x="6741871" y="2002536"/>
            <a:ext cx="603504" cy="603504"/>
          </a:xfrm>
          <a:prstGeom prst="ellipse">
            <a:avLst/>
          </a:prstGeom>
          <a:solidFill>
            <a:srgbClr val="143A5A"/>
          </a:solidFill>
          <a:ln w="12700">
            <a:solidFill>
              <a:srgbClr val="143A5A"/>
            </a:solidFill>
            <a:prstDash val="solid"/>
          </a:ln>
        </p:spPr>
      </p:sp>
      <p:pic>
        <p:nvPicPr>
          <p:cNvPr id="47" name="Image 3" descr="img/icons/layers-white.png">    </p:cNvPr>
          <p:cNvPicPr>
            <a:picLocks noChangeAspect="1"/>
          </p:cNvPicPr>
          <p:nvPr/>
        </p:nvPicPr>
        <p:blipFill>
          <a:blip r:embed="rId4"/>
          <a:stretch>
            <a:fillRect/>
          </a:stretch>
        </p:blipFill>
        <p:spPr>
          <a:xfrm>
            <a:off x="6874642" y="2135307"/>
            <a:ext cx="337962" cy="337962"/>
          </a:xfrm>
          <a:prstGeom prst="rect">
            <a:avLst/>
          </a:prstGeom>
        </p:spPr>
      </p:pic>
      <p:sp>
        <p:nvSpPr>
          <p:cNvPr id="48" name="Text 42"/>
          <p:cNvSpPr txBox="1"/>
          <p:nvPr/>
        </p:nvSpPr>
        <p:spPr>
          <a:xfrm>
            <a:off x="6152083"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Cold rolling</a:t>
            </a:r>
            <a:endParaRPr lang="en-US" sz="1100" dirty="0"/>
          </a:p>
        </p:txBody>
      </p:sp>
      <p:sp>
        <p:nvSpPr>
          <p:cNvPr id="49" name="Text 43"/>
          <p:cNvSpPr txBox="1"/>
          <p:nvPr/>
        </p:nvSpPr>
        <p:spPr>
          <a:xfrm>
            <a:off x="6152083"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CRM</a:t>
            </a:r>
            <a:endParaRPr lang="en-US" sz="900" dirty="0"/>
          </a:p>
        </p:txBody>
      </p:sp>
      <p:sp>
        <p:nvSpPr>
          <p:cNvPr id="50" name="Text 44"/>
          <p:cNvSpPr txBox="1"/>
          <p:nvPr/>
        </p:nvSpPr>
        <p:spPr>
          <a:xfrm>
            <a:off x="6152083"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Scratches, roll marks</a:t>
            </a:r>
            <a:endParaRPr lang="en-US" sz="950" dirty="0"/>
          </a:p>
        </p:txBody>
      </p:sp>
      <p:sp>
        <p:nvSpPr>
          <p:cNvPr id="51" name="Shape 45"/>
          <p:cNvSpPr/>
          <p:nvPr/>
        </p:nvSpPr>
        <p:spPr>
          <a:xfrm>
            <a:off x="6586423" y="3502152"/>
            <a:ext cx="914400" cy="201168"/>
          </a:xfrm>
          <a:prstGeom prst="roundRect">
            <a:avLst>
              <a:gd name="adj" fmla="val 27273"/>
            </a:avLst>
          </a:prstGeom>
          <a:solidFill>
            <a:srgbClr val="B77900"/>
          </a:solidFill>
          <a:ln w="12700">
            <a:solidFill>
              <a:srgbClr val="B77900"/>
            </a:solidFill>
            <a:prstDash val="solid"/>
          </a:ln>
        </p:spPr>
      </p:sp>
      <p:sp>
        <p:nvSpPr>
          <p:cNvPr id="52" name="Text 46"/>
          <p:cNvSpPr txBox="1"/>
          <p:nvPr/>
        </p:nvSpPr>
        <p:spPr>
          <a:xfrm>
            <a:off x="6586423"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53" name="Shape 47"/>
          <p:cNvSpPr/>
          <p:nvPr/>
        </p:nvSpPr>
        <p:spPr>
          <a:xfrm>
            <a:off x="9307678" y="2304288"/>
            <a:ext cx="1166774" cy="0"/>
          </a:xfrm>
          <a:prstGeom prst="line">
            <a:avLst/>
          </a:prstGeom>
          <a:noFill/>
          <a:ln w="19050">
            <a:solidFill>
              <a:srgbClr val="5E9CCB"/>
            </a:solidFill>
            <a:prstDash val="dash"/>
            <a:tailEnd type="triangle"/>
          </a:ln>
        </p:spPr>
      </p:sp>
      <p:sp>
        <p:nvSpPr>
          <p:cNvPr id="54" name="Shape 48"/>
          <p:cNvSpPr/>
          <p:nvPr/>
        </p:nvSpPr>
        <p:spPr>
          <a:xfrm>
            <a:off x="8640166" y="2002536"/>
            <a:ext cx="603504" cy="603504"/>
          </a:xfrm>
          <a:prstGeom prst="ellipse">
            <a:avLst/>
          </a:prstGeom>
          <a:solidFill>
            <a:srgbClr val="143A5A"/>
          </a:solidFill>
          <a:ln w="12700">
            <a:solidFill>
              <a:srgbClr val="143A5A"/>
            </a:solidFill>
            <a:prstDash val="solid"/>
          </a:ln>
        </p:spPr>
      </p:sp>
      <p:pic>
        <p:nvPicPr>
          <p:cNvPr id="55" name="Image 4" descr="img/icons/sparkles-white.png">    </p:cNvPr>
          <p:cNvPicPr>
            <a:picLocks noChangeAspect="1"/>
          </p:cNvPicPr>
          <p:nvPr/>
        </p:nvPicPr>
        <p:blipFill>
          <a:blip r:embed="rId5"/>
          <a:stretch>
            <a:fillRect/>
          </a:stretch>
        </p:blipFill>
        <p:spPr>
          <a:xfrm>
            <a:off x="8772936" y="2135307"/>
            <a:ext cx="337962" cy="337962"/>
          </a:xfrm>
          <a:prstGeom prst="rect">
            <a:avLst/>
          </a:prstGeom>
        </p:spPr>
      </p:pic>
      <p:sp>
        <p:nvSpPr>
          <p:cNvPr id="56" name="Text 49"/>
          <p:cNvSpPr txBox="1"/>
          <p:nvPr/>
        </p:nvSpPr>
        <p:spPr>
          <a:xfrm>
            <a:off x="8050378"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Final anneal / BA</a:t>
            </a:r>
            <a:endParaRPr lang="en-US" sz="1100" dirty="0"/>
          </a:p>
        </p:txBody>
      </p:sp>
      <p:sp>
        <p:nvSpPr>
          <p:cNvPr id="57" name="Text 50"/>
          <p:cNvSpPr txBox="1"/>
          <p:nvPr/>
        </p:nvSpPr>
        <p:spPr>
          <a:xfrm>
            <a:off x="8050378"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CRAP / BA</a:t>
            </a:r>
            <a:endParaRPr lang="en-US" sz="900" dirty="0"/>
          </a:p>
        </p:txBody>
      </p:sp>
      <p:sp>
        <p:nvSpPr>
          <p:cNvPr id="58" name="Text 51"/>
          <p:cNvSpPr txBox="1"/>
          <p:nvPr/>
        </p:nvSpPr>
        <p:spPr>
          <a:xfrm>
            <a:off x="8050378"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Stains, BA marks</a:t>
            </a:r>
            <a:endParaRPr lang="en-US" sz="950" dirty="0"/>
          </a:p>
        </p:txBody>
      </p:sp>
      <p:sp>
        <p:nvSpPr>
          <p:cNvPr id="59" name="Shape 52"/>
          <p:cNvSpPr/>
          <p:nvPr/>
        </p:nvSpPr>
        <p:spPr>
          <a:xfrm>
            <a:off x="8484718" y="3502152"/>
            <a:ext cx="914400" cy="201168"/>
          </a:xfrm>
          <a:prstGeom prst="roundRect">
            <a:avLst>
              <a:gd name="adj" fmla="val 27273"/>
            </a:avLst>
          </a:prstGeom>
          <a:solidFill>
            <a:srgbClr val="B77900"/>
          </a:solidFill>
          <a:ln w="12700">
            <a:solidFill>
              <a:srgbClr val="B77900"/>
            </a:solidFill>
            <a:prstDash val="solid"/>
          </a:ln>
        </p:spPr>
      </p:sp>
      <p:sp>
        <p:nvSpPr>
          <p:cNvPr id="60" name="Text 53"/>
          <p:cNvSpPr txBox="1"/>
          <p:nvPr/>
        </p:nvSpPr>
        <p:spPr>
          <a:xfrm>
            <a:off x="8484718"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SAMPLED</a:t>
            </a:r>
            <a:endParaRPr lang="en-US" sz="900" dirty="0"/>
          </a:p>
        </p:txBody>
      </p:sp>
      <p:sp>
        <p:nvSpPr>
          <p:cNvPr id="61" name="Shape 54"/>
          <p:cNvSpPr/>
          <p:nvPr/>
        </p:nvSpPr>
        <p:spPr>
          <a:xfrm>
            <a:off x="10538460" y="2002536"/>
            <a:ext cx="603504" cy="603504"/>
          </a:xfrm>
          <a:prstGeom prst="ellipse">
            <a:avLst/>
          </a:prstGeom>
          <a:solidFill>
            <a:srgbClr val="0086C3"/>
          </a:solidFill>
          <a:ln w="12700">
            <a:solidFill>
              <a:srgbClr val="0086C3"/>
            </a:solidFill>
            <a:prstDash val="solid"/>
          </a:ln>
        </p:spPr>
      </p:sp>
      <p:pic>
        <p:nvPicPr>
          <p:cNvPr id="62" name="Image 5" descr="img/icons/truck-white.png">    </p:cNvPr>
          <p:cNvPicPr>
            <a:picLocks noChangeAspect="1"/>
          </p:cNvPicPr>
          <p:nvPr/>
        </p:nvPicPr>
        <p:blipFill>
          <a:blip r:embed="rId6"/>
          <a:stretch>
            <a:fillRect/>
          </a:stretch>
        </p:blipFill>
        <p:spPr>
          <a:xfrm>
            <a:off x="10671231" y="2135307"/>
            <a:ext cx="337962" cy="337962"/>
          </a:xfrm>
          <a:prstGeom prst="rect">
            <a:avLst/>
          </a:prstGeom>
        </p:spPr>
      </p:pic>
      <p:sp>
        <p:nvSpPr>
          <p:cNvPr id="63" name="Text 55"/>
          <p:cNvSpPr txBox="1"/>
          <p:nvPr/>
        </p:nvSpPr>
        <p:spPr>
          <a:xfrm>
            <a:off x="9948672"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Finish &amp; despatch</a:t>
            </a:r>
            <a:endParaRPr lang="en-US" sz="1100" dirty="0"/>
          </a:p>
        </p:txBody>
      </p:sp>
      <p:sp>
        <p:nvSpPr>
          <p:cNvPr id="64" name="Text 56"/>
          <p:cNvSpPr txBox="1"/>
          <p:nvPr/>
        </p:nvSpPr>
        <p:spPr>
          <a:xfrm>
            <a:off x="9948672"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Slit, cut</a:t>
            </a:r>
            <a:endParaRPr lang="en-US" sz="900" dirty="0"/>
          </a:p>
        </p:txBody>
      </p:sp>
      <p:sp>
        <p:nvSpPr>
          <p:cNvPr id="65" name="Text 57"/>
          <p:cNvSpPr txBox="1"/>
          <p:nvPr/>
        </p:nvSpPr>
        <p:spPr>
          <a:xfrm>
            <a:off x="9948672"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Found here, or by the customer</a:t>
            </a:r>
            <a:endParaRPr lang="en-US" sz="950" dirty="0"/>
          </a:p>
        </p:txBody>
      </p:sp>
      <p:sp>
        <p:nvSpPr>
          <p:cNvPr id="66" name="Shape 58"/>
          <p:cNvSpPr/>
          <p:nvPr/>
        </p:nvSpPr>
        <p:spPr>
          <a:xfrm>
            <a:off x="10383012" y="3502152"/>
            <a:ext cx="914400" cy="201168"/>
          </a:xfrm>
          <a:prstGeom prst="roundRect">
            <a:avLst>
              <a:gd name="adj" fmla="val 27273"/>
            </a:avLst>
          </a:prstGeom>
          <a:solidFill>
            <a:srgbClr val="C62828"/>
          </a:solidFill>
          <a:ln w="12700">
            <a:solidFill>
              <a:srgbClr val="C62828"/>
            </a:solidFill>
            <a:prstDash val="solid"/>
          </a:ln>
        </p:spPr>
      </p:sp>
      <p:sp>
        <p:nvSpPr>
          <p:cNvPr id="67" name="Text 59"/>
          <p:cNvSpPr txBox="1"/>
          <p:nvPr/>
        </p:nvSpPr>
        <p:spPr>
          <a:xfrm>
            <a:off x="10383012"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CLAIMS</a:t>
            </a:r>
            <a:endParaRPr lang="en-US" sz="900" dirty="0"/>
          </a:p>
        </p:txBody>
      </p:sp>
      <p:sp>
        <p:nvSpPr>
          <p:cNvPr id="68" name="Shape 60"/>
          <p:cNvSpPr/>
          <p:nvPr/>
        </p:nvSpPr>
        <p:spPr>
          <a:xfrm>
            <a:off x="457200" y="3931920"/>
            <a:ext cx="5486400" cy="274320"/>
          </a:xfrm>
          <a:prstGeom prst="rect">
            <a:avLst/>
          </a:prstGeom>
          <a:solidFill>
            <a:srgbClr val="2B5B80"/>
          </a:solidFill>
          <a:ln w="12700">
            <a:solidFill>
              <a:srgbClr val="2B5B80"/>
            </a:solidFill>
            <a:prstDash val="solid"/>
          </a:ln>
        </p:spPr>
      </p:sp>
      <p:sp>
        <p:nvSpPr>
          <p:cNvPr id="69" name="Text 61"/>
          <p:cNvSpPr txBox="1"/>
          <p:nvPr/>
        </p:nvSpPr>
        <p:spPr>
          <a:xfrm>
            <a:off x="548640" y="3931920"/>
            <a:ext cx="53035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it hurts more on stainless</a:t>
            </a:r>
            <a:endParaRPr lang="en-US" sz="1100" dirty="0"/>
          </a:p>
        </p:txBody>
      </p:sp>
      <p:sp>
        <p:nvSpPr>
          <p:cNvPr id="70" name="Shape 62"/>
          <p:cNvSpPr/>
          <p:nvPr/>
        </p:nvSpPr>
        <p:spPr>
          <a:xfrm>
            <a:off x="457200" y="4279392"/>
            <a:ext cx="1773936" cy="1600200"/>
          </a:xfrm>
          <a:prstGeom prst="roundRect">
            <a:avLst>
              <a:gd name="adj" fmla="val 3429"/>
            </a:avLst>
          </a:prstGeom>
          <a:solidFill>
            <a:srgbClr val="F1F4F7"/>
          </a:solidFill>
          <a:ln w="12700">
            <a:solidFill>
              <a:srgbClr val="F1F4F7"/>
            </a:solidFill>
            <a:prstDash val="solid"/>
          </a:ln>
        </p:spPr>
      </p:sp>
      <p:pic>
        <p:nvPicPr>
          <p:cNvPr id="71" name="Image 6" descr="img/icons/gauge-accent.png">    </p:cNvPr>
          <p:cNvPicPr>
            <a:picLocks noChangeAspect="1"/>
          </p:cNvPicPr>
          <p:nvPr/>
        </p:nvPicPr>
        <p:blipFill>
          <a:blip r:embed="rId7"/>
          <a:stretch>
            <a:fillRect/>
          </a:stretch>
        </p:blipFill>
        <p:spPr>
          <a:xfrm>
            <a:off x="566928" y="4389120"/>
            <a:ext cx="329184" cy="329184"/>
          </a:xfrm>
          <a:prstGeom prst="rect">
            <a:avLst/>
          </a:prstGeom>
        </p:spPr>
      </p:pic>
      <p:sp>
        <p:nvSpPr>
          <p:cNvPr id="72" name="Text 63"/>
          <p:cNvSpPr txBox="1"/>
          <p:nvPr/>
        </p:nvSpPr>
        <p:spPr>
          <a:xfrm>
            <a:off x="566928" y="4754880"/>
            <a:ext cx="1600200" cy="38404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300 m/min</a:t>
            </a:r>
            <a:endParaRPr lang="en-US" sz="2000" dirty="0"/>
          </a:p>
        </p:txBody>
      </p:sp>
      <p:sp>
        <p:nvSpPr>
          <p:cNvPr id="73" name="Text 64"/>
          <p:cNvSpPr txBox="1"/>
          <p:nvPr/>
        </p:nvSpPr>
        <p:spPr>
          <a:xfrm>
            <a:off x="566928" y="5166360"/>
            <a:ext cx="1572768" cy="658368"/>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Too fast for the human eye to see the whole surface</a:t>
            </a:r>
            <a:endParaRPr lang="en-US" sz="950" dirty="0"/>
          </a:p>
        </p:txBody>
      </p:sp>
      <p:sp>
        <p:nvSpPr>
          <p:cNvPr id="74" name="Shape 65"/>
          <p:cNvSpPr/>
          <p:nvPr/>
        </p:nvSpPr>
        <p:spPr>
          <a:xfrm>
            <a:off x="2313432" y="4279392"/>
            <a:ext cx="1773936" cy="1600200"/>
          </a:xfrm>
          <a:prstGeom prst="roundRect">
            <a:avLst>
              <a:gd name="adj" fmla="val 3429"/>
            </a:avLst>
          </a:prstGeom>
          <a:solidFill>
            <a:srgbClr val="F1F4F7"/>
          </a:solidFill>
          <a:ln w="12700">
            <a:solidFill>
              <a:srgbClr val="F1F4F7"/>
            </a:solidFill>
            <a:prstDash val="solid"/>
          </a:ln>
        </p:spPr>
      </p:sp>
      <p:pic>
        <p:nvPicPr>
          <p:cNvPr id="75" name="Image 7" descr="img/icons/coins-accent.png">    </p:cNvPr>
          <p:cNvPicPr>
            <a:picLocks noChangeAspect="1"/>
          </p:cNvPicPr>
          <p:nvPr/>
        </p:nvPicPr>
        <p:blipFill>
          <a:blip r:embed="rId8"/>
          <a:stretch>
            <a:fillRect/>
          </a:stretch>
        </p:blipFill>
        <p:spPr>
          <a:xfrm>
            <a:off x="2423160" y="4389120"/>
            <a:ext cx="329184" cy="329184"/>
          </a:xfrm>
          <a:prstGeom prst="rect">
            <a:avLst/>
          </a:prstGeom>
        </p:spPr>
      </p:pic>
      <p:sp>
        <p:nvSpPr>
          <p:cNvPr id="76" name="Text 66"/>
          <p:cNvSpPr txBox="1"/>
          <p:nvPr/>
        </p:nvSpPr>
        <p:spPr>
          <a:xfrm>
            <a:off x="2423160" y="4754880"/>
            <a:ext cx="1600200" cy="384048"/>
          </a:xfrm>
          <a:prstGeom prst="rect">
            <a:avLst/>
          </a:prstGeom>
          <a:noFill/>
          <a:ln/>
        </p:spPr>
        <p:txBody>
          <a:bodyPr wrap="square" lIns="0" tIns="0" rIns="0" bIns="0" rtlCol="0" anchor="ctr"/>
          <a:lstStyle/>
          <a:p>
            <a:pPr indent="0" marL="0">
              <a:buNone/>
            </a:pPr>
            <a:r>
              <a:rPr lang="en-US" sz="1600" b="1" dirty="0">
                <a:solidFill>
                  <a:srgbClr val="143A5A"/>
                </a:solidFill>
                <a:latin typeface="Calibri" pitchFamily="34" charset="0"/>
                <a:ea typeface="Calibri" pitchFamily="34" charset="-122"/>
                <a:cs typeface="Calibri" pitchFamily="34" charset="-120"/>
              </a:rPr>
              <a:t>₹1.26-1.65 lakh</a:t>
            </a:r>
            <a:endParaRPr lang="en-US" sz="1600" dirty="0"/>
          </a:p>
        </p:txBody>
      </p:sp>
      <p:sp>
        <p:nvSpPr>
          <p:cNvPr id="77" name="Text 67"/>
          <p:cNvSpPr txBox="1"/>
          <p:nvPr/>
        </p:nvSpPr>
        <p:spPr>
          <a:xfrm>
            <a:off x="2423160" y="5166360"/>
            <a:ext cx="1572768" cy="658368"/>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of nickel in every tonne of 304, given away on a downgrade</a:t>
            </a:r>
            <a:endParaRPr lang="en-US" sz="950" dirty="0"/>
          </a:p>
        </p:txBody>
      </p:sp>
      <p:sp>
        <p:nvSpPr>
          <p:cNvPr id="78" name="Shape 68"/>
          <p:cNvSpPr/>
          <p:nvPr/>
        </p:nvSpPr>
        <p:spPr>
          <a:xfrm>
            <a:off x="4169664" y="4279392"/>
            <a:ext cx="1773936" cy="1600200"/>
          </a:xfrm>
          <a:prstGeom prst="roundRect">
            <a:avLst>
              <a:gd name="adj" fmla="val 3429"/>
            </a:avLst>
          </a:prstGeom>
          <a:solidFill>
            <a:srgbClr val="F1F4F7"/>
          </a:solidFill>
          <a:ln w="12700">
            <a:solidFill>
              <a:srgbClr val="F1F4F7"/>
            </a:solidFill>
            <a:prstDash val="solid"/>
          </a:ln>
        </p:spPr>
      </p:sp>
      <p:pic>
        <p:nvPicPr>
          <p:cNvPr id="79" name="Image 8" descr="img/icons/factory-accent.png">    </p:cNvPr>
          <p:cNvPicPr>
            <a:picLocks noChangeAspect="1"/>
          </p:cNvPicPr>
          <p:nvPr/>
        </p:nvPicPr>
        <p:blipFill>
          <a:blip r:embed="rId9"/>
          <a:stretch>
            <a:fillRect/>
          </a:stretch>
        </p:blipFill>
        <p:spPr>
          <a:xfrm>
            <a:off x="4279392" y="4389120"/>
            <a:ext cx="329184" cy="329184"/>
          </a:xfrm>
          <a:prstGeom prst="rect">
            <a:avLst/>
          </a:prstGeom>
        </p:spPr>
      </p:pic>
      <p:sp>
        <p:nvSpPr>
          <p:cNvPr id="80" name="Text 69"/>
          <p:cNvSpPr txBox="1"/>
          <p:nvPr/>
        </p:nvSpPr>
        <p:spPr>
          <a:xfrm>
            <a:off x="4279392" y="4754880"/>
            <a:ext cx="1600200" cy="38404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2.57 Mt</a:t>
            </a:r>
            <a:endParaRPr lang="en-US" sz="2000" dirty="0"/>
          </a:p>
        </p:txBody>
      </p:sp>
      <p:sp>
        <p:nvSpPr>
          <p:cNvPr id="81" name="Text 70"/>
          <p:cNvSpPr txBox="1"/>
          <p:nvPr/>
        </p:nvSpPr>
        <p:spPr>
          <a:xfrm>
            <a:off x="4279392" y="5166360"/>
            <a:ext cx="1572768" cy="658368"/>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JSL FY26 sales: each 0.1% downgraded is ~2,570 t</a:t>
            </a:r>
            <a:endParaRPr lang="en-US" sz="950" dirty="0"/>
          </a:p>
        </p:txBody>
      </p:sp>
      <p:sp>
        <p:nvSpPr>
          <p:cNvPr id="82" name="Shape 71"/>
          <p:cNvSpPr/>
          <p:nvPr/>
        </p:nvSpPr>
        <p:spPr>
          <a:xfrm>
            <a:off x="6172200" y="3931920"/>
            <a:ext cx="5559552" cy="274320"/>
          </a:xfrm>
          <a:prstGeom prst="rect">
            <a:avLst/>
          </a:prstGeom>
          <a:solidFill>
            <a:srgbClr val="2B5B80"/>
          </a:solidFill>
          <a:ln w="12700">
            <a:solidFill>
              <a:srgbClr val="2B5B80"/>
            </a:solidFill>
            <a:prstDash val="solid"/>
          </a:ln>
        </p:spPr>
      </p:sp>
      <p:sp>
        <p:nvSpPr>
          <p:cNvPr id="83" name="Text 72"/>
          <p:cNvSpPr txBox="1"/>
          <p:nvPr/>
        </p:nvSpPr>
        <p:spPr>
          <a:xfrm>
            <a:off x="6263640" y="3931920"/>
            <a:ext cx="5376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of quality (PAF): where AI inspection moves the money</a:t>
            </a:r>
            <a:endParaRPr lang="en-US" sz="1100" dirty="0"/>
          </a:p>
        </p:txBody>
      </p:sp>
      <p:sp>
        <p:nvSpPr>
          <p:cNvPr id="84" name="Text 73"/>
          <p:cNvSpPr/>
          <p:nvPr/>
        </p:nvSpPr>
        <p:spPr>
          <a:xfrm>
            <a:off x="6217920" y="4279392"/>
            <a:ext cx="5468112" cy="310896"/>
          </a:xfrm>
          <a:prstGeom prst="leftArrow">
            <a:avLst/>
          </a:prstGeom>
          <a:solidFill>
            <a:srgbClr val="0086C3"/>
          </a:solidFill>
          <a:ln>
            <a:solidFill>
              <a:srgbClr val="0086C3"/>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AI shifts spend from failure (right) to appraisal and prevention (left)</a:t>
            </a:r>
            <a:endParaRPr lang="en-US" sz="950" dirty="0"/>
          </a:p>
        </p:txBody>
      </p:sp>
      <p:sp>
        <p:nvSpPr>
          <p:cNvPr id="85" name="Shape 74"/>
          <p:cNvSpPr/>
          <p:nvPr/>
        </p:nvSpPr>
        <p:spPr>
          <a:xfrm>
            <a:off x="6217920" y="4663440"/>
            <a:ext cx="1298448" cy="914400"/>
          </a:xfrm>
          <a:prstGeom prst="roundRect">
            <a:avLst>
              <a:gd name="adj" fmla="val 6000"/>
            </a:avLst>
          </a:prstGeom>
          <a:solidFill>
            <a:srgbClr val="E4EEF6"/>
          </a:solidFill>
          <a:ln w="12700">
            <a:solidFill>
              <a:srgbClr val="E4EEF6"/>
            </a:solidFill>
            <a:prstDash val="solid"/>
          </a:ln>
        </p:spPr>
      </p:sp>
      <p:sp>
        <p:nvSpPr>
          <p:cNvPr id="86" name="Text 75"/>
          <p:cNvSpPr txBox="1"/>
          <p:nvPr/>
        </p:nvSpPr>
        <p:spPr>
          <a:xfrm>
            <a:off x="6291072" y="4709160"/>
            <a:ext cx="1170432" cy="237744"/>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Prevention</a:t>
            </a:r>
            <a:endParaRPr lang="en-US" sz="1000" dirty="0"/>
          </a:p>
        </p:txBody>
      </p:sp>
      <p:sp>
        <p:nvSpPr>
          <p:cNvPr id="87" name="Text 76"/>
          <p:cNvSpPr txBox="1"/>
          <p:nvPr/>
        </p:nvSpPr>
        <p:spPr>
          <a:xfrm>
            <a:off x="6291072" y="4956048"/>
            <a:ext cx="1170432" cy="585216"/>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Defect sent to its owner in minutes</a:t>
            </a:r>
            <a:endParaRPr lang="en-US" sz="950" dirty="0"/>
          </a:p>
        </p:txBody>
      </p:sp>
      <p:sp>
        <p:nvSpPr>
          <p:cNvPr id="88" name="Shape 77"/>
          <p:cNvSpPr/>
          <p:nvPr/>
        </p:nvSpPr>
        <p:spPr>
          <a:xfrm>
            <a:off x="7589520" y="4663440"/>
            <a:ext cx="1298448" cy="914400"/>
          </a:xfrm>
          <a:prstGeom prst="roundRect">
            <a:avLst>
              <a:gd name="adj" fmla="val 6000"/>
            </a:avLst>
          </a:prstGeom>
          <a:solidFill>
            <a:srgbClr val="E4EEF6"/>
          </a:solidFill>
          <a:ln w="12700">
            <a:solidFill>
              <a:srgbClr val="E4EEF6"/>
            </a:solidFill>
            <a:prstDash val="solid"/>
          </a:ln>
        </p:spPr>
      </p:sp>
      <p:sp>
        <p:nvSpPr>
          <p:cNvPr id="89" name="Text 78"/>
          <p:cNvSpPr txBox="1"/>
          <p:nvPr/>
        </p:nvSpPr>
        <p:spPr>
          <a:xfrm>
            <a:off x="7662672" y="4709160"/>
            <a:ext cx="1170432" cy="237744"/>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Appraisal</a:t>
            </a:r>
            <a:endParaRPr lang="en-US" sz="1000" dirty="0"/>
          </a:p>
        </p:txBody>
      </p:sp>
      <p:sp>
        <p:nvSpPr>
          <p:cNvPr id="90" name="Text 79"/>
          <p:cNvSpPr txBox="1"/>
          <p:nvPr/>
        </p:nvSpPr>
        <p:spPr>
          <a:xfrm>
            <a:off x="7662672" y="4956048"/>
            <a:ext cx="1170432" cy="585216"/>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100% of the surface, one rule for every coil</a:t>
            </a:r>
            <a:endParaRPr lang="en-US" sz="950" dirty="0"/>
          </a:p>
        </p:txBody>
      </p:sp>
      <p:sp>
        <p:nvSpPr>
          <p:cNvPr id="91" name="Shape 80"/>
          <p:cNvSpPr/>
          <p:nvPr/>
        </p:nvSpPr>
        <p:spPr>
          <a:xfrm>
            <a:off x="8961120" y="4663440"/>
            <a:ext cx="1298448" cy="914400"/>
          </a:xfrm>
          <a:prstGeom prst="roundRect">
            <a:avLst>
              <a:gd name="adj" fmla="val 6000"/>
            </a:avLst>
          </a:prstGeom>
          <a:solidFill>
            <a:srgbClr val="F1F4F7"/>
          </a:solidFill>
          <a:ln w="12700">
            <a:solidFill>
              <a:srgbClr val="F1F4F7"/>
            </a:solidFill>
            <a:prstDash val="solid"/>
          </a:ln>
        </p:spPr>
      </p:sp>
      <p:sp>
        <p:nvSpPr>
          <p:cNvPr id="92" name="Text 81"/>
          <p:cNvSpPr txBox="1"/>
          <p:nvPr/>
        </p:nvSpPr>
        <p:spPr>
          <a:xfrm>
            <a:off x="9034272" y="4709160"/>
            <a:ext cx="1170432" cy="237744"/>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Internal failure</a:t>
            </a:r>
            <a:endParaRPr lang="en-US" sz="1000" dirty="0"/>
          </a:p>
        </p:txBody>
      </p:sp>
      <p:sp>
        <p:nvSpPr>
          <p:cNvPr id="93" name="Text 82"/>
          <p:cNvSpPr txBox="1"/>
          <p:nvPr/>
        </p:nvSpPr>
        <p:spPr>
          <a:xfrm>
            <a:off x="9034272" y="4956048"/>
            <a:ext cx="1170432" cy="585216"/>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Caught before more value is added</a:t>
            </a:r>
            <a:endParaRPr lang="en-US" sz="950" dirty="0"/>
          </a:p>
        </p:txBody>
      </p:sp>
      <p:sp>
        <p:nvSpPr>
          <p:cNvPr id="94" name="Shape 83"/>
          <p:cNvSpPr/>
          <p:nvPr/>
        </p:nvSpPr>
        <p:spPr>
          <a:xfrm>
            <a:off x="10332720" y="4663440"/>
            <a:ext cx="1298448" cy="914400"/>
          </a:xfrm>
          <a:prstGeom prst="roundRect">
            <a:avLst>
              <a:gd name="adj" fmla="val 6000"/>
            </a:avLst>
          </a:prstGeom>
          <a:solidFill>
            <a:srgbClr val="F1F4F7"/>
          </a:solidFill>
          <a:ln w="12700">
            <a:solidFill>
              <a:srgbClr val="F1F4F7"/>
            </a:solidFill>
            <a:prstDash val="solid"/>
          </a:ln>
        </p:spPr>
      </p:sp>
      <p:sp>
        <p:nvSpPr>
          <p:cNvPr id="95" name="Text 84"/>
          <p:cNvSpPr txBox="1"/>
          <p:nvPr/>
        </p:nvSpPr>
        <p:spPr>
          <a:xfrm>
            <a:off x="10405872" y="4709160"/>
            <a:ext cx="1170432" cy="237744"/>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External failure</a:t>
            </a:r>
            <a:endParaRPr lang="en-US" sz="1000" dirty="0"/>
          </a:p>
        </p:txBody>
      </p:sp>
      <p:sp>
        <p:nvSpPr>
          <p:cNvPr id="96" name="Text 85"/>
          <p:cNvSpPr txBox="1"/>
          <p:nvPr/>
        </p:nvSpPr>
        <p:spPr>
          <a:xfrm>
            <a:off x="10405872" y="4956048"/>
            <a:ext cx="1170432" cy="585216"/>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Fewer escapes to exposed-finish customers</a:t>
            </a:r>
            <a:endParaRPr lang="en-US" sz="950" dirty="0"/>
          </a:p>
        </p:txBody>
      </p:sp>
      <p:sp>
        <p:nvSpPr>
          <p:cNvPr id="97" name="Text 86"/>
          <p:cNvSpPr txBox="1"/>
          <p:nvPr/>
        </p:nvSpPr>
        <p:spPr>
          <a:xfrm>
            <a:off x="6217920" y="5623560"/>
            <a:ext cx="5468112" cy="237744"/>
          </a:xfrm>
          <a:prstGeom prst="rect">
            <a:avLst/>
          </a:prstGeom>
          <a:noFill/>
          <a:ln/>
        </p:spPr>
        <p:txBody>
          <a:bodyPr wrap="square" lIns="0" tIns="0" rIns="0" bIns="0" rtlCol="0" anchor="t"/>
          <a:lstStyle/>
          <a:p>
            <a:pPr indent="0" marL="0">
              <a:buNone/>
            </a:pPr>
            <a:r>
              <a:rPr lang="en-US" sz="950" i="1" dirty="0">
                <a:solidFill>
                  <a:srgbClr val="334150"/>
                </a:solidFill>
                <a:latin typeface="Calibri" pitchFamily="34" charset="0"/>
                <a:ea typeface="Calibri" pitchFamily="34" charset="-122"/>
                <a:cs typeface="Calibri" pitchFamily="34" charset="-120"/>
              </a:rPr>
              <a:t>Cost of poor quality averages ~15% of sales in manufacturing (range 5-35%, IISE).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On stainless the surface is the product, so every defect type must reach the process that caused it</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Classify, don't just alarm: a typed defect becomes a work order for a named owner. The pilot belongs on 300-series cold-rolled strip.</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Images: held-out test frames, boxes drawn by our model. Sources: ASSDA; JSL Q1 FY27 results; Leão et al. 2021; Steel in Translation 2023. Owners and grade risks: team hypotheses, to validate with JSL.</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Six defect families, six different owners (real detections by our model)</a:t>
            </a:r>
            <a:endParaRPr lang="en-US" sz="1100" dirty="0"/>
          </a:p>
        </p:txBody>
      </p:sp>
      <p:sp>
        <p:nvSpPr>
          <p:cNvPr id="19" name="Shape 17"/>
          <p:cNvSpPr/>
          <p:nvPr/>
        </p:nvSpPr>
        <p:spPr>
          <a:xfrm>
            <a:off x="457200" y="1572768"/>
            <a:ext cx="1783080" cy="2651760"/>
          </a:xfrm>
          <a:prstGeom prst="roundRect">
            <a:avLst>
              <a:gd name="adj" fmla="val 3077"/>
            </a:avLst>
          </a:prstGeom>
          <a:solidFill>
            <a:srgbClr val="F1F4F7"/>
          </a:solidFill>
          <a:ln w="12700">
            <a:solidFill>
              <a:srgbClr val="F1F4F7"/>
            </a:solidFill>
            <a:prstDash val="solid"/>
          </a:ln>
        </p:spPr>
      </p:sp>
      <p:pic>
        <p:nvPicPr>
          <p:cNvPr id="20" name="Image 0" descr="img/det_inclusion.png">    </p:cNvPr>
          <p:cNvPicPr>
            <a:picLocks noChangeAspect="1"/>
          </p:cNvPicPr>
          <p:nvPr/>
        </p:nvPicPr>
        <p:blipFill>
          <a:blip r:embed="rId1"/>
          <a:stretch>
            <a:fillRect/>
          </a:stretch>
        </p:blipFill>
        <p:spPr>
          <a:xfrm>
            <a:off x="548640" y="1645920"/>
            <a:ext cx="1600200" cy="1600200"/>
          </a:xfrm>
          <a:prstGeom prst="rect">
            <a:avLst/>
          </a:prstGeom>
        </p:spPr>
      </p:pic>
      <p:sp>
        <p:nvSpPr>
          <p:cNvPr id="21" name="Text 18"/>
          <p:cNvSpPr txBox="1"/>
          <p:nvPr/>
        </p:nvSpPr>
        <p:spPr>
          <a:xfrm>
            <a:off x="548640"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Caster</a:t>
            </a:r>
            <a:endParaRPr lang="en-US" sz="950" dirty="0"/>
          </a:p>
        </p:txBody>
      </p:sp>
      <p:sp>
        <p:nvSpPr>
          <p:cNvPr id="22" name="Text 19"/>
          <p:cNvSpPr txBox="1"/>
          <p:nvPr/>
        </p:nvSpPr>
        <p:spPr>
          <a:xfrm>
            <a:off x="548640"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SMS</a:t>
            </a:r>
            <a:endParaRPr lang="en-US" sz="950" dirty="0"/>
          </a:p>
        </p:txBody>
      </p:sp>
      <p:sp>
        <p:nvSpPr>
          <p:cNvPr id="23" name="Text 20"/>
          <p:cNvSpPr txBox="1"/>
          <p:nvPr/>
        </p:nvSpPr>
        <p:spPr>
          <a:xfrm>
            <a:off x="548640"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Tundish level, mould flux</a:t>
            </a:r>
            <a:endParaRPr lang="en-US" sz="950" dirty="0"/>
          </a:p>
        </p:txBody>
      </p:sp>
      <p:sp>
        <p:nvSpPr>
          <p:cNvPr id="24" name="Shape 21"/>
          <p:cNvSpPr/>
          <p:nvPr/>
        </p:nvSpPr>
        <p:spPr>
          <a:xfrm>
            <a:off x="2355494" y="1572768"/>
            <a:ext cx="1783080" cy="2651760"/>
          </a:xfrm>
          <a:prstGeom prst="roundRect">
            <a:avLst>
              <a:gd name="adj" fmla="val 3077"/>
            </a:avLst>
          </a:prstGeom>
          <a:solidFill>
            <a:srgbClr val="F1F4F7"/>
          </a:solidFill>
          <a:ln w="12700">
            <a:solidFill>
              <a:srgbClr val="F1F4F7"/>
            </a:solidFill>
            <a:prstDash val="solid"/>
          </a:ln>
        </p:spPr>
      </p:sp>
      <p:pic>
        <p:nvPicPr>
          <p:cNvPr id="25" name="Image 1" descr="img/det_crazing.png">    </p:cNvPr>
          <p:cNvPicPr>
            <a:picLocks noChangeAspect="1"/>
          </p:cNvPicPr>
          <p:nvPr/>
        </p:nvPicPr>
        <p:blipFill>
          <a:blip r:embed="rId2"/>
          <a:stretch>
            <a:fillRect/>
          </a:stretch>
        </p:blipFill>
        <p:spPr>
          <a:xfrm>
            <a:off x="2446934" y="1645920"/>
            <a:ext cx="1600200" cy="1600200"/>
          </a:xfrm>
          <a:prstGeom prst="rect">
            <a:avLst/>
          </a:prstGeom>
        </p:spPr>
      </p:pic>
      <p:sp>
        <p:nvSpPr>
          <p:cNvPr id="26" name="Text 22"/>
          <p:cNvSpPr txBox="1"/>
          <p:nvPr/>
        </p:nvSpPr>
        <p:spPr>
          <a:xfrm>
            <a:off x="2446934"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Reheat, hot rolling</a:t>
            </a:r>
            <a:endParaRPr lang="en-US" sz="950" dirty="0"/>
          </a:p>
        </p:txBody>
      </p:sp>
      <p:sp>
        <p:nvSpPr>
          <p:cNvPr id="27" name="Text 23"/>
          <p:cNvSpPr txBox="1"/>
          <p:nvPr/>
        </p:nvSpPr>
        <p:spPr>
          <a:xfrm>
            <a:off x="2446934"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a:t>
            </a:r>
            <a:endParaRPr lang="en-US" sz="950" dirty="0"/>
          </a:p>
        </p:txBody>
      </p:sp>
      <p:sp>
        <p:nvSpPr>
          <p:cNvPr id="28" name="Text 24"/>
          <p:cNvSpPr txBox="1"/>
          <p:nvPr/>
        </p:nvSpPr>
        <p:spPr>
          <a:xfrm>
            <a:off x="2446934"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Reheat and coiling temperature</a:t>
            </a:r>
            <a:endParaRPr lang="en-US" sz="950" dirty="0"/>
          </a:p>
        </p:txBody>
      </p:sp>
      <p:sp>
        <p:nvSpPr>
          <p:cNvPr id="29" name="Shape 25"/>
          <p:cNvSpPr/>
          <p:nvPr/>
        </p:nvSpPr>
        <p:spPr>
          <a:xfrm>
            <a:off x="4253789" y="1572768"/>
            <a:ext cx="1783080" cy="2651760"/>
          </a:xfrm>
          <a:prstGeom prst="roundRect">
            <a:avLst>
              <a:gd name="adj" fmla="val 3077"/>
            </a:avLst>
          </a:prstGeom>
          <a:solidFill>
            <a:srgbClr val="F1F4F7"/>
          </a:solidFill>
          <a:ln w="12700">
            <a:solidFill>
              <a:srgbClr val="F1F4F7"/>
            </a:solidFill>
            <a:prstDash val="solid"/>
          </a:ln>
        </p:spPr>
      </p:sp>
      <p:pic>
        <p:nvPicPr>
          <p:cNvPr id="30" name="Image 2" descr="img/det_rolled-in_scale.png">    </p:cNvPr>
          <p:cNvPicPr>
            <a:picLocks noChangeAspect="1"/>
          </p:cNvPicPr>
          <p:nvPr/>
        </p:nvPicPr>
        <p:blipFill>
          <a:blip r:embed="rId3"/>
          <a:stretch>
            <a:fillRect/>
          </a:stretch>
        </p:blipFill>
        <p:spPr>
          <a:xfrm>
            <a:off x="4345229" y="1645920"/>
            <a:ext cx="1600200" cy="1600200"/>
          </a:xfrm>
          <a:prstGeom prst="rect">
            <a:avLst/>
          </a:prstGeom>
        </p:spPr>
      </p:pic>
      <p:sp>
        <p:nvSpPr>
          <p:cNvPr id="31" name="Text 26"/>
          <p:cNvSpPr txBox="1"/>
          <p:nvPr/>
        </p:nvSpPr>
        <p:spPr>
          <a:xfrm>
            <a:off x="4345229"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Hot rolling</a:t>
            </a:r>
            <a:endParaRPr lang="en-US" sz="950" dirty="0"/>
          </a:p>
        </p:txBody>
      </p:sp>
      <p:sp>
        <p:nvSpPr>
          <p:cNvPr id="32" name="Text 27"/>
          <p:cNvSpPr txBox="1"/>
          <p:nvPr/>
        </p:nvSpPr>
        <p:spPr>
          <a:xfrm>
            <a:off x="4345229"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a:t>
            </a:r>
            <a:endParaRPr lang="en-US" sz="950" dirty="0"/>
          </a:p>
        </p:txBody>
      </p:sp>
      <p:sp>
        <p:nvSpPr>
          <p:cNvPr id="33" name="Text 28"/>
          <p:cNvSpPr txBox="1"/>
          <p:nvPr/>
        </p:nvSpPr>
        <p:spPr>
          <a:xfrm>
            <a:off x="4345229"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Descaler pressure, nozzles</a:t>
            </a:r>
            <a:endParaRPr lang="en-US" sz="950" dirty="0"/>
          </a:p>
        </p:txBody>
      </p:sp>
      <p:sp>
        <p:nvSpPr>
          <p:cNvPr id="34" name="Shape 29"/>
          <p:cNvSpPr/>
          <p:nvPr/>
        </p:nvSpPr>
        <p:spPr>
          <a:xfrm>
            <a:off x="6152083" y="1572768"/>
            <a:ext cx="1783080" cy="2651760"/>
          </a:xfrm>
          <a:prstGeom prst="roundRect">
            <a:avLst>
              <a:gd name="adj" fmla="val 3077"/>
            </a:avLst>
          </a:prstGeom>
          <a:solidFill>
            <a:srgbClr val="F1F4F7"/>
          </a:solidFill>
          <a:ln w="12700">
            <a:solidFill>
              <a:srgbClr val="F1F4F7"/>
            </a:solidFill>
            <a:prstDash val="solid"/>
          </a:ln>
        </p:spPr>
      </p:sp>
      <p:pic>
        <p:nvPicPr>
          <p:cNvPr id="35" name="Image 3" descr="img/det_pitted_surface.png">    </p:cNvPr>
          <p:cNvPicPr>
            <a:picLocks noChangeAspect="1"/>
          </p:cNvPicPr>
          <p:nvPr/>
        </p:nvPicPr>
        <p:blipFill>
          <a:blip r:embed="rId4"/>
          <a:stretch>
            <a:fillRect/>
          </a:stretch>
        </p:blipFill>
        <p:spPr>
          <a:xfrm>
            <a:off x="6243523" y="1645920"/>
            <a:ext cx="1600200" cy="1600200"/>
          </a:xfrm>
          <a:prstGeom prst="rect">
            <a:avLst/>
          </a:prstGeom>
        </p:spPr>
      </p:pic>
      <p:sp>
        <p:nvSpPr>
          <p:cNvPr id="36" name="Text 30"/>
          <p:cNvSpPr txBox="1"/>
          <p:nvPr/>
        </p:nvSpPr>
        <p:spPr>
          <a:xfrm>
            <a:off x="6243523"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Reheat, pickling</a:t>
            </a:r>
            <a:endParaRPr lang="en-US" sz="950" dirty="0"/>
          </a:p>
        </p:txBody>
      </p:sp>
      <p:sp>
        <p:nvSpPr>
          <p:cNvPr id="37" name="Text 31"/>
          <p:cNvSpPr txBox="1"/>
          <p:nvPr/>
        </p:nvSpPr>
        <p:spPr>
          <a:xfrm>
            <a:off x="6243523"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 / pickling</a:t>
            </a:r>
            <a:endParaRPr lang="en-US" sz="950" dirty="0"/>
          </a:p>
        </p:txBody>
      </p:sp>
      <p:sp>
        <p:nvSpPr>
          <p:cNvPr id="38" name="Text 32"/>
          <p:cNvSpPr txBox="1"/>
          <p:nvPr/>
        </p:nvSpPr>
        <p:spPr>
          <a:xfrm>
            <a:off x="6243523"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Furnace atmosphere, over-pickling</a:t>
            </a:r>
            <a:endParaRPr lang="en-US" sz="950" dirty="0"/>
          </a:p>
        </p:txBody>
      </p:sp>
      <p:sp>
        <p:nvSpPr>
          <p:cNvPr id="39" name="Shape 33"/>
          <p:cNvSpPr/>
          <p:nvPr/>
        </p:nvSpPr>
        <p:spPr>
          <a:xfrm>
            <a:off x="8050378" y="1572768"/>
            <a:ext cx="1783080" cy="2651760"/>
          </a:xfrm>
          <a:prstGeom prst="roundRect">
            <a:avLst>
              <a:gd name="adj" fmla="val 3077"/>
            </a:avLst>
          </a:prstGeom>
          <a:solidFill>
            <a:srgbClr val="F1F4F7"/>
          </a:solidFill>
          <a:ln w="12700">
            <a:solidFill>
              <a:srgbClr val="F1F4F7"/>
            </a:solidFill>
            <a:prstDash val="solid"/>
          </a:ln>
        </p:spPr>
      </p:sp>
      <p:pic>
        <p:nvPicPr>
          <p:cNvPr id="40" name="Image 4" descr="img/det_patches.png">    </p:cNvPr>
          <p:cNvPicPr>
            <a:picLocks noChangeAspect="1"/>
          </p:cNvPicPr>
          <p:nvPr/>
        </p:nvPicPr>
        <p:blipFill>
          <a:blip r:embed="rId5"/>
          <a:stretch>
            <a:fillRect/>
          </a:stretch>
        </p:blipFill>
        <p:spPr>
          <a:xfrm>
            <a:off x="8141818" y="1645920"/>
            <a:ext cx="1600200" cy="1600200"/>
          </a:xfrm>
          <a:prstGeom prst="rect">
            <a:avLst/>
          </a:prstGeom>
        </p:spPr>
      </p:pic>
      <p:sp>
        <p:nvSpPr>
          <p:cNvPr id="41" name="Text 34"/>
          <p:cNvSpPr txBox="1"/>
          <p:nvPr/>
        </p:nvSpPr>
        <p:spPr>
          <a:xfrm>
            <a:off x="8141818"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Anneal &amp; pickle</a:t>
            </a:r>
            <a:endParaRPr lang="en-US" sz="950" dirty="0"/>
          </a:p>
        </p:txBody>
      </p:sp>
      <p:sp>
        <p:nvSpPr>
          <p:cNvPr id="42" name="Text 35"/>
          <p:cNvSpPr txBox="1"/>
          <p:nvPr/>
        </p:nvSpPr>
        <p:spPr>
          <a:xfrm>
            <a:off x="8141818"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Pickling line</a:t>
            </a:r>
            <a:endParaRPr lang="en-US" sz="950" dirty="0"/>
          </a:p>
        </p:txBody>
      </p:sp>
      <p:sp>
        <p:nvSpPr>
          <p:cNvPr id="43" name="Text 36"/>
          <p:cNvSpPr txBox="1"/>
          <p:nvPr/>
        </p:nvSpPr>
        <p:spPr>
          <a:xfrm>
            <a:off x="8141818"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Acid strength, line speed</a:t>
            </a:r>
            <a:endParaRPr lang="en-US" sz="950" dirty="0"/>
          </a:p>
        </p:txBody>
      </p:sp>
      <p:sp>
        <p:nvSpPr>
          <p:cNvPr id="44" name="Shape 37"/>
          <p:cNvSpPr/>
          <p:nvPr/>
        </p:nvSpPr>
        <p:spPr>
          <a:xfrm>
            <a:off x="9948672" y="1572768"/>
            <a:ext cx="1783080" cy="2651760"/>
          </a:xfrm>
          <a:prstGeom prst="roundRect">
            <a:avLst>
              <a:gd name="adj" fmla="val 3077"/>
            </a:avLst>
          </a:prstGeom>
          <a:solidFill>
            <a:srgbClr val="F1F4F7"/>
          </a:solidFill>
          <a:ln w="12700">
            <a:solidFill>
              <a:srgbClr val="F1F4F7"/>
            </a:solidFill>
            <a:prstDash val="solid"/>
          </a:ln>
        </p:spPr>
      </p:sp>
      <p:pic>
        <p:nvPicPr>
          <p:cNvPr id="45" name="Image 5" descr="img/det_scratches.png">    </p:cNvPr>
          <p:cNvPicPr>
            <a:picLocks noChangeAspect="1"/>
          </p:cNvPicPr>
          <p:nvPr/>
        </p:nvPicPr>
        <p:blipFill>
          <a:blip r:embed="rId6"/>
          <a:stretch>
            <a:fillRect/>
          </a:stretch>
        </p:blipFill>
        <p:spPr>
          <a:xfrm>
            <a:off x="10040112" y="1645920"/>
            <a:ext cx="1600200" cy="1600200"/>
          </a:xfrm>
          <a:prstGeom prst="rect">
            <a:avLst/>
          </a:prstGeom>
        </p:spPr>
      </p:pic>
      <p:sp>
        <p:nvSpPr>
          <p:cNvPr id="46" name="Text 38"/>
          <p:cNvSpPr txBox="1"/>
          <p:nvPr/>
        </p:nvSpPr>
        <p:spPr>
          <a:xfrm>
            <a:off x="10040112"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Cold rolling, handling</a:t>
            </a:r>
            <a:endParaRPr lang="en-US" sz="950" dirty="0"/>
          </a:p>
        </p:txBody>
      </p:sp>
      <p:sp>
        <p:nvSpPr>
          <p:cNvPr id="47" name="Text 39"/>
          <p:cNvSpPr txBox="1"/>
          <p:nvPr/>
        </p:nvSpPr>
        <p:spPr>
          <a:xfrm>
            <a:off x="10040112"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CRM / logistics</a:t>
            </a:r>
            <a:endParaRPr lang="en-US" sz="950" dirty="0"/>
          </a:p>
        </p:txBody>
      </p:sp>
      <p:sp>
        <p:nvSpPr>
          <p:cNvPr id="48" name="Text 40"/>
          <p:cNvSpPr txBox="1"/>
          <p:nvPr/>
        </p:nvSpPr>
        <p:spPr>
          <a:xfrm>
            <a:off x="10040112"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Guides, rolls, coil handling</a:t>
            </a:r>
            <a:endParaRPr lang="en-US" sz="950" dirty="0"/>
          </a:p>
        </p:txBody>
      </p:sp>
      <p:sp>
        <p:nvSpPr>
          <p:cNvPr id="49" name="Shape 41"/>
          <p:cNvSpPr/>
          <p:nvPr/>
        </p:nvSpPr>
        <p:spPr>
          <a:xfrm>
            <a:off x="457200" y="4370832"/>
            <a:ext cx="4572000" cy="274320"/>
          </a:xfrm>
          <a:prstGeom prst="rect">
            <a:avLst/>
          </a:prstGeom>
          <a:solidFill>
            <a:srgbClr val="2B5B80"/>
          </a:solidFill>
          <a:ln w="12700">
            <a:solidFill>
              <a:srgbClr val="2B5B80"/>
            </a:solidFill>
            <a:prstDash val="solid"/>
          </a:ln>
        </p:spPr>
      </p:sp>
      <p:sp>
        <p:nvSpPr>
          <p:cNvPr id="50" name="Text 42"/>
          <p:cNvSpPr txBox="1"/>
          <p:nvPr/>
        </p:nvSpPr>
        <p:spPr>
          <a:xfrm>
            <a:off x="548640" y="4370832"/>
            <a:ext cx="4389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Three facts that change the brief</a:t>
            </a:r>
            <a:endParaRPr lang="en-US" sz="1100" dirty="0"/>
          </a:p>
        </p:txBody>
      </p:sp>
      <p:sp>
        <p:nvSpPr>
          <p:cNvPr id="51" name="Shape 43"/>
          <p:cNvSpPr/>
          <p:nvPr/>
        </p:nvSpPr>
        <p:spPr>
          <a:xfrm>
            <a:off x="502920" y="4718304"/>
            <a:ext cx="329184" cy="329184"/>
          </a:xfrm>
          <a:prstGeom prst="ellipse">
            <a:avLst/>
          </a:prstGeom>
          <a:solidFill>
            <a:srgbClr val="0086C3"/>
          </a:solidFill>
          <a:ln w="12700">
            <a:solidFill>
              <a:srgbClr val="0086C3"/>
            </a:solidFill>
            <a:prstDash val="solid"/>
          </a:ln>
        </p:spPr>
      </p:sp>
      <p:pic>
        <p:nvPicPr>
          <p:cNvPr id="52" name="Image 6" descr="img/icons/sparkles-white.png">    </p:cNvPr>
          <p:cNvPicPr>
            <a:picLocks noChangeAspect="1"/>
          </p:cNvPicPr>
          <p:nvPr/>
        </p:nvPicPr>
        <p:blipFill>
          <a:blip r:embed="rId7"/>
          <a:stretch>
            <a:fillRect/>
          </a:stretch>
        </p:blipFill>
        <p:spPr>
          <a:xfrm>
            <a:off x="575340" y="4790724"/>
            <a:ext cx="184343" cy="184343"/>
          </a:xfrm>
          <a:prstGeom prst="rect">
            <a:avLst/>
          </a:prstGeom>
        </p:spPr>
      </p:pic>
      <p:sp>
        <p:nvSpPr>
          <p:cNvPr id="53" name="Text 44"/>
          <p:cNvSpPr txBox="1"/>
          <p:nvPr/>
        </p:nvSpPr>
        <p:spPr>
          <a:xfrm>
            <a:off x="932688" y="4718304"/>
            <a:ext cx="4069080" cy="347472"/>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The finish cannot be repaired.</a:t>
            </a:r>
            <a:pPr indent="0" marL="0">
              <a:buNone/>
            </a:pPr>
            <a:r>
              <a:rPr lang="en-US" sz="950" dirty="0">
                <a:solidFill>
                  <a:srgbClr val="334150"/>
                </a:solidFill>
                <a:latin typeface="Calibri" pitchFamily="34" charset="0"/>
                <a:ea typeface="Calibri" pitchFamily="34" charset="-122"/>
                <a:cs typeface="Calibri" pitchFamily="34" charset="-120"/>
              </a:rPr>
              <a:t> 2B/BA damage cannot be polished out (ASSDA).</a:t>
            </a:r>
            <a:endParaRPr lang="en-US" sz="950" dirty="0"/>
          </a:p>
        </p:txBody>
      </p:sp>
      <p:sp>
        <p:nvSpPr>
          <p:cNvPr id="54" name="Shape 45"/>
          <p:cNvSpPr/>
          <p:nvPr/>
        </p:nvSpPr>
        <p:spPr>
          <a:xfrm>
            <a:off x="502920" y="5120640"/>
            <a:ext cx="329184" cy="329184"/>
          </a:xfrm>
          <a:prstGeom prst="ellipse">
            <a:avLst/>
          </a:prstGeom>
          <a:solidFill>
            <a:srgbClr val="0086C3"/>
          </a:solidFill>
          <a:ln w="12700">
            <a:solidFill>
              <a:srgbClr val="0086C3"/>
            </a:solidFill>
            <a:prstDash val="solid"/>
          </a:ln>
        </p:spPr>
      </p:sp>
      <p:pic>
        <p:nvPicPr>
          <p:cNvPr id="55" name="Image 7" descr="img/icons/layers-white.png">    </p:cNvPr>
          <p:cNvPicPr>
            <a:picLocks noChangeAspect="1"/>
          </p:cNvPicPr>
          <p:nvPr/>
        </p:nvPicPr>
        <p:blipFill>
          <a:blip r:embed="rId8"/>
          <a:stretch>
            <a:fillRect/>
          </a:stretch>
        </p:blipFill>
        <p:spPr>
          <a:xfrm>
            <a:off x="575340" y="5193060"/>
            <a:ext cx="184343" cy="184343"/>
          </a:xfrm>
          <a:prstGeom prst="rect">
            <a:avLst/>
          </a:prstGeom>
        </p:spPr>
      </p:pic>
      <p:sp>
        <p:nvSpPr>
          <p:cNvPr id="56" name="Text 46"/>
          <p:cNvSpPr txBox="1"/>
          <p:nvPr/>
        </p:nvSpPr>
        <p:spPr>
          <a:xfrm>
            <a:off x="932688" y="5120640"/>
            <a:ext cx="4069080" cy="347472"/>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Surface-critical tonnes are growing.</a:t>
            </a:r>
            <a:pPr indent="0" marL="0">
              <a:buNone/>
            </a:pPr>
            <a:r>
              <a:rPr lang="en-US" sz="950" dirty="0">
                <a:solidFill>
                  <a:srgbClr val="334150"/>
                </a:solidFill>
                <a:latin typeface="Calibri" pitchFamily="34" charset="0"/>
                <a:ea typeface="Calibri" pitchFamily="34" charset="-122"/>
                <a:cs typeface="Calibri" pitchFamily="34" charset="-120"/>
              </a:rPr>
              <a:t> Cold rolling 2.05 → 2.67 MTPA by FY28.</a:t>
            </a:r>
            <a:endParaRPr lang="en-US" sz="950" dirty="0"/>
          </a:p>
        </p:txBody>
      </p:sp>
      <p:sp>
        <p:nvSpPr>
          <p:cNvPr id="57" name="Shape 47"/>
          <p:cNvSpPr/>
          <p:nvPr/>
        </p:nvSpPr>
        <p:spPr>
          <a:xfrm>
            <a:off x="502920" y="5522976"/>
            <a:ext cx="329184" cy="329184"/>
          </a:xfrm>
          <a:prstGeom prst="ellipse">
            <a:avLst/>
          </a:prstGeom>
          <a:solidFill>
            <a:srgbClr val="0086C3"/>
          </a:solidFill>
          <a:ln w="12700">
            <a:solidFill>
              <a:srgbClr val="0086C3"/>
            </a:solidFill>
            <a:prstDash val="solid"/>
          </a:ln>
        </p:spPr>
      </p:sp>
      <p:pic>
        <p:nvPicPr>
          <p:cNvPr id="58" name="Image 8" descr="img/icons/users-white.png">    </p:cNvPr>
          <p:cNvPicPr>
            <a:picLocks noChangeAspect="1"/>
          </p:cNvPicPr>
          <p:nvPr/>
        </p:nvPicPr>
        <p:blipFill>
          <a:blip r:embed="rId9"/>
          <a:stretch>
            <a:fillRect/>
          </a:stretch>
        </p:blipFill>
        <p:spPr>
          <a:xfrm>
            <a:off x="575340" y="5595396"/>
            <a:ext cx="184343" cy="184343"/>
          </a:xfrm>
          <a:prstGeom prst="rect">
            <a:avLst/>
          </a:prstGeom>
        </p:spPr>
      </p:pic>
      <p:sp>
        <p:nvSpPr>
          <p:cNvPr id="59" name="Text 48"/>
          <p:cNvSpPr txBox="1"/>
          <p:nvPr/>
        </p:nvSpPr>
        <p:spPr>
          <a:xfrm>
            <a:off x="932688" y="5522976"/>
            <a:ext cx="4069080" cy="347472"/>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End markets see the surface.</a:t>
            </a:r>
            <a:pPr indent="0" marL="0">
              <a:buNone/>
            </a:pPr>
            <a:r>
              <a:rPr lang="en-US" sz="950" dirty="0">
                <a:solidFill>
                  <a:srgbClr val="334150"/>
                </a:solidFill>
                <a:latin typeface="Calibri" pitchFamily="34" charset="0"/>
                <a:ea typeface="Calibri" pitchFamily="34" charset="-122"/>
                <a:cs typeface="Calibri" pitchFamily="34" charset="-120"/>
              </a:rPr>
              <a:t> Auto, rail, metros, white goods (Q1 FY27).</a:t>
            </a:r>
            <a:endParaRPr lang="en-US" sz="950" dirty="0"/>
          </a:p>
        </p:txBody>
      </p:sp>
      <p:sp>
        <p:nvSpPr>
          <p:cNvPr id="60" name="Shape 49"/>
          <p:cNvSpPr/>
          <p:nvPr/>
        </p:nvSpPr>
        <p:spPr>
          <a:xfrm>
            <a:off x="5257800" y="4370832"/>
            <a:ext cx="6473952" cy="274320"/>
          </a:xfrm>
          <a:prstGeom prst="rect">
            <a:avLst/>
          </a:prstGeom>
          <a:solidFill>
            <a:srgbClr val="2B5B80"/>
          </a:solidFill>
          <a:ln w="12700">
            <a:solidFill>
              <a:srgbClr val="2B5B80"/>
            </a:solidFill>
            <a:prstDash val="solid"/>
          </a:ln>
        </p:spPr>
      </p:sp>
      <p:sp>
        <p:nvSpPr>
          <p:cNvPr id="61" name="Text 50"/>
          <p:cNvSpPr txBox="1"/>
          <p:nvPr/>
        </p:nvSpPr>
        <p:spPr>
          <a:xfrm>
            <a:off x="5349240" y="4370832"/>
            <a:ext cx="62910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Grade-by-defect risk: which defects to train for first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57800" y="4690872"/>
          <a:ext cx="4572000" cy="914400"/>
        </p:xfrm>
        <a:graphic>
          <a:graphicData uri="http://schemas.openxmlformats.org/drawingml/2006/table">
            <a:tbl>
              <a:tblPr/>
              <a:tblGrid>
                <a:gridCol w="1463040"/>
                <a:gridCol w="621792"/>
                <a:gridCol w="621792"/>
                <a:gridCol w="621792"/>
                <a:gridCol w="621792"/>
                <a:gridCol w="621792"/>
              </a:tblGrid>
              <a:tr h="23317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Grade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Slivers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Scale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Scratches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Edge cracks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Ridging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200 series (Cr-Mn)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300 series (304, 316)</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4EEF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400 series (409, 430)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Duplex (2205)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bl>
          </a:graphicData>
        </a:graphic>
      </p:graphicFrame>
      <p:sp>
        <p:nvSpPr>
          <p:cNvPr id="63" name="Shape 51"/>
          <p:cNvSpPr/>
          <p:nvPr/>
        </p:nvSpPr>
        <p:spPr>
          <a:xfrm>
            <a:off x="9966960" y="4690872"/>
            <a:ext cx="1764792" cy="1170432"/>
          </a:xfrm>
          <a:prstGeom prst="roundRect">
            <a:avLst>
              <a:gd name="adj" fmla="val 4688"/>
            </a:avLst>
          </a:prstGeom>
          <a:solidFill>
            <a:srgbClr val="143A5A"/>
          </a:solidFill>
          <a:ln w="12700">
            <a:solidFill>
              <a:srgbClr val="143A5A"/>
            </a:solidFill>
            <a:prstDash val="solid"/>
          </a:ln>
        </p:spPr>
      </p:sp>
      <p:sp>
        <p:nvSpPr>
          <p:cNvPr id="64" name="Text 52"/>
          <p:cNvSpPr txBox="1"/>
          <p:nvPr/>
        </p:nvSpPr>
        <p:spPr>
          <a:xfrm>
            <a:off x="10058400" y="4736592"/>
            <a:ext cx="1600200" cy="1097280"/>
          </a:xfrm>
          <a:prstGeom prst="rect">
            <a:avLst/>
          </a:prstGeom>
          <a:noFill/>
          <a:ln/>
        </p:spPr>
        <p:txBody>
          <a:bodyPr wrap="square" lIns="0" tIns="0" rIns="0" bIns="0" rtlCol="0" anchor="t"/>
          <a:lstStyle/>
          <a:p>
            <a:pPr indent="0" marL="0">
              <a:buNone/>
            </a:pPr>
            <a:r>
              <a:rPr lang="en-US" sz="900" b="1" dirty="0">
                <a:solidFill>
                  <a:srgbClr val="BFD2E2"/>
                </a:solidFill>
                <a:latin typeface="Calibri" pitchFamily="34" charset="0"/>
                <a:ea typeface="Calibri" pitchFamily="34" charset="-122"/>
                <a:cs typeface="Calibri" pitchFamily="34" charset="-120"/>
              </a:rPr>
              <a:t>OUTPUT
</a:t>
            </a:r>
            <a:pPr indent="0" marL="0">
              <a:buNone/>
            </a:pPr>
            <a:r>
              <a:rPr lang="en-US" sz="950" b="1" dirty="0">
                <a:solidFill>
                  <a:srgbClr val="FFFFFF"/>
                </a:solidFill>
                <a:latin typeface="Calibri" pitchFamily="34" charset="0"/>
                <a:ea typeface="Calibri" pitchFamily="34" charset="-122"/>
                <a:cs typeface="Calibri" pitchFamily="34" charset="-120"/>
              </a:rPr>
              <a:t>300 series is the pilot grade: </a:t>
            </a:r>
            <a:pPr indent="0" marL="0">
              <a:buNone/>
            </a:pPr>
            <a:r>
              <a:rPr lang="en-US" sz="950" dirty="0">
                <a:solidFill>
                  <a:srgbClr val="BFD2E2"/>
                </a:solidFill>
                <a:latin typeface="Calibri" pitchFamily="34" charset="0"/>
                <a:ea typeface="Calibri" pitchFamily="34" charset="-122"/>
                <a:cs typeface="Calibri" pitchFamily="34" charset="-120"/>
              </a:rPr>
              <a:t>highest exposed-finish risk and the most nickel per tonne.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Our tests produced four findings, and each one changed the design</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model is the cheap part. JSL's own strip, the image resolution and trustworthy confidence decide whether the system works.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All numbers measured by us on three public steel-surface datasets, on images the model never saw in training.</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A model that never saw clean steel cries wolf</a:t>
            </a:r>
            <a:endParaRPr lang="en-US" sz="1100" dirty="0"/>
          </a:p>
        </p:txBody>
      </p:sp>
      <p:sp>
        <p:nvSpPr>
          <p:cNvPr id="19" name="Shape 17"/>
          <p:cNvSpPr/>
          <p:nvPr/>
        </p:nvSpPr>
        <p:spPr>
          <a:xfrm>
            <a:off x="457200" y="1508760"/>
            <a:ext cx="5541264" cy="1984248"/>
          </a:xfrm>
          <a:prstGeom prst="roundRect">
            <a:avLst>
              <a:gd name="adj" fmla="val 2765"/>
            </a:avLst>
          </a:prstGeom>
          <a:solidFill>
            <a:srgbClr val="F1F4F7"/>
          </a:solidFill>
          <a:ln w="12700">
            <a:solidFill>
              <a:srgbClr val="F1F4F7"/>
            </a:solidFill>
            <a:prstDash val="solid"/>
          </a:ln>
        </p:spPr>
      </p:sp>
      <p:graphicFrame>
        <p:nvGraphicFramePr>
          <p:cNvPr id="20" name="Chart 0" descr=""/>
          <p:cNvGraphicFramePr/>
          <p:nvPr/>
        </p:nvGraphicFramePr>
        <p:xfrm>
          <a:off x="548640" y="1572768"/>
          <a:ext cx="5358384" cy="155448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594360" y="3163824"/>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train on JSL's own clean and defective strip before any alarm is trusted.</a:t>
            </a:r>
            <a:endParaRPr lang="en-US" sz="1000" dirty="0"/>
          </a:p>
        </p:txBody>
      </p:sp>
      <p:sp>
        <p:nvSpPr>
          <p:cNvPr id="22" name="Shape 19"/>
          <p:cNvSpPr/>
          <p:nvPr/>
        </p:nvSpPr>
        <p:spPr>
          <a:xfrm>
            <a:off x="6190488" y="1234440"/>
            <a:ext cx="5541264" cy="274320"/>
          </a:xfrm>
          <a:prstGeom prst="rect">
            <a:avLst/>
          </a:prstGeom>
          <a:solidFill>
            <a:srgbClr val="2B5B80"/>
          </a:solidFill>
          <a:ln w="12700">
            <a:solidFill>
              <a:srgbClr val="2B5B80"/>
            </a:solidFill>
            <a:prstDash val="solid"/>
          </a:ln>
        </p:spPr>
      </p:sp>
      <p:sp>
        <p:nvSpPr>
          <p:cNvPr id="23" name="Text 20"/>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  A bigger model or sharper images did not help</a:t>
            </a:r>
            <a:endParaRPr lang="en-US" sz="1100" dirty="0"/>
          </a:p>
        </p:txBody>
      </p:sp>
      <p:sp>
        <p:nvSpPr>
          <p:cNvPr id="24" name="Shape 21"/>
          <p:cNvSpPr/>
          <p:nvPr/>
        </p:nvSpPr>
        <p:spPr>
          <a:xfrm>
            <a:off x="6190488" y="1508760"/>
            <a:ext cx="5541264" cy="1984248"/>
          </a:xfrm>
          <a:prstGeom prst="roundRect">
            <a:avLst>
              <a:gd name="adj" fmla="val 2765"/>
            </a:avLst>
          </a:prstGeom>
          <a:solidFill>
            <a:srgbClr val="F1F4F7"/>
          </a:solidFill>
          <a:ln w="12700">
            <a:solidFill>
              <a:srgbClr val="F1F4F7"/>
            </a:solidFill>
            <a:prstDash val="solid"/>
          </a:ln>
        </p:spPr>
      </p:sp>
      <p:sp>
        <p:nvSpPr>
          <p:cNvPr id="25" name="Text 22"/>
          <p:cNvSpPr txBox="1"/>
          <p:nvPr/>
        </p:nvSpPr>
        <p:spPr>
          <a:xfrm>
            <a:off x="6309360" y="1645920"/>
            <a:ext cx="146304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Compact model</a:t>
            </a:r>
            <a:endParaRPr lang="en-US" sz="1000" dirty="0"/>
          </a:p>
        </p:txBody>
      </p:sp>
      <p:sp>
        <p:nvSpPr>
          <p:cNvPr id="26" name="Shape 23"/>
          <p:cNvSpPr/>
          <p:nvPr/>
        </p:nvSpPr>
        <p:spPr>
          <a:xfrm>
            <a:off x="7818120" y="1682496"/>
            <a:ext cx="1485900" cy="201168"/>
          </a:xfrm>
          <a:prstGeom prst="rect">
            <a:avLst/>
          </a:prstGeom>
          <a:solidFill>
            <a:srgbClr val="5E9CCB"/>
          </a:solidFill>
          <a:ln w="12700">
            <a:solidFill>
              <a:srgbClr val="5E9CCB"/>
            </a:solidFill>
            <a:prstDash val="solid"/>
          </a:ln>
        </p:spPr>
      </p:sp>
      <p:sp>
        <p:nvSpPr>
          <p:cNvPr id="27" name="Text 24"/>
          <p:cNvSpPr txBox="1"/>
          <p:nvPr/>
        </p:nvSpPr>
        <p:spPr>
          <a:xfrm>
            <a:off x="9358884" y="1645920"/>
            <a:ext cx="50292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0.752</a:t>
            </a:r>
            <a:endParaRPr lang="en-US" sz="1000" dirty="0"/>
          </a:p>
        </p:txBody>
      </p:sp>
      <p:sp>
        <p:nvSpPr>
          <p:cNvPr id="28" name="Text 25"/>
          <p:cNvSpPr txBox="1"/>
          <p:nvPr/>
        </p:nvSpPr>
        <p:spPr>
          <a:xfrm>
            <a:off x="10652760" y="1645920"/>
            <a:ext cx="1005840" cy="256032"/>
          </a:xfrm>
          <a:prstGeom prst="rect">
            <a:avLst/>
          </a:prstGeom>
          <a:noFill/>
          <a:ln/>
        </p:spPr>
        <p:txBody>
          <a:bodyPr wrap="square" lIns="0" tIns="0" rIns="0" bIns="0" rtlCol="0" anchor="ctr"/>
          <a:lstStyle/>
          <a:p>
            <a:pPr indent="0" marL="0">
              <a:buNone/>
            </a:pPr>
            <a:r>
              <a:rPr lang="en-US" sz="950" dirty="0">
                <a:solidFill>
                  <a:srgbClr val="5F6B78"/>
                </a:solidFill>
                <a:latin typeface="Calibri" pitchFamily="34" charset="0"/>
                <a:ea typeface="Calibri" pitchFamily="34" charset="-122"/>
                <a:cs typeface="Calibri" pitchFamily="34" charset="-120"/>
              </a:rPr>
              <a:t>baseline</a:t>
            </a:r>
            <a:endParaRPr lang="en-US" sz="950" dirty="0"/>
          </a:p>
        </p:txBody>
      </p:sp>
      <p:sp>
        <p:nvSpPr>
          <p:cNvPr id="29" name="Text 26"/>
          <p:cNvSpPr txBox="1"/>
          <p:nvPr/>
        </p:nvSpPr>
        <p:spPr>
          <a:xfrm>
            <a:off x="6309360" y="1975104"/>
            <a:ext cx="146304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 clean strip (ours)</a:t>
            </a:r>
            <a:endParaRPr lang="en-US" sz="1000" dirty="0"/>
          </a:p>
        </p:txBody>
      </p:sp>
      <p:sp>
        <p:nvSpPr>
          <p:cNvPr id="30" name="Shape 27"/>
          <p:cNvSpPr/>
          <p:nvPr/>
        </p:nvSpPr>
        <p:spPr>
          <a:xfrm>
            <a:off x="7818120" y="2011680"/>
            <a:ext cx="1828800" cy="201168"/>
          </a:xfrm>
          <a:prstGeom prst="rect">
            <a:avLst/>
          </a:prstGeom>
          <a:solidFill>
            <a:srgbClr val="0086C3"/>
          </a:solidFill>
          <a:ln w="12700">
            <a:solidFill>
              <a:srgbClr val="0086C3"/>
            </a:solidFill>
            <a:prstDash val="solid"/>
          </a:ln>
        </p:spPr>
      </p:sp>
      <p:sp>
        <p:nvSpPr>
          <p:cNvPr id="31" name="Text 28"/>
          <p:cNvSpPr txBox="1"/>
          <p:nvPr/>
        </p:nvSpPr>
        <p:spPr>
          <a:xfrm>
            <a:off x="9701784" y="1975104"/>
            <a:ext cx="50292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0.764</a:t>
            </a:r>
            <a:endParaRPr lang="en-US" sz="1000" dirty="0"/>
          </a:p>
        </p:txBody>
      </p:sp>
      <p:sp>
        <p:nvSpPr>
          <p:cNvPr id="32" name="Text 29"/>
          <p:cNvSpPr txBox="1"/>
          <p:nvPr/>
        </p:nvSpPr>
        <p:spPr>
          <a:xfrm>
            <a:off x="10652760" y="1975104"/>
            <a:ext cx="1005840" cy="256032"/>
          </a:xfrm>
          <a:prstGeom prst="rect">
            <a:avLst/>
          </a:prstGeom>
          <a:noFill/>
          <a:ln/>
        </p:spPr>
        <p:txBody>
          <a:bodyPr wrap="square" lIns="0" tIns="0" rIns="0" bIns="0" rtlCol="0" anchor="ctr"/>
          <a:lstStyle/>
          <a:p>
            <a:pPr indent="0" marL="0">
              <a:buNone/>
            </a:pPr>
            <a:r>
              <a:rPr lang="en-US" sz="950" dirty="0">
                <a:solidFill>
                  <a:srgbClr val="5F6B78"/>
                </a:solidFill>
                <a:latin typeface="Calibri" pitchFamily="34" charset="0"/>
                <a:ea typeface="Calibri" pitchFamily="34" charset="-122"/>
                <a:cs typeface="Calibri" pitchFamily="34" charset="-120"/>
              </a:rPr>
              <a:t>no extra cost</a:t>
            </a:r>
            <a:endParaRPr lang="en-US" sz="950" dirty="0"/>
          </a:p>
        </p:txBody>
      </p:sp>
      <p:sp>
        <p:nvSpPr>
          <p:cNvPr id="33" name="Text 30"/>
          <p:cNvSpPr txBox="1"/>
          <p:nvPr/>
        </p:nvSpPr>
        <p:spPr>
          <a:xfrm>
            <a:off x="6309360" y="2304288"/>
            <a:ext cx="146304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Model 3.7x larger</a:t>
            </a:r>
            <a:endParaRPr lang="en-US" sz="1000" dirty="0"/>
          </a:p>
        </p:txBody>
      </p:sp>
      <p:sp>
        <p:nvSpPr>
          <p:cNvPr id="34" name="Shape 31"/>
          <p:cNvSpPr/>
          <p:nvPr/>
        </p:nvSpPr>
        <p:spPr>
          <a:xfrm>
            <a:off x="7818120" y="2340864"/>
            <a:ext cx="971550" cy="201168"/>
          </a:xfrm>
          <a:prstGeom prst="rect">
            <a:avLst/>
          </a:prstGeom>
          <a:solidFill>
            <a:srgbClr val="9AA7B4"/>
          </a:solidFill>
          <a:ln w="12700">
            <a:solidFill>
              <a:srgbClr val="9AA7B4"/>
            </a:solidFill>
            <a:prstDash val="solid"/>
          </a:ln>
        </p:spPr>
      </p:sp>
      <p:sp>
        <p:nvSpPr>
          <p:cNvPr id="35" name="Text 32"/>
          <p:cNvSpPr txBox="1"/>
          <p:nvPr/>
        </p:nvSpPr>
        <p:spPr>
          <a:xfrm>
            <a:off x="8844534" y="2304288"/>
            <a:ext cx="50292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0.734</a:t>
            </a:r>
            <a:endParaRPr lang="en-US" sz="1000" dirty="0"/>
          </a:p>
        </p:txBody>
      </p:sp>
      <p:sp>
        <p:nvSpPr>
          <p:cNvPr id="36" name="Text 33"/>
          <p:cNvSpPr txBox="1"/>
          <p:nvPr/>
        </p:nvSpPr>
        <p:spPr>
          <a:xfrm>
            <a:off x="10652760" y="2304288"/>
            <a:ext cx="1005840" cy="256032"/>
          </a:xfrm>
          <a:prstGeom prst="rect">
            <a:avLst/>
          </a:prstGeom>
          <a:noFill/>
          <a:ln/>
        </p:spPr>
        <p:txBody>
          <a:bodyPr wrap="square" lIns="0" tIns="0" rIns="0" bIns="0" rtlCol="0" anchor="ctr"/>
          <a:lstStyle/>
          <a:p>
            <a:pPr indent="0" marL="0">
              <a:buNone/>
            </a:pPr>
            <a:r>
              <a:rPr lang="en-US" sz="950" b="1" dirty="0">
                <a:solidFill>
                  <a:srgbClr val="334150"/>
                </a:solidFill>
                <a:latin typeface="Calibri" pitchFamily="34" charset="0"/>
                <a:ea typeface="Calibri" pitchFamily="34" charset="-122"/>
                <a:cs typeface="Calibri" pitchFamily="34" charset="-120"/>
              </a:rPr>
              <a:t>3.5x compute</a:t>
            </a:r>
            <a:endParaRPr lang="en-US" sz="950" dirty="0"/>
          </a:p>
        </p:txBody>
      </p:sp>
      <p:sp>
        <p:nvSpPr>
          <p:cNvPr id="37" name="Text 34"/>
          <p:cNvSpPr txBox="1"/>
          <p:nvPr/>
        </p:nvSpPr>
        <p:spPr>
          <a:xfrm>
            <a:off x="6309360" y="2633472"/>
            <a:ext cx="146304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4x sharper images</a:t>
            </a:r>
            <a:endParaRPr lang="en-US" sz="1000" dirty="0"/>
          </a:p>
        </p:txBody>
      </p:sp>
      <p:sp>
        <p:nvSpPr>
          <p:cNvPr id="38" name="Shape 35"/>
          <p:cNvSpPr/>
          <p:nvPr/>
        </p:nvSpPr>
        <p:spPr>
          <a:xfrm>
            <a:off x="7818120" y="2670048"/>
            <a:ext cx="971550" cy="201168"/>
          </a:xfrm>
          <a:prstGeom prst="rect">
            <a:avLst/>
          </a:prstGeom>
          <a:solidFill>
            <a:srgbClr val="9AA7B4"/>
          </a:solidFill>
          <a:ln w="12700">
            <a:solidFill>
              <a:srgbClr val="9AA7B4"/>
            </a:solidFill>
            <a:prstDash val="solid"/>
          </a:ln>
        </p:spPr>
      </p:sp>
      <p:sp>
        <p:nvSpPr>
          <p:cNvPr id="39" name="Text 36"/>
          <p:cNvSpPr txBox="1"/>
          <p:nvPr/>
        </p:nvSpPr>
        <p:spPr>
          <a:xfrm>
            <a:off x="8844534" y="2633472"/>
            <a:ext cx="50292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0.734</a:t>
            </a:r>
            <a:endParaRPr lang="en-US" sz="1000" dirty="0"/>
          </a:p>
        </p:txBody>
      </p:sp>
      <p:sp>
        <p:nvSpPr>
          <p:cNvPr id="40" name="Text 37"/>
          <p:cNvSpPr txBox="1"/>
          <p:nvPr/>
        </p:nvSpPr>
        <p:spPr>
          <a:xfrm>
            <a:off x="10652760" y="2633472"/>
            <a:ext cx="1005840" cy="256032"/>
          </a:xfrm>
          <a:prstGeom prst="rect">
            <a:avLst/>
          </a:prstGeom>
          <a:noFill/>
          <a:ln/>
        </p:spPr>
        <p:txBody>
          <a:bodyPr wrap="square" lIns="0" tIns="0" rIns="0" bIns="0" rtlCol="0" anchor="ctr"/>
          <a:lstStyle/>
          <a:p>
            <a:pPr indent="0" marL="0">
              <a:buNone/>
            </a:pPr>
            <a:r>
              <a:rPr lang="en-US" sz="950" b="1" dirty="0">
                <a:solidFill>
                  <a:srgbClr val="334150"/>
                </a:solidFill>
                <a:latin typeface="Calibri" pitchFamily="34" charset="0"/>
                <a:ea typeface="Calibri" pitchFamily="34" charset="-122"/>
                <a:cs typeface="Calibri" pitchFamily="34" charset="-120"/>
              </a:rPr>
              <a:t>4x pixels</a:t>
            </a:r>
            <a:endParaRPr lang="en-US" sz="950" dirty="0"/>
          </a:p>
        </p:txBody>
      </p:sp>
      <p:sp>
        <p:nvSpPr>
          <p:cNvPr id="41" name="Text 38"/>
          <p:cNvSpPr txBox="1"/>
          <p:nvPr/>
        </p:nvSpPr>
        <p:spPr>
          <a:xfrm>
            <a:off x="6309360" y="2971800"/>
            <a:ext cx="5303520" cy="201168"/>
          </a:xfrm>
          <a:prstGeom prst="rect">
            <a:avLst/>
          </a:prstGeom>
          <a:noFill/>
          <a:ln/>
        </p:spPr>
        <p:txBody>
          <a:bodyPr wrap="square" lIns="0" tIns="0" rIns="0" bIns="0" rtlCol="0" anchor="t"/>
          <a:lstStyle/>
          <a:p>
            <a:pPr indent="0" marL="0">
              <a:buNone/>
            </a:pPr>
            <a:r>
              <a:rPr lang="en-US" sz="900" i="1" dirty="0">
                <a:solidFill>
                  <a:srgbClr val="5F6B78"/>
                </a:solidFill>
                <a:latin typeface="Calibri" pitchFamily="34" charset="0"/>
                <a:ea typeface="Calibri" pitchFamily="34" charset="-122"/>
                <a:cs typeface="Calibri" pitchFamily="34" charset="-120"/>
              </a:rPr>
              <a:t>Accuracy on held-out images; bars start at 0.70. Compact vs large is within noise.</a:t>
            </a:r>
            <a:endParaRPr lang="en-US" sz="900" dirty="0"/>
          </a:p>
        </p:txBody>
      </p:sp>
      <p:sp>
        <p:nvSpPr>
          <p:cNvPr id="42" name="Text 39"/>
          <p:cNvSpPr txBox="1"/>
          <p:nvPr/>
        </p:nvSpPr>
        <p:spPr>
          <a:xfrm>
            <a:off x="6327648" y="3163824"/>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keep the model compact and spend the budget on camera coverage.</a:t>
            </a:r>
            <a:endParaRPr lang="en-US" sz="1000" dirty="0"/>
          </a:p>
        </p:txBody>
      </p:sp>
      <p:sp>
        <p:nvSpPr>
          <p:cNvPr id="43" name="Shape 40"/>
          <p:cNvSpPr/>
          <p:nvPr/>
        </p:nvSpPr>
        <p:spPr>
          <a:xfrm>
            <a:off x="457200" y="3630168"/>
            <a:ext cx="5541264" cy="274320"/>
          </a:xfrm>
          <a:prstGeom prst="rect">
            <a:avLst/>
          </a:prstGeom>
          <a:solidFill>
            <a:srgbClr val="2B5B80"/>
          </a:solidFill>
          <a:ln w="12700">
            <a:solidFill>
              <a:srgbClr val="2B5B80"/>
            </a:solidFill>
            <a:prstDash val="solid"/>
          </a:ln>
        </p:spPr>
      </p:sp>
      <p:sp>
        <p:nvSpPr>
          <p:cNvPr id="44" name="Text 41"/>
          <p:cNvSpPr txBox="1"/>
          <p:nvPr/>
        </p:nvSpPr>
        <p:spPr>
          <a:xfrm>
            <a:off x="548640"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  Line speed, not the model, sets the hardware bill</a:t>
            </a:r>
            <a:endParaRPr lang="en-US" sz="1100" dirty="0"/>
          </a:p>
        </p:txBody>
      </p:sp>
      <p:sp>
        <p:nvSpPr>
          <p:cNvPr id="45" name="Shape 42"/>
          <p:cNvSpPr/>
          <p:nvPr/>
        </p:nvSpPr>
        <p:spPr>
          <a:xfrm>
            <a:off x="457200" y="3904488"/>
            <a:ext cx="5541264" cy="1984248"/>
          </a:xfrm>
          <a:prstGeom prst="roundRect">
            <a:avLst>
              <a:gd name="adj" fmla="val 2765"/>
            </a:avLst>
          </a:prstGeom>
          <a:solidFill>
            <a:srgbClr val="F1F4F7"/>
          </a:solidFill>
          <a:ln w="12700">
            <a:solidFill>
              <a:srgbClr val="F1F4F7"/>
            </a:solidFill>
            <a:prstDash val="solid"/>
          </a:ln>
        </p:spPr>
      </p:sp>
      <p:pic>
        <p:nvPicPr>
          <p:cNvPr id="46" name="Image 0" descr="img/icons/cpu-navy.png">    </p:cNvPr>
          <p:cNvPicPr>
            <a:picLocks noChangeAspect="1"/>
          </p:cNvPicPr>
          <p:nvPr/>
        </p:nvPicPr>
        <p:blipFill>
          <a:blip r:embed="rId2"/>
          <a:stretch>
            <a:fillRect/>
          </a:stretch>
        </p:blipFill>
        <p:spPr>
          <a:xfrm>
            <a:off x="658368" y="4023360"/>
            <a:ext cx="237744" cy="237744"/>
          </a:xfrm>
          <a:prstGeom prst="rect">
            <a:avLst/>
          </a:prstGeom>
        </p:spPr>
      </p:pic>
      <p:pic>
        <p:nvPicPr>
          <p:cNvPr id="47" name="Image 1" descr="img/icons/cpu-navy.png">    </p:cNvPr>
          <p:cNvPicPr>
            <a:picLocks noChangeAspect="1"/>
          </p:cNvPicPr>
          <p:nvPr/>
        </p:nvPicPr>
        <p:blipFill>
          <a:blip r:embed="rId3"/>
          <a:stretch>
            <a:fillRect/>
          </a:stretch>
        </p:blipFill>
        <p:spPr>
          <a:xfrm>
            <a:off x="960120" y="4023360"/>
            <a:ext cx="237744" cy="237744"/>
          </a:xfrm>
          <a:prstGeom prst="rect">
            <a:avLst/>
          </a:prstGeom>
        </p:spPr>
      </p:pic>
      <p:pic>
        <p:nvPicPr>
          <p:cNvPr id="48" name="Image 2" descr="img/icons/cpu-navy.png">    </p:cNvPr>
          <p:cNvPicPr>
            <a:picLocks noChangeAspect="1"/>
          </p:cNvPicPr>
          <p:nvPr/>
        </p:nvPicPr>
        <p:blipFill>
          <a:blip r:embed="rId4"/>
          <a:stretch>
            <a:fillRect/>
          </a:stretch>
        </p:blipFill>
        <p:spPr>
          <a:xfrm>
            <a:off x="1261872" y="4023360"/>
            <a:ext cx="237744" cy="237744"/>
          </a:xfrm>
          <a:prstGeom prst="rect">
            <a:avLst/>
          </a:prstGeom>
        </p:spPr>
      </p:pic>
      <p:pic>
        <p:nvPicPr>
          <p:cNvPr id="49" name="Image 3" descr="img/icons/cpu-navy.png">    </p:cNvPr>
          <p:cNvPicPr>
            <a:picLocks noChangeAspect="1"/>
          </p:cNvPicPr>
          <p:nvPr/>
        </p:nvPicPr>
        <p:blipFill>
          <a:blip r:embed="rId5"/>
          <a:stretch>
            <a:fillRect/>
          </a:stretch>
        </p:blipFill>
        <p:spPr>
          <a:xfrm>
            <a:off x="1563624" y="4023360"/>
            <a:ext cx="237744" cy="237744"/>
          </a:xfrm>
          <a:prstGeom prst="rect">
            <a:avLst/>
          </a:prstGeom>
        </p:spPr>
      </p:pic>
      <p:pic>
        <p:nvPicPr>
          <p:cNvPr id="50" name="Image 4" descr="img/icons/cpu-navy.png">    </p:cNvPr>
          <p:cNvPicPr>
            <a:picLocks noChangeAspect="1"/>
          </p:cNvPicPr>
          <p:nvPr/>
        </p:nvPicPr>
        <p:blipFill>
          <a:blip r:embed="rId6"/>
          <a:stretch>
            <a:fillRect/>
          </a:stretch>
        </p:blipFill>
        <p:spPr>
          <a:xfrm>
            <a:off x="1865376" y="4023360"/>
            <a:ext cx="237744" cy="237744"/>
          </a:xfrm>
          <a:prstGeom prst="rect">
            <a:avLst/>
          </a:prstGeom>
        </p:spPr>
      </p:pic>
      <p:pic>
        <p:nvPicPr>
          <p:cNvPr id="51" name="Image 5" descr="img/icons/cpu-navy.png">    </p:cNvPr>
          <p:cNvPicPr>
            <a:picLocks noChangeAspect="1"/>
          </p:cNvPicPr>
          <p:nvPr/>
        </p:nvPicPr>
        <p:blipFill>
          <a:blip r:embed="rId7"/>
          <a:stretch>
            <a:fillRect/>
          </a:stretch>
        </p:blipFill>
        <p:spPr>
          <a:xfrm>
            <a:off x="2167128" y="4023360"/>
            <a:ext cx="237744" cy="237744"/>
          </a:xfrm>
          <a:prstGeom prst="rect">
            <a:avLst/>
          </a:prstGeom>
        </p:spPr>
      </p:pic>
      <p:pic>
        <p:nvPicPr>
          <p:cNvPr id="52" name="Image 6" descr="img/icons/cpu-navy.png">    </p:cNvPr>
          <p:cNvPicPr>
            <a:picLocks noChangeAspect="1"/>
          </p:cNvPicPr>
          <p:nvPr/>
        </p:nvPicPr>
        <p:blipFill>
          <a:blip r:embed="rId8"/>
          <a:stretch>
            <a:fillRect/>
          </a:stretch>
        </p:blipFill>
        <p:spPr>
          <a:xfrm>
            <a:off x="658368" y="4306824"/>
            <a:ext cx="237744" cy="237744"/>
          </a:xfrm>
          <a:prstGeom prst="rect">
            <a:avLst/>
          </a:prstGeom>
        </p:spPr>
      </p:pic>
      <p:pic>
        <p:nvPicPr>
          <p:cNvPr id="53" name="Image 7" descr="img/icons/cpu-navy.png">    </p:cNvPr>
          <p:cNvPicPr>
            <a:picLocks noChangeAspect="1"/>
          </p:cNvPicPr>
          <p:nvPr/>
        </p:nvPicPr>
        <p:blipFill>
          <a:blip r:embed="rId9"/>
          <a:stretch>
            <a:fillRect/>
          </a:stretch>
        </p:blipFill>
        <p:spPr>
          <a:xfrm>
            <a:off x="960120" y="4306824"/>
            <a:ext cx="237744" cy="237744"/>
          </a:xfrm>
          <a:prstGeom prst="rect">
            <a:avLst/>
          </a:prstGeom>
        </p:spPr>
      </p:pic>
      <p:pic>
        <p:nvPicPr>
          <p:cNvPr id="54" name="Image 8" descr="img/icons/cpu-navy.png">    </p:cNvPr>
          <p:cNvPicPr>
            <a:picLocks noChangeAspect="1"/>
          </p:cNvPicPr>
          <p:nvPr/>
        </p:nvPicPr>
        <p:blipFill>
          <a:blip r:embed="rId10"/>
          <a:stretch>
            <a:fillRect/>
          </a:stretch>
        </p:blipFill>
        <p:spPr>
          <a:xfrm>
            <a:off x="1261872" y="4306824"/>
            <a:ext cx="237744" cy="237744"/>
          </a:xfrm>
          <a:prstGeom prst="rect">
            <a:avLst/>
          </a:prstGeom>
        </p:spPr>
      </p:pic>
      <p:pic>
        <p:nvPicPr>
          <p:cNvPr id="55" name="Image 9" descr="img/icons/cpu-navy.png">    </p:cNvPr>
          <p:cNvPicPr>
            <a:picLocks noChangeAspect="1"/>
          </p:cNvPicPr>
          <p:nvPr/>
        </p:nvPicPr>
        <p:blipFill>
          <a:blip r:embed="rId11"/>
          <a:stretch>
            <a:fillRect/>
          </a:stretch>
        </p:blipFill>
        <p:spPr>
          <a:xfrm>
            <a:off x="1563624" y="4306824"/>
            <a:ext cx="237744" cy="237744"/>
          </a:xfrm>
          <a:prstGeom prst="rect">
            <a:avLst/>
          </a:prstGeom>
        </p:spPr>
      </p:pic>
      <p:pic>
        <p:nvPicPr>
          <p:cNvPr id="56" name="Image 10" descr="img/icons/cpu-navy.png">    </p:cNvPr>
          <p:cNvPicPr>
            <a:picLocks noChangeAspect="1"/>
          </p:cNvPicPr>
          <p:nvPr/>
        </p:nvPicPr>
        <p:blipFill>
          <a:blip r:embed="rId12"/>
          <a:stretch>
            <a:fillRect/>
          </a:stretch>
        </p:blipFill>
        <p:spPr>
          <a:xfrm>
            <a:off x="1865376" y="4306824"/>
            <a:ext cx="237744" cy="237744"/>
          </a:xfrm>
          <a:prstGeom prst="rect">
            <a:avLst/>
          </a:prstGeom>
        </p:spPr>
      </p:pic>
      <p:pic>
        <p:nvPicPr>
          <p:cNvPr id="57" name="Image 11" descr="img/icons/cpu-navy.png">    </p:cNvPr>
          <p:cNvPicPr>
            <a:picLocks noChangeAspect="1"/>
          </p:cNvPicPr>
          <p:nvPr/>
        </p:nvPicPr>
        <p:blipFill>
          <a:blip r:embed="rId13"/>
          <a:stretch>
            <a:fillRect/>
          </a:stretch>
        </p:blipFill>
        <p:spPr>
          <a:xfrm>
            <a:off x="2167128" y="4306824"/>
            <a:ext cx="237744" cy="237744"/>
          </a:xfrm>
          <a:prstGeom prst="rect">
            <a:avLst/>
          </a:prstGeom>
        </p:spPr>
      </p:pic>
      <p:pic>
        <p:nvPicPr>
          <p:cNvPr id="58" name="Image 12" descr="img/icons/cpu-navy.png">    </p:cNvPr>
          <p:cNvPicPr>
            <a:picLocks noChangeAspect="1"/>
          </p:cNvPicPr>
          <p:nvPr/>
        </p:nvPicPr>
        <p:blipFill>
          <a:blip r:embed="rId14"/>
          <a:stretch>
            <a:fillRect/>
          </a:stretch>
        </p:blipFill>
        <p:spPr>
          <a:xfrm>
            <a:off x="658368" y="4590288"/>
            <a:ext cx="237744" cy="237744"/>
          </a:xfrm>
          <a:prstGeom prst="rect">
            <a:avLst/>
          </a:prstGeom>
        </p:spPr>
      </p:pic>
      <p:pic>
        <p:nvPicPr>
          <p:cNvPr id="59" name="Image 13" descr="img/icons/cpu-navy.png">    </p:cNvPr>
          <p:cNvPicPr>
            <a:picLocks noChangeAspect="1"/>
          </p:cNvPicPr>
          <p:nvPr/>
        </p:nvPicPr>
        <p:blipFill>
          <a:blip r:embed="rId15"/>
          <a:stretch>
            <a:fillRect/>
          </a:stretch>
        </p:blipFill>
        <p:spPr>
          <a:xfrm>
            <a:off x="960120" y="4590288"/>
            <a:ext cx="237744" cy="237744"/>
          </a:xfrm>
          <a:prstGeom prst="rect">
            <a:avLst/>
          </a:prstGeom>
        </p:spPr>
      </p:pic>
      <p:pic>
        <p:nvPicPr>
          <p:cNvPr id="60" name="Image 14" descr="img/icons/cpu-navy.png">    </p:cNvPr>
          <p:cNvPicPr>
            <a:picLocks noChangeAspect="1"/>
          </p:cNvPicPr>
          <p:nvPr/>
        </p:nvPicPr>
        <p:blipFill>
          <a:blip r:embed="rId16"/>
          <a:stretch>
            <a:fillRect/>
          </a:stretch>
        </p:blipFill>
        <p:spPr>
          <a:xfrm>
            <a:off x="1261872" y="4590288"/>
            <a:ext cx="237744" cy="237744"/>
          </a:xfrm>
          <a:prstGeom prst="rect">
            <a:avLst/>
          </a:prstGeom>
        </p:spPr>
      </p:pic>
      <p:pic>
        <p:nvPicPr>
          <p:cNvPr id="61" name="Image 15" descr="img/icons/cpu-navy.png">    </p:cNvPr>
          <p:cNvPicPr>
            <a:picLocks noChangeAspect="1"/>
          </p:cNvPicPr>
          <p:nvPr/>
        </p:nvPicPr>
        <p:blipFill>
          <a:blip r:embed="rId17"/>
          <a:stretch>
            <a:fillRect/>
          </a:stretch>
        </p:blipFill>
        <p:spPr>
          <a:xfrm>
            <a:off x="1563624" y="4590288"/>
            <a:ext cx="237744" cy="237744"/>
          </a:xfrm>
          <a:prstGeom prst="rect">
            <a:avLst/>
          </a:prstGeom>
        </p:spPr>
      </p:pic>
      <p:pic>
        <p:nvPicPr>
          <p:cNvPr id="62" name="Image 16" descr="img/icons/cpu-navy.png">    </p:cNvPr>
          <p:cNvPicPr>
            <a:picLocks noChangeAspect="1"/>
          </p:cNvPicPr>
          <p:nvPr/>
        </p:nvPicPr>
        <p:blipFill>
          <a:blip r:embed="rId18"/>
          <a:stretch>
            <a:fillRect/>
          </a:stretch>
        </p:blipFill>
        <p:spPr>
          <a:xfrm>
            <a:off x="1865376" y="4590288"/>
            <a:ext cx="237744" cy="237744"/>
          </a:xfrm>
          <a:prstGeom prst="rect">
            <a:avLst/>
          </a:prstGeom>
        </p:spPr>
      </p:pic>
      <p:pic>
        <p:nvPicPr>
          <p:cNvPr id="63" name="Image 17" descr="img/icons/cpu-navy.png">    </p:cNvPr>
          <p:cNvPicPr>
            <a:picLocks noChangeAspect="1"/>
          </p:cNvPicPr>
          <p:nvPr/>
        </p:nvPicPr>
        <p:blipFill>
          <a:blip r:embed="rId19"/>
          <a:stretch>
            <a:fillRect/>
          </a:stretch>
        </p:blipFill>
        <p:spPr>
          <a:xfrm>
            <a:off x="2167128" y="4590288"/>
            <a:ext cx="237744" cy="237744"/>
          </a:xfrm>
          <a:prstGeom prst="rect">
            <a:avLst/>
          </a:prstGeom>
        </p:spPr>
      </p:pic>
      <p:sp>
        <p:nvSpPr>
          <p:cNvPr id="64" name="Text 43"/>
          <p:cNvSpPr txBox="1"/>
          <p:nvPr/>
        </p:nvSpPr>
        <p:spPr>
          <a:xfrm>
            <a:off x="640080" y="4901184"/>
            <a:ext cx="2514600" cy="548640"/>
          </a:xfrm>
          <a:prstGeom prst="rect">
            <a:avLst/>
          </a:prstGeom>
          <a:noFill/>
          <a:ln/>
        </p:spPr>
        <p:txBody>
          <a:bodyPr wrap="square" lIns="0" tIns="0" rIns="0" bIns="0" rtlCol="0" anchor="t"/>
          <a:lstStyle/>
          <a:p>
            <a:pPr indent="0" marL="0">
              <a:buNone/>
            </a:pPr>
            <a:r>
              <a:rPr lang="en-US" sz="1300" b="1" dirty="0">
                <a:solidFill>
                  <a:srgbClr val="143A5A"/>
                </a:solidFill>
                <a:latin typeface="Calibri" pitchFamily="34" charset="0"/>
                <a:ea typeface="Calibri" pitchFamily="34" charset="-122"/>
                <a:cs typeface="Calibri" pitchFamily="34" charset="-120"/>
              </a:rPr>
              <a:t>~18 processors</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see every 0.2 mm of a 1.28 m strip at 250 m/min</a:t>
            </a:r>
            <a:endParaRPr lang="en-US" sz="950" dirty="0"/>
          </a:p>
        </p:txBody>
      </p:sp>
      <p:sp>
        <p:nvSpPr>
          <p:cNvPr id="65" name="Text 44"/>
          <p:cNvSpPr txBox="1"/>
          <p:nvPr/>
        </p:nvSpPr>
        <p:spPr>
          <a:xfrm>
            <a:off x="3017520" y="4206240"/>
            <a:ext cx="457200" cy="365760"/>
          </a:xfrm>
          <a:prstGeom prst="rect">
            <a:avLst/>
          </a:prstGeom>
          <a:noFill/>
          <a:ln/>
        </p:spPr>
        <p:txBody>
          <a:bodyPr wrap="square" lIns="0" tIns="0" rIns="0" bIns="0" rtlCol="0" anchor="t"/>
          <a:lstStyle/>
          <a:p>
            <a:pPr algn="ctr" indent="0" marL="0">
              <a:buNone/>
            </a:pPr>
            <a:r>
              <a:rPr lang="en-US" sz="1600" b="1" dirty="0">
                <a:solidFill>
                  <a:srgbClr val="5F6B78"/>
                </a:solidFill>
                <a:latin typeface="Calibri" pitchFamily="34" charset="0"/>
                <a:ea typeface="Calibri" pitchFamily="34" charset="-122"/>
                <a:cs typeface="Calibri" pitchFamily="34" charset="-120"/>
              </a:rPr>
              <a:t>vs</a:t>
            </a:r>
            <a:endParaRPr lang="en-US" sz="1600" dirty="0"/>
          </a:p>
        </p:txBody>
      </p:sp>
      <p:pic>
        <p:nvPicPr>
          <p:cNvPr id="66" name="Image 18" descr="img/icons/cpu-accent.png">    </p:cNvPr>
          <p:cNvPicPr>
            <a:picLocks noChangeAspect="1"/>
          </p:cNvPicPr>
          <p:nvPr/>
        </p:nvPicPr>
        <p:blipFill>
          <a:blip r:embed="rId20"/>
          <a:stretch>
            <a:fillRect/>
          </a:stretch>
        </p:blipFill>
        <p:spPr>
          <a:xfrm>
            <a:off x="3886200" y="4041648"/>
            <a:ext cx="603504" cy="603504"/>
          </a:xfrm>
          <a:prstGeom prst="rect">
            <a:avLst/>
          </a:prstGeom>
        </p:spPr>
      </p:pic>
      <p:sp>
        <p:nvSpPr>
          <p:cNvPr id="67" name="Text 45"/>
          <p:cNvSpPr txBox="1"/>
          <p:nvPr/>
        </p:nvSpPr>
        <p:spPr>
          <a:xfrm>
            <a:off x="3520440" y="4736592"/>
            <a:ext cx="2377440" cy="822960"/>
          </a:xfrm>
          <a:prstGeom prst="rect">
            <a:avLst/>
          </a:prstGeom>
          <a:noFill/>
          <a:ln/>
        </p:spPr>
        <p:txBody>
          <a:bodyPr wrap="square" lIns="0" tIns="0" rIns="0" bIns="0" rtlCol="0" anchor="t"/>
          <a:lstStyle/>
          <a:p>
            <a:pPr indent="0" marL="0">
              <a:buNone/>
            </a:pPr>
            <a:r>
              <a:rPr lang="en-US" sz="1300" b="1" dirty="0">
                <a:solidFill>
                  <a:srgbClr val="0086C3"/>
                </a:solidFill>
                <a:latin typeface="Calibri" pitchFamily="34" charset="0"/>
                <a:ea typeface="Calibri" pitchFamily="34" charset="-122"/>
                <a:cs typeface="Calibri" pitchFamily="34" charset="-120"/>
              </a:rPr>
              <a:t>1 processor</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if images are coarsened to 1.28 mm, but fine scratches vanish</a:t>
            </a:r>
            <a:endParaRPr lang="en-US" sz="950" dirty="0"/>
          </a:p>
        </p:txBody>
      </p:sp>
      <p:sp>
        <p:nvSpPr>
          <p:cNvPr id="68" name="Text 46"/>
          <p:cNvSpPr txBox="1"/>
          <p:nvPr/>
        </p:nvSpPr>
        <p:spPr>
          <a:xfrm>
            <a:off x="594360" y="5559552"/>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fix the image resolution with JSL first, then size the hardware.</a:t>
            </a:r>
            <a:endParaRPr lang="en-US" sz="1000" dirty="0"/>
          </a:p>
        </p:txBody>
      </p:sp>
      <p:sp>
        <p:nvSpPr>
          <p:cNvPr id="69" name="Shape 47"/>
          <p:cNvSpPr/>
          <p:nvPr/>
        </p:nvSpPr>
        <p:spPr>
          <a:xfrm>
            <a:off x="6190488" y="3630168"/>
            <a:ext cx="5541264" cy="274320"/>
          </a:xfrm>
          <a:prstGeom prst="rect">
            <a:avLst/>
          </a:prstGeom>
          <a:solidFill>
            <a:srgbClr val="2B5B80"/>
          </a:solidFill>
          <a:ln w="12700">
            <a:solidFill>
              <a:srgbClr val="2B5B80"/>
            </a:solidFill>
            <a:prstDash val="solid"/>
          </a:ln>
        </p:spPr>
      </p:sp>
      <p:sp>
        <p:nvSpPr>
          <p:cNvPr id="70" name="Text 48"/>
          <p:cNvSpPr txBox="1"/>
          <p:nvPr/>
        </p:nvSpPr>
        <p:spPr>
          <a:xfrm>
            <a:off x="6281928"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  Operators act only on alarms they can trust</a:t>
            </a:r>
            <a:endParaRPr lang="en-US" sz="1100" dirty="0"/>
          </a:p>
        </p:txBody>
      </p:sp>
      <p:sp>
        <p:nvSpPr>
          <p:cNvPr id="71" name="Shape 49"/>
          <p:cNvSpPr/>
          <p:nvPr/>
        </p:nvSpPr>
        <p:spPr>
          <a:xfrm>
            <a:off x="6190488" y="3904488"/>
            <a:ext cx="5541264" cy="1984248"/>
          </a:xfrm>
          <a:prstGeom prst="roundRect">
            <a:avLst>
              <a:gd name="adj" fmla="val 2765"/>
            </a:avLst>
          </a:prstGeom>
          <a:solidFill>
            <a:srgbClr val="F1F4F7"/>
          </a:solidFill>
          <a:ln w="12700">
            <a:solidFill>
              <a:srgbClr val="F1F4F7"/>
            </a:solidFill>
            <a:prstDash val="solid"/>
          </a:ln>
        </p:spPr>
      </p:sp>
      <p:sp>
        <p:nvSpPr>
          <p:cNvPr id="72" name="Shape 50"/>
          <p:cNvSpPr/>
          <p:nvPr/>
        </p:nvSpPr>
        <p:spPr>
          <a:xfrm>
            <a:off x="6327648" y="4087368"/>
            <a:ext cx="457200" cy="457200"/>
          </a:xfrm>
          <a:prstGeom prst="ellipse">
            <a:avLst/>
          </a:prstGeom>
          <a:solidFill>
            <a:srgbClr val="143A5A"/>
          </a:solidFill>
          <a:ln w="12700">
            <a:solidFill>
              <a:srgbClr val="143A5A"/>
            </a:solidFill>
            <a:prstDash val="solid"/>
          </a:ln>
        </p:spPr>
      </p:sp>
      <p:pic>
        <p:nvPicPr>
          <p:cNvPr id="73" name="Image 19" descr="img/icons/target-white.png">    </p:cNvPr>
          <p:cNvPicPr>
            <a:picLocks noChangeAspect="1"/>
          </p:cNvPicPr>
          <p:nvPr/>
        </p:nvPicPr>
        <p:blipFill>
          <a:blip r:embed="rId21"/>
          <a:stretch>
            <a:fillRect/>
          </a:stretch>
        </p:blipFill>
        <p:spPr>
          <a:xfrm>
            <a:off x="6428232" y="4187952"/>
            <a:ext cx="256032" cy="256032"/>
          </a:xfrm>
          <a:prstGeom prst="rect">
            <a:avLst/>
          </a:prstGeom>
        </p:spPr>
      </p:pic>
      <p:sp>
        <p:nvSpPr>
          <p:cNvPr id="74" name="Text 51"/>
          <p:cNvSpPr txBox="1"/>
          <p:nvPr/>
        </p:nvSpPr>
        <p:spPr>
          <a:xfrm>
            <a:off x="6903720" y="4041648"/>
            <a:ext cx="1508760" cy="566928"/>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68% lower</a:t>
            </a:r>
            <a:endParaRPr lang="en-US" sz="1800" dirty="0"/>
          </a:p>
        </p:txBody>
      </p:sp>
      <p:sp>
        <p:nvSpPr>
          <p:cNvPr id="75" name="Text 52"/>
          <p:cNvSpPr txBox="1"/>
          <p:nvPr/>
        </p:nvSpPr>
        <p:spPr>
          <a:xfrm>
            <a:off x="8412480" y="4041648"/>
            <a:ext cx="3200400" cy="603504"/>
          </a:xfrm>
          <a:prstGeom prst="rect">
            <a:avLst/>
          </a:prstGeom>
          <a:noFill/>
          <a:ln/>
        </p:spPr>
        <p:txBody>
          <a:bodyPr wrap="square" lIns="0" tIns="0" rIns="0" bIns="0" rtlCol="0" anchor="ctr"/>
          <a:lstStyle/>
          <a:p>
            <a:pPr indent="0" marL="0">
              <a:buNone/>
            </a:pPr>
            <a:r>
              <a:rPr lang="en-US" sz="950" dirty="0">
                <a:solidFill>
                  <a:srgbClr val="334150"/>
                </a:solidFill>
                <a:latin typeface="Calibri" pitchFamily="34" charset="0"/>
                <a:ea typeface="Calibri" pitchFamily="34" charset="-122"/>
                <a:cs typeface="Calibri" pitchFamily="34" charset="-120"/>
              </a:rPr>
              <a:t>confidence error after calibration. A "60% sure" alarm used to be right 84% of the time; now it is within ~5 points</a:t>
            </a:r>
            <a:endParaRPr lang="en-US" sz="950" dirty="0"/>
          </a:p>
        </p:txBody>
      </p:sp>
      <p:sp>
        <p:nvSpPr>
          <p:cNvPr id="76" name="Shape 53"/>
          <p:cNvSpPr/>
          <p:nvPr/>
        </p:nvSpPr>
        <p:spPr>
          <a:xfrm>
            <a:off x="6327648" y="4800600"/>
            <a:ext cx="457200" cy="457200"/>
          </a:xfrm>
          <a:prstGeom prst="ellipse">
            <a:avLst/>
          </a:prstGeom>
          <a:solidFill>
            <a:srgbClr val="143A5A"/>
          </a:solidFill>
          <a:ln w="12700">
            <a:solidFill>
              <a:srgbClr val="143A5A"/>
            </a:solidFill>
            <a:prstDash val="solid"/>
          </a:ln>
        </p:spPr>
      </p:sp>
      <p:pic>
        <p:nvPicPr>
          <p:cNvPr id="77" name="Image 20" descr="img/icons/shield-check-white.png">    </p:cNvPr>
          <p:cNvPicPr>
            <a:picLocks noChangeAspect="1"/>
          </p:cNvPicPr>
          <p:nvPr/>
        </p:nvPicPr>
        <p:blipFill>
          <a:blip r:embed="rId22"/>
          <a:stretch>
            <a:fillRect/>
          </a:stretch>
        </p:blipFill>
        <p:spPr>
          <a:xfrm>
            <a:off x="6428232" y="4901184"/>
            <a:ext cx="256032" cy="256032"/>
          </a:xfrm>
          <a:prstGeom prst="rect">
            <a:avLst/>
          </a:prstGeom>
        </p:spPr>
      </p:pic>
      <p:sp>
        <p:nvSpPr>
          <p:cNvPr id="78" name="Text 54"/>
          <p:cNvSpPr txBox="1"/>
          <p:nvPr/>
        </p:nvSpPr>
        <p:spPr>
          <a:xfrm>
            <a:off x="6903720" y="4754880"/>
            <a:ext cx="1508760" cy="566928"/>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0 of 3,200</a:t>
            </a:r>
            <a:endParaRPr lang="en-US" sz="1800" dirty="0"/>
          </a:p>
        </p:txBody>
      </p:sp>
      <p:sp>
        <p:nvSpPr>
          <p:cNvPr id="79" name="Text 55"/>
          <p:cNvSpPr txBox="1"/>
          <p:nvPr/>
        </p:nvSpPr>
        <p:spPr>
          <a:xfrm>
            <a:off x="8412480" y="4754880"/>
            <a:ext cx="3200400" cy="603504"/>
          </a:xfrm>
          <a:prstGeom prst="rect">
            <a:avLst/>
          </a:prstGeom>
          <a:noFill/>
          <a:ln/>
        </p:spPr>
        <p:txBody>
          <a:bodyPr wrap="square" lIns="0" tIns="0" rIns="0" bIns="0" rtlCol="0" anchor="ctr"/>
          <a:lstStyle/>
          <a:p>
            <a:pPr indent="0" marL="0">
              <a:buNone/>
            </a:pPr>
            <a:r>
              <a:rPr lang="en-US" sz="950" dirty="0">
                <a:solidFill>
                  <a:srgbClr val="334150"/>
                </a:solidFill>
                <a:latin typeface="Calibri" pitchFamily="34" charset="0"/>
                <a:ea typeface="Calibri" pitchFamily="34" charset="-122"/>
                <a:cs typeface="Calibri" pitchFamily="34" charset="-120"/>
              </a:rPr>
              <a:t>real steel images wrongly rejected by our "is this steel?" check, which stops the system judging anything else</a:t>
            </a:r>
            <a:endParaRPr lang="en-US" sz="950" dirty="0"/>
          </a:p>
        </p:txBody>
      </p:sp>
      <p:sp>
        <p:nvSpPr>
          <p:cNvPr id="80" name="Text 56"/>
          <p:cNvSpPr txBox="1"/>
          <p:nvPr/>
        </p:nvSpPr>
        <p:spPr>
          <a:xfrm>
            <a:off x="6327648" y="5559552"/>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every alarm carries a trustworthy confidence and a steel check.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Detect on the strip, decide at the coil, route to the owner, and learn from every correction</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Buy proven cameras, own the model: vendor-grade capture with a detector trained on JSL's grades and wired to JSL's process owners.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BUILT = working in our prototype today, live at surface-vision.github.io. Unlabelled-learning result: J. Mater. Inf. 2025. Commercial price range: industry figure, unverified.</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it works: six stages from camera to corrective action</a:t>
            </a:r>
            <a:endParaRPr lang="en-US" sz="1100" dirty="0"/>
          </a:p>
        </p:txBody>
      </p:sp>
      <p:sp>
        <p:nvSpPr>
          <p:cNvPr id="19" name="Shape 17"/>
          <p:cNvSpPr/>
          <p:nvPr/>
        </p:nvSpPr>
        <p:spPr>
          <a:xfrm>
            <a:off x="457200" y="1572768"/>
            <a:ext cx="1783080" cy="1481328"/>
          </a:xfrm>
          <a:prstGeom prst="roundRect">
            <a:avLst>
              <a:gd name="adj" fmla="val 3704"/>
            </a:avLst>
          </a:prstGeom>
          <a:solidFill>
            <a:srgbClr val="F1F4F7"/>
          </a:solidFill>
          <a:ln w="12700">
            <a:solidFill>
              <a:srgbClr val="F1F4F7"/>
            </a:solidFill>
            <a:prstDash val="solid"/>
          </a:ln>
        </p:spPr>
      </p:sp>
      <p:sp>
        <p:nvSpPr>
          <p:cNvPr id="20" name="Shape 18"/>
          <p:cNvSpPr/>
          <p:nvPr/>
        </p:nvSpPr>
        <p:spPr>
          <a:xfrm>
            <a:off x="566928" y="1664208"/>
            <a:ext cx="457200" cy="457200"/>
          </a:xfrm>
          <a:prstGeom prst="ellipse">
            <a:avLst/>
          </a:prstGeom>
          <a:solidFill>
            <a:srgbClr val="143A5A"/>
          </a:solidFill>
          <a:ln w="12700">
            <a:solidFill>
              <a:srgbClr val="143A5A"/>
            </a:solidFill>
            <a:prstDash val="solid"/>
          </a:ln>
        </p:spPr>
      </p:sp>
      <p:pic>
        <p:nvPicPr>
          <p:cNvPr id="21" name="Image 0" descr="img/icons/camera-white.png">    </p:cNvPr>
          <p:cNvPicPr>
            <a:picLocks noChangeAspect="1"/>
          </p:cNvPicPr>
          <p:nvPr/>
        </p:nvPicPr>
        <p:blipFill>
          <a:blip r:embed="rId1"/>
          <a:stretch>
            <a:fillRect/>
          </a:stretch>
        </p:blipFill>
        <p:spPr>
          <a:xfrm>
            <a:off x="667512" y="1764792"/>
            <a:ext cx="256032" cy="256032"/>
          </a:xfrm>
          <a:prstGeom prst="rect">
            <a:avLst/>
          </a:prstGeom>
        </p:spPr>
      </p:pic>
      <p:sp>
        <p:nvSpPr>
          <p:cNvPr id="22" name="Text 19"/>
          <p:cNvSpPr txBox="1"/>
          <p:nvPr/>
        </p:nvSpPr>
        <p:spPr>
          <a:xfrm>
            <a:off x="1097280"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Capture</a:t>
            </a:r>
            <a:endParaRPr lang="en-US" sz="1200" dirty="0"/>
          </a:p>
        </p:txBody>
      </p:sp>
      <p:sp>
        <p:nvSpPr>
          <p:cNvPr id="23" name="Text 20"/>
          <p:cNvSpPr txBox="1"/>
          <p:nvPr/>
        </p:nvSpPr>
        <p:spPr>
          <a:xfrm>
            <a:off x="566928"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Cameras on both faces, down to 0.2 mm</a:t>
            </a:r>
            <a:endParaRPr lang="en-US" sz="950" dirty="0"/>
          </a:p>
        </p:txBody>
      </p:sp>
      <p:sp>
        <p:nvSpPr>
          <p:cNvPr id="24" name="Shape 21"/>
          <p:cNvSpPr/>
          <p:nvPr/>
        </p:nvSpPr>
        <p:spPr>
          <a:xfrm>
            <a:off x="566928" y="2761488"/>
            <a:ext cx="822960" cy="201168"/>
          </a:xfrm>
          <a:prstGeom prst="roundRect">
            <a:avLst>
              <a:gd name="adj" fmla="val 27273"/>
            </a:avLst>
          </a:prstGeom>
          <a:solidFill>
            <a:srgbClr val="5F6B78"/>
          </a:solidFill>
          <a:ln w="12700">
            <a:solidFill>
              <a:srgbClr val="5F6B78"/>
            </a:solidFill>
            <a:prstDash val="solid"/>
          </a:ln>
        </p:spPr>
      </p:sp>
      <p:sp>
        <p:nvSpPr>
          <p:cNvPr id="25" name="Text 22"/>
          <p:cNvSpPr txBox="1"/>
          <p:nvPr/>
        </p:nvSpPr>
        <p:spPr>
          <a:xfrm>
            <a:off x="566928"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26" name="Shape 23"/>
          <p:cNvSpPr/>
          <p:nvPr/>
        </p:nvSpPr>
        <p:spPr>
          <a:xfrm>
            <a:off x="2253996" y="2194560"/>
            <a:ext cx="91440" cy="201168"/>
          </a:xfrm>
          <a:prstGeom prst="chevron">
            <a:avLst/>
          </a:prstGeom>
          <a:solidFill>
            <a:srgbClr val="0086C3"/>
          </a:solidFill>
          <a:ln w="12700">
            <a:solidFill>
              <a:srgbClr val="0086C3"/>
            </a:solidFill>
            <a:prstDash val="solid"/>
          </a:ln>
        </p:spPr>
      </p:sp>
      <p:sp>
        <p:nvSpPr>
          <p:cNvPr id="27" name="Shape 24"/>
          <p:cNvSpPr/>
          <p:nvPr/>
        </p:nvSpPr>
        <p:spPr>
          <a:xfrm>
            <a:off x="2355494" y="1572768"/>
            <a:ext cx="1783080" cy="1481328"/>
          </a:xfrm>
          <a:prstGeom prst="roundRect">
            <a:avLst>
              <a:gd name="adj" fmla="val 3704"/>
            </a:avLst>
          </a:prstGeom>
          <a:solidFill>
            <a:srgbClr val="F1F4F7"/>
          </a:solidFill>
          <a:ln w="12700">
            <a:solidFill>
              <a:srgbClr val="F1F4F7"/>
            </a:solidFill>
            <a:prstDash val="solid"/>
          </a:ln>
        </p:spPr>
      </p:sp>
      <p:sp>
        <p:nvSpPr>
          <p:cNvPr id="28" name="Shape 25"/>
          <p:cNvSpPr/>
          <p:nvPr/>
        </p:nvSpPr>
        <p:spPr>
          <a:xfrm>
            <a:off x="2465222" y="1664208"/>
            <a:ext cx="457200" cy="457200"/>
          </a:xfrm>
          <a:prstGeom prst="ellipse">
            <a:avLst/>
          </a:prstGeom>
          <a:solidFill>
            <a:srgbClr val="143A5A"/>
          </a:solidFill>
          <a:ln w="12700">
            <a:solidFill>
              <a:srgbClr val="143A5A"/>
            </a:solidFill>
            <a:prstDash val="solid"/>
          </a:ln>
        </p:spPr>
      </p:sp>
      <p:pic>
        <p:nvPicPr>
          <p:cNvPr id="29" name="Image 1" descr="img/icons/shield-check-white.png">    </p:cNvPr>
          <p:cNvPicPr>
            <a:picLocks noChangeAspect="1"/>
          </p:cNvPicPr>
          <p:nvPr/>
        </p:nvPicPr>
        <p:blipFill>
          <a:blip r:embed="rId2"/>
          <a:stretch>
            <a:fillRect/>
          </a:stretch>
        </p:blipFill>
        <p:spPr>
          <a:xfrm>
            <a:off x="2565806" y="1764792"/>
            <a:ext cx="256032" cy="256032"/>
          </a:xfrm>
          <a:prstGeom prst="rect">
            <a:avLst/>
          </a:prstGeom>
        </p:spPr>
      </p:pic>
      <p:sp>
        <p:nvSpPr>
          <p:cNvPr id="30" name="Text 26"/>
          <p:cNvSpPr txBox="1"/>
          <p:nvPr/>
        </p:nvSpPr>
        <p:spPr>
          <a:xfrm>
            <a:off x="2995574"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Check</a:t>
            </a:r>
            <a:endParaRPr lang="en-US" sz="1200" dirty="0"/>
          </a:p>
        </p:txBody>
      </p:sp>
      <p:sp>
        <p:nvSpPr>
          <p:cNvPr id="31" name="Text 27"/>
          <p:cNvSpPr txBox="1"/>
          <p:nvPr/>
        </p:nvSpPr>
        <p:spPr>
          <a:xfrm>
            <a:off x="2465222"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Is it usable steel? If not, skip it</a:t>
            </a:r>
            <a:endParaRPr lang="en-US" sz="950" dirty="0"/>
          </a:p>
        </p:txBody>
      </p:sp>
      <p:sp>
        <p:nvSpPr>
          <p:cNvPr id="32" name="Shape 28"/>
          <p:cNvSpPr/>
          <p:nvPr/>
        </p:nvSpPr>
        <p:spPr>
          <a:xfrm>
            <a:off x="2465222" y="2761488"/>
            <a:ext cx="822960" cy="201168"/>
          </a:xfrm>
          <a:prstGeom prst="roundRect">
            <a:avLst>
              <a:gd name="adj" fmla="val 27273"/>
            </a:avLst>
          </a:prstGeom>
          <a:solidFill>
            <a:srgbClr val="2E7D32"/>
          </a:solidFill>
          <a:ln w="12700">
            <a:solidFill>
              <a:srgbClr val="2E7D32"/>
            </a:solidFill>
            <a:prstDash val="solid"/>
          </a:ln>
        </p:spPr>
      </p:sp>
      <p:sp>
        <p:nvSpPr>
          <p:cNvPr id="33" name="Text 29"/>
          <p:cNvSpPr txBox="1"/>
          <p:nvPr/>
        </p:nvSpPr>
        <p:spPr>
          <a:xfrm>
            <a:off x="2465222"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34" name="Shape 30"/>
          <p:cNvSpPr/>
          <p:nvPr/>
        </p:nvSpPr>
        <p:spPr>
          <a:xfrm>
            <a:off x="4152290" y="2194560"/>
            <a:ext cx="91440" cy="201168"/>
          </a:xfrm>
          <a:prstGeom prst="chevron">
            <a:avLst/>
          </a:prstGeom>
          <a:solidFill>
            <a:srgbClr val="0086C3"/>
          </a:solidFill>
          <a:ln w="12700">
            <a:solidFill>
              <a:srgbClr val="0086C3"/>
            </a:solidFill>
            <a:prstDash val="solid"/>
          </a:ln>
        </p:spPr>
      </p:sp>
      <p:sp>
        <p:nvSpPr>
          <p:cNvPr id="35" name="Shape 31"/>
          <p:cNvSpPr/>
          <p:nvPr/>
        </p:nvSpPr>
        <p:spPr>
          <a:xfrm>
            <a:off x="4253789" y="1572768"/>
            <a:ext cx="1783080" cy="1481328"/>
          </a:xfrm>
          <a:prstGeom prst="roundRect">
            <a:avLst>
              <a:gd name="adj" fmla="val 3704"/>
            </a:avLst>
          </a:prstGeom>
          <a:solidFill>
            <a:srgbClr val="F1F4F7"/>
          </a:solidFill>
          <a:ln w="12700">
            <a:solidFill>
              <a:srgbClr val="F1F4F7"/>
            </a:solidFill>
            <a:prstDash val="solid"/>
          </a:ln>
        </p:spPr>
      </p:sp>
      <p:sp>
        <p:nvSpPr>
          <p:cNvPr id="36" name="Shape 32"/>
          <p:cNvSpPr/>
          <p:nvPr/>
        </p:nvSpPr>
        <p:spPr>
          <a:xfrm>
            <a:off x="4363517" y="1664208"/>
            <a:ext cx="457200" cy="457200"/>
          </a:xfrm>
          <a:prstGeom prst="ellipse">
            <a:avLst/>
          </a:prstGeom>
          <a:solidFill>
            <a:srgbClr val="143A5A"/>
          </a:solidFill>
          <a:ln w="12700">
            <a:solidFill>
              <a:srgbClr val="143A5A"/>
            </a:solidFill>
            <a:prstDash val="solid"/>
          </a:ln>
        </p:spPr>
      </p:sp>
      <p:pic>
        <p:nvPicPr>
          <p:cNvPr id="37" name="Image 2" descr="img/icons/scan-search-white.png">    </p:cNvPr>
          <p:cNvPicPr>
            <a:picLocks noChangeAspect="1"/>
          </p:cNvPicPr>
          <p:nvPr/>
        </p:nvPicPr>
        <p:blipFill>
          <a:blip r:embed="rId3"/>
          <a:stretch>
            <a:fillRect/>
          </a:stretch>
        </p:blipFill>
        <p:spPr>
          <a:xfrm>
            <a:off x="4464101" y="1764792"/>
            <a:ext cx="256032" cy="256032"/>
          </a:xfrm>
          <a:prstGeom prst="rect">
            <a:avLst/>
          </a:prstGeom>
        </p:spPr>
      </p:pic>
      <p:sp>
        <p:nvSpPr>
          <p:cNvPr id="38" name="Text 33"/>
          <p:cNvSpPr txBox="1"/>
          <p:nvPr/>
        </p:nvSpPr>
        <p:spPr>
          <a:xfrm>
            <a:off x="4893869"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Detect</a:t>
            </a:r>
            <a:endParaRPr lang="en-US" sz="1200" dirty="0"/>
          </a:p>
        </p:txBody>
      </p:sp>
      <p:sp>
        <p:nvSpPr>
          <p:cNvPr id="39" name="Text 34"/>
          <p:cNvSpPr txBox="1"/>
          <p:nvPr/>
        </p:nvSpPr>
        <p:spPr>
          <a:xfrm>
            <a:off x="4363517"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Find and classify every defect</a:t>
            </a:r>
            <a:endParaRPr lang="en-US" sz="950" dirty="0"/>
          </a:p>
        </p:txBody>
      </p:sp>
      <p:sp>
        <p:nvSpPr>
          <p:cNvPr id="40" name="Shape 35"/>
          <p:cNvSpPr/>
          <p:nvPr/>
        </p:nvSpPr>
        <p:spPr>
          <a:xfrm>
            <a:off x="4363517" y="2761488"/>
            <a:ext cx="822960" cy="201168"/>
          </a:xfrm>
          <a:prstGeom prst="roundRect">
            <a:avLst>
              <a:gd name="adj" fmla="val 27273"/>
            </a:avLst>
          </a:prstGeom>
          <a:solidFill>
            <a:srgbClr val="2E7D32"/>
          </a:solidFill>
          <a:ln w="12700">
            <a:solidFill>
              <a:srgbClr val="2E7D32"/>
            </a:solidFill>
            <a:prstDash val="solid"/>
          </a:ln>
        </p:spPr>
      </p:sp>
      <p:sp>
        <p:nvSpPr>
          <p:cNvPr id="41" name="Text 36"/>
          <p:cNvSpPr txBox="1"/>
          <p:nvPr/>
        </p:nvSpPr>
        <p:spPr>
          <a:xfrm>
            <a:off x="4363517"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42" name="Shape 37"/>
          <p:cNvSpPr/>
          <p:nvPr/>
        </p:nvSpPr>
        <p:spPr>
          <a:xfrm>
            <a:off x="6050585" y="2194560"/>
            <a:ext cx="91440" cy="201168"/>
          </a:xfrm>
          <a:prstGeom prst="chevron">
            <a:avLst/>
          </a:prstGeom>
          <a:solidFill>
            <a:srgbClr val="0086C3"/>
          </a:solidFill>
          <a:ln w="12700">
            <a:solidFill>
              <a:srgbClr val="0086C3"/>
            </a:solidFill>
            <a:prstDash val="solid"/>
          </a:ln>
        </p:spPr>
      </p:sp>
      <p:sp>
        <p:nvSpPr>
          <p:cNvPr id="43" name="Shape 38"/>
          <p:cNvSpPr/>
          <p:nvPr/>
        </p:nvSpPr>
        <p:spPr>
          <a:xfrm>
            <a:off x="6152083" y="1572768"/>
            <a:ext cx="1783080" cy="1481328"/>
          </a:xfrm>
          <a:prstGeom prst="roundRect">
            <a:avLst>
              <a:gd name="adj" fmla="val 3704"/>
            </a:avLst>
          </a:prstGeom>
          <a:solidFill>
            <a:srgbClr val="F1F4F7"/>
          </a:solidFill>
          <a:ln w="12700">
            <a:solidFill>
              <a:srgbClr val="F1F4F7"/>
            </a:solidFill>
            <a:prstDash val="solid"/>
          </a:ln>
        </p:spPr>
      </p:sp>
      <p:sp>
        <p:nvSpPr>
          <p:cNvPr id="44" name="Shape 39"/>
          <p:cNvSpPr/>
          <p:nvPr/>
        </p:nvSpPr>
        <p:spPr>
          <a:xfrm>
            <a:off x="6261811" y="1664208"/>
            <a:ext cx="457200" cy="457200"/>
          </a:xfrm>
          <a:prstGeom prst="ellipse">
            <a:avLst/>
          </a:prstGeom>
          <a:solidFill>
            <a:srgbClr val="143A5A"/>
          </a:solidFill>
          <a:ln w="12700">
            <a:solidFill>
              <a:srgbClr val="143A5A"/>
            </a:solidFill>
            <a:prstDash val="solid"/>
          </a:ln>
        </p:spPr>
      </p:sp>
      <p:pic>
        <p:nvPicPr>
          <p:cNvPr id="45" name="Image 3" descr="img/icons/gauge-white.png">    </p:cNvPr>
          <p:cNvPicPr>
            <a:picLocks noChangeAspect="1"/>
          </p:cNvPicPr>
          <p:nvPr/>
        </p:nvPicPr>
        <p:blipFill>
          <a:blip r:embed="rId4"/>
          <a:stretch>
            <a:fillRect/>
          </a:stretch>
        </p:blipFill>
        <p:spPr>
          <a:xfrm>
            <a:off x="6362395" y="1764792"/>
            <a:ext cx="256032" cy="256032"/>
          </a:xfrm>
          <a:prstGeom prst="rect">
            <a:avLst/>
          </a:prstGeom>
        </p:spPr>
      </p:pic>
      <p:sp>
        <p:nvSpPr>
          <p:cNvPr id="46" name="Text 40"/>
          <p:cNvSpPr txBox="1"/>
          <p:nvPr/>
        </p:nvSpPr>
        <p:spPr>
          <a:xfrm>
            <a:off x="6792163"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Score</a:t>
            </a:r>
            <a:endParaRPr lang="en-US" sz="1200" dirty="0"/>
          </a:p>
        </p:txBody>
      </p:sp>
      <p:sp>
        <p:nvSpPr>
          <p:cNvPr id="47" name="Text 41"/>
          <p:cNvSpPr txBox="1"/>
          <p:nvPr/>
        </p:nvSpPr>
        <p:spPr>
          <a:xfrm>
            <a:off x="6261811"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Confidence, severity 0-100, coil position</a:t>
            </a:r>
            <a:endParaRPr lang="en-US" sz="950" dirty="0"/>
          </a:p>
        </p:txBody>
      </p:sp>
      <p:sp>
        <p:nvSpPr>
          <p:cNvPr id="48" name="Shape 42"/>
          <p:cNvSpPr/>
          <p:nvPr/>
        </p:nvSpPr>
        <p:spPr>
          <a:xfrm>
            <a:off x="6261811" y="2761488"/>
            <a:ext cx="822960" cy="201168"/>
          </a:xfrm>
          <a:prstGeom prst="roundRect">
            <a:avLst>
              <a:gd name="adj" fmla="val 27273"/>
            </a:avLst>
          </a:prstGeom>
          <a:solidFill>
            <a:srgbClr val="2E7D32"/>
          </a:solidFill>
          <a:ln w="12700">
            <a:solidFill>
              <a:srgbClr val="2E7D32"/>
            </a:solidFill>
            <a:prstDash val="solid"/>
          </a:ln>
        </p:spPr>
      </p:sp>
      <p:sp>
        <p:nvSpPr>
          <p:cNvPr id="49" name="Text 43"/>
          <p:cNvSpPr txBox="1"/>
          <p:nvPr/>
        </p:nvSpPr>
        <p:spPr>
          <a:xfrm>
            <a:off x="6261811"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50" name="Shape 44"/>
          <p:cNvSpPr/>
          <p:nvPr/>
        </p:nvSpPr>
        <p:spPr>
          <a:xfrm>
            <a:off x="7948879" y="2194560"/>
            <a:ext cx="91440" cy="201168"/>
          </a:xfrm>
          <a:prstGeom prst="chevron">
            <a:avLst/>
          </a:prstGeom>
          <a:solidFill>
            <a:srgbClr val="0086C3"/>
          </a:solidFill>
          <a:ln w="12700">
            <a:solidFill>
              <a:srgbClr val="0086C3"/>
            </a:solidFill>
            <a:prstDash val="solid"/>
          </a:ln>
        </p:spPr>
      </p:sp>
      <p:sp>
        <p:nvSpPr>
          <p:cNvPr id="51" name="Shape 45"/>
          <p:cNvSpPr/>
          <p:nvPr/>
        </p:nvSpPr>
        <p:spPr>
          <a:xfrm>
            <a:off x="8050378" y="1572768"/>
            <a:ext cx="1783080" cy="1481328"/>
          </a:xfrm>
          <a:prstGeom prst="roundRect">
            <a:avLst>
              <a:gd name="adj" fmla="val 3704"/>
            </a:avLst>
          </a:prstGeom>
          <a:solidFill>
            <a:srgbClr val="F1F4F7"/>
          </a:solidFill>
          <a:ln w="12700">
            <a:solidFill>
              <a:srgbClr val="F1F4F7"/>
            </a:solidFill>
            <a:prstDash val="solid"/>
          </a:ln>
        </p:spPr>
      </p:sp>
      <p:sp>
        <p:nvSpPr>
          <p:cNvPr id="52" name="Shape 46"/>
          <p:cNvSpPr/>
          <p:nvPr/>
        </p:nvSpPr>
        <p:spPr>
          <a:xfrm>
            <a:off x="8160106" y="1664208"/>
            <a:ext cx="457200" cy="457200"/>
          </a:xfrm>
          <a:prstGeom prst="ellipse">
            <a:avLst/>
          </a:prstGeom>
          <a:solidFill>
            <a:srgbClr val="143A5A"/>
          </a:solidFill>
          <a:ln w="12700">
            <a:solidFill>
              <a:srgbClr val="143A5A"/>
            </a:solidFill>
            <a:prstDash val="solid"/>
          </a:ln>
        </p:spPr>
      </p:sp>
      <p:pic>
        <p:nvPicPr>
          <p:cNvPr id="53" name="Image 4" descr="img/icons/split-white.png">    </p:cNvPr>
          <p:cNvPicPr>
            <a:picLocks noChangeAspect="1"/>
          </p:cNvPicPr>
          <p:nvPr/>
        </p:nvPicPr>
        <p:blipFill>
          <a:blip r:embed="rId5"/>
          <a:stretch>
            <a:fillRect/>
          </a:stretch>
        </p:blipFill>
        <p:spPr>
          <a:xfrm>
            <a:off x="8260690" y="1764792"/>
            <a:ext cx="256032" cy="256032"/>
          </a:xfrm>
          <a:prstGeom prst="rect">
            <a:avLst/>
          </a:prstGeom>
        </p:spPr>
      </p:pic>
      <p:sp>
        <p:nvSpPr>
          <p:cNvPr id="54" name="Text 47"/>
          <p:cNvSpPr txBox="1"/>
          <p:nvPr/>
        </p:nvSpPr>
        <p:spPr>
          <a:xfrm>
            <a:off x="8690458"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Decide</a:t>
            </a:r>
            <a:endParaRPr lang="en-US" sz="1200" dirty="0"/>
          </a:p>
        </p:txBody>
      </p:sp>
      <p:sp>
        <p:nvSpPr>
          <p:cNvPr id="55" name="Text 48"/>
          <p:cNvSpPr txBox="1"/>
          <p:nvPr/>
        </p:nvSpPr>
        <p:spPr>
          <a:xfrm>
            <a:off x="8160106"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Accept, downgrade or hold, per grade</a:t>
            </a:r>
            <a:endParaRPr lang="en-US" sz="950" dirty="0"/>
          </a:p>
        </p:txBody>
      </p:sp>
      <p:sp>
        <p:nvSpPr>
          <p:cNvPr id="56" name="Shape 49"/>
          <p:cNvSpPr/>
          <p:nvPr/>
        </p:nvSpPr>
        <p:spPr>
          <a:xfrm>
            <a:off x="8160106" y="2761488"/>
            <a:ext cx="822960" cy="201168"/>
          </a:xfrm>
          <a:prstGeom prst="roundRect">
            <a:avLst>
              <a:gd name="adj" fmla="val 27273"/>
            </a:avLst>
          </a:prstGeom>
          <a:solidFill>
            <a:srgbClr val="B77900"/>
          </a:solidFill>
          <a:ln w="12700">
            <a:solidFill>
              <a:srgbClr val="B77900"/>
            </a:solidFill>
            <a:prstDash val="solid"/>
          </a:ln>
        </p:spPr>
      </p:sp>
      <p:sp>
        <p:nvSpPr>
          <p:cNvPr id="57" name="Text 50"/>
          <p:cNvSpPr txBox="1"/>
          <p:nvPr/>
        </p:nvSpPr>
        <p:spPr>
          <a:xfrm>
            <a:off x="8160106"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PARTIAL</a:t>
            </a:r>
            <a:endParaRPr lang="en-US" sz="900" dirty="0"/>
          </a:p>
        </p:txBody>
      </p:sp>
      <p:sp>
        <p:nvSpPr>
          <p:cNvPr id="58" name="Shape 51"/>
          <p:cNvSpPr/>
          <p:nvPr/>
        </p:nvSpPr>
        <p:spPr>
          <a:xfrm>
            <a:off x="9847174" y="2194560"/>
            <a:ext cx="91440" cy="201168"/>
          </a:xfrm>
          <a:prstGeom prst="chevron">
            <a:avLst/>
          </a:prstGeom>
          <a:solidFill>
            <a:srgbClr val="0086C3"/>
          </a:solidFill>
          <a:ln w="12700">
            <a:solidFill>
              <a:srgbClr val="0086C3"/>
            </a:solidFill>
            <a:prstDash val="solid"/>
          </a:ln>
        </p:spPr>
      </p:sp>
      <p:sp>
        <p:nvSpPr>
          <p:cNvPr id="59" name="Shape 52"/>
          <p:cNvSpPr/>
          <p:nvPr/>
        </p:nvSpPr>
        <p:spPr>
          <a:xfrm>
            <a:off x="9948672" y="1572768"/>
            <a:ext cx="1783080" cy="1481328"/>
          </a:xfrm>
          <a:prstGeom prst="roundRect">
            <a:avLst>
              <a:gd name="adj" fmla="val 3704"/>
            </a:avLst>
          </a:prstGeom>
          <a:solidFill>
            <a:srgbClr val="E4EEF6"/>
          </a:solidFill>
          <a:ln w="12700">
            <a:solidFill>
              <a:srgbClr val="E4EEF6"/>
            </a:solidFill>
            <a:prstDash val="solid"/>
          </a:ln>
        </p:spPr>
      </p:sp>
      <p:sp>
        <p:nvSpPr>
          <p:cNvPr id="60" name="Shape 53"/>
          <p:cNvSpPr/>
          <p:nvPr/>
        </p:nvSpPr>
        <p:spPr>
          <a:xfrm>
            <a:off x="10058400" y="1664208"/>
            <a:ext cx="457200" cy="457200"/>
          </a:xfrm>
          <a:prstGeom prst="ellipse">
            <a:avLst/>
          </a:prstGeom>
          <a:solidFill>
            <a:srgbClr val="143A5A"/>
          </a:solidFill>
          <a:ln w="12700">
            <a:solidFill>
              <a:srgbClr val="143A5A"/>
            </a:solidFill>
            <a:prstDash val="solid"/>
          </a:ln>
        </p:spPr>
      </p:sp>
      <p:pic>
        <p:nvPicPr>
          <p:cNvPr id="61" name="Image 5" descr="img/icons/refresh-cw-white.png">    </p:cNvPr>
          <p:cNvPicPr>
            <a:picLocks noChangeAspect="1"/>
          </p:cNvPicPr>
          <p:nvPr/>
        </p:nvPicPr>
        <p:blipFill>
          <a:blip r:embed="rId6"/>
          <a:stretch>
            <a:fillRect/>
          </a:stretch>
        </p:blipFill>
        <p:spPr>
          <a:xfrm>
            <a:off x="10158984" y="1764792"/>
            <a:ext cx="256032" cy="256032"/>
          </a:xfrm>
          <a:prstGeom prst="rect">
            <a:avLst/>
          </a:prstGeom>
        </p:spPr>
      </p:pic>
      <p:sp>
        <p:nvSpPr>
          <p:cNvPr id="62" name="Text 54"/>
          <p:cNvSpPr txBox="1"/>
          <p:nvPr/>
        </p:nvSpPr>
        <p:spPr>
          <a:xfrm>
            <a:off x="10588752"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Act &amp; learn</a:t>
            </a:r>
            <a:endParaRPr lang="en-US" sz="1200" dirty="0"/>
          </a:p>
        </p:txBody>
      </p:sp>
      <p:sp>
        <p:nvSpPr>
          <p:cNvPr id="63" name="Text 55"/>
          <p:cNvSpPr txBox="1"/>
          <p:nvPr/>
        </p:nvSpPr>
        <p:spPr>
          <a:xfrm>
            <a:off x="10058400"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Alert, hold, work order; corrections retrain it</a:t>
            </a:r>
            <a:endParaRPr lang="en-US" sz="950" dirty="0"/>
          </a:p>
        </p:txBody>
      </p:sp>
      <p:sp>
        <p:nvSpPr>
          <p:cNvPr id="64" name="Shape 56"/>
          <p:cNvSpPr/>
          <p:nvPr/>
        </p:nvSpPr>
        <p:spPr>
          <a:xfrm>
            <a:off x="10058400" y="2761488"/>
            <a:ext cx="822960" cy="201168"/>
          </a:xfrm>
          <a:prstGeom prst="roundRect">
            <a:avLst>
              <a:gd name="adj" fmla="val 27273"/>
            </a:avLst>
          </a:prstGeom>
          <a:solidFill>
            <a:srgbClr val="5F6B78"/>
          </a:solidFill>
          <a:ln w="12700">
            <a:solidFill>
              <a:srgbClr val="5F6B78"/>
            </a:solidFill>
            <a:prstDash val="solid"/>
          </a:ln>
        </p:spPr>
      </p:sp>
      <p:sp>
        <p:nvSpPr>
          <p:cNvPr id="65" name="Text 57"/>
          <p:cNvSpPr txBox="1"/>
          <p:nvPr/>
        </p:nvSpPr>
        <p:spPr>
          <a:xfrm>
            <a:off x="10058400"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66" name="Shape 58"/>
          <p:cNvSpPr/>
          <p:nvPr/>
        </p:nvSpPr>
        <p:spPr>
          <a:xfrm>
            <a:off x="457200" y="3218688"/>
            <a:ext cx="3429000" cy="274320"/>
          </a:xfrm>
          <a:prstGeom prst="rect">
            <a:avLst/>
          </a:prstGeom>
          <a:solidFill>
            <a:srgbClr val="2B5B80"/>
          </a:solidFill>
          <a:ln w="12700">
            <a:solidFill>
              <a:srgbClr val="2B5B80"/>
            </a:solidFill>
            <a:prstDash val="solid"/>
          </a:ln>
        </p:spPr>
      </p:sp>
      <p:sp>
        <p:nvSpPr>
          <p:cNvPr id="67" name="Text 59"/>
          <p:cNvSpPr txBox="1"/>
          <p:nvPr/>
        </p:nvSpPr>
        <p:spPr>
          <a:xfrm>
            <a:off x="548640" y="3218688"/>
            <a:ext cx="3246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Running today</a:t>
            </a:r>
            <a:endParaRPr lang="en-US" sz="1100" dirty="0"/>
          </a:p>
        </p:txBody>
      </p:sp>
      <p:sp>
        <p:nvSpPr>
          <p:cNvPr id="68" name="Shape 60"/>
          <p:cNvSpPr/>
          <p:nvPr/>
        </p:nvSpPr>
        <p:spPr>
          <a:xfrm>
            <a:off x="457200" y="3493008"/>
            <a:ext cx="3429000" cy="2395728"/>
          </a:xfrm>
          <a:prstGeom prst="roundRect">
            <a:avLst>
              <a:gd name="adj" fmla="val 2290"/>
            </a:avLst>
          </a:prstGeom>
          <a:solidFill>
            <a:srgbClr val="F1F4F7"/>
          </a:solidFill>
          <a:ln w="12700">
            <a:solidFill>
              <a:srgbClr val="F1F4F7"/>
            </a:solidFill>
            <a:prstDash val="solid"/>
          </a:ln>
        </p:spPr>
      </p:sp>
      <p:pic>
        <p:nvPicPr>
          <p:cNvPr id="69" name="Image 6" descr="img/det_scratches.png">    </p:cNvPr>
          <p:cNvPicPr>
            <a:picLocks noChangeAspect="1"/>
          </p:cNvPicPr>
          <p:nvPr/>
        </p:nvPicPr>
        <p:blipFill>
          <a:blip r:embed="rId7"/>
          <a:stretch>
            <a:fillRect/>
          </a:stretch>
        </p:blipFill>
        <p:spPr>
          <a:xfrm>
            <a:off x="566928" y="3593592"/>
            <a:ext cx="1828800" cy="1828800"/>
          </a:xfrm>
          <a:prstGeom prst="rect">
            <a:avLst/>
          </a:prstGeom>
        </p:spPr>
      </p:pic>
      <p:sp>
        <p:nvSpPr>
          <p:cNvPr id="70" name="Text 61"/>
          <p:cNvSpPr txBox="1"/>
          <p:nvPr/>
        </p:nvSpPr>
        <p:spPr>
          <a:xfrm>
            <a:off x="2487168" y="3611880"/>
            <a:ext cx="1371600" cy="137160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Upload a strip image, get:
</a:t>
            </a:r>
            <a:pPr indent="0" marL="0">
              <a:buNone/>
            </a:pPr>
            <a:r>
              <a:rPr lang="en-US" sz="950" dirty="0">
                <a:solidFill>
                  <a:srgbClr val="334150"/>
                </a:solidFill>
                <a:latin typeface="Calibri" pitchFamily="34" charset="0"/>
                <a:ea typeface="Calibri" pitchFamily="34" charset="-122"/>
                <a:cs typeface="Calibri" pitchFamily="34" charset="-120"/>
              </a:rPr>
              <a:t>•  box on the defect</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defect type</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confidence</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severity score</a:t>
            </a:r>
            <a:endParaRPr lang="en-US" sz="950" dirty="0"/>
          </a:p>
        </p:txBody>
      </p:sp>
      <p:sp>
        <p:nvSpPr>
          <p:cNvPr id="71" name="Text 62"/>
          <p:cNvSpPr txBox="1"/>
          <p:nvPr/>
        </p:nvSpPr>
        <p:spPr>
          <a:xfrm>
            <a:off x="566928" y="5504688"/>
            <a:ext cx="3246120" cy="274320"/>
          </a:xfrm>
          <a:prstGeom prst="rect">
            <a:avLst/>
          </a:prstGeom>
          <a:noFill/>
          <a:ln/>
        </p:spPr>
        <p:txBody>
          <a:bodyPr wrap="square" lIns="0" tIns="0" rIns="0" bIns="0" rtlCol="0" anchor="ctr"/>
          <a:lstStyle/>
          <a:p>
            <a:pPr indent="0" marL="0">
              <a:buNone/>
            </a:pPr>
            <a:r>
              <a:rPr lang="en-US" sz="950" b="1" dirty="0">
                <a:solidFill>
                  <a:srgbClr val="0086C3"/>
                </a:solidFill>
                <a:latin typeface="Calibri" pitchFamily="34" charset="0"/>
                <a:ea typeface="Calibri" pitchFamily="34" charset="-122"/>
                <a:cs typeface="Calibri" pitchFamily="34" charset="-120"/>
              </a:rPr>
              <a:t>surface-vision.github.io</a:t>
            </a:r>
            <a:pPr indent="0" marL="0">
              <a:buNone/>
            </a:pPr>
            <a:r>
              <a:rPr lang="en-US" sz="950" dirty="0">
                <a:solidFill>
                  <a:srgbClr val="5F6B78"/>
                </a:solidFill>
                <a:latin typeface="Calibri" pitchFamily="34" charset="0"/>
                <a:ea typeface="Calibri" pitchFamily="34" charset="-122"/>
                <a:cs typeface="Calibri" pitchFamily="34" charset="-120"/>
              </a:rPr>
              <a:t>  runs in the browser</a:t>
            </a:r>
            <a:endParaRPr lang="en-US" sz="950" dirty="0"/>
          </a:p>
        </p:txBody>
      </p:sp>
      <p:sp>
        <p:nvSpPr>
          <p:cNvPr id="72" name="Shape 63"/>
          <p:cNvSpPr/>
          <p:nvPr/>
        </p:nvSpPr>
        <p:spPr>
          <a:xfrm>
            <a:off x="4041648" y="3218688"/>
            <a:ext cx="3749040" cy="274320"/>
          </a:xfrm>
          <a:prstGeom prst="rect">
            <a:avLst/>
          </a:prstGeom>
          <a:solidFill>
            <a:srgbClr val="2B5B80"/>
          </a:solidFill>
          <a:ln w="12700">
            <a:solidFill>
              <a:srgbClr val="2B5B80"/>
            </a:solidFill>
            <a:prstDash val="solid"/>
          </a:ln>
        </p:spPr>
      </p:sp>
      <p:sp>
        <p:nvSpPr>
          <p:cNvPr id="73" name="Text 64"/>
          <p:cNvSpPr txBox="1"/>
          <p:nvPr/>
        </p:nvSpPr>
        <p:spPr>
          <a:xfrm>
            <a:off x="4133088" y="3218688"/>
            <a:ext cx="3566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is new beyond a standard detector</a:t>
            </a:r>
            <a:endParaRPr lang="en-US" sz="1100" dirty="0"/>
          </a:p>
        </p:txBody>
      </p:sp>
      <p:sp>
        <p:nvSpPr>
          <p:cNvPr id="74" name="Shape 65"/>
          <p:cNvSpPr/>
          <p:nvPr/>
        </p:nvSpPr>
        <p:spPr>
          <a:xfrm>
            <a:off x="4114800" y="3611880"/>
            <a:ext cx="402336" cy="402336"/>
          </a:xfrm>
          <a:prstGeom prst="ellipse">
            <a:avLst/>
          </a:prstGeom>
          <a:solidFill>
            <a:srgbClr val="0086C3"/>
          </a:solidFill>
          <a:ln w="12700">
            <a:solidFill>
              <a:srgbClr val="0086C3"/>
            </a:solidFill>
            <a:prstDash val="solid"/>
          </a:ln>
        </p:spPr>
      </p:sp>
      <p:pic>
        <p:nvPicPr>
          <p:cNvPr id="75" name="Image 7" descr="img/icons/layers-white.png">    </p:cNvPr>
          <p:cNvPicPr>
            <a:picLocks noChangeAspect="1"/>
          </p:cNvPicPr>
          <p:nvPr/>
        </p:nvPicPr>
        <p:blipFill>
          <a:blip r:embed="rId8"/>
          <a:stretch>
            <a:fillRect/>
          </a:stretch>
        </p:blipFill>
        <p:spPr>
          <a:xfrm>
            <a:off x="4203314" y="3700394"/>
            <a:ext cx="225308" cy="225308"/>
          </a:xfrm>
          <a:prstGeom prst="rect">
            <a:avLst/>
          </a:prstGeom>
        </p:spPr>
      </p:pic>
      <p:sp>
        <p:nvSpPr>
          <p:cNvPr id="76" name="Text 66"/>
          <p:cNvSpPr txBox="1"/>
          <p:nvPr/>
        </p:nvSpPr>
        <p:spPr>
          <a:xfrm>
            <a:off x="4617720" y="3593592"/>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Trained on clean strip too</a:t>
            </a:r>
            <a:endParaRPr lang="en-US" sz="1050" dirty="0"/>
          </a:p>
        </p:txBody>
      </p:sp>
      <p:sp>
        <p:nvSpPr>
          <p:cNvPr id="77" name="Text 67"/>
          <p:cNvSpPr txBox="1"/>
          <p:nvPr/>
        </p:nvSpPr>
        <p:spPr>
          <a:xfrm>
            <a:off x="4617720" y="3831336"/>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false alarms 93.7% → 32.5%</a:t>
            </a:r>
            <a:endParaRPr lang="en-US" sz="950" dirty="0"/>
          </a:p>
        </p:txBody>
      </p:sp>
      <p:sp>
        <p:nvSpPr>
          <p:cNvPr id="78" name="Shape 68"/>
          <p:cNvSpPr/>
          <p:nvPr/>
        </p:nvSpPr>
        <p:spPr>
          <a:xfrm>
            <a:off x="4114800" y="4178808"/>
            <a:ext cx="402336" cy="402336"/>
          </a:xfrm>
          <a:prstGeom prst="ellipse">
            <a:avLst/>
          </a:prstGeom>
          <a:solidFill>
            <a:srgbClr val="0086C3"/>
          </a:solidFill>
          <a:ln w="12700">
            <a:solidFill>
              <a:srgbClr val="0086C3"/>
            </a:solidFill>
            <a:prstDash val="solid"/>
          </a:ln>
        </p:spPr>
      </p:sp>
      <p:pic>
        <p:nvPicPr>
          <p:cNvPr id="79" name="Image 8" descr="img/icons/split-white.png">    </p:cNvPr>
          <p:cNvPicPr>
            <a:picLocks noChangeAspect="1"/>
          </p:cNvPicPr>
          <p:nvPr/>
        </p:nvPicPr>
        <p:blipFill>
          <a:blip r:embed="rId9"/>
          <a:stretch>
            <a:fillRect/>
          </a:stretch>
        </p:blipFill>
        <p:spPr>
          <a:xfrm>
            <a:off x="4203314" y="4267322"/>
            <a:ext cx="225308" cy="225308"/>
          </a:xfrm>
          <a:prstGeom prst="rect">
            <a:avLst/>
          </a:prstGeom>
        </p:spPr>
      </p:pic>
      <p:sp>
        <p:nvSpPr>
          <p:cNvPr id="80" name="Text 69"/>
          <p:cNvSpPr txBox="1"/>
          <p:nvPr/>
        </p:nvSpPr>
        <p:spPr>
          <a:xfrm>
            <a:off x="4617720" y="4160520"/>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Root-cause routing</a:t>
            </a:r>
            <a:endParaRPr lang="en-US" sz="1050" dirty="0"/>
          </a:p>
        </p:txBody>
      </p:sp>
      <p:sp>
        <p:nvSpPr>
          <p:cNvPr id="81" name="Text 70"/>
          <p:cNvSpPr txBox="1"/>
          <p:nvPr/>
        </p:nvSpPr>
        <p:spPr>
          <a:xfrm>
            <a:off x="4617720" y="4398264"/>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every alarm becomes a work order</a:t>
            </a:r>
            <a:endParaRPr lang="en-US" sz="950" dirty="0"/>
          </a:p>
        </p:txBody>
      </p:sp>
      <p:sp>
        <p:nvSpPr>
          <p:cNvPr id="82" name="Shape 71"/>
          <p:cNvSpPr/>
          <p:nvPr/>
        </p:nvSpPr>
        <p:spPr>
          <a:xfrm>
            <a:off x="4114800" y="4745736"/>
            <a:ext cx="402336" cy="402336"/>
          </a:xfrm>
          <a:prstGeom prst="ellipse">
            <a:avLst/>
          </a:prstGeom>
          <a:solidFill>
            <a:srgbClr val="0086C3"/>
          </a:solidFill>
          <a:ln w="12700">
            <a:solidFill>
              <a:srgbClr val="0086C3"/>
            </a:solidFill>
            <a:prstDash val="solid"/>
          </a:ln>
        </p:spPr>
      </p:sp>
      <p:pic>
        <p:nvPicPr>
          <p:cNvPr id="83" name="Image 9" descr="img/icons/microscope-white.png">    </p:cNvPr>
          <p:cNvPicPr>
            <a:picLocks noChangeAspect="1"/>
          </p:cNvPicPr>
          <p:nvPr/>
        </p:nvPicPr>
        <p:blipFill>
          <a:blip r:embed="rId10"/>
          <a:stretch>
            <a:fillRect/>
          </a:stretch>
        </p:blipFill>
        <p:spPr>
          <a:xfrm>
            <a:off x="4203314" y="4834250"/>
            <a:ext cx="225308" cy="225308"/>
          </a:xfrm>
          <a:prstGeom prst="rect">
            <a:avLst/>
          </a:prstGeom>
        </p:spPr>
      </p:pic>
      <p:sp>
        <p:nvSpPr>
          <p:cNvPr id="84" name="Text 72"/>
          <p:cNvSpPr txBox="1"/>
          <p:nvPr/>
        </p:nvSpPr>
        <p:spPr>
          <a:xfrm>
            <a:off x="4617720" y="4727448"/>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Unseen-defect check</a:t>
            </a:r>
            <a:endParaRPr lang="en-US" sz="1050" dirty="0"/>
          </a:p>
        </p:txBody>
      </p:sp>
      <p:sp>
        <p:nvSpPr>
          <p:cNvPr id="85" name="Text 73"/>
          <p:cNvSpPr txBox="1"/>
          <p:nvPr/>
        </p:nvSpPr>
        <p:spPr>
          <a:xfrm>
            <a:off x="4617720" y="4965192"/>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flags patterns never labelled (proposed)</a:t>
            </a:r>
            <a:endParaRPr lang="en-US" sz="950" dirty="0"/>
          </a:p>
        </p:txBody>
      </p:sp>
      <p:sp>
        <p:nvSpPr>
          <p:cNvPr id="86" name="Shape 74"/>
          <p:cNvSpPr/>
          <p:nvPr/>
        </p:nvSpPr>
        <p:spPr>
          <a:xfrm>
            <a:off x="4114800" y="5312664"/>
            <a:ext cx="402336" cy="402336"/>
          </a:xfrm>
          <a:prstGeom prst="ellipse">
            <a:avLst/>
          </a:prstGeom>
          <a:solidFill>
            <a:srgbClr val="0086C3"/>
          </a:solidFill>
          <a:ln w="12700">
            <a:solidFill>
              <a:srgbClr val="0086C3"/>
            </a:solidFill>
            <a:prstDash val="solid"/>
          </a:ln>
        </p:spPr>
      </p:sp>
      <p:pic>
        <p:nvPicPr>
          <p:cNvPr id="87" name="Image 10" descr="img/icons/archive-white.png">    </p:cNvPr>
          <p:cNvPicPr>
            <a:picLocks noChangeAspect="1"/>
          </p:cNvPicPr>
          <p:nvPr/>
        </p:nvPicPr>
        <p:blipFill>
          <a:blip r:embed="rId11"/>
          <a:stretch>
            <a:fillRect/>
          </a:stretch>
        </p:blipFill>
        <p:spPr>
          <a:xfrm>
            <a:off x="4203314" y="5401178"/>
            <a:ext cx="225308" cy="225308"/>
          </a:xfrm>
          <a:prstGeom prst="rect">
            <a:avLst/>
          </a:prstGeom>
        </p:spPr>
      </p:pic>
      <p:sp>
        <p:nvSpPr>
          <p:cNvPr id="88" name="Text 75"/>
          <p:cNvSpPr txBox="1"/>
          <p:nvPr/>
        </p:nvSpPr>
        <p:spPr>
          <a:xfrm>
            <a:off x="4617720" y="5294376"/>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Learns from unlabelled coils</a:t>
            </a:r>
            <a:endParaRPr lang="en-US" sz="1050" dirty="0"/>
          </a:p>
        </p:txBody>
      </p:sp>
      <p:sp>
        <p:nvSpPr>
          <p:cNvPr id="89" name="Text 76"/>
          <p:cNvSpPr txBox="1"/>
          <p:nvPr/>
        </p:nvSpPr>
        <p:spPr>
          <a:xfrm>
            <a:off x="4617720" y="5532120"/>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JSL's image archive becomes an asset</a:t>
            </a:r>
            <a:endParaRPr lang="en-US" sz="950" dirty="0"/>
          </a:p>
        </p:txBody>
      </p:sp>
      <p:sp>
        <p:nvSpPr>
          <p:cNvPr id="90" name="Shape 77"/>
          <p:cNvSpPr/>
          <p:nvPr/>
        </p:nvSpPr>
        <p:spPr>
          <a:xfrm>
            <a:off x="7955280" y="3218688"/>
            <a:ext cx="3776472" cy="274320"/>
          </a:xfrm>
          <a:prstGeom prst="rect">
            <a:avLst/>
          </a:prstGeom>
          <a:solidFill>
            <a:srgbClr val="2B5B80"/>
          </a:solidFill>
          <a:ln w="12700">
            <a:solidFill>
              <a:srgbClr val="2B5B80"/>
            </a:solidFill>
            <a:prstDash val="solid"/>
          </a:ln>
        </p:spPr>
      </p:sp>
      <p:sp>
        <p:nvSpPr>
          <p:cNvPr id="91" name="Text 78"/>
          <p:cNvSpPr txBox="1"/>
          <p:nvPr/>
        </p:nvSpPr>
        <p:spPr>
          <a:xfrm>
            <a:off x="8046720" y="3218688"/>
            <a:ext cx="359359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Build vs buy</a:t>
            </a:r>
            <a:endParaRPr lang="en-US" sz="1100" dirty="0"/>
          </a:p>
        </p:txBody>
      </p:sp>
      <p:sp>
        <p:nvSpPr>
          <p:cNvPr id="92" name="Text 79"/>
          <p:cNvSpPr txBox="1"/>
          <p:nvPr/>
        </p:nvSpPr>
        <p:spPr>
          <a:xfrm>
            <a:off x="9400032"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Cost per line</a:t>
            </a:r>
            <a:endParaRPr lang="en-US" sz="900" dirty="0"/>
          </a:p>
        </p:txBody>
      </p:sp>
      <p:sp>
        <p:nvSpPr>
          <p:cNvPr id="93" name="Text 80"/>
          <p:cNvSpPr txBox="1"/>
          <p:nvPr/>
        </p:nvSpPr>
        <p:spPr>
          <a:xfrm>
            <a:off x="9976104"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Proven at speed</a:t>
            </a:r>
            <a:endParaRPr lang="en-US" sz="900" dirty="0"/>
          </a:p>
        </p:txBody>
      </p:sp>
      <p:sp>
        <p:nvSpPr>
          <p:cNvPr id="94" name="Text 81"/>
          <p:cNvSpPr txBox="1"/>
          <p:nvPr/>
        </p:nvSpPr>
        <p:spPr>
          <a:xfrm>
            <a:off x="10552176"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Tuned to JSL grades</a:t>
            </a:r>
            <a:endParaRPr lang="en-US" sz="900" dirty="0"/>
          </a:p>
        </p:txBody>
      </p:sp>
      <p:sp>
        <p:nvSpPr>
          <p:cNvPr id="95" name="Text 82"/>
          <p:cNvSpPr txBox="1"/>
          <p:nvPr/>
        </p:nvSpPr>
        <p:spPr>
          <a:xfrm>
            <a:off x="11128248"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JSL owns model</a:t>
            </a:r>
            <a:endParaRPr lang="en-US" sz="900" dirty="0"/>
          </a:p>
        </p:txBody>
      </p:sp>
      <p:sp>
        <p:nvSpPr>
          <p:cNvPr id="96" name="Text 83"/>
          <p:cNvSpPr txBox="1"/>
          <p:nvPr/>
        </p:nvSpPr>
        <p:spPr>
          <a:xfrm>
            <a:off x="8046720" y="4023360"/>
            <a:ext cx="1371600" cy="182880"/>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Commercial</a:t>
            </a:r>
            <a:endParaRPr lang="en-US" sz="1000" dirty="0"/>
          </a:p>
        </p:txBody>
      </p:sp>
      <p:sp>
        <p:nvSpPr>
          <p:cNvPr id="97" name="Text 84"/>
          <p:cNvSpPr txBox="1"/>
          <p:nvPr/>
        </p:nvSpPr>
        <p:spPr>
          <a:xfrm>
            <a:off x="8046720" y="4206240"/>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USD 1-3M (unverified)</a:t>
            </a:r>
            <a:endParaRPr lang="en-US" sz="900" dirty="0"/>
          </a:p>
        </p:txBody>
      </p:sp>
      <p:sp>
        <p:nvSpPr>
          <p:cNvPr id="98" name="Shape 85"/>
          <p:cNvSpPr/>
          <p:nvPr/>
        </p:nvSpPr>
        <p:spPr>
          <a:xfrm>
            <a:off x="9582912" y="4096512"/>
            <a:ext cx="182880" cy="182880"/>
          </a:xfrm>
          <a:prstGeom prst="ellipse">
            <a:avLst/>
          </a:prstGeom>
          <a:solidFill>
            <a:srgbClr val="C62828"/>
          </a:solidFill>
          <a:ln w="12700">
            <a:solidFill>
              <a:srgbClr val="C62828"/>
            </a:solidFill>
            <a:prstDash val="solid"/>
          </a:ln>
        </p:spPr>
      </p:sp>
      <p:sp>
        <p:nvSpPr>
          <p:cNvPr id="99" name="Shape 86"/>
          <p:cNvSpPr/>
          <p:nvPr/>
        </p:nvSpPr>
        <p:spPr>
          <a:xfrm>
            <a:off x="10158984" y="4096512"/>
            <a:ext cx="182880" cy="182880"/>
          </a:xfrm>
          <a:prstGeom prst="ellipse">
            <a:avLst/>
          </a:prstGeom>
          <a:solidFill>
            <a:srgbClr val="2E7D32"/>
          </a:solidFill>
          <a:ln w="12700">
            <a:solidFill>
              <a:srgbClr val="2E7D32"/>
            </a:solidFill>
            <a:prstDash val="solid"/>
          </a:ln>
        </p:spPr>
      </p:sp>
      <p:sp>
        <p:nvSpPr>
          <p:cNvPr id="100" name="Shape 87"/>
          <p:cNvSpPr/>
          <p:nvPr/>
        </p:nvSpPr>
        <p:spPr>
          <a:xfrm>
            <a:off x="10735056" y="4096512"/>
            <a:ext cx="182880" cy="182880"/>
          </a:xfrm>
          <a:prstGeom prst="ellipse">
            <a:avLst/>
          </a:prstGeom>
          <a:solidFill>
            <a:srgbClr val="B77900"/>
          </a:solidFill>
          <a:ln w="12700">
            <a:solidFill>
              <a:srgbClr val="B77900"/>
            </a:solidFill>
            <a:prstDash val="solid"/>
          </a:ln>
        </p:spPr>
      </p:sp>
      <p:sp>
        <p:nvSpPr>
          <p:cNvPr id="101" name="Shape 88"/>
          <p:cNvSpPr/>
          <p:nvPr/>
        </p:nvSpPr>
        <p:spPr>
          <a:xfrm>
            <a:off x="11311128" y="4096512"/>
            <a:ext cx="182880" cy="182880"/>
          </a:xfrm>
          <a:prstGeom prst="ellipse">
            <a:avLst/>
          </a:prstGeom>
          <a:solidFill>
            <a:srgbClr val="C62828"/>
          </a:solidFill>
          <a:ln w="12700">
            <a:solidFill>
              <a:srgbClr val="C62828"/>
            </a:solidFill>
            <a:prstDash val="solid"/>
          </a:ln>
        </p:spPr>
      </p:sp>
      <p:sp>
        <p:nvSpPr>
          <p:cNvPr id="102" name="Text 89"/>
          <p:cNvSpPr txBox="1"/>
          <p:nvPr/>
        </p:nvSpPr>
        <p:spPr>
          <a:xfrm>
            <a:off x="8046720" y="4498848"/>
            <a:ext cx="1371600" cy="182880"/>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Fully in-house</a:t>
            </a:r>
            <a:endParaRPr lang="en-US" sz="1000" dirty="0"/>
          </a:p>
        </p:txBody>
      </p:sp>
      <p:sp>
        <p:nvSpPr>
          <p:cNvPr id="103" name="Text 90"/>
          <p:cNvSpPr txBox="1"/>
          <p:nvPr/>
        </p:nvSpPr>
        <p:spPr>
          <a:xfrm>
            <a:off x="8046720" y="4681728"/>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₹2-3 cr (est.)</a:t>
            </a:r>
            <a:endParaRPr lang="en-US" sz="900" dirty="0"/>
          </a:p>
        </p:txBody>
      </p:sp>
      <p:sp>
        <p:nvSpPr>
          <p:cNvPr id="104" name="Shape 91"/>
          <p:cNvSpPr/>
          <p:nvPr/>
        </p:nvSpPr>
        <p:spPr>
          <a:xfrm>
            <a:off x="9582912" y="4572000"/>
            <a:ext cx="182880" cy="182880"/>
          </a:xfrm>
          <a:prstGeom prst="ellipse">
            <a:avLst/>
          </a:prstGeom>
          <a:solidFill>
            <a:srgbClr val="2E7D32"/>
          </a:solidFill>
          <a:ln w="12700">
            <a:solidFill>
              <a:srgbClr val="2E7D32"/>
            </a:solidFill>
            <a:prstDash val="solid"/>
          </a:ln>
        </p:spPr>
      </p:sp>
      <p:sp>
        <p:nvSpPr>
          <p:cNvPr id="105" name="Shape 92"/>
          <p:cNvSpPr/>
          <p:nvPr/>
        </p:nvSpPr>
        <p:spPr>
          <a:xfrm>
            <a:off x="10158984" y="4572000"/>
            <a:ext cx="182880" cy="182880"/>
          </a:xfrm>
          <a:prstGeom prst="ellipse">
            <a:avLst/>
          </a:prstGeom>
          <a:solidFill>
            <a:srgbClr val="C62828"/>
          </a:solidFill>
          <a:ln w="12700">
            <a:solidFill>
              <a:srgbClr val="C62828"/>
            </a:solidFill>
            <a:prstDash val="solid"/>
          </a:ln>
        </p:spPr>
      </p:sp>
      <p:sp>
        <p:nvSpPr>
          <p:cNvPr id="106" name="Shape 93"/>
          <p:cNvSpPr/>
          <p:nvPr/>
        </p:nvSpPr>
        <p:spPr>
          <a:xfrm>
            <a:off x="10735056" y="4572000"/>
            <a:ext cx="182880" cy="182880"/>
          </a:xfrm>
          <a:prstGeom prst="ellipse">
            <a:avLst/>
          </a:prstGeom>
          <a:solidFill>
            <a:srgbClr val="2E7D32"/>
          </a:solidFill>
          <a:ln w="12700">
            <a:solidFill>
              <a:srgbClr val="2E7D32"/>
            </a:solidFill>
            <a:prstDash val="solid"/>
          </a:ln>
        </p:spPr>
      </p:sp>
      <p:sp>
        <p:nvSpPr>
          <p:cNvPr id="107" name="Shape 94"/>
          <p:cNvSpPr/>
          <p:nvPr/>
        </p:nvSpPr>
        <p:spPr>
          <a:xfrm>
            <a:off x="11311128" y="4572000"/>
            <a:ext cx="182880" cy="182880"/>
          </a:xfrm>
          <a:prstGeom prst="ellipse">
            <a:avLst/>
          </a:prstGeom>
          <a:solidFill>
            <a:srgbClr val="2E7D32"/>
          </a:solidFill>
          <a:ln w="12700">
            <a:solidFill>
              <a:srgbClr val="2E7D32"/>
            </a:solidFill>
            <a:prstDash val="solid"/>
          </a:ln>
        </p:spPr>
      </p:sp>
      <p:sp>
        <p:nvSpPr>
          <p:cNvPr id="108" name="Shape 95"/>
          <p:cNvSpPr/>
          <p:nvPr/>
        </p:nvSpPr>
        <p:spPr>
          <a:xfrm>
            <a:off x="7973568" y="4919472"/>
            <a:ext cx="3739896" cy="457200"/>
          </a:xfrm>
          <a:prstGeom prst="roundRect">
            <a:avLst>
              <a:gd name="adj" fmla="val 12000"/>
            </a:avLst>
          </a:prstGeom>
          <a:solidFill>
            <a:srgbClr val="E4EEF6"/>
          </a:solidFill>
          <a:ln w="12700">
            <a:solidFill>
              <a:srgbClr val="E4EEF6"/>
            </a:solidFill>
            <a:prstDash val="solid"/>
          </a:ln>
        </p:spPr>
      </p:sp>
      <p:sp>
        <p:nvSpPr>
          <p:cNvPr id="109" name="Text 96"/>
          <p:cNvSpPr txBox="1"/>
          <p:nvPr/>
        </p:nvSpPr>
        <p:spPr>
          <a:xfrm>
            <a:off x="8046720" y="4974336"/>
            <a:ext cx="1371600" cy="182880"/>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Hybrid (ours)</a:t>
            </a:r>
            <a:endParaRPr lang="en-US" sz="1000" dirty="0"/>
          </a:p>
        </p:txBody>
      </p:sp>
      <p:sp>
        <p:nvSpPr>
          <p:cNvPr id="110" name="Text 97"/>
          <p:cNvSpPr txBox="1"/>
          <p:nvPr/>
        </p:nvSpPr>
        <p:spPr>
          <a:xfrm>
            <a:off x="8046720" y="5157216"/>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₹2.5-4.2 cr (est.)</a:t>
            </a:r>
            <a:endParaRPr lang="en-US" sz="900" dirty="0"/>
          </a:p>
        </p:txBody>
      </p:sp>
      <p:sp>
        <p:nvSpPr>
          <p:cNvPr id="111" name="Shape 98"/>
          <p:cNvSpPr/>
          <p:nvPr/>
        </p:nvSpPr>
        <p:spPr>
          <a:xfrm>
            <a:off x="9582912" y="5047488"/>
            <a:ext cx="182880" cy="182880"/>
          </a:xfrm>
          <a:prstGeom prst="ellipse">
            <a:avLst/>
          </a:prstGeom>
          <a:solidFill>
            <a:srgbClr val="2E7D32"/>
          </a:solidFill>
          <a:ln w="12700">
            <a:solidFill>
              <a:srgbClr val="2E7D32"/>
            </a:solidFill>
            <a:prstDash val="solid"/>
          </a:ln>
        </p:spPr>
      </p:sp>
      <p:sp>
        <p:nvSpPr>
          <p:cNvPr id="112" name="Shape 99"/>
          <p:cNvSpPr/>
          <p:nvPr/>
        </p:nvSpPr>
        <p:spPr>
          <a:xfrm>
            <a:off x="10158984" y="5047488"/>
            <a:ext cx="182880" cy="182880"/>
          </a:xfrm>
          <a:prstGeom prst="ellipse">
            <a:avLst/>
          </a:prstGeom>
          <a:solidFill>
            <a:srgbClr val="B77900"/>
          </a:solidFill>
          <a:ln w="12700">
            <a:solidFill>
              <a:srgbClr val="B77900"/>
            </a:solidFill>
            <a:prstDash val="solid"/>
          </a:ln>
        </p:spPr>
      </p:sp>
      <p:sp>
        <p:nvSpPr>
          <p:cNvPr id="113" name="Shape 100"/>
          <p:cNvSpPr/>
          <p:nvPr/>
        </p:nvSpPr>
        <p:spPr>
          <a:xfrm>
            <a:off x="10735056" y="5047488"/>
            <a:ext cx="182880" cy="182880"/>
          </a:xfrm>
          <a:prstGeom prst="ellipse">
            <a:avLst/>
          </a:prstGeom>
          <a:solidFill>
            <a:srgbClr val="2E7D32"/>
          </a:solidFill>
          <a:ln w="12700">
            <a:solidFill>
              <a:srgbClr val="2E7D32"/>
            </a:solidFill>
            <a:prstDash val="solid"/>
          </a:ln>
        </p:spPr>
      </p:sp>
      <p:sp>
        <p:nvSpPr>
          <p:cNvPr id="114" name="Shape 101"/>
          <p:cNvSpPr/>
          <p:nvPr/>
        </p:nvSpPr>
        <p:spPr>
          <a:xfrm>
            <a:off x="11311128" y="5047488"/>
            <a:ext cx="182880" cy="182880"/>
          </a:xfrm>
          <a:prstGeom prst="ellipse">
            <a:avLst/>
          </a:prstGeom>
          <a:solidFill>
            <a:srgbClr val="2E7D32"/>
          </a:solidFill>
          <a:ln w="12700">
            <a:solidFill>
              <a:srgbClr val="2E7D32"/>
            </a:solidFill>
            <a:prstDash val="solid"/>
          </a:ln>
        </p:spPr>
      </p:sp>
      <p:sp>
        <p:nvSpPr>
          <p:cNvPr id="115" name="Shape 102"/>
          <p:cNvSpPr/>
          <p:nvPr/>
        </p:nvSpPr>
        <p:spPr>
          <a:xfrm>
            <a:off x="8065008" y="5477256"/>
            <a:ext cx="128016" cy="128016"/>
          </a:xfrm>
          <a:prstGeom prst="ellipse">
            <a:avLst/>
          </a:prstGeom>
          <a:solidFill>
            <a:srgbClr val="2E7D32"/>
          </a:solidFill>
          <a:ln w="12700">
            <a:solidFill>
              <a:srgbClr val="2E7D32"/>
            </a:solidFill>
            <a:prstDash val="solid"/>
          </a:ln>
        </p:spPr>
      </p:sp>
      <p:sp>
        <p:nvSpPr>
          <p:cNvPr id="116" name="Text 103"/>
          <p:cNvSpPr txBox="1"/>
          <p:nvPr/>
        </p:nvSpPr>
        <p:spPr>
          <a:xfrm>
            <a:off x="822960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strong</a:t>
            </a:r>
            <a:endParaRPr lang="en-US" sz="900" dirty="0"/>
          </a:p>
        </p:txBody>
      </p:sp>
      <p:sp>
        <p:nvSpPr>
          <p:cNvPr id="117" name="Shape 104"/>
          <p:cNvSpPr/>
          <p:nvPr/>
        </p:nvSpPr>
        <p:spPr>
          <a:xfrm>
            <a:off x="8842248" y="5477256"/>
            <a:ext cx="128016" cy="128016"/>
          </a:xfrm>
          <a:prstGeom prst="ellipse">
            <a:avLst/>
          </a:prstGeom>
          <a:solidFill>
            <a:srgbClr val="B77900"/>
          </a:solidFill>
          <a:ln w="12700">
            <a:solidFill>
              <a:srgbClr val="B77900"/>
            </a:solidFill>
            <a:prstDash val="solid"/>
          </a:ln>
        </p:spPr>
      </p:sp>
      <p:sp>
        <p:nvSpPr>
          <p:cNvPr id="118" name="Text 105"/>
          <p:cNvSpPr txBox="1"/>
          <p:nvPr/>
        </p:nvSpPr>
        <p:spPr>
          <a:xfrm>
            <a:off x="900684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partial</a:t>
            </a:r>
            <a:endParaRPr lang="en-US" sz="900" dirty="0"/>
          </a:p>
        </p:txBody>
      </p:sp>
      <p:sp>
        <p:nvSpPr>
          <p:cNvPr id="119" name="Shape 106"/>
          <p:cNvSpPr/>
          <p:nvPr/>
        </p:nvSpPr>
        <p:spPr>
          <a:xfrm>
            <a:off x="9619488" y="5477256"/>
            <a:ext cx="128016" cy="128016"/>
          </a:xfrm>
          <a:prstGeom prst="ellipse">
            <a:avLst/>
          </a:prstGeom>
          <a:solidFill>
            <a:srgbClr val="C62828"/>
          </a:solidFill>
          <a:ln w="12700">
            <a:solidFill>
              <a:srgbClr val="C62828"/>
            </a:solidFill>
            <a:prstDash val="solid"/>
          </a:ln>
        </p:spPr>
      </p:sp>
      <p:sp>
        <p:nvSpPr>
          <p:cNvPr id="120" name="Text 107"/>
          <p:cNvSpPr txBox="1"/>
          <p:nvPr/>
        </p:nvSpPr>
        <p:spPr>
          <a:xfrm>
            <a:off x="978408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weak</a:t>
            </a:r>
            <a:endParaRPr lang="en-US" sz="900" dirty="0"/>
          </a:p>
        </p:txBody>
      </p:sp>
      <p:sp>
        <p:nvSpPr>
          <p:cNvPr id="121" name="Text 108"/>
          <p:cNvSpPr txBox="1"/>
          <p:nvPr/>
        </p:nvSpPr>
        <p:spPr>
          <a:xfrm>
            <a:off x="8046720" y="5641848"/>
            <a:ext cx="3657600" cy="219456"/>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Output: hybrid is never weak.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It already works on public steel data; the pilot's job is to prove it on JSL's own strip</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Strong on four of six defect families today. Every weak spot is known, and each has a fix in the pilot plan.</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Datasets: NEU-DET (Northeastern Univ.); Severstal steel defects (Kaggle); GC10-DET (Lv et al. 2020, CC BY 4.0). All scores on held-out images the model never saw in training.</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Tested on three public steel datasets</a:t>
            </a:r>
            <a:endParaRPr lang="en-US" sz="1100" dirty="0"/>
          </a:p>
        </p:txBody>
      </p:sp>
      <p:sp>
        <p:nvSpPr>
          <p:cNvPr id="19" name="Shape 17"/>
          <p:cNvSpPr/>
          <p:nvPr/>
        </p:nvSpPr>
        <p:spPr>
          <a:xfrm>
            <a:off x="457200" y="1572768"/>
            <a:ext cx="1783080" cy="2148840"/>
          </a:xfrm>
          <a:prstGeom prst="roundRect">
            <a:avLst>
              <a:gd name="adj" fmla="val 3077"/>
            </a:avLst>
          </a:prstGeom>
          <a:solidFill>
            <a:srgbClr val="F1F4F7"/>
          </a:solidFill>
          <a:ln w="12700">
            <a:solidFill>
              <a:srgbClr val="F1F4F7"/>
            </a:solidFill>
            <a:prstDash val="solid"/>
          </a:ln>
        </p:spPr>
      </p:sp>
      <p:sp>
        <p:nvSpPr>
          <p:cNvPr id="20" name="Shape 18"/>
          <p:cNvSpPr/>
          <p:nvPr/>
        </p:nvSpPr>
        <p:spPr>
          <a:xfrm>
            <a:off x="548640" y="1645920"/>
            <a:ext cx="1600200" cy="1078992"/>
          </a:xfrm>
          <a:prstGeom prst="rect">
            <a:avLst/>
          </a:prstGeom>
          <a:solidFill>
            <a:srgbClr val="FFFFFF"/>
          </a:solidFill>
          <a:ln w="12700">
            <a:solidFill>
              <a:srgbClr val="FFFFFF"/>
            </a:solidFill>
            <a:prstDash val="solid"/>
          </a:ln>
        </p:spPr>
      </p:sp>
      <p:pic>
        <p:nvPicPr>
          <p:cNvPr id="21" name="Image 0" descr="img/det_patches.png">    </p:cNvPr>
          <p:cNvPicPr>
            <a:picLocks noChangeAspect="1"/>
          </p:cNvPicPr>
          <p:nvPr/>
        </p:nvPicPr>
        <p:blipFill>
          <a:blip r:embed="rId1"/>
          <a:stretch>
            <a:fillRect/>
          </a:stretch>
        </p:blipFill>
        <p:spPr>
          <a:xfrm>
            <a:off x="845820" y="1682496"/>
            <a:ext cx="1005840" cy="1005840"/>
          </a:xfrm>
          <a:prstGeom prst="rect">
            <a:avLst/>
          </a:prstGeom>
        </p:spPr>
      </p:pic>
      <p:sp>
        <p:nvSpPr>
          <p:cNvPr id="22" name="Text 19"/>
          <p:cNvSpPr txBox="1"/>
          <p:nvPr/>
        </p:nvSpPr>
        <p:spPr>
          <a:xfrm>
            <a:off x="548640" y="2788920"/>
            <a:ext cx="1600200"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NEU-DET</a:t>
            </a:r>
            <a:endParaRPr lang="en-US" sz="1100" dirty="0"/>
          </a:p>
        </p:txBody>
      </p:sp>
      <p:sp>
        <p:nvSpPr>
          <p:cNvPr id="23" name="Text 20"/>
          <p:cNvSpPr txBox="1"/>
          <p:nvPr/>
        </p:nvSpPr>
        <p:spPr>
          <a:xfrm>
            <a:off x="548640" y="3026664"/>
            <a:ext cx="164592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1,800 images, 6 defect types</a:t>
            </a:r>
            <a:endParaRPr lang="en-US" sz="950" dirty="0"/>
          </a:p>
        </p:txBody>
      </p:sp>
      <p:sp>
        <p:nvSpPr>
          <p:cNvPr id="24" name="Text 21"/>
          <p:cNvSpPr txBox="1"/>
          <p:nvPr/>
        </p:nvSpPr>
        <p:spPr>
          <a:xfrm>
            <a:off x="548640" y="3255264"/>
            <a:ext cx="164592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University benchmark, hot-rolled strip</a:t>
            </a:r>
            <a:endParaRPr lang="en-US" sz="900" dirty="0"/>
          </a:p>
        </p:txBody>
      </p:sp>
      <p:sp>
        <p:nvSpPr>
          <p:cNvPr id="25" name="Shape 22"/>
          <p:cNvSpPr/>
          <p:nvPr/>
        </p:nvSpPr>
        <p:spPr>
          <a:xfrm>
            <a:off x="2336292" y="1572768"/>
            <a:ext cx="1783080" cy="2148840"/>
          </a:xfrm>
          <a:prstGeom prst="roundRect">
            <a:avLst>
              <a:gd name="adj" fmla="val 3077"/>
            </a:avLst>
          </a:prstGeom>
          <a:solidFill>
            <a:srgbClr val="F1F4F7"/>
          </a:solidFill>
          <a:ln w="12700">
            <a:solidFill>
              <a:srgbClr val="F1F4F7"/>
            </a:solidFill>
            <a:prstDash val="solid"/>
          </a:ln>
        </p:spPr>
      </p:sp>
      <p:sp>
        <p:nvSpPr>
          <p:cNvPr id="26" name="Shape 23"/>
          <p:cNvSpPr/>
          <p:nvPr/>
        </p:nvSpPr>
        <p:spPr>
          <a:xfrm>
            <a:off x="2427732" y="1645920"/>
            <a:ext cx="1600200" cy="1078992"/>
          </a:xfrm>
          <a:prstGeom prst="rect">
            <a:avLst/>
          </a:prstGeom>
          <a:solidFill>
            <a:srgbClr val="FFFFFF"/>
          </a:solidFill>
          <a:ln w="12700">
            <a:solidFill>
              <a:srgbClr val="FFFFFF"/>
            </a:solidFill>
            <a:prstDash val="solid"/>
          </a:ln>
        </p:spPr>
      </p:sp>
      <p:pic>
        <p:nvPicPr>
          <p:cNvPr id="27" name="Image 1" descr="img/proof_severstal.png">    </p:cNvPr>
          <p:cNvPicPr>
            <a:picLocks noChangeAspect="1"/>
          </p:cNvPicPr>
          <p:nvPr/>
        </p:nvPicPr>
        <p:blipFill>
          <a:blip r:embed="rId2"/>
          <a:stretch>
            <a:fillRect/>
          </a:stretch>
        </p:blipFill>
        <p:spPr>
          <a:xfrm>
            <a:off x="2724912" y="1682496"/>
            <a:ext cx="1005840" cy="1005840"/>
          </a:xfrm>
          <a:prstGeom prst="rect">
            <a:avLst/>
          </a:prstGeom>
        </p:spPr>
      </p:pic>
      <p:sp>
        <p:nvSpPr>
          <p:cNvPr id="28" name="Text 24"/>
          <p:cNvSpPr txBox="1"/>
          <p:nvPr/>
        </p:nvSpPr>
        <p:spPr>
          <a:xfrm>
            <a:off x="2427732" y="2788920"/>
            <a:ext cx="1600200"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Severstal</a:t>
            </a:r>
            <a:endParaRPr lang="en-US" sz="1100" dirty="0"/>
          </a:p>
        </p:txBody>
      </p:sp>
      <p:sp>
        <p:nvSpPr>
          <p:cNvPr id="29" name="Text 25"/>
          <p:cNvSpPr txBox="1"/>
          <p:nvPr/>
        </p:nvSpPr>
        <p:spPr>
          <a:xfrm>
            <a:off x="2427732" y="3026664"/>
            <a:ext cx="164592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12,568 real mill frames</a:t>
            </a:r>
            <a:endParaRPr lang="en-US" sz="950" dirty="0"/>
          </a:p>
        </p:txBody>
      </p:sp>
      <p:sp>
        <p:nvSpPr>
          <p:cNvPr id="30" name="Text 26"/>
          <p:cNvSpPr txBox="1"/>
          <p:nvPr/>
        </p:nvSpPr>
        <p:spPr>
          <a:xfrm>
            <a:off x="2427732" y="3255264"/>
            <a:ext cx="164592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Production strip from a steel mill</a:t>
            </a:r>
            <a:endParaRPr lang="en-US" sz="900" dirty="0"/>
          </a:p>
        </p:txBody>
      </p:sp>
      <p:sp>
        <p:nvSpPr>
          <p:cNvPr id="31" name="Shape 27"/>
          <p:cNvSpPr/>
          <p:nvPr/>
        </p:nvSpPr>
        <p:spPr>
          <a:xfrm>
            <a:off x="4215384" y="1572768"/>
            <a:ext cx="1783080" cy="2148840"/>
          </a:xfrm>
          <a:prstGeom prst="roundRect">
            <a:avLst>
              <a:gd name="adj" fmla="val 3077"/>
            </a:avLst>
          </a:prstGeom>
          <a:solidFill>
            <a:srgbClr val="F1F4F7"/>
          </a:solidFill>
          <a:ln w="12700">
            <a:solidFill>
              <a:srgbClr val="F1F4F7"/>
            </a:solidFill>
            <a:prstDash val="solid"/>
          </a:ln>
        </p:spPr>
      </p:sp>
      <p:sp>
        <p:nvSpPr>
          <p:cNvPr id="32" name="Shape 28"/>
          <p:cNvSpPr/>
          <p:nvPr/>
        </p:nvSpPr>
        <p:spPr>
          <a:xfrm>
            <a:off x="4306824" y="1645920"/>
            <a:ext cx="1600200" cy="1078992"/>
          </a:xfrm>
          <a:prstGeom prst="rect">
            <a:avLst/>
          </a:prstGeom>
          <a:solidFill>
            <a:srgbClr val="FFFFFF"/>
          </a:solidFill>
          <a:ln w="12700">
            <a:solidFill>
              <a:srgbClr val="FFFFFF"/>
            </a:solidFill>
            <a:prstDash val="solid"/>
          </a:ln>
        </p:spPr>
      </p:sp>
      <p:pic>
        <p:nvPicPr>
          <p:cNvPr id="33" name="Image 2" descr="img/proof_gc10.png">    </p:cNvPr>
          <p:cNvPicPr>
            <a:picLocks noChangeAspect="1"/>
          </p:cNvPicPr>
          <p:nvPr/>
        </p:nvPicPr>
        <p:blipFill>
          <a:blip r:embed="rId3"/>
          <a:stretch>
            <a:fillRect/>
          </a:stretch>
        </p:blipFill>
        <p:spPr>
          <a:xfrm>
            <a:off x="4306824" y="1645920"/>
            <a:ext cx="1600200" cy="1078992"/>
          </a:xfrm>
          <a:prstGeom prst="rect">
            <a:avLst/>
          </a:prstGeom>
        </p:spPr>
      </p:pic>
      <p:sp>
        <p:nvSpPr>
          <p:cNvPr id="34" name="Text 29"/>
          <p:cNvSpPr txBox="1"/>
          <p:nvPr/>
        </p:nvSpPr>
        <p:spPr>
          <a:xfrm>
            <a:off x="4306824" y="2788920"/>
            <a:ext cx="1600200"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GC10-DET</a:t>
            </a:r>
            <a:endParaRPr lang="en-US" sz="1100" dirty="0"/>
          </a:p>
        </p:txBody>
      </p:sp>
      <p:sp>
        <p:nvSpPr>
          <p:cNvPr id="35" name="Text 30"/>
          <p:cNvSpPr txBox="1"/>
          <p:nvPr/>
        </p:nvSpPr>
        <p:spPr>
          <a:xfrm>
            <a:off x="4306824" y="3026664"/>
            <a:ext cx="164592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2,294 frames, 10 types</a:t>
            </a:r>
            <a:endParaRPr lang="en-US" sz="950" dirty="0"/>
          </a:p>
        </p:txBody>
      </p:sp>
      <p:sp>
        <p:nvSpPr>
          <p:cNvPr id="36" name="Text 31"/>
          <p:cNvSpPr txBox="1"/>
          <p:nvPr/>
        </p:nvSpPr>
        <p:spPr>
          <a:xfrm>
            <a:off x="4306824" y="3255264"/>
            <a:ext cx="164592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Full-width line-scan camera frames (roll marks shown)</a:t>
            </a:r>
            <a:endParaRPr lang="en-US" sz="900" dirty="0"/>
          </a:p>
        </p:txBody>
      </p:sp>
      <p:sp>
        <p:nvSpPr>
          <p:cNvPr id="37" name="Shape 32"/>
          <p:cNvSpPr/>
          <p:nvPr/>
        </p:nvSpPr>
        <p:spPr>
          <a:xfrm>
            <a:off x="6190488" y="1234440"/>
            <a:ext cx="5541264" cy="274320"/>
          </a:xfrm>
          <a:prstGeom prst="rect">
            <a:avLst/>
          </a:prstGeom>
          <a:solidFill>
            <a:srgbClr val="2B5B80"/>
          </a:solidFill>
          <a:ln w="12700">
            <a:solidFill>
              <a:srgbClr val="2B5B80"/>
            </a:solidFill>
            <a:prstDash val="solid"/>
          </a:ln>
        </p:spPr>
      </p:sp>
      <p:sp>
        <p:nvSpPr>
          <p:cNvPr id="38" name="Text 33"/>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well it finds each defect type (accuracy, held-out images)</a:t>
            </a:r>
            <a:endParaRPr lang="en-US" sz="1100" dirty="0"/>
          </a:p>
        </p:txBody>
      </p:sp>
      <p:sp>
        <p:nvSpPr>
          <p:cNvPr id="39" name="Shape 34"/>
          <p:cNvSpPr/>
          <p:nvPr/>
        </p:nvSpPr>
        <p:spPr>
          <a:xfrm>
            <a:off x="10085832" y="1591056"/>
            <a:ext cx="356616" cy="2011680"/>
          </a:xfrm>
          <a:prstGeom prst="rect">
            <a:avLst/>
          </a:prstGeom>
          <a:solidFill>
            <a:srgbClr val="E4EEF6"/>
          </a:solidFill>
          <a:ln w="12700">
            <a:solidFill>
              <a:srgbClr val="E4EEF6"/>
            </a:solidFill>
            <a:prstDash val="solid"/>
          </a:ln>
        </p:spPr>
      </p:sp>
      <p:sp>
        <p:nvSpPr>
          <p:cNvPr id="40" name="Text 35"/>
          <p:cNvSpPr txBox="1"/>
          <p:nvPr/>
        </p:nvSpPr>
        <p:spPr>
          <a:xfrm>
            <a:off x="9811512" y="3584448"/>
            <a:ext cx="905256"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published range</a:t>
            </a:r>
            <a:endParaRPr lang="en-US" sz="900" dirty="0"/>
          </a:p>
        </p:txBody>
      </p:sp>
      <p:sp>
        <p:nvSpPr>
          <p:cNvPr id="41" name="Text 36"/>
          <p:cNvSpPr txBox="1"/>
          <p:nvPr/>
        </p:nvSpPr>
        <p:spPr>
          <a:xfrm>
            <a:off x="6281928" y="164592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Patches</a:t>
            </a:r>
            <a:endParaRPr lang="en-US" sz="1000" dirty="0"/>
          </a:p>
        </p:txBody>
      </p:sp>
      <p:sp>
        <p:nvSpPr>
          <p:cNvPr id="42" name="Shape 37"/>
          <p:cNvSpPr/>
          <p:nvPr/>
        </p:nvSpPr>
        <p:spPr>
          <a:xfrm>
            <a:off x="7589520" y="1691640"/>
            <a:ext cx="3295132" cy="173736"/>
          </a:xfrm>
          <a:prstGeom prst="rect">
            <a:avLst/>
          </a:prstGeom>
          <a:solidFill>
            <a:srgbClr val="0086C3"/>
          </a:solidFill>
          <a:ln w="12700">
            <a:solidFill>
              <a:srgbClr val="0086C3"/>
            </a:solidFill>
            <a:prstDash val="solid"/>
          </a:ln>
        </p:spPr>
      </p:sp>
      <p:sp>
        <p:nvSpPr>
          <p:cNvPr id="43" name="Text 38"/>
          <p:cNvSpPr txBox="1"/>
          <p:nvPr/>
        </p:nvSpPr>
        <p:spPr>
          <a:xfrm>
            <a:off x="10939516" y="164592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0.92</a:t>
            </a:r>
            <a:endParaRPr lang="en-US" sz="1000" dirty="0"/>
          </a:p>
        </p:txBody>
      </p:sp>
      <p:sp>
        <p:nvSpPr>
          <p:cNvPr id="44" name="Text 39"/>
          <p:cNvSpPr txBox="1"/>
          <p:nvPr/>
        </p:nvSpPr>
        <p:spPr>
          <a:xfrm>
            <a:off x="6281928" y="196596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Scratches</a:t>
            </a:r>
            <a:endParaRPr lang="en-US" sz="1000" dirty="0"/>
          </a:p>
        </p:txBody>
      </p:sp>
      <p:sp>
        <p:nvSpPr>
          <p:cNvPr id="45" name="Shape 40"/>
          <p:cNvSpPr/>
          <p:nvPr/>
        </p:nvSpPr>
        <p:spPr>
          <a:xfrm>
            <a:off x="7589520" y="2011680"/>
            <a:ext cx="3106125" cy="173736"/>
          </a:xfrm>
          <a:prstGeom prst="rect">
            <a:avLst/>
          </a:prstGeom>
          <a:solidFill>
            <a:srgbClr val="0086C3"/>
          </a:solidFill>
          <a:ln w="12700">
            <a:solidFill>
              <a:srgbClr val="0086C3"/>
            </a:solidFill>
            <a:prstDash val="solid"/>
          </a:ln>
        </p:spPr>
      </p:sp>
      <p:sp>
        <p:nvSpPr>
          <p:cNvPr id="46" name="Text 41"/>
          <p:cNvSpPr txBox="1"/>
          <p:nvPr/>
        </p:nvSpPr>
        <p:spPr>
          <a:xfrm>
            <a:off x="10750509" y="196596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0.87</a:t>
            </a:r>
            <a:endParaRPr lang="en-US" sz="1000" dirty="0"/>
          </a:p>
        </p:txBody>
      </p:sp>
      <p:sp>
        <p:nvSpPr>
          <p:cNvPr id="47" name="Text 42"/>
          <p:cNvSpPr txBox="1"/>
          <p:nvPr/>
        </p:nvSpPr>
        <p:spPr>
          <a:xfrm>
            <a:off x="6281928" y="228600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Pitted surface</a:t>
            </a:r>
            <a:endParaRPr lang="en-US" sz="1000" dirty="0"/>
          </a:p>
        </p:txBody>
      </p:sp>
      <p:sp>
        <p:nvSpPr>
          <p:cNvPr id="48" name="Shape 43"/>
          <p:cNvSpPr/>
          <p:nvPr/>
        </p:nvSpPr>
        <p:spPr>
          <a:xfrm>
            <a:off x="7589520" y="2331720"/>
            <a:ext cx="2902854" cy="173736"/>
          </a:xfrm>
          <a:prstGeom prst="rect">
            <a:avLst/>
          </a:prstGeom>
          <a:solidFill>
            <a:srgbClr val="0086C3"/>
          </a:solidFill>
          <a:ln w="12700">
            <a:solidFill>
              <a:srgbClr val="0086C3"/>
            </a:solidFill>
            <a:prstDash val="solid"/>
          </a:ln>
        </p:spPr>
      </p:sp>
      <p:sp>
        <p:nvSpPr>
          <p:cNvPr id="49" name="Text 44"/>
          <p:cNvSpPr txBox="1"/>
          <p:nvPr/>
        </p:nvSpPr>
        <p:spPr>
          <a:xfrm>
            <a:off x="10547238" y="228600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0.81</a:t>
            </a:r>
            <a:endParaRPr lang="en-US" sz="1000" dirty="0"/>
          </a:p>
        </p:txBody>
      </p:sp>
      <p:sp>
        <p:nvSpPr>
          <p:cNvPr id="50" name="Text 45"/>
          <p:cNvSpPr txBox="1"/>
          <p:nvPr/>
        </p:nvSpPr>
        <p:spPr>
          <a:xfrm>
            <a:off x="6281928" y="260604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Inclusion</a:t>
            </a:r>
            <a:endParaRPr lang="en-US" sz="1000" dirty="0"/>
          </a:p>
        </p:txBody>
      </p:sp>
      <p:sp>
        <p:nvSpPr>
          <p:cNvPr id="51" name="Shape 46"/>
          <p:cNvSpPr/>
          <p:nvPr/>
        </p:nvSpPr>
        <p:spPr>
          <a:xfrm>
            <a:off x="7589520" y="2651760"/>
            <a:ext cx="2806568" cy="173736"/>
          </a:xfrm>
          <a:prstGeom prst="rect">
            <a:avLst/>
          </a:prstGeom>
          <a:solidFill>
            <a:srgbClr val="0086C3"/>
          </a:solidFill>
          <a:ln w="12700">
            <a:solidFill>
              <a:srgbClr val="0086C3"/>
            </a:solidFill>
            <a:prstDash val="solid"/>
          </a:ln>
        </p:spPr>
      </p:sp>
      <p:sp>
        <p:nvSpPr>
          <p:cNvPr id="52" name="Text 47"/>
          <p:cNvSpPr txBox="1"/>
          <p:nvPr/>
        </p:nvSpPr>
        <p:spPr>
          <a:xfrm>
            <a:off x="10450952" y="260604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0.79</a:t>
            </a:r>
            <a:endParaRPr lang="en-US" sz="1000" dirty="0"/>
          </a:p>
        </p:txBody>
      </p:sp>
      <p:sp>
        <p:nvSpPr>
          <p:cNvPr id="53" name="Text 48"/>
          <p:cNvSpPr txBox="1"/>
          <p:nvPr/>
        </p:nvSpPr>
        <p:spPr>
          <a:xfrm>
            <a:off x="6281928" y="2926080"/>
            <a:ext cx="128016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Rolled-in scale</a:t>
            </a:r>
            <a:endParaRPr lang="en-US" sz="1000" dirty="0"/>
          </a:p>
        </p:txBody>
      </p:sp>
      <p:sp>
        <p:nvSpPr>
          <p:cNvPr id="54" name="Shape 49"/>
          <p:cNvSpPr/>
          <p:nvPr/>
        </p:nvSpPr>
        <p:spPr>
          <a:xfrm>
            <a:off x="7589520" y="2971800"/>
            <a:ext cx="2150394" cy="173736"/>
          </a:xfrm>
          <a:prstGeom prst="rect">
            <a:avLst/>
          </a:prstGeom>
          <a:solidFill>
            <a:srgbClr val="9AA7B4"/>
          </a:solidFill>
          <a:ln w="12700">
            <a:solidFill>
              <a:srgbClr val="9AA7B4"/>
            </a:solidFill>
            <a:prstDash val="solid"/>
          </a:ln>
        </p:spPr>
      </p:sp>
      <p:sp>
        <p:nvSpPr>
          <p:cNvPr id="55" name="Text 50"/>
          <p:cNvSpPr txBox="1"/>
          <p:nvPr/>
        </p:nvSpPr>
        <p:spPr>
          <a:xfrm>
            <a:off x="9794778" y="2926080"/>
            <a:ext cx="457200" cy="256032"/>
          </a:xfrm>
          <a:prstGeom prst="rect">
            <a:avLst/>
          </a:prstGeom>
          <a:noFill/>
          <a:ln/>
        </p:spPr>
        <p:txBody>
          <a:bodyPr wrap="square" lIns="0" tIns="0" rIns="0" bIns="0" rtlCol="0" anchor="ctr"/>
          <a:lstStyle/>
          <a:p>
            <a:pPr indent="0" marL="0">
              <a:buNone/>
            </a:pPr>
            <a:r>
              <a:rPr lang="en-US" sz="1000" b="1" dirty="0">
                <a:solidFill>
                  <a:srgbClr val="334150"/>
                </a:solidFill>
                <a:latin typeface="Calibri" pitchFamily="34" charset="0"/>
                <a:ea typeface="Calibri" pitchFamily="34" charset="-122"/>
                <a:cs typeface="Calibri" pitchFamily="34" charset="-120"/>
              </a:rPr>
              <a:t>0.60</a:t>
            </a:r>
            <a:endParaRPr lang="en-US" sz="1000" dirty="0"/>
          </a:p>
        </p:txBody>
      </p:sp>
      <p:sp>
        <p:nvSpPr>
          <p:cNvPr id="56" name="Text 51"/>
          <p:cNvSpPr txBox="1"/>
          <p:nvPr/>
        </p:nvSpPr>
        <p:spPr>
          <a:xfrm>
            <a:off x="6281928" y="3246120"/>
            <a:ext cx="128016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Crazing</a:t>
            </a:r>
            <a:endParaRPr lang="en-US" sz="1000" dirty="0"/>
          </a:p>
        </p:txBody>
      </p:sp>
      <p:sp>
        <p:nvSpPr>
          <p:cNvPr id="57" name="Shape 52"/>
          <p:cNvSpPr/>
          <p:nvPr/>
        </p:nvSpPr>
        <p:spPr>
          <a:xfrm>
            <a:off x="7589520" y="3291840"/>
            <a:ext cx="2086204" cy="173736"/>
          </a:xfrm>
          <a:prstGeom prst="rect">
            <a:avLst/>
          </a:prstGeom>
          <a:solidFill>
            <a:srgbClr val="9AA7B4"/>
          </a:solidFill>
          <a:ln w="12700">
            <a:solidFill>
              <a:srgbClr val="9AA7B4"/>
            </a:solidFill>
            <a:prstDash val="solid"/>
          </a:ln>
        </p:spPr>
      </p:sp>
      <p:sp>
        <p:nvSpPr>
          <p:cNvPr id="58" name="Text 53"/>
          <p:cNvSpPr txBox="1"/>
          <p:nvPr/>
        </p:nvSpPr>
        <p:spPr>
          <a:xfrm>
            <a:off x="9730588" y="3246120"/>
            <a:ext cx="457200" cy="256032"/>
          </a:xfrm>
          <a:prstGeom prst="rect">
            <a:avLst/>
          </a:prstGeom>
          <a:noFill/>
          <a:ln/>
        </p:spPr>
        <p:txBody>
          <a:bodyPr wrap="square" lIns="0" tIns="0" rIns="0" bIns="0" rtlCol="0" anchor="ctr"/>
          <a:lstStyle/>
          <a:p>
            <a:pPr indent="0" marL="0">
              <a:buNone/>
            </a:pPr>
            <a:r>
              <a:rPr lang="en-US" sz="1000" b="1" dirty="0">
                <a:solidFill>
                  <a:srgbClr val="334150"/>
                </a:solidFill>
                <a:latin typeface="Calibri" pitchFamily="34" charset="0"/>
                <a:ea typeface="Calibri" pitchFamily="34" charset="-122"/>
                <a:cs typeface="Calibri" pitchFamily="34" charset="-120"/>
              </a:rPr>
              <a:t>0.58</a:t>
            </a:r>
            <a:endParaRPr lang="en-US" sz="1000" dirty="0"/>
          </a:p>
        </p:txBody>
      </p:sp>
      <p:sp>
        <p:nvSpPr>
          <p:cNvPr id="59" name="Shape 54"/>
          <p:cNvSpPr/>
          <p:nvPr/>
        </p:nvSpPr>
        <p:spPr>
          <a:xfrm>
            <a:off x="457200" y="3886200"/>
            <a:ext cx="5541264" cy="274320"/>
          </a:xfrm>
          <a:prstGeom prst="rect">
            <a:avLst/>
          </a:prstGeom>
          <a:solidFill>
            <a:srgbClr val="2B5B80"/>
          </a:solidFill>
          <a:ln w="12700">
            <a:solidFill>
              <a:srgbClr val="2B5B80"/>
            </a:solidFill>
            <a:prstDash val="solid"/>
          </a:ln>
        </p:spPr>
      </p:sp>
      <p:sp>
        <p:nvSpPr>
          <p:cNvPr id="60" name="Text 55"/>
          <p:cNvSpPr txBox="1"/>
          <p:nvPr/>
        </p:nvSpPr>
        <p:spPr>
          <a:xfrm>
            <a:off x="548640"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Headline results</a:t>
            </a:r>
            <a:endParaRPr lang="en-US" sz="1100" dirty="0"/>
          </a:p>
        </p:txBody>
      </p:sp>
      <p:sp>
        <p:nvSpPr>
          <p:cNvPr id="61" name="Shape 56"/>
          <p:cNvSpPr/>
          <p:nvPr/>
        </p:nvSpPr>
        <p:spPr>
          <a:xfrm>
            <a:off x="457200" y="4224528"/>
            <a:ext cx="1783080" cy="1645920"/>
          </a:xfrm>
          <a:prstGeom prst="roundRect">
            <a:avLst>
              <a:gd name="adj" fmla="val 3333"/>
            </a:avLst>
          </a:prstGeom>
          <a:solidFill>
            <a:srgbClr val="F1F4F7"/>
          </a:solidFill>
          <a:ln w="12700">
            <a:solidFill>
              <a:srgbClr val="F1F4F7"/>
            </a:solidFill>
            <a:prstDash val="solid"/>
          </a:ln>
        </p:spPr>
      </p:sp>
      <p:sp>
        <p:nvSpPr>
          <p:cNvPr id="62" name="Shape 57"/>
          <p:cNvSpPr/>
          <p:nvPr/>
        </p:nvSpPr>
        <p:spPr>
          <a:xfrm>
            <a:off x="566928" y="4315968"/>
            <a:ext cx="402336" cy="402336"/>
          </a:xfrm>
          <a:prstGeom prst="ellipse">
            <a:avLst/>
          </a:prstGeom>
          <a:solidFill>
            <a:srgbClr val="143A5A"/>
          </a:solidFill>
          <a:ln w="12700">
            <a:solidFill>
              <a:srgbClr val="143A5A"/>
            </a:solidFill>
            <a:prstDash val="solid"/>
          </a:ln>
        </p:spPr>
      </p:sp>
      <p:pic>
        <p:nvPicPr>
          <p:cNvPr id="63" name="Image 3" descr="img/icons/target-white.png">    </p:cNvPr>
          <p:cNvPicPr>
            <a:picLocks noChangeAspect="1"/>
          </p:cNvPicPr>
          <p:nvPr/>
        </p:nvPicPr>
        <p:blipFill>
          <a:blip r:embed="rId4"/>
          <a:stretch>
            <a:fillRect/>
          </a:stretch>
        </p:blipFill>
        <p:spPr>
          <a:xfrm>
            <a:off x="655442" y="4404482"/>
            <a:ext cx="225308" cy="225308"/>
          </a:xfrm>
          <a:prstGeom prst="rect">
            <a:avLst/>
          </a:prstGeom>
        </p:spPr>
      </p:pic>
      <p:sp>
        <p:nvSpPr>
          <p:cNvPr id="64" name="Text 58"/>
          <p:cNvSpPr txBox="1"/>
          <p:nvPr/>
        </p:nvSpPr>
        <p:spPr>
          <a:xfrm>
            <a:off x="566928"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176 of 180</a:t>
            </a:r>
            <a:endParaRPr lang="en-US" sz="2000" dirty="0"/>
          </a:p>
        </p:txBody>
      </p:sp>
      <p:sp>
        <p:nvSpPr>
          <p:cNvPr id="65" name="Text 59"/>
          <p:cNvSpPr txBox="1"/>
          <p:nvPr/>
        </p:nvSpPr>
        <p:spPr>
          <a:xfrm>
            <a:off x="566928"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test images: the right defect type named</a:t>
            </a:r>
            <a:endParaRPr lang="en-US" sz="950" dirty="0"/>
          </a:p>
        </p:txBody>
      </p:sp>
      <p:sp>
        <p:nvSpPr>
          <p:cNvPr id="66" name="Shape 60"/>
          <p:cNvSpPr/>
          <p:nvPr/>
        </p:nvSpPr>
        <p:spPr>
          <a:xfrm>
            <a:off x="2336292" y="4224528"/>
            <a:ext cx="1783080" cy="1645920"/>
          </a:xfrm>
          <a:prstGeom prst="roundRect">
            <a:avLst>
              <a:gd name="adj" fmla="val 3333"/>
            </a:avLst>
          </a:prstGeom>
          <a:solidFill>
            <a:srgbClr val="F1F4F7"/>
          </a:solidFill>
          <a:ln w="12700">
            <a:solidFill>
              <a:srgbClr val="F1F4F7"/>
            </a:solidFill>
            <a:prstDash val="solid"/>
          </a:ln>
        </p:spPr>
      </p:sp>
      <p:sp>
        <p:nvSpPr>
          <p:cNvPr id="67" name="Shape 61"/>
          <p:cNvSpPr/>
          <p:nvPr/>
        </p:nvSpPr>
        <p:spPr>
          <a:xfrm>
            <a:off x="2446020" y="4315968"/>
            <a:ext cx="402336" cy="402336"/>
          </a:xfrm>
          <a:prstGeom prst="ellipse">
            <a:avLst/>
          </a:prstGeom>
          <a:solidFill>
            <a:srgbClr val="143A5A"/>
          </a:solidFill>
          <a:ln w="12700">
            <a:solidFill>
              <a:srgbClr val="143A5A"/>
            </a:solidFill>
            <a:prstDash val="solid"/>
          </a:ln>
        </p:spPr>
      </p:sp>
      <p:pic>
        <p:nvPicPr>
          <p:cNvPr id="68" name="Image 4" descr="img/icons/gauge-white.png">    </p:cNvPr>
          <p:cNvPicPr>
            <a:picLocks noChangeAspect="1"/>
          </p:cNvPicPr>
          <p:nvPr/>
        </p:nvPicPr>
        <p:blipFill>
          <a:blip r:embed="rId5"/>
          <a:stretch>
            <a:fillRect/>
          </a:stretch>
        </p:blipFill>
        <p:spPr>
          <a:xfrm>
            <a:off x="2534534" y="4404482"/>
            <a:ext cx="225308" cy="225308"/>
          </a:xfrm>
          <a:prstGeom prst="rect">
            <a:avLst/>
          </a:prstGeom>
        </p:spPr>
      </p:pic>
      <p:sp>
        <p:nvSpPr>
          <p:cNvPr id="69" name="Text 62"/>
          <p:cNvSpPr txBox="1"/>
          <p:nvPr/>
        </p:nvSpPr>
        <p:spPr>
          <a:xfrm>
            <a:off x="2446020"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27 ms</a:t>
            </a:r>
            <a:endParaRPr lang="en-US" sz="2000" dirty="0"/>
          </a:p>
        </p:txBody>
      </p:sp>
      <p:sp>
        <p:nvSpPr>
          <p:cNvPr id="70" name="Text 63"/>
          <p:cNvSpPr txBox="1"/>
          <p:nvPr/>
        </p:nvSpPr>
        <p:spPr>
          <a:xfrm>
            <a:off x="2446020"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per image, running in an ordinary laptop browser</a:t>
            </a:r>
            <a:endParaRPr lang="en-US" sz="950" dirty="0"/>
          </a:p>
        </p:txBody>
      </p:sp>
      <p:sp>
        <p:nvSpPr>
          <p:cNvPr id="71" name="Shape 64"/>
          <p:cNvSpPr/>
          <p:nvPr/>
        </p:nvSpPr>
        <p:spPr>
          <a:xfrm>
            <a:off x="4215384" y="4224528"/>
            <a:ext cx="1783080" cy="1645920"/>
          </a:xfrm>
          <a:prstGeom prst="roundRect">
            <a:avLst>
              <a:gd name="adj" fmla="val 3333"/>
            </a:avLst>
          </a:prstGeom>
          <a:solidFill>
            <a:srgbClr val="F1F4F7"/>
          </a:solidFill>
          <a:ln w="12700">
            <a:solidFill>
              <a:srgbClr val="F1F4F7"/>
            </a:solidFill>
            <a:prstDash val="solid"/>
          </a:ln>
        </p:spPr>
      </p:sp>
      <p:sp>
        <p:nvSpPr>
          <p:cNvPr id="72" name="Shape 65"/>
          <p:cNvSpPr/>
          <p:nvPr/>
        </p:nvSpPr>
        <p:spPr>
          <a:xfrm>
            <a:off x="4325112" y="4315968"/>
            <a:ext cx="402336" cy="402336"/>
          </a:xfrm>
          <a:prstGeom prst="ellipse">
            <a:avLst/>
          </a:prstGeom>
          <a:solidFill>
            <a:srgbClr val="143A5A"/>
          </a:solidFill>
          <a:ln w="12700">
            <a:solidFill>
              <a:srgbClr val="143A5A"/>
            </a:solidFill>
            <a:prstDash val="solid"/>
          </a:ln>
        </p:spPr>
      </p:sp>
      <p:pic>
        <p:nvPicPr>
          <p:cNvPr id="73" name="Image 5" descr="img/icons/archive-white.png">    </p:cNvPr>
          <p:cNvPicPr>
            <a:picLocks noChangeAspect="1"/>
          </p:cNvPicPr>
          <p:nvPr/>
        </p:nvPicPr>
        <p:blipFill>
          <a:blip r:embed="rId6"/>
          <a:stretch>
            <a:fillRect/>
          </a:stretch>
        </p:blipFill>
        <p:spPr>
          <a:xfrm>
            <a:off x="4413626" y="4404482"/>
            <a:ext cx="225308" cy="225308"/>
          </a:xfrm>
          <a:prstGeom prst="rect">
            <a:avLst/>
          </a:prstGeom>
        </p:spPr>
      </p:pic>
      <p:sp>
        <p:nvSpPr>
          <p:cNvPr id="74" name="Text 66"/>
          <p:cNvSpPr txBox="1"/>
          <p:nvPr/>
        </p:nvSpPr>
        <p:spPr>
          <a:xfrm>
            <a:off x="4325112"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~10,100</a:t>
            </a:r>
            <a:endParaRPr lang="en-US" sz="2000" dirty="0"/>
          </a:p>
        </p:txBody>
      </p:sp>
      <p:sp>
        <p:nvSpPr>
          <p:cNvPr id="75" name="Text 67"/>
          <p:cNvSpPr txBox="1"/>
          <p:nvPr/>
        </p:nvSpPr>
        <p:spPr>
          <a:xfrm>
            <a:off x="4325112"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images across three datasets, for training and testing</a:t>
            </a:r>
            <a:endParaRPr lang="en-US" sz="950" dirty="0"/>
          </a:p>
        </p:txBody>
      </p:sp>
      <p:sp>
        <p:nvSpPr>
          <p:cNvPr id="76" name="Shape 68"/>
          <p:cNvSpPr/>
          <p:nvPr/>
        </p:nvSpPr>
        <p:spPr>
          <a:xfrm>
            <a:off x="6190488" y="3886200"/>
            <a:ext cx="5541264" cy="274320"/>
          </a:xfrm>
          <a:prstGeom prst="rect">
            <a:avLst/>
          </a:prstGeom>
          <a:solidFill>
            <a:srgbClr val="2B5B80"/>
          </a:solidFill>
          <a:ln w="12700">
            <a:solidFill>
              <a:srgbClr val="2B5B80"/>
            </a:solidFill>
            <a:prstDash val="solid"/>
          </a:ln>
        </p:spPr>
      </p:sp>
      <p:sp>
        <p:nvSpPr>
          <p:cNvPr id="77" name="Text 69"/>
          <p:cNvSpPr txBox="1"/>
          <p:nvPr/>
        </p:nvSpPr>
        <p:spPr>
          <a:xfrm>
            <a:off x="6281928"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Known weak spots, and the fix for each</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90488" y="4224528"/>
          <a:ext cx="5541264" cy="914400"/>
        </p:xfrm>
        <a:graphic>
          <a:graphicData uri="http://schemas.openxmlformats.org/drawingml/2006/table">
            <a:tbl>
              <a:tblPr/>
              <a:tblGrid>
                <a:gridCol w="2514600"/>
                <a:gridCol w="960120"/>
                <a:gridCol w="2066544"/>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Weak spot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Today (0-1)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Fix in the pilot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Low-contrast texture: crazing, rolled-in scale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B77900"/>
                          </a:solidFill>
                          <a:latin typeface="Calibri" pitchFamily="34" charset="0"/>
                          <a:ea typeface="Calibri" pitchFamily="34" charset="-122"/>
                          <a:cs typeface="Calibri" pitchFamily="34" charset="-120"/>
                        </a:rPr>
                        <a:t>0.59-0.60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Angled lighting; JSL labels in 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Real mill frames are harder than the benchmark</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B77900"/>
                          </a:solidFill>
                          <a:latin typeface="Calibri" pitchFamily="34" charset="0"/>
                          <a:ea typeface="Calibri" pitchFamily="34" charset="-122"/>
                          <a:cs typeface="Calibri" pitchFamily="34" charset="-120"/>
                        </a:rPr>
                        <a:t>0.46 vs 0.76</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Train on JSL's own strip in 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Roll marks and edge cracks: few examples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0.20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cameras; targeted labelling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143A5A"/>
          </a:solidFill>
          <a:ln w="12700">
            <a:solidFill>
              <a:srgbClr val="143A5A"/>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Seven months to shadow mode on one line, and nothing touches the mill until trust is earned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Commit ₹2.5-4.2 cr and one line for seven months. The month-7 go/no-go is decided on JSL's own alarm and recall numbers.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Costs are team estimates for a 1.3-1.6 m line inspected on both faces, at INR 95.8/USD, to be replaced by vendor quotes in P0. KPI targets to be agreed with JSL Quality in P0.</a:t>
            </a:r>
            <a:endParaRPr lang="en-US" sz="900" dirty="0"/>
          </a:p>
        </p:txBody>
      </p:sp>
      <p:sp>
        <p:nvSpPr>
          <p:cNvPr id="17" name="Shape 15"/>
          <p:cNvSpPr/>
          <p:nvPr/>
        </p:nvSpPr>
        <p:spPr>
          <a:xfrm>
            <a:off x="457200" y="1234440"/>
            <a:ext cx="71780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6995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Stage-gate roadmap (months)</a:t>
            </a:r>
            <a:endParaRPr lang="en-US" sz="1100" dirty="0"/>
          </a:p>
        </p:txBody>
      </p:sp>
      <p:sp>
        <p:nvSpPr>
          <p:cNvPr id="19" name="Text 17"/>
          <p:cNvSpPr txBox="1"/>
          <p:nvPr/>
        </p:nvSpPr>
        <p:spPr>
          <a:xfrm>
            <a:off x="233172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m0</a:t>
            </a:r>
            <a:endParaRPr lang="en-US" sz="900" dirty="0"/>
          </a:p>
        </p:txBody>
      </p:sp>
      <p:sp>
        <p:nvSpPr>
          <p:cNvPr id="20" name="Text 18"/>
          <p:cNvSpPr txBox="1"/>
          <p:nvPr/>
        </p:nvSpPr>
        <p:spPr>
          <a:xfrm>
            <a:off x="2980944"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m4</a:t>
            </a:r>
            <a:endParaRPr lang="en-US" sz="900" dirty="0"/>
          </a:p>
        </p:txBody>
      </p:sp>
      <p:sp>
        <p:nvSpPr>
          <p:cNvPr id="21" name="Text 19"/>
          <p:cNvSpPr txBox="1"/>
          <p:nvPr/>
        </p:nvSpPr>
        <p:spPr>
          <a:xfrm>
            <a:off x="3630168"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m8</a:t>
            </a:r>
            <a:endParaRPr lang="en-US" sz="900" dirty="0"/>
          </a:p>
        </p:txBody>
      </p:sp>
      <p:sp>
        <p:nvSpPr>
          <p:cNvPr id="22" name="Text 20"/>
          <p:cNvSpPr txBox="1"/>
          <p:nvPr/>
        </p:nvSpPr>
        <p:spPr>
          <a:xfrm>
            <a:off x="4279392"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m12</a:t>
            </a:r>
            <a:endParaRPr lang="en-US" sz="900" dirty="0"/>
          </a:p>
        </p:txBody>
      </p:sp>
      <p:sp>
        <p:nvSpPr>
          <p:cNvPr id="23" name="Text 21"/>
          <p:cNvSpPr txBox="1"/>
          <p:nvPr/>
        </p:nvSpPr>
        <p:spPr>
          <a:xfrm>
            <a:off x="4928616"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m16</a:t>
            </a:r>
            <a:endParaRPr lang="en-US" sz="900" dirty="0"/>
          </a:p>
        </p:txBody>
      </p:sp>
      <p:sp>
        <p:nvSpPr>
          <p:cNvPr id="24" name="Text 22"/>
          <p:cNvSpPr txBox="1"/>
          <p:nvPr/>
        </p:nvSpPr>
        <p:spPr>
          <a:xfrm>
            <a:off x="557784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m20</a:t>
            </a:r>
            <a:endParaRPr lang="en-US" sz="900" dirty="0"/>
          </a:p>
        </p:txBody>
      </p:sp>
      <p:sp>
        <p:nvSpPr>
          <p:cNvPr id="25" name="Text 23"/>
          <p:cNvSpPr txBox="1"/>
          <p:nvPr/>
        </p:nvSpPr>
        <p:spPr>
          <a:xfrm>
            <a:off x="5943600" y="1554480"/>
            <a:ext cx="1645920" cy="182880"/>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EXIT GATE</a:t>
            </a:r>
            <a:endParaRPr lang="en-US" sz="900" dirty="0"/>
          </a:p>
        </p:txBody>
      </p:sp>
      <p:sp>
        <p:nvSpPr>
          <p:cNvPr id="26" name="Text 24"/>
          <p:cNvSpPr txBox="1"/>
          <p:nvPr/>
        </p:nvSpPr>
        <p:spPr>
          <a:xfrm>
            <a:off x="530352" y="1783080"/>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P0</a:t>
            </a:r>
            <a:endParaRPr lang="en-US" sz="1100" dirty="0"/>
          </a:p>
        </p:txBody>
      </p:sp>
      <p:sp>
        <p:nvSpPr>
          <p:cNvPr id="27" name="Text 25"/>
          <p:cNvSpPr txBox="1"/>
          <p:nvPr/>
        </p:nvSpPr>
        <p:spPr>
          <a:xfrm>
            <a:off x="850392" y="1783080"/>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Instrument one line</a:t>
            </a:r>
            <a:endParaRPr lang="en-US" sz="950" dirty="0"/>
          </a:p>
        </p:txBody>
      </p:sp>
      <p:sp>
        <p:nvSpPr>
          <p:cNvPr id="28" name="Shape 26"/>
          <p:cNvSpPr/>
          <p:nvPr/>
        </p:nvSpPr>
        <p:spPr>
          <a:xfrm>
            <a:off x="2514600" y="1847088"/>
            <a:ext cx="3246120" cy="182880"/>
          </a:xfrm>
          <a:prstGeom prst="rect">
            <a:avLst/>
          </a:prstGeom>
          <a:solidFill>
            <a:srgbClr val="F1F4F7"/>
          </a:solidFill>
          <a:ln w="12700">
            <a:solidFill>
              <a:srgbClr val="F1F4F7"/>
            </a:solidFill>
            <a:prstDash val="solid"/>
          </a:ln>
        </p:spPr>
      </p:sp>
      <p:sp>
        <p:nvSpPr>
          <p:cNvPr id="29" name="Shape 27"/>
          <p:cNvSpPr/>
          <p:nvPr/>
        </p:nvSpPr>
        <p:spPr>
          <a:xfrm>
            <a:off x="2514600" y="1847088"/>
            <a:ext cx="243459" cy="182880"/>
          </a:xfrm>
          <a:prstGeom prst="rect">
            <a:avLst/>
          </a:prstGeom>
          <a:solidFill>
            <a:srgbClr val="0086C3"/>
          </a:solidFill>
          <a:ln w="12700">
            <a:solidFill>
              <a:srgbClr val="0086C3"/>
            </a:solidFill>
            <a:prstDash val="solid"/>
          </a:ln>
        </p:spPr>
      </p:sp>
      <p:sp>
        <p:nvSpPr>
          <p:cNvPr id="30" name="Text 28"/>
          <p:cNvSpPr txBox="1"/>
          <p:nvPr/>
        </p:nvSpPr>
        <p:spPr>
          <a:xfrm>
            <a:off x="5943600" y="1783080"/>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Resolution and grade matrix fixed</a:t>
            </a:r>
            <a:endParaRPr lang="en-US" sz="900" dirty="0"/>
          </a:p>
        </p:txBody>
      </p:sp>
      <p:sp>
        <p:nvSpPr>
          <p:cNvPr id="31" name="Text 29"/>
          <p:cNvSpPr txBox="1"/>
          <p:nvPr/>
        </p:nvSpPr>
        <p:spPr>
          <a:xfrm>
            <a:off x="530352" y="2130552"/>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P1</a:t>
            </a:r>
            <a:endParaRPr lang="en-US" sz="1100" dirty="0"/>
          </a:p>
        </p:txBody>
      </p:sp>
      <p:sp>
        <p:nvSpPr>
          <p:cNvPr id="32" name="Text 30"/>
          <p:cNvSpPr txBox="1"/>
          <p:nvPr/>
        </p:nvSpPr>
        <p:spPr>
          <a:xfrm>
            <a:off x="850392" y="2130552"/>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Train on JSL strip</a:t>
            </a:r>
            <a:endParaRPr lang="en-US" sz="950" dirty="0"/>
          </a:p>
        </p:txBody>
      </p:sp>
      <p:sp>
        <p:nvSpPr>
          <p:cNvPr id="33" name="Shape 31"/>
          <p:cNvSpPr/>
          <p:nvPr/>
        </p:nvSpPr>
        <p:spPr>
          <a:xfrm>
            <a:off x="2514600" y="2194560"/>
            <a:ext cx="3246120" cy="182880"/>
          </a:xfrm>
          <a:prstGeom prst="rect">
            <a:avLst/>
          </a:prstGeom>
          <a:solidFill>
            <a:srgbClr val="F1F4F7"/>
          </a:solidFill>
          <a:ln w="12700">
            <a:solidFill>
              <a:srgbClr val="F1F4F7"/>
            </a:solidFill>
            <a:prstDash val="solid"/>
          </a:ln>
        </p:spPr>
      </p:sp>
      <p:sp>
        <p:nvSpPr>
          <p:cNvPr id="34" name="Shape 32"/>
          <p:cNvSpPr/>
          <p:nvPr/>
        </p:nvSpPr>
        <p:spPr>
          <a:xfrm>
            <a:off x="2758059" y="2194560"/>
            <a:ext cx="405765" cy="182880"/>
          </a:xfrm>
          <a:prstGeom prst="rect">
            <a:avLst/>
          </a:prstGeom>
          <a:solidFill>
            <a:srgbClr val="0086C3"/>
          </a:solidFill>
          <a:ln w="12700">
            <a:solidFill>
              <a:srgbClr val="0086C3"/>
            </a:solidFill>
            <a:prstDash val="solid"/>
          </a:ln>
        </p:spPr>
      </p:sp>
      <p:sp>
        <p:nvSpPr>
          <p:cNvPr id="35" name="Text 33"/>
          <p:cNvSpPr txBox="1"/>
          <p:nvPr/>
        </p:nvSpPr>
        <p:spPr>
          <a:xfrm>
            <a:off x="5943600" y="2130552"/>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Clean alarms ≤ 25%, recall ≥ 90%</a:t>
            </a:r>
            <a:endParaRPr lang="en-US" sz="900" dirty="0"/>
          </a:p>
        </p:txBody>
      </p:sp>
      <p:sp>
        <p:nvSpPr>
          <p:cNvPr id="36" name="Text 34"/>
          <p:cNvSpPr txBox="1"/>
          <p:nvPr/>
        </p:nvSpPr>
        <p:spPr>
          <a:xfrm>
            <a:off x="530352" y="2478024"/>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P2</a:t>
            </a:r>
            <a:endParaRPr lang="en-US" sz="1100" dirty="0"/>
          </a:p>
        </p:txBody>
      </p:sp>
      <p:sp>
        <p:nvSpPr>
          <p:cNvPr id="37" name="Text 35"/>
          <p:cNvSpPr txBox="1"/>
          <p:nvPr/>
        </p:nvSpPr>
        <p:spPr>
          <a:xfrm>
            <a:off x="850392" y="2478024"/>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Shadow mode: advises only</a:t>
            </a:r>
            <a:endParaRPr lang="en-US" sz="950" dirty="0"/>
          </a:p>
        </p:txBody>
      </p:sp>
      <p:sp>
        <p:nvSpPr>
          <p:cNvPr id="38" name="Shape 36"/>
          <p:cNvSpPr/>
          <p:nvPr/>
        </p:nvSpPr>
        <p:spPr>
          <a:xfrm>
            <a:off x="2514600" y="2542032"/>
            <a:ext cx="3246120" cy="182880"/>
          </a:xfrm>
          <a:prstGeom prst="rect">
            <a:avLst/>
          </a:prstGeom>
          <a:solidFill>
            <a:srgbClr val="F1F4F7"/>
          </a:solidFill>
          <a:ln w="12700">
            <a:solidFill>
              <a:srgbClr val="F1F4F7"/>
            </a:solidFill>
            <a:prstDash val="solid"/>
          </a:ln>
        </p:spPr>
      </p:sp>
      <p:sp>
        <p:nvSpPr>
          <p:cNvPr id="39" name="Shape 37"/>
          <p:cNvSpPr/>
          <p:nvPr/>
        </p:nvSpPr>
        <p:spPr>
          <a:xfrm>
            <a:off x="3163824" y="2542032"/>
            <a:ext cx="486918" cy="182880"/>
          </a:xfrm>
          <a:prstGeom prst="rect">
            <a:avLst/>
          </a:prstGeom>
          <a:solidFill>
            <a:srgbClr val="0086C3"/>
          </a:solidFill>
          <a:ln w="12700">
            <a:solidFill>
              <a:srgbClr val="0086C3"/>
            </a:solidFill>
            <a:prstDash val="solid"/>
          </a:ln>
        </p:spPr>
      </p:sp>
      <p:sp>
        <p:nvSpPr>
          <p:cNvPr id="40" name="Text 38"/>
          <p:cNvSpPr txBox="1"/>
          <p:nvPr/>
        </p:nvSpPr>
        <p:spPr>
          <a:xfrm>
            <a:off x="5943600" y="2478024"/>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 90% operator agreement</a:t>
            </a:r>
            <a:endParaRPr lang="en-US" sz="900" dirty="0"/>
          </a:p>
        </p:txBody>
      </p:sp>
      <p:sp>
        <p:nvSpPr>
          <p:cNvPr id="41" name="Text 39"/>
          <p:cNvSpPr txBox="1"/>
          <p:nvPr/>
        </p:nvSpPr>
        <p:spPr>
          <a:xfrm>
            <a:off x="530352" y="2825496"/>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P3</a:t>
            </a:r>
            <a:endParaRPr lang="en-US" sz="1100" dirty="0"/>
          </a:p>
        </p:txBody>
      </p:sp>
      <p:sp>
        <p:nvSpPr>
          <p:cNvPr id="42" name="Text 40"/>
          <p:cNvSpPr txBox="1"/>
          <p:nvPr/>
        </p:nvSpPr>
        <p:spPr>
          <a:xfrm>
            <a:off x="850392" y="2825496"/>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Auto-hold on severe defects</a:t>
            </a:r>
            <a:endParaRPr lang="en-US" sz="950" dirty="0"/>
          </a:p>
        </p:txBody>
      </p:sp>
      <p:sp>
        <p:nvSpPr>
          <p:cNvPr id="43" name="Shape 41"/>
          <p:cNvSpPr/>
          <p:nvPr/>
        </p:nvSpPr>
        <p:spPr>
          <a:xfrm>
            <a:off x="2514600" y="2889504"/>
            <a:ext cx="3246120" cy="182880"/>
          </a:xfrm>
          <a:prstGeom prst="rect">
            <a:avLst/>
          </a:prstGeom>
          <a:solidFill>
            <a:srgbClr val="F1F4F7"/>
          </a:solidFill>
          <a:ln w="12700">
            <a:solidFill>
              <a:srgbClr val="F1F4F7"/>
            </a:solidFill>
            <a:prstDash val="solid"/>
          </a:ln>
        </p:spPr>
      </p:sp>
      <p:sp>
        <p:nvSpPr>
          <p:cNvPr id="44" name="Shape 42"/>
          <p:cNvSpPr/>
          <p:nvPr/>
        </p:nvSpPr>
        <p:spPr>
          <a:xfrm>
            <a:off x="3650742" y="2889504"/>
            <a:ext cx="811530" cy="182880"/>
          </a:xfrm>
          <a:prstGeom prst="rect">
            <a:avLst/>
          </a:prstGeom>
          <a:solidFill>
            <a:srgbClr val="2B5B80"/>
          </a:solidFill>
          <a:ln w="12700">
            <a:solidFill>
              <a:srgbClr val="2B5B80"/>
            </a:solidFill>
            <a:prstDash val="solid"/>
          </a:ln>
        </p:spPr>
      </p:sp>
      <p:sp>
        <p:nvSpPr>
          <p:cNvPr id="45" name="Text 43"/>
          <p:cNvSpPr txBox="1"/>
          <p:nvPr/>
        </p:nvSpPr>
        <p:spPr>
          <a:xfrm>
            <a:off x="5943600" y="2825496"/>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Holds trusted; downgrade measured</a:t>
            </a:r>
            <a:endParaRPr lang="en-US" sz="900" dirty="0"/>
          </a:p>
        </p:txBody>
      </p:sp>
      <p:sp>
        <p:nvSpPr>
          <p:cNvPr id="46" name="Text 44"/>
          <p:cNvSpPr txBox="1"/>
          <p:nvPr/>
        </p:nvSpPr>
        <p:spPr>
          <a:xfrm>
            <a:off x="530352" y="3172968"/>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P4</a:t>
            </a:r>
            <a:endParaRPr lang="en-US" sz="1100" dirty="0"/>
          </a:p>
        </p:txBody>
      </p:sp>
      <p:sp>
        <p:nvSpPr>
          <p:cNvPr id="47" name="Text 45"/>
          <p:cNvSpPr txBox="1"/>
          <p:nvPr/>
        </p:nvSpPr>
        <p:spPr>
          <a:xfrm>
            <a:off x="850392" y="3172968"/>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Second line and grade</a:t>
            </a:r>
            <a:endParaRPr lang="en-US" sz="950" dirty="0"/>
          </a:p>
        </p:txBody>
      </p:sp>
      <p:sp>
        <p:nvSpPr>
          <p:cNvPr id="48" name="Shape 46"/>
          <p:cNvSpPr/>
          <p:nvPr/>
        </p:nvSpPr>
        <p:spPr>
          <a:xfrm>
            <a:off x="2514600" y="3236976"/>
            <a:ext cx="3246120" cy="182880"/>
          </a:xfrm>
          <a:prstGeom prst="rect">
            <a:avLst/>
          </a:prstGeom>
          <a:solidFill>
            <a:srgbClr val="F1F4F7"/>
          </a:solidFill>
          <a:ln w="12700">
            <a:solidFill>
              <a:srgbClr val="F1F4F7"/>
            </a:solidFill>
            <a:prstDash val="solid"/>
          </a:ln>
        </p:spPr>
      </p:sp>
      <p:sp>
        <p:nvSpPr>
          <p:cNvPr id="49" name="Shape 47"/>
          <p:cNvSpPr/>
          <p:nvPr/>
        </p:nvSpPr>
        <p:spPr>
          <a:xfrm>
            <a:off x="4462272" y="3236976"/>
            <a:ext cx="1298448" cy="182880"/>
          </a:xfrm>
          <a:prstGeom prst="rect">
            <a:avLst/>
          </a:prstGeom>
          <a:solidFill>
            <a:srgbClr val="2B5B80"/>
          </a:solidFill>
          <a:ln w="12700">
            <a:solidFill>
              <a:srgbClr val="2B5B80"/>
            </a:solidFill>
            <a:prstDash val="solid"/>
          </a:ln>
        </p:spPr>
      </p:sp>
      <p:sp>
        <p:nvSpPr>
          <p:cNvPr id="50" name="Text 48"/>
          <p:cNvSpPr txBox="1"/>
          <p:nvPr/>
        </p:nvSpPr>
        <p:spPr>
          <a:xfrm>
            <a:off x="5943600" y="3172968"/>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Fleet decision on real payback</a:t>
            </a:r>
            <a:endParaRPr lang="en-US" sz="900" dirty="0"/>
          </a:p>
        </p:txBody>
      </p:sp>
      <p:sp>
        <p:nvSpPr>
          <p:cNvPr id="51" name="Shape 49"/>
          <p:cNvSpPr/>
          <p:nvPr/>
        </p:nvSpPr>
        <p:spPr>
          <a:xfrm>
            <a:off x="3641598" y="1755648"/>
            <a:ext cx="22860" cy="1737360"/>
          </a:xfrm>
          <a:prstGeom prst="rect">
            <a:avLst/>
          </a:prstGeom>
          <a:solidFill>
            <a:srgbClr val="C62828"/>
          </a:solidFill>
          <a:ln w="12700">
            <a:solidFill>
              <a:srgbClr val="C62828"/>
            </a:solidFill>
            <a:prstDash val="solid"/>
          </a:ln>
        </p:spPr>
      </p:sp>
      <p:sp>
        <p:nvSpPr>
          <p:cNvPr id="52" name="Text 50"/>
          <p:cNvSpPr txBox="1"/>
          <p:nvPr/>
        </p:nvSpPr>
        <p:spPr>
          <a:xfrm>
            <a:off x="3056382" y="3502152"/>
            <a:ext cx="1188720" cy="182880"/>
          </a:xfrm>
          <a:prstGeom prst="rect">
            <a:avLst/>
          </a:prstGeom>
          <a:noFill/>
          <a:ln/>
        </p:spPr>
        <p:txBody>
          <a:bodyPr wrap="square" lIns="0" tIns="0" rIns="0" bIns="0" rtlCol="0" anchor="t"/>
          <a:lstStyle/>
          <a:p>
            <a:pPr indent="0" marL="0">
              <a:buNone/>
            </a:pPr>
            <a:r>
              <a:rPr lang="en-US" sz="900" b="1" dirty="0">
                <a:solidFill>
                  <a:srgbClr val="C62828"/>
                </a:solidFill>
                <a:latin typeface="Calibri" pitchFamily="34" charset="0"/>
                <a:ea typeface="Calibri" pitchFamily="34" charset="-122"/>
                <a:cs typeface="Calibri" pitchFamily="34" charset="-120"/>
              </a:rPr>
              <a:t>pilot go / no-go</a:t>
            </a:r>
            <a:endParaRPr lang="en-US" sz="900" dirty="0"/>
          </a:p>
        </p:txBody>
      </p:sp>
      <p:sp>
        <p:nvSpPr>
          <p:cNvPr id="53" name="Shape 51"/>
          <p:cNvSpPr/>
          <p:nvPr/>
        </p:nvSpPr>
        <p:spPr>
          <a:xfrm>
            <a:off x="7863840" y="1234440"/>
            <a:ext cx="3867912" cy="274320"/>
          </a:xfrm>
          <a:prstGeom prst="rect">
            <a:avLst/>
          </a:prstGeom>
          <a:solidFill>
            <a:srgbClr val="2B5B80"/>
          </a:solidFill>
          <a:ln w="12700">
            <a:solidFill>
              <a:srgbClr val="2B5B80"/>
            </a:solidFill>
            <a:prstDash val="solid"/>
          </a:ln>
        </p:spPr>
      </p:sp>
      <p:sp>
        <p:nvSpPr>
          <p:cNvPr id="54" name="Text 52"/>
          <p:cNvSpPr txBox="1"/>
          <p:nvPr/>
        </p:nvSpPr>
        <p:spPr>
          <a:xfrm>
            <a:off x="7955280" y="1234440"/>
            <a:ext cx="36850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per line, estimated</a:t>
            </a:r>
            <a:endParaRPr lang="en-US" sz="1100" dirty="0"/>
          </a:p>
        </p:txBody>
      </p:sp>
      <p:graphicFrame>
        <p:nvGraphicFramePr>
          <p:cNvPr id="55" name="Chart 0" descr=""/>
          <p:cNvGraphicFramePr/>
          <p:nvPr/>
        </p:nvGraphicFramePr>
        <p:xfrm>
          <a:off x="7863840" y="1554480"/>
          <a:ext cx="1783080" cy="1783080"/>
        </p:xfrm>
        <a:graphic xmlns:a="http://schemas.openxmlformats.org/drawingml/2006/main">
          <a:graphicData uri="http://schemas.openxmlformats.org/drawingml/2006/chart">
            <c:chart xmlns:c="http://schemas.openxmlformats.org/drawingml/2006/chart" r:id="rId1"/>
          </a:graphicData>
        </a:graphic>
      </p:graphicFrame>
      <p:sp>
        <p:nvSpPr>
          <p:cNvPr id="56" name="Text 53"/>
          <p:cNvSpPr txBox="1"/>
          <p:nvPr/>
        </p:nvSpPr>
        <p:spPr>
          <a:xfrm>
            <a:off x="8092440" y="2176272"/>
            <a:ext cx="1325880" cy="548640"/>
          </a:xfrm>
          <a:prstGeom prst="rect">
            <a:avLst/>
          </a:prstGeom>
          <a:noFill/>
          <a:ln/>
        </p:spPr>
        <p:txBody>
          <a:bodyPr wrap="square" lIns="0" tIns="0" rIns="0" bIns="0" rtlCol="0" anchor="ctr"/>
          <a:lstStyle/>
          <a:p>
            <a:pPr algn="ctr" indent="0" marL="0">
              <a:buNone/>
            </a:pPr>
            <a:r>
              <a:rPr lang="en-US" sz="1300" b="1" dirty="0">
                <a:solidFill>
                  <a:srgbClr val="143A5A"/>
                </a:solidFill>
                <a:latin typeface="Calibri" pitchFamily="34" charset="0"/>
                <a:ea typeface="Calibri" pitchFamily="34" charset="-122"/>
                <a:cs typeface="Calibri" pitchFamily="34" charset="-120"/>
              </a:rPr>
              <a:t>₹2.5-4.2</a:t>
            </a:r>
            <a:pPr algn="ctr" indent="0" marL="0">
              <a:buNone/>
            </a:pPr>
            <a:endParaRPr lang="en-US" sz="1000" dirty="0"/>
          </a:p>
          <a:p>
            <a:pPr algn="ctr" indent="0" marL="0">
              <a:buNone/>
            </a:pPr>
            <a:r>
              <a:rPr lang="en-US" sz="900" dirty="0">
                <a:solidFill>
                  <a:srgbClr val="5F6B78"/>
                </a:solidFill>
                <a:latin typeface="Calibri" pitchFamily="34" charset="0"/>
                <a:ea typeface="Calibri" pitchFamily="34" charset="-122"/>
                <a:cs typeface="Calibri" pitchFamily="34" charset="-120"/>
              </a:rPr>
              <a:t>cr per line</a:t>
            </a:r>
            <a:endParaRPr lang="en-US" sz="1000" dirty="0"/>
          </a:p>
        </p:txBody>
      </p:sp>
      <p:sp>
        <p:nvSpPr>
          <p:cNvPr id="57" name="Shape 54"/>
          <p:cNvSpPr/>
          <p:nvPr/>
        </p:nvSpPr>
        <p:spPr>
          <a:xfrm>
            <a:off x="9738360" y="1746504"/>
            <a:ext cx="146304" cy="146304"/>
          </a:xfrm>
          <a:prstGeom prst="rect">
            <a:avLst/>
          </a:prstGeom>
          <a:solidFill>
            <a:srgbClr val="143A5A"/>
          </a:solidFill>
          <a:ln w="12700">
            <a:solidFill>
              <a:srgbClr val="143A5A"/>
            </a:solidFill>
            <a:prstDash val="solid"/>
          </a:ln>
        </p:spPr>
      </p:sp>
      <p:sp>
        <p:nvSpPr>
          <p:cNvPr id="58" name="Text 55"/>
          <p:cNvSpPr txBox="1"/>
          <p:nvPr/>
        </p:nvSpPr>
        <p:spPr>
          <a:xfrm>
            <a:off x="9948672" y="167335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Cameras &amp; lighting</a:t>
            </a:r>
            <a:endParaRPr lang="en-US" sz="900" dirty="0"/>
          </a:p>
        </p:txBody>
      </p:sp>
      <p:sp>
        <p:nvSpPr>
          <p:cNvPr id="59" name="Text 56"/>
          <p:cNvSpPr txBox="1"/>
          <p:nvPr/>
        </p:nvSpPr>
        <p:spPr>
          <a:xfrm>
            <a:off x="9948672" y="183794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₹85-145 L</a:t>
            </a:r>
            <a:endParaRPr lang="en-US" sz="900" dirty="0"/>
          </a:p>
        </p:txBody>
      </p:sp>
      <p:sp>
        <p:nvSpPr>
          <p:cNvPr id="60" name="Shape 57"/>
          <p:cNvSpPr/>
          <p:nvPr/>
        </p:nvSpPr>
        <p:spPr>
          <a:xfrm>
            <a:off x="9738360" y="2112264"/>
            <a:ext cx="146304" cy="146304"/>
          </a:xfrm>
          <a:prstGeom prst="rect">
            <a:avLst/>
          </a:prstGeom>
          <a:solidFill>
            <a:srgbClr val="1F6FA8"/>
          </a:solidFill>
          <a:ln w="12700">
            <a:solidFill>
              <a:srgbClr val="1F6FA8"/>
            </a:solidFill>
            <a:prstDash val="solid"/>
          </a:ln>
        </p:spPr>
      </p:sp>
      <p:sp>
        <p:nvSpPr>
          <p:cNvPr id="61" name="Text 58"/>
          <p:cNvSpPr txBox="1"/>
          <p:nvPr/>
        </p:nvSpPr>
        <p:spPr>
          <a:xfrm>
            <a:off x="9948672" y="203911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Installation &amp; integration</a:t>
            </a:r>
            <a:endParaRPr lang="en-US" sz="900" dirty="0"/>
          </a:p>
        </p:txBody>
      </p:sp>
      <p:sp>
        <p:nvSpPr>
          <p:cNvPr id="62" name="Text 59"/>
          <p:cNvSpPr txBox="1"/>
          <p:nvPr/>
        </p:nvSpPr>
        <p:spPr>
          <a:xfrm>
            <a:off x="9948672" y="220370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₹90-150 L</a:t>
            </a:r>
            <a:endParaRPr lang="en-US" sz="900" dirty="0"/>
          </a:p>
        </p:txBody>
      </p:sp>
      <p:sp>
        <p:nvSpPr>
          <p:cNvPr id="63" name="Shape 60"/>
          <p:cNvSpPr/>
          <p:nvPr/>
        </p:nvSpPr>
        <p:spPr>
          <a:xfrm>
            <a:off x="9738360" y="2478024"/>
            <a:ext cx="146304" cy="146304"/>
          </a:xfrm>
          <a:prstGeom prst="rect">
            <a:avLst/>
          </a:prstGeom>
          <a:solidFill>
            <a:srgbClr val="5E9CCB"/>
          </a:solidFill>
          <a:ln w="12700">
            <a:solidFill>
              <a:srgbClr val="5E9CCB"/>
            </a:solidFill>
            <a:prstDash val="solid"/>
          </a:ln>
        </p:spPr>
      </p:sp>
      <p:sp>
        <p:nvSpPr>
          <p:cNvPr id="64" name="Text 61"/>
          <p:cNvSpPr txBox="1"/>
          <p:nvPr/>
        </p:nvSpPr>
        <p:spPr>
          <a:xfrm>
            <a:off x="9948672" y="240487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Computing hardware</a:t>
            </a:r>
            <a:endParaRPr lang="en-US" sz="900" dirty="0"/>
          </a:p>
        </p:txBody>
      </p:sp>
      <p:sp>
        <p:nvSpPr>
          <p:cNvPr id="65" name="Text 62"/>
          <p:cNvSpPr txBox="1"/>
          <p:nvPr/>
        </p:nvSpPr>
        <p:spPr>
          <a:xfrm>
            <a:off x="9948672" y="256946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₹45-75 L</a:t>
            </a:r>
            <a:endParaRPr lang="en-US" sz="900" dirty="0"/>
          </a:p>
        </p:txBody>
      </p:sp>
      <p:sp>
        <p:nvSpPr>
          <p:cNvPr id="66" name="Shape 63"/>
          <p:cNvSpPr/>
          <p:nvPr/>
        </p:nvSpPr>
        <p:spPr>
          <a:xfrm>
            <a:off x="9738360" y="2843784"/>
            <a:ext cx="146304" cy="146304"/>
          </a:xfrm>
          <a:prstGeom prst="rect">
            <a:avLst/>
          </a:prstGeom>
          <a:solidFill>
            <a:srgbClr val="A9CBE6"/>
          </a:solidFill>
          <a:ln w="12700">
            <a:solidFill>
              <a:srgbClr val="A9CBE6"/>
            </a:solidFill>
            <a:prstDash val="solid"/>
          </a:ln>
        </p:spPr>
      </p:sp>
      <p:sp>
        <p:nvSpPr>
          <p:cNvPr id="67" name="Text 64"/>
          <p:cNvSpPr txBox="1"/>
          <p:nvPr/>
        </p:nvSpPr>
        <p:spPr>
          <a:xfrm>
            <a:off x="9948672" y="277063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Training on JSL strip</a:t>
            </a:r>
            <a:endParaRPr lang="en-US" sz="900" dirty="0"/>
          </a:p>
        </p:txBody>
      </p:sp>
      <p:sp>
        <p:nvSpPr>
          <p:cNvPr id="68" name="Text 65"/>
          <p:cNvSpPr txBox="1"/>
          <p:nvPr/>
        </p:nvSpPr>
        <p:spPr>
          <a:xfrm>
            <a:off x="9948672" y="293522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₹30-50 L</a:t>
            </a:r>
            <a:endParaRPr lang="en-US" sz="900" dirty="0"/>
          </a:p>
        </p:txBody>
      </p:sp>
      <p:sp>
        <p:nvSpPr>
          <p:cNvPr id="69" name="Text 66"/>
          <p:cNvSpPr txBox="1"/>
          <p:nvPr/>
        </p:nvSpPr>
        <p:spPr>
          <a:xfrm>
            <a:off x="9738360" y="3172968"/>
            <a:ext cx="1965960" cy="201168"/>
          </a:xfrm>
          <a:prstGeom prst="rect">
            <a:avLst/>
          </a:prstGeom>
          <a:noFill/>
          <a:ln/>
        </p:spPr>
        <p:txBody>
          <a:bodyPr wrap="square" lIns="0" tIns="0" rIns="0" bIns="0" rtlCol="0" anchor="t"/>
          <a:lstStyle/>
          <a:p>
            <a:pPr indent="0" marL="0">
              <a:buNone/>
            </a:pPr>
            <a:r>
              <a:rPr lang="en-US" sz="900" i="1" dirty="0">
                <a:solidFill>
                  <a:srgbClr val="5F6B78"/>
                </a:solidFill>
                <a:latin typeface="Calibri" pitchFamily="34" charset="0"/>
                <a:ea typeface="Calibri" pitchFamily="34" charset="-122"/>
                <a:cs typeface="Calibri" pitchFamily="34" charset="-120"/>
              </a:rPr>
              <a:t>Running cost ~₹50 L a year</a:t>
            </a:r>
            <a:endParaRPr lang="en-US" sz="900" dirty="0"/>
          </a:p>
        </p:txBody>
      </p:sp>
      <p:sp>
        <p:nvSpPr>
          <p:cNvPr id="70" name="Shape 67"/>
          <p:cNvSpPr/>
          <p:nvPr/>
        </p:nvSpPr>
        <p:spPr>
          <a:xfrm>
            <a:off x="457200" y="3730752"/>
            <a:ext cx="5541264" cy="274320"/>
          </a:xfrm>
          <a:prstGeom prst="rect">
            <a:avLst/>
          </a:prstGeom>
          <a:solidFill>
            <a:srgbClr val="2B5B80"/>
          </a:solidFill>
          <a:ln w="12700">
            <a:solidFill>
              <a:srgbClr val="2B5B80"/>
            </a:solidFill>
            <a:prstDash val="solid"/>
          </a:ln>
        </p:spPr>
      </p:sp>
      <p:sp>
        <p:nvSpPr>
          <p:cNvPr id="71" name="Text 68"/>
          <p:cNvSpPr txBox="1"/>
          <p:nvPr/>
        </p:nvSpPr>
        <p:spPr>
          <a:xfrm>
            <a:off x="548640"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Top risks, and when each is retired</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4059936"/>
          <a:ext cx="5541264" cy="914400"/>
        </p:xfrm>
        <a:graphic>
          <a:graphicData uri="http://schemas.openxmlformats.org/drawingml/2006/table">
            <a:tbl>
              <a:tblPr/>
              <a:tblGrid>
                <a:gridCol w="2377440"/>
                <a:gridCol w="2432304"/>
                <a:gridCol w="731520"/>
              </a:tblGrid>
              <a:tr h="29718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Risk</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Mitigation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9718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Model does not transfer to JSL strip</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Train on JSL clean and defect images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9718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Low-contrast defects missed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Angled lighting, sharper images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P0-P1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9718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Rare defects under-learnt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cameras, targeted labelling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P1-P3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9718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Operators ignore alarms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Trusted scores, shadow mode first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P2</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9718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Heat, dust, acid fumes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Sealed, cooled enclosures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P0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73" name="Shape 69"/>
          <p:cNvSpPr/>
          <p:nvPr/>
        </p:nvSpPr>
        <p:spPr>
          <a:xfrm>
            <a:off x="6190488" y="3730752"/>
            <a:ext cx="5541264" cy="274320"/>
          </a:xfrm>
          <a:prstGeom prst="rect">
            <a:avLst/>
          </a:prstGeom>
          <a:solidFill>
            <a:srgbClr val="2B5B80"/>
          </a:solidFill>
          <a:ln w="12700">
            <a:solidFill>
              <a:srgbClr val="2B5B80"/>
            </a:solidFill>
            <a:prstDash val="solid"/>
          </a:ln>
        </p:spPr>
      </p:sp>
      <p:sp>
        <p:nvSpPr>
          <p:cNvPr id="74" name="Text 70"/>
          <p:cNvSpPr txBox="1"/>
          <p:nvPr/>
        </p:nvSpPr>
        <p:spPr>
          <a:xfrm>
            <a:off x="6281928"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Pilot KPIs: how JSL will know it works</a:t>
            </a:r>
            <a:endParaRPr lang="en-US" sz="1100" dirty="0"/>
          </a:p>
        </p:txBody>
      </p:sp>
      <p:sp>
        <p:nvSpPr>
          <p:cNvPr id="75" name="Shape 71"/>
          <p:cNvSpPr/>
          <p:nvPr/>
        </p:nvSpPr>
        <p:spPr>
          <a:xfrm>
            <a:off x="6190488" y="4059936"/>
            <a:ext cx="1810512" cy="850392"/>
          </a:xfrm>
          <a:prstGeom prst="roundRect">
            <a:avLst>
              <a:gd name="adj" fmla="val 6452"/>
            </a:avLst>
          </a:prstGeom>
          <a:solidFill>
            <a:srgbClr val="F1F4F7"/>
          </a:solidFill>
          <a:ln w="12700">
            <a:solidFill>
              <a:srgbClr val="F1F4F7"/>
            </a:solidFill>
            <a:prstDash val="solid"/>
          </a:ln>
        </p:spPr>
      </p:sp>
      <p:sp>
        <p:nvSpPr>
          <p:cNvPr id="76" name="Text 72"/>
          <p:cNvSpPr txBox="1"/>
          <p:nvPr/>
        </p:nvSpPr>
        <p:spPr>
          <a:xfrm>
            <a:off x="6281928"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90%</a:t>
            </a:r>
            <a:endParaRPr lang="en-US" sz="1800" dirty="0"/>
          </a:p>
        </p:txBody>
      </p:sp>
      <p:sp>
        <p:nvSpPr>
          <p:cNvPr id="77" name="Text 73"/>
          <p:cNvSpPr txBox="1"/>
          <p:nvPr/>
        </p:nvSpPr>
        <p:spPr>
          <a:xfrm>
            <a:off x="6281928"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defective strip flagged</a:t>
            </a:r>
            <a:endParaRPr lang="en-US" sz="900" dirty="0"/>
          </a:p>
        </p:txBody>
      </p:sp>
      <p:sp>
        <p:nvSpPr>
          <p:cNvPr id="78" name="Text 74"/>
          <p:cNvSpPr txBox="1"/>
          <p:nvPr/>
        </p:nvSpPr>
        <p:spPr>
          <a:xfrm>
            <a:off x="6281928" y="46451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92.2%</a:t>
            </a:r>
            <a:endParaRPr lang="en-US" sz="900" dirty="0"/>
          </a:p>
        </p:txBody>
      </p:sp>
      <p:sp>
        <p:nvSpPr>
          <p:cNvPr id="79" name="Shape 75"/>
          <p:cNvSpPr/>
          <p:nvPr/>
        </p:nvSpPr>
        <p:spPr>
          <a:xfrm>
            <a:off x="8055864" y="4059936"/>
            <a:ext cx="1810512" cy="850392"/>
          </a:xfrm>
          <a:prstGeom prst="roundRect">
            <a:avLst>
              <a:gd name="adj" fmla="val 6452"/>
            </a:avLst>
          </a:prstGeom>
          <a:solidFill>
            <a:srgbClr val="F1F4F7"/>
          </a:solidFill>
          <a:ln w="12700">
            <a:solidFill>
              <a:srgbClr val="F1F4F7"/>
            </a:solidFill>
            <a:prstDash val="solid"/>
          </a:ln>
        </p:spPr>
      </p:sp>
      <p:sp>
        <p:nvSpPr>
          <p:cNvPr id="80" name="Text 76"/>
          <p:cNvSpPr txBox="1"/>
          <p:nvPr/>
        </p:nvSpPr>
        <p:spPr>
          <a:xfrm>
            <a:off x="8147304"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25%</a:t>
            </a:r>
            <a:endParaRPr lang="en-US" sz="1800" dirty="0"/>
          </a:p>
        </p:txBody>
      </p:sp>
      <p:sp>
        <p:nvSpPr>
          <p:cNvPr id="81" name="Text 77"/>
          <p:cNvSpPr txBox="1"/>
          <p:nvPr/>
        </p:nvSpPr>
        <p:spPr>
          <a:xfrm>
            <a:off x="8147304"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clean strip wrongly flagged</a:t>
            </a:r>
            <a:endParaRPr lang="en-US" sz="900" dirty="0"/>
          </a:p>
        </p:txBody>
      </p:sp>
      <p:sp>
        <p:nvSpPr>
          <p:cNvPr id="82" name="Text 78"/>
          <p:cNvSpPr txBox="1"/>
          <p:nvPr/>
        </p:nvSpPr>
        <p:spPr>
          <a:xfrm>
            <a:off x="8147304" y="4645152"/>
            <a:ext cx="1691640" cy="201168"/>
          </a:xfrm>
          <a:prstGeom prst="rect">
            <a:avLst/>
          </a:prstGeom>
          <a:noFill/>
          <a:ln/>
        </p:spPr>
        <p:txBody>
          <a:bodyPr wrap="square" lIns="0" tIns="0" rIns="0" bIns="0" rtlCol="0" anchor="t"/>
          <a:lstStyle/>
          <a:p>
            <a:pPr indent="0" marL="0">
              <a:buNone/>
            </a:pPr>
            <a:r>
              <a:rPr lang="en-US" sz="900" b="1" dirty="0">
                <a:solidFill>
                  <a:srgbClr val="B77900"/>
                </a:solidFill>
                <a:latin typeface="Calibri" pitchFamily="34" charset="0"/>
                <a:ea typeface="Calibri" pitchFamily="34" charset="-122"/>
                <a:cs typeface="Calibri" pitchFamily="34" charset="-120"/>
              </a:rPr>
              <a:t>measured 32.5%</a:t>
            </a:r>
            <a:endParaRPr lang="en-US" sz="900" dirty="0"/>
          </a:p>
        </p:txBody>
      </p:sp>
      <p:sp>
        <p:nvSpPr>
          <p:cNvPr id="83" name="Shape 79"/>
          <p:cNvSpPr/>
          <p:nvPr/>
        </p:nvSpPr>
        <p:spPr>
          <a:xfrm>
            <a:off x="9921240" y="4059936"/>
            <a:ext cx="1810512" cy="850392"/>
          </a:xfrm>
          <a:prstGeom prst="roundRect">
            <a:avLst>
              <a:gd name="adj" fmla="val 6452"/>
            </a:avLst>
          </a:prstGeom>
          <a:solidFill>
            <a:srgbClr val="F1F4F7"/>
          </a:solidFill>
          <a:ln w="12700">
            <a:solidFill>
              <a:srgbClr val="F1F4F7"/>
            </a:solidFill>
            <a:prstDash val="solid"/>
          </a:ln>
        </p:spPr>
      </p:sp>
      <p:sp>
        <p:nvSpPr>
          <p:cNvPr id="84" name="Text 80"/>
          <p:cNvSpPr txBox="1"/>
          <p:nvPr/>
        </p:nvSpPr>
        <p:spPr>
          <a:xfrm>
            <a:off x="10012680"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5 pts</a:t>
            </a:r>
            <a:endParaRPr lang="en-US" sz="1800" dirty="0"/>
          </a:p>
        </p:txBody>
      </p:sp>
      <p:sp>
        <p:nvSpPr>
          <p:cNvPr id="85" name="Text 81"/>
          <p:cNvSpPr txBox="1"/>
          <p:nvPr/>
        </p:nvSpPr>
        <p:spPr>
          <a:xfrm>
            <a:off x="10012680"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confidence vs reality gap</a:t>
            </a:r>
            <a:endParaRPr lang="en-US" sz="900" dirty="0"/>
          </a:p>
        </p:txBody>
      </p:sp>
      <p:sp>
        <p:nvSpPr>
          <p:cNvPr id="86" name="Text 82"/>
          <p:cNvSpPr txBox="1"/>
          <p:nvPr/>
        </p:nvSpPr>
        <p:spPr>
          <a:xfrm>
            <a:off x="10012680" y="46451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4.6 pts</a:t>
            </a:r>
            <a:endParaRPr lang="en-US" sz="900" dirty="0"/>
          </a:p>
        </p:txBody>
      </p:sp>
      <p:sp>
        <p:nvSpPr>
          <p:cNvPr id="87" name="Shape 83"/>
          <p:cNvSpPr/>
          <p:nvPr/>
        </p:nvSpPr>
        <p:spPr>
          <a:xfrm>
            <a:off x="6190488" y="4974336"/>
            <a:ext cx="1810512" cy="850392"/>
          </a:xfrm>
          <a:prstGeom prst="roundRect">
            <a:avLst>
              <a:gd name="adj" fmla="val 6452"/>
            </a:avLst>
          </a:prstGeom>
          <a:solidFill>
            <a:srgbClr val="F1F4F7"/>
          </a:solidFill>
          <a:ln w="12700">
            <a:solidFill>
              <a:srgbClr val="F1F4F7"/>
            </a:solidFill>
            <a:prstDash val="solid"/>
          </a:ln>
        </p:spPr>
      </p:sp>
      <p:sp>
        <p:nvSpPr>
          <p:cNvPr id="88" name="Text 84"/>
          <p:cNvSpPr txBox="1"/>
          <p:nvPr/>
        </p:nvSpPr>
        <p:spPr>
          <a:xfrm>
            <a:off x="6281928"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&lt; 0.2 s</a:t>
            </a:r>
            <a:endParaRPr lang="en-US" sz="1800" dirty="0"/>
          </a:p>
        </p:txBody>
      </p:sp>
      <p:sp>
        <p:nvSpPr>
          <p:cNvPr id="89" name="Text 85"/>
          <p:cNvSpPr txBox="1"/>
          <p:nvPr/>
        </p:nvSpPr>
        <p:spPr>
          <a:xfrm>
            <a:off x="6281928"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defect to operator screen</a:t>
            </a:r>
            <a:endParaRPr lang="en-US" sz="900" dirty="0"/>
          </a:p>
        </p:txBody>
      </p:sp>
      <p:sp>
        <p:nvSpPr>
          <p:cNvPr id="90" name="Text 86"/>
          <p:cNvSpPr txBox="1"/>
          <p:nvPr/>
        </p:nvSpPr>
        <p:spPr>
          <a:xfrm>
            <a:off x="6281928"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design target</a:t>
            </a:r>
            <a:endParaRPr lang="en-US" sz="900" dirty="0"/>
          </a:p>
        </p:txBody>
      </p:sp>
      <p:sp>
        <p:nvSpPr>
          <p:cNvPr id="91" name="Shape 87"/>
          <p:cNvSpPr/>
          <p:nvPr/>
        </p:nvSpPr>
        <p:spPr>
          <a:xfrm>
            <a:off x="8055864" y="4974336"/>
            <a:ext cx="1810512" cy="850392"/>
          </a:xfrm>
          <a:prstGeom prst="roundRect">
            <a:avLst>
              <a:gd name="adj" fmla="val 6452"/>
            </a:avLst>
          </a:prstGeom>
          <a:solidFill>
            <a:srgbClr val="F1F4F7"/>
          </a:solidFill>
          <a:ln w="12700">
            <a:solidFill>
              <a:srgbClr val="F1F4F7"/>
            </a:solidFill>
            <a:prstDash val="solid"/>
          </a:ln>
        </p:spPr>
      </p:sp>
      <p:sp>
        <p:nvSpPr>
          <p:cNvPr id="92" name="Text 88"/>
          <p:cNvSpPr txBox="1"/>
          <p:nvPr/>
        </p:nvSpPr>
        <p:spPr>
          <a:xfrm>
            <a:off x="8147304"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90%</a:t>
            </a:r>
            <a:endParaRPr lang="en-US" sz="1800" dirty="0"/>
          </a:p>
        </p:txBody>
      </p:sp>
      <p:sp>
        <p:nvSpPr>
          <p:cNvPr id="93" name="Text 89"/>
          <p:cNvSpPr txBox="1"/>
          <p:nvPr/>
        </p:nvSpPr>
        <p:spPr>
          <a:xfrm>
            <a:off x="8147304"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operator agreement, shadow</a:t>
            </a:r>
            <a:endParaRPr lang="en-US" sz="900" dirty="0"/>
          </a:p>
        </p:txBody>
      </p:sp>
      <p:sp>
        <p:nvSpPr>
          <p:cNvPr id="94" name="Text 90"/>
          <p:cNvSpPr txBox="1"/>
          <p:nvPr/>
        </p:nvSpPr>
        <p:spPr>
          <a:xfrm>
            <a:off x="8147304"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in P2</a:t>
            </a:r>
            <a:endParaRPr lang="en-US" sz="900" dirty="0"/>
          </a:p>
        </p:txBody>
      </p:sp>
      <p:sp>
        <p:nvSpPr>
          <p:cNvPr id="95" name="Shape 91"/>
          <p:cNvSpPr/>
          <p:nvPr/>
        </p:nvSpPr>
        <p:spPr>
          <a:xfrm>
            <a:off x="9921240" y="4974336"/>
            <a:ext cx="1810512" cy="850392"/>
          </a:xfrm>
          <a:prstGeom prst="roundRect">
            <a:avLst>
              <a:gd name="adj" fmla="val 6452"/>
            </a:avLst>
          </a:prstGeom>
          <a:solidFill>
            <a:srgbClr val="F1F4F7"/>
          </a:solidFill>
          <a:ln w="12700">
            <a:solidFill>
              <a:srgbClr val="F1F4F7"/>
            </a:solidFill>
            <a:prstDash val="solid"/>
          </a:ln>
        </p:spPr>
      </p:sp>
      <p:sp>
        <p:nvSpPr>
          <p:cNvPr id="96" name="Text 92"/>
          <p:cNvSpPr txBox="1"/>
          <p:nvPr/>
        </p:nvSpPr>
        <p:spPr>
          <a:xfrm>
            <a:off x="10012680"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&lt; 8 h</a:t>
            </a:r>
            <a:endParaRPr lang="en-US" sz="1800" dirty="0"/>
          </a:p>
        </p:txBody>
      </p:sp>
      <p:sp>
        <p:nvSpPr>
          <p:cNvPr id="97" name="Text 93"/>
          <p:cNvSpPr txBox="1"/>
          <p:nvPr/>
        </p:nvSpPr>
        <p:spPr>
          <a:xfrm>
            <a:off x="10012680"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retrain for a new grade</a:t>
            </a:r>
            <a:endParaRPr lang="en-US" sz="900" dirty="0"/>
          </a:p>
        </p:txBody>
      </p:sp>
      <p:sp>
        <p:nvSpPr>
          <p:cNvPr id="98" name="Text 94"/>
          <p:cNvSpPr txBox="1"/>
          <p:nvPr/>
        </p:nvSpPr>
        <p:spPr>
          <a:xfrm>
            <a:off x="10012680"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0.6 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143A5A"/>
          </a:solidFill>
          <a:ln w="12700">
            <a:solidFill>
              <a:srgbClr val="143A5A"/>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At a conservative 1% downgrade rate one line pays back in ~2.2 years; the fleet protects ~₹13 cr a year</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Recommendation: approve a 7-month pilot on one 300-series cold-rolled line. JSL's own downgrade rate decides fleet rollout.</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Inputs: JSL FY26 (INR 1,67,407/t; 25,65,902 t). Base: 0.4 Mt line, 30% of loss recovered, ₹3.35 cr capex, ₹0.5 cr/yr run cost, 12% rate. Commercial: USD 2M at INR 95.8.</a:t>
            </a:r>
            <a:endParaRPr lang="en-US" sz="900" dirty="0"/>
          </a:p>
        </p:txBody>
      </p:sp>
      <p:sp>
        <p:nvSpPr>
          <p:cNvPr id="17" name="Shape 15"/>
          <p:cNvSpPr/>
          <p:nvPr/>
        </p:nvSpPr>
        <p:spPr>
          <a:xfrm>
            <a:off x="457200" y="1234440"/>
            <a:ext cx="39776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37947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Loss pool per line, ₹ cr a year</a:t>
            </a:r>
            <a:endParaRPr lang="en-US" sz="1100" dirty="0"/>
          </a:p>
        </p:txBody>
      </p:sp>
      <p:sp>
        <p:nvSpPr>
          <p:cNvPr id="19" name="Text 17"/>
          <p:cNvSpPr txBox="1"/>
          <p:nvPr/>
        </p:nvSpPr>
        <p:spPr>
          <a:xfrm>
            <a:off x="457200" y="1554480"/>
            <a:ext cx="3977640" cy="219456"/>
          </a:xfrm>
          <a:prstGeom prst="rect">
            <a:avLst/>
          </a:prstGeom>
          <a:noFill/>
          <a:ln/>
        </p:spPr>
        <p:txBody>
          <a:bodyPr wrap="square" lIns="0" tIns="0" rIns="0" bIns="0" rtlCol="0" anchor="t"/>
          <a:lstStyle/>
          <a:p>
            <a:pPr indent="0" marL="0">
              <a:buNone/>
            </a:pPr>
            <a:r>
              <a:rPr lang="en-US" sz="950" i="1" dirty="0">
                <a:solidFill>
                  <a:srgbClr val="334150"/>
                </a:solidFill>
                <a:latin typeface="Calibri" pitchFamily="34" charset="0"/>
                <a:ea typeface="Calibri" pitchFamily="34" charset="-122"/>
                <a:cs typeface="Calibri" pitchFamily="34" charset="-120"/>
              </a:rPr>
              <a:t>0.4 Mt × downgrade rate × price discount × ₹1,67,407/t</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3977640" cy="914400"/>
        </p:xfrm>
        <a:graphic>
          <a:graphicData uri="http://schemas.openxmlformats.org/drawingml/2006/table">
            <a:tbl>
              <a:tblPr/>
              <a:tblGrid>
                <a:gridCol w="1234440"/>
                <a:gridCol w="914400"/>
                <a:gridCol w="914400"/>
                <a:gridCol w="914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Downgraded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15%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20%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0.5%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1.0%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20.1</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26.8</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r>
            </a:tbl>
          </a:graphicData>
        </a:graphic>
      </p:graphicFrame>
      <p:sp>
        <p:nvSpPr>
          <p:cNvPr id="21" name="Text 18"/>
          <p:cNvSpPr txBox="1"/>
          <p:nvPr/>
        </p:nvSpPr>
        <p:spPr>
          <a:xfrm>
            <a:off x="457200" y="3310128"/>
            <a:ext cx="3977640" cy="56692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Base case (dark): </a:t>
            </a:r>
            <a:pPr indent="0" marL="0">
              <a:buNone/>
            </a:pPr>
            <a:r>
              <a:rPr lang="en-US" sz="950" dirty="0">
                <a:solidFill>
                  <a:srgbClr val="334150"/>
                </a:solidFill>
                <a:latin typeface="Calibri" pitchFamily="34" charset="0"/>
                <a:ea typeface="Calibri" pitchFamily="34" charset="-122"/>
                <a:cs typeface="Calibri" pitchFamily="34" charset="-120"/>
              </a:rPr>
              <a:t>₹6.7 cr pool. Recover 30% = ₹2.0 cr/yr, ₹1.5 cr net of run cost. Fleet (2.57 Mt): ₹43 cr pool, ₹12.9 cr/yr recovered.</a:t>
            </a:r>
            <a:endParaRPr lang="en-US" sz="950" dirty="0"/>
          </a:p>
        </p:txBody>
      </p:sp>
      <p:sp>
        <p:nvSpPr>
          <p:cNvPr id="22" name="Shape 19"/>
          <p:cNvSpPr/>
          <p:nvPr/>
        </p:nvSpPr>
        <p:spPr>
          <a:xfrm>
            <a:off x="4617720" y="1234440"/>
            <a:ext cx="3520440" cy="274320"/>
          </a:xfrm>
          <a:prstGeom prst="rect">
            <a:avLst/>
          </a:prstGeom>
          <a:solidFill>
            <a:srgbClr val="2B5B80"/>
          </a:solidFill>
          <a:ln w="12700">
            <a:solidFill>
              <a:srgbClr val="2B5B80"/>
            </a:solidFill>
            <a:prstDash val="solid"/>
          </a:ln>
        </p:spPr>
      </p:sp>
      <p:sp>
        <p:nvSpPr>
          <p:cNvPr id="23" name="Text 20"/>
          <p:cNvSpPr txBox="1"/>
          <p:nvPr/>
        </p:nvSpPr>
        <p:spPr>
          <a:xfrm>
            <a:off x="4709160" y="1234440"/>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Payback per line, base case</a:t>
            </a:r>
            <a:endParaRPr lang="en-US" sz="1100" dirty="0"/>
          </a:p>
        </p:txBody>
      </p:sp>
      <p:sp>
        <p:nvSpPr>
          <p:cNvPr id="24" name="Text 21"/>
          <p:cNvSpPr txBox="1"/>
          <p:nvPr/>
        </p:nvSpPr>
        <p:spPr>
          <a:xfrm>
            <a:off x="4663440" y="1627632"/>
            <a:ext cx="1828800" cy="201168"/>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Hybrid (ours)</a:t>
            </a:r>
            <a:endParaRPr lang="en-US" sz="1000" dirty="0"/>
          </a:p>
        </p:txBody>
      </p:sp>
      <p:sp>
        <p:nvSpPr>
          <p:cNvPr id="25" name="Shape 22"/>
          <p:cNvSpPr/>
          <p:nvPr/>
        </p:nvSpPr>
        <p:spPr>
          <a:xfrm>
            <a:off x="4663440" y="1856232"/>
            <a:ext cx="475200" cy="237744"/>
          </a:xfrm>
          <a:prstGeom prst="rect">
            <a:avLst/>
          </a:prstGeom>
          <a:solidFill>
            <a:srgbClr val="0086C3"/>
          </a:solidFill>
          <a:ln w="12700">
            <a:solidFill>
              <a:srgbClr val="0086C3"/>
            </a:solidFill>
            <a:prstDash val="solid"/>
          </a:ln>
        </p:spPr>
      </p:sp>
      <p:sp>
        <p:nvSpPr>
          <p:cNvPr id="26" name="Text 23"/>
          <p:cNvSpPr txBox="1"/>
          <p:nvPr/>
        </p:nvSpPr>
        <p:spPr>
          <a:xfrm>
            <a:off x="5193504" y="1847088"/>
            <a:ext cx="685800" cy="256032"/>
          </a:xfrm>
          <a:prstGeom prst="rect">
            <a:avLst/>
          </a:prstGeom>
          <a:noFill/>
          <a:ln/>
        </p:spPr>
        <p:txBody>
          <a:bodyPr wrap="square" lIns="0" tIns="0" rIns="0" bIns="0" rtlCol="0" anchor="ctr"/>
          <a:lstStyle/>
          <a:p>
            <a:pPr indent="0" marL="0">
              <a:buNone/>
            </a:pPr>
            <a:r>
              <a:rPr lang="en-US" sz="1100" b="1" dirty="0">
                <a:solidFill>
                  <a:srgbClr val="141C24"/>
                </a:solidFill>
                <a:latin typeface="Calibri" pitchFamily="34" charset="0"/>
                <a:ea typeface="Calibri" pitchFamily="34" charset="-122"/>
                <a:cs typeface="Calibri" pitchFamily="34" charset="-120"/>
              </a:rPr>
              <a:t>2.2 yr</a:t>
            </a:r>
            <a:endParaRPr lang="en-US" sz="1100" dirty="0"/>
          </a:p>
        </p:txBody>
      </p:sp>
      <p:sp>
        <p:nvSpPr>
          <p:cNvPr id="27" name="Text 24"/>
          <p:cNvSpPr txBox="1"/>
          <p:nvPr/>
        </p:nvSpPr>
        <p:spPr>
          <a:xfrm>
            <a:off x="4663440" y="2231136"/>
            <a:ext cx="1828800" cy="201168"/>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Commercial system</a:t>
            </a:r>
            <a:endParaRPr lang="en-US" sz="1000" dirty="0"/>
          </a:p>
        </p:txBody>
      </p:sp>
      <p:sp>
        <p:nvSpPr>
          <p:cNvPr id="28" name="Shape 25"/>
          <p:cNvSpPr/>
          <p:nvPr/>
        </p:nvSpPr>
        <p:spPr>
          <a:xfrm>
            <a:off x="4663440" y="2459736"/>
            <a:ext cx="2743200" cy="237744"/>
          </a:xfrm>
          <a:prstGeom prst="rect">
            <a:avLst/>
          </a:prstGeom>
          <a:solidFill>
            <a:srgbClr val="9AA7B4"/>
          </a:solidFill>
          <a:ln w="12700">
            <a:solidFill>
              <a:srgbClr val="9AA7B4"/>
            </a:solidFill>
            <a:prstDash val="solid"/>
          </a:ln>
        </p:spPr>
      </p:sp>
      <p:sp>
        <p:nvSpPr>
          <p:cNvPr id="29" name="Text 26"/>
          <p:cNvSpPr txBox="1"/>
          <p:nvPr/>
        </p:nvSpPr>
        <p:spPr>
          <a:xfrm>
            <a:off x="7461504" y="2450592"/>
            <a:ext cx="685800" cy="256032"/>
          </a:xfrm>
          <a:prstGeom prst="rect">
            <a:avLst/>
          </a:prstGeom>
          <a:noFill/>
          <a:ln/>
        </p:spPr>
        <p:txBody>
          <a:bodyPr wrap="square" lIns="0" tIns="0" rIns="0" bIns="0" rtlCol="0" anchor="ctr"/>
          <a:lstStyle/>
          <a:p>
            <a:pPr indent="0" marL="0">
              <a:buNone/>
            </a:pPr>
            <a:r>
              <a:rPr lang="en-US" sz="1100" b="1" dirty="0">
                <a:solidFill>
                  <a:srgbClr val="141C24"/>
                </a:solidFill>
                <a:latin typeface="Calibri" pitchFamily="34" charset="0"/>
                <a:ea typeface="Calibri" pitchFamily="34" charset="-122"/>
                <a:cs typeface="Calibri" pitchFamily="34" charset="-120"/>
              </a:rPr>
              <a:t>12.7 yr</a:t>
            </a:r>
            <a:endParaRPr lang="en-US" sz="1100" dirty="0"/>
          </a:p>
        </p:txBody>
      </p:sp>
      <p:sp>
        <p:nvSpPr>
          <p:cNvPr id="30" name="Text 27"/>
          <p:cNvSpPr txBox="1"/>
          <p:nvPr/>
        </p:nvSpPr>
        <p:spPr>
          <a:xfrm>
            <a:off x="4663440" y="2926080"/>
            <a:ext cx="3474720" cy="274320"/>
          </a:xfrm>
          <a:prstGeom prst="rect">
            <a:avLst/>
          </a:prstGeom>
          <a:noFill/>
          <a:ln/>
        </p:spPr>
        <p:txBody>
          <a:bodyPr wrap="square" lIns="0" tIns="0" rIns="0" bIns="0" rtlCol="0" anchor="ctr"/>
          <a:lstStyle/>
          <a:p>
            <a:pPr indent="0" marL="0">
              <a:buNone/>
            </a:pPr>
            <a:r>
              <a:rPr lang="en-US" sz="1400" b="1" dirty="0">
                <a:solidFill>
                  <a:srgbClr val="0086C3"/>
                </a:solidFill>
                <a:latin typeface="Calibri" pitchFamily="34" charset="0"/>
                <a:ea typeface="Calibri" pitchFamily="34" charset="-122"/>
                <a:cs typeface="Calibri" pitchFamily="34" charset="-120"/>
              </a:rPr>
              <a:t>+₹2.1 cr</a:t>
            </a:r>
            <a:pPr indent="0" marL="0">
              <a:buNone/>
            </a:pPr>
            <a:r>
              <a:rPr lang="en-US" sz="950" dirty="0">
                <a:solidFill>
                  <a:srgbClr val="334150"/>
                </a:solidFill>
                <a:latin typeface="Calibri" pitchFamily="34" charset="0"/>
                <a:ea typeface="Calibri" pitchFamily="34" charset="-122"/>
                <a:cs typeface="Calibri" pitchFamily="34" charset="-120"/>
              </a:rPr>
              <a:t>  5-year NPV per line at 12%</a:t>
            </a:r>
            <a:endParaRPr lang="en-US" sz="950" dirty="0"/>
          </a:p>
        </p:txBody>
      </p:sp>
      <p:sp>
        <p:nvSpPr>
          <p:cNvPr id="31" name="Text 28"/>
          <p:cNvSpPr txBox="1"/>
          <p:nvPr/>
        </p:nvSpPr>
        <p:spPr>
          <a:xfrm>
            <a:off x="4663440" y="3246120"/>
            <a:ext cx="3474720" cy="548640"/>
          </a:xfrm>
          <a:prstGeom prst="rect">
            <a:avLst/>
          </a:prstGeom>
          <a:noFill/>
          <a:ln/>
        </p:spPr>
        <p:txBody>
          <a:bodyPr wrap="square" lIns="0" tIns="0" rIns="0" bIns="0" rtlCol="0" anchor="t"/>
          <a:lstStyle/>
          <a:p>
            <a:pPr indent="0" marL="0">
              <a:buNone/>
            </a:pPr>
            <a:r>
              <a:rPr lang="en-US" sz="1400" b="1" dirty="0">
                <a:solidFill>
                  <a:srgbClr val="0086C3"/>
                </a:solidFill>
                <a:latin typeface="Calibri" pitchFamily="34" charset="0"/>
                <a:ea typeface="Calibri" pitchFamily="34" charset="-122"/>
                <a:cs typeface="Calibri" pitchFamily="34" charset="-120"/>
              </a:rPr>
              <a:t>≥ 0.11%</a:t>
            </a:r>
            <a:pPr indent="0" marL="0">
              <a:buNone/>
            </a:pPr>
            <a:r>
              <a:rPr lang="en-US" sz="950" dirty="0">
                <a:solidFill>
                  <a:srgbClr val="334150"/>
                </a:solidFill>
                <a:latin typeface="Calibri" pitchFamily="34" charset="0"/>
                <a:ea typeface="Calibri" pitchFamily="34" charset="-122"/>
                <a:cs typeface="Calibri" pitchFamily="34" charset="-120"/>
              </a:rPr>
              <a:t>  of line revenue lost to downgrade is enough for a 2-year payback</a:t>
            </a:r>
            <a:endParaRPr lang="en-US" sz="950" dirty="0"/>
          </a:p>
        </p:txBody>
      </p:sp>
      <p:sp>
        <p:nvSpPr>
          <p:cNvPr id="32" name="Shape 29"/>
          <p:cNvSpPr/>
          <p:nvPr/>
        </p:nvSpPr>
        <p:spPr>
          <a:xfrm>
            <a:off x="8321040" y="1234440"/>
            <a:ext cx="3410712" cy="274320"/>
          </a:xfrm>
          <a:prstGeom prst="rect">
            <a:avLst/>
          </a:prstGeom>
          <a:solidFill>
            <a:srgbClr val="2B5B80"/>
          </a:solidFill>
          <a:ln w="12700">
            <a:solidFill>
              <a:srgbClr val="2B5B80"/>
            </a:solidFill>
            <a:prstDash val="solid"/>
          </a:ln>
        </p:spPr>
      </p:sp>
      <p:sp>
        <p:nvSpPr>
          <p:cNvPr id="33" name="Text 30"/>
          <p:cNvSpPr txBox="1"/>
          <p:nvPr/>
        </p:nvSpPr>
        <p:spPr>
          <a:xfrm>
            <a:off x="8412480" y="1234440"/>
            <a:ext cx="32278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moves payback (years)</a:t>
            </a:r>
            <a:endParaRPr lang="en-US" sz="1100" dirty="0"/>
          </a:p>
        </p:txBody>
      </p:sp>
      <p:sp>
        <p:nvSpPr>
          <p:cNvPr id="34" name="Text 31"/>
          <p:cNvSpPr txBox="1"/>
          <p:nvPr/>
        </p:nvSpPr>
        <p:spPr>
          <a:xfrm>
            <a:off x="8366760" y="1645920"/>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Downgrade rate 0.5-2%</a:t>
            </a:r>
            <a:endParaRPr lang="en-US" sz="900" dirty="0"/>
          </a:p>
        </p:txBody>
      </p:sp>
      <p:sp>
        <p:nvSpPr>
          <p:cNvPr id="35" name="Shape 32"/>
          <p:cNvSpPr/>
          <p:nvPr/>
        </p:nvSpPr>
        <p:spPr>
          <a:xfrm>
            <a:off x="9930711" y="1691640"/>
            <a:ext cx="257142" cy="182880"/>
          </a:xfrm>
          <a:prstGeom prst="rect">
            <a:avLst/>
          </a:prstGeom>
          <a:solidFill>
            <a:srgbClr val="0086C3"/>
          </a:solidFill>
          <a:ln w="12700">
            <a:solidFill>
              <a:srgbClr val="0086C3"/>
            </a:solidFill>
            <a:prstDash val="solid"/>
          </a:ln>
        </p:spPr>
      </p:sp>
      <p:sp>
        <p:nvSpPr>
          <p:cNvPr id="36" name="Shape 33"/>
          <p:cNvSpPr/>
          <p:nvPr/>
        </p:nvSpPr>
        <p:spPr>
          <a:xfrm>
            <a:off x="10187853" y="1691640"/>
            <a:ext cx="894936" cy="182880"/>
          </a:xfrm>
          <a:prstGeom prst="rect">
            <a:avLst/>
          </a:prstGeom>
          <a:solidFill>
            <a:srgbClr val="9AA7B4"/>
          </a:solidFill>
          <a:ln w="12700">
            <a:solidFill>
              <a:srgbClr val="9AA7B4"/>
            </a:solidFill>
            <a:prstDash val="solid"/>
          </a:ln>
        </p:spPr>
      </p:sp>
      <p:sp>
        <p:nvSpPr>
          <p:cNvPr id="37" name="Text 34"/>
          <p:cNvSpPr txBox="1"/>
          <p:nvPr/>
        </p:nvSpPr>
        <p:spPr>
          <a:xfrm>
            <a:off x="11119365" y="1645920"/>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0.9-6.6</a:t>
            </a:r>
            <a:endParaRPr lang="en-US" sz="900" dirty="0"/>
          </a:p>
        </p:txBody>
      </p:sp>
      <p:sp>
        <p:nvSpPr>
          <p:cNvPr id="38" name="Text 35"/>
          <p:cNvSpPr txBox="1"/>
          <p:nvPr/>
        </p:nvSpPr>
        <p:spPr>
          <a:xfrm>
            <a:off x="8366760" y="2048256"/>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Share recovered 15-45%</a:t>
            </a:r>
            <a:endParaRPr lang="en-US" sz="900" dirty="0"/>
          </a:p>
        </p:txBody>
      </p:sp>
      <p:sp>
        <p:nvSpPr>
          <p:cNvPr id="39" name="Shape 36"/>
          <p:cNvSpPr/>
          <p:nvPr/>
        </p:nvSpPr>
        <p:spPr>
          <a:xfrm>
            <a:off x="10007651" y="2093976"/>
            <a:ext cx="180202" cy="182880"/>
          </a:xfrm>
          <a:prstGeom prst="rect">
            <a:avLst/>
          </a:prstGeom>
          <a:solidFill>
            <a:srgbClr val="0086C3"/>
          </a:solidFill>
          <a:ln w="12700">
            <a:solidFill>
              <a:srgbClr val="0086C3"/>
            </a:solidFill>
            <a:prstDash val="solid"/>
          </a:ln>
        </p:spPr>
      </p:sp>
      <p:sp>
        <p:nvSpPr>
          <p:cNvPr id="40" name="Shape 37"/>
          <p:cNvSpPr/>
          <p:nvPr/>
        </p:nvSpPr>
        <p:spPr>
          <a:xfrm>
            <a:off x="10187853" y="2093976"/>
            <a:ext cx="894936" cy="182880"/>
          </a:xfrm>
          <a:prstGeom prst="rect">
            <a:avLst/>
          </a:prstGeom>
          <a:solidFill>
            <a:srgbClr val="9AA7B4"/>
          </a:solidFill>
          <a:ln w="12700">
            <a:solidFill>
              <a:srgbClr val="9AA7B4"/>
            </a:solidFill>
            <a:prstDash val="solid"/>
          </a:ln>
        </p:spPr>
      </p:sp>
      <p:sp>
        <p:nvSpPr>
          <p:cNvPr id="41" name="Text 38"/>
          <p:cNvSpPr txBox="1"/>
          <p:nvPr/>
        </p:nvSpPr>
        <p:spPr>
          <a:xfrm>
            <a:off x="11119365" y="2048256"/>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1.3-6.6</a:t>
            </a:r>
            <a:endParaRPr lang="en-US" sz="900" dirty="0"/>
          </a:p>
        </p:txBody>
      </p:sp>
      <p:sp>
        <p:nvSpPr>
          <p:cNvPr id="42" name="Text 39"/>
          <p:cNvSpPr txBox="1"/>
          <p:nvPr/>
        </p:nvSpPr>
        <p:spPr>
          <a:xfrm>
            <a:off x="8366760" y="2450592"/>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Line volume 0.3-0.5 Mt</a:t>
            </a:r>
            <a:endParaRPr lang="en-US" sz="900" dirty="0"/>
          </a:p>
        </p:txBody>
      </p:sp>
      <p:sp>
        <p:nvSpPr>
          <p:cNvPr id="43" name="Shape 40"/>
          <p:cNvSpPr/>
          <p:nvPr/>
        </p:nvSpPr>
        <p:spPr>
          <a:xfrm>
            <a:off x="10076492" y="2496312"/>
            <a:ext cx="111361" cy="182880"/>
          </a:xfrm>
          <a:prstGeom prst="rect">
            <a:avLst/>
          </a:prstGeom>
          <a:solidFill>
            <a:srgbClr val="0086C3"/>
          </a:solidFill>
          <a:ln w="12700">
            <a:solidFill>
              <a:srgbClr val="0086C3"/>
            </a:solidFill>
            <a:prstDash val="solid"/>
          </a:ln>
        </p:spPr>
      </p:sp>
      <p:sp>
        <p:nvSpPr>
          <p:cNvPr id="44" name="Shape 41"/>
          <p:cNvSpPr/>
          <p:nvPr/>
        </p:nvSpPr>
        <p:spPr>
          <a:xfrm>
            <a:off x="10187853" y="2496312"/>
            <a:ext cx="224746" cy="182880"/>
          </a:xfrm>
          <a:prstGeom prst="rect">
            <a:avLst/>
          </a:prstGeom>
          <a:solidFill>
            <a:srgbClr val="9AA7B4"/>
          </a:solidFill>
          <a:ln w="12700">
            <a:solidFill>
              <a:srgbClr val="9AA7B4"/>
            </a:solidFill>
            <a:prstDash val="solid"/>
          </a:ln>
        </p:spPr>
      </p:sp>
      <p:sp>
        <p:nvSpPr>
          <p:cNvPr id="45" name="Text 42"/>
          <p:cNvSpPr txBox="1"/>
          <p:nvPr/>
        </p:nvSpPr>
        <p:spPr>
          <a:xfrm>
            <a:off x="10449175" y="2450592"/>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1.7-3.3</a:t>
            </a:r>
            <a:endParaRPr lang="en-US" sz="900" dirty="0"/>
          </a:p>
        </p:txBody>
      </p:sp>
      <p:sp>
        <p:nvSpPr>
          <p:cNvPr id="46" name="Text 43"/>
          <p:cNvSpPr txBox="1"/>
          <p:nvPr/>
        </p:nvSpPr>
        <p:spPr>
          <a:xfrm>
            <a:off x="8366760" y="2852928"/>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Capex ₹2.5-4.2 cr</a:t>
            </a:r>
            <a:endParaRPr lang="en-US" sz="900" dirty="0"/>
          </a:p>
        </p:txBody>
      </p:sp>
      <p:sp>
        <p:nvSpPr>
          <p:cNvPr id="47" name="Shape 44"/>
          <p:cNvSpPr/>
          <p:nvPr/>
        </p:nvSpPr>
        <p:spPr>
          <a:xfrm>
            <a:off x="10074467" y="2898648"/>
            <a:ext cx="113386" cy="182880"/>
          </a:xfrm>
          <a:prstGeom prst="rect">
            <a:avLst/>
          </a:prstGeom>
          <a:solidFill>
            <a:srgbClr val="0086C3"/>
          </a:solidFill>
          <a:ln w="12700">
            <a:solidFill>
              <a:srgbClr val="0086C3"/>
            </a:solidFill>
            <a:prstDash val="solid"/>
          </a:ln>
        </p:spPr>
      </p:sp>
      <p:sp>
        <p:nvSpPr>
          <p:cNvPr id="48" name="Shape 45"/>
          <p:cNvSpPr/>
          <p:nvPr/>
        </p:nvSpPr>
        <p:spPr>
          <a:xfrm>
            <a:off x="10187853" y="2898648"/>
            <a:ext cx="113386" cy="182880"/>
          </a:xfrm>
          <a:prstGeom prst="rect">
            <a:avLst/>
          </a:prstGeom>
          <a:solidFill>
            <a:srgbClr val="9AA7B4"/>
          </a:solidFill>
          <a:ln w="12700">
            <a:solidFill>
              <a:srgbClr val="9AA7B4"/>
            </a:solidFill>
            <a:prstDash val="solid"/>
          </a:ln>
        </p:spPr>
      </p:sp>
      <p:sp>
        <p:nvSpPr>
          <p:cNvPr id="49" name="Text 46"/>
          <p:cNvSpPr txBox="1"/>
          <p:nvPr/>
        </p:nvSpPr>
        <p:spPr>
          <a:xfrm>
            <a:off x="10337815" y="2852928"/>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1.7-2.8</a:t>
            </a:r>
            <a:endParaRPr lang="en-US" sz="900" dirty="0"/>
          </a:p>
        </p:txBody>
      </p:sp>
      <p:sp>
        <p:nvSpPr>
          <p:cNvPr id="50" name="Text 47"/>
          <p:cNvSpPr txBox="1"/>
          <p:nvPr/>
        </p:nvSpPr>
        <p:spPr>
          <a:xfrm>
            <a:off x="8366760" y="3255264"/>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Price discount 10-20%</a:t>
            </a:r>
            <a:endParaRPr lang="en-US" sz="900" dirty="0"/>
          </a:p>
        </p:txBody>
      </p:sp>
      <p:sp>
        <p:nvSpPr>
          <p:cNvPr id="51" name="Shape 48"/>
          <p:cNvSpPr/>
          <p:nvPr/>
        </p:nvSpPr>
        <p:spPr>
          <a:xfrm>
            <a:off x="9930711" y="3300984"/>
            <a:ext cx="257142" cy="182880"/>
          </a:xfrm>
          <a:prstGeom prst="rect">
            <a:avLst/>
          </a:prstGeom>
          <a:solidFill>
            <a:srgbClr val="0086C3"/>
          </a:solidFill>
          <a:ln w="12700">
            <a:solidFill>
              <a:srgbClr val="0086C3"/>
            </a:solidFill>
            <a:prstDash val="solid"/>
          </a:ln>
        </p:spPr>
      </p:sp>
      <p:sp>
        <p:nvSpPr>
          <p:cNvPr id="52" name="Text 49"/>
          <p:cNvSpPr txBox="1"/>
          <p:nvPr/>
        </p:nvSpPr>
        <p:spPr>
          <a:xfrm>
            <a:off x="10224429" y="3255264"/>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0.9-2.2</a:t>
            </a:r>
            <a:endParaRPr lang="en-US" sz="900" dirty="0"/>
          </a:p>
        </p:txBody>
      </p:sp>
      <p:sp>
        <p:nvSpPr>
          <p:cNvPr id="53" name="Shape 50"/>
          <p:cNvSpPr/>
          <p:nvPr/>
        </p:nvSpPr>
        <p:spPr>
          <a:xfrm>
            <a:off x="10178709" y="1591056"/>
            <a:ext cx="18288" cy="2057400"/>
          </a:xfrm>
          <a:prstGeom prst="rect">
            <a:avLst/>
          </a:prstGeom>
          <a:solidFill>
            <a:srgbClr val="143A5A"/>
          </a:solidFill>
          <a:ln w="12700">
            <a:solidFill>
              <a:srgbClr val="143A5A"/>
            </a:solidFill>
            <a:prstDash val="solid"/>
          </a:ln>
        </p:spPr>
      </p:sp>
      <p:sp>
        <p:nvSpPr>
          <p:cNvPr id="54" name="Text 51"/>
          <p:cNvSpPr txBox="1"/>
          <p:nvPr/>
        </p:nvSpPr>
        <p:spPr>
          <a:xfrm>
            <a:off x="9730653" y="3648456"/>
            <a:ext cx="914400" cy="182880"/>
          </a:xfrm>
          <a:prstGeom prst="rect">
            <a:avLst/>
          </a:prstGeom>
          <a:noFill/>
          <a:ln/>
        </p:spPr>
        <p:txBody>
          <a:bodyPr wrap="square" lIns="0" tIns="0" rIns="0" bIns="0" rtlCol="0" anchor="t"/>
          <a:lstStyle/>
          <a:p>
            <a:pPr algn="ctr" indent="0" marL="0">
              <a:buNone/>
            </a:pPr>
            <a:r>
              <a:rPr lang="en-US" sz="900" b="1" dirty="0">
                <a:solidFill>
                  <a:srgbClr val="143A5A"/>
                </a:solidFill>
                <a:latin typeface="Calibri" pitchFamily="34" charset="0"/>
                <a:ea typeface="Calibri" pitchFamily="34" charset="-122"/>
                <a:cs typeface="Calibri" pitchFamily="34" charset="-120"/>
              </a:rPr>
              <a:t>base 2.2 yr</a:t>
            </a:r>
            <a:endParaRPr lang="en-US" sz="900" dirty="0"/>
          </a:p>
        </p:txBody>
      </p:sp>
      <p:sp>
        <p:nvSpPr>
          <p:cNvPr id="55" name="Shape 52"/>
          <p:cNvSpPr/>
          <p:nvPr/>
        </p:nvSpPr>
        <p:spPr>
          <a:xfrm>
            <a:off x="457200" y="4005072"/>
            <a:ext cx="7680960" cy="274320"/>
          </a:xfrm>
          <a:prstGeom prst="rect">
            <a:avLst/>
          </a:prstGeom>
          <a:solidFill>
            <a:srgbClr val="2B5B80"/>
          </a:solidFill>
          <a:ln w="12700">
            <a:solidFill>
              <a:srgbClr val="2B5B80"/>
            </a:solidFill>
            <a:prstDash val="solid"/>
          </a:ln>
        </p:spPr>
      </p:sp>
      <p:sp>
        <p:nvSpPr>
          <p:cNvPr id="56" name="Text 53"/>
          <p:cNvSpPr txBox="1"/>
          <p:nvPr/>
        </p:nvSpPr>
        <p:spPr>
          <a:xfrm>
            <a:off x="548640" y="4005072"/>
            <a:ext cx="74980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Impact beyond the P&amp;L</a:t>
            </a:r>
            <a:endParaRPr lang="en-US" sz="1100" dirty="0"/>
          </a:p>
        </p:txBody>
      </p:sp>
      <p:sp>
        <p:nvSpPr>
          <p:cNvPr id="57" name="Shape 54"/>
          <p:cNvSpPr/>
          <p:nvPr/>
        </p:nvSpPr>
        <p:spPr>
          <a:xfrm>
            <a:off x="457200" y="4334256"/>
            <a:ext cx="1234440" cy="1554480"/>
          </a:xfrm>
          <a:prstGeom prst="roundRect">
            <a:avLst>
              <a:gd name="adj" fmla="val 4444"/>
            </a:avLst>
          </a:prstGeom>
          <a:solidFill>
            <a:srgbClr val="F1F4F7"/>
          </a:solidFill>
          <a:ln w="12700">
            <a:solidFill>
              <a:srgbClr val="F1F4F7"/>
            </a:solidFill>
            <a:prstDash val="solid"/>
          </a:ln>
        </p:spPr>
      </p:sp>
      <p:sp>
        <p:nvSpPr>
          <p:cNvPr id="58" name="Shape 55"/>
          <p:cNvSpPr/>
          <p:nvPr/>
        </p:nvSpPr>
        <p:spPr>
          <a:xfrm>
            <a:off x="850392" y="4425696"/>
            <a:ext cx="457200" cy="457200"/>
          </a:xfrm>
          <a:prstGeom prst="ellipse">
            <a:avLst/>
          </a:prstGeom>
          <a:solidFill>
            <a:srgbClr val="0086C3"/>
          </a:solidFill>
          <a:ln w="12700">
            <a:solidFill>
              <a:srgbClr val="0086C3"/>
            </a:solidFill>
            <a:prstDash val="solid"/>
          </a:ln>
        </p:spPr>
      </p:sp>
      <p:pic>
        <p:nvPicPr>
          <p:cNvPr id="59" name="Image 0" descr="img/icons/scan-line-white.png">    </p:cNvPr>
          <p:cNvPicPr>
            <a:picLocks noChangeAspect="1"/>
          </p:cNvPicPr>
          <p:nvPr/>
        </p:nvPicPr>
        <p:blipFill>
          <a:blip r:embed="rId1"/>
          <a:stretch>
            <a:fillRect/>
          </a:stretch>
        </p:blipFill>
        <p:spPr>
          <a:xfrm>
            <a:off x="950976" y="4526280"/>
            <a:ext cx="256032" cy="256032"/>
          </a:xfrm>
          <a:prstGeom prst="rect">
            <a:avLst/>
          </a:prstGeom>
        </p:spPr>
      </p:pic>
      <p:sp>
        <p:nvSpPr>
          <p:cNvPr id="60" name="Text 56"/>
          <p:cNvSpPr txBox="1"/>
          <p:nvPr/>
        </p:nvSpPr>
        <p:spPr>
          <a:xfrm>
            <a:off x="502920"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Coverage</a:t>
            </a:r>
            <a:endParaRPr lang="en-US" sz="1050" dirty="0"/>
          </a:p>
        </p:txBody>
      </p:sp>
      <p:sp>
        <p:nvSpPr>
          <p:cNvPr id="61" name="Text 57"/>
          <p:cNvSpPr txBox="1"/>
          <p:nvPr/>
        </p:nvSpPr>
        <p:spPr>
          <a:xfrm>
            <a:off x="521208"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100% of both faces, every coil</a:t>
            </a:r>
            <a:endParaRPr lang="en-US" sz="900" dirty="0"/>
          </a:p>
        </p:txBody>
      </p:sp>
      <p:sp>
        <p:nvSpPr>
          <p:cNvPr id="62" name="Shape 58"/>
          <p:cNvSpPr/>
          <p:nvPr/>
        </p:nvSpPr>
        <p:spPr>
          <a:xfrm>
            <a:off x="1751076" y="4334256"/>
            <a:ext cx="1234440" cy="1554480"/>
          </a:xfrm>
          <a:prstGeom prst="roundRect">
            <a:avLst>
              <a:gd name="adj" fmla="val 4444"/>
            </a:avLst>
          </a:prstGeom>
          <a:solidFill>
            <a:srgbClr val="F1F4F7"/>
          </a:solidFill>
          <a:ln w="12700">
            <a:solidFill>
              <a:srgbClr val="F1F4F7"/>
            </a:solidFill>
            <a:prstDash val="solid"/>
          </a:ln>
        </p:spPr>
      </p:sp>
      <p:sp>
        <p:nvSpPr>
          <p:cNvPr id="63" name="Shape 59"/>
          <p:cNvSpPr/>
          <p:nvPr/>
        </p:nvSpPr>
        <p:spPr>
          <a:xfrm>
            <a:off x="2144268" y="4425696"/>
            <a:ext cx="457200" cy="457200"/>
          </a:xfrm>
          <a:prstGeom prst="ellipse">
            <a:avLst/>
          </a:prstGeom>
          <a:solidFill>
            <a:srgbClr val="0086C3"/>
          </a:solidFill>
          <a:ln w="12700">
            <a:solidFill>
              <a:srgbClr val="0086C3"/>
            </a:solidFill>
            <a:prstDash val="solid"/>
          </a:ln>
        </p:spPr>
      </p:sp>
      <p:pic>
        <p:nvPicPr>
          <p:cNvPr id="64" name="Image 1" descr="img/icons/users-white.png">    </p:cNvPr>
          <p:cNvPicPr>
            <a:picLocks noChangeAspect="1"/>
          </p:cNvPicPr>
          <p:nvPr/>
        </p:nvPicPr>
        <p:blipFill>
          <a:blip r:embed="rId2"/>
          <a:stretch>
            <a:fillRect/>
          </a:stretch>
        </p:blipFill>
        <p:spPr>
          <a:xfrm>
            <a:off x="2244852" y="4526280"/>
            <a:ext cx="256032" cy="256032"/>
          </a:xfrm>
          <a:prstGeom prst="rect">
            <a:avLst/>
          </a:prstGeom>
        </p:spPr>
      </p:pic>
      <p:sp>
        <p:nvSpPr>
          <p:cNvPr id="65" name="Text 60"/>
          <p:cNvSpPr txBox="1"/>
          <p:nvPr/>
        </p:nvSpPr>
        <p:spPr>
          <a:xfrm>
            <a:off x="1796796"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Customers</a:t>
            </a:r>
            <a:endParaRPr lang="en-US" sz="1050" dirty="0"/>
          </a:p>
        </p:txBody>
      </p:sp>
      <p:sp>
        <p:nvSpPr>
          <p:cNvPr id="66" name="Text 61"/>
          <p:cNvSpPr txBox="1"/>
          <p:nvPr/>
        </p:nvSpPr>
        <p:spPr>
          <a:xfrm>
            <a:off x="1815084"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Defect map per coil, fewer claims</a:t>
            </a:r>
            <a:endParaRPr lang="en-US" sz="900" dirty="0"/>
          </a:p>
        </p:txBody>
      </p:sp>
      <p:sp>
        <p:nvSpPr>
          <p:cNvPr id="67" name="Shape 62"/>
          <p:cNvSpPr/>
          <p:nvPr/>
        </p:nvSpPr>
        <p:spPr>
          <a:xfrm>
            <a:off x="3044952" y="4334256"/>
            <a:ext cx="1234440" cy="1554480"/>
          </a:xfrm>
          <a:prstGeom prst="roundRect">
            <a:avLst>
              <a:gd name="adj" fmla="val 4444"/>
            </a:avLst>
          </a:prstGeom>
          <a:solidFill>
            <a:srgbClr val="F1F4F7"/>
          </a:solidFill>
          <a:ln w="12700">
            <a:solidFill>
              <a:srgbClr val="F1F4F7"/>
            </a:solidFill>
            <a:prstDash val="solid"/>
          </a:ln>
        </p:spPr>
      </p:sp>
      <p:sp>
        <p:nvSpPr>
          <p:cNvPr id="68" name="Shape 63"/>
          <p:cNvSpPr/>
          <p:nvPr/>
        </p:nvSpPr>
        <p:spPr>
          <a:xfrm>
            <a:off x="3438144" y="4425696"/>
            <a:ext cx="457200" cy="457200"/>
          </a:xfrm>
          <a:prstGeom prst="ellipse">
            <a:avLst/>
          </a:prstGeom>
          <a:solidFill>
            <a:srgbClr val="0086C3"/>
          </a:solidFill>
          <a:ln w="12700">
            <a:solidFill>
              <a:srgbClr val="0086C3"/>
            </a:solidFill>
            <a:prstDash val="solid"/>
          </a:ln>
        </p:spPr>
      </p:sp>
      <p:pic>
        <p:nvPicPr>
          <p:cNvPr id="69" name="Image 2" descr="img/icons/wrench-white.png">    </p:cNvPr>
          <p:cNvPicPr>
            <a:picLocks noChangeAspect="1"/>
          </p:cNvPicPr>
          <p:nvPr/>
        </p:nvPicPr>
        <p:blipFill>
          <a:blip r:embed="rId3"/>
          <a:stretch>
            <a:fillRect/>
          </a:stretch>
        </p:blipFill>
        <p:spPr>
          <a:xfrm>
            <a:off x="3538728" y="4526280"/>
            <a:ext cx="256032" cy="256032"/>
          </a:xfrm>
          <a:prstGeom prst="rect">
            <a:avLst/>
          </a:prstGeom>
        </p:spPr>
      </p:pic>
      <p:sp>
        <p:nvSpPr>
          <p:cNvPr id="70" name="Text 64"/>
          <p:cNvSpPr txBox="1"/>
          <p:nvPr/>
        </p:nvSpPr>
        <p:spPr>
          <a:xfrm>
            <a:off x="3090672"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Process</a:t>
            </a:r>
            <a:endParaRPr lang="en-US" sz="1050" dirty="0"/>
          </a:p>
        </p:txBody>
      </p:sp>
      <p:sp>
        <p:nvSpPr>
          <p:cNvPr id="71" name="Text 65"/>
          <p:cNvSpPr txBox="1"/>
          <p:nvPr/>
        </p:nvSpPr>
        <p:spPr>
          <a:xfrm>
            <a:off x="3108960"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Defects tied to heat and coil IDs</a:t>
            </a:r>
            <a:endParaRPr lang="en-US" sz="900" dirty="0"/>
          </a:p>
        </p:txBody>
      </p:sp>
      <p:sp>
        <p:nvSpPr>
          <p:cNvPr id="72" name="Shape 66"/>
          <p:cNvSpPr/>
          <p:nvPr/>
        </p:nvSpPr>
        <p:spPr>
          <a:xfrm>
            <a:off x="4338828" y="4334256"/>
            <a:ext cx="1234440" cy="1554480"/>
          </a:xfrm>
          <a:prstGeom prst="roundRect">
            <a:avLst>
              <a:gd name="adj" fmla="val 4444"/>
            </a:avLst>
          </a:prstGeom>
          <a:solidFill>
            <a:srgbClr val="F1F4F7"/>
          </a:solidFill>
          <a:ln w="12700">
            <a:solidFill>
              <a:srgbClr val="F1F4F7"/>
            </a:solidFill>
            <a:prstDash val="solid"/>
          </a:ln>
        </p:spPr>
      </p:sp>
      <p:sp>
        <p:nvSpPr>
          <p:cNvPr id="73" name="Shape 67"/>
          <p:cNvSpPr/>
          <p:nvPr/>
        </p:nvSpPr>
        <p:spPr>
          <a:xfrm>
            <a:off x="4732020" y="4425696"/>
            <a:ext cx="457200" cy="457200"/>
          </a:xfrm>
          <a:prstGeom prst="ellipse">
            <a:avLst/>
          </a:prstGeom>
          <a:solidFill>
            <a:srgbClr val="0086C3"/>
          </a:solidFill>
          <a:ln w="12700">
            <a:solidFill>
              <a:srgbClr val="0086C3"/>
            </a:solidFill>
            <a:prstDash val="solid"/>
          </a:ln>
        </p:spPr>
      </p:sp>
      <p:pic>
        <p:nvPicPr>
          <p:cNvPr id="74" name="Image 3" descr="img/icons/hard-hat-white.png">    </p:cNvPr>
          <p:cNvPicPr>
            <a:picLocks noChangeAspect="1"/>
          </p:cNvPicPr>
          <p:nvPr/>
        </p:nvPicPr>
        <p:blipFill>
          <a:blip r:embed="rId4"/>
          <a:stretch>
            <a:fillRect/>
          </a:stretch>
        </p:blipFill>
        <p:spPr>
          <a:xfrm>
            <a:off x="4832604" y="4526280"/>
            <a:ext cx="256032" cy="256032"/>
          </a:xfrm>
          <a:prstGeom prst="rect">
            <a:avLst/>
          </a:prstGeom>
        </p:spPr>
      </p:pic>
      <p:sp>
        <p:nvSpPr>
          <p:cNvPr id="75" name="Text 68"/>
          <p:cNvSpPr txBox="1"/>
          <p:nvPr/>
        </p:nvSpPr>
        <p:spPr>
          <a:xfrm>
            <a:off x="4384548"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Safety</a:t>
            </a:r>
            <a:endParaRPr lang="en-US" sz="1050" dirty="0"/>
          </a:p>
        </p:txBody>
      </p:sp>
      <p:sp>
        <p:nvSpPr>
          <p:cNvPr id="76" name="Text 69"/>
          <p:cNvSpPr txBox="1"/>
          <p:nvPr/>
        </p:nvSpPr>
        <p:spPr>
          <a:xfrm>
            <a:off x="4402836"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Severe-defect holds prevent strip breaks</a:t>
            </a:r>
            <a:endParaRPr lang="en-US" sz="900" dirty="0"/>
          </a:p>
        </p:txBody>
      </p:sp>
      <p:sp>
        <p:nvSpPr>
          <p:cNvPr id="77" name="Shape 70"/>
          <p:cNvSpPr/>
          <p:nvPr/>
        </p:nvSpPr>
        <p:spPr>
          <a:xfrm>
            <a:off x="5632704" y="4334256"/>
            <a:ext cx="1234440" cy="1554480"/>
          </a:xfrm>
          <a:prstGeom prst="roundRect">
            <a:avLst>
              <a:gd name="adj" fmla="val 4444"/>
            </a:avLst>
          </a:prstGeom>
          <a:solidFill>
            <a:srgbClr val="F1F4F7"/>
          </a:solidFill>
          <a:ln w="12700">
            <a:solidFill>
              <a:srgbClr val="F1F4F7"/>
            </a:solidFill>
            <a:prstDash val="solid"/>
          </a:ln>
        </p:spPr>
      </p:sp>
      <p:sp>
        <p:nvSpPr>
          <p:cNvPr id="78" name="Shape 71"/>
          <p:cNvSpPr/>
          <p:nvPr/>
        </p:nvSpPr>
        <p:spPr>
          <a:xfrm>
            <a:off x="6025896" y="4425696"/>
            <a:ext cx="457200" cy="457200"/>
          </a:xfrm>
          <a:prstGeom prst="ellipse">
            <a:avLst/>
          </a:prstGeom>
          <a:solidFill>
            <a:srgbClr val="0086C3"/>
          </a:solidFill>
          <a:ln w="12700">
            <a:solidFill>
              <a:srgbClr val="0086C3"/>
            </a:solidFill>
            <a:prstDash val="solid"/>
          </a:ln>
        </p:spPr>
      </p:sp>
      <p:pic>
        <p:nvPicPr>
          <p:cNvPr id="79" name="Image 4" descr="img/icons/leaf-white.png">    </p:cNvPr>
          <p:cNvPicPr>
            <a:picLocks noChangeAspect="1"/>
          </p:cNvPicPr>
          <p:nvPr/>
        </p:nvPicPr>
        <p:blipFill>
          <a:blip r:embed="rId5"/>
          <a:stretch>
            <a:fillRect/>
          </a:stretch>
        </p:blipFill>
        <p:spPr>
          <a:xfrm>
            <a:off x="6126480" y="4526280"/>
            <a:ext cx="256032" cy="256032"/>
          </a:xfrm>
          <a:prstGeom prst="rect">
            <a:avLst/>
          </a:prstGeom>
        </p:spPr>
      </p:pic>
      <p:sp>
        <p:nvSpPr>
          <p:cNvPr id="80" name="Text 72"/>
          <p:cNvSpPr txBox="1"/>
          <p:nvPr/>
        </p:nvSpPr>
        <p:spPr>
          <a:xfrm>
            <a:off x="5678424"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Sustainability</a:t>
            </a:r>
            <a:endParaRPr lang="en-US" sz="1050" dirty="0"/>
          </a:p>
        </p:txBody>
      </p:sp>
      <p:sp>
        <p:nvSpPr>
          <p:cNvPr id="81" name="Text 73"/>
          <p:cNvSpPr txBox="1"/>
          <p:nvPr/>
        </p:nvSpPr>
        <p:spPr>
          <a:xfrm>
            <a:off x="5696712"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Less remelt, acid and nickel waste</a:t>
            </a:r>
            <a:endParaRPr lang="en-US" sz="900" dirty="0"/>
          </a:p>
        </p:txBody>
      </p:sp>
      <p:sp>
        <p:nvSpPr>
          <p:cNvPr id="82" name="Shape 74"/>
          <p:cNvSpPr/>
          <p:nvPr/>
        </p:nvSpPr>
        <p:spPr>
          <a:xfrm>
            <a:off x="6926580" y="4334256"/>
            <a:ext cx="1234440" cy="1554480"/>
          </a:xfrm>
          <a:prstGeom prst="roundRect">
            <a:avLst>
              <a:gd name="adj" fmla="val 4444"/>
            </a:avLst>
          </a:prstGeom>
          <a:solidFill>
            <a:srgbClr val="F1F4F7"/>
          </a:solidFill>
          <a:ln w="12700">
            <a:solidFill>
              <a:srgbClr val="F1F4F7"/>
            </a:solidFill>
            <a:prstDash val="solid"/>
          </a:ln>
        </p:spPr>
      </p:sp>
      <p:sp>
        <p:nvSpPr>
          <p:cNvPr id="83" name="Shape 75"/>
          <p:cNvSpPr/>
          <p:nvPr/>
        </p:nvSpPr>
        <p:spPr>
          <a:xfrm>
            <a:off x="7319772" y="4425696"/>
            <a:ext cx="457200" cy="457200"/>
          </a:xfrm>
          <a:prstGeom prst="ellipse">
            <a:avLst/>
          </a:prstGeom>
          <a:solidFill>
            <a:srgbClr val="0086C3"/>
          </a:solidFill>
          <a:ln w="12700">
            <a:solidFill>
              <a:srgbClr val="0086C3"/>
            </a:solidFill>
            <a:prstDash val="solid"/>
          </a:ln>
        </p:spPr>
      </p:sp>
      <p:pic>
        <p:nvPicPr>
          <p:cNvPr id="84" name="Image 5" descr="img/icons/user-check-white.png">    </p:cNvPr>
          <p:cNvPicPr>
            <a:picLocks noChangeAspect="1"/>
          </p:cNvPicPr>
          <p:nvPr/>
        </p:nvPicPr>
        <p:blipFill>
          <a:blip r:embed="rId6"/>
          <a:stretch>
            <a:fillRect/>
          </a:stretch>
        </p:blipFill>
        <p:spPr>
          <a:xfrm>
            <a:off x="7420356" y="4526280"/>
            <a:ext cx="256032" cy="256032"/>
          </a:xfrm>
          <a:prstGeom prst="rect">
            <a:avLst/>
          </a:prstGeom>
        </p:spPr>
      </p:pic>
      <p:sp>
        <p:nvSpPr>
          <p:cNvPr id="85" name="Text 76"/>
          <p:cNvSpPr txBox="1"/>
          <p:nvPr/>
        </p:nvSpPr>
        <p:spPr>
          <a:xfrm>
            <a:off x="6972300"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People</a:t>
            </a:r>
            <a:endParaRPr lang="en-US" sz="1050" dirty="0"/>
          </a:p>
        </p:txBody>
      </p:sp>
      <p:sp>
        <p:nvSpPr>
          <p:cNvPr id="86" name="Text 77"/>
          <p:cNvSpPr txBox="1"/>
          <p:nvPr/>
        </p:nvSpPr>
        <p:spPr>
          <a:xfrm>
            <a:off x="6990588"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Inspectors move to decisions</a:t>
            </a:r>
            <a:endParaRPr lang="en-US" sz="900" dirty="0"/>
          </a:p>
        </p:txBody>
      </p:sp>
      <p:sp>
        <p:nvSpPr>
          <p:cNvPr id="87" name="Shape 78"/>
          <p:cNvSpPr/>
          <p:nvPr/>
        </p:nvSpPr>
        <p:spPr>
          <a:xfrm>
            <a:off x="8321040" y="4005072"/>
            <a:ext cx="3410712" cy="1883664"/>
          </a:xfrm>
          <a:prstGeom prst="roundRect">
            <a:avLst>
              <a:gd name="adj" fmla="val 2913"/>
            </a:avLst>
          </a:prstGeom>
          <a:solidFill>
            <a:srgbClr val="143A5A"/>
          </a:solidFill>
          <a:ln w="12700">
            <a:solidFill>
              <a:srgbClr val="143A5A"/>
            </a:solidFill>
            <a:prstDash val="solid"/>
          </a:ln>
        </p:spPr>
      </p:sp>
      <p:sp>
        <p:nvSpPr>
          <p:cNvPr id="88" name="Text 79"/>
          <p:cNvSpPr txBox="1"/>
          <p:nvPr/>
        </p:nvSpPr>
        <p:spPr>
          <a:xfrm>
            <a:off x="8458200" y="4078224"/>
            <a:ext cx="3200400" cy="237744"/>
          </a:xfrm>
          <a:prstGeom prst="rect">
            <a:avLst/>
          </a:prstGeom>
          <a:noFill/>
          <a:ln/>
        </p:spPr>
        <p:txBody>
          <a:bodyPr wrap="square" lIns="0" tIns="0" rIns="0" bIns="0" rtlCol="0" anchor="t"/>
          <a:lstStyle/>
          <a:p>
            <a:pPr indent="0" marL="0">
              <a:buNone/>
            </a:pPr>
            <a:r>
              <a:rPr lang="en-US" sz="1100" b="1" dirty="0">
                <a:solidFill>
                  <a:srgbClr val="BFD2E2"/>
                </a:solidFill>
                <a:latin typeface="Calibri" pitchFamily="34" charset="0"/>
                <a:ea typeface="Calibri" pitchFamily="34" charset="-122"/>
                <a:cs typeface="Calibri" pitchFamily="34" charset="-120"/>
              </a:rPr>
              <a:t>WHAT WE ASK OF JSL</a:t>
            </a:r>
            <a:endParaRPr lang="en-US" sz="1100" dirty="0"/>
          </a:p>
        </p:txBody>
      </p:sp>
      <p:sp>
        <p:nvSpPr>
          <p:cNvPr id="89" name="Text 80"/>
          <p:cNvSpPr txBox="1"/>
          <p:nvPr/>
        </p:nvSpPr>
        <p:spPr>
          <a:xfrm>
            <a:off x="8458200" y="4352544"/>
            <a:ext cx="3200400" cy="96012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One 300-series cold-rolled line, 7 months</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₹2.5-4.2 cr pilot budget</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Downgrade rate by line and grade</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A metallurgist at 20% for root causes</a:t>
            </a:r>
            <a:endParaRPr lang="en-US" sz="1000" dirty="0"/>
          </a:p>
        </p:txBody>
      </p:sp>
      <p:sp>
        <p:nvSpPr>
          <p:cNvPr id="90" name="Text 81"/>
          <p:cNvSpPr txBox="1"/>
          <p:nvPr/>
        </p:nvSpPr>
        <p:spPr>
          <a:xfrm>
            <a:off x="8458200" y="5340096"/>
            <a:ext cx="3200400" cy="475488"/>
          </a:xfrm>
          <a:prstGeom prst="rect">
            <a:avLst/>
          </a:prstGeom>
          <a:noFill/>
          <a:ln/>
        </p:spPr>
        <p:txBody>
          <a:bodyPr wrap="square" lIns="0" tIns="0" rIns="0" bIns="0" rtlCol="0" anchor="t"/>
          <a:lstStyle/>
          <a:p>
            <a:pPr indent="0" marL="0">
              <a:buNone/>
            </a:pPr>
            <a:r>
              <a:rPr lang="en-US" sz="950" b="1" dirty="0">
                <a:solidFill>
                  <a:srgbClr val="BFD2E2"/>
                </a:solidFill>
                <a:latin typeface="Calibri" pitchFamily="34" charset="0"/>
                <a:ea typeface="Calibri" pitchFamily="34" charset="-122"/>
                <a:cs typeface="Calibri" pitchFamily="34" charset="-120"/>
              </a:rPr>
              <a:t>In return: measured downgrade rate, payback and a go / no-go at month 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Stainless Spark Round 2 - AI Surface Defect Detection</dc:title>
  <dc:subject>PptxGenJS Presentation</dc:subject>
  <dc:creator>PptxGenJS</dc:creator>
  <cp:lastModifiedBy>PptxGenJS</cp:lastModifiedBy>
  <cp:revision>1</cp:revision>
  <dcterms:created xsi:type="dcterms:W3CDTF">2026-09-26T08:32:17Z</dcterms:created>
  <dcterms:modified xsi:type="dcterms:W3CDTF">2026-09-26T08:32:17Z</dcterms:modified>
</cp:coreProperties>
</file>