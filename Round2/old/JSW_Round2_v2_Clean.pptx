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Trained on defects only</c:v>
                </c:pt>
              </c:strCache>
            </c:strRef>
          </c:tx>
          <c:spPr>
            <a:solidFill>
              <a:srgbClr val="9AA7B4"/>
            </a:solidFill>
            <a:effectLst/>
          </c:spPr>
          <c:invertIfNegative val="0"/>
          <c:dLbls>
            <c:numFmt formatCode="0.0" sourceLinked="0"/>
            <c:txPr>
              <a:bodyPr/>
              <a:lstStyle/>
              <a:p>
                <a:pPr>
                  <a:defRPr b="0" i="0" strike="noStrike" sz="900" u="none">
                    <a:solidFill>
                      <a:srgbClr val="141C24"/>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Clean strip flagged %</c:v>
                  </c:pt>
                  <c:pt idx="1">
                    <c:v>Defects caught %</c:v>
                  </c:pt>
                  <c:pt idx="2">
                    <c:v>Clean vs defect separation</c:v>
                  </c:pt>
                </c:lvl>
              </c:multiLvlStrCache>
            </c:multiLvlStrRef>
          </c:cat>
          <c:val>
            <c:numRef>
              <c:f>Sheet1!$B$2:$B$4</c:f>
              <c:numCache>
                <c:formatCode>General</c:formatCode>
                <c:ptCount val="3"/>
                <c:pt idx="0">
                  <c:v>93.7</c:v>
                </c:pt>
                <c:pt idx="1">
                  <c:v>72</c:v>
                </c:pt>
                <c:pt idx="2">
                  <c:v>60.8</c:v>
                </c:pt>
              </c:numCache>
            </c:numRef>
          </c:val>
        </c:ser>
        <c:ser>
          <c:idx val="1"/>
          <c:order val="1"/>
          <c:tx>
            <c:strRef>
              <c:f>Sheet1!$C$1</c:f>
              <c:strCache>
                <c:ptCount val="1"/>
                <c:pt idx="0">
                  <c:v>+ clean strip added</c:v>
                </c:pt>
              </c:strCache>
            </c:strRef>
          </c:tx>
          <c:spPr>
            <a:solidFill>
              <a:srgbClr val="0086C3"/>
            </a:solidFill>
            <a:effectLst/>
          </c:spPr>
          <c:invertIfNegative val="0"/>
          <c:dLbls>
            <c:numFmt formatCode="0.0" sourceLinked="0"/>
            <c:txPr>
              <a:bodyPr/>
              <a:lstStyle/>
              <a:p>
                <a:pPr>
                  <a:defRPr b="0" i="0" strike="noStrike" sz="900" u="none">
                    <a:solidFill>
                      <a:srgbClr val="141C24"/>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Clean strip flagged %</c:v>
                  </c:pt>
                  <c:pt idx="1">
                    <c:v>Defects caught %</c:v>
                  </c:pt>
                  <c:pt idx="2">
                    <c:v>Clean vs defect separation</c:v>
                  </c:pt>
                </c:lvl>
              </c:multiLvlStrCache>
            </c:multiLvlStrRef>
          </c:cat>
          <c:val>
            <c:numRef>
              <c:f>Sheet1!$C$2:$C$4</c:f>
              <c:numCache>
                <c:formatCode>General</c:formatCode>
                <c:ptCount val="3"/>
                <c:pt idx="0">
                  <c:v>32.5</c:v>
                </c:pt>
                <c:pt idx="1">
                  <c:v>86.6</c:v>
                </c:pt>
                <c:pt idx="2">
                  <c:v>95.8</c:v>
                </c:pt>
              </c:numCache>
            </c:numRef>
          </c:val>
        </c:ser>
        <c:dLbls>
          <c:numFmt formatCode="0.0" sourceLinked="0"/>
          <c:txPr>
            <a:bodyPr/>
            <a:lstStyle/>
            <a:p>
              <a:pPr>
                <a:defRPr b="0" i="0" strike="noStrike" sz="900" u="none">
                  <a:solidFill>
                    <a:srgbClr val="141C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4150"/>
                </a:solidFill>
                <a:latin typeface="Calibri"/>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Open by pointing at the QR: the detector is live at surface-vision.github.io and runs in the judge's browser. The four numbers are the story in one line: it is accurate within the published band, we fixed the false-alarm problem on real clean steel, it costs a fraction of a commercial system, and one line pays back in about two years even at a conservative downgrade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chain left to right. The key point: a sliver born at the caster is only seen at finishing, after hot rolling, annealing, pickling and cold rolling have all been paid for. Nickel is why this hurts more on stainless: at today's LME price (USD 16,402/t, INR 95.8/USD) there is INR 1.26-1.65 lakh of nickel in every tonne of 304. The PAF table is the framework: AI inspection is an appraisal cost that moves spend out of internal and external failure. The "seen today" row is typical practice; we found no public statement of JSL's inspection coverage, so we ask for it in P0 instead of assuming.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First, the finish is the product and cannot be polished back. Second, JSL is growing cold rolling by about 30% by FY28 and leaning on the 300 series, so the share of surface-critical tonnes rises. The matrix is our framework for choosing what to train first. It is a hypothesis from the metallurgy literature and we say so; P0 re-scores it with JSL's defect records. Its output is the pilot grade: 300 series. The routing table turns detection into action: every class maps to a process owner and a first corrective action. Crazing and patches attributions are reasoned, not sourced, and need a JSL metallurgist's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from our own tests, each of which changed the design. One: a model trained only on defect images treats almost all clean steel as defective, 93.7%. Adding real clean strip cut that to 32.5% and accuracy went up. Two: a bigger model and sharper images did not improve accuracy, so the money goes into cameras, not model size. Three: at full detail a 250 m/min line needs about 18 processors; resolution is therefore a spec decision we make with JSL on day one. Four: operators act only on alarms they trust, so every alarm carries a calibrated confidence and passes an is-this-steel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including in the browser demo. Stage 5 has coil rules built, but grade- and finish-specific limits need JSL input. Stages 1 and 6 are plant-side and are the pilot work. What makes this more than a standard detector: it is trained on clean strip as well as defects, every defect is routed to the process that caused it, a second check catches defects it was never taught, and it can learn from JSL's unlabelled image archive. Build vs buy: commercial systems are proven but cost USD 1-3M per line and keep the model closed. Fully in-house is cheapest but slowest to prove. Hybrid, meaning industrial cameras plus our model, is never weak on any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system never acts on the mill until P3; before that it only reads data and advises. Cost is our estimate, INR 2.5-4.2 crore per line, against a commercial range of USD 1-3M, about INR 9.6-28.7 crore. Vendor quotes replace the estimate in P0. The plant connection goes in order: process data first, quality records next, line control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and risk. The top-right of the map is transfer to JSL strip and low-contrast defects; both are retired in P0 and P1, before money is spent on integration. The honest gap is clean strip wrongly flagged: we measured 32.5% against a 25% target, which is exactly why P1 trains on JSL's own strip. Rare defects like roll marks and edge cracks need JSL data and edge cameras; the unseen-defect check covers what is never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We scoped the business case to one line, which is where the capex is spent. At a conservative 1% of volume downgraded at a 10% discount, one 0.4 Mt line loses INR 6.7 crore a year. Recovering 30% of it, less INR 0.5 crore run cost, pays back INR 3.35 crore in about 2.2 years; a commercial system at the same benefit takes about 12.7 years. That is why the hybrid build matters. The tornado shows the two numbers that dominate are the downgrade rate and how much we recover, and neither is public. So the ask is not only budget; it is JSL's own downgrade data, and the pilot is designed to measure it. Across the fleet, the same rates protect about INR 13 crore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A5A"/>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100" b="1" spc="100" kern="0" dirty="0">
                <a:solidFill>
                  <a:srgbClr val="BFD2E2"/>
                </a:solidFill>
                <a:latin typeface="Calibri" pitchFamily="34" charset="0"/>
                <a:ea typeface="Calibri" pitchFamily="34" charset="-122"/>
                <a:cs typeface="Calibri" pitchFamily="34" charset="-120"/>
              </a:rPr>
              <a:t>JINDAL STAINLESS  |  STAINLESS SPARK: ENGINEERING INNOVATION, BUILDING FUTURES  |  ROUND 2  |  PROBLEM STATEMENT 1</a:t>
            </a:r>
            <a:endParaRPr lang="en-US" sz="1100" dirty="0"/>
          </a:p>
        </p:txBody>
      </p:sp>
      <p:sp>
        <p:nvSpPr>
          <p:cNvPr id="3" name="Text 1"/>
          <p:cNvSpPr txBox="1"/>
          <p:nvPr/>
        </p:nvSpPr>
        <p:spPr>
          <a:xfrm>
            <a:off x="548640" y="914400"/>
            <a:ext cx="7863840" cy="128016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4" name="Text 2"/>
          <p:cNvSpPr txBox="1"/>
          <p:nvPr/>
        </p:nvSpPr>
        <p:spPr>
          <a:xfrm>
            <a:off x="548640" y="2377440"/>
            <a:ext cx="7498080" cy="868680"/>
          </a:xfrm>
          <a:prstGeom prst="rect">
            <a:avLst/>
          </a:prstGeom>
          <a:noFill/>
          <a:ln/>
        </p:spPr>
        <p:txBody>
          <a:bodyPr wrap="square" lIns="0" tIns="0" rIns="0" bIns="0" rtlCol="0" anchor="t"/>
          <a:lstStyle/>
          <a:p>
            <a:pPr indent="0" marL="0">
              <a:buNone/>
            </a:pPr>
            <a:r>
              <a:rPr lang="en-US" sz="1500" dirty="0">
                <a:solidFill>
                  <a:srgbClr val="BFD2E2"/>
                </a:solidFill>
                <a:latin typeface="Calibri" pitchFamily="34" charset="0"/>
                <a:ea typeface="Calibri" pitchFamily="34" charset="-122"/>
                <a:cs typeface="Calibri" pitchFamily="34" charset="-120"/>
              </a:rPr>
              <a:t>AI surface inspection for stainless strip that detects, classifies and scores every defect at line speed, then routes it to the process that caused it. Built, validated on three public steel datasets, and running live today.</a:t>
            </a:r>
            <a:endParaRPr lang="en-US" sz="1500" dirty="0"/>
          </a:p>
        </p:txBody>
      </p:sp>
      <p:sp>
        <p:nvSpPr>
          <p:cNvPr id="5" name="Text 3"/>
          <p:cNvSpPr txBox="1"/>
          <p:nvPr/>
        </p:nvSpPr>
        <p:spPr>
          <a:xfrm>
            <a:off x="548640" y="3520440"/>
            <a:ext cx="1828800" cy="457200"/>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0.764</a:t>
            </a:r>
            <a:endParaRPr lang="en-US" sz="2400" dirty="0"/>
          </a:p>
        </p:txBody>
      </p:sp>
      <p:sp>
        <p:nvSpPr>
          <p:cNvPr id="6" name="Text 4"/>
          <p:cNvSpPr txBox="1"/>
          <p:nvPr/>
        </p:nvSpPr>
        <p:spPr>
          <a:xfrm>
            <a:off x="548640" y="4023360"/>
            <a:ext cx="1828800" cy="640080"/>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detection accuracy on unseen steel</a:t>
            </a:r>
            <a:endParaRPr lang="en-US" sz="1000" dirty="0"/>
          </a:p>
          <a:p>
            <a:pPr indent="0" marL="0">
              <a:buNone/>
            </a:pPr>
            <a:r>
              <a:rPr lang="en-US" sz="1000" dirty="0">
                <a:solidFill>
                  <a:srgbClr val="BFD2E2"/>
                </a:solidFill>
                <a:latin typeface="Calibri" pitchFamily="34" charset="0"/>
                <a:ea typeface="Calibri" pitchFamily="34" charset="-122"/>
                <a:cs typeface="Calibri" pitchFamily="34" charset="-120"/>
              </a:rPr>
              <a:t>images (published range 0.70-0.80)</a:t>
            </a:r>
            <a:endParaRPr lang="en-US" sz="1000" dirty="0"/>
          </a:p>
        </p:txBody>
      </p:sp>
      <p:sp>
        <p:nvSpPr>
          <p:cNvPr id="7" name="Text 5"/>
          <p:cNvSpPr txBox="1"/>
          <p:nvPr/>
        </p:nvSpPr>
        <p:spPr>
          <a:xfrm>
            <a:off x="2468880" y="3520440"/>
            <a:ext cx="1828800" cy="457200"/>
          </a:xfrm>
          <a:prstGeom prst="rect">
            <a:avLst/>
          </a:prstGeom>
          <a:noFill/>
          <a:ln/>
        </p:spPr>
        <p:txBody>
          <a:bodyPr wrap="square" lIns="0" tIns="0" rIns="0" bIns="0" rtlCol="0" anchor="b"/>
          <a:lstStyle/>
          <a:p>
            <a:pPr indent="0" marL="0">
              <a:buNone/>
            </a:pPr>
            <a:r>
              <a:rPr lang="en-US" sz="1900" b="1" dirty="0">
                <a:solidFill>
                  <a:srgbClr val="FFFFFF"/>
                </a:solidFill>
                <a:latin typeface="Calibri" pitchFamily="34" charset="0"/>
                <a:ea typeface="Calibri" pitchFamily="34" charset="-122"/>
                <a:cs typeface="Calibri" pitchFamily="34" charset="-120"/>
              </a:rPr>
              <a:t>93.7% to 32.5%</a:t>
            </a:r>
            <a:endParaRPr lang="en-US" sz="1900" dirty="0"/>
          </a:p>
        </p:txBody>
      </p:sp>
      <p:sp>
        <p:nvSpPr>
          <p:cNvPr id="8" name="Text 6"/>
          <p:cNvSpPr txBox="1"/>
          <p:nvPr/>
        </p:nvSpPr>
        <p:spPr>
          <a:xfrm>
            <a:off x="2468880" y="4023360"/>
            <a:ext cx="1828800" cy="640080"/>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clean steel wrongly flagged,</a:t>
            </a:r>
            <a:endParaRPr lang="en-US" sz="1000" dirty="0"/>
          </a:p>
          <a:p>
            <a:pPr indent="0" marL="0">
              <a:buNone/>
            </a:pPr>
            <a:r>
              <a:rPr lang="en-US" sz="1000" dirty="0">
                <a:solidFill>
                  <a:srgbClr val="BFD2E2"/>
                </a:solidFill>
                <a:latin typeface="Calibri" pitchFamily="34" charset="0"/>
                <a:ea typeface="Calibri" pitchFamily="34" charset="-122"/>
                <a:cs typeface="Calibri" pitchFamily="34" charset="-120"/>
              </a:rPr>
              <a:t>before vs after clean-strip training</a:t>
            </a:r>
            <a:endParaRPr lang="en-US" sz="1000" dirty="0"/>
          </a:p>
        </p:txBody>
      </p:sp>
      <p:sp>
        <p:nvSpPr>
          <p:cNvPr id="9" name="Text 7"/>
          <p:cNvSpPr txBox="1"/>
          <p:nvPr/>
        </p:nvSpPr>
        <p:spPr>
          <a:xfrm>
            <a:off x="4389120" y="3520440"/>
            <a:ext cx="1828800" cy="457200"/>
          </a:xfrm>
          <a:prstGeom prst="rect">
            <a:avLst/>
          </a:prstGeom>
          <a:noFill/>
          <a:ln/>
        </p:spPr>
        <p:txBody>
          <a:bodyPr wrap="square" lIns="0" tIns="0" rIns="0" bIns="0" rtlCol="0" anchor="b"/>
          <a:lstStyle/>
          <a:p>
            <a:pPr indent="0" marL="0">
              <a:buNone/>
            </a:pPr>
            <a:r>
              <a:rPr lang="en-US" sz="1800" b="1" dirty="0">
                <a:solidFill>
                  <a:srgbClr val="FFFFFF"/>
                </a:solidFill>
                <a:latin typeface="Calibri" pitchFamily="34" charset="0"/>
                <a:ea typeface="Calibri" pitchFamily="34" charset="-122"/>
                <a:cs typeface="Calibri" pitchFamily="34" charset="-120"/>
              </a:rPr>
              <a:t>INR 2.5-4.2 cr</a:t>
            </a:r>
            <a:endParaRPr lang="en-US" sz="1800" dirty="0"/>
          </a:p>
        </p:txBody>
      </p:sp>
      <p:sp>
        <p:nvSpPr>
          <p:cNvPr id="10" name="Text 8"/>
          <p:cNvSpPr txBox="1"/>
          <p:nvPr/>
        </p:nvSpPr>
        <p:spPr>
          <a:xfrm>
            <a:off x="4389120" y="4023360"/>
            <a:ext cx="1828800" cy="640080"/>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per line, estimated, vs USD 1-3M</a:t>
            </a:r>
            <a:endParaRPr lang="en-US" sz="1000" dirty="0"/>
          </a:p>
          <a:p>
            <a:pPr indent="0" marL="0">
              <a:buNone/>
            </a:pPr>
            <a:r>
              <a:rPr lang="en-US" sz="1000" dirty="0">
                <a:solidFill>
                  <a:srgbClr val="BFD2E2"/>
                </a:solidFill>
                <a:latin typeface="Calibri" pitchFamily="34" charset="0"/>
                <a:ea typeface="Calibri" pitchFamily="34" charset="-122"/>
                <a:cs typeface="Calibri" pitchFamily="34" charset="-120"/>
              </a:rPr>
              <a:t>for a commercial system</a:t>
            </a:r>
            <a:endParaRPr lang="en-US" sz="1000" dirty="0"/>
          </a:p>
        </p:txBody>
      </p:sp>
      <p:sp>
        <p:nvSpPr>
          <p:cNvPr id="11" name="Text 9"/>
          <p:cNvSpPr txBox="1"/>
          <p:nvPr/>
        </p:nvSpPr>
        <p:spPr>
          <a:xfrm>
            <a:off x="6309360" y="3520440"/>
            <a:ext cx="1828800" cy="457200"/>
          </a:xfrm>
          <a:prstGeom prst="rect">
            <a:avLst/>
          </a:prstGeom>
          <a:noFill/>
          <a:ln/>
        </p:spPr>
        <p:txBody>
          <a:bodyPr wrap="square" lIns="0" tIns="0" rIns="0" bIns="0" rtlCol="0" anchor="b"/>
          <a:lstStyle/>
          <a:p>
            <a:pPr indent="0" marL="0">
              <a:buNone/>
            </a:pPr>
            <a:r>
              <a:rPr lang="en-US" sz="2200" b="1" dirty="0">
                <a:solidFill>
                  <a:srgbClr val="FFFFFF"/>
                </a:solidFill>
                <a:latin typeface="Calibri" pitchFamily="34" charset="0"/>
                <a:ea typeface="Calibri" pitchFamily="34" charset="-122"/>
                <a:cs typeface="Calibri" pitchFamily="34" charset="-120"/>
              </a:rPr>
              <a:t>~2.2 years</a:t>
            </a:r>
            <a:endParaRPr lang="en-US" sz="2200" dirty="0"/>
          </a:p>
        </p:txBody>
      </p:sp>
      <p:sp>
        <p:nvSpPr>
          <p:cNvPr id="12" name="Text 10"/>
          <p:cNvSpPr txBox="1"/>
          <p:nvPr/>
        </p:nvSpPr>
        <p:spPr>
          <a:xfrm>
            <a:off x="6309360" y="4023360"/>
            <a:ext cx="1828800" cy="640080"/>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payback for one line at a</a:t>
            </a:r>
            <a:endParaRPr lang="en-US" sz="1000" dirty="0"/>
          </a:p>
          <a:p>
            <a:pPr indent="0" marL="0">
              <a:buNone/>
            </a:pPr>
            <a:r>
              <a:rPr lang="en-US" sz="1000" dirty="0">
                <a:solidFill>
                  <a:srgbClr val="BFD2E2"/>
                </a:solidFill>
                <a:latin typeface="Calibri" pitchFamily="34" charset="0"/>
                <a:ea typeface="Calibri" pitchFamily="34" charset="-122"/>
                <a:cs typeface="Calibri" pitchFamily="34" charset="-120"/>
              </a:rPr>
              <a:t>conservative 1% downgrade rate</a:t>
            </a:r>
            <a:endParaRPr lang="en-US" sz="1000" dirty="0"/>
          </a:p>
        </p:txBody>
      </p:sp>
      <p:sp>
        <p:nvSpPr>
          <p:cNvPr id="13" name="Shape 11"/>
          <p:cNvSpPr/>
          <p:nvPr/>
        </p:nvSpPr>
        <p:spPr>
          <a:xfrm>
            <a:off x="8732520" y="914400"/>
            <a:ext cx="2926080" cy="3749040"/>
          </a:xfrm>
          <a:prstGeom prst="roundRect">
            <a:avLst>
              <a:gd name="adj" fmla="val 1875"/>
            </a:avLst>
          </a:prstGeom>
          <a:solidFill>
            <a:srgbClr val="FFFFFF"/>
          </a:solidFill>
          <a:ln w="12700">
            <a:solidFill>
              <a:srgbClr val="FFFFFF"/>
            </a:solidFill>
            <a:prstDash val="solid"/>
          </a:ln>
        </p:spPr>
      </p:sp>
      <p:pic>
        <p:nvPicPr>
          <p:cNvPr id="14" name="Image 0" descr="qr.png">    </p:cNvPr>
          <p:cNvPicPr>
            <a:picLocks noChangeAspect="1"/>
          </p:cNvPicPr>
          <p:nvPr/>
        </p:nvPicPr>
        <p:blipFill>
          <a:blip r:embed="rId1"/>
          <a:stretch>
            <a:fillRect/>
          </a:stretch>
        </p:blipFill>
        <p:spPr>
          <a:xfrm>
            <a:off x="9326880" y="1097280"/>
            <a:ext cx="1737360" cy="1737360"/>
          </a:xfrm>
          <a:prstGeom prst="rect">
            <a:avLst/>
          </a:prstGeom>
        </p:spPr>
      </p:pic>
      <p:sp>
        <p:nvSpPr>
          <p:cNvPr id="15" name="Text 12"/>
          <p:cNvSpPr txBox="1"/>
          <p:nvPr/>
        </p:nvSpPr>
        <p:spPr>
          <a:xfrm>
            <a:off x="8869680" y="2926080"/>
            <a:ext cx="2651760" cy="274320"/>
          </a:xfrm>
          <a:prstGeom prst="rect">
            <a:avLst/>
          </a:prstGeom>
          <a:noFill/>
          <a:ln/>
        </p:spPr>
        <p:txBody>
          <a:bodyPr wrap="square" lIns="0" tIns="0" rIns="0" bIns="0" rtlCol="0" anchor="t"/>
          <a:lstStyle/>
          <a:p>
            <a:pPr algn="ctr" indent="0" marL="0">
              <a:buNone/>
            </a:pPr>
            <a:r>
              <a:rPr lang="en-US" sz="1100" b="1" dirty="0">
                <a:solidFill>
                  <a:srgbClr val="0086C3"/>
                </a:solidFill>
                <a:latin typeface="Calibri" pitchFamily="34" charset="0"/>
                <a:ea typeface="Calibri" pitchFamily="34" charset="-122"/>
                <a:cs typeface="Calibri" pitchFamily="34" charset="-120"/>
              </a:rPr>
              <a:t>TRY THE LIVE DEMO</a:t>
            </a:r>
            <a:endParaRPr lang="en-US" sz="1100" dirty="0"/>
          </a:p>
        </p:txBody>
      </p:sp>
      <p:sp>
        <p:nvSpPr>
          <p:cNvPr id="16" name="Text 13"/>
          <p:cNvSpPr txBox="1"/>
          <p:nvPr/>
        </p:nvSpPr>
        <p:spPr>
          <a:xfrm>
            <a:off x="8869680" y="3200400"/>
            <a:ext cx="2651760" cy="320040"/>
          </a:xfrm>
          <a:prstGeom prst="rect">
            <a:avLst/>
          </a:prstGeom>
          <a:noFill/>
          <a:ln/>
        </p:spPr>
        <p:txBody>
          <a:bodyPr wrap="square" lIns="0" tIns="0" rIns="0" bIns="0" rtlCol="0" anchor="t"/>
          <a:lstStyle/>
          <a:p>
            <a:pPr algn="ctr" indent="0" marL="0">
              <a:buNone/>
            </a:pPr>
            <a:r>
              <a:rPr lang="en-US" sz="1500" b="1" dirty="0">
                <a:solidFill>
                  <a:srgbClr val="143A5A"/>
                </a:solidFill>
                <a:latin typeface="Calibri" pitchFamily="34" charset="0"/>
                <a:ea typeface="Calibri" pitchFamily="34" charset="-122"/>
                <a:cs typeface="Calibri" pitchFamily="34" charset="-120"/>
              </a:rPr>
              <a:t>surface-vision.github.io</a:t>
            </a:r>
            <a:endParaRPr lang="en-US" sz="1500" dirty="0"/>
          </a:p>
        </p:txBody>
      </p:sp>
      <p:sp>
        <p:nvSpPr>
          <p:cNvPr id="17" name="Text 14"/>
          <p:cNvSpPr txBox="1"/>
          <p:nvPr/>
        </p:nvSpPr>
        <p:spPr>
          <a:xfrm>
            <a:off x="8961120" y="3566160"/>
            <a:ext cx="2468880" cy="914400"/>
          </a:xfrm>
          <a:prstGeom prst="rect">
            <a:avLst/>
          </a:prstGeom>
          <a:noFill/>
          <a:ln/>
        </p:spPr>
        <p:txBody>
          <a:bodyPr wrap="square" lIns="0" tIns="0" rIns="0" bIns="0" rtlCol="0" anchor="t"/>
          <a:lstStyle/>
          <a:p>
            <a:pPr algn="ctr" indent="0" marL="0">
              <a:buNone/>
            </a:pPr>
            <a:r>
              <a:rPr lang="en-US" sz="1000" dirty="0">
                <a:solidFill>
                  <a:srgbClr val="334150"/>
                </a:solidFill>
                <a:latin typeface="Calibri" pitchFamily="34" charset="0"/>
                <a:ea typeface="Calibri" pitchFamily="34" charset="-122"/>
                <a:cs typeface="Calibri" pitchFamily="34" charset="-120"/>
              </a:rPr>
              <a:t>The trained detector runs in your browser. Upload a strip image to get box, type, confidence and severity. Nothing leaves the page.</a:t>
            </a:r>
            <a:endParaRPr lang="en-US" sz="1000" dirty="0"/>
          </a:p>
        </p:txBody>
      </p:sp>
      <p:sp>
        <p:nvSpPr>
          <p:cNvPr id="18" name="Shape 15"/>
          <p:cNvSpPr/>
          <p:nvPr/>
        </p:nvSpPr>
        <p:spPr>
          <a:xfrm>
            <a:off x="548640" y="4983480"/>
            <a:ext cx="2148840" cy="566928"/>
          </a:xfrm>
          <a:prstGeom prst="roundRect">
            <a:avLst>
              <a:gd name="adj" fmla="val 9677"/>
            </a:avLst>
          </a:prstGeom>
          <a:solidFill>
            <a:srgbClr val="2B5B80"/>
          </a:solidFill>
          <a:ln w="12700">
            <a:solidFill>
              <a:srgbClr val="2B5B80"/>
            </a:solidFill>
            <a:prstDash val="solid"/>
          </a:ln>
        </p:spPr>
      </p:sp>
      <p:sp>
        <p:nvSpPr>
          <p:cNvPr id="19" name="Text 16"/>
          <p:cNvSpPr txBox="1"/>
          <p:nvPr/>
        </p:nvSpPr>
        <p:spPr>
          <a:xfrm>
            <a:off x="658368" y="5020056"/>
            <a:ext cx="2011680" cy="256032"/>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1  Problem</a:t>
            </a:r>
            <a:endParaRPr lang="en-US" sz="1200" dirty="0"/>
          </a:p>
        </p:txBody>
      </p:sp>
      <p:sp>
        <p:nvSpPr>
          <p:cNvPr id="20" name="Text 17"/>
          <p:cNvSpPr txBox="1"/>
          <p:nvPr/>
        </p:nvSpPr>
        <p:spPr>
          <a:xfrm>
            <a:off x="658368" y="5266944"/>
            <a:ext cx="2011680" cy="237744"/>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Where is value lost?</a:t>
            </a:r>
            <a:endParaRPr lang="en-US" sz="1000" dirty="0"/>
          </a:p>
        </p:txBody>
      </p:sp>
      <p:sp>
        <p:nvSpPr>
          <p:cNvPr id="21" name="Shape 18"/>
          <p:cNvSpPr/>
          <p:nvPr/>
        </p:nvSpPr>
        <p:spPr>
          <a:xfrm>
            <a:off x="2788920" y="4983480"/>
            <a:ext cx="2148840" cy="566928"/>
          </a:xfrm>
          <a:prstGeom prst="roundRect">
            <a:avLst>
              <a:gd name="adj" fmla="val 9677"/>
            </a:avLst>
          </a:prstGeom>
          <a:solidFill>
            <a:srgbClr val="2B5B80"/>
          </a:solidFill>
          <a:ln w="12700">
            <a:solidFill>
              <a:srgbClr val="2B5B80"/>
            </a:solidFill>
            <a:prstDash val="solid"/>
          </a:ln>
        </p:spPr>
      </p:sp>
      <p:sp>
        <p:nvSpPr>
          <p:cNvPr id="22" name="Text 19"/>
          <p:cNvSpPr txBox="1"/>
          <p:nvPr/>
        </p:nvSpPr>
        <p:spPr>
          <a:xfrm>
            <a:off x="2898648" y="5020056"/>
            <a:ext cx="2011680" cy="256032"/>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2  Insights</a:t>
            </a:r>
            <a:endParaRPr lang="en-US" sz="1200" dirty="0"/>
          </a:p>
        </p:txBody>
      </p:sp>
      <p:sp>
        <p:nvSpPr>
          <p:cNvPr id="23" name="Text 20"/>
          <p:cNvSpPr txBox="1"/>
          <p:nvPr/>
        </p:nvSpPr>
        <p:spPr>
          <a:xfrm>
            <a:off x="2898648" y="5266944"/>
            <a:ext cx="2011680" cy="237744"/>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What did we learn?</a:t>
            </a:r>
            <a:endParaRPr lang="en-US" sz="1000" dirty="0"/>
          </a:p>
        </p:txBody>
      </p:sp>
      <p:sp>
        <p:nvSpPr>
          <p:cNvPr id="24" name="Shape 21"/>
          <p:cNvSpPr/>
          <p:nvPr/>
        </p:nvSpPr>
        <p:spPr>
          <a:xfrm>
            <a:off x="5029200" y="4983480"/>
            <a:ext cx="2148840" cy="566928"/>
          </a:xfrm>
          <a:prstGeom prst="roundRect">
            <a:avLst>
              <a:gd name="adj" fmla="val 9677"/>
            </a:avLst>
          </a:prstGeom>
          <a:solidFill>
            <a:srgbClr val="2B5B80"/>
          </a:solidFill>
          <a:ln w="12700">
            <a:solidFill>
              <a:srgbClr val="2B5B80"/>
            </a:solidFill>
            <a:prstDash val="solid"/>
          </a:ln>
        </p:spPr>
      </p:sp>
      <p:sp>
        <p:nvSpPr>
          <p:cNvPr id="25" name="Text 22"/>
          <p:cNvSpPr txBox="1"/>
          <p:nvPr/>
        </p:nvSpPr>
        <p:spPr>
          <a:xfrm>
            <a:off x="5138928" y="5020056"/>
            <a:ext cx="2011680" cy="256032"/>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3  Solution</a:t>
            </a:r>
            <a:endParaRPr lang="en-US" sz="1200" dirty="0"/>
          </a:p>
        </p:txBody>
      </p:sp>
      <p:sp>
        <p:nvSpPr>
          <p:cNvPr id="26" name="Text 23"/>
          <p:cNvSpPr txBox="1"/>
          <p:nvPr/>
        </p:nvSpPr>
        <p:spPr>
          <a:xfrm>
            <a:off x="5138928" y="5266944"/>
            <a:ext cx="2011680" cy="237744"/>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What do we build?</a:t>
            </a:r>
            <a:endParaRPr lang="en-US" sz="1000" dirty="0"/>
          </a:p>
        </p:txBody>
      </p:sp>
      <p:sp>
        <p:nvSpPr>
          <p:cNvPr id="27" name="Shape 24"/>
          <p:cNvSpPr/>
          <p:nvPr/>
        </p:nvSpPr>
        <p:spPr>
          <a:xfrm>
            <a:off x="7269480" y="4983480"/>
            <a:ext cx="2148840" cy="566928"/>
          </a:xfrm>
          <a:prstGeom prst="roundRect">
            <a:avLst>
              <a:gd name="adj" fmla="val 9677"/>
            </a:avLst>
          </a:prstGeom>
          <a:solidFill>
            <a:srgbClr val="2B5B80"/>
          </a:solidFill>
          <a:ln w="12700">
            <a:solidFill>
              <a:srgbClr val="2B5B80"/>
            </a:solidFill>
            <a:prstDash val="solid"/>
          </a:ln>
        </p:spPr>
      </p:sp>
      <p:sp>
        <p:nvSpPr>
          <p:cNvPr id="28" name="Text 25"/>
          <p:cNvSpPr txBox="1"/>
          <p:nvPr/>
        </p:nvSpPr>
        <p:spPr>
          <a:xfrm>
            <a:off x="7379208" y="5020056"/>
            <a:ext cx="2011680" cy="256032"/>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4  Implementation</a:t>
            </a:r>
            <a:endParaRPr lang="en-US" sz="1200" dirty="0"/>
          </a:p>
        </p:txBody>
      </p:sp>
      <p:sp>
        <p:nvSpPr>
          <p:cNvPr id="29" name="Text 26"/>
          <p:cNvSpPr txBox="1"/>
          <p:nvPr/>
        </p:nvSpPr>
        <p:spPr>
          <a:xfrm>
            <a:off x="7379208" y="5266944"/>
            <a:ext cx="2011680" cy="237744"/>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How does JSL deploy it?</a:t>
            </a:r>
            <a:endParaRPr lang="en-US" sz="1000" dirty="0"/>
          </a:p>
        </p:txBody>
      </p:sp>
      <p:sp>
        <p:nvSpPr>
          <p:cNvPr id="30" name="Shape 27"/>
          <p:cNvSpPr/>
          <p:nvPr/>
        </p:nvSpPr>
        <p:spPr>
          <a:xfrm>
            <a:off x="9509760" y="4983480"/>
            <a:ext cx="2148840" cy="566928"/>
          </a:xfrm>
          <a:prstGeom prst="roundRect">
            <a:avLst>
              <a:gd name="adj" fmla="val 9677"/>
            </a:avLst>
          </a:prstGeom>
          <a:solidFill>
            <a:srgbClr val="2B5B80"/>
          </a:solidFill>
          <a:ln w="12700">
            <a:solidFill>
              <a:srgbClr val="2B5B80"/>
            </a:solidFill>
            <a:prstDash val="solid"/>
          </a:ln>
        </p:spPr>
      </p:sp>
      <p:sp>
        <p:nvSpPr>
          <p:cNvPr id="31" name="Text 28"/>
          <p:cNvSpPr txBox="1"/>
          <p:nvPr/>
        </p:nvSpPr>
        <p:spPr>
          <a:xfrm>
            <a:off x="9619488" y="5020056"/>
            <a:ext cx="2011680" cy="256032"/>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5  Impact</a:t>
            </a:r>
            <a:endParaRPr lang="en-US" sz="1200" dirty="0"/>
          </a:p>
        </p:txBody>
      </p:sp>
      <p:sp>
        <p:nvSpPr>
          <p:cNvPr id="32" name="Text 29"/>
          <p:cNvSpPr txBox="1"/>
          <p:nvPr/>
        </p:nvSpPr>
        <p:spPr>
          <a:xfrm>
            <a:off x="9619488" y="5266944"/>
            <a:ext cx="2011680" cy="237744"/>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What is it worth?</a:t>
            </a:r>
            <a:endParaRPr lang="en-US" sz="1000" dirty="0"/>
          </a:p>
        </p:txBody>
      </p:sp>
      <p:sp>
        <p:nvSpPr>
          <p:cNvPr id="33" name="Text 30"/>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TEAM  [TEAM NAME]   |   [Member 1]  ·  [Member 2]  ·  [Member 3]  ·  [Member 4]   |   [INSTITUTION]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143A5A"/>
          </a:solidFill>
          <a:ln w="12700">
            <a:solidFill>
              <a:srgbClr val="143A5A"/>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 defect born at the caster is paid for at every later stage, but today it is found at the end of the line</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and by sampling, and nobody is told which process caused them.</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AMETEK Surface Vision, Ternium case study (2020); IISE, Measuring the Cost of Quality; ASTM A240 (304: 8.0-10.5% Ni); LME nickel USD 16,402/t and INR 95.8/USD, 22 Sep 2026; JSL FY26 results.</a:t>
            </a:r>
            <a:endParaRPr lang="en-US" sz="900" dirty="0"/>
          </a:p>
        </p:txBody>
      </p:sp>
      <p:sp>
        <p:nvSpPr>
          <p:cNvPr id="17" name="Shape 15"/>
          <p:cNvSpPr/>
          <p:nvPr/>
        </p:nvSpPr>
        <p:spPr>
          <a:xfrm>
            <a:off x="457200" y="1234440"/>
            <a:ext cx="76352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7452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found without automated inspection</a:t>
            </a:r>
            <a:endParaRPr lang="en-US" sz="1100" dirty="0"/>
          </a:p>
        </p:txBody>
      </p:sp>
      <p:sp>
        <p:nvSpPr>
          <p:cNvPr id="19" name="Text 17"/>
          <p:cNvSpPr txBox="1"/>
          <p:nvPr/>
        </p:nvSpPr>
        <p:spPr>
          <a:xfrm>
            <a:off x="502920"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20" name="Text 18"/>
          <p:cNvSpPr txBox="1"/>
          <p:nvPr/>
        </p:nvSpPr>
        <p:spPr>
          <a:xfrm>
            <a:off x="502920"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Inclusions, slivers</a:t>
            </a:r>
            <a:endParaRPr lang="en-US" sz="950" dirty="0"/>
          </a:p>
        </p:txBody>
      </p:sp>
      <p:sp>
        <p:nvSpPr>
          <p:cNvPr id="21" name="Shape 19"/>
          <p:cNvSpPr/>
          <p:nvPr/>
        </p:nvSpPr>
        <p:spPr>
          <a:xfrm>
            <a:off x="502920" y="2258568"/>
            <a:ext cx="1188720" cy="566928"/>
          </a:xfrm>
          <a:prstGeom prst="roundRect">
            <a:avLst>
              <a:gd name="adj" fmla="val 9677"/>
            </a:avLst>
          </a:prstGeom>
          <a:solidFill>
            <a:srgbClr val="143A5A"/>
          </a:solidFill>
          <a:ln w="12700">
            <a:solidFill>
              <a:srgbClr val="143A5A"/>
            </a:solidFill>
            <a:prstDash val="solid"/>
          </a:ln>
        </p:spPr>
      </p:sp>
      <p:sp>
        <p:nvSpPr>
          <p:cNvPr id="22" name="Text 20"/>
          <p:cNvSpPr txBox="1"/>
          <p:nvPr/>
        </p:nvSpPr>
        <p:spPr>
          <a:xfrm>
            <a:off x="548640"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Melt &amp; cast</a:t>
            </a:r>
            <a:endParaRPr lang="en-US" sz="1100" dirty="0"/>
          </a:p>
        </p:txBody>
      </p:sp>
      <p:sp>
        <p:nvSpPr>
          <p:cNvPr id="23" name="Text 21"/>
          <p:cNvSpPr txBox="1"/>
          <p:nvPr/>
        </p:nvSpPr>
        <p:spPr>
          <a:xfrm>
            <a:off x="548640"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SMS</a:t>
            </a:r>
            <a:endParaRPr lang="en-US" sz="950" dirty="0"/>
          </a:p>
        </p:txBody>
      </p:sp>
      <p:sp>
        <p:nvSpPr>
          <p:cNvPr id="24" name="Text 22"/>
          <p:cNvSpPr txBox="1"/>
          <p:nvPr/>
        </p:nvSpPr>
        <p:spPr>
          <a:xfrm>
            <a:off x="502920"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25" name="Text 23"/>
          <p:cNvSpPr txBox="1"/>
          <p:nvPr/>
        </p:nvSpPr>
        <p:spPr>
          <a:xfrm>
            <a:off x="502920" y="3063240"/>
            <a:ext cx="1188720" cy="201168"/>
          </a:xfrm>
          <a:prstGeom prst="rect">
            <a:avLst/>
          </a:prstGeom>
          <a:noFill/>
          <a:ln/>
        </p:spPr>
        <p:txBody>
          <a:bodyPr wrap="square" lIns="0" tIns="0" rIns="0" bIns="0" rtlCol="0" anchor="t"/>
          <a:lstStyle/>
          <a:p>
            <a:pPr indent="0" marL="0">
              <a:buNone/>
            </a:pPr>
            <a:r>
              <a:rPr lang="en-US" sz="1000" b="1" dirty="0">
                <a:solidFill>
                  <a:srgbClr val="C62828"/>
                </a:solidFill>
                <a:latin typeface="Calibri" pitchFamily="34" charset="0"/>
                <a:ea typeface="Calibri" pitchFamily="34" charset="-122"/>
                <a:cs typeface="Calibri" pitchFamily="34" charset="-120"/>
              </a:rPr>
              <a:t>none</a:t>
            </a:r>
            <a:endParaRPr lang="en-US" sz="1000" dirty="0"/>
          </a:p>
        </p:txBody>
      </p:sp>
      <p:sp>
        <p:nvSpPr>
          <p:cNvPr id="26" name="Text 24"/>
          <p:cNvSpPr txBox="1"/>
          <p:nvPr/>
        </p:nvSpPr>
        <p:spPr>
          <a:xfrm>
            <a:off x="1764792"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27" name="Text 25"/>
          <p:cNvSpPr txBox="1"/>
          <p:nvPr/>
        </p:nvSpPr>
        <p:spPr>
          <a:xfrm>
            <a:off x="1764792"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Rolled-in scale, pits, edge cracks</a:t>
            </a:r>
            <a:endParaRPr lang="en-US" sz="950" dirty="0"/>
          </a:p>
        </p:txBody>
      </p:sp>
      <p:sp>
        <p:nvSpPr>
          <p:cNvPr id="28" name="Shape 26"/>
          <p:cNvSpPr/>
          <p:nvPr/>
        </p:nvSpPr>
        <p:spPr>
          <a:xfrm>
            <a:off x="1764792" y="2258568"/>
            <a:ext cx="1188720" cy="566928"/>
          </a:xfrm>
          <a:prstGeom prst="roundRect">
            <a:avLst>
              <a:gd name="adj" fmla="val 9677"/>
            </a:avLst>
          </a:prstGeom>
          <a:solidFill>
            <a:srgbClr val="143A5A"/>
          </a:solidFill>
          <a:ln w="12700">
            <a:solidFill>
              <a:srgbClr val="143A5A"/>
            </a:solidFill>
            <a:prstDash val="solid"/>
          </a:ln>
        </p:spPr>
      </p:sp>
      <p:sp>
        <p:nvSpPr>
          <p:cNvPr id="29" name="Text 27"/>
          <p:cNvSpPr txBox="1"/>
          <p:nvPr/>
        </p:nvSpPr>
        <p:spPr>
          <a:xfrm>
            <a:off x="1810512"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Hot rolling</a:t>
            </a:r>
            <a:endParaRPr lang="en-US" sz="1100" dirty="0"/>
          </a:p>
        </p:txBody>
      </p:sp>
      <p:sp>
        <p:nvSpPr>
          <p:cNvPr id="30" name="Text 28"/>
          <p:cNvSpPr txBox="1"/>
          <p:nvPr/>
        </p:nvSpPr>
        <p:spPr>
          <a:xfrm>
            <a:off x="1810512"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HSM</a:t>
            </a:r>
            <a:endParaRPr lang="en-US" sz="950" dirty="0"/>
          </a:p>
        </p:txBody>
      </p:sp>
      <p:sp>
        <p:nvSpPr>
          <p:cNvPr id="31" name="Text 29"/>
          <p:cNvSpPr txBox="1"/>
          <p:nvPr/>
        </p:nvSpPr>
        <p:spPr>
          <a:xfrm>
            <a:off x="1764792"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32" name="Text 30"/>
          <p:cNvSpPr txBox="1"/>
          <p:nvPr/>
        </p:nvSpPr>
        <p:spPr>
          <a:xfrm>
            <a:off x="1764792" y="3063240"/>
            <a:ext cx="1188720" cy="201168"/>
          </a:xfrm>
          <a:prstGeom prst="rect">
            <a:avLst/>
          </a:prstGeom>
          <a:noFill/>
          <a:ln/>
        </p:spPr>
        <p:txBody>
          <a:bodyPr wrap="square" lIns="0" tIns="0" rIns="0" bIns="0" rtlCol="0" anchor="t"/>
          <a:lstStyle/>
          <a:p>
            <a:pPr indent="0" marL="0">
              <a:buNone/>
            </a:pPr>
            <a:r>
              <a:rPr lang="en-US" sz="1000" b="1" dirty="0">
                <a:solidFill>
                  <a:srgbClr val="C62828"/>
                </a:solidFill>
                <a:latin typeface="Calibri" pitchFamily="34" charset="0"/>
                <a:ea typeface="Calibri" pitchFamily="34" charset="-122"/>
                <a:cs typeface="Calibri" pitchFamily="34" charset="-120"/>
              </a:rPr>
              <a:t>none</a:t>
            </a:r>
            <a:endParaRPr lang="en-US" sz="1000" dirty="0"/>
          </a:p>
        </p:txBody>
      </p:sp>
      <p:sp>
        <p:nvSpPr>
          <p:cNvPr id="33" name="Text 31"/>
          <p:cNvSpPr txBox="1"/>
          <p:nvPr/>
        </p:nvSpPr>
        <p:spPr>
          <a:xfrm>
            <a:off x="3026664"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34" name="Text 32"/>
          <p:cNvSpPr txBox="1"/>
          <p:nvPr/>
        </p:nvSpPr>
        <p:spPr>
          <a:xfrm>
            <a:off x="3026664"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Pickling patches, over / under-pickle</a:t>
            </a:r>
            <a:endParaRPr lang="en-US" sz="950" dirty="0"/>
          </a:p>
        </p:txBody>
      </p:sp>
      <p:sp>
        <p:nvSpPr>
          <p:cNvPr id="35" name="Shape 33"/>
          <p:cNvSpPr/>
          <p:nvPr/>
        </p:nvSpPr>
        <p:spPr>
          <a:xfrm>
            <a:off x="3026664" y="2258568"/>
            <a:ext cx="1188720" cy="566928"/>
          </a:xfrm>
          <a:prstGeom prst="roundRect">
            <a:avLst>
              <a:gd name="adj" fmla="val 9677"/>
            </a:avLst>
          </a:prstGeom>
          <a:solidFill>
            <a:srgbClr val="143A5A"/>
          </a:solidFill>
          <a:ln w="12700">
            <a:solidFill>
              <a:srgbClr val="143A5A"/>
            </a:solidFill>
            <a:prstDash val="solid"/>
          </a:ln>
        </p:spPr>
      </p:sp>
      <p:sp>
        <p:nvSpPr>
          <p:cNvPr id="36" name="Text 34"/>
          <p:cNvSpPr txBox="1"/>
          <p:nvPr/>
        </p:nvSpPr>
        <p:spPr>
          <a:xfrm>
            <a:off x="3072384"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Anneal &amp; pickle</a:t>
            </a:r>
            <a:endParaRPr lang="en-US" sz="1100" dirty="0"/>
          </a:p>
        </p:txBody>
      </p:sp>
      <p:sp>
        <p:nvSpPr>
          <p:cNvPr id="37" name="Text 35"/>
          <p:cNvSpPr txBox="1"/>
          <p:nvPr/>
        </p:nvSpPr>
        <p:spPr>
          <a:xfrm>
            <a:off x="3072384"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HRAP</a:t>
            </a:r>
            <a:endParaRPr lang="en-US" sz="950" dirty="0"/>
          </a:p>
        </p:txBody>
      </p:sp>
      <p:sp>
        <p:nvSpPr>
          <p:cNvPr id="38" name="Text 36"/>
          <p:cNvSpPr txBox="1"/>
          <p:nvPr/>
        </p:nvSpPr>
        <p:spPr>
          <a:xfrm>
            <a:off x="3026664"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39" name="Text 37"/>
          <p:cNvSpPr txBox="1"/>
          <p:nvPr/>
        </p:nvSpPr>
        <p:spPr>
          <a:xfrm>
            <a:off x="3026664" y="3063240"/>
            <a:ext cx="1188720" cy="201168"/>
          </a:xfrm>
          <a:prstGeom prst="rect">
            <a:avLst/>
          </a:prstGeom>
          <a:noFill/>
          <a:ln/>
        </p:spPr>
        <p:txBody>
          <a:bodyPr wrap="square" lIns="0" tIns="0" rIns="0" bIns="0" rtlCol="0" anchor="t"/>
          <a:lstStyle/>
          <a:p>
            <a:pPr indent="0" marL="0">
              <a:buNone/>
            </a:pPr>
            <a:r>
              <a:rPr lang="en-US" sz="1000" b="1" dirty="0">
                <a:solidFill>
                  <a:srgbClr val="B77900"/>
                </a:solidFill>
                <a:latin typeface="Calibri" pitchFamily="34" charset="0"/>
                <a:ea typeface="Calibri" pitchFamily="34" charset="-122"/>
                <a:cs typeface="Calibri" pitchFamily="34" charset="-120"/>
              </a:rPr>
              <a:t>spot check</a:t>
            </a:r>
            <a:endParaRPr lang="en-US" sz="1000" dirty="0"/>
          </a:p>
        </p:txBody>
      </p:sp>
      <p:sp>
        <p:nvSpPr>
          <p:cNvPr id="40" name="Text 38"/>
          <p:cNvSpPr txBox="1"/>
          <p:nvPr/>
        </p:nvSpPr>
        <p:spPr>
          <a:xfrm>
            <a:off x="4288536"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41" name="Text 39"/>
          <p:cNvSpPr txBox="1"/>
          <p:nvPr/>
        </p:nvSpPr>
        <p:spPr>
          <a:xfrm>
            <a:off x="4288536"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Scratches, roll marks, crazing</a:t>
            </a:r>
            <a:endParaRPr lang="en-US" sz="950" dirty="0"/>
          </a:p>
        </p:txBody>
      </p:sp>
      <p:sp>
        <p:nvSpPr>
          <p:cNvPr id="42" name="Shape 40"/>
          <p:cNvSpPr/>
          <p:nvPr/>
        </p:nvSpPr>
        <p:spPr>
          <a:xfrm>
            <a:off x="4288536" y="2258568"/>
            <a:ext cx="1188720" cy="566928"/>
          </a:xfrm>
          <a:prstGeom prst="roundRect">
            <a:avLst>
              <a:gd name="adj" fmla="val 9677"/>
            </a:avLst>
          </a:prstGeom>
          <a:solidFill>
            <a:srgbClr val="143A5A"/>
          </a:solidFill>
          <a:ln w="12700">
            <a:solidFill>
              <a:srgbClr val="143A5A"/>
            </a:solidFill>
            <a:prstDash val="solid"/>
          </a:ln>
        </p:spPr>
      </p:sp>
      <p:sp>
        <p:nvSpPr>
          <p:cNvPr id="43" name="Text 41"/>
          <p:cNvSpPr txBox="1"/>
          <p:nvPr/>
        </p:nvSpPr>
        <p:spPr>
          <a:xfrm>
            <a:off x="4334256"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Cold rolling</a:t>
            </a:r>
            <a:endParaRPr lang="en-US" sz="1100" dirty="0"/>
          </a:p>
        </p:txBody>
      </p:sp>
      <p:sp>
        <p:nvSpPr>
          <p:cNvPr id="44" name="Text 42"/>
          <p:cNvSpPr txBox="1"/>
          <p:nvPr/>
        </p:nvSpPr>
        <p:spPr>
          <a:xfrm>
            <a:off x="4334256"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CRM</a:t>
            </a:r>
            <a:endParaRPr lang="en-US" sz="950" dirty="0"/>
          </a:p>
        </p:txBody>
      </p:sp>
      <p:sp>
        <p:nvSpPr>
          <p:cNvPr id="45" name="Text 43"/>
          <p:cNvSpPr txBox="1"/>
          <p:nvPr/>
        </p:nvSpPr>
        <p:spPr>
          <a:xfrm>
            <a:off x="4288536"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46" name="Text 44"/>
          <p:cNvSpPr txBox="1"/>
          <p:nvPr/>
        </p:nvSpPr>
        <p:spPr>
          <a:xfrm>
            <a:off x="4288536" y="3063240"/>
            <a:ext cx="1188720" cy="201168"/>
          </a:xfrm>
          <a:prstGeom prst="rect">
            <a:avLst/>
          </a:prstGeom>
          <a:noFill/>
          <a:ln/>
        </p:spPr>
        <p:txBody>
          <a:bodyPr wrap="square" lIns="0" tIns="0" rIns="0" bIns="0" rtlCol="0" anchor="t"/>
          <a:lstStyle/>
          <a:p>
            <a:pPr indent="0" marL="0">
              <a:buNone/>
            </a:pPr>
            <a:r>
              <a:rPr lang="en-US" sz="1000" b="1" dirty="0">
                <a:solidFill>
                  <a:srgbClr val="B77900"/>
                </a:solidFill>
                <a:latin typeface="Calibri" pitchFamily="34" charset="0"/>
                <a:ea typeface="Calibri" pitchFamily="34" charset="-122"/>
                <a:cs typeface="Calibri" pitchFamily="34" charset="-120"/>
              </a:rPr>
              <a:t>spot check</a:t>
            </a:r>
            <a:endParaRPr lang="en-US" sz="1000" dirty="0"/>
          </a:p>
        </p:txBody>
      </p:sp>
      <p:sp>
        <p:nvSpPr>
          <p:cNvPr id="47" name="Text 45"/>
          <p:cNvSpPr txBox="1"/>
          <p:nvPr/>
        </p:nvSpPr>
        <p:spPr>
          <a:xfrm>
            <a:off x="5550408"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48" name="Text 46"/>
          <p:cNvSpPr txBox="1"/>
          <p:nvPr/>
        </p:nvSpPr>
        <p:spPr>
          <a:xfrm>
            <a:off x="5550408"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Stains, BA marks, handling scratches</a:t>
            </a:r>
            <a:endParaRPr lang="en-US" sz="950" dirty="0"/>
          </a:p>
        </p:txBody>
      </p:sp>
      <p:sp>
        <p:nvSpPr>
          <p:cNvPr id="49" name="Shape 47"/>
          <p:cNvSpPr/>
          <p:nvPr/>
        </p:nvSpPr>
        <p:spPr>
          <a:xfrm>
            <a:off x="5550408" y="2258568"/>
            <a:ext cx="1188720" cy="566928"/>
          </a:xfrm>
          <a:prstGeom prst="roundRect">
            <a:avLst>
              <a:gd name="adj" fmla="val 9677"/>
            </a:avLst>
          </a:prstGeom>
          <a:solidFill>
            <a:srgbClr val="143A5A"/>
          </a:solidFill>
          <a:ln w="12700">
            <a:solidFill>
              <a:srgbClr val="143A5A"/>
            </a:solidFill>
            <a:prstDash val="solid"/>
          </a:ln>
        </p:spPr>
      </p:sp>
      <p:sp>
        <p:nvSpPr>
          <p:cNvPr id="50" name="Text 48"/>
          <p:cNvSpPr txBox="1"/>
          <p:nvPr/>
        </p:nvSpPr>
        <p:spPr>
          <a:xfrm>
            <a:off x="5596128"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Final anneal / BA</a:t>
            </a:r>
            <a:endParaRPr lang="en-US" sz="1100" dirty="0"/>
          </a:p>
        </p:txBody>
      </p:sp>
      <p:sp>
        <p:nvSpPr>
          <p:cNvPr id="51" name="Text 49"/>
          <p:cNvSpPr txBox="1"/>
          <p:nvPr/>
        </p:nvSpPr>
        <p:spPr>
          <a:xfrm>
            <a:off x="5596128"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CRAP / BA</a:t>
            </a:r>
            <a:endParaRPr lang="en-US" sz="950" dirty="0"/>
          </a:p>
        </p:txBody>
      </p:sp>
      <p:sp>
        <p:nvSpPr>
          <p:cNvPr id="52" name="Text 50"/>
          <p:cNvSpPr txBox="1"/>
          <p:nvPr/>
        </p:nvSpPr>
        <p:spPr>
          <a:xfrm>
            <a:off x="5550408"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53" name="Text 51"/>
          <p:cNvSpPr txBox="1"/>
          <p:nvPr/>
        </p:nvSpPr>
        <p:spPr>
          <a:xfrm>
            <a:off x="5550408" y="3063240"/>
            <a:ext cx="1188720" cy="201168"/>
          </a:xfrm>
          <a:prstGeom prst="rect">
            <a:avLst/>
          </a:prstGeom>
          <a:noFill/>
          <a:ln/>
        </p:spPr>
        <p:txBody>
          <a:bodyPr wrap="square" lIns="0" tIns="0" rIns="0" bIns="0" rtlCol="0" anchor="t"/>
          <a:lstStyle/>
          <a:p>
            <a:pPr indent="0" marL="0">
              <a:buNone/>
            </a:pPr>
            <a:r>
              <a:rPr lang="en-US" sz="1000" b="1" dirty="0">
                <a:solidFill>
                  <a:srgbClr val="B77900"/>
                </a:solidFill>
                <a:latin typeface="Calibri" pitchFamily="34" charset="0"/>
                <a:ea typeface="Calibri" pitchFamily="34" charset="-122"/>
                <a:cs typeface="Calibri" pitchFamily="34" charset="-120"/>
              </a:rPr>
              <a:t>visual sample</a:t>
            </a:r>
            <a:endParaRPr lang="en-US" sz="1000" dirty="0"/>
          </a:p>
        </p:txBody>
      </p:sp>
      <p:sp>
        <p:nvSpPr>
          <p:cNvPr id="54" name="Text 52"/>
          <p:cNvSpPr txBox="1"/>
          <p:nvPr/>
        </p:nvSpPr>
        <p:spPr>
          <a:xfrm>
            <a:off x="6812280"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55" name="Text 53"/>
          <p:cNvSpPr txBox="1"/>
          <p:nvPr/>
        </p:nvSpPr>
        <p:spPr>
          <a:xfrm>
            <a:off x="6812280"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Found here or by the customer</a:t>
            </a:r>
            <a:endParaRPr lang="en-US" sz="950" dirty="0"/>
          </a:p>
        </p:txBody>
      </p:sp>
      <p:sp>
        <p:nvSpPr>
          <p:cNvPr id="56" name="Shape 54"/>
          <p:cNvSpPr/>
          <p:nvPr/>
        </p:nvSpPr>
        <p:spPr>
          <a:xfrm>
            <a:off x="6812280" y="2258568"/>
            <a:ext cx="1188720" cy="566928"/>
          </a:xfrm>
          <a:prstGeom prst="roundRect">
            <a:avLst>
              <a:gd name="adj" fmla="val 9677"/>
            </a:avLst>
          </a:prstGeom>
          <a:solidFill>
            <a:srgbClr val="0086C3"/>
          </a:solidFill>
          <a:ln w="12700">
            <a:solidFill>
              <a:srgbClr val="0086C3"/>
            </a:solidFill>
            <a:prstDash val="solid"/>
          </a:ln>
        </p:spPr>
      </p:sp>
      <p:sp>
        <p:nvSpPr>
          <p:cNvPr id="57" name="Text 55"/>
          <p:cNvSpPr txBox="1"/>
          <p:nvPr/>
        </p:nvSpPr>
        <p:spPr>
          <a:xfrm>
            <a:off x="6858000"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Finish &amp; despatch</a:t>
            </a:r>
            <a:endParaRPr lang="en-US" sz="1100" dirty="0"/>
          </a:p>
        </p:txBody>
      </p:sp>
      <p:sp>
        <p:nvSpPr>
          <p:cNvPr id="58" name="Text 56"/>
          <p:cNvSpPr txBox="1"/>
          <p:nvPr/>
        </p:nvSpPr>
        <p:spPr>
          <a:xfrm>
            <a:off x="6858000"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Slit, cut</a:t>
            </a:r>
            <a:endParaRPr lang="en-US" sz="950" dirty="0"/>
          </a:p>
        </p:txBody>
      </p:sp>
      <p:sp>
        <p:nvSpPr>
          <p:cNvPr id="59" name="Text 57"/>
          <p:cNvSpPr txBox="1"/>
          <p:nvPr/>
        </p:nvSpPr>
        <p:spPr>
          <a:xfrm>
            <a:off x="6812280"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60" name="Text 58"/>
          <p:cNvSpPr txBox="1"/>
          <p:nvPr/>
        </p:nvSpPr>
        <p:spPr>
          <a:xfrm>
            <a:off x="6812280" y="3063240"/>
            <a:ext cx="1188720" cy="201168"/>
          </a:xfrm>
          <a:prstGeom prst="rect">
            <a:avLst/>
          </a:prstGeom>
          <a:noFill/>
          <a:ln/>
        </p:spPr>
        <p:txBody>
          <a:bodyPr wrap="square" lIns="0" tIns="0" rIns="0" bIns="0" rtlCol="0" anchor="t"/>
          <a:lstStyle/>
          <a:p>
            <a:pPr indent="0" marL="0">
              <a:buNone/>
            </a:pPr>
            <a:r>
              <a:rPr lang="en-US" sz="1000" b="1" dirty="0">
                <a:solidFill>
                  <a:srgbClr val="B77900"/>
                </a:solidFill>
                <a:latin typeface="Calibri" pitchFamily="34" charset="0"/>
                <a:ea typeface="Calibri" pitchFamily="34" charset="-122"/>
                <a:cs typeface="Calibri" pitchFamily="34" charset="-120"/>
              </a:rPr>
              <a:t>visual + claims</a:t>
            </a:r>
            <a:endParaRPr lang="en-US" sz="1000" dirty="0"/>
          </a:p>
        </p:txBody>
      </p:sp>
      <p:sp>
        <p:nvSpPr>
          <p:cNvPr id="61" name="Text 59"/>
          <p:cNvSpPr txBox="1"/>
          <p:nvPr/>
        </p:nvSpPr>
        <p:spPr>
          <a:xfrm>
            <a:off x="502920" y="3401568"/>
            <a:ext cx="7543800" cy="411480"/>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Value added keeps rising left to right: melt, rolling, annealing and pickling are all paid for before the coil is graded. "Seen today" is typical practice without automated surface inspection; JSL's own inspection coverage by line is a P0 input.</a:t>
            </a:r>
            <a:endParaRPr lang="en-US" sz="950" dirty="0"/>
          </a:p>
        </p:txBody>
      </p:sp>
      <p:sp>
        <p:nvSpPr>
          <p:cNvPr id="62" name="Shape 60"/>
          <p:cNvSpPr/>
          <p:nvPr/>
        </p:nvSpPr>
        <p:spPr>
          <a:xfrm>
            <a:off x="457200" y="3931920"/>
            <a:ext cx="7635240" cy="274320"/>
          </a:xfrm>
          <a:prstGeom prst="rect">
            <a:avLst/>
          </a:prstGeom>
          <a:solidFill>
            <a:srgbClr val="2B5B80"/>
          </a:solidFill>
          <a:ln w="12700">
            <a:solidFill>
              <a:srgbClr val="2B5B80"/>
            </a:solidFill>
            <a:prstDash val="solid"/>
          </a:ln>
        </p:spPr>
      </p:sp>
      <p:sp>
        <p:nvSpPr>
          <p:cNvPr id="63" name="Text 61"/>
          <p:cNvSpPr txBox="1"/>
          <p:nvPr/>
        </p:nvSpPr>
        <p:spPr>
          <a:xfrm>
            <a:off x="548640" y="3931920"/>
            <a:ext cx="7452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Cost-of-quality lens (PAF): where AI inspection moves the money</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4224528"/>
          <a:ext cx="7635240" cy="914400"/>
        </p:xfrm>
        <a:graphic>
          <a:graphicData uri="http://schemas.openxmlformats.org/drawingml/2006/table">
            <a:tbl>
              <a:tblPr/>
              <a:tblGrid>
                <a:gridCol w="868680"/>
                <a:gridCol w="1691640"/>
                <a:gridCol w="1691640"/>
                <a:gridCol w="1691640"/>
                <a:gridCol w="1691640"/>
              </a:tblGrid>
              <a:tr h="237744">
                <a:tc>
                  <a:txBody>
                    <a:bodyPr/>
                    <a:lstStyle/>
                    <a:p>
                      <a:pPr indent="0" marL="0">
                        <a:buNone/>
                      </a:pP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Prevention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Appraisal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Internal failure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External failure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Today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Process fixes happen after complaints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Manual, sampled, inspector-dependent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Downgrade, rework, re-pickle, scrap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Customer claims, returns, lost orders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0086C3"/>
                          </a:solidFill>
                          <a:latin typeface="Calibri" pitchFamily="34" charset="0"/>
                          <a:ea typeface="Calibri" pitchFamily="34" charset="-122"/>
                          <a:cs typeface="Calibri" pitchFamily="34" charset="-120"/>
                        </a:rPr>
                        <a:t>With AI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Typed defect sent to its owner in minutes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100% of the surface, the same rule on every coil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Caught upstream, before more value is added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Fewer escapes to exposed-finish customers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65" name="Text 62"/>
          <p:cNvSpPr txBox="1"/>
          <p:nvPr/>
        </p:nvSpPr>
        <p:spPr>
          <a:xfrm>
            <a:off x="457200" y="5440680"/>
            <a:ext cx="7635240" cy="41148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Output: shift spend from failure costs (right) to appraisal and prevention (left). Cost of poor quality averages ~15% of sales in manufacturing, range 5-35% (IISE).</a:t>
            </a:r>
            <a:endParaRPr lang="en-US" sz="950" dirty="0"/>
          </a:p>
        </p:txBody>
      </p:sp>
      <p:sp>
        <p:nvSpPr>
          <p:cNvPr id="66" name="Shape 63"/>
          <p:cNvSpPr/>
          <p:nvPr/>
        </p:nvSpPr>
        <p:spPr>
          <a:xfrm>
            <a:off x="8321040" y="1234440"/>
            <a:ext cx="3410712" cy="274320"/>
          </a:xfrm>
          <a:prstGeom prst="rect">
            <a:avLst/>
          </a:prstGeom>
          <a:solidFill>
            <a:srgbClr val="2B5B80"/>
          </a:solidFill>
          <a:ln w="12700">
            <a:solidFill>
              <a:srgbClr val="2B5B80"/>
            </a:solidFill>
            <a:prstDash val="solid"/>
          </a:ln>
        </p:spPr>
      </p:sp>
      <p:sp>
        <p:nvSpPr>
          <p:cNvPr id="67" name="Text 64"/>
          <p:cNvSpPr txBox="1"/>
          <p:nvPr/>
        </p:nvSpPr>
        <p:spPr>
          <a:xfrm>
            <a:off x="8412480" y="1234440"/>
            <a:ext cx="32278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sp>
        <p:nvSpPr>
          <p:cNvPr id="68" name="Text 65"/>
          <p:cNvSpPr txBox="1"/>
          <p:nvPr/>
        </p:nvSpPr>
        <p:spPr>
          <a:xfrm>
            <a:off x="8366760" y="1600200"/>
            <a:ext cx="3337560" cy="384048"/>
          </a:xfrm>
          <a:prstGeom prst="rect">
            <a:avLst/>
          </a:prstGeom>
          <a:noFill/>
          <a:ln/>
        </p:spPr>
        <p:txBody>
          <a:bodyPr wrap="square" lIns="0" tIns="0" rIns="0" bIns="0" rtlCol="0" anchor="t"/>
          <a:lstStyle/>
          <a:p>
            <a:pPr indent="0" marL="0">
              <a:buNone/>
            </a:pPr>
            <a:r>
              <a:rPr lang="en-US" sz="2200" b="1" dirty="0">
                <a:solidFill>
                  <a:srgbClr val="0086C3"/>
                </a:solidFill>
                <a:latin typeface="Calibri" pitchFamily="34" charset="0"/>
                <a:ea typeface="Calibri" pitchFamily="34" charset="-122"/>
                <a:cs typeface="Calibri" pitchFamily="34" charset="-120"/>
              </a:rPr>
              <a:t>300 m/min</a:t>
            </a:r>
            <a:endParaRPr lang="en-US" sz="2200" dirty="0"/>
          </a:p>
        </p:txBody>
      </p:sp>
      <p:sp>
        <p:nvSpPr>
          <p:cNvPr id="69" name="Text 66"/>
          <p:cNvSpPr txBox="1"/>
          <p:nvPr/>
        </p:nvSpPr>
        <p:spPr>
          <a:xfrm>
            <a:off x="8366760" y="1984248"/>
            <a:ext cx="3337560" cy="59436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"...it is impossible for the human eye to inspect the whole surface." AMETEK / Ternium, cold mill</a:t>
            </a:r>
            <a:endParaRPr lang="en-US" sz="950" dirty="0"/>
          </a:p>
        </p:txBody>
      </p:sp>
      <p:sp>
        <p:nvSpPr>
          <p:cNvPr id="70" name="Text 67"/>
          <p:cNvSpPr txBox="1"/>
          <p:nvPr/>
        </p:nvSpPr>
        <p:spPr>
          <a:xfrm>
            <a:off x="8366760" y="2651760"/>
            <a:ext cx="3337560" cy="384048"/>
          </a:xfrm>
          <a:prstGeom prst="rect">
            <a:avLst/>
          </a:prstGeom>
          <a:noFill/>
          <a:ln/>
        </p:spPr>
        <p:txBody>
          <a:bodyPr wrap="square" lIns="0" tIns="0" rIns="0" bIns="0" rtlCol="0" anchor="t"/>
          <a:lstStyle/>
          <a:p>
            <a:pPr indent="0" marL="0">
              <a:buNone/>
            </a:pPr>
            <a:r>
              <a:rPr lang="en-US" sz="2200" b="1" dirty="0">
                <a:solidFill>
                  <a:srgbClr val="0086C3"/>
                </a:solidFill>
                <a:latin typeface="Calibri" pitchFamily="34" charset="0"/>
                <a:ea typeface="Calibri" pitchFamily="34" charset="-122"/>
                <a:cs typeface="Calibri" pitchFamily="34" charset="-120"/>
              </a:rPr>
              <a:t>INR 1.26-1.65 lakh</a:t>
            </a:r>
            <a:endParaRPr lang="en-US" sz="2200" dirty="0"/>
          </a:p>
        </p:txBody>
      </p:sp>
      <p:sp>
        <p:nvSpPr>
          <p:cNvPr id="71" name="Text 68"/>
          <p:cNvSpPr txBox="1"/>
          <p:nvPr/>
        </p:nvSpPr>
        <p:spPr>
          <a:xfrm>
            <a:off x="8366760" y="3035808"/>
            <a:ext cx="3337560" cy="59436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of nickel in every tonne of 304 (8-10.5% Ni). Downgrading it gives away far more value than on carbon steel</a:t>
            </a:r>
            <a:endParaRPr lang="en-US" sz="950" dirty="0"/>
          </a:p>
        </p:txBody>
      </p:sp>
      <p:sp>
        <p:nvSpPr>
          <p:cNvPr id="72" name="Text 69"/>
          <p:cNvSpPr txBox="1"/>
          <p:nvPr/>
        </p:nvSpPr>
        <p:spPr>
          <a:xfrm>
            <a:off x="8366760" y="3703320"/>
            <a:ext cx="3337560" cy="384048"/>
          </a:xfrm>
          <a:prstGeom prst="rect">
            <a:avLst/>
          </a:prstGeom>
          <a:noFill/>
          <a:ln/>
        </p:spPr>
        <p:txBody>
          <a:bodyPr wrap="square" lIns="0" tIns="0" rIns="0" bIns="0" rtlCol="0" anchor="t"/>
          <a:lstStyle/>
          <a:p>
            <a:pPr indent="0" marL="0">
              <a:buNone/>
            </a:pPr>
            <a:r>
              <a:rPr lang="en-US" sz="2200" b="1" dirty="0">
                <a:solidFill>
                  <a:srgbClr val="0086C3"/>
                </a:solidFill>
                <a:latin typeface="Calibri" pitchFamily="34" charset="0"/>
                <a:ea typeface="Calibri" pitchFamily="34" charset="-122"/>
                <a:cs typeface="Calibri" pitchFamily="34" charset="-120"/>
              </a:rPr>
              <a:t>2.57 Mt</a:t>
            </a:r>
            <a:endParaRPr lang="en-US" sz="2200" dirty="0"/>
          </a:p>
        </p:txBody>
      </p:sp>
      <p:sp>
        <p:nvSpPr>
          <p:cNvPr id="73" name="Text 70"/>
          <p:cNvSpPr txBox="1"/>
          <p:nvPr/>
        </p:nvSpPr>
        <p:spPr>
          <a:xfrm>
            <a:off x="8366760" y="4087368"/>
            <a:ext cx="3337560" cy="59436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 FY26 sales at INR 1,67,407/t blended realisation, so every 0.1% downgraded is ~2,570 t</a:t>
            </a:r>
            <a:endParaRPr lang="en-US" sz="950" dirty="0"/>
          </a:p>
        </p:txBody>
      </p:sp>
      <p:sp>
        <p:nvSpPr>
          <p:cNvPr id="74" name="Shape 71"/>
          <p:cNvSpPr/>
          <p:nvPr/>
        </p:nvSpPr>
        <p:spPr>
          <a:xfrm>
            <a:off x="8321040" y="4800600"/>
            <a:ext cx="3410712" cy="1051560"/>
          </a:xfrm>
          <a:prstGeom prst="roundRect">
            <a:avLst>
              <a:gd name="adj" fmla="val 5217"/>
            </a:avLst>
          </a:prstGeom>
          <a:solidFill>
            <a:srgbClr val="F1F4F7"/>
          </a:solidFill>
          <a:ln w="12700">
            <a:solidFill>
              <a:srgbClr val="F1F4F7"/>
            </a:solidFill>
            <a:prstDash val="solid"/>
          </a:ln>
        </p:spPr>
      </p:sp>
      <p:sp>
        <p:nvSpPr>
          <p:cNvPr id="75" name="Text 72"/>
          <p:cNvSpPr txBox="1"/>
          <p:nvPr/>
        </p:nvSpPr>
        <p:spPr>
          <a:xfrm>
            <a:off x="8412480" y="4846320"/>
            <a:ext cx="3246120" cy="960120"/>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Problem statement
</a:t>
            </a:r>
            <a:pPr indent="0" marL="0">
              <a:buNone/>
            </a:pPr>
            <a:r>
              <a:rPr lang="en-US" sz="1000" dirty="0">
                <a:solidFill>
                  <a:srgbClr val="141C24"/>
                </a:solidFill>
                <a:latin typeface="Calibri" pitchFamily="34" charset="0"/>
                <a:ea typeface="Calibri" pitchFamily="34" charset="-122"/>
                <a:cs typeface="Calibri" pitchFamily="34" charset="-120"/>
              </a:rPr>
              <a:t>How might JSL detect, classify and score every surface defect at line speed, early enough to act, and tell the right process owner what caused it?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On stainless the surface is the product, so grade, finish and root cause decide which defect matters</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a 300-series cold-rolled line.</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ASSDA, 2B/2D/BA finishes; JSL Q1 FY27 earnings call and results (Aug 2026); JSL cold-rolling expansion to 2.67 MTPA; Steel in Translation 2023 (rolled-in scale); Leão et al. 2021 (tundish slivers). Matrix: team hypothesis.</a:t>
            </a:r>
            <a:endParaRPr lang="en-US" sz="900" dirty="0"/>
          </a:p>
        </p:txBody>
      </p:sp>
      <p:sp>
        <p:nvSpPr>
          <p:cNvPr id="17" name="Shape 15"/>
          <p:cNvSpPr/>
          <p:nvPr/>
        </p:nvSpPr>
        <p:spPr>
          <a:xfrm>
            <a:off x="457200" y="1234440"/>
            <a:ext cx="356616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3832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Three facts that change the brief</a:t>
            </a:r>
            <a:endParaRPr lang="en-US" sz="1100" dirty="0"/>
          </a:p>
        </p:txBody>
      </p:sp>
      <p:sp>
        <p:nvSpPr>
          <p:cNvPr id="19" name="Shape 17"/>
          <p:cNvSpPr/>
          <p:nvPr/>
        </p:nvSpPr>
        <p:spPr>
          <a:xfrm>
            <a:off x="502920" y="1627632"/>
            <a:ext cx="256032" cy="256032"/>
          </a:xfrm>
          <a:prstGeom prst="ellipse">
            <a:avLst/>
          </a:prstGeom>
          <a:solidFill>
            <a:srgbClr val="0086C3"/>
          </a:solidFill>
          <a:ln w="12700">
            <a:solidFill>
              <a:srgbClr val="0086C3"/>
            </a:solidFill>
            <a:prstDash val="solid"/>
          </a:ln>
        </p:spPr>
      </p:sp>
      <p:sp>
        <p:nvSpPr>
          <p:cNvPr id="20" name="Text 18"/>
          <p:cNvSpPr txBox="1"/>
          <p:nvPr/>
        </p:nvSpPr>
        <p:spPr>
          <a:xfrm>
            <a:off x="502920" y="16276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19"/>
          <p:cNvSpPr txBox="1"/>
          <p:nvPr/>
        </p:nvSpPr>
        <p:spPr>
          <a:xfrm>
            <a:off x="868680" y="1600200"/>
            <a:ext cx="3154680" cy="256032"/>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The finish cannot be repaired</a:t>
            </a:r>
            <a:endParaRPr lang="en-US" sz="1100" dirty="0"/>
          </a:p>
        </p:txBody>
      </p:sp>
      <p:sp>
        <p:nvSpPr>
          <p:cNvPr id="22" name="Text 20"/>
          <p:cNvSpPr txBox="1"/>
          <p:nvPr/>
        </p:nvSpPr>
        <p:spPr>
          <a:xfrm>
            <a:off x="868680" y="1847088"/>
            <a:ext cx="3154680" cy="45720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For mill finishes like 2B and BA, "surface damage such as scratches, grinding marks or spatter cannot be matched by polishing" (ASSDA).</a:t>
            </a:r>
            <a:endParaRPr lang="en-US" sz="950" dirty="0"/>
          </a:p>
        </p:txBody>
      </p:sp>
      <p:sp>
        <p:nvSpPr>
          <p:cNvPr id="23" name="Shape 21"/>
          <p:cNvSpPr/>
          <p:nvPr/>
        </p:nvSpPr>
        <p:spPr>
          <a:xfrm>
            <a:off x="502920" y="2340864"/>
            <a:ext cx="256032" cy="256032"/>
          </a:xfrm>
          <a:prstGeom prst="ellipse">
            <a:avLst/>
          </a:prstGeom>
          <a:solidFill>
            <a:srgbClr val="0086C3"/>
          </a:solidFill>
          <a:ln w="12700">
            <a:solidFill>
              <a:srgbClr val="0086C3"/>
            </a:solidFill>
            <a:prstDash val="solid"/>
          </a:ln>
        </p:spPr>
      </p:sp>
      <p:sp>
        <p:nvSpPr>
          <p:cNvPr id="24" name="Text 22"/>
          <p:cNvSpPr txBox="1"/>
          <p:nvPr/>
        </p:nvSpPr>
        <p:spPr>
          <a:xfrm>
            <a:off x="502920" y="234086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3"/>
          <p:cNvSpPr txBox="1"/>
          <p:nvPr/>
        </p:nvSpPr>
        <p:spPr>
          <a:xfrm>
            <a:off x="868680" y="2313432"/>
            <a:ext cx="3154680" cy="256032"/>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JSL is moving toward surface-critical tonnes</a:t>
            </a:r>
            <a:endParaRPr lang="en-US" sz="1100" dirty="0"/>
          </a:p>
        </p:txBody>
      </p:sp>
      <p:sp>
        <p:nvSpPr>
          <p:cNvPr id="26" name="Text 24"/>
          <p:cNvSpPr txBox="1"/>
          <p:nvPr/>
        </p:nvSpPr>
        <p:spPr>
          <a:xfrm>
            <a:off x="868680" y="2560320"/>
            <a:ext cx="3154680" cy="45720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Cold rolling grows 2.05 to 2.67 MTPA by FY28. The 300-series mix held margins in Q1 FY27. Exports are 11% (Japan, Korea, Brazil).</a:t>
            </a:r>
            <a:endParaRPr lang="en-US" sz="950" dirty="0"/>
          </a:p>
        </p:txBody>
      </p:sp>
      <p:sp>
        <p:nvSpPr>
          <p:cNvPr id="27" name="Shape 25"/>
          <p:cNvSpPr/>
          <p:nvPr/>
        </p:nvSpPr>
        <p:spPr>
          <a:xfrm>
            <a:off x="502920" y="3054096"/>
            <a:ext cx="256032" cy="256032"/>
          </a:xfrm>
          <a:prstGeom prst="ellipse">
            <a:avLst/>
          </a:prstGeom>
          <a:solidFill>
            <a:srgbClr val="0086C3"/>
          </a:solidFill>
          <a:ln w="12700">
            <a:solidFill>
              <a:srgbClr val="0086C3"/>
            </a:solidFill>
            <a:prstDash val="solid"/>
          </a:ln>
        </p:spPr>
      </p:sp>
      <p:sp>
        <p:nvSpPr>
          <p:cNvPr id="28" name="Text 26"/>
          <p:cNvSpPr txBox="1"/>
          <p:nvPr/>
        </p:nvSpPr>
        <p:spPr>
          <a:xfrm>
            <a:off x="502920" y="30540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9" name="Text 27"/>
          <p:cNvSpPr txBox="1"/>
          <p:nvPr/>
        </p:nvSpPr>
        <p:spPr>
          <a:xfrm>
            <a:off x="868680" y="3026664"/>
            <a:ext cx="3154680" cy="256032"/>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End markets see the surface</a:t>
            </a:r>
            <a:endParaRPr lang="en-US" sz="1100" dirty="0"/>
          </a:p>
        </p:txBody>
      </p:sp>
      <p:sp>
        <p:nvSpPr>
          <p:cNvPr id="30" name="Text 28"/>
          <p:cNvSpPr txBox="1"/>
          <p:nvPr/>
        </p:nvSpPr>
        <p:spPr>
          <a:xfrm>
            <a:off x="868680" y="3273552"/>
            <a:ext cx="3154680" cy="45720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Automotive, railways, metros and white goods drive demand (Q1 FY27 call). BA goes into appliance interiors.</a:t>
            </a:r>
            <a:endParaRPr lang="en-US" sz="950" dirty="0"/>
          </a:p>
        </p:txBody>
      </p:sp>
      <p:sp>
        <p:nvSpPr>
          <p:cNvPr id="31" name="Shape 29"/>
          <p:cNvSpPr/>
          <p:nvPr/>
        </p:nvSpPr>
        <p:spPr>
          <a:xfrm>
            <a:off x="4251960" y="1234440"/>
            <a:ext cx="7479792" cy="274320"/>
          </a:xfrm>
          <a:prstGeom prst="rect">
            <a:avLst/>
          </a:prstGeom>
          <a:solidFill>
            <a:srgbClr val="2B5B80"/>
          </a:solidFill>
          <a:ln w="12700">
            <a:solidFill>
              <a:srgbClr val="2B5B80"/>
            </a:solidFill>
            <a:prstDash val="solid"/>
          </a:ln>
        </p:spPr>
      </p:sp>
      <p:sp>
        <p:nvSpPr>
          <p:cNvPr id="32" name="Text 30"/>
          <p:cNvSpPr txBox="1"/>
          <p:nvPr/>
        </p:nvSpPr>
        <p:spPr>
          <a:xfrm>
            <a:off x="4343400" y="1234440"/>
            <a:ext cx="729691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Framework: grade-by-defect risk matrix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251960" y="1554480"/>
          <a:ext cx="7479792" cy="914400"/>
        </p:xfrm>
        <a:graphic>
          <a:graphicData uri="http://schemas.openxmlformats.org/drawingml/2006/table">
            <a:tbl>
              <a:tblPr/>
              <a:tblGrid>
                <a:gridCol w="1554480"/>
                <a:gridCol w="914400"/>
                <a:gridCol w="914400"/>
                <a:gridCol w="987552"/>
                <a:gridCol w="868680"/>
                <a:gridCol w="868680"/>
                <a:gridCol w="1371600"/>
              </a:tblGrid>
              <a:tr h="24688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 family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Slivers, inclusions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Scale, pickling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Scratches, roll marks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Ridging, roping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Typical exposed use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4688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Kitchenware, tubes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688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Appliances, auto, rail</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688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Exhaust, white goods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688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Process, infrastructure</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34" name="Text 31"/>
          <p:cNvSpPr txBox="1"/>
          <p:nvPr/>
        </p:nvSpPr>
        <p:spPr>
          <a:xfrm>
            <a:off x="4251960" y="2862072"/>
            <a:ext cx="7479792" cy="54864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H / M / L = relative surface risk. Team hypothesis from metallurgy literature (e.g. TiN-cluster slivers in Ti-stabilised grades, ridging in ferritic 430, poor hot ductility in duplex); to be re-scored in P0 against JSL's defect records. Output: 300 series carries the highest risk on exposed finishes and the most nickel per tonne, so it is the pilot grade.</a:t>
            </a:r>
            <a:endParaRPr lang="en-US" sz="950" dirty="0"/>
          </a:p>
        </p:txBody>
      </p:sp>
      <p:sp>
        <p:nvSpPr>
          <p:cNvPr id="35" name="Shape 32"/>
          <p:cNvSpPr/>
          <p:nvPr/>
        </p:nvSpPr>
        <p:spPr>
          <a:xfrm>
            <a:off x="457200" y="3794760"/>
            <a:ext cx="11274552" cy="274320"/>
          </a:xfrm>
          <a:prstGeom prst="rect">
            <a:avLst/>
          </a:prstGeom>
          <a:solidFill>
            <a:srgbClr val="2B5B80"/>
          </a:solidFill>
          <a:ln w="12700">
            <a:solidFill>
              <a:srgbClr val="2B5B80"/>
            </a:solidFill>
            <a:prstDash val="solid"/>
          </a:ln>
        </p:spPr>
      </p:sp>
      <p:sp>
        <p:nvSpPr>
          <p:cNvPr id="36" name="Text 33"/>
          <p:cNvSpPr txBox="1"/>
          <p:nvPr/>
        </p:nvSpPr>
        <p:spPr>
          <a:xfrm>
            <a:off x="548640" y="379476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Framework: root-cause routing (condensed fishbone). Each class the model outputs maps to a process owner</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57200" y="4087368"/>
          <a:ext cx="11274552" cy="914400"/>
        </p:xfrm>
        <a:graphic>
          <a:graphicData uri="http://schemas.openxmlformats.org/drawingml/2006/table">
            <a:tbl>
              <a:tblPr/>
              <a:tblGrid>
                <a:gridCol w="1737360"/>
                <a:gridCol w="1188720"/>
                <a:gridCol w="4114800"/>
                <a:gridCol w="1280160"/>
                <a:gridCol w="2953512"/>
              </a:tblGrid>
              <a:tr h="21945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Defect family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Born at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Likely cause (evidence)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Owner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First corrective action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83464">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Inclusion, sliver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Caster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Low tundish level, mould-flux entrainment, reoxidation (Leão 2021)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Hold tundish level, review flux; tag the heat ID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83464">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Rolled-in scale, pits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Reheat, 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Descaler pressure below spec, blocked nozzles (Steel in Translation 2023)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Keep descaler above ~180 bar, clear nozzles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83464">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Patches, pickling marks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HRAP / CRAP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Uneven scale removal; acid concentration, temperature, line speed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Pickling line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Check acid concentration and speed across width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83464">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Scratches, roll marks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CRM, handling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Guides, roller tables, roll surface condition, coil handling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CRM / logistics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Inspect guides, trigger roll change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83464">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cooling, low hot ductility (duplex, ferritic)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heating and trim practice; needs edge cameras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Our Round 1 build produced four findings, and each one changed the design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model is the cheap part. JSL's own strip, the resolution spec, and trustworthy confidence decide whether the system works.</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All numbers measured by us on three public steel-surface datasets, on images the model never saw in training.</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A model that has never seen clean steel raises false alarms on it</a:t>
            </a:r>
            <a:endParaRPr lang="en-US" sz="1100" dirty="0"/>
          </a:p>
        </p:txBody>
      </p:sp>
      <p:sp>
        <p:nvSpPr>
          <p:cNvPr id="19" name="Shape 17"/>
          <p:cNvSpPr/>
          <p:nvPr/>
        </p:nvSpPr>
        <p:spPr>
          <a:xfrm>
            <a:off x="457200" y="1508760"/>
            <a:ext cx="5541264" cy="2011680"/>
          </a:xfrm>
          <a:prstGeom prst="roundRect">
            <a:avLst>
              <a:gd name="adj" fmla="val 2727"/>
            </a:avLst>
          </a:prstGeom>
          <a:solidFill>
            <a:srgbClr val="F1F4F7"/>
          </a:solidFill>
          <a:ln w="12700">
            <a:solidFill>
              <a:srgbClr val="F1F4F7"/>
            </a:solidFill>
            <a:prstDash val="solid"/>
          </a:ln>
        </p:spPr>
      </p:sp>
      <p:graphicFrame>
        <p:nvGraphicFramePr>
          <p:cNvPr id="20" name="Chart 0" descr=""/>
          <p:cNvGraphicFramePr/>
          <p:nvPr/>
        </p:nvGraphicFramePr>
        <p:xfrm>
          <a:off x="548640" y="1554480"/>
          <a:ext cx="3383280" cy="160020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4023360" y="1572768"/>
            <a:ext cx="1920240" cy="1645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On 505 certified-clean steel images, a model trained only on defects flagged 93.7% as defective. Adding real clean strip to training cut that to 32.5%, and accuracy went up, not down. Training on clean strip alone fails: it stops finding defects.</a:t>
            </a:r>
            <a:endParaRPr lang="en-US" sz="950" dirty="0"/>
          </a:p>
        </p:txBody>
      </p:sp>
      <p:sp>
        <p:nvSpPr>
          <p:cNvPr id="22" name="Text 19"/>
          <p:cNvSpPr txBox="1"/>
          <p:nvPr/>
        </p:nvSpPr>
        <p:spPr>
          <a:xfrm>
            <a:off x="566928" y="3136392"/>
            <a:ext cx="5321808" cy="347472"/>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train on JSL's own clean and defective strip before any alarm is trusted.</a:t>
            </a:r>
            <a:endParaRPr lang="en-US" sz="1000" dirty="0"/>
          </a:p>
        </p:txBody>
      </p:sp>
      <p:sp>
        <p:nvSpPr>
          <p:cNvPr id="23" name="Shape 20"/>
          <p:cNvSpPr/>
          <p:nvPr/>
        </p:nvSpPr>
        <p:spPr>
          <a:xfrm>
            <a:off x="6190488" y="1234440"/>
            <a:ext cx="5541264" cy="274320"/>
          </a:xfrm>
          <a:prstGeom prst="rect">
            <a:avLst/>
          </a:prstGeom>
          <a:solidFill>
            <a:srgbClr val="2B5B80"/>
          </a:solidFill>
          <a:ln w="12700">
            <a:solidFill>
              <a:srgbClr val="2B5B80"/>
            </a:solidFill>
            <a:prstDash val="solid"/>
          </a:ln>
        </p:spPr>
      </p:sp>
      <p:sp>
        <p:nvSpPr>
          <p:cNvPr id="24" name="Text 21"/>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A bigger model or sharper images did not help</a:t>
            </a:r>
            <a:endParaRPr lang="en-US" sz="1100" dirty="0"/>
          </a:p>
        </p:txBody>
      </p:sp>
      <p:sp>
        <p:nvSpPr>
          <p:cNvPr id="25" name="Shape 22"/>
          <p:cNvSpPr/>
          <p:nvPr/>
        </p:nvSpPr>
        <p:spPr>
          <a:xfrm>
            <a:off x="6190488" y="1508760"/>
            <a:ext cx="5541264" cy="2011680"/>
          </a:xfrm>
          <a:prstGeom prst="roundRect">
            <a:avLst>
              <a:gd name="adj" fmla="val 2727"/>
            </a:avLst>
          </a:prstGeom>
          <a:solidFill>
            <a:srgbClr val="F1F4F7"/>
          </a:solidFill>
          <a:ln w="12700">
            <a:solidFill>
              <a:srgbClr val="F1F4F7"/>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81928" y="1572768"/>
          <a:ext cx="5358384" cy="914400"/>
        </p:xfrm>
        <a:graphic>
          <a:graphicData uri="http://schemas.openxmlformats.org/drawingml/2006/table">
            <a:tbl>
              <a:tblPr/>
              <a:tblGrid>
                <a:gridCol w="2286000"/>
                <a:gridCol w="822960"/>
                <a:gridCol w="1243584"/>
                <a:gridCol w="1005840"/>
              </a:tblGrid>
              <a:tr h="22402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Option tested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Accuracy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Extra cost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Verdict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24028">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Compact model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0.752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2E7D32"/>
                          </a:solidFill>
                          <a:latin typeface="Calibri" pitchFamily="34" charset="0"/>
                          <a:ea typeface="Calibri" pitchFamily="34" charset="-122"/>
                          <a:cs typeface="Calibri" pitchFamily="34" charset="-120"/>
                        </a:rPr>
                        <a:t>Chosen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24028">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Compact model + clean strip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0.764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2E7D32"/>
                          </a:solidFill>
                          <a:latin typeface="Calibri" pitchFamily="34" charset="0"/>
                          <a:ea typeface="Calibri" pitchFamily="34" charset="-122"/>
                          <a:cs typeface="Calibri" pitchFamily="34" charset="-120"/>
                        </a:rPr>
                        <a:t>Ready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24028">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Model 3.7x larger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0.734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3.5x compute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B77900"/>
                          </a:solidFill>
                          <a:latin typeface="Calibri" pitchFamily="34" charset="0"/>
                          <a:ea typeface="Calibri" pitchFamily="34" charset="-122"/>
                          <a:cs typeface="Calibri" pitchFamily="34" charset="-120"/>
                        </a:rPr>
                        <a:t>No gain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24028">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4x sharper input images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0.734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4x pixels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B77900"/>
                          </a:solidFill>
                          <a:latin typeface="Calibri" pitchFamily="34" charset="0"/>
                          <a:ea typeface="Calibri" pitchFamily="34" charset="-122"/>
                          <a:cs typeface="Calibri" pitchFamily="34" charset="-120"/>
                        </a:rPr>
                        <a:t>No gain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24028">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Extra processing per image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0.006 lower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2.4x slower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C62828"/>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27" name="Text 23"/>
          <p:cNvSpPr txBox="1"/>
          <p:nvPr/>
        </p:nvSpPr>
        <p:spPr>
          <a:xfrm>
            <a:off x="6281928" y="2944368"/>
            <a:ext cx="5358384"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Accuracy on held-out images. The gap between compact and large models is within noise.</a:t>
            </a:r>
            <a:endParaRPr lang="en-US" sz="900" dirty="0"/>
          </a:p>
        </p:txBody>
      </p:sp>
      <p:sp>
        <p:nvSpPr>
          <p:cNvPr id="28" name="Text 24"/>
          <p:cNvSpPr txBox="1"/>
          <p:nvPr/>
        </p:nvSpPr>
        <p:spPr>
          <a:xfrm>
            <a:off x="6300216" y="3136392"/>
            <a:ext cx="5321808" cy="347472"/>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keep the model compact and spend the budget on camera coverage instead.</a:t>
            </a:r>
            <a:endParaRPr lang="en-US" sz="1000" dirty="0"/>
          </a:p>
        </p:txBody>
      </p:sp>
      <p:sp>
        <p:nvSpPr>
          <p:cNvPr id="29" name="Shape 25"/>
          <p:cNvSpPr/>
          <p:nvPr/>
        </p:nvSpPr>
        <p:spPr>
          <a:xfrm>
            <a:off x="457200" y="3630168"/>
            <a:ext cx="5541264" cy="274320"/>
          </a:xfrm>
          <a:prstGeom prst="rect">
            <a:avLst/>
          </a:prstGeom>
          <a:solidFill>
            <a:srgbClr val="2B5B80"/>
          </a:solidFill>
          <a:ln w="12700">
            <a:solidFill>
              <a:srgbClr val="2B5B80"/>
            </a:solidFill>
            <a:prstDash val="solid"/>
          </a:ln>
        </p:spPr>
      </p:sp>
      <p:sp>
        <p:nvSpPr>
          <p:cNvPr id="30" name="Text 26"/>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Line speed, not the model, sets the hardware bill</a:t>
            </a:r>
            <a:endParaRPr lang="en-US" sz="1100" dirty="0"/>
          </a:p>
        </p:txBody>
      </p:sp>
      <p:sp>
        <p:nvSpPr>
          <p:cNvPr id="31" name="Shape 27"/>
          <p:cNvSpPr/>
          <p:nvPr/>
        </p:nvSpPr>
        <p:spPr>
          <a:xfrm>
            <a:off x="457200" y="3904488"/>
            <a:ext cx="5541264" cy="2011680"/>
          </a:xfrm>
          <a:prstGeom prst="roundRect">
            <a:avLst>
              <a:gd name="adj" fmla="val 2727"/>
            </a:avLst>
          </a:prstGeom>
          <a:solidFill>
            <a:srgbClr val="F1F4F7"/>
          </a:solidFill>
          <a:ln w="12700">
            <a:solidFill>
              <a:srgbClr val="F1F4F7"/>
            </a:solidFill>
            <a:prstDash val="solid"/>
          </a:ln>
        </p:spPr>
      </p:sp>
      <p:sp>
        <p:nvSpPr>
          <p:cNvPr id="32" name="Text 28"/>
          <p:cNvSpPr txBox="1"/>
          <p:nvPr/>
        </p:nvSpPr>
        <p:spPr>
          <a:xfrm>
            <a:off x="594360" y="3977640"/>
            <a:ext cx="2468880" cy="548640"/>
          </a:xfrm>
          <a:prstGeom prst="rect">
            <a:avLst/>
          </a:prstGeom>
          <a:noFill/>
          <a:ln/>
        </p:spPr>
        <p:txBody>
          <a:bodyPr wrap="square" lIns="0" tIns="0" rIns="0" bIns="0" rtlCol="0" anchor="t"/>
          <a:lstStyle/>
          <a:p>
            <a:pPr indent="0" marL="0">
              <a:buNone/>
            </a:pPr>
            <a:r>
              <a:rPr lang="en-US" sz="3600" b="1" dirty="0">
                <a:solidFill>
                  <a:srgbClr val="143A5A"/>
                </a:solidFill>
                <a:latin typeface="Calibri" pitchFamily="34" charset="0"/>
                <a:ea typeface="Calibri" pitchFamily="34" charset="-122"/>
                <a:cs typeface="Calibri" pitchFamily="34" charset="-120"/>
              </a:rPr>
              <a:t>~18</a:t>
            </a:r>
            <a:endParaRPr lang="en-US" sz="3600" dirty="0"/>
          </a:p>
        </p:txBody>
      </p:sp>
      <p:sp>
        <p:nvSpPr>
          <p:cNvPr id="33" name="Text 29"/>
          <p:cNvSpPr txBox="1"/>
          <p:nvPr/>
        </p:nvSpPr>
        <p:spPr>
          <a:xfrm>
            <a:off x="594360" y="4526280"/>
            <a:ext cx="2514600" cy="86868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processors needed to see every 0.2 mm of a 1.28 m wide strip moving at 250 m/min</a:t>
            </a:r>
            <a:endParaRPr lang="en-US" sz="950" dirty="0"/>
          </a:p>
        </p:txBody>
      </p:sp>
      <p:sp>
        <p:nvSpPr>
          <p:cNvPr id="34" name="Text 30"/>
          <p:cNvSpPr txBox="1"/>
          <p:nvPr/>
        </p:nvSpPr>
        <p:spPr>
          <a:xfrm>
            <a:off x="3291840" y="3977640"/>
            <a:ext cx="2468880" cy="548640"/>
          </a:xfrm>
          <a:prstGeom prst="rect">
            <a:avLst/>
          </a:prstGeom>
          <a:noFill/>
          <a:ln/>
        </p:spPr>
        <p:txBody>
          <a:bodyPr wrap="square" lIns="0" tIns="0" rIns="0" bIns="0" rtlCol="0" anchor="t"/>
          <a:lstStyle/>
          <a:p>
            <a:pPr indent="0" marL="0">
              <a:buNone/>
            </a:pPr>
            <a:r>
              <a:rPr lang="en-US" sz="3600" b="1" dirty="0">
                <a:solidFill>
                  <a:srgbClr val="5F6B78"/>
                </a:solidFill>
                <a:latin typeface="Calibri" pitchFamily="34" charset="0"/>
                <a:ea typeface="Calibri" pitchFamily="34" charset="-122"/>
                <a:cs typeface="Calibri" pitchFamily="34" charset="-120"/>
              </a:rPr>
              <a:t>1</a:t>
            </a:r>
            <a:endParaRPr lang="en-US" sz="3600" dirty="0"/>
          </a:p>
        </p:txBody>
      </p:sp>
      <p:sp>
        <p:nvSpPr>
          <p:cNvPr id="35" name="Text 31"/>
          <p:cNvSpPr txBox="1"/>
          <p:nvPr/>
        </p:nvSpPr>
        <p:spPr>
          <a:xfrm>
            <a:off x="3291840" y="4526280"/>
            <a:ext cx="2743200" cy="86868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processor is enough if images are coarsened to 1.28 mm, but fine scratches and crazing then disappear</a:t>
            </a:r>
            <a:endParaRPr lang="en-US" sz="950" dirty="0"/>
          </a:p>
        </p:txBody>
      </p:sp>
      <p:sp>
        <p:nvSpPr>
          <p:cNvPr id="36" name="Text 32"/>
          <p:cNvSpPr txBox="1"/>
          <p:nvPr/>
        </p:nvSpPr>
        <p:spPr>
          <a:xfrm>
            <a:off x="566928" y="5532120"/>
            <a:ext cx="5321808" cy="347472"/>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fix the image resolution with JSL at the start, and size the hardware from it.</a:t>
            </a:r>
            <a:endParaRPr lang="en-US" sz="1000" dirty="0"/>
          </a:p>
        </p:txBody>
      </p:sp>
      <p:sp>
        <p:nvSpPr>
          <p:cNvPr id="37" name="Shape 33"/>
          <p:cNvSpPr/>
          <p:nvPr/>
        </p:nvSpPr>
        <p:spPr>
          <a:xfrm>
            <a:off x="6190488" y="3630168"/>
            <a:ext cx="5541264" cy="274320"/>
          </a:xfrm>
          <a:prstGeom prst="rect">
            <a:avLst/>
          </a:prstGeom>
          <a:solidFill>
            <a:srgbClr val="2B5B80"/>
          </a:solidFill>
          <a:ln w="12700">
            <a:solidFill>
              <a:srgbClr val="2B5B80"/>
            </a:solidFill>
            <a:prstDash val="solid"/>
          </a:ln>
        </p:spPr>
      </p:sp>
      <p:sp>
        <p:nvSpPr>
          <p:cNvPr id="38" name="Text 34"/>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only act on alarms they can trust</a:t>
            </a:r>
            <a:endParaRPr lang="en-US" sz="1100" dirty="0"/>
          </a:p>
        </p:txBody>
      </p:sp>
      <p:sp>
        <p:nvSpPr>
          <p:cNvPr id="39" name="Shape 35"/>
          <p:cNvSpPr/>
          <p:nvPr/>
        </p:nvSpPr>
        <p:spPr>
          <a:xfrm>
            <a:off x="6190488" y="3904488"/>
            <a:ext cx="5541264" cy="2011680"/>
          </a:xfrm>
          <a:prstGeom prst="roundRect">
            <a:avLst>
              <a:gd name="adj" fmla="val 2727"/>
            </a:avLst>
          </a:prstGeom>
          <a:solidFill>
            <a:srgbClr val="F1F4F7"/>
          </a:solidFill>
          <a:ln w="12700">
            <a:solidFill>
              <a:srgbClr val="F1F4F7"/>
            </a:solidFill>
            <a:prstDash val="solid"/>
          </a:ln>
        </p:spPr>
      </p:sp>
      <p:sp>
        <p:nvSpPr>
          <p:cNvPr id="40" name="Text 36"/>
          <p:cNvSpPr txBox="1"/>
          <p:nvPr/>
        </p:nvSpPr>
        <p:spPr>
          <a:xfrm>
            <a:off x="6327648" y="3977640"/>
            <a:ext cx="2011680" cy="548640"/>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68% lower</a:t>
            </a:r>
            <a:endParaRPr lang="en-US" sz="2000" dirty="0"/>
          </a:p>
        </p:txBody>
      </p:sp>
      <p:sp>
        <p:nvSpPr>
          <p:cNvPr id="41" name="Text 37"/>
          <p:cNvSpPr txBox="1"/>
          <p:nvPr/>
        </p:nvSpPr>
        <p:spPr>
          <a:xfrm>
            <a:off x="8366760" y="3977640"/>
            <a:ext cx="3246120" cy="658368"/>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confidence error after calibration. Before, an alarm marked "60% sure" was right 84% of the time; now stated confidence is within ~5 points of reality</a:t>
            </a:r>
            <a:endParaRPr lang="en-US" sz="950" dirty="0"/>
          </a:p>
        </p:txBody>
      </p:sp>
      <p:sp>
        <p:nvSpPr>
          <p:cNvPr id="42" name="Text 38"/>
          <p:cNvSpPr txBox="1"/>
          <p:nvPr/>
        </p:nvSpPr>
        <p:spPr>
          <a:xfrm>
            <a:off x="6327648" y="4690872"/>
            <a:ext cx="2011680" cy="548640"/>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0 of 3,200</a:t>
            </a:r>
            <a:endParaRPr lang="en-US" sz="2000" dirty="0"/>
          </a:p>
        </p:txBody>
      </p:sp>
      <p:sp>
        <p:nvSpPr>
          <p:cNvPr id="43" name="Text 39"/>
          <p:cNvSpPr txBox="1"/>
          <p:nvPr/>
        </p:nvSpPr>
        <p:spPr>
          <a:xfrm>
            <a:off x="8366760" y="4690872"/>
            <a:ext cx="3246120" cy="658368"/>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real steel images wrongly rejected by our "is this steel?" check, which stops the system judging anything else (unchecked, it called a plain white square a defect)</a:t>
            </a:r>
            <a:endParaRPr lang="en-US" sz="950" dirty="0"/>
          </a:p>
        </p:txBody>
      </p:sp>
      <p:sp>
        <p:nvSpPr>
          <p:cNvPr id="44" name="Text 40"/>
          <p:cNvSpPr txBox="1"/>
          <p:nvPr/>
        </p:nvSpPr>
        <p:spPr>
          <a:xfrm>
            <a:off x="6300216" y="5532120"/>
            <a:ext cx="5321808" cy="347472"/>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give every alarm a trustworthy confidence and a "this is steel" check.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Detect on the strip, decide at the coil, route to the owner, and learn from every operator correction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optics, own the model. JSL gets vendor-grade capture with a detector trained on its own grades and wired to its own process owners.</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BUILT = working in our prototype today, live at surface-vision.github.io. Unlabelled-learning result: J. Mater. Inf. 2025. Commercial price range: industry figure, unverified.</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Architecture: six stages from camera to corrective action</a:t>
            </a:r>
            <a:endParaRPr lang="en-US" sz="1100" dirty="0"/>
          </a:p>
        </p:txBody>
      </p:sp>
      <p:sp>
        <p:nvSpPr>
          <p:cNvPr id="19" name="Shape 17"/>
          <p:cNvSpPr/>
          <p:nvPr/>
        </p:nvSpPr>
        <p:spPr>
          <a:xfrm>
            <a:off x="457200" y="1600200"/>
            <a:ext cx="1783080" cy="1325880"/>
          </a:xfrm>
          <a:prstGeom prst="roundRect">
            <a:avLst>
              <a:gd name="adj" fmla="val 4138"/>
            </a:avLst>
          </a:prstGeom>
          <a:solidFill>
            <a:srgbClr val="F1F4F7"/>
          </a:solidFill>
          <a:ln w="12700">
            <a:solidFill>
              <a:srgbClr val="F1F4F7"/>
            </a:solidFill>
            <a:prstDash val="solid"/>
          </a:ln>
        </p:spPr>
      </p:sp>
      <p:sp>
        <p:nvSpPr>
          <p:cNvPr id="20" name="Text 18"/>
          <p:cNvSpPr txBox="1"/>
          <p:nvPr/>
        </p:nvSpPr>
        <p:spPr>
          <a:xfrm>
            <a:off x="548640"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1 Capture</a:t>
            </a:r>
            <a:endParaRPr lang="en-US" sz="1200" dirty="0"/>
          </a:p>
        </p:txBody>
      </p:sp>
      <p:sp>
        <p:nvSpPr>
          <p:cNvPr id="21" name="Text 19"/>
          <p:cNvSpPr txBox="1"/>
          <p:nvPr/>
        </p:nvSpPr>
        <p:spPr>
          <a:xfrm>
            <a:off x="548640"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Cameras on both faces of the strip, lit to reveal fine scratches, down to 0.2 mm</a:t>
            </a:r>
            <a:endParaRPr lang="en-US" sz="950" dirty="0"/>
          </a:p>
        </p:txBody>
      </p:sp>
      <p:sp>
        <p:nvSpPr>
          <p:cNvPr id="22" name="Shape 20"/>
          <p:cNvSpPr/>
          <p:nvPr/>
        </p:nvSpPr>
        <p:spPr>
          <a:xfrm>
            <a:off x="548640" y="2670048"/>
            <a:ext cx="777240" cy="182880"/>
          </a:xfrm>
          <a:prstGeom prst="roundRect">
            <a:avLst>
              <a:gd name="adj" fmla="val 30000"/>
            </a:avLst>
          </a:prstGeom>
          <a:solidFill>
            <a:srgbClr val="5F6B78"/>
          </a:solidFill>
          <a:ln w="12700">
            <a:solidFill>
              <a:srgbClr val="5F6B78"/>
            </a:solidFill>
            <a:prstDash val="solid"/>
          </a:ln>
        </p:spPr>
      </p:sp>
      <p:sp>
        <p:nvSpPr>
          <p:cNvPr id="23" name="Text 21"/>
          <p:cNvSpPr txBox="1"/>
          <p:nvPr/>
        </p:nvSpPr>
        <p:spPr>
          <a:xfrm>
            <a:off x="548640"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24" name="Text 22"/>
          <p:cNvSpPr txBox="1"/>
          <p:nvPr/>
        </p:nvSpPr>
        <p:spPr>
          <a:xfrm>
            <a:off x="2240280" y="2057400"/>
            <a:ext cx="115214" cy="274320"/>
          </a:xfrm>
          <a:prstGeom prst="rect">
            <a:avLst/>
          </a:prstGeom>
          <a:noFill/>
          <a:ln/>
        </p:spPr>
        <p:txBody>
          <a:bodyPr wrap="square" lIns="0" tIns="0" rIns="0" bIns="0" rtlCol="0" anchor="t"/>
          <a:lstStyle/>
          <a:p>
            <a:pPr algn="ctr" indent="0" marL="0">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25" name="Shape 23"/>
          <p:cNvSpPr/>
          <p:nvPr/>
        </p:nvSpPr>
        <p:spPr>
          <a:xfrm>
            <a:off x="2355494" y="1600200"/>
            <a:ext cx="1783080" cy="1325880"/>
          </a:xfrm>
          <a:prstGeom prst="roundRect">
            <a:avLst>
              <a:gd name="adj" fmla="val 4138"/>
            </a:avLst>
          </a:prstGeom>
          <a:solidFill>
            <a:srgbClr val="F1F4F7"/>
          </a:solidFill>
          <a:ln w="12700">
            <a:solidFill>
              <a:srgbClr val="F1F4F7"/>
            </a:solidFill>
            <a:prstDash val="solid"/>
          </a:ln>
        </p:spPr>
      </p:sp>
      <p:sp>
        <p:nvSpPr>
          <p:cNvPr id="26" name="Text 24"/>
          <p:cNvSpPr txBox="1"/>
          <p:nvPr/>
        </p:nvSpPr>
        <p:spPr>
          <a:xfrm>
            <a:off x="2446934"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2 Check</a:t>
            </a:r>
            <a:endParaRPr lang="en-US" sz="1200" dirty="0"/>
          </a:p>
        </p:txBody>
      </p:sp>
      <p:sp>
        <p:nvSpPr>
          <p:cNvPr id="27" name="Text 25"/>
          <p:cNvSpPr txBox="1"/>
          <p:nvPr/>
        </p:nvSpPr>
        <p:spPr>
          <a:xfrm>
            <a:off x="2446934"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Confirms the image is usable steel before judging it</a:t>
            </a:r>
            <a:endParaRPr lang="en-US" sz="950" dirty="0"/>
          </a:p>
        </p:txBody>
      </p:sp>
      <p:sp>
        <p:nvSpPr>
          <p:cNvPr id="28" name="Shape 26"/>
          <p:cNvSpPr/>
          <p:nvPr/>
        </p:nvSpPr>
        <p:spPr>
          <a:xfrm>
            <a:off x="2446934" y="2670048"/>
            <a:ext cx="777240" cy="182880"/>
          </a:xfrm>
          <a:prstGeom prst="roundRect">
            <a:avLst>
              <a:gd name="adj" fmla="val 30000"/>
            </a:avLst>
          </a:prstGeom>
          <a:solidFill>
            <a:srgbClr val="2E7D32"/>
          </a:solidFill>
          <a:ln w="12700">
            <a:solidFill>
              <a:srgbClr val="2E7D32"/>
            </a:solidFill>
            <a:prstDash val="solid"/>
          </a:ln>
        </p:spPr>
      </p:sp>
      <p:sp>
        <p:nvSpPr>
          <p:cNvPr id="29" name="Text 27"/>
          <p:cNvSpPr txBox="1"/>
          <p:nvPr/>
        </p:nvSpPr>
        <p:spPr>
          <a:xfrm>
            <a:off x="2446934"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0" name="Text 28"/>
          <p:cNvSpPr txBox="1"/>
          <p:nvPr/>
        </p:nvSpPr>
        <p:spPr>
          <a:xfrm>
            <a:off x="4138574" y="2057400"/>
            <a:ext cx="115214" cy="274320"/>
          </a:xfrm>
          <a:prstGeom prst="rect">
            <a:avLst/>
          </a:prstGeom>
          <a:noFill/>
          <a:ln/>
        </p:spPr>
        <p:txBody>
          <a:bodyPr wrap="square" lIns="0" tIns="0" rIns="0" bIns="0" rtlCol="0" anchor="t"/>
          <a:lstStyle/>
          <a:p>
            <a:pPr algn="ctr" indent="0" marL="0">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31" name="Shape 29"/>
          <p:cNvSpPr/>
          <p:nvPr/>
        </p:nvSpPr>
        <p:spPr>
          <a:xfrm>
            <a:off x="4253789" y="1600200"/>
            <a:ext cx="1783080" cy="1325880"/>
          </a:xfrm>
          <a:prstGeom prst="roundRect">
            <a:avLst>
              <a:gd name="adj" fmla="val 4138"/>
            </a:avLst>
          </a:prstGeom>
          <a:solidFill>
            <a:srgbClr val="F1F4F7"/>
          </a:solidFill>
          <a:ln w="12700">
            <a:solidFill>
              <a:srgbClr val="F1F4F7"/>
            </a:solidFill>
            <a:prstDash val="solid"/>
          </a:ln>
        </p:spPr>
      </p:sp>
      <p:sp>
        <p:nvSpPr>
          <p:cNvPr id="32" name="Text 30"/>
          <p:cNvSpPr txBox="1"/>
          <p:nvPr/>
        </p:nvSpPr>
        <p:spPr>
          <a:xfrm>
            <a:off x="4345229"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3 Detect</a:t>
            </a:r>
            <a:endParaRPr lang="en-US" sz="1200" dirty="0"/>
          </a:p>
        </p:txBody>
      </p:sp>
      <p:sp>
        <p:nvSpPr>
          <p:cNvPr id="33" name="Text 31"/>
          <p:cNvSpPr txBox="1"/>
          <p:nvPr/>
        </p:nvSpPr>
        <p:spPr>
          <a:xfrm>
            <a:off x="4345229"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Finds and classifies every defect across the full strip width</a:t>
            </a:r>
            <a:endParaRPr lang="en-US" sz="950" dirty="0"/>
          </a:p>
        </p:txBody>
      </p:sp>
      <p:sp>
        <p:nvSpPr>
          <p:cNvPr id="34" name="Shape 32"/>
          <p:cNvSpPr/>
          <p:nvPr/>
        </p:nvSpPr>
        <p:spPr>
          <a:xfrm>
            <a:off x="4345229" y="2670048"/>
            <a:ext cx="777240" cy="182880"/>
          </a:xfrm>
          <a:prstGeom prst="roundRect">
            <a:avLst>
              <a:gd name="adj" fmla="val 30000"/>
            </a:avLst>
          </a:prstGeom>
          <a:solidFill>
            <a:srgbClr val="2E7D32"/>
          </a:solidFill>
          <a:ln w="12700">
            <a:solidFill>
              <a:srgbClr val="2E7D32"/>
            </a:solidFill>
            <a:prstDash val="solid"/>
          </a:ln>
        </p:spPr>
      </p:sp>
      <p:sp>
        <p:nvSpPr>
          <p:cNvPr id="35" name="Text 33"/>
          <p:cNvSpPr txBox="1"/>
          <p:nvPr/>
        </p:nvSpPr>
        <p:spPr>
          <a:xfrm>
            <a:off x="4345229"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6" name="Text 34"/>
          <p:cNvSpPr txBox="1"/>
          <p:nvPr/>
        </p:nvSpPr>
        <p:spPr>
          <a:xfrm>
            <a:off x="6036869" y="2057400"/>
            <a:ext cx="115214" cy="274320"/>
          </a:xfrm>
          <a:prstGeom prst="rect">
            <a:avLst/>
          </a:prstGeom>
          <a:noFill/>
          <a:ln/>
        </p:spPr>
        <p:txBody>
          <a:bodyPr wrap="square" lIns="0" tIns="0" rIns="0" bIns="0" rtlCol="0" anchor="t"/>
          <a:lstStyle/>
          <a:p>
            <a:pPr algn="ctr" indent="0" marL="0">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37" name="Shape 35"/>
          <p:cNvSpPr/>
          <p:nvPr/>
        </p:nvSpPr>
        <p:spPr>
          <a:xfrm>
            <a:off x="6152083" y="1600200"/>
            <a:ext cx="1783080" cy="1325880"/>
          </a:xfrm>
          <a:prstGeom prst="roundRect">
            <a:avLst>
              <a:gd name="adj" fmla="val 4138"/>
            </a:avLst>
          </a:prstGeom>
          <a:solidFill>
            <a:srgbClr val="F1F4F7"/>
          </a:solidFill>
          <a:ln w="12700">
            <a:solidFill>
              <a:srgbClr val="F1F4F7"/>
            </a:solidFill>
            <a:prstDash val="solid"/>
          </a:ln>
        </p:spPr>
      </p:sp>
      <p:sp>
        <p:nvSpPr>
          <p:cNvPr id="38" name="Text 36"/>
          <p:cNvSpPr txBox="1"/>
          <p:nvPr/>
        </p:nvSpPr>
        <p:spPr>
          <a:xfrm>
            <a:off x="6243523"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4 Score</a:t>
            </a:r>
            <a:endParaRPr lang="en-US" sz="1200" dirty="0"/>
          </a:p>
        </p:txBody>
      </p:sp>
      <p:sp>
        <p:nvSpPr>
          <p:cNvPr id="39" name="Text 37"/>
          <p:cNvSpPr txBox="1"/>
          <p:nvPr/>
        </p:nvSpPr>
        <p:spPr>
          <a:xfrm>
            <a:off x="6243523"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Trustworthy confidence, severity 0-100, defect type and position on the coil map</a:t>
            </a:r>
            <a:endParaRPr lang="en-US" sz="950" dirty="0"/>
          </a:p>
        </p:txBody>
      </p:sp>
      <p:sp>
        <p:nvSpPr>
          <p:cNvPr id="40" name="Shape 38"/>
          <p:cNvSpPr/>
          <p:nvPr/>
        </p:nvSpPr>
        <p:spPr>
          <a:xfrm>
            <a:off x="6243523" y="2670048"/>
            <a:ext cx="777240" cy="182880"/>
          </a:xfrm>
          <a:prstGeom prst="roundRect">
            <a:avLst>
              <a:gd name="adj" fmla="val 30000"/>
            </a:avLst>
          </a:prstGeom>
          <a:solidFill>
            <a:srgbClr val="2E7D32"/>
          </a:solidFill>
          <a:ln w="12700">
            <a:solidFill>
              <a:srgbClr val="2E7D32"/>
            </a:solidFill>
            <a:prstDash val="solid"/>
          </a:ln>
        </p:spPr>
      </p:sp>
      <p:sp>
        <p:nvSpPr>
          <p:cNvPr id="41" name="Text 39"/>
          <p:cNvSpPr txBox="1"/>
          <p:nvPr/>
        </p:nvSpPr>
        <p:spPr>
          <a:xfrm>
            <a:off x="6243523"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2" name="Text 40"/>
          <p:cNvSpPr txBox="1"/>
          <p:nvPr/>
        </p:nvSpPr>
        <p:spPr>
          <a:xfrm>
            <a:off x="7935163" y="2057400"/>
            <a:ext cx="115214" cy="274320"/>
          </a:xfrm>
          <a:prstGeom prst="rect">
            <a:avLst/>
          </a:prstGeom>
          <a:noFill/>
          <a:ln/>
        </p:spPr>
        <p:txBody>
          <a:bodyPr wrap="square" lIns="0" tIns="0" rIns="0" bIns="0" rtlCol="0" anchor="t"/>
          <a:lstStyle/>
          <a:p>
            <a:pPr algn="ctr" indent="0" marL="0">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43" name="Shape 41"/>
          <p:cNvSpPr/>
          <p:nvPr/>
        </p:nvSpPr>
        <p:spPr>
          <a:xfrm>
            <a:off x="8050378" y="1600200"/>
            <a:ext cx="1783080" cy="1325880"/>
          </a:xfrm>
          <a:prstGeom prst="roundRect">
            <a:avLst>
              <a:gd name="adj" fmla="val 4138"/>
            </a:avLst>
          </a:prstGeom>
          <a:solidFill>
            <a:srgbClr val="F1F4F7"/>
          </a:solidFill>
          <a:ln w="12700">
            <a:solidFill>
              <a:srgbClr val="F1F4F7"/>
            </a:solidFill>
            <a:prstDash val="solid"/>
          </a:ln>
        </p:spPr>
      </p:sp>
      <p:sp>
        <p:nvSpPr>
          <p:cNvPr id="44" name="Text 42"/>
          <p:cNvSpPr txBox="1"/>
          <p:nvPr/>
        </p:nvSpPr>
        <p:spPr>
          <a:xfrm>
            <a:off x="8141818"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5 Decide</a:t>
            </a:r>
            <a:endParaRPr lang="en-US" sz="1200" dirty="0"/>
          </a:p>
        </p:txBody>
      </p:sp>
      <p:sp>
        <p:nvSpPr>
          <p:cNvPr id="45" name="Text 43"/>
          <p:cNvSpPr txBox="1"/>
          <p:nvPr/>
        </p:nvSpPr>
        <p:spPr>
          <a:xfrm>
            <a:off x="8141818"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Coil ACCEPT / DOWNGRADE / HOLD, with limits set per grade and finish</a:t>
            </a:r>
            <a:endParaRPr lang="en-US" sz="950" dirty="0"/>
          </a:p>
        </p:txBody>
      </p:sp>
      <p:sp>
        <p:nvSpPr>
          <p:cNvPr id="46" name="Shape 44"/>
          <p:cNvSpPr/>
          <p:nvPr/>
        </p:nvSpPr>
        <p:spPr>
          <a:xfrm>
            <a:off x="8141818" y="2670048"/>
            <a:ext cx="777240" cy="182880"/>
          </a:xfrm>
          <a:prstGeom prst="roundRect">
            <a:avLst>
              <a:gd name="adj" fmla="val 30000"/>
            </a:avLst>
          </a:prstGeom>
          <a:solidFill>
            <a:srgbClr val="B77900"/>
          </a:solidFill>
          <a:ln w="12700">
            <a:solidFill>
              <a:srgbClr val="B77900"/>
            </a:solidFill>
            <a:prstDash val="solid"/>
          </a:ln>
        </p:spPr>
      </p:sp>
      <p:sp>
        <p:nvSpPr>
          <p:cNvPr id="47" name="Text 45"/>
          <p:cNvSpPr txBox="1"/>
          <p:nvPr/>
        </p:nvSpPr>
        <p:spPr>
          <a:xfrm>
            <a:off x="8141818"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48" name="Text 46"/>
          <p:cNvSpPr txBox="1"/>
          <p:nvPr/>
        </p:nvSpPr>
        <p:spPr>
          <a:xfrm>
            <a:off x="9833458" y="2057400"/>
            <a:ext cx="115214" cy="274320"/>
          </a:xfrm>
          <a:prstGeom prst="rect">
            <a:avLst/>
          </a:prstGeom>
          <a:noFill/>
          <a:ln/>
        </p:spPr>
        <p:txBody>
          <a:bodyPr wrap="square" lIns="0" tIns="0" rIns="0" bIns="0" rtlCol="0" anchor="t"/>
          <a:lstStyle/>
          <a:p>
            <a:pPr algn="ctr" indent="0" marL="0">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49" name="Shape 47"/>
          <p:cNvSpPr/>
          <p:nvPr/>
        </p:nvSpPr>
        <p:spPr>
          <a:xfrm>
            <a:off x="9948672" y="1600200"/>
            <a:ext cx="1783080" cy="1325880"/>
          </a:xfrm>
          <a:prstGeom prst="roundRect">
            <a:avLst>
              <a:gd name="adj" fmla="val 4138"/>
            </a:avLst>
          </a:prstGeom>
          <a:solidFill>
            <a:srgbClr val="E4EEF6"/>
          </a:solidFill>
          <a:ln w="12700">
            <a:solidFill>
              <a:srgbClr val="E4EEF6"/>
            </a:solidFill>
            <a:prstDash val="solid"/>
          </a:ln>
        </p:spPr>
      </p:sp>
      <p:sp>
        <p:nvSpPr>
          <p:cNvPr id="50" name="Text 48"/>
          <p:cNvSpPr txBox="1"/>
          <p:nvPr/>
        </p:nvSpPr>
        <p:spPr>
          <a:xfrm>
            <a:off x="10040112"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6 Act &amp; learn</a:t>
            </a:r>
            <a:endParaRPr lang="en-US" sz="1200" dirty="0"/>
          </a:p>
        </p:txBody>
      </p:sp>
      <p:sp>
        <p:nvSpPr>
          <p:cNvPr id="51" name="Text 49"/>
          <p:cNvSpPr txBox="1"/>
          <p:nvPr/>
        </p:nvSpPr>
        <p:spPr>
          <a:xfrm>
            <a:off x="10040112"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Operator alert, coil hold, owner work order; corrections retrain it in under an hour</a:t>
            </a:r>
            <a:endParaRPr lang="en-US" sz="950" dirty="0"/>
          </a:p>
        </p:txBody>
      </p:sp>
      <p:sp>
        <p:nvSpPr>
          <p:cNvPr id="52" name="Shape 50"/>
          <p:cNvSpPr/>
          <p:nvPr/>
        </p:nvSpPr>
        <p:spPr>
          <a:xfrm>
            <a:off x="10040112" y="2670048"/>
            <a:ext cx="777240" cy="182880"/>
          </a:xfrm>
          <a:prstGeom prst="roundRect">
            <a:avLst>
              <a:gd name="adj" fmla="val 30000"/>
            </a:avLst>
          </a:prstGeom>
          <a:solidFill>
            <a:srgbClr val="5F6B78"/>
          </a:solidFill>
          <a:ln w="12700">
            <a:solidFill>
              <a:srgbClr val="5F6B78"/>
            </a:solidFill>
            <a:prstDash val="solid"/>
          </a:ln>
        </p:spPr>
      </p:sp>
      <p:sp>
        <p:nvSpPr>
          <p:cNvPr id="53" name="Text 51"/>
          <p:cNvSpPr txBox="1"/>
          <p:nvPr/>
        </p:nvSpPr>
        <p:spPr>
          <a:xfrm>
            <a:off x="10040112"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54" name="Shape 52"/>
          <p:cNvSpPr/>
          <p:nvPr/>
        </p:nvSpPr>
        <p:spPr>
          <a:xfrm>
            <a:off x="457200" y="3108960"/>
            <a:ext cx="5120640" cy="274320"/>
          </a:xfrm>
          <a:prstGeom prst="rect">
            <a:avLst/>
          </a:prstGeom>
          <a:solidFill>
            <a:srgbClr val="2B5B80"/>
          </a:solidFill>
          <a:ln w="12700">
            <a:solidFill>
              <a:srgbClr val="2B5B80"/>
            </a:solidFill>
            <a:prstDash val="solid"/>
          </a:ln>
        </p:spPr>
      </p:sp>
      <p:sp>
        <p:nvSpPr>
          <p:cNvPr id="55" name="Text 53"/>
          <p:cNvSpPr txBox="1"/>
          <p:nvPr/>
        </p:nvSpPr>
        <p:spPr>
          <a:xfrm>
            <a:off x="548640" y="3108960"/>
            <a:ext cx="4937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is new beyond a standard detector</a:t>
            </a:r>
            <a:endParaRPr lang="en-US" sz="1100" dirty="0"/>
          </a:p>
        </p:txBody>
      </p:sp>
      <p:sp>
        <p:nvSpPr>
          <p:cNvPr id="56" name="Shape 54"/>
          <p:cNvSpPr/>
          <p:nvPr/>
        </p:nvSpPr>
        <p:spPr>
          <a:xfrm>
            <a:off x="502920" y="3493008"/>
            <a:ext cx="237744" cy="237744"/>
          </a:xfrm>
          <a:prstGeom prst="ellipse">
            <a:avLst/>
          </a:prstGeom>
          <a:solidFill>
            <a:srgbClr val="0086C3"/>
          </a:solidFill>
          <a:ln w="12700">
            <a:solidFill>
              <a:srgbClr val="0086C3"/>
            </a:solidFill>
            <a:prstDash val="solid"/>
          </a:ln>
        </p:spPr>
      </p:sp>
      <p:sp>
        <p:nvSpPr>
          <p:cNvPr id="57" name="Text 55"/>
          <p:cNvSpPr txBox="1"/>
          <p:nvPr/>
        </p:nvSpPr>
        <p:spPr>
          <a:xfrm>
            <a:off x="502920" y="34930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58" name="Text 56"/>
          <p:cNvSpPr txBox="1"/>
          <p:nvPr/>
        </p:nvSpPr>
        <p:spPr>
          <a:xfrm>
            <a:off x="822960" y="3474720"/>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Trained on clean strip, not just defects</a:t>
            </a:r>
            <a:endParaRPr lang="en-US" sz="1050" dirty="0"/>
          </a:p>
        </p:txBody>
      </p:sp>
      <p:sp>
        <p:nvSpPr>
          <p:cNvPr id="59" name="Text 57"/>
          <p:cNvSpPr txBox="1"/>
          <p:nvPr/>
        </p:nvSpPr>
        <p:spPr>
          <a:xfrm>
            <a:off x="822960" y="3712464"/>
            <a:ext cx="4754880" cy="347472"/>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Fixes the false-alarm problem that kills most pilots. Measured: 93.7% to 32.5%.</a:t>
            </a:r>
            <a:endParaRPr lang="en-US" sz="950" dirty="0"/>
          </a:p>
        </p:txBody>
      </p:sp>
      <p:sp>
        <p:nvSpPr>
          <p:cNvPr id="60" name="Shape 58"/>
          <p:cNvSpPr/>
          <p:nvPr/>
        </p:nvSpPr>
        <p:spPr>
          <a:xfrm>
            <a:off x="502920" y="4096512"/>
            <a:ext cx="237744" cy="237744"/>
          </a:xfrm>
          <a:prstGeom prst="ellipse">
            <a:avLst/>
          </a:prstGeom>
          <a:solidFill>
            <a:srgbClr val="0086C3"/>
          </a:solidFill>
          <a:ln w="12700">
            <a:solidFill>
              <a:srgbClr val="0086C3"/>
            </a:solidFill>
            <a:prstDash val="solid"/>
          </a:ln>
        </p:spPr>
      </p:sp>
      <p:sp>
        <p:nvSpPr>
          <p:cNvPr id="61" name="Text 59"/>
          <p:cNvSpPr txBox="1"/>
          <p:nvPr/>
        </p:nvSpPr>
        <p:spPr>
          <a:xfrm>
            <a:off x="502920" y="409651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2" name="Text 60"/>
          <p:cNvSpPr txBox="1"/>
          <p:nvPr/>
        </p:nvSpPr>
        <p:spPr>
          <a:xfrm>
            <a:off x="822960" y="4078224"/>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Root-cause routing</a:t>
            </a:r>
            <a:endParaRPr lang="en-US" sz="1050" dirty="0"/>
          </a:p>
        </p:txBody>
      </p:sp>
      <p:sp>
        <p:nvSpPr>
          <p:cNvPr id="63" name="Text 61"/>
          <p:cNvSpPr txBox="1"/>
          <p:nvPr/>
        </p:nvSpPr>
        <p:spPr>
          <a:xfrm>
            <a:off x="822960" y="4315968"/>
            <a:ext cx="4754880" cy="347472"/>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Each class maps to an owner (slide 3), so an alarm becomes a work order, not just a red light.</a:t>
            </a:r>
            <a:endParaRPr lang="en-US" sz="950" dirty="0"/>
          </a:p>
        </p:txBody>
      </p:sp>
      <p:sp>
        <p:nvSpPr>
          <p:cNvPr id="64" name="Shape 62"/>
          <p:cNvSpPr/>
          <p:nvPr/>
        </p:nvSpPr>
        <p:spPr>
          <a:xfrm>
            <a:off x="502920" y="4700016"/>
            <a:ext cx="237744" cy="237744"/>
          </a:xfrm>
          <a:prstGeom prst="ellipse">
            <a:avLst/>
          </a:prstGeom>
          <a:solidFill>
            <a:srgbClr val="0086C3"/>
          </a:solidFill>
          <a:ln w="12700">
            <a:solidFill>
              <a:srgbClr val="0086C3"/>
            </a:solidFill>
            <a:prstDash val="solid"/>
          </a:ln>
        </p:spPr>
      </p:sp>
      <p:sp>
        <p:nvSpPr>
          <p:cNvPr id="65" name="Text 63"/>
          <p:cNvSpPr txBox="1"/>
          <p:nvPr/>
        </p:nvSpPr>
        <p:spPr>
          <a:xfrm>
            <a:off x="502920" y="470001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66" name="Text 64"/>
          <p:cNvSpPr txBox="1"/>
          <p:nvPr/>
        </p:nvSpPr>
        <p:spPr>
          <a:xfrm>
            <a:off x="822960" y="4681728"/>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Catches defects it was never taught</a:t>
            </a:r>
            <a:endParaRPr lang="en-US" sz="1050" dirty="0"/>
          </a:p>
        </p:txBody>
      </p:sp>
      <p:sp>
        <p:nvSpPr>
          <p:cNvPr id="67" name="Text 65"/>
          <p:cNvSpPr txBox="1"/>
          <p:nvPr/>
        </p:nvSpPr>
        <p:spPr>
          <a:xfrm>
            <a:off x="822960" y="4919472"/>
            <a:ext cx="4754880" cy="347472"/>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 second check flags unusual surface patterns that were never labelled. Proposed.</a:t>
            </a:r>
            <a:endParaRPr lang="en-US" sz="950" dirty="0"/>
          </a:p>
        </p:txBody>
      </p:sp>
      <p:sp>
        <p:nvSpPr>
          <p:cNvPr id="68" name="Shape 66"/>
          <p:cNvSpPr/>
          <p:nvPr/>
        </p:nvSpPr>
        <p:spPr>
          <a:xfrm>
            <a:off x="502920" y="5303520"/>
            <a:ext cx="237744" cy="237744"/>
          </a:xfrm>
          <a:prstGeom prst="ellipse">
            <a:avLst/>
          </a:prstGeom>
          <a:solidFill>
            <a:srgbClr val="0086C3"/>
          </a:solidFill>
          <a:ln w="12700">
            <a:solidFill>
              <a:srgbClr val="0086C3"/>
            </a:solidFill>
            <a:prstDash val="solid"/>
          </a:ln>
        </p:spPr>
      </p:sp>
      <p:sp>
        <p:nvSpPr>
          <p:cNvPr id="69" name="Text 67"/>
          <p:cNvSpPr txBox="1"/>
          <p:nvPr/>
        </p:nvSpPr>
        <p:spPr>
          <a:xfrm>
            <a:off x="502920" y="530352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0" name="Text 68"/>
          <p:cNvSpPr txBox="1"/>
          <p:nvPr/>
        </p:nvSpPr>
        <p:spPr>
          <a:xfrm>
            <a:off x="822960" y="5285232"/>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Learns from JSL's unlabelled coils</a:t>
            </a:r>
            <a:endParaRPr lang="en-US" sz="1050" dirty="0"/>
          </a:p>
        </p:txBody>
      </p:sp>
      <p:sp>
        <p:nvSpPr>
          <p:cNvPr id="71" name="Text 69"/>
          <p:cNvSpPr txBox="1"/>
          <p:nvPr/>
        </p:nvSpPr>
        <p:spPr>
          <a:xfrm>
            <a:off x="822960" y="5522976"/>
            <a:ext cx="4754880" cy="347472"/>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Published steel research shows unlabelled images train as well as the standard approach, so JSL's image archive becomes an asset.</a:t>
            </a:r>
            <a:endParaRPr lang="en-US" sz="950" dirty="0"/>
          </a:p>
        </p:txBody>
      </p:sp>
      <p:sp>
        <p:nvSpPr>
          <p:cNvPr id="72" name="Shape 70"/>
          <p:cNvSpPr/>
          <p:nvPr/>
        </p:nvSpPr>
        <p:spPr>
          <a:xfrm>
            <a:off x="5806440" y="3108960"/>
            <a:ext cx="5925312" cy="274320"/>
          </a:xfrm>
          <a:prstGeom prst="rect">
            <a:avLst/>
          </a:prstGeom>
          <a:solidFill>
            <a:srgbClr val="2B5B80"/>
          </a:solidFill>
          <a:ln w="12700">
            <a:solidFill>
              <a:srgbClr val="2B5B80"/>
            </a:solidFill>
            <a:prstDash val="solid"/>
          </a:ln>
        </p:spPr>
      </p:sp>
      <p:sp>
        <p:nvSpPr>
          <p:cNvPr id="73" name="Text 71"/>
          <p:cNvSpPr txBox="1"/>
          <p:nvPr/>
        </p:nvSpPr>
        <p:spPr>
          <a:xfrm>
            <a:off x="5897880" y="3108960"/>
            <a:ext cx="57424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Framework: build vs buy (options scored against JSL's needs)</a:t>
            </a:r>
            <a:endParaRPr lang="en-US" sz="1100" dirty="0"/>
          </a:p>
        </p:txBody>
      </p:sp>
      <p:sp>
        <p:nvSpPr>
          <p:cNvPr id="74" name="Text 72"/>
          <p:cNvSpPr txBox="1"/>
          <p:nvPr/>
        </p:nvSpPr>
        <p:spPr>
          <a:xfrm>
            <a:off x="7635240"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Capex per line</a:t>
            </a:r>
            <a:endParaRPr lang="en-US" sz="900" dirty="0"/>
          </a:p>
        </p:txBody>
      </p:sp>
      <p:sp>
        <p:nvSpPr>
          <p:cNvPr id="75" name="Text 73"/>
          <p:cNvSpPr txBox="1"/>
          <p:nvPr/>
        </p:nvSpPr>
        <p:spPr>
          <a:xfrm>
            <a:off x="8316468"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Proven at line speed</a:t>
            </a:r>
            <a:endParaRPr lang="en-US" sz="900" dirty="0"/>
          </a:p>
        </p:txBody>
      </p:sp>
      <p:sp>
        <p:nvSpPr>
          <p:cNvPr id="76" name="Text 74"/>
          <p:cNvSpPr txBox="1"/>
          <p:nvPr/>
        </p:nvSpPr>
        <p:spPr>
          <a:xfrm>
            <a:off x="8997696"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Tuned to JSL grades</a:t>
            </a:r>
            <a:endParaRPr lang="en-US" sz="900" dirty="0"/>
          </a:p>
        </p:txBody>
      </p:sp>
      <p:sp>
        <p:nvSpPr>
          <p:cNvPr id="77" name="Text 75"/>
          <p:cNvSpPr txBox="1"/>
          <p:nvPr/>
        </p:nvSpPr>
        <p:spPr>
          <a:xfrm>
            <a:off x="9678924"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Root-cause routing</a:t>
            </a:r>
            <a:endParaRPr lang="en-US" sz="900" dirty="0"/>
          </a:p>
        </p:txBody>
      </p:sp>
      <p:sp>
        <p:nvSpPr>
          <p:cNvPr id="78" name="Text 76"/>
          <p:cNvSpPr txBox="1"/>
          <p:nvPr/>
        </p:nvSpPr>
        <p:spPr>
          <a:xfrm>
            <a:off x="10360152"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JSL owns data and model</a:t>
            </a:r>
            <a:endParaRPr lang="en-US" sz="900" dirty="0"/>
          </a:p>
        </p:txBody>
      </p:sp>
      <p:sp>
        <p:nvSpPr>
          <p:cNvPr id="79" name="Text 77"/>
          <p:cNvSpPr txBox="1"/>
          <p:nvPr/>
        </p:nvSpPr>
        <p:spPr>
          <a:xfrm>
            <a:off x="11041380"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Time to first line</a:t>
            </a:r>
            <a:endParaRPr lang="en-US" sz="900" dirty="0"/>
          </a:p>
        </p:txBody>
      </p:sp>
      <p:sp>
        <p:nvSpPr>
          <p:cNvPr id="80" name="Text 78"/>
          <p:cNvSpPr txBox="1"/>
          <p:nvPr/>
        </p:nvSpPr>
        <p:spPr>
          <a:xfrm>
            <a:off x="5897880" y="3895344"/>
            <a:ext cx="1737360" cy="219456"/>
          </a:xfrm>
          <a:prstGeom prst="rect">
            <a:avLst/>
          </a:prstGeom>
          <a:noFill/>
          <a:ln/>
        </p:spPr>
        <p:txBody>
          <a:bodyPr wrap="square" lIns="0" tIns="0" rIns="0" bIns="0" rtlCol="0" anchor="t"/>
          <a:lstStyle/>
          <a:p>
            <a:pPr indent="0" marL="0">
              <a:buNone/>
            </a:pPr>
            <a:r>
              <a:rPr lang="en-US" sz="950" b="1" dirty="0">
                <a:solidFill>
                  <a:srgbClr val="141C24"/>
                </a:solidFill>
                <a:latin typeface="Calibri" pitchFamily="34" charset="0"/>
                <a:ea typeface="Calibri" pitchFamily="34" charset="-122"/>
                <a:cs typeface="Calibri" pitchFamily="34" charset="-120"/>
              </a:rPr>
              <a:t>Commercial (ISRA, AMETEK)</a:t>
            </a:r>
            <a:endParaRPr lang="en-US" sz="950" dirty="0"/>
          </a:p>
        </p:txBody>
      </p:sp>
      <p:sp>
        <p:nvSpPr>
          <p:cNvPr id="81" name="Text 79"/>
          <p:cNvSpPr txBox="1"/>
          <p:nvPr/>
        </p:nvSpPr>
        <p:spPr>
          <a:xfrm>
            <a:off x="5897880" y="4114800"/>
            <a:ext cx="1691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USD 1-3M (unverified)</a:t>
            </a:r>
            <a:endParaRPr lang="en-US" sz="900" dirty="0"/>
          </a:p>
        </p:txBody>
      </p:sp>
      <p:sp>
        <p:nvSpPr>
          <p:cNvPr id="82" name="Shape 80"/>
          <p:cNvSpPr/>
          <p:nvPr/>
        </p:nvSpPr>
        <p:spPr>
          <a:xfrm>
            <a:off x="7866126" y="3986784"/>
            <a:ext cx="182880" cy="182880"/>
          </a:xfrm>
          <a:prstGeom prst="ellipse">
            <a:avLst/>
          </a:prstGeom>
          <a:solidFill>
            <a:srgbClr val="C62828"/>
          </a:solidFill>
          <a:ln w="12700">
            <a:solidFill>
              <a:srgbClr val="C62828"/>
            </a:solidFill>
            <a:prstDash val="solid"/>
          </a:ln>
        </p:spPr>
      </p:sp>
      <p:sp>
        <p:nvSpPr>
          <p:cNvPr id="83" name="Shape 81"/>
          <p:cNvSpPr/>
          <p:nvPr/>
        </p:nvSpPr>
        <p:spPr>
          <a:xfrm>
            <a:off x="8547354" y="3986784"/>
            <a:ext cx="182880" cy="182880"/>
          </a:xfrm>
          <a:prstGeom prst="ellipse">
            <a:avLst/>
          </a:prstGeom>
          <a:solidFill>
            <a:srgbClr val="2E7D32"/>
          </a:solidFill>
          <a:ln w="12700">
            <a:solidFill>
              <a:srgbClr val="2E7D32"/>
            </a:solidFill>
            <a:prstDash val="solid"/>
          </a:ln>
        </p:spPr>
      </p:sp>
      <p:sp>
        <p:nvSpPr>
          <p:cNvPr id="84" name="Shape 82"/>
          <p:cNvSpPr/>
          <p:nvPr/>
        </p:nvSpPr>
        <p:spPr>
          <a:xfrm>
            <a:off x="9228582" y="3986784"/>
            <a:ext cx="182880" cy="182880"/>
          </a:xfrm>
          <a:prstGeom prst="ellipse">
            <a:avLst/>
          </a:prstGeom>
          <a:solidFill>
            <a:srgbClr val="B77900"/>
          </a:solidFill>
          <a:ln w="12700">
            <a:solidFill>
              <a:srgbClr val="B77900"/>
            </a:solidFill>
            <a:prstDash val="solid"/>
          </a:ln>
        </p:spPr>
      </p:sp>
      <p:sp>
        <p:nvSpPr>
          <p:cNvPr id="85" name="Shape 83"/>
          <p:cNvSpPr/>
          <p:nvPr/>
        </p:nvSpPr>
        <p:spPr>
          <a:xfrm>
            <a:off x="9909810" y="3986784"/>
            <a:ext cx="182880" cy="182880"/>
          </a:xfrm>
          <a:prstGeom prst="ellipse">
            <a:avLst/>
          </a:prstGeom>
          <a:solidFill>
            <a:srgbClr val="B77900"/>
          </a:solidFill>
          <a:ln w="12700">
            <a:solidFill>
              <a:srgbClr val="B77900"/>
            </a:solidFill>
            <a:prstDash val="solid"/>
          </a:ln>
        </p:spPr>
      </p:sp>
      <p:sp>
        <p:nvSpPr>
          <p:cNvPr id="86" name="Shape 84"/>
          <p:cNvSpPr/>
          <p:nvPr/>
        </p:nvSpPr>
        <p:spPr>
          <a:xfrm>
            <a:off x="10591038" y="3986784"/>
            <a:ext cx="182880" cy="182880"/>
          </a:xfrm>
          <a:prstGeom prst="ellipse">
            <a:avLst/>
          </a:prstGeom>
          <a:solidFill>
            <a:srgbClr val="C62828"/>
          </a:solidFill>
          <a:ln w="12700">
            <a:solidFill>
              <a:srgbClr val="C62828"/>
            </a:solidFill>
            <a:prstDash val="solid"/>
          </a:ln>
        </p:spPr>
      </p:sp>
      <p:sp>
        <p:nvSpPr>
          <p:cNvPr id="87" name="Shape 85"/>
          <p:cNvSpPr/>
          <p:nvPr/>
        </p:nvSpPr>
        <p:spPr>
          <a:xfrm>
            <a:off x="11272266" y="3986784"/>
            <a:ext cx="182880" cy="182880"/>
          </a:xfrm>
          <a:prstGeom prst="ellipse">
            <a:avLst/>
          </a:prstGeom>
          <a:solidFill>
            <a:srgbClr val="2E7D32"/>
          </a:solidFill>
          <a:ln w="12700">
            <a:solidFill>
              <a:srgbClr val="2E7D32"/>
            </a:solidFill>
            <a:prstDash val="solid"/>
          </a:ln>
        </p:spPr>
      </p:sp>
      <p:sp>
        <p:nvSpPr>
          <p:cNvPr id="88" name="Text 86"/>
          <p:cNvSpPr txBox="1"/>
          <p:nvPr/>
        </p:nvSpPr>
        <p:spPr>
          <a:xfrm>
            <a:off x="5897880" y="4407408"/>
            <a:ext cx="1737360" cy="219456"/>
          </a:xfrm>
          <a:prstGeom prst="rect">
            <a:avLst/>
          </a:prstGeom>
          <a:noFill/>
          <a:ln/>
        </p:spPr>
        <p:txBody>
          <a:bodyPr wrap="square" lIns="0" tIns="0" rIns="0" bIns="0" rtlCol="0" anchor="t"/>
          <a:lstStyle/>
          <a:p>
            <a:pPr indent="0" marL="0">
              <a:buNone/>
            </a:pPr>
            <a:r>
              <a:rPr lang="en-US" sz="950" b="1" dirty="0">
                <a:solidFill>
                  <a:srgbClr val="141C24"/>
                </a:solidFill>
                <a:latin typeface="Calibri" pitchFamily="34" charset="0"/>
                <a:ea typeface="Calibri" pitchFamily="34" charset="-122"/>
                <a:cs typeface="Calibri" pitchFamily="34" charset="-120"/>
              </a:rPr>
              <a:t>Fully in-house</a:t>
            </a:r>
            <a:endParaRPr lang="en-US" sz="950" dirty="0"/>
          </a:p>
        </p:txBody>
      </p:sp>
      <p:sp>
        <p:nvSpPr>
          <p:cNvPr id="89" name="Text 87"/>
          <p:cNvSpPr txBox="1"/>
          <p:nvPr/>
        </p:nvSpPr>
        <p:spPr>
          <a:xfrm>
            <a:off x="5897880" y="4626864"/>
            <a:ext cx="1691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INR 2-3 cr (est.)</a:t>
            </a:r>
            <a:endParaRPr lang="en-US" sz="900" dirty="0"/>
          </a:p>
        </p:txBody>
      </p:sp>
      <p:sp>
        <p:nvSpPr>
          <p:cNvPr id="90" name="Shape 88"/>
          <p:cNvSpPr/>
          <p:nvPr/>
        </p:nvSpPr>
        <p:spPr>
          <a:xfrm>
            <a:off x="7866126" y="4498848"/>
            <a:ext cx="182880" cy="182880"/>
          </a:xfrm>
          <a:prstGeom prst="ellipse">
            <a:avLst/>
          </a:prstGeom>
          <a:solidFill>
            <a:srgbClr val="2E7D32"/>
          </a:solidFill>
          <a:ln w="12700">
            <a:solidFill>
              <a:srgbClr val="2E7D32"/>
            </a:solidFill>
            <a:prstDash val="solid"/>
          </a:ln>
        </p:spPr>
      </p:sp>
      <p:sp>
        <p:nvSpPr>
          <p:cNvPr id="91" name="Shape 89"/>
          <p:cNvSpPr/>
          <p:nvPr/>
        </p:nvSpPr>
        <p:spPr>
          <a:xfrm>
            <a:off x="8547354" y="4498848"/>
            <a:ext cx="182880" cy="182880"/>
          </a:xfrm>
          <a:prstGeom prst="ellipse">
            <a:avLst/>
          </a:prstGeom>
          <a:solidFill>
            <a:srgbClr val="C62828"/>
          </a:solidFill>
          <a:ln w="12700">
            <a:solidFill>
              <a:srgbClr val="C62828"/>
            </a:solidFill>
            <a:prstDash val="solid"/>
          </a:ln>
        </p:spPr>
      </p:sp>
      <p:sp>
        <p:nvSpPr>
          <p:cNvPr id="92" name="Shape 90"/>
          <p:cNvSpPr/>
          <p:nvPr/>
        </p:nvSpPr>
        <p:spPr>
          <a:xfrm>
            <a:off x="9228582" y="4498848"/>
            <a:ext cx="182880" cy="182880"/>
          </a:xfrm>
          <a:prstGeom prst="ellipse">
            <a:avLst/>
          </a:prstGeom>
          <a:solidFill>
            <a:srgbClr val="2E7D32"/>
          </a:solidFill>
          <a:ln w="12700">
            <a:solidFill>
              <a:srgbClr val="2E7D32"/>
            </a:solidFill>
            <a:prstDash val="solid"/>
          </a:ln>
        </p:spPr>
      </p:sp>
      <p:sp>
        <p:nvSpPr>
          <p:cNvPr id="93" name="Shape 91"/>
          <p:cNvSpPr/>
          <p:nvPr/>
        </p:nvSpPr>
        <p:spPr>
          <a:xfrm>
            <a:off x="9909810" y="4498848"/>
            <a:ext cx="182880" cy="182880"/>
          </a:xfrm>
          <a:prstGeom prst="ellipse">
            <a:avLst/>
          </a:prstGeom>
          <a:solidFill>
            <a:srgbClr val="2E7D32"/>
          </a:solidFill>
          <a:ln w="12700">
            <a:solidFill>
              <a:srgbClr val="2E7D32"/>
            </a:solidFill>
            <a:prstDash val="solid"/>
          </a:ln>
        </p:spPr>
      </p:sp>
      <p:sp>
        <p:nvSpPr>
          <p:cNvPr id="94" name="Shape 92"/>
          <p:cNvSpPr/>
          <p:nvPr/>
        </p:nvSpPr>
        <p:spPr>
          <a:xfrm>
            <a:off x="10591038" y="4498848"/>
            <a:ext cx="182880" cy="182880"/>
          </a:xfrm>
          <a:prstGeom prst="ellipse">
            <a:avLst/>
          </a:prstGeom>
          <a:solidFill>
            <a:srgbClr val="2E7D32"/>
          </a:solidFill>
          <a:ln w="12700">
            <a:solidFill>
              <a:srgbClr val="2E7D32"/>
            </a:solidFill>
            <a:prstDash val="solid"/>
          </a:ln>
        </p:spPr>
      </p:sp>
      <p:sp>
        <p:nvSpPr>
          <p:cNvPr id="95" name="Shape 93"/>
          <p:cNvSpPr/>
          <p:nvPr/>
        </p:nvSpPr>
        <p:spPr>
          <a:xfrm>
            <a:off x="11272266" y="4498848"/>
            <a:ext cx="182880" cy="182880"/>
          </a:xfrm>
          <a:prstGeom prst="ellipse">
            <a:avLst/>
          </a:prstGeom>
          <a:solidFill>
            <a:srgbClr val="C62828"/>
          </a:solidFill>
          <a:ln w="12700">
            <a:solidFill>
              <a:srgbClr val="C62828"/>
            </a:solidFill>
            <a:prstDash val="solid"/>
          </a:ln>
        </p:spPr>
      </p:sp>
      <p:sp>
        <p:nvSpPr>
          <p:cNvPr id="96" name="Shape 94"/>
          <p:cNvSpPr/>
          <p:nvPr/>
        </p:nvSpPr>
        <p:spPr>
          <a:xfrm>
            <a:off x="5833872" y="4873752"/>
            <a:ext cx="5870448" cy="493776"/>
          </a:xfrm>
          <a:prstGeom prst="roundRect">
            <a:avLst>
              <a:gd name="adj" fmla="val 11111"/>
            </a:avLst>
          </a:prstGeom>
          <a:solidFill>
            <a:srgbClr val="E4EEF6"/>
          </a:solidFill>
          <a:ln w="12700">
            <a:solidFill>
              <a:srgbClr val="E4EEF6"/>
            </a:solidFill>
            <a:prstDash val="solid"/>
          </a:ln>
        </p:spPr>
      </p:sp>
      <p:sp>
        <p:nvSpPr>
          <p:cNvPr id="97" name="Text 95"/>
          <p:cNvSpPr txBox="1"/>
          <p:nvPr/>
        </p:nvSpPr>
        <p:spPr>
          <a:xfrm>
            <a:off x="5897880" y="4919472"/>
            <a:ext cx="173736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Hybrid: buy optics, own model</a:t>
            </a:r>
            <a:endParaRPr lang="en-US" sz="950" dirty="0"/>
          </a:p>
        </p:txBody>
      </p:sp>
      <p:sp>
        <p:nvSpPr>
          <p:cNvPr id="98" name="Text 96"/>
          <p:cNvSpPr txBox="1"/>
          <p:nvPr/>
        </p:nvSpPr>
        <p:spPr>
          <a:xfrm>
            <a:off x="5897880" y="5138928"/>
            <a:ext cx="1691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INR 2.5-4.2 cr (est.)</a:t>
            </a:r>
            <a:endParaRPr lang="en-US" sz="900" dirty="0"/>
          </a:p>
        </p:txBody>
      </p:sp>
      <p:sp>
        <p:nvSpPr>
          <p:cNvPr id="99" name="Shape 97"/>
          <p:cNvSpPr/>
          <p:nvPr/>
        </p:nvSpPr>
        <p:spPr>
          <a:xfrm>
            <a:off x="7866126" y="5010912"/>
            <a:ext cx="182880" cy="182880"/>
          </a:xfrm>
          <a:prstGeom prst="ellipse">
            <a:avLst/>
          </a:prstGeom>
          <a:solidFill>
            <a:srgbClr val="2E7D32"/>
          </a:solidFill>
          <a:ln w="12700">
            <a:solidFill>
              <a:srgbClr val="2E7D32"/>
            </a:solidFill>
            <a:prstDash val="solid"/>
          </a:ln>
        </p:spPr>
      </p:sp>
      <p:sp>
        <p:nvSpPr>
          <p:cNvPr id="100" name="Shape 98"/>
          <p:cNvSpPr/>
          <p:nvPr/>
        </p:nvSpPr>
        <p:spPr>
          <a:xfrm>
            <a:off x="8547354" y="5010912"/>
            <a:ext cx="182880" cy="182880"/>
          </a:xfrm>
          <a:prstGeom prst="ellipse">
            <a:avLst/>
          </a:prstGeom>
          <a:solidFill>
            <a:srgbClr val="B77900"/>
          </a:solidFill>
          <a:ln w="12700">
            <a:solidFill>
              <a:srgbClr val="B77900"/>
            </a:solidFill>
            <a:prstDash val="solid"/>
          </a:ln>
        </p:spPr>
      </p:sp>
      <p:sp>
        <p:nvSpPr>
          <p:cNvPr id="101" name="Shape 99"/>
          <p:cNvSpPr/>
          <p:nvPr/>
        </p:nvSpPr>
        <p:spPr>
          <a:xfrm>
            <a:off x="9228582" y="5010912"/>
            <a:ext cx="182880" cy="182880"/>
          </a:xfrm>
          <a:prstGeom prst="ellipse">
            <a:avLst/>
          </a:prstGeom>
          <a:solidFill>
            <a:srgbClr val="2E7D32"/>
          </a:solidFill>
          <a:ln w="12700">
            <a:solidFill>
              <a:srgbClr val="2E7D32"/>
            </a:solidFill>
            <a:prstDash val="solid"/>
          </a:ln>
        </p:spPr>
      </p:sp>
      <p:sp>
        <p:nvSpPr>
          <p:cNvPr id="102" name="Shape 100"/>
          <p:cNvSpPr/>
          <p:nvPr/>
        </p:nvSpPr>
        <p:spPr>
          <a:xfrm>
            <a:off x="9909810" y="5010912"/>
            <a:ext cx="182880" cy="182880"/>
          </a:xfrm>
          <a:prstGeom prst="ellipse">
            <a:avLst/>
          </a:prstGeom>
          <a:solidFill>
            <a:srgbClr val="2E7D32"/>
          </a:solidFill>
          <a:ln w="12700">
            <a:solidFill>
              <a:srgbClr val="2E7D32"/>
            </a:solidFill>
            <a:prstDash val="solid"/>
          </a:ln>
        </p:spPr>
      </p:sp>
      <p:sp>
        <p:nvSpPr>
          <p:cNvPr id="103" name="Shape 101"/>
          <p:cNvSpPr/>
          <p:nvPr/>
        </p:nvSpPr>
        <p:spPr>
          <a:xfrm>
            <a:off x="10591038" y="5010912"/>
            <a:ext cx="182880" cy="182880"/>
          </a:xfrm>
          <a:prstGeom prst="ellipse">
            <a:avLst/>
          </a:prstGeom>
          <a:solidFill>
            <a:srgbClr val="2E7D32"/>
          </a:solidFill>
          <a:ln w="12700">
            <a:solidFill>
              <a:srgbClr val="2E7D32"/>
            </a:solidFill>
            <a:prstDash val="solid"/>
          </a:ln>
        </p:spPr>
      </p:sp>
      <p:sp>
        <p:nvSpPr>
          <p:cNvPr id="104" name="Shape 102"/>
          <p:cNvSpPr/>
          <p:nvPr/>
        </p:nvSpPr>
        <p:spPr>
          <a:xfrm>
            <a:off x="11272266" y="5010912"/>
            <a:ext cx="182880" cy="182880"/>
          </a:xfrm>
          <a:prstGeom prst="ellipse">
            <a:avLst/>
          </a:prstGeom>
          <a:solidFill>
            <a:srgbClr val="B77900"/>
          </a:solidFill>
          <a:ln w="12700">
            <a:solidFill>
              <a:srgbClr val="B77900"/>
            </a:solidFill>
            <a:prstDash val="solid"/>
          </a:ln>
        </p:spPr>
      </p:sp>
      <p:sp>
        <p:nvSpPr>
          <p:cNvPr id="105" name="Shape 103"/>
          <p:cNvSpPr/>
          <p:nvPr/>
        </p:nvSpPr>
        <p:spPr>
          <a:xfrm>
            <a:off x="5897880" y="5477256"/>
            <a:ext cx="128016" cy="128016"/>
          </a:xfrm>
          <a:prstGeom prst="ellipse">
            <a:avLst/>
          </a:prstGeom>
          <a:solidFill>
            <a:srgbClr val="2E7D32"/>
          </a:solidFill>
          <a:ln w="12700">
            <a:solidFill>
              <a:srgbClr val="2E7D32"/>
            </a:solidFill>
            <a:prstDash val="solid"/>
          </a:ln>
        </p:spPr>
      </p:sp>
      <p:sp>
        <p:nvSpPr>
          <p:cNvPr id="106" name="Text 104"/>
          <p:cNvSpPr txBox="1"/>
          <p:nvPr/>
        </p:nvSpPr>
        <p:spPr>
          <a:xfrm>
            <a:off x="6062472" y="5449824"/>
            <a:ext cx="548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strong</a:t>
            </a:r>
            <a:endParaRPr lang="en-US" sz="900" dirty="0"/>
          </a:p>
        </p:txBody>
      </p:sp>
      <p:sp>
        <p:nvSpPr>
          <p:cNvPr id="107" name="Shape 105"/>
          <p:cNvSpPr/>
          <p:nvPr/>
        </p:nvSpPr>
        <p:spPr>
          <a:xfrm>
            <a:off x="6629400" y="5477256"/>
            <a:ext cx="128016" cy="128016"/>
          </a:xfrm>
          <a:prstGeom prst="ellipse">
            <a:avLst/>
          </a:prstGeom>
          <a:solidFill>
            <a:srgbClr val="B77900"/>
          </a:solidFill>
          <a:ln w="12700">
            <a:solidFill>
              <a:srgbClr val="B77900"/>
            </a:solidFill>
            <a:prstDash val="solid"/>
          </a:ln>
        </p:spPr>
      </p:sp>
      <p:sp>
        <p:nvSpPr>
          <p:cNvPr id="108" name="Text 106"/>
          <p:cNvSpPr txBox="1"/>
          <p:nvPr/>
        </p:nvSpPr>
        <p:spPr>
          <a:xfrm>
            <a:off x="6793992" y="5449824"/>
            <a:ext cx="548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partial</a:t>
            </a:r>
            <a:endParaRPr lang="en-US" sz="900" dirty="0"/>
          </a:p>
        </p:txBody>
      </p:sp>
      <p:sp>
        <p:nvSpPr>
          <p:cNvPr id="109" name="Shape 107"/>
          <p:cNvSpPr/>
          <p:nvPr/>
        </p:nvSpPr>
        <p:spPr>
          <a:xfrm>
            <a:off x="7360920" y="5477256"/>
            <a:ext cx="128016" cy="128016"/>
          </a:xfrm>
          <a:prstGeom prst="ellipse">
            <a:avLst/>
          </a:prstGeom>
          <a:solidFill>
            <a:srgbClr val="C62828"/>
          </a:solidFill>
          <a:ln w="12700">
            <a:solidFill>
              <a:srgbClr val="C62828"/>
            </a:solidFill>
            <a:prstDash val="solid"/>
          </a:ln>
        </p:spPr>
      </p:sp>
      <p:sp>
        <p:nvSpPr>
          <p:cNvPr id="110" name="Text 108"/>
          <p:cNvSpPr txBox="1"/>
          <p:nvPr/>
        </p:nvSpPr>
        <p:spPr>
          <a:xfrm>
            <a:off x="7525512" y="5449824"/>
            <a:ext cx="548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weak</a:t>
            </a:r>
            <a:endParaRPr lang="en-US" sz="900" dirty="0"/>
          </a:p>
        </p:txBody>
      </p:sp>
      <p:sp>
        <p:nvSpPr>
          <p:cNvPr id="111" name="Text 109"/>
          <p:cNvSpPr txBox="1"/>
          <p:nvPr/>
        </p:nvSpPr>
        <p:spPr>
          <a:xfrm>
            <a:off x="8138160" y="5431536"/>
            <a:ext cx="3566160" cy="219456"/>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Output: hybrid wins on 4 of 6 criteria and is never weak.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INR 2.5-4.2 cr and one line for seven months. The month-7 go/no-go is decided on JSL's own alarm and recall numbers.</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Costs are team estimates for a 1.3-1.6 m line inspected on both faces, at INR 95.8/USD; to be replaced by vendor quotes in P0.</a:t>
            </a:r>
            <a:endParaRPr lang="en-US" sz="900" dirty="0"/>
          </a:p>
        </p:txBody>
      </p:sp>
      <p:sp>
        <p:nvSpPr>
          <p:cNvPr id="17" name="Shape 15"/>
          <p:cNvSpPr/>
          <p:nvPr/>
        </p:nvSpPr>
        <p:spPr>
          <a:xfrm>
            <a:off x="457200" y="1234440"/>
            <a:ext cx="69494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6766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19" name="Text 17"/>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m0</a:t>
            </a:r>
            <a:endParaRPr lang="en-US" sz="900" dirty="0"/>
          </a:p>
        </p:txBody>
      </p:sp>
      <p:sp>
        <p:nvSpPr>
          <p:cNvPr id="20" name="Text 18"/>
          <p:cNvSpPr txBox="1"/>
          <p:nvPr/>
        </p:nvSpPr>
        <p:spPr>
          <a:xfrm>
            <a:off x="2990088"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m4</a:t>
            </a:r>
            <a:endParaRPr lang="en-US" sz="900" dirty="0"/>
          </a:p>
        </p:txBody>
      </p:sp>
      <p:sp>
        <p:nvSpPr>
          <p:cNvPr id="21" name="Text 19"/>
          <p:cNvSpPr txBox="1"/>
          <p:nvPr/>
        </p:nvSpPr>
        <p:spPr>
          <a:xfrm>
            <a:off x="3648456"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m8</a:t>
            </a:r>
            <a:endParaRPr lang="en-US" sz="900" dirty="0"/>
          </a:p>
        </p:txBody>
      </p:sp>
      <p:sp>
        <p:nvSpPr>
          <p:cNvPr id="22" name="Text 20"/>
          <p:cNvSpPr txBox="1"/>
          <p:nvPr/>
        </p:nvSpPr>
        <p:spPr>
          <a:xfrm>
            <a:off x="4306824"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m12</a:t>
            </a:r>
            <a:endParaRPr lang="en-US" sz="900" dirty="0"/>
          </a:p>
        </p:txBody>
      </p:sp>
      <p:sp>
        <p:nvSpPr>
          <p:cNvPr id="23" name="Text 21"/>
          <p:cNvSpPr txBox="1"/>
          <p:nvPr/>
        </p:nvSpPr>
        <p:spPr>
          <a:xfrm>
            <a:off x="4965192"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m16</a:t>
            </a:r>
            <a:endParaRPr lang="en-US" sz="900" dirty="0"/>
          </a:p>
        </p:txBody>
      </p:sp>
      <p:sp>
        <p:nvSpPr>
          <p:cNvPr id="24" name="Text 22"/>
          <p:cNvSpPr txBox="1"/>
          <p:nvPr/>
        </p:nvSpPr>
        <p:spPr>
          <a:xfrm>
            <a:off x="562356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m20</a:t>
            </a:r>
            <a:endParaRPr lang="en-US" sz="900" dirty="0"/>
          </a:p>
        </p:txBody>
      </p:sp>
      <p:sp>
        <p:nvSpPr>
          <p:cNvPr id="25" name="Text 23"/>
          <p:cNvSpPr txBox="1"/>
          <p:nvPr/>
        </p:nvSpPr>
        <p:spPr>
          <a:xfrm>
            <a:off x="502920" y="1783080"/>
            <a:ext cx="320040" cy="365760"/>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P0</a:t>
            </a:r>
            <a:endParaRPr lang="en-US" sz="1100" dirty="0"/>
          </a:p>
        </p:txBody>
      </p:sp>
      <p:sp>
        <p:nvSpPr>
          <p:cNvPr id="26" name="Text 24"/>
          <p:cNvSpPr txBox="1"/>
          <p:nvPr/>
        </p:nvSpPr>
        <p:spPr>
          <a:xfrm>
            <a:off x="822960" y="1783080"/>
            <a:ext cx="1645920" cy="365760"/>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Instrument one line</a:t>
            </a:r>
            <a:endParaRPr lang="en-US" sz="1000" dirty="0"/>
          </a:p>
        </p:txBody>
      </p:sp>
      <p:sp>
        <p:nvSpPr>
          <p:cNvPr id="27" name="Shape 25"/>
          <p:cNvSpPr/>
          <p:nvPr/>
        </p:nvSpPr>
        <p:spPr>
          <a:xfrm>
            <a:off x="2514600" y="1856232"/>
            <a:ext cx="3291840" cy="219456"/>
          </a:xfrm>
          <a:prstGeom prst="rect">
            <a:avLst/>
          </a:prstGeom>
          <a:solidFill>
            <a:srgbClr val="F1F4F7"/>
          </a:solidFill>
          <a:ln w="12700">
            <a:solidFill>
              <a:srgbClr val="F1F4F7"/>
            </a:solidFill>
            <a:prstDash val="solid"/>
          </a:ln>
        </p:spPr>
      </p:sp>
      <p:sp>
        <p:nvSpPr>
          <p:cNvPr id="28" name="Shape 26"/>
          <p:cNvSpPr/>
          <p:nvPr/>
        </p:nvSpPr>
        <p:spPr>
          <a:xfrm>
            <a:off x="2514600" y="1856232"/>
            <a:ext cx="246888" cy="219456"/>
          </a:xfrm>
          <a:prstGeom prst="rect">
            <a:avLst/>
          </a:prstGeom>
          <a:solidFill>
            <a:srgbClr val="0086C3"/>
          </a:solidFill>
          <a:ln w="12700">
            <a:solidFill>
              <a:srgbClr val="0086C3"/>
            </a:solidFill>
            <a:prstDash val="solid"/>
          </a:ln>
        </p:spPr>
      </p:sp>
      <p:sp>
        <p:nvSpPr>
          <p:cNvPr id="29" name="Text 27"/>
          <p:cNvSpPr txBox="1"/>
          <p:nvPr/>
        </p:nvSpPr>
        <p:spPr>
          <a:xfrm>
            <a:off x="5897880" y="1783080"/>
            <a:ext cx="150876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Frames at line speed; resolution and grade matrix fixed</a:t>
            </a:r>
            <a:endParaRPr lang="en-US" sz="900" dirty="0"/>
          </a:p>
        </p:txBody>
      </p:sp>
      <p:sp>
        <p:nvSpPr>
          <p:cNvPr id="30" name="Text 28"/>
          <p:cNvSpPr txBox="1"/>
          <p:nvPr/>
        </p:nvSpPr>
        <p:spPr>
          <a:xfrm>
            <a:off x="502920" y="2240280"/>
            <a:ext cx="320040" cy="365760"/>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P1</a:t>
            </a:r>
            <a:endParaRPr lang="en-US" sz="1100" dirty="0"/>
          </a:p>
        </p:txBody>
      </p:sp>
      <p:sp>
        <p:nvSpPr>
          <p:cNvPr id="31" name="Text 29"/>
          <p:cNvSpPr txBox="1"/>
          <p:nvPr/>
        </p:nvSpPr>
        <p:spPr>
          <a:xfrm>
            <a:off x="822960" y="2240280"/>
            <a:ext cx="1645920" cy="365760"/>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Fine-tune on JSL strip</a:t>
            </a:r>
            <a:endParaRPr lang="en-US" sz="1000" dirty="0"/>
          </a:p>
        </p:txBody>
      </p:sp>
      <p:sp>
        <p:nvSpPr>
          <p:cNvPr id="32" name="Shape 30"/>
          <p:cNvSpPr/>
          <p:nvPr/>
        </p:nvSpPr>
        <p:spPr>
          <a:xfrm>
            <a:off x="2514600" y="2313432"/>
            <a:ext cx="3291840" cy="219456"/>
          </a:xfrm>
          <a:prstGeom prst="rect">
            <a:avLst/>
          </a:prstGeom>
          <a:solidFill>
            <a:srgbClr val="F1F4F7"/>
          </a:solidFill>
          <a:ln w="12700">
            <a:solidFill>
              <a:srgbClr val="F1F4F7"/>
            </a:solidFill>
            <a:prstDash val="solid"/>
          </a:ln>
        </p:spPr>
      </p:sp>
      <p:sp>
        <p:nvSpPr>
          <p:cNvPr id="33" name="Shape 31"/>
          <p:cNvSpPr/>
          <p:nvPr/>
        </p:nvSpPr>
        <p:spPr>
          <a:xfrm>
            <a:off x="2761488" y="2313432"/>
            <a:ext cx="411480" cy="219456"/>
          </a:xfrm>
          <a:prstGeom prst="rect">
            <a:avLst/>
          </a:prstGeom>
          <a:solidFill>
            <a:srgbClr val="0086C3"/>
          </a:solidFill>
          <a:ln w="12700">
            <a:solidFill>
              <a:srgbClr val="0086C3"/>
            </a:solidFill>
            <a:prstDash val="solid"/>
          </a:ln>
        </p:spPr>
      </p:sp>
      <p:sp>
        <p:nvSpPr>
          <p:cNvPr id="34" name="Text 32"/>
          <p:cNvSpPr txBox="1"/>
          <p:nvPr/>
        </p:nvSpPr>
        <p:spPr>
          <a:xfrm>
            <a:off x="5897880" y="2240280"/>
            <a:ext cx="150876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Clean-strip alarms &lt;= 25%, recall &gt;= 90%</a:t>
            </a:r>
            <a:endParaRPr lang="en-US" sz="900" dirty="0"/>
          </a:p>
        </p:txBody>
      </p:sp>
      <p:sp>
        <p:nvSpPr>
          <p:cNvPr id="35" name="Text 33"/>
          <p:cNvSpPr txBox="1"/>
          <p:nvPr/>
        </p:nvSpPr>
        <p:spPr>
          <a:xfrm>
            <a:off x="502920" y="2697480"/>
            <a:ext cx="320040" cy="365760"/>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P2</a:t>
            </a:r>
            <a:endParaRPr lang="en-US" sz="1100" dirty="0"/>
          </a:p>
        </p:txBody>
      </p:sp>
      <p:sp>
        <p:nvSpPr>
          <p:cNvPr id="36" name="Text 34"/>
          <p:cNvSpPr txBox="1"/>
          <p:nvPr/>
        </p:nvSpPr>
        <p:spPr>
          <a:xfrm>
            <a:off x="822960" y="2697480"/>
            <a:ext cx="1645920" cy="365760"/>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Shadow mode: advises only</a:t>
            </a:r>
            <a:endParaRPr lang="en-US" sz="1000" dirty="0"/>
          </a:p>
        </p:txBody>
      </p:sp>
      <p:sp>
        <p:nvSpPr>
          <p:cNvPr id="37" name="Shape 35"/>
          <p:cNvSpPr/>
          <p:nvPr/>
        </p:nvSpPr>
        <p:spPr>
          <a:xfrm>
            <a:off x="2514600" y="2770632"/>
            <a:ext cx="3291840" cy="219456"/>
          </a:xfrm>
          <a:prstGeom prst="rect">
            <a:avLst/>
          </a:prstGeom>
          <a:solidFill>
            <a:srgbClr val="F1F4F7"/>
          </a:solidFill>
          <a:ln w="12700">
            <a:solidFill>
              <a:srgbClr val="F1F4F7"/>
            </a:solidFill>
            <a:prstDash val="solid"/>
          </a:ln>
        </p:spPr>
      </p:sp>
      <p:sp>
        <p:nvSpPr>
          <p:cNvPr id="38" name="Shape 36"/>
          <p:cNvSpPr/>
          <p:nvPr/>
        </p:nvSpPr>
        <p:spPr>
          <a:xfrm>
            <a:off x="3172968" y="2770632"/>
            <a:ext cx="493776" cy="219456"/>
          </a:xfrm>
          <a:prstGeom prst="rect">
            <a:avLst/>
          </a:prstGeom>
          <a:solidFill>
            <a:srgbClr val="0086C3"/>
          </a:solidFill>
          <a:ln w="12700">
            <a:solidFill>
              <a:srgbClr val="0086C3"/>
            </a:solidFill>
            <a:prstDash val="solid"/>
          </a:ln>
        </p:spPr>
      </p:sp>
      <p:sp>
        <p:nvSpPr>
          <p:cNvPr id="39" name="Text 37"/>
          <p:cNvSpPr txBox="1"/>
          <p:nvPr/>
        </p:nvSpPr>
        <p:spPr>
          <a:xfrm>
            <a:off x="5897880" y="2697480"/>
            <a:ext cx="150876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&gt;= 90% operator agreement over 4 weeks</a:t>
            </a:r>
            <a:endParaRPr lang="en-US" sz="900" dirty="0"/>
          </a:p>
        </p:txBody>
      </p:sp>
      <p:sp>
        <p:nvSpPr>
          <p:cNvPr id="40" name="Text 38"/>
          <p:cNvSpPr txBox="1"/>
          <p:nvPr/>
        </p:nvSpPr>
        <p:spPr>
          <a:xfrm>
            <a:off x="502920" y="3154680"/>
            <a:ext cx="320040" cy="365760"/>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P3</a:t>
            </a:r>
            <a:endParaRPr lang="en-US" sz="1100" dirty="0"/>
          </a:p>
        </p:txBody>
      </p:sp>
      <p:sp>
        <p:nvSpPr>
          <p:cNvPr id="41" name="Text 39"/>
          <p:cNvSpPr txBox="1"/>
          <p:nvPr/>
        </p:nvSpPr>
        <p:spPr>
          <a:xfrm>
            <a:off x="822960" y="3154680"/>
            <a:ext cx="1645920" cy="365760"/>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Auto-hold on severe defects</a:t>
            </a:r>
            <a:endParaRPr lang="en-US" sz="1000" dirty="0"/>
          </a:p>
        </p:txBody>
      </p:sp>
      <p:sp>
        <p:nvSpPr>
          <p:cNvPr id="42" name="Shape 40"/>
          <p:cNvSpPr/>
          <p:nvPr/>
        </p:nvSpPr>
        <p:spPr>
          <a:xfrm>
            <a:off x="2514600" y="3227832"/>
            <a:ext cx="3291840" cy="219456"/>
          </a:xfrm>
          <a:prstGeom prst="rect">
            <a:avLst/>
          </a:prstGeom>
          <a:solidFill>
            <a:srgbClr val="F1F4F7"/>
          </a:solidFill>
          <a:ln w="12700">
            <a:solidFill>
              <a:srgbClr val="F1F4F7"/>
            </a:solidFill>
            <a:prstDash val="solid"/>
          </a:ln>
        </p:spPr>
      </p:sp>
      <p:sp>
        <p:nvSpPr>
          <p:cNvPr id="43" name="Shape 41"/>
          <p:cNvSpPr/>
          <p:nvPr/>
        </p:nvSpPr>
        <p:spPr>
          <a:xfrm>
            <a:off x="3666744" y="3227832"/>
            <a:ext cx="822960" cy="219456"/>
          </a:xfrm>
          <a:prstGeom prst="rect">
            <a:avLst/>
          </a:prstGeom>
          <a:solidFill>
            <a:srgbClr val="2B5B80"/>
          </a:solidFill>
          <a:ln w="12700">
            <a:solidFill>
              <a:srgbClr val="2B5B80"/>
            </a:solidFill>
            <a:prstDash val="solid"/>
          </a:ln>
        </p:spPr>
      </p:sp>
      <p:sp>
        <p:nvSpPr>
          <p:cNvPr id="44" name="Text 42"/>
          <p:cNvSpPr txBox="1"/>
          <p:nvPr/>
        </p:nvSpPr>
        <p:spPr>
          <a:xfrm>
            <a:off x="5897880" y="3154680"/>
            <a:ext cx="150876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Holds trusted; downgrade rate measured</a:t>
            </a:r>
            <a:endParaRPr lang="en-US" sz="900" dirty="0"/>
          </a:p>
        </p:txBody>
      </p:sp>
      <p:sp>
        <p:nvSpPr>
          <p:cNvPr id="45" name="Text 43"/>
          <p:cNvSpPr txBox="1"/>
          <p:nvPr/>
        </p:nvSpPr>
        <p:spPr>
          <a:xfrm>
            <a:off x="502920" y="3611880"/>
            <a:ext cx="320040" cy="365760"/>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P4</a:t>
            </a:r>
            <a:endParaRPr lang="en-US" sz="1100" dirty="0"/>
          </a:p>
        </p:txBody>
      </p:sp>
      <p:sp>
        <p:nvSpPr>
          <p:cNvPr id="46" name="Text 44"/>
          <p:cNvSpPr txBox="1"/>
          <p:nvPr/>
        </p:nvSpPr>
        <p:spPr>
          <a:xfrm>
            <a:off x="822960" y="3611880"/>
            <a:ext cx="1645920" cy="365760"/>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Second line and grade</a:t>
            </a:r>
            <a:endParaRPr lang="en-US" sz="1000" dirty="0"/>
          </a:p>
        </p:txBody>
      </p:sp>
      <p:sp>
        <p:nvSpPr>
          <p:cNvPr id="47" name="Shape 45"/>
          <p:cNvSpPr/>
          <p:nvPr/>
        </p:nvSpPr>
        <p:spPr>
          <a:xfrm>
            <a:off x="2514600" y="3685032"/>
            <a:ext cx="3291840" cy="219456"/>
          </a:xfrm>
          <a:prstGeom prst="rect">
            <a:avLst/>
          </a:prstGeom>
          <a:solidFill>
            <a:srgbClr val="F1F4F7"/>
          </a:solidFill>
          <a:ln w="12700">
            <a:solidFill>
              <a:srgbClr val="F1F4F7"/>
            </a:solidFill>
            <a:prstDash val="solid"/>
          </a:ln>
        </p:spPr>
      </p:sp>
      <p:sp>
        <p:nvSpPr>
          <p:cNvPr id="48" name="Shape 46"/>
          <p:cNvSpPr/>
          <p:nvPr/>
        </p:nvSpPr>
        <p:spPr>
          <a:xfrm>
            <a:off x="4489704" y="3685032"/>
            <a:ext cx="1316736" cy="219456"/>
          </a:xfrm>
          <a:prstGeom prst="rect">
            <a:avLst/>
          </a:prstGeom>
          <a:solidFill>
            <a:srgbClr val="2B5B80"/>
          </a:solidFill>
          <a:ln w="12700">
            <a:solidFill>
              <a:srgbClr val="2B5B80"/>
            </a:solidFill>
            <a:prstDash val="solid"/>
          </a:ln>
        </p:spPr>
      </p:sp>
      <p:sp>
        <p:nvSpPr>
          <p:cNvPr id="49" name="Text 47"/>
          <p:cNvSpPr txBox="1"/>
          <p:nvPr/>
        </p:nvSpPr>
        <p:spPr>
          <a:xfrm>
            <a:off x="5897880" y="3611880"/>
            <a:ext cx="150876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Fleet rollout decision on real payback</a:t>
            </a:r>
            <a:endParaRPr lang="en-US" sz="900" dirty="0"/>
          </a:p>
        </p:txBody>
      </p:sp>
      <p:sp>
        <p:nvSpPr>
          <p:cNvPr id="50" name="Shape 48"/>
          <p:cNvSpPr/>
          <p:nvPr/>
        </p:nvSpPr>
        <p:spPr>
          <a:xfrm>
            <a:off x="3657600" y="1783080"/>
            <a:ext cx="18288" cy="2240280"/>
          </a:xfrm>
          <a:prstGeom prst="rect">
            <a:avLst/>
          </a:prstGeom>
          <a:solidFill>
            <a:srgbClr val="C62828"/>
          </a:solidFill>
          <a:ln w="12700">
            <a:solidFill>
              <a:srgbClr val="C62828"/>
            </a:solidFill>
            <a:prstDash val="solid"/>
          </a:ln>
        </p:spPr>
      </p:sp>
      <p:sp>
        <p:nvSpPr>
          <p:cNvPr id="51" name="Text 49"/>
          <p:cNvSpPr txBox="1"/>
          <p:nvPr/>
        </p:nvSpPr>
        <p:spPr>
          <a:xfrm>
            <a:off x="3712464" y="4023360"/>
            <a:ext cx="128016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52" name="Text 50"/>
          <p:cNvSpPr txBox="1"/>
          <p:nvPr/>
        </p:nvSpPr>
        <p:spPr>
          <a:xfrm>
            <a:off x="5989320" y="1554480"/>
            <a:ext cx="146304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EXIT GATE</a:t>
            </a:r>
            <a:endParaRPr lang="en-US" sz="900" dirty="0"/>
          </a:p>
        </p:txBody>
      </p:sp>
      <p:sp>
        <p:nvSpPr>
          <p:cNvPr id="53" name="Shape 51"/>
          <p:cNvSpPr/>
          <p:nvPr/>
        </p:nvSpPr>
        <p:spPr>
          <a:xfrm>
            <a:off x="7635240" y="1234440"/>
            <a:ext cx="4096512" cy="274320"/>
          </a:xfrm>
          <a:prstGeom prst="rect">
            <a:avLst/>
          </a:prstGeom>
          <a:solidFill>
            <a:srgbClr val="2B5B80"/>
          </a:solidFill>
          <a:ln w="12700">
            <a:solidFill>
              <a:srgbClr val="2B5B80"/>
            </a:solidFill>
            <a:prstDash val="solid"/>
          </a:ln>
        </p:spPr>
      </p:sp>
      <p:sp>
        <p:nvSpPr>
          <p:cNvPr id="54" name="Text 52"/>
          <p:cNvSpPr txBox="1"/>
          <p:nvPr/>
        </p:nvSpPr>
        <p:spPr>
          <a:xfrm>
            <a:off x="7726680" y="1234440"/>
            <a:ext cx="39136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per line, estimated (INR lakh)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635240" y="1554480"/>
          <a:ext cx="4096512" cy="914400"/>
        </p:xfrm>
        <a:graphic>
          <a:graphicData uri="http://schemas.openxmlformats.org/drawingml/2006/table">
            <a:tbl>
              <a:tblPr/>
              <a:tblGrid>
                <a:gridCol w="3090672"/>
                <a:gridCol w="100584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Item</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INR lakh</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329184">
                <a:tc>
                  <a:txBody>
                    <a:bodyPr/>
                    <a:lstStyle/>
                    <a:p>
                      <a:pPr indent="0" marL="0">
                        <a:buNone/>
                      </a:pPr>
                      <a:r>
                        <a:rPr lang="en-US" sz="1050" dirty="0">
                          <a:solidFill>
                            <a:srgbClr val="141C24"/>
                          </a:solidFill>
                          <a:latin typeface="Calibri" pitchFamily="34" charset="0"/>
                          <a:ea typeface="Calibri" pitchFamily="34" charset="-122"/>
                          <a:cs typeface="Calibri" pitchFamily="34" charset="-120"/>
                        </a:rPr>
                        <a:t>Cameras and lighting</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050" dirty="0">
                          <a:solidFill>
                            <a:srgbClr val="141C24"/>
                          </a:solidFill>
                          <a:latin typeface="Calibri" pitchFamily="34" charset="0"/>
                          <a:ea typeface="Calibri" pitchFamily="34" charset="-122"/>
                          <a:cs typeface="Calibri" pitchFamily="34" charset="-120"/>
                        </a:rPr>
                        <a:t>85-145</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1050" dirty="0">
                          <a:solidFill>
                            <a:srgbClr val="141C24"/>
                          </a:solidFill>
                          <a:latin typeface="Calibri" pitchFamily="34" charset="0"/>
                          <a:ea typeface="Calibri" pitchFamily="34" charset="-122"/>
                          <a:cs typeface="Calibri" pitchFamily="34" charset="-120"/>
                        </a:rPr>
                        <a:t>Computing hardware</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050" dirty="0">
                          <a:solidFill>
                            <a:srgbClr val="141C24"/>
                          </a:solidFill>
                          <a:latin typeface="Calibri" pitchFamily="34" charset="0"/>
                          <a:ea typeface="Calibri" pitchFamily="34" charset="-122"/>
                          <a:cs typeface="Calibri" pitchFamily="34" charset="-120"/>
                        </a:rPr>
                        <a:t>45-75</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1050" dirty="0">
                          <a:solidFill>
                            <a:srgbClr val="141C24"/>
                          </a:solidFill>
                          <a:latin typeface="Calibri" pitchFamily="34" charset="0"/>
                          <a:ea typeface="Calibri" pitchFamily="34" charset="-122"/>
                          <a:cs typeface="Calibri" pitchFamily="34" charset="-120"/>
                        </a:rPr>
                        <a:t>Installation and plant integration</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050" dirty="0">
                          <a:solidFill>
                            <a:srgbClr val="141C24"/>
                          </a:solidFill>
                          <a:latin typeface="Calibri" pitchFamily="34" charset="0"/>
                          <a:ea typeface="Calibri" pitchFamily="34" charset="-122"/>
                          <a:cs typeface="Calibri" pitchFamily="34" charset="-120"/>
                        </a:rPr>
                        <a:t>90-150</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1050" dirty="0">
                          <a:solidFill>
                            <a:srgbClr val="141C24"/>
                          </a:solidFill>
                          <a:latin typeface="Calibri" pitchFamily="34" charset="0"/>
                          <a:ea typeface="Calibri" pitchFamily="34" charset="-122"/>
                          <a:cs typeface="Calibri" pitchFamily="34" charset="-120"/>
                        </a:rPr>
                        <a:t>Training on JSL's own strip</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050" dirty="0">
                          <a:solidFill>
                            <a:srgbClr val="141C24"/>
                          </a:solidFill>
                          <a:latin typeface="Calibri" pitchFamily="34" charset="0"/>
                          <a:ea typeface="Calibri" pitchFamily="34" charset="-122"/>
                          <a:cs typeface="Calibri" pitchFamily="34" charset="-120"/>
                        </a:rPr>
                        <a:t>30-50</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1050" b="1" dirty="0">
                          <a:solidFill>
                            <a:srgbClr val="141C24"/>
                          </a:solidFill>
                          <a:latin typeface="Calibri" pitchFamily="34" charset="0"/>
                          <a:ea typeface="Calibri" pitchFamily="34" charset="-122"/>
                          <a:cs typeface="Calibri" pitchFamily="34" charset="-120"/>
                        </a:rPr>
                        <a:t>Total, one line</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050" b="1" dirty="0">
                          <a:solidFill>
                            <a:srgbClr val="0086C3"/>
                          </a:solidFill>
                          <a:latin typeface="Calibri" pitchFamily="34" charset="0"/>
                          <a:ea typeface="Calibri" pitchFamily="34" charset="-122"/>
                          <a:cs typeface="Calibri" pitchFamily="34" charset="-120"/>
                        </a:rPr>
                        <a:t>250-420</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1050" dirty="0">
                          <a:solidFill>
                            <a:srgbClr val="141C24"/>
                          </a:solidFill>
                          <a:latin typeface="Calibri" pitchFamily="34" charset="0"/>
                          <a:ea typeface="Calibri" pitchFamily="34" charset="-122"/>
                          <a:cs typeface="Calibri" pitchFamily="34" charset="-120"/>
                        </a:rPr>
                        <a:t>Running cost, per year</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050" dirty="0">
                          <a:solidFill>
                            <a:srgbClr val="141C24"/>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56" name="Shape 53"/>
          <p:cNvSpPr/>
          <p:nvPr/>
        </p:nvSpPr>
        <p:spPr>
          <a:xfrm>
            <a:off x="457200" y="4297680"/>
            <a:ext cx="11274552" cy="274320"/>
          </a:xfrm>
          <a:prstGeom prst="rect">
            <a:avLst/>
          </a:prstGeom>
          <a:solidFill>
            <a:srgbClr val="2B5B80"/>
          </a:solidFill>
          <a:ln w="12700">
            <a:solidFill>
              <a:srgbClr val="2B5B80"/>
            </a:solidFill>
            <a:prstDash val="solid"/>
          </a:ln>
        </p:spPr>
      </p:sp>
      <p:sp>
        <p:nvSpPr>
          <p:cNvPr id="57" name="Text 54"/>
          <p:cNvSpPr txBox="1"/>
          <p:nvPr/>
        </p:nvSpPr>
        <p:spPr>
          <a:xfrm>
            <a:off x="548640" y="429768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Plant connection: read-only first, control last</a:t>
            </a:r>
            <a:endParaRPr lang="en-US" sz="1100" dirty="0"/>
          </a:p>
        </p:txBody>
      </p:sp>
      <p:sp>
        <p:nvSpPr>
          <p:cNvPr id="58" name="Shape 55"/>
          <p:cNvSpPr/>
          <p:nvPr/>
        </p:nvSpPr>
        <p:spPr>
          <a:xfrm>
            <a:off x="457200" y="4645152"/>
            <a:ext cx="3575304" cy="1188720"/>
          </a:xfrm>
          <a:prstGeom prst="roundRect">
            <a:avLst>
              <a:gd name="adj" fmla="val 4615"/>
            </a:avLst>
          </a:prstGeom>
          <a:solidFill>
            <a:srgbClr val="F1F4F7"/>
          </a:solidFill>
          <a:ln w="12700">
            <a:solidFill>
              <a:srgbClr val="F1F4F7"/>
            </a:solidFill>
            <a:prstDash val="solid"/>
          </a:ln>
        </p:spPr>
      </p:sp>
      <p:sp>
        <p:nvSpPr>
          <p:cNvPr id="59" name="Text 56"/>
          <p:cNvSpPr txBox="1"/>
          <p:nvPr/>
        </p:nvSpPr>
        <p:spPr>
          <a:xfrm>
            <a:off x="594360" y="4718304"/>
            <a:ext cx="2386584" cy="292608"/>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Process data</a:t>
            </a:r>
            <a:endParaRPr lang="en-US" sz="1200" dirty="0"/>
          </a:p>
        </p:txBody>
      </p:sp>
      <p:sp>
        <p:nvSpPr>
          <p:cNvPr id="60" name="Shape 57"/>
          <p:cNvSpPr/>
          <p:nvPr/>
        </p:nvSpPr>
        <p:spPr>
          <a:xfrm>
            <a:off x="3072384" y="4773168"/>
            <a:ext cx="822960" cy="182880"/>
          </a:xfrm>
          <a:prstGeom prst="roundRect">
            <a:avLst>
              <a:gd name="adj" fmla="val 30000"/>
            </a:avLst>
          </a:prstGeom>
          <a:solidFill>
            <a:srgbClr val="0086C3"/>
          </a:solidFill>
          <a:ln w="12700">
            <a:solidFill>
              <a:srgbClr val="0086C3"/>
            </a:solidFill>
            <a:prstDash val="solid"/>
          </a:ln>
        </p:spPr>
      </p:sp>
      <p:sp>
        <p:nvSpPr>
          <p:cNvPr id="61" name="Text 58"/>
          <p:cNvSpPr txBox="1"/>
          <p:nvPr/>
        </p:nvSpPr>
        <p:spPr>
          <a:xfrm>
            <a:off x="3072384" y="4773168"/>
            <a:ext cx="82296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from P0</a:t>
            </a:r>
            <a:endParaRPr lang="en-US" sz="900" dirty="0"/>
          </a:p>
        </p:txBody>
      </p:sp>
      <p:sp>
        <p:nvSpPr>
          <p:cNvPr id="62" name="Text 59"/>
          <p:cNvSpPr txBox="1"/>
          <p:nvPr/>
        </p:nvSpPr>
        <p:spPr>
          <a:xfrm>
            <a:off x="594360" y="5074920"/>
            <a:ext cx="3300984" cy="640080"/>
          </a:xfrm>
          <a:prstGeom prst="rect">
            <a:avLst/>
          </a:prstGeom>
          <a:noFill/>
          <a:ln/>
        </p:spPr>
        <p:txBody>
          <a:bodyPr wrap="square" lIns="0" tIns="0" rIns="0" bIns="0" rtlCol="0" anchor="t"/>
          <a:lstStyle/>
          <a:p>
            <a:pPr indent="0" marL="0">
              <a:buNone/>
            </a:pPr>
            <a:r>
              <a:rPr lang="en-US" sz="1050" dirty="0">
                <a:solidFill>
                  <a:srgbClr val="334150"/>
                </a:solidFill>
                <a:latin typeface="Calibri" pitchFamily="34" charset="0"/>
                <a:ea typeface="Calibri" pitchFamily="34" charset="-122"/>
                <a:cs typeface="Calibri" pitchFamily="34" charset="-120"/>
              </a:rPr>
              <a:t>Coil ID, grade, gauge and speed, so each defect is tied to the heat it came from</a:t>
            </a:r>
            <a:endParaRPr lang="en-US" sz="1050" dirty="0"/>
          </a:p>
        </p:txBody>
      </p:sp>
      <p:sp>
        <p:nvSpPr>
          <p:cNvPr id="63" name="Text 60"/>
          <p:cNvSpPr txBox="1"/>
          <p:nvPr/>
        </p:nvSpPr>
        <p:spPr>
          <a:xfrm>
            <a:off x="4032504" y="5074920"/>
            <a:ext cx="274320" cy="274320"/>
          </a:xfrm>
          <a:prstGeom prst="rect">
            <a:avLst/>
          </a:prstGeom>
          <a:noFill/>
          <a:ln/>
        </p:spPr>
        <p:txBody>
          <a:bodyPr wrap="square" lIns="0" tIns="0" rIns="0" bIns="0" rtlCol="0" anchor="t"/>
          <a:lstStyle/>
          <a:p>
            <a:pPr algn="ctr" indent="0" marL="0">
              <a:buNone/>
            </a:pPr>
            <a:r>
              <a:rPr lang="en-US" sz="1600" b="1" dirty="0">
                <a:solidFill>
                  <a:srgbClr val="0086C3"/>
                </a:solidFill>
                <a:latin typeface="Calibri" pitchFamily="34" charset="0"/>
                <a:ea typeface="Calibri" pitchFamily="34" charset="-122"/>
                <a:cs typeface="Calibri" pitchFamily="34" charset="-120"/>
              </a:rPr>
              <a:t>&gt;</a:t>
            </a:r>
            <a:endParaRPr lang="en-US" sz="1600" dirty="0"/>
          </a:p>
        </p:txBody>
      </p:sp>
      <p:sp>
        <p:nvSpPr>
          <p:cNvPr id="64" name="Shape 61"/>
          <p:cNvSpPr/>
          <p:nvPr/>
        </p:nvSpPr>
        <p:spPr>
          <a:xfrm>
            <a:off x="4306824" y="4645152"/>
            <a:ext cx="3575304" cy="1188720"/>
          </a:xfrm>
          <a:prstGeom prst="roundRect">
            <a:avLst>
              <a:gd name="adj" fmla="val 4615"/>
            </a:avLst>
          </a:prstGeom>
          <a:solidFill>
            <a:srgbClr val="F1F4F7"/>
          </a:solidFill>
          <a:ln w="12700">
            <a:solidFill>
              <a:srgbClr val="F1F4F7"/>
            </a:solidFill>
            <a:prstDash val="solid"/>
          </a:ln>
        </p:spPr>
      </p:sp>
      <p:sp>
        <p:nvSpPr>
          <p:cNvPr id="65" name="Text 62"/>
          <p:cNvSpPr txBox="1"/>
          <p:nvPr/>
        </p:nvSpPr>
        <p:spPr>
          <a:xfrm>
            <a:off x="4443984" y="4718304"/>
            <a:ext cx="2386584" cy="292608"/>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Quality records</a:t>
            </a:r>
            <a:endParaRPr lang="en-US" sz="1200" dirty="0"/>
          </a:p>
        </p:txBody>
      </p:sp>
      <p:sp>
        <p:nvSpPr>
          <p:cNvPr id="66" name="Shape 63"/>
          <p:cNvSpPr/>
          <p:nvPr/>
        </p:nvSpPr>
        <p:spPr>
          <a:xfrm>
            <a:off x="6922008" y="4773168"/>
            <a:ext cx="822960" cy="182880"/>
          </a:xfrm>
          <a:prstGeom prst="roundRect">
            <a:avLst>
              <a:gd name="adj" fmla="val 30000"/>
            </a:avLst>
          </a:prstGeom>
          <a:solidFill>
            <a:srgbClr val="0086C3"/>
          </a:solidFill>
          <a:ln w="12700">
            <a:solidFill>
              <a:srgbClr val="0086C3"/>
            </a:solidFill>
            <a:prstDash val="solid"/>
          </a:ln>
        </p:spPr>
      </p:sp>
      <p:sp>
        <p:nvSpPr>
          <p:cNvPr id="67" name="Text 64"/>
          <p:cNvSpPr txBox="1"/>
          <p:nvPr/>
        </p:nvSpPr>
        <p:spPr>
          <a:xfrm>
            <a:off x="6922008" y="4773168"/>
            <a:ext cx="82296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from P2</a:t>
            </a:r>
            <a:endParaRPr lang="en-US" sz="900" dirty="0"/>
          </a:p>
        </p:txBody>
      </p:sp>
      <p:sp>
        <p:nvSpPr>
          <p:cNvPr id="68" name="Text 65"/>
          <p:cNvSpPr txBox="1"/>
          <p:nvPr/>
        </p:nvSpPr>
        <p:spPr>
          <a:xfrm>
            <a:off x="4443984" y="5074920"/>
            <a:ext cx="3300984" cy="640080"/>
          </a:xfrm>
          <a:prstGeom prst="rect">
            <a:avLst/>
          </a:prstGeom>
          <a:noFill/>
          <a:ln/>
        </p:spPr>
        <p:txBody>
          <a:bodyPr wrap="square" lIns="0" tIns="0" rIns="0" bIns="0" rtlCol="0" anchor="t"/>
          <a:lstStyle/>
          <a:p>
            <a:pPr indent="0" marL="0">
              <a:buNone/>
            </a:pPr>
            <a:r>
              <a:rPr lang="en-US" sz="1050" dirty="0">
                <a:solidFill>
                  <a:srgbClr val="334150"/>
                </a:solidFill>
                <a:latin typeface="Calibri" pitchFamily="34" charset="0"/>
                <a:ea typeface="Calibri" pitchFamily="34" charset="-122"/>
                <a:cs typeface="Calibri" pitchFamily="34" charset="-120"/>
              </a:rPr>
              <a:t>Coil disposition and a defect map that can travel with the customer certificate</a:t>
            </a:r>
            <a:endParaRPr lang="en-US" sz="1050" dirty="0"/>
          </a:p>
        </p:txBody>
      </p:sp>
      <p:sp>
        <p:nvSpPr>
          <p:cNvPr id="69" name="Text 66"/>
          <p:cNvSpPr txBox="1"/>
          <p:nvPr/>
        </p:nvSpPr>
        <p:spPr>
          <a:xfrm>
            <a:off x="7882128" y="5074920"/>
            <a:ext cx="274320" cy="274320"/>
          </a:xfrm>
          <a:prstGeom prst="rect">
            <a:avLst/>
          </a:prstGeom>
          <a:noFill/>
          <a:ln/>
        </p:spPr>
        <p:txBody>
          <a:bodyPr wrap="square" lIns="0" tIns="0" rIns="0" bIns="0" rtlCol="0" anchor="t"/>
          <a:lstStyle/>
          <a:p>
            <a:pPr algn="ctr" indent="0" marL="0">
              <a:buNone/>
            </a:pPr>
            <a:r>
              <a:rPr lang="en-US" sz="1600" b="1" dirty="0">
                <a:solidFill>
                  <a:srgbClr val="0086C3"/>
                </a:solidFill>
                <a:latin typeface="Calibri" pitchFamily="34" charset="0"/>
                <a:ea typeface="Calibri" pitchFamily="34" charset="-122"/>
                <a:cs typeface="Calibri" pitchFamily="34" charset="-120"/>
              </a:rPr>
              <a:t>&gt;</a:t>
            </a:r>
            <a:endParaRPr lang="en-US" sz="1600" dirty="0"/>
          </a:p>
        </p:txBody>
      </p:sp>
      <p:sp>
        <p:nvSpPr>
          <p:cNvPr id="70" name="Shape 67"/>
          <p:cNvSpPr/>
          <p:nvPr/>
        </p:nvSpPr>
        <p:spPr>
          <a:xfrm>
            <a:off x="8156448" y="4645152"/>
            <a:ext cx="3575304" cy="1188720"/>
          </a:xfrm>
          <a:prstGeom prst="roundRect">
            <a:avLst>
              <a:gd name="adj" fmla="val 4615"/>
            </a:avLst>
          </a:prstGeom>
          <a:solidFill>
            <a:srgbClr val="E4EEF6"/>
          </a:solidFill>
          <a:ln w="12700">
            <a:solidFill>
              <a:srgbClr val="E4EEF6"/>
            </a:solidFill>
            <a:prstDash val="solid"/>
          </a:ln>
        </p:spPr>
      </p:sp>
      <p:sp>
        <p:nvSpPr>
          <p:cNvPr id="71" name="Text 68"/>
          <p:cNvSpPr txBox="1"/>
          <p:nvPr/>
        </p:nvSpPr>
        <p:spPr>
          <a:xfrm>
            <a:off x="8293608" y="4718304"/>
            <a:ext cx="2386584" cy="292608"/>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Line control</a:t>
            </a:r>
            <a:endParaRPr lang="en-US" sz="1200" dirty="0"/>
          </a:p>
        </p:txBody>
      </p:sp>
      <p:sp>
        <p:nvSpPr>
          <p:cNvPr id="72" name="Shape 69"/>
          <p:cNvSpPr/>
          <p:nvPr/>
        </p:nvSpPr>
        <p:spPr>
          <a:xfrm>
            <a:off x="10771632" y="4773168"/>
            <a:ext cx="822960" cy="182880"/>
          </a:xfrm>
          <a:prstGeom prst="roundRect">
            <a:avLst>
              <a:gd name="adj" fmla="val 30000"/>
            </a:avLst>
          </a:prstGeom>
          <a:solidFill>
            <a:srgbClr val="143A5A"/>
          </a:solidFill>
          <a:ln w="12700">
            <a:solidFill>
              <a:srgbClr val="143A5A"/>
            </a:solidFill>
            <a:prstDash val="solid"/>
          </a:ln>
        </p:spPr>
      </p:sp>
      <p:sp>
        <p:nvSpPr>
          <p:cNvPr id="73" name="Text 70"/>
          <p:cNvSpPr txBox="1"/>
          <p:nvPr/>
        </p:nvSpPr>
        <p:spPr>
          <a:xfrm>
            <a:off x="10771632" y="4773168"/>
            <a:ext cx="82296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from P3</a:t>
            </a:r>
            <a:endParaRPr lang="en-US" sz="900" dirty="0"/>
          </a:p>
        </p:txBody>
      </p:sp>
      <p:sp>
        <p:nvSpPr>
          <p:cNvPr id="74" name="Text 71"/>
          <p:cNvSpPr txBox="1"/>
          <p:nvPr/>
        </p:nvSpPr>
        <p:spPr>
          <a:xfrm>
            <a:off x="8293608" y="5074920"/>
            <a:ext cx="3300984" cy="640080"/>
          </a:xfrm>
          <a:prstGeom prst="rect">
            <a:avLst/>
          </a:prstGeom>
          <a:noFill/>
          <a:ln/>
        </p:spPr>
        <p:txBody>
          <a:bodyPr wrap="square" lIns="0" tIns="0" rIns="0" bIns="0" rtlCol="0" anchor="t"/>
          <a:lstStyle/>
          <a:p>
            <a:pPr indent="0" marL="0">
              <a:buNone/>
            </a:pPr>
            <a:r>
              <a:rPr lang="en-US" sz="1050" dirty="0">
                <a:solidFill>
                  <a:srgbClr val="334150"/>
                </a:solidFill>
                <a:latin typeface="Calibri" pitchFamily="34" charset="0"/>
                <a:ea typeface="Calibri" pitchFamily="34" charset="-122"/>
                <a:cs typeface="Calibri" pitchFamily="34" charset="-120"/>
              </a:rPr>
              <a:t>Slow or hold the line on severe defects. The only write path, switched on last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Every high risk is retired in P0-P2, before the system is allowed to slow the mill</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Accuracy, speed and trust are already proven off-site. What only JSL's line can prove is measured in shadow mode first.</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Evidence from our own tests on public steel datasets. KPI targets are proposed, to be agreed with JSL Quality in P0.</a:t>
            </a:r>
            <a:endParaRPr lang="en-US" sz="900" dirty="0"/>
          </a:p>
        </p:txBody>
      </p:sp>
      <p:sp>
        <p:nvSpPr>
          <p:cNvPr id="17" name="Shape 15"/>
          <p:cNvSpPr/>
          <p:nvPr/>
        </p:nvSpPr>
        <p:spPr>
          <a:xfrm>
            <a:off x="457200" y="1234440"/>
            <a:ext cx="32918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1089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Risk map (likelihood x impact)</a:t>
            </a:r>
            <a:endParaRPr lang="en-US" sz="1100" dirty="0"/>
          </a:p>
        </p:txBody>
      </p:sp>
      <p:sp>
        <p:nvSpPr>
          <p:cNvPr id="19" name="Shape 17"/>
          <p:cNvSpPr/>
          <p:nvPr/>
        </p:nvSpPr>
        <p:spPr>
          <a:xfrm>
            <a:off x="1005840" y="1645920"/>
            <a:ext cx="640080" cy="640080"/>
          </a:xfrm>
          <a:prstGeom prst="rect">
            <a:avLst/>
          </a:prstGeom>
          <a:solidFill>
            <a:srgbClr val="A9CBE6"/>
          </a:solidFill>
          <a:ln w="12700">
            <a:solidFill>
              <a:srgbClr val="A9CBE6"/>
            </a:solidFill>
            <a:prstDash val="solid"/>
          </a:ln>
        </p:spPr>
      </p:sp>
      <p:sp>
        <p:nvSpPr>
          <p:cNvPr id="20" name="Shape 18"/>
          <p:cNvSpPr/>
          <p:nvPr/>
        </p:nvSpPr>
        <p:spPr>
          <a:xfrm>
            <a:off x="1682496" y="1645920"/>
            <a:ext cx="640080" cy="640080"/>
          </a:xfrm>
          <a:prstGeom prst="rect">
            <a:avLst/>
          </a:prstGeom>
          <a:solidFill>
            <a:srgbClr val="5E9CCB"/>
          </a:solidFill>
          <a:ln w="12700">
            <a:solidFill>
              <a:srgbClr val="5E9CCB"/>
            </a:solidFill>
            <a:prstDash val="solid"/>
          </a:ln>
        </p:spPr>
      </p:sp>
      <p:sp>
        <p:nvSpPr>
          <p:cNvPr id="21" name="Shape 19"/>
          <p:cNvSpPr/>
          <p:nvPr/>
        </p:nvSpPr>
        <p:spPr>
          <a:xfrm>
            <a:off x="2359152" y="1645920"/>
            <a:ext cx="640080" cy="640080"/>
          </a:xfrm>
          <a:prstGeom prst="rect">
            <a:avLst/>
          </a:prstGeom>
          <a:solidFill>
            <a:srgbClr val="1F6FA8"/>
          </a:solidFill>
          <a:ln w="12700">
            <a:solidFill>
              <a:srgbClr val="1F6FA8"/>
            </a:solidFill>
            <a:prstDash val="solid"/>
          </a:ln>
        </p:spPr>
      </p:sp>
      <p:sp>
        <p:nvSpPr>
          <p:cNvPr id="22" name="Shape 20"/>
          <p:cNvSpPr/>
          <p:nvPr/>
        </p:nvSpPr>
        <p:spPr>
          <a:xfrm>
            <a:off x="1005840" y="2322576"/>
            <a:ext cx="640080" cy="640080"/>
          </a:xfrm>
          <a:prstGeom prst="rect">
            <a:avLst/>
          </a:prstGeom>
          <a:solidFill>
            <a:srgbClr val="DCEAF5"/>
          </a:solidFill>
          <a:ln w="12700">
            <a:solidFill>
              <a:srgbClr val="DCEAF5"/>
            </a:solidFill>
            <a:prstDash val="solid"/>
          </a:ln>
        </p:spPr>
      </p:sp>
      <p:sp>
        <p:nvSpPr>
          <p:cNvPr id="23" name="Shape 21"/>
          <p:cNvSpPr/>
          <p:nvPr/>
        </p:nvSpPr>
        <p:spPr>
          <a:xfrm>
            <a:off x="1682496" y="2322576"/>
            <a:ext cx="640080" cy="640080"/>
          </a:xfrm>
          <a:prstGeom prst="rect">
            <a:avLst/>
          </a:prstGeom>
          <a:solidFill>
            <a:srgbClr val="A9CBE6"/>
          </a:solidFill>
          <a:ln w="12700">
            <a:solidFill>
              <a:srgbClr val="A9CBE6"/>
            </a:solidFill>
            <a:prstDash val="solid"/>
          </a:ln>
        </p:spPr>
      </p:sp>
      <p:sp>
        <p:nvSpPr>
          <p:cNvPr id="24" name="Shape 22"/>
          <p:cNvSpPr/>
          <p:nvPr/>
        </p:nvSpPr>
        <p:spPr>
          <a:xfrm>
            <a:off x="2359152" y="2322576"/>
            <a:ext cx="640080" cy="640080"/>
          </a:xfrm>
          <a:prstGeom prst="rect">
            <a:avLst/>
          </a:prstGeom>
          <a:solidFill>
            <a:srgbClr val="5E9CCB"/>
          </a:solidFill>
          <a:ln w="12700">
            <a:solidFill>
              <a:srgbClr val="5E9CCB"/>
            </a:solidFill>
            <a:prstDash val="solid"/>
          </a:ln>
        </p:spPr>
      </p:sp>
      <p:sp>
        <p:nvSpPr>
          <p:cNvPr id="25" name="Shape 23"/>
          <p:cNvSpPr/>
          <p:nvPr/>
        </p:nvSpPr>
        <p:spPr>
          <a:xfrm>
            <a:off x="1005840" y="2999232"/>
            <a:ext cx="640080" cy="640080"/>
          </a:xfrm>
          <a:prstGeom prst="rect">
            <a:avLst/>
          </a:prstGeom>
          <a:solidFill>
            <a:srgbClr val="F1F4F7"/>
          </a:solidFill>
          <a:ln w="12700">
            <a:solidFill>
              <a:srgbClr val="F1F4F7"/>
            </a:solidFill>
            <a:prstDash val="solid"/>
          </a:ln>
        </p:spPr>
      </p:sp>
      <p:sp>
        <p:nvSpPr>
          <p:cNvPr id="26" name="Shape 24"/>
          <p:cNvSpPr/>
          <p:nvPr/>
        </p:nvSpPr>
        <p:spPr>
          <a:xfrm>
            <a:off x="1682496" y="2999232"/>
            <a:ext cx="640080" cy="640080"/>
          </a:xfrm>
          <a:prstGeom prst="rect">
            <a:avLst/>
          </a:prstGeom>
          <a:solidFill>
            <a:srgbClr val="DCEAF5"/>
          </a:solidFill>
          <a:ln w="12700">
            <a:solidFill>
              <a:srgbClr val="DCEAF5"/>
            </a:solidFill>
            <a:prstDash val="solid"/>
          </a:ln>
        </p:spPr>
      </p:sp>
      <p:sp>
        <p:nvSpPr>
          <p:cNvPr id="27" name="Shape 25"/>
          <p:cNvSpPr/>
          <p:nvPr/>
        </p:nvSpPr>
        <p:spPr>
          <a:xfrm>
            <a:off x="2359152" y="2999232"/>
            <a:ext cx="640080" cy="640080"/>
          </a:xfrm>
          <a:prstGeom prst="rect">
            <a:avLst/>
          </a:prstGeom>
          <a:solidFill>
            <a:srgbClr val="A9CBE6"/>
          </a:solidFill>
          <a:ln w="12700">
            <a:solidFill>
              <a:srgbClr val="A9CBE6"/>
            </a:solidFill>
            <a:prstDash val="solid"/>
          </a:ln>
        </p:spPr>
      </p:sp>
      <p:sp>
        <p:nvSpPr>
          <p:cNvPr id="28" name="Text 26"/>
          <p:cNvSpPr txBox="1"/>
          <p:nvPr/>
        </p:nvSpPr>
        <p:spPr>
          <a:xfrm rot="16200000">
            <a:off x="45720" y="2560320"/>
            <a:ext cx="91440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LIKELIHOOD</a:t>
            </a:r>
            <a:endParaRPr lang="en-US" sz="900" dirty="0"/>
          </a:p>
        </p:txBody>
      </p:sp>
      <p:sp>
        <p:nvSpPr>
          <p:cNvPr id="29" name="Text 27"/>
          <p:cNvSpPr txBox="1"/>
          <p:nvPr/>
        </p:nvSpPr>
        <p:spPr>
          <a:xfrm>
            <a:off x="603504" y="1883664"/>
            <a:ext cx="36576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High</a:t>
            </a:r>
            <a:endParaRPr lang="en-US" sz="900" dirty="0"/>
          </a:p>
        </p:txBody>
      </p:sp>
      <p:sp>
        <p:nvSpPr>
          <p:cNvPr id="30" name="Text 28"/>
          <p:cNvSpPr txBox="1"/>
          <p:nvPr/>
        </p:nvSpPr>
        <p:spPr>
          <a:xfrm>
            <a:off x="603504" y="2560320"/>
            <a:ext cx="36576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Med</a:t>
            </a:r>
            <a:endParaRPr lang="en-US" sz="900" dirty="0"/>
          </a:p>
        </p:txBody>
      </p:sp>
      <p:sp>
        <p:nvSpPr>
          <p:cNvPr id="31" name="Text 29"/>
          <p:cNvSpPr txBox="1"/>
          <p:nvPr/>
        </p:nvSpPr>
        <p:spPr>
          <a:xfrm>
            <a:off x="603504" y="3236976"/>
            <a:ext cx="36576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Low</a:t>
            </a:r>
            <a:endParaRPr lang="en-US" sz="900" dirty="0"/>
          </a:p>
        </p:txBody>
      </p:sp>
      <p:sp>
        <p:nvSpPr>
          <p:cNvPr id="32" name="Text 30"/>
          <p:cNvSpPr txBox="1"/>
          <p:nvPr/>
        </p:nvSpPr>
        <p:spPr>
          <a:xfrm>
            <a:off x="1005840" y="3675888"/>
            <a:ext cx="676656"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Low</a:t>
            </a:r>
            <a:endParaRPr lang="en-US" sz="900" dirty="0"/>
          </a:p>
        </p:txBody>
      </p:sp>
      <p:sp>
        <p:nvSpPr>
          <p:cNvPr id="33" name="Text 31"/>
          <p:cNvSpPr txBox="1"/>
          <p:nvPr/>
        </p:nvSpPr>
        <p:spPr>
          <a:xfrm>
            <a:off x="1682496" y="3675888"/>
            <a:ext cx="676656"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Med</a:t>
            </a:r>
            <a:endParaRPr lang="en-US" sz="900" dirty="0"/>
          </a:p>
        </p:txBody>
      </p:sp>
      <p:sp>
        <p:nvSpPr>
          <p:cNvPr id="34" name="Text 32"/>
          <p:cNvSpPr txBox="1"/>
          <p:nvPr/>
        </p:nvSpPr>
        <p:spPr>
          <a:xfrm>
            <a:off x="2359152" y="3675888"/>
            <a:ext cx="676656"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High</a:t>
            </a:r>
            <a:endParaRPr lang="en-US" sz="900" dirty="0"/>
          </a:p>
        </p:txBody>
      </p:sp>
      <p:sp>
        <p:nvSpPr>
          <p:cNvPr id="35" name="Text 33"/>
          <p:cNvSpPr txBox="1"/>
          <p:nvPr/>
        </p:nvSpPr>
        <p:spPr>
          <a:xfrm>
            <a:off x="1005840" y="3858768"/>
            <a:ext cx="2029968" cy="182880"/>
          </a:xfrm>
          <a:prstGeom prst="rect">
            <a:avLst/>
          </a:prstGeom>
          <a:noFill/>
          <a:ln/>
        </p:spPr>
        <p:txBody>
          <a:bodyPr wrap="square" lIns="0" tIns="0" rIns="0" bIns="0" rtlCol="0" anchor="t"/>
          <a:lstStyle/>
          <a:p>
            <a:pPr algn="ctr" indent="0" marL="0">
              <a:buNone/>
            </a:pPr>
            <a:r>
              <a:rPr lang="en-US" sz="900" b="1" dirty="0">
                <a:solidFill>
                  <a:srgbClr val="5F6B78"/>
                </a:solidFill>
                <a:latin typeface="Calibri" pitchFamily="34" charset="0"/>
                <a:ea typeface="Calibri" pitchFamily="34" charset="-122"/>
                <a:cs typeface="Calibri" pitchFamily="34" charset="-120"/>
              </a:rPr>
              <a:t>IMPACT</a:t>
            </a:r>
            <a:endParaRPr lang="en-US" sz="900" dirty="0"/>
          </a:p>
        </p:txBody>
      </p:sp>
      <p:sp>
        <p:nvSpPr>
          <p:cNvPr id="36" name="Shape 34"/>
          <p:cNvSpPr/>
          <p:nvPr/>
        </p:nvSpPr>
        <p:spPr>
          <a:xfrm>
            <a:off x="2414016" y="1819656"/>
            <a:ext cx="274320" cy="274320"/>
          </a:xfrm>
          <a:prstGeom prst="ellipse">
            <a:avLst/>
          </a:prstGeom>
          <a:solidFill>
            <a:srgbClr val="143A5A"/>
          </a:solidFill>
          <a:ln w="12700">
            <a:solidFill>
              <a:srgbClr val="143A5A"/>
            </a:solidFill>
            <a:prstDash val="solid"/>
          </a:ln>
        </p:spPr>
      </p:sp>
      <p:sp>
        <p:nvSpPr>
          <p:cNvPr id="37" name="Text 35"/>
          <p:cNvSpPr txBox="1"/>
          <p:nvPr/>
        </p:nvSpPr>
        <p:spPr>
          <a:xfrm>
            <a:off x="2414016" y="18196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8" name="Shape 36"/>
          <p:cNvSpPr/>
          <p:nvPr/>
        </p:nvSpPr>
        <p:spPr>
          <a:xfrm>
            <a:off x="2414016" y="2496312"/>
            <a:ext cx="274320" cy="274320"/>
          </a:xfrm>
          <a:prstGeom prst="ellipse">
            <a:avLst/>
          </a:prstGeom>
          <a:solidFill>
            <a:srgbClr val="143A5A"/>
          </a:solidFill>
          <a:ln w="12700">
            <a:solidFill>
              <a:srgbClr val="143A5A"/>
            </a:solidFill>
            <a:prstDash val="solid"/>
          </a:ln>
        </p:spPr>
      </p:sp>
      <p:sp>
        <p:nvSpPr>
          <p:cNvPr id="39" name="Text 37"/>
          <p:cNvSpPr txBox="1"/>
          <p:nvPr/>
        </p:nvSpPr>
        <p:spPr>
          <a:xfrm>
            <a:off x="2414016" y="2496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0" name="Shape 38"/>
          <p:cNvSpPr/>
          <p:nvPr/>
        </p:nvSpPr>
        <p:spPr>
          <a:xfrm>
            <a:off x="1737360" y="1819656"/>
            <a:ext cx="274320" cy="274320"/>
          </a:xfrm>
          <a:prstGeom prst="ellipse">
            <a:avLst/>
          </a:prstGeom>
          <a:solidFill>
            <a:srgbClr val="143A5A"/>
          </a:solidFill>
          <a:ln w="12700">
            <a:solidFill>
              <a:srgbClr val="143A5A"/>
            </a:solidFill>
            <a:prstDash val="solid"/>
          </a:ln>
        </p:spPr>
      </p:sp>
      <p:sp>
        <p:nvSpPr>
          <p:cNvPr id="41" name="Text 39"/>
          <p:cNvSpPr txBox="1"/>
          <p:nvPr/>
        </p:nvSpPr>
        <p:spPr>
          <a:xfrm>
            <a:off x="1737360" y="18196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Shape 40"/>
          <p:cNvSpPr/>
          <p:nvPr/>
        </p:nvSpPr>
        <p:spPr>
          <a:xfrm>
            <a:off x="1737360" y="2496312"/>
            <a:ext cx="274320" cy="274320"/>
          </a:xfrm>
          <a:prstGeom prst="ellipse">
            <a:avLst/>
          </a:prstGeom>
          <a:solidFill>
            <a:srgbClr val="143A5A"/>
          </a:solidFill>
          <a:ln w="12700">
            <a:solidFill>
              <a:srgbClr val="143A5A"/>
            </a:solidFill>
            <a:prstDash val="solid"/>
          </a:ln>
        </p:spPr>
      </p:sp>
      <p:sp>
        <p:nvSpPr>
          <p:cNvPr id="43" name="Text 41"/>
          <p:cNvSpPr txBox="1"/>
          <p:nvPr/>
        </p:nvSpPr>
        <p:spPr>
          <a:xfrm>
            <a:off x="1737360" y="2496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Shape 42"/>
          <p:cNvSpPr/>
          <p:nvPr/>
        </p:nvSpPr>
        <p:spPr>
          <a:xfrm>
            <a:off x="2048256" y="2496312"/>
            <a:ext cx="274320" cy="274320"/>
          </a:xfrm>
          <a:prstGeom prst="ellipse">
            <a:avLst/>
          </a:prstGeom>
          <a:solidFill>
            <a:srgbClr val="143A5A"/>
          </a:solidFill>
          <a:ln w="12700">
            <a:solidFill>
              <a:srgbClr val="143A5A"/>
            </a:solidFill>
            <a:prstDash val="solid"/>
          </a:ln>
        </p:spPr>
      </p:sp>
      <p:sp>
        <p:nvSpPr>
          <p:cNvPr id="45" name="Text 43"/>
          <p:cNvSpPr txBox="1"/>
          <p:nvPr/>
        </p:nvSpPr>
        <p:spPr>
          <a:xfrm>
            <a:off x="2048256" y="2496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6" name="Shape 44"/>
          <p:cNvSpPr/>
          <p:nvPr/>
        </p:nvSpPr>
        <p:spPr>
          <a:xfrm>
            <a:off x="1737360" y="3172968"/>
            <a:ext cx="274320" cy="274320"/>
          </a:xfrm>
          <a:prstGeom prst="ellipse">
            <a:avLst/>
          </a:prstGeom>
          <a:solidFill>
            <a:srgbClr val="143A5A"/>
          </a:solidFill>
          <a:ln w="12700">
            <a:solidFill>
              <a:srgbClr val="143A5A"/>
            </a:solidFill>
            <a:prstDash val="solid"/>
          </a:ln>
        </p:spPr>
      </p:sp>
      <p:sp>
        <p:nvSpPr>
          <p:cNvPr id="47" name="Text 45"/>
          <p:cNvSpPr txBox="1"/>
          <p:nvPr/>
        </p:nvSpPr>
        <p:spPr>
          <a:xfrm>
            <a:off x="1737360" y="31729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8" name="Shape 46"/>
          <p:cNvSpPr/>
          <p:nvPr/>
        </p:nvSpPr>
        <p:spPr>
          <a:xfrm>
            <a:off x="1060704" y="2496312"/>
            <a:ext cx="274320" cy="274320"/>
          </a:xfrm>
          <a:prstGeom prst="ellipse">
            <a:avLst/>
          </a:prstGeom>
          <a:solidFill>
            <a:srgbClr val="143A5A"/>
          </a:solidFill>
          <a:ln w="12700">
            <a:solidFill>
              <a:srgbClr val="143A5A"/>
            </a:solidFill>
            <a:prstDash val="solid"/>
          </a:ln>
        </p:spPr>
      </p:sp>
      <p:sp>
        <p:nvSpPr>
          <p:cNvPr id="49" name="Text 47"/>
          <p:cNvSpPr txBox="1"/>
          <p:nvPr/>
        </p:nvSpPr>
        <p:spPr>
          <a:xfrm>
            <a:off x="1060704" y="2496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Shape 48"/>
          <p:cNvSpPr/>
          <p:nvPr/>
        </p:nvSpPr>
        <p:spPr>
          <a:xfrm>
            <a:off x="3977640" y="1234440"/>
            <a:ext cx="7754112" cy="274320"/>
          </a:xfrm>
          <a:prstGeom prst="rect">
            <a:avLst/>
          </a:prstGeom>
          <a:solidFill>
            <a:srgbClr val="2B5B80"/>
          </a:solidFill>
          <a:ln w="12700">
            <a:solidFill>
              <a:srgbClr val="2B5B80"/>
            </a:solidFill>
            <a:prstDash val="solid"/>
          </a:ln>
        </p:spPr>
      </p:sp>
      <p:sp>
        <p:nvSpPr>
          <p:cNvPr id="51" name="Text 49"/>
          <p:cNvSpPr txBox="1"/>
          <p:nvPr/>
        </p:nvSpPr>
        <p:spPr>
          <a:xfrm>
            <a:off x="4069080" y="1234440"/>
            <a:ext cx="75712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Risks, evidence and how each is retired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977640" y="1527048"/>
          <a:ext cx="7754112" cy="914400"/>
        </p:xfrm>
        <a:graphic>
          <a:graphicData uri="http://schemas.openxmlformats.org/drawingml/2006/table">
            <a:tbl>
              <a:tblPr/>
              <a:tblGrid>
                <a:gridCol w="274320"/>
                <a:gridCol w="2011680"/>
                <a:gridCol w="2240280"/>
                <a:gridCol w="2496312"/>
                <a:gridCol w="731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Risk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Mitigation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Retired 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Model does not transfer to JSL strip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93.7% false alarms before the fix</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on JSL clean and defect images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Low-contrast defects missed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Rolled-in scale is our weakest class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sharper images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P0-P1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Rare defects under-learnt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Few roll-mark or edge-crack examples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targeted labelling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P1-P3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Operators ignore alarms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Raw confidence was over-confident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Calibrated scores; shadow mode; override log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Not enough computing at line speed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~18 processors needed at full detail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Test target hardware on real frames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Heat, dust, acid fumes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Pickling and HSM environments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Sealed enclosures, air knives, cooling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Plant IT integration slips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Plant IT change control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Read-only until P3; one write path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53" name="Shape 50"/>
          <p:cNvSpPr/>
          <p:nvPr/>
        </p:nvSpPr>
        <p:spPr>
          <a:xfrm>
            <a:off x="457200" y="4251960"/>
            <a:ext cx="11274552" cy="274320"/>
          </a:xfrm>
          <a:prstGeom prst="rect">
            <a:avLst/>
          </a:prstGeom>
          <a:solidFill>
            <a:srgbClr val="2B5B80"/>
          </a:solidFill>
          <a:ln w="12700">
            <a:solidFill>
              <a:srgbClr val="2B5B80"/>
            </a:solidFill>
            <a:prstDash val="solid"/>
          </a:ln>
        </p:spPr>
      </p:sp>
      <p:sp>
        <p:nvSpPr>
          <p:cNvPr id="54" name="Text 51"/>
          <p:cNvSpPr txBox="1"/>
          <p:nvPr/>
        </p:nvSpPr>
        <p:spPr>
          <a:xfrm>
            <a:off x="548640" y="425196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55" name="Shape 52"/>
          <p:cNvSpPr/>
          <p:nvPr/>
        </p:nvSpPr>
        <p:spPr>
          <a:xfrm>
            <a:off x="457200" y="4590288"/>
            <a:ext cx="1801368" cy="1307592"/>
          </a:xfrm>
          <a:prstGeom prst="roundRect">
            <a:avLst>
              <a:gd name="adj" fmla="val 4196"/>
            </a:avLst>
          </a:prstGeom>
          <a:solidFill>
            <a:srgbClr val="F1F4F7"/>
          </a:solidFill>
          <a:ln w="12700">
            <a:solidFill>
              <a:srgbClr val="F1F4F7"/>
            </a:solidFill>
            <a:prstDash val="solid"/>
          </a:ln>
        </p:spPr>
      </p:sp>
      <p:sp>
        <p:nvSpPr>
          <p:cNvPr id="56" name="Text 53"/>
          <p:cNvSpPr txBox="1"/>
          <p:nvPr/>
        </p:nvSpPr>
        <p:spPr>
          <a:xfrm>
            <a:off x="548640"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&gt;= 90%</a:t>
            </a:r>
            <a:endParaRPr lang="en-US" sz="2200" dirty="0"/>
          </a:p>
        </p:txBody>
      </p:sp>
      <p:sp>
        <p:nvSpPr>
          <p:cNvPr id="57" name="Text 54"/>
          <p:cNvSpPr txBox="1"/>
          <p:nvPr/>
        </p:nvSpPr>
        <p:spPr>
          <a:xfrm>
            <a:off x="548640"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defective strip flagged</a:t>
            </a:r>
            <a:endParaRPr lang="en-US" sz="950" dirty="0"/>
          </a:p>
        </p:txBody>
      </p:sp>
      <p:sp>
        <p:nvSpPr>
          <p:cNvPr id="58" name="Text 55"/>
          <p:cNvSpPr txBox="1"/>
          <p:nvPr/>
        </p:nvSpPr>
        <p:spPr>
          <a:xfrm>
            <a:off x="548640" y="5513832"/>
            <a:ext cx="1645920" cy="32918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92.2% in our tests</a:t>
            </a:r>
            <a:endParaRPr lang="en-US" sz="900" dirty="0"/>
          </a:p>
        </p:txBody>
      </p:sp>
      <p:sp>
        <p:nvSpPr>
          <p:cNvPr id="59" name="Shape 56"/>
          <p:cNvSpPr/>
          <p:nvPr/>
        </p:nvSpPr>
        <p:spPr>
          <a:xfrm>
            <a:off x="2350008" y="4590288"/>
            <a:ext cx="1801368" cy="1307592"/>
          </a:xfrm>
          <a:prstGeom prst="roundRect">
            <a:avLst>
              <a:gd name="adj" fmla="val 4196"/>
            </a:avLst>
          </a:prstGeom>
          <a:solidFill>
            <a:srgbClr val="F1F4F7"/>
          </a:solidFill>
          <a:ln w="12700">
            <a:solidFill>
              <a:srgbClr val="F1F4F7"/>
            </a:solidFill>
            <a:prstDash val="solid"/>
          </a:ln>
        </p:spPr>
      </p:sp>
      <p:sp>
        <p:nvSpPr>
          <p:cNvPr id="60" name="Text 57"/>
          <p:cNvSpPr txBox="1"/>
          <p:nvPr/>
        </p:nvSpPr>
        <p:spPr>
          <a:xfrm>
            <a:off x="2441448"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&lt;= 25%</a:t>
            </a:r>
            <a:endParaRPr lang="en-US" sz="2200" dirty="0"/>
          </a:p>
        </p:txBody>
      </p:sp>
      <p:sp>
        <p:nvSpPr>
          <p:cNvPr id="61" name="Text 58"/>
          <p:cNvSpPr txBox="1"/>
          <p:nvPr/>
        </p:nvSpPr>
        <p:spPr>
          <a:xfrm>
            <a:off x="2441448"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clean strip wrongly flagged</a:t>
            </a:r>
            <a:endParaRPr lang="en-US" sz="950" dirty="0"/>
          </a:p>
        </p:txBody>
      </p:sp>
      <p:sp>
        <p:nvSpPr>
          <p:cNvPr id="62" name="Text 59"/>
          <p:cNvSpPr txBox="1"/>
          <p:nvPr/>
        </p:nvSpPr>
        <p:spPr>
          <a:xfrm>
            <a:off x="2441448" y="5513832"/>
            <a:ext cx="1645920" cy="329184"/>
          </a:xfrm>
          <a:prstGeom prst="rect">
            <a:avLst/>
          </a:prstGeom>
          <a:noFill/>
          <a:ln/>
        </p:spPr>
        <p:txBody>
          <a:bodyPr wrap="square" lIns="0" tIns="0" rIns="0" bIns="0" rtlCol="0" anchor="t"/>
          <a:lstStyle/>
          <a:p>
            <a:pPr indent="0" marL="0">
              <a:buNone/>
            </a:pPr>
            <a:r>
              <a:rPr lang="en-US" sz="900" b="1" dirty="0">
                <a:solidFill>
                  <a:srgbClr val="B77900"/>
                </a:solidFill>
                <a:latin typeface="Calibri" pitchFamily="34" charset="0"/>
                <a:ea typeface="Calibri" pitchFamily="34" charset="-122"/>
                <a:cs typeface="Calibri" pitchFamily="34" charset="-120"/>
              </a:rPr>
              <a:t>measured 32.5% in our tests</a:t>
            </a:r>
            <a:endParaRPr lang="en-US" sz="900" dirty="0"/>
          </a:p>
        </p:txBody>
      </p:sp>
      <p:sp>
        <p:nvSpPr>
          <p:cNvPr id="63" name="Shape 60"/>
          <p:cNvSpPr/>
          <p:nvPr/>
        </p:nvSpPr>
        <p:spPr>
          <a:xfrm>
            <a:off x="4242816" y="4590288"/>
            <a:ext cx="1801368" cy="1307592"/>
          </a:xfrm>
          <a:prstGeom prst="roundRect">
            <a:avLst>
              <a:gd name="adj" fmla="val 4196"/>
            </a:avLst>
          </a:prstGeom>
          <a:solidFill>
            <a:srgbClr val="F1F4F7"/>
          </a:solidFill>
          <a:ln w="12700">
            <a:solidFill>
              <a:srgbClr val="F1F4F7"/>
            </a:solidFill>
            <a:prstDash val="solid"/>
          </a:ln>
        </p:spPr>
      </p:sp>
      <p:sp>
        <p:nvSpPr>
          <p:cNvPr id="64" name="Text 61"/>
          <p:cNvSpPr txBox="1"/>
          <p:nvPr/>
        </p:nvSpPr>
        <p:spPr>
          <a:xfrm>
            <a:off x="4334256"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&lt;= 5 pts</a:t>
            </a:r>
            <a:endParaRPr lang="en-US" sz="2200" dirty="0"/>
          </a:p>
        </p:txBody>
      </p:sp>
      <p:sp>
        <p:nvSpPr>
          <p:cNvPr id="65" name="Text 62"/>
          <p:cNvSpPr txBox="1"/>
          <p:nvPr/>
        </p:nvSpPr>
        <p:spPr>
          <a:xfrm>
            <a:off x="4334256"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gap between stated and real confidence</a:t>
            </a:r>
            <a:endParaRPr lang="en-US" sz="950" dirty="0"/>
          </a:p>
        </p:txBody>
      </p:sp>
      <p:sp>
        <p:nvSpPr>
          <p:cNvPr id="66" name="Text 63"/>
          <p:cNvSpPr txBox="1"/>
          <p:nvPr/>
        </p:nvSpPr>
        <p:spPr>
          <a:xfrm>
            <a:off x="4334256" y="5513832"/>
            <a:ext cx="1645920" cy="32918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4.6 pts</a:t>
            </a:r>
            <a:endParaRPr lang="en-US" sz="900" dirty="0"/>
          </a:p>
        </p:txBody>
      </p:sp>
      <p:sp>
        <p:nvSpPr>
          <p:cNvPr id="67" name="Shape 64"/>
          <p:cNvSpPr/>
          <p:nvPr/>
        </p:nvSpPr>
        <p:spPr>
          <a:xfrm>
            <a:off x="6135624" y="4590288"/>
            <a:ext cx="1801368" cy="1307592"/>
          </a:xfrm>
          <a:prstGeom prst="roundRect">
            <a:avLst>
              <a:gd name="adj" fmla="val 4196"/>
            </a:avLst>
          </a:prstGeom>
          <a:solidFill>
            <a:srgbClr val="F1F4F7"/>
          </a:solidFill>
          <a:ln w="12700">
            <a:solidFill>
              <a:srgbClr val="F1F4F7"/>
            </a:solidFill>
            <a:prstDash val="solid"/>
          </a:ln>
        </p:spPr>
      </p:sp>
      <p:sp>
        <p:nvSpPr>
          <p:cNvPr id="68" name="Text 65"/>
          <p:cNvSpPr txBox="1"/>
          <p:nvPr/>
        </p:nvSpPr>
        <p:spPr>
          <a:xfrm>
            <a:off x="6227064"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&lt; 0.2 s</a:t>
            </a:r>
            <a:endParaRPr lang="en-US" sz="2200" dirty="0"/>
          </a:p>
        </p:txBody>
      </p:sp>
      <p:sp>
        <p:nvSpPr>
          <p:cNvPr id="69" name="Text 66"/>
          <p:cNvSpPr txBox="1"/>
          <p:nvPr/>
        </p:nvSpPr>
        <p:spPr>
          <a:xfrm>
            <a:off x="6227064"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from defect to operator screen</a:t>
            </a:r>
            <a:endParaRPr lang="en-US" sz="950" dirty="0"/>
          </a:p>
        </p:txBody>
      </p:sp>
      <p:sp>
        <p:nvSpPr>
          <p:cNvPr id="70" name="Text 67"/>
          <p:cNvSpPr txBox="1"/>
          <p:nvPr/>
        </p:nvSpPr>
        <p:spPr>
          <a:xfrm>
            <a:off x="6227064" y="5513832"/>
            <a:ext cx="1645920" cy="32918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design target</a:t>
            </a:r>
            <a:endParaRPr lang="en-US" sz="900" dirty="0"/>
          </a:p>
        </p:txBody>
      </p:sp>
      <p:sp>
        <p:nvSpPr>
          <p:cNvPr id="71" name="Shape 68"/>
          <p:cNvSpPr/>
          <p:nvPr/>
        </p:nvSpPr>
        <p:spPr>
          <a:xfrm>
            <a:off x="8028432" y="4590288"/>
            <a:ext cx="1801368" cy="1307592"/>
          </a:xfrm>
          <a:prstGeom prst="roundRect">
            <a:avLst>
              <a:gd name="adj" fmla="val 4196"/>
            </a:avLst>
          </a:prstGeom>
          <a:solidFill>
            <a:srgbClr val="F1F4F7"/>
          </a:solidFill>
          <a:ln w="12700">
            <a:solidFill>
              <a:srgbClr val="F1F4F7"/>
            </a:solidFill>
            <a:prstDash val="solid"/>
          </a:ln>
        </p:spPr>
      </p:sp>
      <p:sp>
        <p:nvSpPr>
          <p:cNvPr id="72" name="Text 69"/>
          <p:cNvSpPr txBox="1"/>
          <p:nvPr/>
        </p:nvSpPr>
        <p:spPr>
          <a:xfrm>
            <a:off x="8119872"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&gt;= 90%</a:t>
            </a:r>
            <a:endParaRPr lang="en-US" sz="2200" dirty="0"/>
          </a:p>
        </p:txBody>
      </p:sp>
      <p:sp>
        <p:nvSpPr>
          <p:cNvPr id="73" name="Text 70"/>
          <p:cNvSpPr txBox="1"/>
          <p:nvPr/>
        </p:nvSpPr>
        <p:spPr>
          <a:xfrm>
            <a:off x="8119872"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operator agreement, shadow mode</a:t>
            </a:r>
            <a:endParaRPr lang="en-US" sz="950" dirty="0"/>
          </a:p>
        </p:txBody>
      </p:sp>
      <p:sp>
        <p:nvSpPr>
          <p:cNvPr id="74" name="Text 71"/>
          <p:cNvSpPr txBox="1"/>
          <p:nvPr/>
        </p:nvSpPr>
        <p:spPr>
          <a:xfrm>
            <a:off x="8119872" y="5513832"/>
            <a:ext cx="1645920" cy="32918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in P2</a:t>
            </a:r>
            <a:endParaRPr lang="en-US" sz="900" dirty="0"/>
          </a:p>
        </p:txBody>
      </p:sp>
      <p:sp>
        <p:nvSpPr>
          <p:cNvPr id="75" name="Shape 72"/>
          <p:cNvSpPr/>
          <p:nvPr/>
        </p:nvSpPr>
        <p:spPr>
          <a:xfrm>
            <a:off x="9921240" y="4590288"/>
            <a:ext cx="1801368" cy="1307592"/>
          </a:xfrm>
          <a:prstGeom prst="roundRect">
            <a:avLst>
              <a:gd name="adj" fmla="val 4196"/>
            </a:avLst>
          </a:prstGeom>
          <a:solidFill>
            <a:srgbClr val="F1F4F7"/>
          </a:solidFill>
          <a:ln w="12700">
            <a:solidFill>
              <a:srgbClr val="F1F4F7"/>
            </a:solidFill>
            <a:prstDash val="solid"/>
          </a:ln>
        </p:spPr>
      </p:sp>
      <p:sp>
        <p:nvSpPr>
          <p:cNvPr id="76" name="Text 73"/>
          <p:cNvSpPr txBox="1"/>
          <p:nvPr/>
        </p:nvSpPr>
        <p:spPr>
          <a:xfrm>
            <a:off x="10012680"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&lt; 8 h</a:t>
            </a:r>
            <a:endParaRPr lang="en-US" sz="2200" dirty="0"/>
          </a:p>
        </p:txBody>
      </p:sp>
      <p:sp>
        <p:nvSpPr>
          <p:cNvPr id="77" name="Text 74"/>
          <p:cNvSpPr txBox="1"/>
          <p:nvPr/>
        </p:nvSpPr>
        <p:spPr>
          <a:xfrm>
            <a:off x="10012680"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to retrain for a new line or grade</a:t>
            </a:r>
            <a:endParaRPr lang="en-US" sz="950" dirty="0"/>
          </a:p>
        </p:txBody>
      </p:sp>
      <p:sp>
        <p:nvSpPr>
          <p:cNvPr id="78" name="Text 75"/>
          <p:cNvSpPr txBox="1"/>
          <p:nvPr/>
        </p:nvSpPr>
        <p:spPr>
          <a:xfrm>
            <a:off x="10012680" y="5513832"/>
            <a:ext cx="1645920" cy="32918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0.6 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143A5A"/>
          </a:solidFill>
          <a:ln w="12700">
            <a:solidFill>
              <a:srgbClr val="143A5A"/>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At a conservative 1% downgrade rate one line pays back in ~2.2 years; the fleet protects ~INR 13 cr a year</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The number that decides fleet rollout is JSL's own downgrade rate.</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Inputs: JSL FY26 (INR 1,67,407/t; 25,65,902 t). Swept assumptions: 0.4 Mt line, 30% recovered, INR 3.35 cr capex, INR 0.5 cr/yr run cost, 12% rate. Commercial: USD 2M at INR 95.8. MD quote: ET, 16 Jul 2024.</a:t>
            </a:r>
            <a:endParaRPr lang="en-US" sz="900" dirty="0"/>
          </a:p>
        </p:txBody>
      </p:sp>
      <p:sp>
        <p:nvSpPr>
          <p:cNvPr id="17" name="Shape 15"/>
          <p:cNvSpPr/>
          <p:nvPr/>
        </p:nvSpPr>
        <p:spPr>
          <a:xfrm>
            <a:off x="457200" y="1234440"/>
            <a:ext cx="384048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657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INR cr/yr</a:t>
            </a:r>
            <a:endParaRPr lang="en-US" sz="1100" dirty="0"/>
          </a:p>
        </p:txBody>
      </p:sp>
      <p:sp>
        <p:nvSpPr>
          <p:cNvPr id="19" name="Text 17"/>
          <p:cNvSpPr txBox="1"/>
          <p:nvPr/>
        </p:nvSpPr>
        <p:spPr>
          <a:xfrm>
            <a:off x="457200" y="1554480"/>
            <a:ext cx="3840480" cy="228600"/>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0.4 Mt x downgrade rate x price discount x INR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840480" cy="914400"/>
        </p:xfrm>
        <a:graphic>
          <a:graphicData uri="http://schemas.openxmlformats.org/drawingml/2006/table">
            <a:tbl>
              <a:tblPr/>
              <a:tblGrid>
                <a:gridCol w="1234440"/>
                <a:gridCol w="868680"/>
                <a:gridCol w="868680"/>
                <a:gridCol w="868680"/>
              </a:tblGrid>
              <a:tr h="31089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310896">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b="1" dirty="0">
                          <a:solidFill>
                            <a:srgbClr val="141C24"/>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050" b="1" dirty="0">
                          <a:solidFill>
                            <a:srgbClr val="141C24"/>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1050" b="1" dirty="0">
                          <a:solidFill>
                            <a:srgbClr val="141C24"/>
                          </a:solidFill>
                          <a:latin typeface="Calibri" pitchFamily="34" charset="0"/>
                          <a:ea typeface="Calibri" pitchFamily="34" charset="-122"/>
                          <a:cs typeface="Calibri" pitchFamily="34" charset="-120"/>
                        </a:rPr>
                        <a:t>6.7</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r>
              <a:tr h="310896">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25400" cap="flat" cmpd="sng" algn="ctr">
                      <a:solidFill>
                        <a:srgbClr val="C62828"/>
                      </a:solidFill>
                      <a:prstDash val="solid"/>
                      <a:round/>
                      <a:headEnd type="none" w="med" len="med"/>
                      <a:tailEnd type="none" w="med" len="med"/>
                    </a:lnL>
                    <a:lnR w="25400" cap="flat" cmpd="sng" algn="ctr">
                      <a:solidFill>
                        <a:srgbClr val="C62828"/>
                      </a:solidFill>
                      <a:prstDash val="solid"/>
                      <a:round/>
                      <a:headEnd type="none" w="med" len="med"/>
                      <a:tailEnd type="none" w="med" len="med"/>
                    </a:lnR>
                    <a:lnT w="25400" cap="flat" cmpd="sng" algn="ctr">
                      <a:solidFill>
                        <a:srgbClr val="C62828"/>
                      </a:solidFill>
                      <a:prstDash val="solid"/>
                      <a:round/>
                      <a:headEnd type="none" w="med" len="med"/>
                      <a:tailEnd type="none" w="med" len="med"/>
                    </a:lnT>
                    <a:lnB w="25400" cap="flat" cmpd="sng" algn="ctr">
                      <a:solidFill>
                        <a:srgbClr val="C62828"/>
                      </a:solidFill>
                      <a:prstDash val="solid"/>
                      <a:round/>
                      <a:headEnd type="none" w="med" len="med"/>
                      <a:tailEnd type="none" w="med" len="med"/>
                    </a:lnB>
                    <a:solidFill>
                      <a:srgbClr val="A9CBE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13.4</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r>
              <a:tr h="310896">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13.4</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20.1</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26.8</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bl>
          </a:graphicData>
        </a:graphic>
      </p:graphicFrame>
      <p:sp>
        <p:nvSpPr>
          <p:cNvPr id="21" name="Text 18"/>
          <p:cNvSpPr txBox="1"/>
          <p:nvPr/>
        </p:nvSpPr>
        <p:spPr>
          <a:xfrm>
            <a:off x="457200" y="3108960"/>
            <a:ext cx="3840480" cy="68580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Outlined: base case, 6.7 cr pool. Recovering 30% = INR 2.0 cr/yr, 1.5 cr net of run cost. Fleet at the same rates (2.57 Mt, ~6.4 lines): INR 43 cr pool, INR 12.9 cr/yr recovered.</a:t>
            </a:r>
            <a:endParaRPr lang="en-US" sz="950" dirty="0"/>
          </a:p>
        </p:txBody>
      </p:sp>
      <p:sp>
        <p:nvSpPr>
          <p:cNvPr id="22" name="Shape 19"/>
          <p:cNvSpPr/>
          <p:nvPr/>
        </p:nvSpPr>
        <p:spPr>
          <a:xfrm>
            <a:off x="4526280" y="1234440"/>
            <a:ext cx="3977640" cy="274320"/>
          </a:xfrm>
          <a:prstGeom prst="rect">
            <a:avLst/>
          </a:prstGeom>
          <a:solidFill>
            <a:srgbClr val="2B5B80"/>
          </a:solidFill>
          <a:ln w="12700">
            <a:solidFill>
              <a:srgbClr val="2B5B80"/>
            </a:solidFill>
            <a:prstDash val="solid"/>
          </a:ln>
        </p:spPr>
      </p:sp>
      <p:sp>
        <p:nvSpPr>
          <p:cNvPr id="23" name="Text 20"/>
          <p:cNvSpPr txBox="1"/>
          <p:nvPr/>
        </p:nvSpPr>
        <p:spPr>
          <a:xfrm>
            <a:off x="461772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moves payback (years, base 2.2)</a:t>
            </a:r>
            <a:endParaRPr lang="en-US" sz="1100" dirty="0"/>
          </a:p>
        </p:txBody>
      </p:sp>
      <p:sp>
        <p:nvSpPr>
          <p:cNvPr id="24" name="Text 21"/>
          <p:cNvSpPr txBox="1"/>
          <p:nvPr/>
        </p:nvSpPr>
        <p:spPr>
          <a:xfrm>
            <a:off x="4572000" y="1691640"/>
            <a:ext cx="1783080" cy="310896"/>
          </a:xfrm>
          <a:prstGeom prst="rect">
            <a:avLst/>
          </a:prstGeom>
          <a:noFill/>
          <a:ln/>
        </p:spPr>
        <p:txBody>
          <a:bodyPr wrap="square" lIns="0" tIns="0" rIns="0" bIns="0" rtlCol="0" anchor="ctr"/>
          <a:lstStyle/>
          <a:p>
            <a:pPr indent="0" marL="0">
              <a:buNone/>
            </a:pPr>
            <a:r>
              <a:rPr lang="en-US" sz="900" dirty="0">
                <a:solidFill>
                  <a:srgbClr val="141C24"/>
                </a:solidFill>
                <a:latin typeface="Calibri" pitchFamily="34" charset="0"/>
                <a:ea typeface="Calibri" pitchFamily="34" charset="-122"/>
                <a:cs typeface="Calibri" pitchFamily="34" charset="-120"/>
              </a:rPr>
              <a:t>Downgrade rate 0.5-2%</a:t>
            </a:r>
            <a:endParaRPr lang="en-US" sz="900" dirty="0"/>
          </a:p>
        </p:txBody>
      </p:sp>
      <p:sp>
        <p:nvSpPr>
          <p:cNvPr id="25" name="Shape 22"/>
          <p:cNvSpPr/>
          <p:nvPr/>
        </p:nvSpPr>
        <p:spPr>
          <a:xfrm>
            <a:off x="6667609" y="1755648"/>
            <a:ext cx="356681" cy="182880"/>
          </a:xfrm>
          <a:prstGeom prst="rect">
            <a:avLst/>
          </a:prstGeom>
          <a:solidFill>
            <a:srgbClr val="0086C3"/>
          </a:solidFill>
          <a:ln w="12700">
            <a:solidFill>
              <a:srgbClr val="0086C3"/>
            </a:solidFill>
            <a:prstDash val="solid"/>
          </a:ln>
        </p:spPr>
      </p:sp>
      <p:sp>
        <p:nvSpPr>
          <p:cNvPr id="26" name="Shape 23"/>
          <p:cNvSpPr/>
          <p:nvPr/>
        </p:nvSpPr>
        <p:spPr>
          <a:xfrm>
            <a:off x="7024290" y="1755648"/>
            <a:ext cx="1241363" cy="182880"/>
          </a:xfrm>
          <a:prstGeom prst="rect">
            <a:avLst/>
          </a:prstGeom>
          <a:solidFill>
            <a:srgbClr val="9AA7B4"/>
          </a:solidFill>
          <a:ln w="12700">
            <a:solidFill>
              <a:srgbClr val="9AA7B4"/>
            </a:solidFill>
            <a:prstDash val="solid"/>
          </a:ln>
        </p:spPr>
      </p:sp>
      <p:sp>
        <p:nvSpPr>
          <p:cNvPr id="27" name="Text 24"/>
          <p:cNvSpPr txBox="1"/>
          <p:nvPr/>
        </p:nvSpPr>
        <p:spPr>
          <a:xfrm>
            <a:off x="7882128" y="1618488"/>
            <a:ext cx="548640" cy="14630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0.9-6.6</a:t>
            </a:r>
            <a:endParaRPr lang="en-US" sz="900" dirty="0"/>
          </a:p>
        </p:txBody>
      </p:sp>
      <p:sp>
        <p:nvSpPr>
          <p:cNvPr id="28" name="Text 25"/>
          <p:cNvSpPr txBox="1"/>
          <p:nvPr/>
        </p:nvSpPr>
        <p:spPr>
          <a:xfrm>
            <a:off x="4572000" y="2093976"/>
            <a:ext cx="1783080" cy="310896"/>
          </a:xfrm>
          <a:prstGeom prst="rect">
            <a:avLst/>
          </a:prstGeom>
          <a:noFill/>
          <a:ln/>
        </p:spPr>
        <p:txBody>
          <a:bodyPr wrap="square" lIns="0" tIns="0" rIns="0" bIns="0" rtlCol="0" anchor="ctr"/>
          <a:lstStyle/>
          <a:p>
            <a:pPr indent="0" marL="0">
              <a:buNone/>
            </a:pPr>
            <a:r>
              <a:rPr lang="en-US" sz="900" dirty="0">
                <a:solidFill>
                  <a:srgbClr val="141C24"/>
                </a:solidFill>
                <a:latin typeface="Calibri" pitchFamily="34" charset="0"/>
                <a:ea typeface="Calibri" pitchFamily="34" charset="-122"/>
                <a:cs typeface="Calibri" pitchFamily="34" charset="-120"/>
              </a:rPr>
              <a:t>Share of loss recovered 15-45%</a:t>
            </a:r>
            <a:endParaRPr lang="en-US" sz="900" dirty="0"/>
          </a:p>
        </p:txBody>
      </p:sp>
      <p:sp>
        <p:nvSpPr>
          <p:cNvPr id="29" name="Shape 26"/>
          <p:cNvSpPr/>
          <p:nvPr/>
        </p:nvSpPr>
        <p:spPr>
          <a:xfrm>
            <a:off x="6774332" y="2157984"/>
            <a:ext cx="249958" cy="182880"/>
          </a:xfrm>
          <a:prstGeom prst="rect">
            <a:avLst/>
          </a:prstGeom>
          <a:solidFill>
            <a:srgbClr val="0086C3"/>
          </a:solidFill>
          <a:ln w="12700">
            <a:solidFill>
              <a:srgbClr val="0086C3"/>
            </a:solidFill>
            <a:prstDash val="solid"/>
          </a:ln>
        </p:spPr>
      </p:sp>
      <p:sp>
        <p:nvSpPr>
          <p:cNvPr id="30" name="Shape 27"/>
          <p:cNvSpPr/>
          <p:nvPr/>
        </p:nvSpPr>
        <p:spPr>
          <a:xfrm>
            <a:off x="7024290" y="2157984"/>
            <a:ext cx="1241363" cy="182880"/>
          </a:xfrm>
          <a:prstGeom prst="rect">
            <a:avLst/>
          </a:prstGeom>
          <a:solidFill>
            <a:srgbClr val="9AA7B4"/>
          </a:solidFill>
          <a:ln w="12700">
            <a:solidFill>
              <a:srgbClr val="9AA7B4"/>
            </a:solidFill>
            <a:prstDash val="solid"/>
          </a:ln>
        </p:spPr>
      </p:sp>
      <p:sp>
        <p:nvSpPr>
          <p:cNvPr id="31" name="Text 28"/>
          <p:cNvSpPr txBox="1"/>
          <p:nvPr/>
        </p:nvSpPr>
        <p:spPr>
          <a:xfrm>
            <a:off x="7882128" y="2020824"/>
            <a:ext cx="548640" cy="14630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1.3-6.6</a:t>
            </a:r>
            <a:endParaRPr lang="en-US" sz="900" dirty="0"/>
          </a:p>
        </p:txBody>
      </p:sp>
      <p:sp>
        <p:nvSpPr>
          <p:cNvPr id="32" name="Text 29"/>
          <p:cNvSpPr txBox="1"/>
          <p:nvPr/>
        </p:nvSpPr>
        <p:spPr>
          <a:xfrm>
            <a:off x="4572000" y="2496312"/>
            <a:ext cx="1783080" cy="310896"/>
          </a:xfrm>
          <a:prstGeom prst="rect">
            <a:avLst/>
          </a:prstGeom>
          <a:noFill/>
          <a:ln/>
        </p:spPr>
        <p:txBody>
          <a:bodyPr wrap="square" lIns="0" tIns="0" rIns="0" bIns="0" rtlCol="0" anchor="ctr"/>
          <a:lstStyle/>
          <a:p>
            <a:pPr indent="0" marL="0">
              <a:buNone/>
            </a:pPr>
            <a:r>
              <a:rPr lang="en-US" sz="900" dirty="0">
                <a:solidFill>
                  <a:srgbClr val="141C24"/>
                </a:solidFill>
                <a:latin typeface="Calibri" pitchFamily="34" charset="0"/>
                <a:ea typeface="Calibri" pitchFamily="34" charset="-122"/>
                <a:cs typeface="Calibri" pitchFamily="34" charset="-120"/>
              </a:rPr>
              <a:t>Line volume 0.3-0.5 Mt</a:t>
            </a:r>
            <a:endParaRPr lang="en-US" sz="900" dirty="0"/>
          </a:p>
        </p:txBody>
      </p:sp>
      <p:sp>
        <p:nvSpPr>
          <p:cNvPr id="33" name="Shape 30"/>
          <p:cNvSpPr/>
          <p:nvPr/>
        </p:nvSpPr>
        <p:spPr>
          <a:xfrm>
            <a:off x="6869822" y="2560320"/>
            <a:ext cx="154468" cy="182880"/>
          </a:xfrm>
          <a:prstGeom prst="rect">
            <a:avLst/>
          </a:prstGeom>
          <a:solidFill>
            <a:srgbClr val="0086C3"/>
          </a:solidFill>
          <a:ln w="12700">
            <a:solidFill>
              <a:srgbClr val="0086C3"/>
            </a:solidFill>
            <a:prstDash val="solid"/>
          </a:ln>
        </p:spPr>
      </p:sp>
      <p:sp>
        <p:nvSpPr>
          <p:cNvPr id="34" name="Shape 31"/>
          <p:cNvSpPr/>
          <p:nvPr/>
        </p:nvSpPr>
        <p:spPr>
          <a:xfrm>
            <a:off x="7024290" y="2560320"/>
            <a:ext cx="311745" cy="182880"/>
          </a:xfrm>
          <a:prstGeom prst="rect">
            <a:avLst/>
          </a:prstGeom>
          <a:solidFill>
            <a:srgbClr val="9AA7B4"/>
          </a:solidFill>
          <a:ln w="12700">
            <a:solidFill>
              <a:srgbClr val="9AA7B4"/>
            </a:solidFill>
            <a:prstDash val="solid"/>
          </a:ln>
        </p:spPr>
      </p:sp>
      <p:sp>
        <p:nvSpPr>
          <p:cNvPr id="35" name="Text 32"/>
          <p:cNvSpPr txBox="1"/>
          <p:nvPr/>
        </p:nvSpPr>
        <p:spPr>
          <a:xfrm>
            <a:off x="7372611" y="2423160"/>
            <a:ext cx="548640" cy="14630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1.7-3.3</a:t>
            </a:r>
            <a:endParaRPr lang="en-US" sz="900" dirty="0"/>
          </a:p>
        </p:txBody>
      </p:sp>
      <p:sp>
        <p:nvSpPr>
          <p:cNvPr id="36" name="Text 33"/>
          <p:cNvSpPr txBox="1"/>
          <p:nvPr/>
        </p:nvSpPr>
        <p:spPr>
          <a:xfrm>
            <a:off x="4572000" y="2898648"/>
            <a:ext cx="1783080" cy="310896"/>
          </a:xfrm>
          <a:prstGeom prst="rect">
            <a:avLst/>
          </a:prstGeom>
          <a:noFill/>
          <a:ln/>
        </p:spPr>
        <p:txBody>
          <a:bodyPr wrap="square" lIns="0" tIns="0" rIns="0" bIns="0" rtlCol="0" anchor="ctr"/>
          <a:lstStyle/>
          <a:p>
            <a:pPr indent="0" marL="0">
              <a:buNone/>
            </a:pPr>
            <a:r>
              <a:rPr lang="en-US" sz="900" dirty="0">
                <a:solidFill>
                  <a:srgbClr val="141C24"/>
                </a:solidFill>
                <a:latin typeface="Calibri" pitchFamily="34" charset="0"/>
                <a:ea typeface="Calibri" pitchFamily="34" charset="-122"/>
                <a:cs typeface="Calibri" pitchFamily="34" charset="-120"/>
              </a:rPr>
              <a:t>Capex INR 2.5-4.2 cr</a:t>
            </a:r>
            <a:endParaRPr lang="en-US" sz="900" dirty="0"/>
          </a:p>
        </p:txBody>
      </p:sp>
      <p:sp>
        <p:nvSpPr>
          <p:cNvPr id="37" name="Shape 34"/>
          <p:cNvSpPr/>
          <p:nvPr/>
        </p:nvSpPr>
        <p:spPr>
          <a:xfrm>
            <a:off x="6867013" y="2962656"/>
            <a:ext cx="157277" cy="182880"/>
          </a:xfrm>
          <a:prstGeom prst="rect">
            <a:avLst/>
          </a:prstGeom>
          <a:solidFill>
            <a:srgbClr val="0086C3"/>
          </a:solidFill>
          <a:ln w="12700">
            <a:solidFill>
              <a:srgbClr val="0086C3"/>
            </a:solidFill>
            <a:prstDash val="solid"/>
          </a:ln>
        </p:spPr>
      </p:sp>
      <p:sp>
        <p:nvSpPr>
          <p:cNvPr id="38" name="Shape 35"/>
          <p:cNvSpPr/>
          <p:nvPr/>
        </p:nvSpPr>
        <p:spPr>
          <a:xfrm>
            <a:off x="7024290" y="2962656"/>
            <a:ext cx="157277" cy="182880"/>
          </a:xfrm>
          <a:prstGeom prst="rect">
            <a:avLst/>
          </a:prstGeom>
          <a:solidFill>
            <a:srgbClr val="9AA7B4"/>
          </a:solidFill>
          <a:ln w="12700">
            <a:solidFill>
              <a:srgbClr val="9AA7B4"/>
            </a:solidFill>
            <a:prstDash val="solid"/>
          </a:ln>
        </p:spPr>
      </p:sp>
      <p:sp>
        <p:nvSpPr>
          <p:cNvPr id="39" name="Text 36"/>
          <p:cNvSpPr txBox="1"/>
          <p:nvPr/>
        </p:nvSpPr>
        <p:spPr>
          <a:xfrm>
            <a:off x="7218143" y="2825496"/>
            <a:ext cx="548640" cy="14630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1.7-2.8</a:t>
            </a:r>
            <a:endParaRPr lang="en-US" sz="900" dirty="0"/>
          </a:p>
        </p:txBody>
      </p:sp>
      <p:sp>
        <p:nvSpPr>
          <p:cNvPr id="40" name="Text 37"/>
          <p:cNvSpPr txBox="1"/>
          <p:nvPr/>
        </p:nvSpPr>
        <p:spPr>
          <a:xfrm>
            <a:off x="4572000" y="3300984"/>
            <a:ext cx="1783080" cy="310896"/>
          </a:xfrm>
          <a:prstGeom prst="rect">
            <a:avLst/>
          </a:prstGeom>
          <a:noFill/>
          <a:ln/>
        </p:spPr>
        <p:txBody>
          <a:bodyPr wrap="square" lIns="0" tIns="0" rIns="0" bIns="0" rtlCol="0" anchor="ctr"/>
          <a:lstStyle/>
          <a:p>
            <a:pPr indent="0" marL="0">
              <a:buNone/>
            </a:pPr>
            <a:r>
              <a:rPr lang="en-US" sz="900" dirty="0">
                <a:solidFill>
                  <a:srgbClr val="141C24"/>
                </a:solidFill>
                <a:latin typeface="Calibri" pitchFamily="34" charset="0"/>
                <a:ea typeface="Calibri" pitchFamily="34" charset="-122"/>
                <a:cs typeface="Calibri" pitchFamily="34" charset="-120"/>
              </a:rPr>
              <a:t>Price discount 10-20%</a:t>
            </a:r>
            <a:endParaRPr lang="en-US" sz="900" dirty="0"/>
          </a:p>
        </p:txBody>
      </p:sp>
      <p:sp>
        <p:nvSpPr>
          <p:cNvPr id="41" name="Shape 38"/>
          <p:cNvSpPr/>
          <p:nvPr/>
        </p:nvSpPr>
        <p:spPr>
          <a:xfrm>
            <a:off x="6667609" y="3364992"/>
            <a:ext cx="356681" cy="182880"/>
          </a:xfrm>
          <a:prstGeom prst="rect">
            <a:avLst/>
          </a:prstGeom>
          <a:solidFill>
            <a:srgbClr val="0086C3"/>
          </a:solidFill>
          <a:ln w="12700">
            <a:solidFill>
              <a:srgbClr val="0086C3"/>
            </a:solidFill>
            <a:prstDash val="solid"/>
          </a:ln>
        </p:spPr>
      </p:sp>
      <p:sp>
        <p:nvSpPr>
          <p:cNvPr id="42" name="Shape 39"/>
          <p:cNvSpPr/>
          <p:nvPr/>
        </p:nvSpPr>
        <p:spPr>
          <a:xfrm>
            <a:off x="7024290" y="3364992"/>
            <a:ext cx="9144" cy="182880"/>
          </a:xfrm>
          <a:prstGeom prst="rect">
            <a:avLst/>
          </a:prstGeom>
          <a:solidFill>
            <a:srgbClr val="9AA7B4"/>
          </a:solidFill>
          <a:ln w="12700">
            <a:solidFill>
              <a:srgbClr val="9AA7B4"/>
            </a:solidFill>
            <a:prstDash val="solid"/>
          </a:ln>
        </p:spPr>
      </p:sp>
      <p:sp>
        <p:nvSpPr>
          <p:cNvPr id="43" name="Text 40"/>
          <p:cNvSpPr txBox="1"/>
          <p:nvPr/>
        </p:nvSpPr>
        <p:spPr>
          <a:xfrm>
            <a:off x="7060866" y="3227832"/>
            <a:ext cx="548640" cy="14630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0.9-2.2</a:t>
            </a:r>
            <a:endParaRPr lang="en-US" sz="900" dirty="0"/>
          </a:p>
        </p:txBody>
      </p:sp>
      <p:sp>
        <p:nvSpPr>
          <p:cNvPr id="44" name="Shape 41"/>
          <p:cNvSpPr/>
          <p:nvPr/>
        </p:nvSpPr>
        <p:spPr>
          <a:xfrm>
            <a:off x="7015146" y="1645920"/>
            <a:ext cx="18288" cy="2057400"/>
          </a:xfrm>
          <a:prstGeom prst="rect">
            <a:avLst/>
          </a:prstGeom>
          <a:solidFill>
            <a:srgbClr val="143A5A"/>
          </a:solidFill>
          <a:ln w="12700">
            <a:solidFill>
              <a:srgbClr val="143A5A"/>
            </a:solidFill>
            <a:prstDash val="solid"/>
          </a:ln>
        </p:spPr>
      </p:sp>
      <p:sp>
        <p:nvSpPr>
          <p:cNvPr id="45" name="Text 42"/>
          <p:cNvSpPr txBox="1"/>
          <p:nvPr/>
        </p:nvSpPr>
        <p:spPr>
          <a:xfrm>
            <a:off x="4572000" y="3703320"/>
            <a:ext cx="3931920" cy="41148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Downgrade rate and recovery share dominate. Neither is public, so both are measured in P2-P3 before fleet spend.</a:t>
            </a:r>
            <a:endParaRPr lang="en-US" sz="950" dirty="0"/>
          </a:p>
        </p:txBody>
      </p:sp>
      <p:sp>
        <p:nvSpPr>
          <p:cNvPr id="46" name="Shape 43"/>
          <p:cNvSpPr/>
          <p:nvPr/>
        </p:nvSpPr>
        <p:spPr>
          <a:xfrm>
            <a:off x="8732520" y="1234440"/>
            <a:ext cx="2999232" cy="274320"/>
          </a:xfrm>
          <a:prstGeom prst="rect">
            <a:avLst/>
          </a:prstGeom>
          <a:solidFill>
            <a:srgbClr val="2B5B80"/>
          </a:solidFill>
          <a:ln w="12700">
            <a:solidFill>
              <a:srgbClr val="2B5B80"/>
            </a:solidFill>
            <a:prstDash val="solid"/>
          </a:ln>
        </p:spPr>
      </p:sp>
      <p:sp>
        <p:nvSpPr>
          <p:cNvPr id="47" name="Text 44"/>
          <p:cNvSpPr txBox="1"/>
          <p:nvPr/>
        </p:nvSpPr>
        <p:spPr>
          <a:xfrm>
            <a:off x="8823960" y="1234440"/>
            <a:ext cx="281635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Base-case payback</a:t>
            </a:r>
            <a:endParaRPr lang="en-US" sz="1100" dirty="0"/>
          </a:p>
        </p:txBody>
      </p:sp>
      <p:sp>
        <p:nvSpPr>
          <p:cNvPr id="48" name="Text 45"/>
          <p:cNvSpPr txBox="1"/>
          <p:nvPr/>
        </p:nvSpPr>
        <p:spPr>
          <a:xfrm>
            <a:off x="8778240" y="1691640"/>
            <a:ext cx="2926080" cy="201168"/>
          </a:xfrm>
          <a:prstGeom prst="rect">
            <a:avLst/>
          </a:prstGeom>
          <a:noFill/>
          <a:ln/>
        </p:spPr>
        <p:txBody>
          <a:bodyPr wrap="square" lIns="0" tIns="0" rIns="0" bIns="0" rtlCol="0" anchor="t"/>
          <a:lstStyle/>
          <a:p>
            <a:pPr indent="0" marL="0">
              <a:buNone/>
            </a:pPr>
            <a:r>
              <a:rPr lang="en-US" sz="950" b="1" dirty="0">
                <a:solidFill>
                  <a:srgbClr val="141C24"/>
                </a:solidFill>
                <a:latin typeface="Calibri" pitchFamily="34" charset="0"/>
                <a:ea typeface="Calibri" pitchFamily="34" charset="-122"/>
                <a:cs typeface="Calibri" pitchFamily="34" charset="-120"/>
              </a:rPr>
              <a:t>Hybrid (ours)</a:t>
            </a:r>
            <a:endParaRPr lang="en-US" sz="950" dirty="0"/>
          </a:p>
        </p:txBody>
      </p:sp>
      <p:sp>
        <p:nvSpPr>
          <p:cNvPr id="49" name="Shape 46"/>
          <p:cNvSpPr/>
          <p:nvPr/>
        </p:nvSpPr>
        <p:spPr>
          <a:xfrm>
            <a:off x="8778240" y="1920240"/>
            <a:ext cx="396000" cy="237744"/>
          </a:xfrm>
          <a:prstGeom prst="rect">
            <a:avLst/>
          </a:prstGeom>
          <a:solidFill>
            <a:srgbClr val="0086C3"/>
          </a:solidFill>
          <a:ln w="12700">
            <a:solidFill>
              <a:srgbClr val="0086C3"/>
            </a:solidFill>
            <a:prstDash val="solid"/>
          </a:ln>
        </p:spPr>
      </p:sp>
      <p:sp>
        <p:nvSpPr>
          <p:cNvPr id="50" name="Text 47"/>
          <p:cNvSpPr txBox="1"/>
          <p:nvPr/>
        </p:nvSpPr>
        <p:spPr>
          <a:xfrm>
            <a:off x="9219960" y="1911096"/>
            <a:ext cx="640080" cy="256032"/>
          </a:xfrm>
          <a:prstGeom prst="rect">
            <a:avLst/>
          </a:prstGeom>
          <a:noFill/>
          <a:ln/>
        </p:spPr>
        <p:txBody>
          <a:bodyPr wrap="square" lIns="0" tIns="0" rIns="0" bIns="0" rtlCol="0" anchor="ctr"/>
          <a:lstStyle/>
          <a:p>
            <a:pPr indent="0" marL="0">
              <a:buNone/>
            </a:pPr>
            <a:r>
              <a:rPr lang="en-US" sz="1100" b="1" dirty="0">
                <a:solidFill>
                  <a:srgbClr val="143A5A"/>
                </a:solidFill>
                <a:latin typeface="Calibri" pitchFamily="34" charset="0"/>
                <a:ea typeface="Calibri" pitchFamily="34" charset="-122"/>
                <a:cs typeface="Calibri" pitchFamily="34" charset="-120"/>
              </a:rPr>
              <a:t>2.2 yr</a:t>
            </a:r>
            <a:endParaRPr lang="en-US" sz="1100" dirty="0"/>
          </a:p>
        </p:txBody>
      </p:sp>
      <p:sp>
        <p:nvSpPr>
          <p:cNvPr id="51" name="Text 48"/>
          <p:cNvSpPr txBox="1"/>
          <p:nvPr/>
        </p:nvSpPr>
        <p:spPr>
          <a:xfrm>
            <a:off x="8778240" y="2350008"/>
            <a:ext cx="2926080" cy="201168"/>
          </a:xfrm>
          <a:prstGeom prst="rect">
            <a:avLst/>
          </a:prstGeom>
          <a:noFill/>
          <a:ln/>
        </p:spPr>
        <p:txBody>
          <a:bodyPr wrap="square" lIns="0" tIns="0" rIns="0" bIns="0" rtlCol="0" anchor="t"/>
          <a:lstStyle/>
          <a:p>
            <a:pPr indent="0" marL="0">
              <a:buNone/>
            </a:pPr>
            <a:r>
              <a:rPr lang="en-US" sz="950" b="1" dirty="0">
                <a:solidFill>
                  <a:srgbClr val="141C24"/>
                </a:solidFill>
                <a:latin typeface="Calibri" pitchFamily="34" charset="0"/>
                <a:ea typeface="Calibri" pitchFamily="34" charset="-122"/>
                <a:cs typeface="Calibri" pitchFamily="34" charset="-120"/>
              </a:rPr>
              <a:t>Commercial system</a:t>
            </a:r>
            <a:endParaRPr lang="en-US" sz="950" dirty="0"/>
          </a:p>
        </p:txBody>
      </p:sp>
      <p:sp>
        <p:nvSpPr>
          <p:cNvPr id="52" name="Shape 49"/>
          <p:cNvSpPr/>
          <p:nvPr/>
        </p:nvSpPr>
        <p:spPr>
          <a:xfrm>
            <a:off x="8778240" y="2578608"/>
            <a:ext cx="2286000" cy="237744"/>
          </a:xfrm>
          <a:prstGeom prst="rect">
            <a:avLst/>
          </a:prstGeom>
          <a:solidFill>
            <a:srgbClr val="9AA7B4"/>
          </a:solidFill>
          <a:ln w="12700">
            <a:solidFill>
              <a:srgbClr val="9AA7B4"/>
            </a:solidFill>
            <a:prstDash val="solid"/>
          </a:ln>
        </p:spPr>
      </p:sp>
      <p:sp>
        <p:nvSpPr>
          <p:cNvPr id="53" name="Text 50"/>
          <p:cNvSpPr txBox="1"/>
          <p:nvPr/>
        </p:nvSpPr>
        <p:spPr>
          <a:xfrm>
            <a:off x="11109960" y="2569464"/>
            <a:ext cx="640080" cy="256032"/>
          </a:xfrm>
          <a:prstGeom prst="rect">
            <a:avLst/>
          </a:prstGeom>
          <a:noFill/>
          <a:ln/>
        </p:spPr>
        <p:txBody>
          <a:bodyPr wrap="square" lIns="0" tIns="0" rIns="0" bIns="0" rtlCol="0" anchor="ctr"/>
          <a:lstStyle/>
          <a:p>
            <a:pPr indent="0" marL="0">
              <a:buNone/>
            </a:pPr>
            <a:r>
              <a:rPr lang="en-US" sz="1100" b="1" dirty="0">
                <a:solidFill>
                  <a:srgbClr val="143A5A"/>
                </a:solidFill>
                <a:latin typeface="Calibri" pitchFamily="34" charset="0"/>
                <a:ea typeface="Calibri" pitchFamily="34" charset="-122"/>
                <a:cs typeface="Calibri" pitchFamily="34" charset="-120"/>
              </a:rPr>
              <a:t>12.7 yr</a:t>
            </a:r>
            <a:endParaRPr lang="en-US" sz="1100" dirty="0"/>
          </a:p>
        </p:txBody>
      </p:sp>
      <p:sp>
        <p:nvSpPr>
          <p:cNvPr id="54" name="Text 51"/>
          <p:cNvSpPr txBox="1"/>
          <p:nvPr/>
        </p:nvSpPr>
        <p:spPr>
          <a:xfrm>
            <a:off x="8778240" y="3063240"/>
            <a:ext cx="2926080" cy="1051560"/>
          </a:xfrm>
          <a:prstGeom prst="rect">
            <a:avLst/>
          </a:prstGeom>
          <a:noFill/>
          <a:ln/>
        </p:spPr>
        <p:txBody>
          <a:bodyPr wrap="square" lIns="0" tIns="0" rIns="0" bIns="0" rtlCol="0" anchor="t"/>
          <a:lstStyle/>
          <a:p>
            <a:pPr indent="0" marL="0">
              <a:buNone/>
            </a:pPr>
            <a:r>
              <a:rPr lang="en-US" sz="1300" b="1" dirty="0">
                <a:solidFill>
                  <a:srgbClr val="143A5A"/>
                </a:solidFill>
                <a:latin typeface="Calibri" pitchFamily="34" charset="0"/>
                <a:ea typeface="Calibri" pitchFamily="34" charset="-122"/>
                <a:cs typeface="Calibri" pitchFamily="34" charset="-120"/>
              </a:rPr>
              <a:t>+INR 2.1 cr </a:t>
            </a:r>
            <a:pPr indent="0" marL="0">
              <a:buNone/>
            </a:pPr>
            <a:r>
              <a:rPr lang="en-US" sz="950" dirty="0">
                <a:solidFill>
                  <a:srgbClr val="334150"/>
                </a:solidFill>
                <a:latin typeface="Calibri" pitchFamily="34" charset="0"/>
                <a:ea typeface="Calibri" pitchFamily="34" charset="-122"/>
                <a:cs typeface="Calibri" pitchFamily="34" charset="-120"/>
              </a:rPr>
              <a:t>5-year NPV per line at 12%
</a:t>
            </a:r>
            <a:pPr indent="0" marL="0">
              <a:buNone/>
            </a:pPr>
            <a:r>
              <a:rPr lang="en-US" sz="1300" b="1" dirty="0">
                <a:solidFill>
                  <a:srgbClr val="143A5A"/>
                </a:solidFill>
                <a:latin typeface="Calibri" pitchFamily="34" charset="0"/>
                <a:ea typeface="Calibri" pitchFamily="34" charset="-122"/>
                <a:cs typeface="Calibri" pitchFamily="34" charset="-120"/>
              </a:rPr>
              <a:t>&gt;= 0.11% </a:t>
            </a:r>
            <a:pPr indent="0" marL="0">
              <a:buNone/>
            </a:pPr>
            <a:r>
              <a:rPr lang="en-US" sz="950" dirty="0">
                <a:solidFill>
                  <a:srgbClr val="334150"/>
                </a:solidFill>
                <a:latin typeface="Calibri" pitchFamily="34" charset="0"/>
                <a:ea typeface="Calibri" pitchFamily="34" charset="-122"/>
                <a:cs typeface="Calibri" pitchFamily="34" charset="-120"/>
              </a:rPr>
              <a:t>of line revenue lost to downgrade (rate x discount) is enough for a 2-year payback</a:t>
            </a:r>
            <a:endParaRPr lang="en-US" sz="1000" dirty="0"/>
          </a:p>
        </p:txBody>
      </p:sp>
      <p:sp>
        <p:nvSpPr>
          <p:cNvPr id="55" name="Shape 52"/>
          <p:cNvSpPr/>
          <p:nvPr/>
        </p:nvSpPr>
        <p:spPr>
          <a:xfrm>
            <a:off x="457200" y="4206240"/>
            <a:ext cx="7223760" cy="274320"/>
          </a:xfrm>
          <a:prstGeom prst="rect">
            <a:avLst/>
          </a:prstGeom>
          <a:solidFill>
            <a:srgbClr val="2B5B80"/>
          </a:solidFill>
          <a:ln w="12700">
            <a:solidFill>
              <a:srgbClr val="2B5B80"/>
            </a:solidFill>
            <a:prstDash val="solid"/>
          </a:ln>
        </p:spPr>
      </p:sp>
      <p:sp>
        <p:nvSpPr>
          <p:cNvPr id="56" name="Text 53"/>
          <p:cNvSpPr txBox="1"/>
          <p:nvPr/>
        </p:nvSpPr>
        <p:spPr>
          <a:xfrm>
            <a:off x="548640" y="4206240"/>
            <a:ext cx="7040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57" name="Text 54"/>
          <p:cNvSpPr txBox="1"/>
          <p:nvPr/>
        </p:nvSpPr>
        <p:spPr>
          <a:xfrm>
            <a:off x="502920" y="4553712"/>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Coverage</a:t>
            </a:r>
            <a:endParaRPr lang="en-US" sz="1000" dirty="0"/>
          </a:p>
        </p:txBody>
      </p:sp>
      <p:sp>
        <p:nvSpPr>
          <p:cNvPr id="58" name="Text 55"/>
          <p:cNvSpPr txBox="1"/>
          <p:nvPr/>
        </p:nvSpPr>
        <p:spPr>
          <a:xfrm>
            <a:off x="1600200" y="4553712"/>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100% of both faces, the same rule on every coil, instead of sampled grading</a:t>
            </a:r>
            <a:endParaRPr lang="en-US" sz="900" dirty="0"/>
          </a:p>
        </p:txBody>
      </p:sp>
      <p:sp>
        <p:nvSpPr>
          <p:cNvPr id="59" name="Text 56"/>
          <p:cNvSpPr txBox="1"/>
          <p:nvPr/>
        </p:nvSpPr>
        <p:spPr>
          <a:xfrm>
            <a:off x="4114800" y="4553712"/>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Customers</a:t>
            </a:r>
            <a:endParaRPr lang="en-US" sz="1000" dirty="0"/>
          </a:p>
        </p:txBody>
      </p:sp>
      <p:sp>
        <p:nvSpPr>
          <p:cNvPr id="60" name="Text 57"/>
          <p:cNvSpPr txBox="1"/>
          <p:nvPr/>
        </p:nvSpPr>
        <p:spPr>
          <a:xfrm>
            <a:off x="5212080" y="4553712"/>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Defect map per coil for auto, rail and appliance buyers; fewer claims on exposed finishes</a:t>
            </a:r>
            <a:endParaRPr lang="en-US" sz="900" dirty="0"/>
          </a:p>
        </p:txBody>
      </p:sp>
      <p:sp>
        <p:nvSpPr>
          <p:cNvPr id="61" name="Text 58"/>
          <p:cNvSpPr txBox="1"/>
          <p:nvPr/>
        </p:nvSpPr>
        <p:spPr>
          <a:xfrm>
            <a:off x="502920" y="5029200"/>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Process</a:t>
            </a:r>
            <a:endParaRPr lang="en-US" sz="1000" dirty="0"/>
          </a:p>
        </p:txBody>
      </p:sp>
      <p:sp>
        <p:nvSpPr>
          <p:cNvPr id="62" name="Text 59"/>
          <p:cNvSpPr txBox="1"/>
          <p:nvPr/>
        </p:nvSpPr>
        <p:spPr>
          <a:xfrm>
            <a:off x="1600200" y="5029200"/>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Typed defects tied to heat and coil IDs give the SMS and HSM root-cause data they lack today</a:t>
            </a:r>
            <a:endParaRPr lang="en-US" sz="900" dirty="0"/>
          </a:p>
        </p:txBody>
      </p:sp>
      <p:sp>
        <p:nvSpPr>
          <p:cNvPr id="63" name="Text 60"/>
          <p:cNvSpPr txBox="1"/>
          <p:nvPr/>
        </p:nvSpPr>
        <p:spPr>
          <a:xfrm>
            <a:off x="4114800" y="5029200"/>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Safety and assets</a:t>
            </a:r>
            <a:endParaRPr lang="en-US" sz="1000" dirty="0"/>
          </a:p>
        </p:txBody>
      </p:sp>
      <p:sp>
        <p:nvSpPr>
          <p:cNvPr id="64" name="Text 61"/>
          <p:cNvSpPr txBox="1"/>
          <p:nvPr/>
        </p:nvSpPr>
        <p:spPr>
          <a:xfrm>
            <a:off x="5212080" y="5029200"/>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Severe-defect holds guard against strip breaks, the Ternium business case</a:t>
            </a:r>
            <a:endParaRPr lang="en-US" sz="900" dirty="0"/>
          </a:p>
        </p:txBody>
      </p:sp>
      <p:sp>
        <p:nvSpPr>
          <p:cNvPr id="65" name="Text 62"/>
          <p:cNvSpPr txBox="1"/>
          <p:nvPr/>
        </p:nvSpPr>
        <p:spPr>
          <a:xfrm>
            <a:off x="502920" y="5504688"/>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Sustainability</a:t>
            </a:r>
            <a:endParaRPr lang="en-US" sz="1000" dirty="0"/>
          </a:p>
        </p:txBody>
      </p:sp>
      <p:sp>
        <p:nvSpPr>
          <p:cNvPr id="66" name="Text 63"/>
          <p:cNvSpPr txBox="1"/>
          <p:nvPr/>
        </p:nvSpPr>
        <p:spPr>
          <a:xfrm>
            <a:off x="1600200" y="5504688"/>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Less remelt and re-pickling of downgraded coils saves energy, acid and nickel</a:t>
            </a:r>
            <a:endParaRPr lang="en-US" sz="900" dirty="0"/>
          </a:p>
        </p:txBody>
      </p:sp>
      <p:sp>
        <p:nvSpPr>
          <p:cNvPr id="67" name="Text 64"/>
          <p:cNvSpPr txBox="1"/>
          <p:nvPr/>
        </p:nvSpPr>
        <p:spPr>
          <a:xfrm>
            <a:off x="4114800" y="5504688"/>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People</a:t>
            </a:r>
            <a:endParaRPr lang="en-US" sz="1000" dirty="0"/>
          </a:p>
        </p:txBody>
      </p:sp>
      <p:sp>
        <p:nvSpPr>
          <p:cNvPr id="68" name="Text 65"/>
          <p:cNvSpPr txBox="1"/>
          <p:nvPr/>
        </p:nvSpPr>
        <p:spPr>
          <a:xfrm>
            <a:off x="5212080" y="5504688"/>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"AI will not replace; it will instead renew and re-energise." Inspectors move to decisions (JSL MD)</a:t>
            </a:r>
            <a:endParaRPr lang="en-US" sz="900" dirty="0"/>
          </a:p>
        </p:txBody>
      </p:sp>
      <p:sp>
        <p:nvSpPr>
          <p:cNvPr id="69" name="Shape 66"/>
          <p:cNvSpPr/>
          <p:nvPr/>
        </p:nvSpPr>
        <p:spPr>
          <a:xfrm>
            <a:off x="7909560" y="4206240"/>
            <a:ext cx="3822192" cy="1719072"/>
          </a:xfrm>
          <a:prstGeom prst="roundRect">
            <a:avLst>
              <a:gd name="adj" fmla="val 3191"/>
            </a:avLst>
          </a:prstGeom>
          <a:solidFill>
            <a:srgbClr val="143A5A"/>
          </a:solidFill>
          <a:ln w="12700">
            <a:solidFill>
              <a:srgbClr val="143A5A"/>
            </a:solidFill>
            <a:prstDash val="solid"/>
          </a:ln>
        </p:spPr>
      </p:sp>
      <p:sp>
        <p:nvSpPr>
          <p:cNvPr id="70" name="Text 67"/>
          <p:cNvSpPr txBox="1"/>
          <p:nvPr/>
        </p:nvSpPr>
        <p:spPr>
          <a:xfrm>
            <a:off x="8046720" y="4279392"/>
            <a:ext cx="3566160" cy="256032"/>
          </a:xfrm>
          <a:prstGeom prst="rect">
            <a:avLst/>
          </a:prstGeom>
          <a:noFill/>
          <a:ln/>
        </p:spPr>
        <p:txBody>
          <a:bodyPr wrap="square" lIns="0" tIns="0" rIns="0" bIns="0" rtlCol="0" anchor="t"/>
          <a:lstStyle/>
          <a:p>
            <a:pPr indent="0" marL="0">
              <a:buNone/>
            </a:pPr>
            <a:r>
              <a:rPr lang="en-US" sz="1100" b="1" dirty="0">
                <a:solidFill>
                  <a:srgbClr val="BFD2E2"/>
                </a:solidFill>
                <a:latin typeface="Calibri" pitchFamily="34" charset="0"/>
                <a:ea typeface="Calibri" pitchFamily="34" charset="-122"/>
                <a:cs typeface="Calibri" pitchFamily="34" charset="-120"/>
              </a:rPr>
              <a:t>WHAT WE ASK OF JSL</a:t>
            </a:r>
            <a:endParaRPr lang="en-US" sz="1100" dirty="0"/>
          </a:p>
        </p:txBody>
      </p:sp>
      <p:sp>
        <p:nvSpPr>
          <p:cNvPr id="71" name="Text 68"/>
          <p:cNvSpPr txBox="1"/>
          <p:nvPr/>
        </p:nvSpPr>
        <p:spPr>
          <a:xfrm>
            <a:off x="8046720" y="4572000"/>
            <a:ext cx="3611880" cy="12801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One 300-series cold-rolled line for 7 months</a:t>
            </a:r>
            <a:endParaRPr lang="en-US" sz="1050" dirty="0"/>
          </a:p>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INR 2.5-4.2 cr pilot budget</a:t>
            </a:r>
            <a:endParaRPr lang="en-US" sz="1050" dirty="0"/>
          </a:p>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Downgrade rate by line and grade from the MIS</a:t>
            </a:r>
            <a:endParaRPr lang="en-US" sz="1050" dirty="0"/>
          </a:p>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A metallurgist at 20% to sign off root causes</a:t>
            </a:r>
            <a:endParaRPr lang="en-US" sz="1050" dirty="0"/>
          </a:p>
          <a:p>
            <a:pPr indent="0" marL="0">
              <a:spcAft>
                <a:spcPts val="400"/>
              </a:spcAft>
              <a:buNone/>
            </a:pPr>
            <a:r>
              <a:rPr lang="en-US" sz="1050" b="1" dirty="0">
                <a:solidFill>
                  <a:srgbClr val="BFD2E2"/>
                </a:solidFill>
                <a:latin typeface="Calibri" pitchFamily="34" charset="0"/>
                <a:ea typeface="Calibri" pitchFamily="34" charset="-122"/>
                <a:cs typeface="Calibri" pitchFamily="34" charset="-120"/>
              </a:rPr>
              <a:t>In return: measured downgrade rate, payback and a go / no-go at month 7</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2026-09-26T06:51:37Z</dcterms:created>
  <dcterms:modified xsi:type="dcterms:W3CDTF">2026-09-26T06:51:37Z</dcterms:modified>
</cp:coreProperties>
</file>