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Actual</c:v>
                </c:pt>
              </c:strCache>
            </c:strRef>
          </c:tx>
          <c:spPr>
            <a:solidFill>
              <a:srgbClr val="0086C3"/>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Sheet1!$B$2:$B$7</c:f>
              <c:numCache>
                <c:formatCode>General</c:formatCode>
                <c:ptCount val="6"/>
                <c:pt idx="0">
                  <c:v>2.61</c:v>
                </c:pt>
                <c:pt idx="1">
                  <c:v>3.46</c:v>
                </c:pt>
                <c:pt idx="2">
                  <c:v>3.94</c:v>
                </c:pt>
                <c:pt idx="3">
                  <c:v>4.49</c:v>
                </c:pt>
                <c:pt idx="4">
                  <c:v>4.8</c:v>
                </c:pt>
                <c:pt idx="5">
                  <c:v>0</c:v>
                </c:pt>
              </c:numCache>
            </c:numRef>
          </c:val>
        </c:ser>
        <c:ser>
          <c:idx val="1"/>
          <c:order val="1"/>
          <c:tx>
            <c:strRef>
              <c:f>Sheet1!$C$1</c:f>
              <c:strCache>
                <c:ptCount val="1"/>
                <c:pt idx="0">
                  <c:v>Forecast</c:v>
                </c:pt>
              </c:strCache>
            </c:strRef>
          </c:tx>
          <c:spPr>
            <a:solidFill>
              <a:srgbClr val="A9CBE6"/>
            </a:solidFill>
            <a:effectLst/>
          </c:spPr>
          <c:invertIfNegative val="0"/>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FY30F</c:v>
                  </c:pt>
                </c:lvl>
              </c:multiLvlStrCache>
            </c:multiLvlStrRef>
          </c:cat>
          <c:val>
            <c:numRef>
              <c:f>Sheet1!$C$2:$C$7</c:f>
              <c:numCache>
                <c:formatCode>General</c:formatCode>
                <c:ptCount val="6"/>
                <c:pt idx="0">
                  <c:v>0</c:v>
                </c:pt>
                <c:pt idx="1">
                  <c:v>0</c:v>
                </c:pt>
                <c:pt idx="2">
                  <c:v>0</c:v>
                </c:pt>
                <c:pt idx="3">
                  <c:v>0</c:v>
                </c:pt>
                <c:pt idx="4">
                  <c:v>0</c:v>
                </c:pt>
                <c:pt idx="5">
                  <c:v>6.8</c:v>
                </c:pt>
              </c:numCache>
            </c:numRef>
          </c:val>
        </c:ser>
        <c:dLbls>
          <c:numFmt formatCode="0.0;-0.0;;" sourceLinked="0"/>
          <c:txPr>
            <a:bodyPr/>
            <a:lstStyle/>
            <a:p>
              <a:pPr>
                <a:defRPr b="1" i="0" strike="noStrike" sz="900" u="none">
                  <a:solidFill>
                    <a:srgbClr val="FFFFFF"/>
                  </a:solidFill>
                  <a:latin typeface="Calibri"/>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334150"/>
                </a:solidFill>
                <a:latin typeface="Calibri"/>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defects caught</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89.6</c:v>
                </c:pt>
                <c:pt idx="1">
                  <c:v>10.400000000000006</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of clean strip flagged</c:v>
                </c:pt>
              </c:strCache>
            </c:strRef>
          </c:tx>
          <c:spPr>
            <a:solidFill>
              <a:schemeClr val="accent1"/>
            </a:solidFill>
            <a:ln w="9525" cap="flat">
              <a:solidFill>
                <a:srgbClr val="F9F9F9"/>
              </a:solidFill>
              <a:prstDash val="solid"/>
              <a:round/>
            </a:ln>
            <a:effectLst/>
          </c:spPr>
          <c:dPt>
            <c:idx val="0"/>
            <c:bubble3D val="0"/>
            <c:spPr>
              <a:solidFill>
                <a:srgbClr val="0086C3"/>
              </a:solidFill>
              <a:ln w="9525" cap="flat">
                <a:solidFill>
                  <a:srgbClr val="FFFFFF"/>
                </a:solidFill>
                <a:prstDash val="solid"/>
                <a:round/>
              </a:ln>
              <a:effectLst/>
            </c:spPr>
          </c:dPt>
          <c:dPt>
            <c:idx val="1"/>
            <c:bubble3D val="0"/>
            <c:spPr>
              <a:solidFill>
                <a:srgbClr val="DCE3EA"/>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a</c:v>
                </c:pt>
                <c:pt idx="1">
                  <c:v>b</c:v>
                </c:pt>
              </c:strCache>
            </c:strRef>
          </c:cat>
          <c:val>
            <c:numRef>
              <c:f>Sheet1!$B$2:$B$3</c:f>
              <c:numCache>
                <c:ptCount val="2"/>
                <c:pt idx="0">
                  <c:v>4.7</c:v>
                </c:pt>
                <c:pt idx="1">
                  <c:v>95.3</c:v>
                </c:pt>
              </c:numCache>
            </c:numRef>
          </c:val>
        </c:ser>
        <c:firstSliceAng val="0"/>
        <c:holeSize val="7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Cost</c:v>
                </c:pt>
              </c:strCache>
            </c:strRef>
          </c:tx>
          <c:spPr>
            <a:solidFill>
              <a:schemeClr val="accent1"/>
            </a:solidFill>
            <a:ln w="9525" cap="flat">
              <a:solidFill>
                <a:srgbClr val="F9F9F9"/>
              </a:solidFill>
              <a:prstDash val="solid"/>
              <a:round/>
            </a:ln>
            <a:effectLst/>
          </c:spPr>
          <c:dPt>
            <c:idx val="0"/>
            <c:bubble3D val="0"/>
            <c:spPr>
              <a:solidFill>
                <a:srgbClr val="143A5A"/>
              </a:solidFill>
              <a:ln w="12700" cap="flat">
                <a:solidFill>
                  <a:srgbClr val="FFFFFF"/>
                </a:solidFill>
                <a:prstDash val="solid"/>
                <a:round/>
              </a:ln>
              <a:effectLst/>
            </c:spPr>
          </c:dPt>
          <c:dPt>
            <c:idx val="1"/>
            <c:bubble3D val="0"/>
            <c:spPr>
              <a:solidFill>
                <a:srgbClr val="1F6FA8"/>
              </a:solidFill>
              <a:ln w="12700" cap="flat">
                <a:solidFill>
                  <a:srgbClr val="FFFFFF"/>
                </a:solidFill>
                <a:prstDash val="solid"/>
                <a:round/>
              </a:ln>
              <a:effectLst/>
            </c:spPr>
          </c:dPt>
          <c:dPt>
            <c:idx val="2"/>
            <c:bubble3D val="0"/>
            <c:spPr>
              <a:solidFill>
                <a:srgbClr val="5E9CCB"/>
              </a:solidFill>
              <a:ln w="12700" cap="flat">
                <a:solidFill>
                  <a:srgbClr val="FFFFFF"/>
                </a:solidFill>
                <a:prstDash val="solid"/>
                <a:round/>
              </a:ln>
              <a:effectLst/>
            </c:spPr>
          </c:dPt>
          <c:dPt>
            <c:idx val="3"/>
            <c:bubble3D val="0"/>
            <c:spPr>
              <a:solidFill>
                <a:srgbClr val="A9CBE6"/>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Cameras &amp; lighting</c:v>
                </c:pt>
                <c:pt idx="1">
                  <c:v>Installation &amp; integration</c:v>
                </c:pt>
                <c:pt idx="2">
                  <c:v>Computing hardware</c:v>
                </c:pt>
                <c:pt idx="3">
                  <c:v>Labelling JSL strip</c:v>
                </c:pt>
              </c:strCache>
            </c:strRef>
          </c:cat>
          <c:val>
            <c:numRef>
              <c:f>Sheet1!$B$2:$B$5</c:f>
              <c:numCache>
                <c:ptCount val="4"/>
                <c:pt idx="0">
                  <c:v>115</c:v>
                </c:pt>
                <c:pt idx="1">
                  <c:v>120</c:v>
                </c:pt>
                <c:pt idx="2">
                  <c:v>60</c:v>
                </c:pt>
                <c:pt idx="3">
                  <c:v>40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six images are real output from our system on steel images it had never seen. The QR opens the live demo in the judge's browser. Four numbers tell the story: on real mill strip it catches 9 in 10 defects and wrongly flags fewer than 1 in 20 clean images, at a fraction of commercial cost, paying back in about two years on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Walk the ribbon left to right: a sliver born at the caster is only seen at finishing, after hot rolling, annealing, pickling and cold rolling have been paid for. Why stainless hurts more: every tonne of 304 carries INR 126,000-165,000 of nickel, and a 2B or BA mill finish cannot be polished back. Why now: Indian stainless demand grew 84% in five years to 4.8 Mt and is heading to 6.8 Mt by FY30, led by rail and metro coaches; imports hit 1.73 Mt in FY25 and DGTR opened an anti-dumping probe on cold-rolled 300/400 series in September 2025, so quality is the domestic producer's moat; BIS certification to IS 6911 has been mandatory for sheet and strip since August 2024; and JSL is adding cold-rolling capacity. The cost-of-quality frame is the output: inspection moves spend from failure to prevention.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Insights, stainless-specific. The six images are real output from our system on images it had never seen; each family is born at a different stage, so a typed detection goes straight to the right owner as a work order. The owner mapping needs a JSL metallurgist's sign-off in P0. Precedent: Outokumpu, Europe's largest stainless producer, switched on an AI surface inspection system at Tornio in October 2024, built to run without internet and scale across sites; Tata Steel Kalinganagar, India's first WEF Lighthouse, uses video analytics for surface defects on cold-rolled products; Parsytec systems on stainless lines use 170 micron cameras with bright and dark field light and make a decision per coil. We copy the offline edge design, an in-house team that owns the system, and the optics spec. The grade matrix output is the pilot grade: 300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choices. One: alarms you can act on. On real mill strip it catches 258 of 288 defects and wrongly flags only 14 of 300 clean images; the pilot repeats this on JSL's own strip before any alarm is trusted. Two: one verdict per coil. Every defect rolls up into accept, downgrade or hold, with limits agreed per grade and finish with JSL Quality. Three: image detail decides what can be seen and what the hardware costs; full detail at 250 m/min needs about 18 processing units, so resolution is a day-one decision with JSL. Four: trust is earned on the shift floor, with evidence on every alarm, four weeks of shadow mode and a weekly review of every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Stages 2 to 4 are built and running today in the browser demo. Stage 5 has coil rules built, but grade- and finish-specific limits need JSL input. Stages 1 and 6 are the plant-side pilot work. The strip underneath shows where each stage runs: cameras at the line, an edge server beside it that works offline, the plant network behind IEC 62443 zones, and people on screens and work orders. What JSL gets that a standard system does not: alarms it can act on, routing to the owning process, one verdict per coil, and ownership of its own system. Build vs buy: commercial systems are proven but cost USD 1-3M per line and are closed; hybrid is never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public datasets, about 10,100 images, all scored on images the system had never seen. Per defect, four of six families sit at or above the published range; crazing and rolled-in scale are low-contrast textures and are weaker. The honest headline is the second weak spot: on real mill frames the score is 0.57 against 0.75 on the lab benchmark, which is exactly why the pilot starts on JSL's own strip before anything is trusted. Roll marks score 0.20 because public data has only a few dozen examples; edge cameras and targeted labelling with JSL fix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Five phases, 20 months, with a hard go/no-go at month 7 after shadow mode. The system never acts on the mill until P3; before that it only reads data and advises. P0 plugs into Project Pragati, JSL's own digitalisation programme with Dassault Systemes and Capgemini, whose Phase 2 brings Level-2 process data at Jajpur, so each defect is tied to its heat and coil without a new integration project. Mirror-like BA and 2B finishes are handled the way stainless lines already do it: bright and dark-field light, with deflectometry for BA. The plant network is protected by IEC 62443 zones and the system runs offline. Every update must beat the live system on a fixed JSL test set before it ships. Cost is INR 2.5-4.2 crore per line, against USD 1-3M for a commercial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At 1% of volume downgraded at a 10% discount, one 0.4 Mt line loses INR 6.7 crore a year; recovering 30%, less INR 0.5 crore run cost, pays back INR 3.35 crore capex in about 2.2 years, against 12.7 years for a commercial system. Our discounts are conservative: non-prime coil typically trades 10-30% below prime. Downgrade rate and recovery share dominate the tornado; neither is public, so both are measured in P2-P3. Beyond the P&amp;L: JSL supplies stainless for Vande Bharat sleeper coaches, Vande Metro and several metros, and those buyers see the surface; a defect map per coil is a sales tool. Less rework and remelting supports JSL's target of halving emission intensity by 2035 and net zero by 2050; intensity was 1.76 tCO2e per tonne in FY26. Close on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0"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1" Type="http://schemas.openxmlformats.org/officeDocument/2006/relationships/image" Target="../media/image-2-10.png"/><Relationship Id="rId12" Type="http://schemas.openxmlformats.org/officeDocument/2006/relationships/image" Target="../media/image-2-11.png"/><Relationship Id="rId13" Type="http://schemas.openxmlformats.org/officeDocument/2006/relationships/image" Target="../media/image-2-12.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image" Target="../media/image-4-1.png"/><Relationship Id="rId4" Type="http://schemas.openxmlformats.org/officeDocument/2006/relationships/image" Target="../media/image-4-1.png"/><Relationship Id="rId5" Type="http://schemas.openxmlformats.org/officeDocument/2006/relationships/image" Target="../media/image-4-1.png"/><Relationship Id="rId6" Type="http://schemas.openxmlformats.org/officeDocument/2006/relationships/image" Target="../media/image-4-1.png"/><Relationship Id="rId7" Type="http://schemas.openxmlformats.org/officeDocument/2006/relationships/image" Target="../media/image-4-1.png"/><Relationship Id="rId8" Type="http://schemas.openxmlformats.org/officeDocument/2006/relationships/image" Target="../media/image-4-1.png"/><Relationship Id="rId9" Type="http://schemas.openxmlformats.org/officeDocument/2006/relationships/image" Target="../media/image-4-1.png"/><Relationship Id="rId10" Type="http://schemas.openxmlformats.org/officeDocument/2006/relationships/image" Target="../media/image-4-1.png"/><Relationship Id="rId11" Type="http://schemas.openxmlformats.org/officeDocument/2006/relationships/image" Target="../media/image-4-1.png"/><Relationship Id="rId12" Type="http://schemas.openxmlformats.org/officeDocument/2006/relationships/image" Target="../media/image-4-1.png"/><Relationship Id="rId13" Type="http://schemas.openxmlformats.org/officeDocument/2006/relationships/image" Target="../media/image-4-1.png"/><Relationship Id="rId14" Type="http://schemas.openxmlformats.org/officeDocument/2006/relationships/image" Target="../media/image-4-1.png"/><Relationship Id="rId15" Type="http://schemas.openxmlformats.org/officeDocument/2006/relationships/image" Target="../media/image-4-1.png"/><Relationship Id="rId16" Type="http://schemas.openxmlformats.org/officeDocument/2006/relationships/image" Target="../media/image-4-1.png"/><Relationship Id="rId17" Type="http://schemas.openxmlformats.org/officeDocument/2006/relationships/image" Target="../media/image-4-1.png"/><Relationship Id="rId18" Type="http://schemas.openxmlformats.org/officeDocument/2006/relationships/image" Target="../media/image-4-1.png"/><Relationship Id="rId19" Type="http://schemas.openxmlformats.org/officeDocument/2006/relationships/image" Target="../media/image-4-1.png"/><Relationship Id="rId20" Type="http://schemas.openxmlformats.org/officeDocument/2006/relationships/image" Target="../media/image-4-1.png"/><Relationship Id="rId21" Type="http://schemas.openxmlformats.org/officeDocument/2006/relationships/image" Target="../media/image-4-1.png"/><Relationship Id="rId22" Type="http://schemas.openxmlformats.org/officeDocument/2006/relationships/image" Target="../media/image-4-1.png"/><Relationship Id="rId23" Type="http://schemas.openxmlformats.org/officeDocument/2006/relationships/image" Target="../media/image-4-1.png"/><Relationship Id="rId24" Type="http://schemas.openxmlformats.org/officeDocument/2006/relationships/image" Target="../media/image-4-1.png"/><Relationship Id="rId25" Type="http://schemas.openxmlformats.org/officeDocument/2006/relationships/image" Target="../media/image-4-23.png"/><Relationship Id="rId26" Type="http://schemas.openxmlformats.org/officeDocument/2006/relationships/image" Target="../media/image-4-24.png"/><Relationship Id="rId27" Type="http://schemas.openxmlformats.org/officeDocument/2006/relationships/image" Target="../media/image-4-25.png"/><Relationship Id="rId28" Type="http://schemas.openxmlformats.org/officeDocument/2006/relationships/slideLayout" Target="../slideLayouts/slideLayout1.xml"/><Relationship Id="rId2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5.png"/><Relationship Id="rId10" Type="http://schemas.openxmlformats.org/officeDocument/2006/relationships/image" Target="../media/image-5-10.png"/><Relationship Id="rId11" Type="http://schemas.openxmlformats.org/officeDocument/2006/relationships/image" Target="../media/image-5-2.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A5A"/>
        </a:solidFill>
      </p:bgPr>
    </p:bg>
    <p:spTree>
      <p:nvGrpSpPr>
        <p:cNvPr id="1" name=""/>
        <p:cNvGrpSpPr/>
        <p:nvPr/>
      </p:nvGrpSpPr>
      <p:grpSpPr>
        <a:xfrm>
          <a:off x="0" y="0"/>
          <a:ext cx="0" cy="0"/>
          <a:chOff x="0" y="0"/>
          <a:chExt cx="0" cy="0"/>
        </a:xfrm>
      </p:grpSpPr>
      <p:pic>
        <p:nvPicPr>
          <p:cNvPr id="2" name="Image 0" descr="img/cover_coil.jpg">    </p:cNvPr>
          <p:cNvPicPr>
            <a:picLocks noChangeAspect="1"/>
          </p:cNvPicPr>
          <p:nvPr/>
        </p:nvPicPr>
        <p:blipFill>
          <a:blip r:embed="rId1"/>
          <a:srcRect l="0" r="0" t="0" b="0"/>
          <a:stretch/>
        </p:blipFill>
        <p:spPr>
          <a:xfrm>
            <a:off x="7818120" y="0"/>
            <a:ext cx="4373575" cy="6858000"/>
          </a:xfrm>
          <a:prstGeom prst="rect">
            <a:avLst/>
          </a:prstGeom>
        </p:spPr>
      </p:pic>
      <p:sp>
        <p:nvSpPr>
          <p:cNvPr id="3" name="Shape 0"/>
          <p:cNvSpPr/>
          <p:nvPr/>
        </p:nvSpPr>
        <p:spPr>
          <a:xfrm>
            <a:off x="7818120" y="0"/>
            <a:ext cx="4373575" cy="6858000"/>
          </a:xfrm>
          <a:prstGeom prst="rect">
            <a:avLst/>
          </a:prstGeom>
          <a:solidFill>
            <a:srgbClr val="143A5A">
              <a:alpha val="55000"/>
            </a:srgbClr>
          </a:solidFill>
          <a:ln w="12700">
            <a:solidFill>
              <a:srgbClr val="143A5A"/>
            </a:solidFill>
            <a:prstDash val="solid"/>
          </a:ln>
        </p:spPr>
      </p:sp>
      <p:sp>
        <p:nvSpPr>
          <p:cNvPr id="4" name="Shape 1"/>
          <p:cNvSpPr/>
          <p:nvPr/>
        </p:nvSpPr>
        <p:spPr>
          <a:xfrm>
            <a:off x="7818120" y="0"/>
            <a:ext cx="54864" cy="6858000"/>
          </a:xfrm>
          <a:prstGeom prst="rect">
            <a:avLst/>
          </a:prstGeom>
          <a:solidFill>
            <a:srgbClr val="0086C3"/>
          </a:solidFill>
          <a:ln w="12700">
            <a:solidFill>
              <a:srgbClr val="0086C3"/>
            </a:solidFill>
            <a:prstDash val="solid"/>
          </a:ln>
        </p:spPr>
      </p:sp>
      <p:sp>
        <p:nvSpPr>
          <p:cNvPr id="5" name="Text 2"/>
          <p:cNvSpPr txBox="1"/>
          <p:nvPr/>
        </p:nvSpPr>
        <p:spPr>
          <a:xfrm>
            <a:off x="548640" y="411480"/>
            <a:ext cx="7132320" cy="274320"/>
          </a:xfrm>
          <a:prstGeom prst="rect">
            <a:avLst/>
          </a:prstGeom>
          <a:noFill/>
          <a:ln/>
        </p:spPr>
        <p:txBody>
          <a:bodyPr wrap="square" lIns="0" tIns="0" rIns="0" bIns="0" rtlCol="0" anchor="t"/>
          <a:lstStyle/>
          <a:p>
            <a:pPr indent="0" marL="0">
              <a:buNone/>
            </a:pPr>
            <a:r>
              <a:rPr lang="en-US" sz="1100" b="1" spc="100" kern="0" dirty="0">
                <a:solidFill>
                  <a:srgbClr val="BFD2E2"/>
                </a:solidFill>
                <a:latin typeface="Calibri" pitchFamily="34" charset="0"/>
                <a:ea typeface="Calibri" pitchFamily="34" charset="-122"/>
                <a:cs typeface="Calibri" pitchFamily="34" charset="-120"/>
              </a:rPr>
              <a:t>JINDAL STAINLESS  |  STAINLESS SPARK  |  ROUND 2  |  PROBLEM STATEMENT 1</a:t>
            </a:r>
            <a:endParaRPr lang="en-US" sz="1100" dirty="0"/>
          </a:p>
        </p:txBody>
      </p:sp>
      <p:sp>
        <p:nvSpPr>
          <p:cNvPr id="6" name="Text 3"/>
          <p:cNvSpPr txBox="1"/>
          <p:nvPr/>
        </p:nvSpPr>
        <p:spPr>
          <a:xfrm>
            <a:off x="548640" y="868680"/>
            <a:ext cx="7040880" cy="132588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Catch every strip defect where it is born, not where it is shipped</a:t>
            </a:r>
            <a:endParaRPr lang="en-US" sz="3400" dirty="0"/>
          </a:p>
        </p:txBody>
      </p:sp>
      <p:sp>
        <p:nvSpPr>
          <p:cNvPr id="7" name="Text 4"/>
          <p:cNvSpPr txBox="1"/>
          <p:nvPr/>
        </p:nvSpPr>
        <p:spPr>
          <a:xfrm>
            <a:off x="548640" y="2286000"/>
            <a:ext cx="6858000" cy="640080"/>
          </a:xfrm>
          <a:prstGeom prst="rect">
            <a:avLst/>
          </a:prstGeom>
          <a:noFill/>
          <a:ln/>
        </p:spPr>
        <p:txBody>
          <a:bodyPr wrap="square" lIns="0" tIns="0" rIns="0" bIns="0" rtlCol="0" anchor="t"/>
          <a:lstStyle/>
          <a:p>
            <a:pPr indent="0" marL="0">
              <a:buNone/>
            </a:pPr>
            <a:r>
              <a:rPr lang="en-US" sz="1500" dirty="0">
                <a:solidFill>
                  <a:srgbClr val="BFD2E2"/>
                </a:solidFill>
                <a:latin typeface="Calibri" pitchFamily="34" charset="0"/>
                <a:ea typeface="Calibri" pitchFamily="34" charset="-122"/>
                <a:cs typeface="Calibri" pitchFamily="34" charset="-120"/>
              </a:rPr>
              <a:t>AI surface inspection that finds, grades and routes every stainless strip defect to the process that caused it.</a:t>
            </a:r>
            <a:endParaRPr lang="en-US" sz="1500" dirty="0"/>
          </a:p>
        </p:txBody>
      </p:sp>
      <p:sp>
        <p:nvSpPr>
          <p:cNvPr id="8" name="Shape 5"/>
          <p:cNvSpPr/>
          <p:nvPr/>
        </p:nvSpPr>
        <p:spPr>
          <a:xfrm>
            <a:off x="548640" y="3127248"/>
            <a:ext cx="45720" cy="932688"/>
          </a:xfrm>
          <a:prstGeom prst="rect">
            <a:avLst/>
          </a:prstGeom>
          <a:solidFill>
            <a:srgbClr val="0086C3"/>
          </a:solidFill>
          <a:ln w="12700">
            <a:solidFill>
              <a:srgbClr val="0086C3"/>
            </a:solidFill>
            <a:prstDash val="solid"/>
          </a:ln>
        </p:spPr>
      </p:sp>
      <p:sp>
        <p:nvSpPr>
          <p:cNvPr id="9" name="Text 6"/>
          <p:cNvSpPr txBox="1"/>
          <p:nvPr/>
        </p:nvSpPr>
        <p:spPr>
          <a:xfrm>
            <a:off x="676656"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90%</a:t>
            </a:r>
            <a:endParaRPr lang="en-US" sz="2400" dirty="0"/>
          </a:p>
        </p:txBody>
      </p:sp>
      <p:sp>
        <p:nvSpPr>
          <p:cNvPr id="10" name="Text 7"/>
          <p:cNvSpPr txBox="1"/>
          <p:nvPr/>
        </p:nvSpPr>
        <p:spPr>
          <a:xfrm>
            <a:off x="676656"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defects caught on real mill</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strip it had never seen</a:t>
            </a:r>
            <a:endParaRPr lang="en-US" sz="950" dirty="0"/>
          </a:p>
        </p:txBody>
      </p:sp>
      <p:sp>
        <p:nvSpPr>
          <p:cNvPr id="11" name="Shape 8"/>
          <p:cNvSpPr/>
          <p:nvPr/>
        </p:nvSpPr>
        <p:spPr>
          <a:xfrm>
            <a:off x="2304288" y="3127248"/>
            <a:ext cx="45720" cy="932688"/>
          </a:xfrm>
          <a:prstGeom prst="rect">
            <a:avLst/>
          </a:prstGeom>
          <a:solidFill>
            <a:srgbClr val="0086C3"/>
          </a:solidFill>
          <a:ln w="12700">
            <a:solidFill>
              <a:srgbClr val="0086C3"/>
            </a:solidFill>
            <a:prstDash val="solid"/>
          </a:ln>
        </p:spPr>
      </p:sp>
      <p:sp>
        <p:nvSpPr>
          <p:cNvPr id="12" name="Text 9"/>
          <p:cNvSpPr txBox="1"/>
          <p:nvPr/>
        </p:nvSpPr>
        <p:spPr>
          <a:xfrm>
            <a:off x="2432304" y="3090672"/>
            <a:ext cx="1600200" cy="420624"/>
          </a:xfrm>
          <a:prstGeom prst="rect">
            <a:avLst/>
          </a:prstGeom>
          <a:noFill/>
          <a:ln/>
        </p:spPr>
        <p:txBody>
          <a:bodyPr wrap="square" lIns="0" tIns="0" rIns="0" bIns="0" rtlCol="0" anchor="b"/>
          <a:lstStyle/>
          <a:p>
            <a:pPr indent="0" marL="0">
              <a:buNone/>
            </a:pPr>
            <a:r>
              <a:rPr lang="en-US" sz="2400" b="1" dirty="0">
                <a:solidFill>
                  <a:srgbClr val="FFFFFF"/>
                </a:solidFill>
                <a:latin typeface="Calibri" pitchFamily="34" charset="0"/>
                <a:ea typeface="Calibri" pitchFamily="34" charset="-122"/>
                <a:cs typeface="Calibri" pitchFamily="34" charset="-120"/>
              </a:rPr>
              <a:t>4.7%</a:t>
            </a:r>
            <a:endParaRPr lang="en-US" sz="2400" dirty="0"/>
          </a:p>
        </p:txBody>
      </p:sp>
      <p:sp>
        <p:nvSpPr>
          <p:cNvPr id="13" name="Text 10"/>
          <p:cNvSpPr txBox="1"/>
          <p:nvPr/>
        </p:nvSpPr>
        <p:spPr>
          <a:xfrm>
            <a:off x="2432304"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of clean strip wrongly flagged,</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fewer than 1 in 20</a:t>
            </a:r>
            <a:endParaRPr lang="en-US" sz="950" dirty="0"/>
          </a:p>
        </p:txBody>
      </p:sp>
      <p:sp>
        <p:nvSpPr>
          <p:cNvPr id="14" name="Shape 11"/>
          <p:cNvSpPr/>
          <p:nvPr/>
        </p:nvSpPr>
        <p:spPr>
          <a:xfrm>
            <a:off x="4059936" y="3127248"/>
            <a:ext cx="45720" cy="932688"/>
          </a:xfrm>
          <a:prstGeom prst="rect">
            <a:avLst/>
          </a:prstGeom>
          <a:solidFill>
            <a:srgbClr val="0086C3"/>
          </a:solidFill>
          <a:ln w="12700">
            <a:solidFill>
              <a:srgbClr val="0086C3"/>
            </a:solidFill>
            <a:prstDash val="solid"/>
          </a:ln>
        </p:spPr>
      </p:sp>
      <p:sp>
        <p:nvSpPr>
          <p:cNvPr id="15" name="Text 12"/>
          <p:cNvSpPr txBox="1"/>
          <p:nvPr/>
        </p:nvSpPr>
        <p:spPr>
          <a:xfrm>
            <a:off x="4187952" y="3090672"/>
            <a:ext cx="1600200" cy="420624"/>
          </a:xfrm>
          <a:prstGeom prst="rect">
            <a:avLst/>
          </a:prstGeom>
          <a:noFill/>
          <a:ln/>
        </p:spPr>
        <p:txBody>
          <a:bodyPr wrap="square" lIns="0" tIns="0" rIns="0" bIns="0" rtlCol="0" anchor="b"/>
          <a:lstStyle/>
          <a:p>
            <a:pPr indent="0" marL="0">
              <a:buNone/>
            </a:pPr>
            <a:r>
              <a:rPr lang="en-US" sz="2100" b="1" dirty="0">
                <a:solidFill>
                  <a:srgbClr val="FFFFFF"/>
                </a:solidFill>
                <a:latin typeface="Calibri" pitchFamily="34" charset="0"/>
                <a:ea typeface="Calibri" pitchFamily="34" charset="-122"/>
                <a:cs typeface="Calibri" pitchFamily="34" charset="-120"/>
              </a:rPr>
              <a:t>₹2.5-4.2 cr</a:t>
            </a:r>
            <a:endParaRPr lang="en-US" sz="2100" dirty="0"/>
          </a:p>
        </p:txBody>
      </p:sp>
      <p:sp>
        <p:nvSpPr>
          <p:cNvPr id="16" name="Text 13"/>
          <p:cNvSpPr txBox="1"/>
          <p:nvPr/>
        </p:nvSpPr>
        <p:spPr>
          <a:xfrm>
            <a:off x="4187952"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per line, vs ₹10-29 cr for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commercial system</a:t>
            </a:r>
            <a:endParaRPr lang="en-US" sz="950" dirty="0"/>
          </a:p>
        </p:txBody>
      </p:sp>
      <p:sp>
        <p:nvSpPr>
          <p:cNvPr id="17" name="Shape 14"/>
          <p:cNvSpPr/>
          <p:nvPr/>
        </p:nvSpPr>
        <p:spPr>
          <a:xfrm>
            <a:off x="5815584" y="3127248"/>
            <a:ext cx="45720" cy="932688"/>
          </a:xfrm>
          <a:prstGeom prst="rect">
            <a:avLst/>
          </a:prstGeom>
          <a:solidFill>
            <a:srgbClr val="0086C3"/>
          </a:solidFill>
          <a:ln w="12700">
            <a:solidFill>
              <a:srgbClr val="0086C3"/>
            </a:solidFill>
            <a:prstDash val="solid"/>
          </a:ln>
        </p:spPr>
      </p:sp>
      <p:sp>
        <p:nvSpPr>
          <p:cNvPr id="18" name="Text 15"/>
          <p:cNvSpPr txBox="1"/>
          <p:nvPr/>
        </p:nvSpPr>
        <p:spPr>
          <a:xfrm>
            <a:off x="5943600" y="3090672"/>
            <a:ext cx="1600200" cy="420624"/>
          </a:xfrm>
          <a:prstGeom prst="rect">
            <a:avLst/>
          </a:prstGeom>
          <a:noFill/>
          <a:ln/>
        </p:spPr>
        <p:txBody>
          <a:bodyPr wrap="square" lIns="0" tIns="0" rIns="0" bIns="0" rtlCol="0" anchor="b"/>
          <a:lstStyle/>
          <a:p>
            <a:pPr indent="0" marL="0">
              <a:buNone/>
            </a:pPr>
            <a:r>
              <a:rPr lang="en-US" sz="2200" b="1" dirty="0">
                <a:solidFill>
                  <a:srgbClr val="FFFFFF"/>
                </a:solidFill>
                <a:latin typeface="Calibri" pitchFamily="34" charset="0"/>
                <a:ea typeface="Calibri" pitchFamily="34" charset="-122"/>
                <a:cs typeface="Calibri" pitchFamily="34" charset="-120"/>
              </a:rPr>
              <a:t>~2.2 years</a:t>
            </a:r>
            <a:endParaRPr lang="en-US" sz="2200" dirty="0"/>
          </a:p>
        </p:txBody>
      </p:sp>
      <p:sp>
        <p:nvSpPr>
          <p:cNvPr id="19" name="Text 16"/>
          <p:cNvSpPr txBox="1"/>
          <p:nvPr/>
        </p:nvSpPr>
        <p:spPr>
          <a:xfrm>
            <a:off x="5943600" y="3547872"/>
            <a:ext cx="1627632" cy="548640"/>
          </a:xfrm>
          <a:prstGeom prst="rect">
            <a:avLst/>
          </a:prstGeom>
          <a:noFill/>
          <a:ln/>
        </p:spPr>
        <p:txBody>
          <a:bodyPr wrap="square" lIns="0" tIns="0" rIns="0" bIns="0" rtlCol="0" anchor="t"/>
          <a:lstStyle/>
          <a:p>
            <a:pPr indent="0" marL="0">
              <a:buNone/>
            </a:pPr>
            <a:r>
              <a:rPr lang="en-US" sz="950" dirty="0">
                <a:solidFill>
                  <a:srgbClr val="BFD2E2"/>
                </a:solidFill>
                <a:latin typeface="Calibri" pitchFamily="34" charset="0"/>
                <a:ea typeface="Calibri" pitchFamily="34" charset="-122"/>
                <a:cs typeface="Calibri" pitchFamily="34" charset="-120"/>
              </a:rPr>
              <a:t>payback on one line at a</a:t>
            </a:r>
            <a:endParaRPr lang="en-US" sz="950" dirty="0"/>
          </a:p>
          <a:p>
            <a:pPr indent="0" marL="0">
              <a:buNone/>
            </a:pPr>
            <a:r>
              <a:rPr lang="en-US" sz="950" dirty="0">
                <a:solidFill>
                  <a:srgbClr val="BFD2E2"/>
                </a:solidFill>
                <a:latin typeface="Calibri" pitchFamily="34" charset="0"/>
                <a:ea typeface="Calibri" pitchFamily="34" charset="-122"/>
                <a:cs typeface="Calibri" pitchFamily="34" charset="-120"/>
              </a:rPr>
              <a:t>1% downgrade rate</a:t>
            </a:r>
            <a:endParaRPr lang="en-US" sz="950" dirty="0"/>
          </a:p>
        </p:txBody>
      </p:sp>
      <p:sp>
        <p:nvSpPr>
          <p:cNvPr id="20" name="Text 17"/>
          <p:cNvSpPr txBox="1"/>
          <p:nvPr/>
        </p:nvSpPr>
        <p:spPr>
          <a:xfrm>
            <a:off x="548640" y="4370832"/>
            <a:ext cx="6949440" cy="228600"/>
          </a:xfrm>
          <a:prstGeom prst="rect">
            <a:avLst/>
          </a:prstGeom>
          <a:noFill/>
          <a:ln/>
        </p:spPr>
        <p:txBody>
          <a:bodyPr wrap="square" lIns="0" tIns="0" rIns="0" bIns="0" rtlCol="0" anchor="t"/>
          <a:lstStyle/>
          <a:p>
            <a:pPr indent="0" marL="0">
              <a:buNone/>
            </a:pPr>
            <a:r>
              <a:rPr lang="en-US" sz="950" b="1" spc="100" kern="0" dirty="0">
                <a:solidFill>
                  <a:srgbClr val="BFD2E2"/>
                </a:solidFill>
                <a:latin typeface="Calibri" pitchFamily="34" charset="0"/>
                <a:ea typeface="Calibri" pitchFamily="34" charset="-122"/>
                <a:cs typeface="Calibri" pitchFamily="34" charset="-120"/>
              </a:rPr>
              <a:t>REAL OUTPUT FROM OUR SYSTEM, ON STEEL IMAGES IT HAD NEVER SEEN</a:t>
            </a:r>
            <a:endParaRPr lang="en-US" sz="950" dirty="0"/>
          </a:p>
        </p:txBody>
      </p:sp>
      <p:pic>
        <p:nvPicPr>
          <p:cNvPr id="21" name="Image 1" descr="img/det_inclusion.png">    </p:cNvPr>
          <p:cNvPicPr>
            <a:picLocks noChangeAspect="1"/>
          </p:cNvPicPr>
          <p:nvPr/>
        </p:nvPicPr>
        <p:blipFill>
          <a:blip r:embed="rId2"/>
          <a:stretch>
            <a:fillRect/>
          </a:stretch>
        </p:blipFill>
        <p:spPr>
          <a:xfrm>
            <a:off x="548640" y="4645152"/>
            <a:ext cx="1069848" cy="1069848"/>
          </a:xfrm>
          <a:prstGeom prst="rect">
            <a:avLst/>
          </a:prstGeom>
        </p:spPr>
      </p:pic>
      <p:pic>
        <p:nvPicPr>
          <p:cNvPr id="22" name="Image 2" descr="img/det_crazing.png">    </p:cNvPr>
          <p:cNvPicPr>
            <a:picLocks noChangeAspect="1"/>
          </p:cNvPicPr>
          <p:nvPr/>
        </p:nvPicPr>
        <p:blipFill>
          <a:blip r:embed="rId3"/>
          <a:stretch>
            <a:fillRect/>
          </a:stretch>
        </p:blipFill>
        <p:spPr>
          <a:xfrm>
            <a:off x="1709928" y="4645152"/>
            <a:ext cx="1069848" cy="1069848"/>
          </a:xfrm>
          <a:prstGeom prst="rect">
            <a:avLst/>
          </a:prstGeom>
        </p:spPr>
      </p:pic>
      <p:pic>
        <p:nvPicPr>
          <p:cNvPr id="23" name="Image 3" descr="img/det_rolled-in_scale.png">    </p:cNvPr>
          <p:cNvPicPr>
            <a:picLocks noChangeAspect="1"/>
          </p:cNvPicPr>
          <p:nvPr/>
        </p:nvPicPr>
        <p:blipFill>
          <a:blip r:embed="rId4"/>
          <a:stretch>
            <a:fillRect/>
          </a:stretch>
        </p:blipFill>
        <p:spPr>
          <a:xfrm>
            <a:off x="2871216" y="4645152"/>
            <a:ext cx="1069848" cy="1069848"/>
          </a:xfrm>
          <a:prstGeom prst="rect">
            <a:avLst/>
          </a:prstGeom>
        </p:spPr>
      </p:pic>
      <p:pic>
        <p:nvPicPr>
          <p:cNvPr id="24" name="Image 4" descr="img/det_pitted_surface.png">    </p:cNvPr>
          <p:cNvPicPr>
            <a:picLocks noChangeAspect="1"/>
          </p:cNvPicPr>
          <p:nvPr/>
        </p:nvPicPr>
        <p:blipFill>
          <a:blip r:embed="rId5"/>
          <a:stretch>
            <a:fillRect/>
          </a:stretch>
        </p:blipFill>
        <p:spPr>
          <a:xfrm>
            <a:off x="4032504" y="4645152"/>
            <a:ext cx="1069848" cy="1069848"/>
          </a:xfrm>
          <a:prstGeom prst="rect">
            <a:avLst/>
          </a:prstGeom>
        </p:spPr>
      </p:pic>
      <p:pic>
        <p:nvPicPr>
          <p:cNvPr id="25" name="Image 5" descr="img/det_patches.png">    </p:cNvPr>
          <p:cNvPicPr>
            <a:picLocks noChangeAspect="1"/>
          </p:cNvPicPr>
          <p:nvPr/>
        </p:nvPicPr>
        <p:blipFill>
          <a:blip r:embed="rId6"/>
          <a:stretch>
            <a:fillRect/>
          </a:stretch>
        </p:blipFill>
        <p:spPr>
          <a:xfrm>
            <a:off x="5193792" y="4645152"/>
            <a:ext cx="1069848" cy="1069848"/>
          </a:xfrm>
          <a:prstGeom prst="rect">
            <a:avLst/>
          </a:prstGeom>
        </p:spPr>
      </p:pic>
      <p:pic>
        <p:nvPicPr>
          <p:cNvPr id="26" name="Image 6" descr="img/det_scratches.png">    </p:cNvPr>
          <p:cNvPicPr>
            <a:picLocks noChangeAspect="1"/>
          </p:cNvPicPr>
          <p:nvPr/>
        </p:nvPicPr>
        <p:blipFill>
          <a:blip r:embed="rId7"/>
          <a:stretch>
            <a:fillRect/>
          </a:stretch>
        </p:blipFill>
        <p:spPr>
          <a:xfrm>
            <a:off x="6355080" y="4645152"/>
            <a:ext cx="1069848" cy="1069848"/>
          </a:xfrm>
          <a:prstGeom prst="rect">
            <a:avLst/>
          </a:prstGeom>
        </p:spPr>
      </p:pic>
      <p:sp>
        <p:nvSpPr>
          <p:cNvPr id="27" name="Text 18"/>
          <p:cNvSpPr txBox="1"/>
          <p:nvPr/>
        </p:nvSpPr>
        <p:spPr>
          <a:xfrm>
            <a:off x="548640" y="5989320"/>
            <a:ext cx="713232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TEAM  Futuristic   |   Krishna Kanta Mondal  ·  Prathmesh Walimbe   |   IIT Bombay</a:t>
            </a:r>
            <a:endParaRPr lang="en-US" sz="1200" dirty="0"/>
          </a:p>
        </p:txBody>
      </p:sp>
      <p:sp>
        <p:nvSpPr>
          <p:cNvPr id="28" name="Shape 19"/>
          <p:cNvSpPr/>
          <p:nvPr/>
        </p:nvSpPr>
        <p:spPr>
          <a:xfrm>
            <a:off x="8732520" y="3840480"/>
            <a:ext cx="2606040" cy="2331720"/>
          </a:xfrm>
          <a:prstGeom prst="roundRect">
            <a:avLst>
              <a:gd name="adj" fmla="val 2353"/>
            </a:avLst>
          </a:prstGeom>
          <a:solidFill>
            <a:srgbClr val="FFFFFF"/>
          </a:solidFill>
          <a:ln w="12700">
            <a:solidFill>
              <a:srgbClr val="FFFFFF"/>
            </a:solidFill>
            <a:prstDash val="solid"/>
          </a:ln>
        </p:spPr>
      </p:sp>
      <p:pic>
        <p:nvPicPr>
          <p:cNvPr id="29" name="Image 7" descr="qr.png">    </p:cNvPr>
          <p:cNvPicPr>
            <a:picLocks noChangeAspect="1"/>
          </p:cNvPicPr>
          <p:nvPr/>
        </p:nvPicPr>
        <p:blipFill>
          <a:blip r:embed="rId8"/>
          <a:stretch>
            <a:fillRect/>
          </a:stretch>
        </p:blipFill>
        <p:spPr>
          <a:xfrm>
            <a:off x="9418320" y="3931920"/>
            <a:ext cx="1234440" cy="1234440"/>
          </a:xfrm>
          <a:prstGeom prst="rect">
            <a:avLst/>
          </a:prstGeom>
        </p:spPr>
      </p:pic>
      <p:sp>
        <p:nvSpPr>
          <p:cNvPr id="30" name="Text 20"/>
          <p:cNvSpPr txBox="1"/>
          <p:nvPr/>
        </p:nvSpPr>
        <p:spPr>
          <a:xfrm>
            <a:off x="8778240" y="5193792"/>
            <a:ext cx="2514600" cy="228600"/>
          </a:xfrm>
          <a:prstGeom prst="rect">
            <a:avLst/>
          </a:prstGeom>
          <a:noFill/>
          <a:ln/>
        </p:spPr>
        <p:txBody>
          <a:bodyPr wrap="square" lIns="0" tIns="0" rIns="0" bIns="0" rtlCol="0" anchor="t"/>
          <a:lstStyle/>
          <a:p>
            <a:pPr algn="ctr" indent="0" marL="0">
              <a:buNone/>
            </a:pPr>
            <a:r>
              <a:rPr lang="en-US" sz="1000" b="1" dirty="0">
                <a:solidFill>
                  <a:srgbClr val="0086C3"/>
                </a:solidFill>
                <a:latin typeface="Calibri" pitchFamily="34" charset="0"/>
                <a:ea typeface="Calibri" pitchFamily="34" charset="-122"/>
                <a:cs typeface="Calibri" pitchFamily="34" charset="-120"/>
              </a:rPr>
              <a:t>TRY THE LIVE DEMO</a:t>
            </a:r>
            <a:endParaRPr lang="en-US" sz="1000" dirty="0"/>
          </a:p>
        </p:txBody>
      </p:sp>
      <p:sp>
        <p:nvSpPr>
          <p:cNvPr id="31" name="Text 21"/>
          <p:cNvSpPr txBox="1"/>
          <p:nvPr/>
        </p:nvSpPr>
        <p:spPr>
          <a:xfrm>
            <a:off x="8778240" y="5422392"/>
            <a:ext cx="2514600" cy="274320"/>
          </a:xfrm>
          <a:prstGeom prst="rect">
            <a:avLst/>
          </a:prstGeom>
          <a:noFill/>
          <a:ln/>
        </p:spPr>
        <p:txBody>
          <a:bodyPr wrap="square" lIns="0" tIns="0" rIns="0" bIns="0" rtlCol="0" anchor="t"/>
          <a:lstStyle/>
          <a:p>
            <a:pPr algn="ctr" indent="0" marL="0">
              <a:buNone/>
            </a:pPr>
            <a:r>
              <a:rPr lang="en-US" sz="1300" b="1" dirty="0">
                <a:solidFill>
                  <a:srgbClr val="143A5A"/>
                </a:solidFill>
                <a:latin typeface="Calibri" pitchFamily="34" charset="0"/>
                <a:ea typeface="Calibri" pitchFamily="34" charset="-122"/>
                <a:cs typeface="Calibri" pitchFamily="34" charset="-120"/>
              </a:rPr>
              <a:t>surface-vision.github.io</a:t>
            </a:r>
            <a:endParaRPr lang="en-US" sz="1300" dirty="0"/>
          </a:p>
        </p:txBody>
      </p:sp>
      <p:sp>
        <p:nvSpPr>
          <p:cNvPr id="32" name="Text 22"/>
          <p:cNvSpPr txBox="1"/>
          <p:nvPr/>
        </p:nvSpPr>
        <p:spPr>
          <a:xfrm>
            <a:off x="8823960" y="5705856"/>
            <a:ext cx="2423160" cy="365760"/>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Runs in your browser. Nothing leaves the page.</a:t>
            </a:r>
            <a:endParaRPr lang="en-US" sz="900" dirty="0"/>
          </a:p>
        </p:txBody>
      </p:sp>
      <p:sp>
        <p:nvSpPr>
          <p:cNvPr id="33" name="Text 23"/>
          <p:cNvSpPr txBox="1"/>
          <p:nvPr/>
        </p:nvSpPr>
        <p:spPr>
          <a:xfrm>
            <a:off x="8001000" y="6510528"/>
            <a:ext cx="4023360" cy="228600"/>
          </a:xfrm>
          <a:prstGeom prst="rect">
            <a:avLst/>
          </a:prstGeom>
          <a:noFill/>
          <a:ln/>
        </p:spPr>
        <p:txBody>
          <a:bodyPr wrap="square" lIns="0" tIns="0" rIns="0" bIns="0" rtlCol="0" anchor="t"/>
          <a:lstStyle/>
          <a:p>
            <a:pPr algn="r" indent="0" marL="0">
              <a:buNone/>
            </a:pPr>
            <a:r>
              <a:rPr lang="en-US" sz="900" dirty="0">
                <a:solidFill>
                  <a:srgbClr val="BFD2E2"/>
                </a:solidFill>
                <a:latin typeface="Calibri" pitchFamily="34" charset="0"/>
                <a:ea typeface="Calibri" pitchFamily="34" charset="-122"/>
                <a:cs typeface="Calibri" pitchFamily="34" charset="-120"/>
              </a:rPr>
              <a:t>Photo: Methem, Wikimedia Commons (public domain)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143A5A"/>
          </a:solidFill>
          <a:ln w="12700">
            <a:solidFill>
              <a:srgbClr val="143A5A"/>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 defect born at the caster is paid for at every later stage, but today it is found only at the end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problem is not that defects exist. They are found late, by sampling, and nobody is told which process caused them.</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Sources: AMETEK/Ternium (2020); ASSDA; IISE; ASTM A240; LME nickel USD 16,402/t at INR 95.8/USD (22 Sep 2026); ISSDA (FY25); DGTR (29 Sep 2025); BIS Steel QCO 2024; JSL.</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Where stainless surface defects are born, and where they are seen today</a:t>
            </a:r>
            <a:endParaRPr lang="en-US" sz="1100" dirty="0"/>
          </a:p>
        </p:txBody>
      </p:sp>
      <p:sp>
        <p:nvSpPr>
          <p:cNvPr id="19" name="Shape 17"/>
          <p:cNvSpPr/>
          <p:nvPr/>
        </p:nvSpPr>
        <p:spPr>
          <a:xfrm flipH="1">
            <a:off x="548640" y="1591056"/>
            <a:ext cx="11091672" cy="310896"/>
          </a:xfrm>
          <a:prstGeom prst="rtTriangle">
            <a:avLst/>
          </a:prstGeom>
          <a:solidFill>
            <a:srgbClr val="DCEAF5"/>
          </a:solidFill>
          <a:ln w="12700">
            <a:solidFill>
              <a:srgbClr val="DCEAF5"/>
            </a:solidFill>
            <a:prstDash val="solid"/>
          </a:ln>
        </p:spPr>
      </p:sp>
      <p:sp>
        <p:nvSpPr>
          <p:cNvPr id="20" name="Text 18"/>
          <p:cNvSpPr txBox="1"/>
          <p:nvPr/>
        </p:nvSpPr>
        <p:spPr>
          <a:xfrm>
            <a:off x="8778240" y="1618488"/>
            <a:ext cx="2788920" cy="274320"/>
          </a:xfrm>
          <a:prstGeom prst="rect">
            <a:avLst/>
          </a:prstGeom>
          <a:noFill/>
          <a:ln/>
        </p:spPr>
        <p:txBody>
          <a:bodyPr wrap="square" lIns="0" tIns="0" rIns="0" bIns="0" rtlCol="0" anchor="ctr"/>
          <a:lstStyle/>
          <a:p>
            <a:pPr algn="r" indent="0" marL="0">
              <a:buNone/>
            </a:pPr>
            <a:r>
              <a:rPr lang="en-US" sz="900" b="1" dirty="0">
                <a:solidFill>
                  <a:srgbClr val="143A5A"/>
                </a:solidFill>
                <a:latin typeface="Calibri" pitchFamily="34" charset="0"/>
                <a:ea typeface="Calibri" pitchFamily="34" charset="-122"/>
                <a:cs typeface="Calibri" pitchFamily="34" charset="-120"/>
              </a:rPr>
              <a:t>VALUE ADDED KEEPS RISING  →</a:t>
            </a:r>
            <a:endParaRPr lang="en-US" sz="900" dirty="0"/>
          </a:p>
        </p:txBody>
      </p:sp>
      <p:sp>
        <p:nvSpPr>
          <p:cNvPr id="21" name="Shape 19"/>
          <p:cNvSpPr/>
          <p:nvPr/>
        </p:nvSpPr>
        <p:spPr>
          <a:xfrm>
            <a:off x="1714500" y="2304288"/>
            <a:ext cx="1166774" cy="0"/>
          </a:xfrm>
          <a:prstGeom prst="line">
            <a:avLst/>
          </a:prstGeom>
          <a:noFill/>
          <a:ln w="19050">
            <a:solidFill>
              <a:srgbClr val="5E9CCB"/>
            </a:solidFill>
            <a:prstDash val="dash"/>
            <a:tailEnd type="triangle"/>
          </a:ln>
        </p:spPr>
      </p:sp>
      <p:sp>
        <p:nvSpPr>
          <p:cNvPr id="22" name="Shape 20"/>
          <p:cNvSpPr/>
          <p:nvPr/>
        </p:nvSpPr>
        <p:spPr>
          <a:xfrm>
            <a:off x="1046988" y="2002536"/>
            <a:ext cx="603504" cy="603504"/>
          </a:xfrm>
          <a:prstGeom prst="ellipse">
            <a:avLst/>
          </a:prstGeom>
          <a:solidFill>
            <a:srgbClr val="143A5A"/>
          </a:solidFill>
          <a:ln w="12700">
            <a:solidFill>
              <a:srgbClr val="143A5A"/>
            </a:solidFill>
            <a:prstDash val="solid"/>
          </a:ln>
        </p:spPr>
      </p:sp>
      <p:pic>
        <p:nvPicPr>
          <p:cNvPr id="23" name="Image 0" descr="img/icons/flame-white.png">    </p:cNvPr>
          <p:cNvPicPr>
            <a:picLocks noChangeAspect="1"/>
          </p:cNvPicPr>
          <p:nvPr/>
        </p:nvPicPr>
        <p:blipFill>
          <a:blip r:embed="rId1"/>
          <a:stretch>
            <a:fillRect/>
          </a:stretch>
        </p:blipFill>
        <p:spPr>
          <a:xfrm>
            <a:off x="1179759" y="2135307"/>
            <a:ext cx="337962" cy="337962"/>
          </a:xfrm>
          <a:prstGeom prst="rect">
            <a:avLst/>
          </a:prstGeom>
        </p:spPr>
      </p:pic>
      <p:sp>
        <p:nvSpPr>
          <p:cNvPr id="24" name="Text 21"/>
          <p:cNvSpPr txBox="1"/>
          <p:nvPr/>
        </p:nvSpPr>
        <p:spPr>
          <a:xfrm>
            <a:off x="457200"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Melt &amp; cast</a:t>
            </a:r>
            <a:endParaRPr lang="en-US" sz="1100" dirty="0"/>
          </a:p>
        </p:txBody>
      </p:sp>
      <p:sp>
        <p:nvSpPr>
          <p:cNvPr id="25" name="Text 22"/>
          <p:cNvSpPr txBox="1"/>
          <p:nvPr/>
        </p:nvSpPr>
        <p:spPr>
          <a:xfrm>
            <a:off x="457200"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SMS</a:t>
            </a:r>
            <a:endParaRPr lang="en-US" sz="900" dirty="0"/>
          </a:p>
        </p:txBody>
      </p:sp>
      <p:sp>
        <p:nvSpPr>
          <p:cNvPr id="26" name="Text 23"/>
          <p:cNvSpPr txBox="1"/>
          <p:nvPr/>
        </p:nvSpPr>
        <p:spPr>
          <a:xfrm>
            <a:off x="457200"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Inclusions, slivers</a:t>
            </a:r>
            <a:endParaRPr lang="en-US" sz="950" dirty="0"/>
          </a:p>
        </p:txBody>
      </p:sp>
      <p:sp>
        <p:nvSpPr>
          <p:cNvPr id="27" name="Shape 24"/>
          <p:cNvSpPr/>
          <p:nvPr/>
        </p:nvSpPr>
        <p:spPr>
          <a:xfrm>
            <a:off x="891540" y="3502152"/>
            <a:ext cx="914400" cy="201168"/>
          </a:xfrm>
          <a:prstGeom prst="roundRect">
            <a:avLst>
              <a:gd name="adj" fmla="val 27273"/>
            </a:avLst>
          </a:prstGeom>
          <a:solidFill>
            <a:srgbClr val="C62828"/>
          </a:solidFill>
          <a:ln w="12700">
            <a:solidFill>
              <a:srgbClr val="C62828"/>
            </a:solidFill>
            <a:prstDash val="solid"/>
          </a:ln>
        </p:spPr>
      </p:sp>
      <p:sp>
        <p:nvSpPr>
          <p:cNvPr id="28" name="Text 25"/>
          <p:cNvSpPr txBox="1"/>
          <p:nvPr/>
        </p:nvSpPr>
        <p:spPr>
          <a:xfrm>
            <a:off x="891540"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29" name="Shape 26"/>
          <p:cNvSpPr/>
          <p:nvPr/>
        </p:nvSpPr>
        <p:spPr>
          <a:xfrm>
            <a:off x="3612794" y="2304288"/>
            <a:ext cx="1166774" cy="0"/>
          </a:xfrm>
          <a:prstGeom prst="line">
            <a:avLst/>
          </a:prstGeom>
          <a:noFill/>
          <a:ln w="19050">
            <a:solidFill>
              <a:srgbClr val="5E9CCB"/>
            </a:solidFill>
            <a:prstDash val="dash"/>
            <a:tailEnd type="triangle"/>
          </a:ln>
        </p:spPr>
      </p:sp>
      <p:sp>
        <p:nvSpPr>
          <p:cNvPr id="30" name="Shape 27"/>
          <p:cNvSpPr/>
          <p:nvPr/>
        </p:nvSpPr>
        <p:spPr>
          <a:xfrm>
            <a:off x="2945282" y="2002536"/>
            <a:ext cx="603504" cy="603504"/>
          </a:xfrm>
          <a:prstGeom prst="ellipse">
            <a:avLst/>
          </a:prstGeom>
          <a:solidFill>
            <a:srgbClr val="143A5A"/>
          </a:solidFill>
          <a:ln w="12700">
            <a:solidFill>
              <a:srgbClr val="143A5A"/>
            </a:solidFill>
            <a:prstDash val="solid"/>
          </a:ln>
        </p:spPr>
      </p:sp>
      <p:pic>
        <p:nvPicPr>
          <p:cNvPr id="31" name="Image 1" descr="img/icons/factory-white.png">    </p:cNvPr>
          <p:cNvPicPr>
            <a:picLocks noChangeAspect="1"/>
          </p:cNvPicPr>
          <p:nvPr/>
        </p:nvPicPr>
        <p:blipFill>
          <a:blip r:embed="rId2"/>
          <a:stretch>
            <a:fillRect/>
          </a:stretch>
        </p:blipFill>
        <p:spPr>
          <a:xfrm>
            <a:off x="3078053" y="2135307"/>
            <a:ext cx="337962" cy="337962"/>
          </a:xfrm>
          <a:prstGeom prst="rect">
            <a:avLst/>
          </a:prstGeom>
        </p:spPr>
      </p:pic>
      <p:sp>
        <p:nvSpPr>
          <p:cNvPr id="32" name="Text 28"/>
          <p:cNvSpPr txBox="1"/>
          <p:nvPr/>
        </p:nvSpPr>
        <p:spPr>
          <a:xfrm>
            <a:off x="2355494"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Hot rolling</a:t>
            </a:r>
            <a:endParaRPr lang="en-US" sz="1100" dirty="0"/>
          </a:p>
        </p:txBody>
      </p:sp>
      <p:sp>
        <p:nvSpPr>
          <p:cNvPr id="33" name="Text 29"/>
          <p:cNvSpPr txBox="1"/>
          <p:nvPr/>
        </p:nvSpPr>
        <p:spPr>
          <a:xfrm>
            <a:off x="2355494"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HSM</a:t>
            </a:r>
            <a:endParaRPr lang="en-US" sz="900" dirty="0"/>
          </a:p>
        </p:txBody>
      </p:sp>
      <p:sp>
        <p:nvSpPr>
          <p:cNvPr id="34" name="Text 30"/>
          <p:cNvSpPr txBox="1"/>
          <p:nvPr/>
        </p:nvSpPr>
        <p:spPr>
          <a:xfrm>
            <a:off x="2355494"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Scale, pits, edge cracks</a:t>
            </a:r>
            <a:endParaRPr lang="en-US" sz="950" dirty="0"/>
          </a:p>
        </p:txBody>
      </p:sp>
      <p:sp>
        <p:nvSpPr>
          <p:cNvPr id="35" name="Shape 31"/>
          <p:cNvSpPr/>
          <p:nvPr/>
        </p:nvSpPr>
        <p:spPr>
          <a:xfrm>
            <a:off x="2789834" y="3502152"/>
            <a:ext cx="914400" cy="201168"/>
          </a:xfrm>
          <a:prstGeom prst="roundRect">
            <a:avLst>
              <a:gd name="adj" fmla="val 27273"/>
            </a:avLst>
          </a:prstGeom>
          <a:solidFill>
            <a:srgbClr val="C62828"/>
          </a:solidFill>
          <a:ln w="12700">
            <a:solidFill>
              <a:srgbClr val="C62828"/>
            </a:solidFill>
            <a:prstDash val="solid"/>
          </a:ln>
        </p:spPr>
      </p:sp>
      <p:sp>
        <p:nvSpPr>
          <p:cNvPr id="36" name="Text 32"/>
          <p:cNvSpPr txBox="1"/>
          <p:nvPr/>
        </p:nvSpPr>
        <p:spPr>
          <a:xfrm>
            <a:off x="2789834"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NOT SEEN</a:t>
            </a:r>
            <a:endParaRPr lang="en-US" sz="900" dirty="0"/>
          </a:p>
        </p:txBody>
      </p:sp>
      <p:sp>
        <p:nvSpPr>
          <p:cNvPr id="37" name="Shape 33"/>
          <p:cNvSpPr/>
          <p:nvPr/>
        </p:nvSpPr>
        <p:spPr>
          <a:xfrm>
            <a:off x="5511089" y="2304288"/>
            <a:ext cx="1166774" cy="0"/>
          </a:xfrm>
          <a:prstGeom prst="line">
            <a:avLst/>
          </a:prstGeom>
          <a:noFill/>
          <a:ln w="19050">
            <a:solidFill>
              <a:srgbClr val="5E9CCB"/>
            </a:solidFill>
            <a:prstDash val="dash"/>
            <a:tailEnd type="triangle"/>
          </a:ln>
        </p:spPr>
      </p:sp>
      <p:sp>
        <p:nvSpPr>
          <p:cNvPr id="38" name="Shape 34"/>
          <p:cNvSpPr/>
          <p:nvPr/>
        </p:nvSpPr>
        <p:spPr>
          <a:xfrm>
            <a:off x="4843577" y="2002536"/>
            <a:ext cx="603504" cy="603504"/>
          </a:xfrm>
          <a:prstGeom prst="ellipse">
            <a:avLst/>
          </a:prstGeom>
          <a:solidFill>
            <a:srgbClr val="143A5A"/>
          </a:solidFill>
          <a:ln w="12700">
            <a:solidFill>
              <a:srgbClr val="143A5A"/>
            </a:solidFill>
            <a:prstDash val="solid"/>
          </a:ln>
        </p:spPr>
      </p:sp>
      <p:pic>
        <p:nvPicPr>
          <p:cNvPr id="39" name="Image 2" descr="img/icons/droplets-white.png">    </p:cNvPr>
          <p:cNvPicPr>
            <a:picLocks noChangeAspect="1"/>
          </p:cNvPicPr>
          <p:nvPr/>
        </p:nvPicPr>
        <p:blipFill>
          <a:blip r:embed="rId3"/>
          <a:stretch>
            <a:fillRect/>
          </a:stretch>
        </p:blipFill>
        <p:spPr>
          <a:xfrm>
            <a:off x="4976348" y="2135307"/>
            <a:ext cx="337962" cy="337962"/>
          </a:xfrm>
          <a:prstGeom prst="rect">
            <a:avLst/>
          </a:prstGeom>
        </p:spPr>
      </p:pic>
      <p:sp>
        <p:nvSpPr>
          <p:cNvPr id="40" name="Text 35"/>
          <p:cNvSpPr txBox="1"/>
          <p:nvPr/>
        </p:nvSpPr>
        <p:spPr>
          <a:xfrm>
            <a:off x="4253789"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Anneal &amp; pickle</a:t>
            </a:r>
            <a:endParaRPr lang="en-US" sz="1100" dirty="0"/>
          </a:p>
        </p:txBody>
      </p:sp>
      <p:sp>
        <p:nvSpPr>
          <p:cNvPr id="41" name="Text 36"/>
          <p:cNvSpPr txBox="1"/>
          <p:nvPr/>
        </p:nvSpPr>
        <p:spPr>
          <a:xfrm>
            <a:off x="4253789"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HRAP</a:t>
            </a:r>
            <a:endParaRPr lang="en-US" sz="900" dirty="0"/>
          </a:p>
        </p:txBody>
      </p:sp>
      <p:sp>
        <p:nvSpPr>
          <p:cNvPr id="42" name="Text 37"/>
          <p:cNvSpPr txBox="1"/>
          <p:nvPr/>
        </p:nvSpPr>
        <p:spPr>
          <a:xfrm>
            <a:off x="4253789"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Pickling patches</a:t>
            </a:r>
            <a:endParaRPr lang="en-US" sz="950" dirty="0"/>
          </a:p>
        </p:txBody>
      </p:sp>
      <p:sp>
        <p:nvSpPr>
          <p:cNvPr id="43" name="Shape 38"/>
          <p:cNvSpPr/>
          <p:nvPr/>
        </p:nvSpPr>
        <p:spPr>
          <a:xfrm>
            <a:off x="4688129" y="3502152"/>
            <a:ext cx="914400" cy="201168"/>
          </a:xfrm>
          <a:prstGeom prst="roundRect">
            <a:avLst>
              <a:gd name="adj" fmla="val 27273"/>
            </a:avLst>
          </a:prstGeom>
          <a:solidFill>
            <a:srgbClr val="B77900"/>
          </a:solidFill>
          <a:ln w="12700">
            <a:solidFill>
              <a:srgbClr val="B77900"/>
            </a:solidFill>
            <a:prstDash val="solid"/>
          </a:ln>
        </p:spPr>
      </p:sp>
      <p:sp>
        <p:nvSpPr>
          <p:cNvPr id="44" name="Text 39"/>
          <p:cNvSpPr txBox="1"/>
          <p:nvPr/>
        </p:nvSpPr>
        <p:spPr>
          <a:xfrm>
            <a:off x="4688129"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45" name="Shape 40"/>
          <p:cNvSpPr/>
          <p:nvPr/>
        </p:nvSpPr>
        <p:spPr>
          <a:xfrm>
            <a:off x="7409383" y="2304288"/>
            <a:ext cx="1166774" cy="0"/>
          </a:xfrm>
          <a:prstGeom prst="line">
            <a:avLst/>
          </a:prstGeom>
          <a:noFill/>
          <a:ln w="19050">
            <a:solidFill>
              <a:srgbClr val="5E9CCB"/>
            </a:solidFill>
            <a:prstDash val="dash"/>
            <a:tailEnd type="triangle"/>
          </a:ln>
        </p:spPr>
      </p:sp>
      <p:sp>
        <p:nvSpPr>
          <p:cNvPr id="46" name="Shape 41"/>
          <p:cNvSpPr/>
          <p:nvPr/>
        </p:nvSpPr>
        <p:spPr>
          <a:xfrm>
            <a:off x="6741871" y="2002536"/>
            <a:ext cx="603504" cy="603504"/>
          </a:xfrm>
          <a:prstGeom prst="ellipse">
            <a:avLst/>
          </a:prstGeom>
          <a:solidFill>
            <a:srgbClr val="143A5A"/>
          </a:solidFill>
          <a:ln w="12700">
            <a:solidFill>
              <a:srgbClr val="143A5A"/>
            </a:solidFill>
            <a:prstDash val="solid"/>
          </a:ln>
        </p:spPr>
      </p:sp>
      <p:pic>
        <p:nvPicPr>
          <p:cNvPr id="47" name="Image 3" descr="img/icons/layers-white.png">    </p:cNvPr>
          <p:cNvPicPr>
            <a:picLocks noChangeAspect="1"/>
          </p:cNvPicPr>
          <p:nvPr/>
        </p:nvPicPr>
        <p:blipFill>
          <a:blip r:embed="rId4"/>
          <a:stretch>
            <a:fillRect/>
          </a:stretch>
        </p:blipFill>
        <p:spPr>
          <a:xfrm>
            <a:off x="6874642" y="2135307"/>
            <a:ext cx="337962" cy="337962"/>
          </a:xfrm>
          <a:prstGeom prst="rect">
            <a:avLst/>
          </a:prstGeom>
        </p:spPr>
      </p:pic>
      <p:sp>
        <p:nvSpPr>
          <p:cNvPr id="48" name="Text 42"/>
          <p:cNvSpPr txBox="1"/>
          <p:nvPr/>
        </p:nvSpPr>
        <p:spPr>
          <a:xfrm>
            <a:off x="6152083"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Cold rolling</a:t>
            </a:r>
            <a:endParaRPr lang="en-US" sz="1100" dirty="0"/>
          </a:p>
        </p:txBody>
      </p:sp>
      <p:sp>
        <p:nvSpPr>
          <p:cNvPr id="49" name="Text 43"/>
          <p:cNvSpPr txBox="1"/>
          <p:nvPr/>
        </p:nvSpPr>
        <p:spPr>
          <a:xfrm>
            <a:off x="6152083"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CRM</a:t>
            </a:r>
            <a:endParaRPr lang="en-US" sz="900" dirty="0"/>
          </a:p>
        </p:txBody>
      </p:sp>
      <p:sp>
        <p:nvSpPr>
          <p:cNvPr id="50" name="Text 44"/>
          <p:cNvSpPr txBox="1"/>
          <p:nvPr/>
        </p:nvSpPr>
        <p:spPr>
          <a:xfrm>
            <a:off x="6152083"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Scratches, roll marks</a:t>
            </a:r>
            <a:endParaRPr lang="en-US" sz="950" dirty="0"/>
          </a:p>
        </p:txBody>
      </p:sp>
      <p:sp>
        <p:nvSpPr>
          <p:cNvPr id="51" name="Shape 45"/>
          <p:cNvSpPr/>
          <p:nvPr/>
        </p:nvSpPr>
        <p:spPr>
          <a:xfrm>
            <a:off x="6586423" y="3502152"/>
            <a:ext cx="914400" cy="201168"/>
          </a:xfrm>
          <a:prstGeom prst="roundRect">
            <a:avLst>
              <a:gd name="adj" fmla="val 27273"/>
            </a:avLst>
          </a:prstGeom>
          <a:solidFill>
            <a:srgbClr val="B77900"/>
          </a:solidFill>
          <a:ln w="12700">
            <a:solidFill>
              <a:srgbClr val="B77900"/>
            </a:solidFill>
            <a:prstDash val="solid"/>
          </a:ln>
        </p:spPr>
      </p:sp>
      <p:sp>
        <p:nvSpPr>
          <p:cNvPr id="52" name="Text 46"/>
          <p:cNvSpPr txBox="1"/>
          <p:nvPr/>
        </p:nvSpPr>
        <p:spPr>
          <a:xfrm>
            <a:off x="6586423"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SPOT CHECK</a:t>
            </a:r>
            <a:endParaRPr lang="en-US" sz="900" dirty="0"/>
          </a:p>
        </p:txBody>
      </p:sp>
      <p:sp>
        <p:nvSpPr>
          <p:cNvPr id="53" name="Shape 47"/>
          <p:cNvSpPr/>
          <p:nvPr/>
        </p:nvSpPr>
        <p:spPr>
          <a:xfrm>
            <a:off x="9307678" y="2304288"/>
            <a:ext cx="1166774" cy="0"/>
          </a:xfrm>
          <a:prstGeom prst="line">
            <a:avLst/>
          </a:prstGeom>
          <a:noFill/>
          <a:ln w="19050">
            <a:solidFill>
              <a:srgbClr val="5E9CCB"/>
            </a:solidFill>
            <a:prstDash val="dash"/>
            <a:tailEnd type="triangle"/>
          </a:ln>
        </p:spPr>
      </p:sp>
      <p:sp>
        <p:nvSpPr>
          <p:cNvPr id="54" name="Shape 48"/>
          <p:cNvSpPr/>
          <p:nvPr/>
        </p:nvSpPr>
        <p:spPr>
          <a:xfrm>
            <a:off x="8640166" y="2002536"/>
            <a:ext cx="603504" cy="603504"/>
          </a:xfrm>
          <a:prstGeom prst="ellipse">
            <a:avLst/>
          </a:prstGeom>
          <a:solidFill>
            <a:srgbClr val="143A5A"/>
          </a:solidFill>
          <a:ln w="12700">
            <a:solidFill>
              <a:srgbClr val="143A5A"/>
            </a:solidFill>
            <a:prstDash val="solid"/>
          </a:ln>
        </p:spPr>
      </p:sp>
      <p:pic>
        <p:nvPicPr>
          <p:cNvPr id="55" name="Image 4" descr="img/icons/sparkles-white.png">    </p:cNvPr>
          <p:cNvPicPr>
            <a:picLocks noChangeAspect="1"/>
          </p:cNvPicPr>
          <p:nvPr/>
        </p:nvPicPr>
        <p:blipFill>
          <a:blip r:embed="rId5"/>
          <a:stretch>
            <a:fillRect/>
          </a:stretch>
        </p:blipFill>
        <p:spPr>
          <a:xfrm>
            <a:off x="8772936" y="2135307"/>
            <a:ext cx="337962" cy="337962"/>
          </a:xfrm>
          <a:prstGeom prst="rect">
            <a:avLst/>
          </a:prstGeom>
        </p:spPr>
      </p:pic>
      <p:sp>
        <p:nvSpPr>
          <p:cNvPr id="56" name="Text 49"/>
          <p:cNvSpPr txBox="1"/>
          <p:nvPr/>
        </p:nvSpPr>
        <p:spPr>
          <a:xfrm>
            <a:off x="8050378"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Final anneal / BA</a:t>
            </a:r>
            <a:endParaRPr lang="en-US" sz="1100" dirty="0"/>
          </a:p>
        </p:txBody>
      </p:sp>
      <p:sp>
        <p:nvSpPr>
          <p:cNvPr id="57" name="Text 50"/>
          <p:cNvSpPr txBox="1"/>
          <p:nvPr/>
        </p:nvSpPr>
        <p:spPr>
          <a:xfrm>
            <a:off x="8050378"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CRAP / BA</a:t>
            </a:r>
            <a:endParaRPr lang="en-US" sz="900" dirty="0"/>
          </a:p>
        </p:txBody>
      </p:sp>
      <p:sp>
        <p:nvSpPr>
          <p:cNvPr id="58" name="Text 51"/>
          <p:cNvSpPr txBox="1"/>
          <p:nvPr/>
        </p:nvSpPr>
        <p:spPr>
          <a:xfrm>
            <a:off x="8050378"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Stains, BA marks</a:t>
            </a:r>
            <a:endParaRPr lang="en-US" sz="950" dirty="0"/>
          </a:p>
        </p:txBody>
      </p:sp>
      <p:sp>
        <p:nvSpPr>
          <p:cNvPr id="59" name="Shape 52"/>
          <p:cNvSpPr/>
          <p:nvPr/>
        </p:nvSpPr>
        <p:spPr>
          <a:xfrm>
            <a:off x="8484718" y="3502152"/>
            <a:ext cx="914400" cy="201168"/>
          </a:xfrm>
          <a:prstGeom prst="roundRect">
            <a:avLst>
              <a:gd name="adj" fmla="val 27273"/>
            </a:avLst>
          </a:prstGeom>
          <a:solidFill>
            <a:srgbClr val="B77900"/>
          </a:solidFill>
          <a:ln w="12700">
            <a:solidFill>
              <a:srgbClr val="B77900"/>
            </a:solidFill>
            <a:prstDash val="solid"/>
          </a:ln>
        </p:spPr>
      </p:sp>
      <p:sp>
        <p:nvSpPr>
          <p:cNvPr id="60" name="Text 53"/>
          <p:cNvSpPr txBox="1"/>
          <p:nvPr/>
        </p:nvSpPr>
        <p:spPr>
          <a:xfrm>
            <a:off x="8484718"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SAMPLED</a:t>
            </a:r>
            <a:endParaRPr lang="en-US" sz="900" dirty="0"/>
          </a:p>
        </p:txBody>
      </p:sp>
      <p:sp>
        <p:nvSpPr>
          <p:cNvPr id="61" name="Shape 54"/>
          <p:cNvSpPr/>
          <p:nvPr/>
        </p:nvSpPr>
        <p:spPr>
          <a:xfrm>
            <a:off x="10538460" y="2002536"/>
            <a:ext cx="603504" cy="603504"/>
          </a:xfrm>
          <a:prstGeom prst="ellipse">
            <a:avLst/>
          </a:prstGeom>
          <a:solidFill>
            <a:srgbClr val="0086C3"/>
          </a:solidFill>
          <a:ln w="12700">
            <a:solidFill>
              <a:srgbClr val="0086C3"/>
            </a:solidFill>
            <a:prstDash val="solid"/>
          </a:ln>
        </p:spPr>
      </p:sp>
      <p:pic>
        <p:nvPicPr>
          <p:cNvPr id="62" name="Image 5" descr="img/icons/truck-white.png">    </p:cNvPr>
          <p:cNvPicPr>
            <a:picLocks noChangeAspect="1"/>
          </p:cNvPicPr>
          <p:nvPr/>
        </p:nvPicPr>
        <p:blipFill>
          <a:blip r:embed="rId6"/>
          <a:stretch>
            <a:fillRect/>
          </a:stretch>
        </p:blipFill>
        <p:spPr>
          <a:xfrm>
            <a:off x="10671231" y="2135307"/>
            <a:ext cx="337962" cy="337962"/>
          </a:xfrm>
          <a:prstGeom prst="rect">
            <a:avLst/>
          </a:prstGeom>
        </p:spPr>
      </p:pic>
      <p:sp>
        <p:nvSpPr>
          <p:cNvPr id="63" name="Text 55"/>
          <p:cNvSpPr txBox="1"/>
          <p:nvPr/>
        </p:nvSpPr>
        <p:spPr>
          <a:xfrm>
            <a:off x="9948672" y="2679192"/>
            <a:ext cx="1783080" cy="219456"/>
          </a:xfrm>
          <a:prstGeom prst="rect">
            <a:avLst/>
          </a:prstGeom>
          <a:noFill/>
          <a:ln/>
        </p:spPr>
        <p:txBody>
          <a:bodyPr wrap="square" lIns="0" tIns="0" rIns="0" bIns="0" rtlCol="0" anchor="t"/>
          <a:lstStyle/>
          <a:p>
            <a:pPr algn="ctr" indent="0" marL="0">
              <a:buNone/>
            </a:pPr>
            <a:r>
              <a:rPr lang="en-US" sz="1100" b="1" dirty="0">
                <a:solidFill>
                  <a:srgbClr val="143A5A"/>
                </a:solidFill>
                <a:latin typeface="Calibri" pitchFamily="34" charset="0"/>
                <a:ea typeface="Calibri" pitchFamily="34" charset="-122"/>
                <a:cs typeface="Calibri" pitchFamily="34" charset="-120"/>
              </a:rPr>
              <a:t>Finish &amp; despatch</a:t>
            </a:r>
            <a:endParaRPr lang="en-US" sz="1100" dirty="0"/>
          </a:p>
        </p:txBody>
      </p:sp>
      <p:sp>
        <p:nvSpPr>
          <p:cNvPr id="64" name="Text 56"/>
          <p:cNvSpPr txBox="1"/>
          <p:nvPr/>
        </p:nvSpPr>
        <p:spPr>
          <a:xfrm>
            <a:off x="9948672" y="2907792"/>
            <a:ext cx="178308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Slit, cut</a:t>
            </a:r>
            <a:endParaRPr lang="en-US" sz="900" dirty="0"/>
          </a:p>
        </p:txBody>
      </p:sp>
      <p:sp>
        <p:nvSpPr>
          <p:cNvPr id="65" name="Text 57"/>
          <p:cNvSpPr txBox="1"/>
          <p:nvPr/>
        </p:nvSpPr>
        <p:spPr>
          <a:xfrm>
            <a:off x="9948672" y="3108960"/>
            <a:ext cx="1783080" cy="329184"/>
          </a:xfrm>
          <a:prstGeom prst="rect">
            <a:avLst/>
          </a:prstGeom>
          <a:noFill/>
          <a:ln/>
        </p:spPr>
        <p:txBody>
          <a:bodyPr wrap="square" lIns="0" tIns="0" rIns="0" bIns="0" rtlCol="0" anchor="t"/>
          <a:lstStyle/>
          <a:p>
            <a:pPr algn="ctr" indent="0" marL="0">
              <a:buNone/>
            </a:pPr>
            <a:r>
              <a:rPr lang="en-US" sz="950" dirty="0">
                <a:solidFill>
                  <a:srgbClr val="141C24"/>
                </a:solidFill>
                <a:latin typeface="Calibri" pitchFamily="34" charset="0"/>
                <a:ea typeface="Calibri" pitchFamily="34" charset="-122"/>
                <a:cs typeface="Calibri" pitchFamily="34" charset="-120"/>
              </a:rPr>
              <a:t>Found here, or by the customer</a:t>
            </a:r>
            <a:endParaRPr lang="en-US" sz="950" dirty="0"/>
          </a:p>
        </p:txBody>
      </p:sp>
      <p:sp>
        <p:nvSpPr>
          <p:cNvPr id="66" name="Shape 58"/>
          <p:cNvSpPr/>
          <p:nvPr/>
        </p:nvSpPr>
        <p:spPr>
          <a:xfrm>
            <a:off x="10383012" y="3502152"/>
            <a:ext cx="914400" cy="201168"/>
          </a:xfrm>
          <a:prstGeom prst="roundRect">
            <a:avLst>
              <a:gd name="adj" fmla="val 27273"/>
            </a:avLst>
          </a:prstGeom>
          <a:solidFill>
            <a:srgbClr val="C62828"/>
          </a:solidFill>
          <a:ln w="12700">
            <a:solidFill>
              <a:srgbClr val="C62828"/>
            </a:solidFill>
            <a:prstDash val="solid"/>
          </a:ln>
        </p:spPr>
      </p:sp>
      <p:sp>
        <p:nvSpPr>
          <p:cNvPr id="67" name="Text 59"/>
          <p:cNvSpPr txBox="1"/>
          <p:nvPr/>
        </p:nvSpPr>
        <p:spPr>
          <a:xfrm>
            <a:off x="10383012" y="3502152"/>
            <a:ext cx="91440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CLAIMS</a:t>
            </a:r>
            <a:endParaRPr lang="en-US" sz="900" dirty="0"/>
          </a:p>
        </p:txBody>
      </p:sp>
      <p:sp>
        <p:nvSpPr>
          <p:cNvPr id="68" name="Shape 60"/>
          <p:cNvSpPr/>
          <p:nvPr/>
        </p:nvSpPr>
        <p:spPr>
          <a:xfrm>
            <a:off x="457200" y="3931920"/>
            <a:ext cx="3611880" cy="274320"/>
          </a:xfrm>
          <a:prstGeom prst="rect">
            <a:avLst/>
          </a:prstGeom>
          <a:solidFill>
            <a:srgbClr val="2B5B80"/>
          </a:solidFill>
          <a:ln w="12700">
            <a:solidFill>
              <a:srgbClr val="2B5B80"/>
            </a:solidFill>
            <a:prstDash val="solid"/>
          </a:ln>
        </p:spPr>
      </p:sp>
      <p:sp>
        <p:nvSpPr>
          <p:cNvPr id="69" name="Text 61"/>
          <p:cNvSpPr txBox="1"/>
          <p:nvPr/>
        </p:nvSpPr>
        <p:spPr>
          <a:xfrm>
            <a:off x="548640" y="3931920"/>
            <a:ext cx="3429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it hurts more on stainless</a:t>
            </a:r>
            <a:endParaRPr lang="en-US" sz="1100" dirty="0"/>
          </a:p>
        </p:txBody>
      </p:sp>
      <p:pic>
        <p:nvPicPr>
          <p:cNvPr id="70" name="Image 6" descr="img/icons/gauge-accent.png">    </p:cNvPr>
          <p:cNvPicPr>
            <a:picLocks noChangeAspect="1"/>
          </p:cNvPicPr>
          <p:nvPr/>
        </p:nvPicPr>
        <p:blipFill>
          <a:blip r:embed="rId7"/>
          <a:stretch>
            <a:fillRect/>
          </a:stretch>
        </p:blipFill>
        <p:spPr>
          <a:xfrm>
            <a:off x="530352" y="4370832"/>
            <a:ext cx="292608" cy="292608"/>
          </a:xfrm>
          <a:prstGeom prst="rect">
            <a:avLst/>
          </a:prstGeom>
        </p:spPr>
      </p:pic>
      <p:sp>
        <p:nvSpPr>
          <p:cNvPr id="71" name="Text 62"/>
          <p:cNvSpPr txBox="1"/>
          <p:nvPr/>
        </p:nvSpPr>
        <p:spPr>
          <a:xfrm>
            <a:off x="896112" y="4297680"/>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300 m/min</a:t>
            </a:r>
            <a:endParaRPr lang="en-US" sz="1200" dirty="0"/>
          </a:p>
        </p:txBody>
      </p:sp>
      <p:sp>
        <p:nvSpPr>
          <p:cNvPr id="72" name="Text 63"/>
          <p:cNvSpPr txBox="1"/>
          <p:nvPr/>
        </p:nvSpPr>
        <p:spPr>
          <a:xfrm>
            <a:off x="2176272" y="4297680"/>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too fast for the eye to see the whole surface</a:t>
            </a:r>
            <a:endParaRPr lang="en-US" sz="900" dirty="0"/>
          </a:p>
        </p:txBody>
      </p:sp>
      <p:pic>
        <p:nvPicPr>
          <p:cNvPr id="73" name="Image 7" descr="img/icons/coins-accent.png">    </p:cNvPr>
          <p:cNvPicPr>
            <a:picLocks noChangeAspect="1"/>
          </p:cNvPicPr>
          <p:nvPr/>
        </p:nvPicPr>
        <p:blipFill>
          <a:blip r:embed="rId8"/>
          <a:stretch>
            <a:fillRect/>
          </a:stretch>
        </p:blipFill>
        <p:spPr>
          <a:xfrm>
            <a:off x="530352" y="4901184"/>
            <a:ext cx="292608" cy="292608"/>
          </a:xfrm>
          <a:prstGeom prst="rect">
            <a:avLst/>
          </a:prstGeom>
        </p:spPr>
      </p:pic>
      <p:sp>
        <p:nvSpPr>
          <p:cNvPr id="74" name="Text 64"/>
          <p:cNvSpPr txBox="1"/>
          <p:nvPr/>
        </p:nvSpPr>
        <p:spPr>
          <a:xfrm>
            <a:off x="896112" y="4828032"/>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₹126k-165k</a:t>
            </a:r>
            <a:endParaRPr lang="en-US" sz="1200" dirty="0"/>
          </a:p>
        </p:txBody>
      </p:sp>
      <p:sp>
        <p:nvSpPr>
          <p:cNvPr id="75" name="Text 65"/>
          <p:cNvSpPr txBox="1"/>
          <p:nvPr/>
        </p:nvSpPr>
        <p:spPr>
          <a:xfrm>
            <a:off x="2176272" y="4828032"/>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of nickel in every tonne of 304, given away on a downgrade</a:t>
            </a:r>
            <a:endParaRPr lang="en-US" sz="900" dirty="0"/>
          </a:p>
        </p:txBody>
      </p:sp>
      <p:pic>
        <p:nvPicPr>
          <p:cNvPr id="76" name="Image 8" descr="img/icons/sparkles-accent.png">    </p:cNvPr>
          <p:cNvPicPr>
            <a:picLocks noChangeAspect="1"/>
          </p:cNvPicPr>
          <p:nvPr/>
        </p:nvPicPr>
        <p:blipFill>
          <a:blip r:embed="rId9"/>
          <a:stretch>
            <a:fillRect/>
          </a:stretch>
        </p:blipFill>
        <p:spPr>
          <a:xfrm>
            <a:off x="530352" y="5431536"/>
            <a:ext cx="292608" cy="292608"/>
          </a:xfrm>
          <a:prstGeom prst="rect">
            <a:avLst/>
          </a:prstGeom>
        </p:spPr>
      </p:pic>
      <p:sp>
        <p:nvSpPr>
          <p:cNvPr id="77" name="Text 66"/>
          <p:cNvSpPr txBox="1"/>
          <p:nvPr/>
        </p:nvSpPr>
        <p:spPr>
          <a:xfrm>
            <a:off x="896112" y="5358384"/>
            <a:ext cx="1280160" cy="457200"/>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No repair</a:t>
            </a:r>
            <a:endParaRPr lang="en-US" sz="1200" dirty="0"/>
          </a:p>
        </p:txBody>
      </p:sp>
      <p:sp>
        <p:nvSpPr>
          <p:cNvPr id="78" name="Text 67"/>
          <p:cNvSpPr txBox="1"/>
          <p:nvPr/>
        </p:nvSpPr>
        <p:spPr>
          <a:xfrm>
            <a:off x="2176272" y="5358384"/>
            <a:ext cx="1874520" cy="45720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damage on 2B/BA mill finishes cannot be polished out</a:t>
            </a:r>
            <a:endParaRPr lang="en-US" sz="900" dirty="0"/>
          </a:p>
        </p:txBody>
      </p:sp>
      <p:sp>
        <p:nvSpPr>
          <p:cNvPr id="79" name="Shape 68"/>
          <p:cNvSpPr/>
          <p:nvPr/>
        </p:nvSpPr>
        <p:spPr>
          <a:xfrm>
            <a:off x="4206240" y="3931920"/>
            <a:ext cx="3886200" cy="274320"/>
          </a:xfrm>
          <a:prstGeom prst="rect">
            <a:avLst/>
          </a:prstGeom>
          <a:solidFill>
            <a:srgbClr val="2B5B80"/>
          </a:solidFill>
          <a:ln w="12700">
            <a:solidFill>
              <a:srgbClr val="2B5B80"/>
            </a:solidFill>
            <a:prstDash val="solid"/>
          </a:ln>
        </p:spPr>
      </p:sp>
      <p:sp>
        <p:nvSpPr>
          <p:cNvPr id="80" name="Text 69"/>
          <p:cNvSpPr txBox="1"/>
          <p:nvPr/>
        </p:nvSpPr>
        <p:spPr>
          <a:xfrm>
            <a:off x="4297680" y="3931920"/>
            <a:ext cx="3703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now</a:t>
            </a:r>
            <a:endParaRPr lang="en-US" sz="1100" dirty="0"/>
          </a:p>
        </p:txBody>
      </p:sp>
      <p:sp>
        <p:nvSpPr>
          <p:cNvPr id="81" name="Text 70"/>
          <p:cNvSpPr txBox="1"/>
          <p:nvPr/>
        </p:nvSpPr>
        <p:spPr>
          <a:xfrm>
            <a:off x="4251960" y="4242816"/>
            <a:ext cx="1920240" cy="201168"/>
          </a:xfrm>
          <a:prstGeom prst="rect">
            <a:avLst/>
          </a:prstGeom>
          <a:noFill/>
          <a:ln/>
        </p:spPr>
        <p:txBody>
          <a:bodyPr wrap="square" lIns="0" tIns="0" rIns="0" bIns="0" rtlCol="0" anchor="t"/>
          <a:lstStyle/>
          <a:p>
            <a:pPr indent="0" marL="0">
              <a:buNone/>
            </a:pPr>
            <a:r>
              <a:rPr lang="en-US" sz="900" b="1" dirty="0">
                <a:solidFill>
                  <a:srgbClr val="143A5A"/>
                </a:solidFill>
                <a:latin typeface="Calibri" pitchFamily="34" charset="0"/>
                <a:ea typeface="Calibri" pitchFamily="34" charset="-122"/>
                <a:cs typeface="Calibri" pitchFamily="34" charset="-120"/>
              </a:rPr>
              <a:t>India demand, Mt</a:t>
            </a:r>
            <a:pPr indent="0" marL="0">
              <a:buNone/>
            </a:pPr>
            <a:r>
              <a:rPr lang="en-US" sz="900" b="1" dirty="0">
                <a:solidFill>
                  <a:srgbClr val="0086C3"/>
                </a:solidFill>
                <a:latin typeface="Calibri" pitchFamily="34" charset="0"/>
                <a:ea typeface="Calibri" pitchFamily="34" charset="-122"/>
                <a:cs typeface="Calibri" pitchFamily="34" charset="-120"/>
              </a:rPr>
              <a:t>  +84% in 5 yrs</a:t>
            </a:r>
            <a:endParaRPr lang="en-US" sz="900" dirty="0"/>
          </a:p>
        </p:txBody>
      </p:sp>
      <p:graphicFrame>
        <p:nvGraphicFramePr>
          <p:cNvPr id="82" name="Chart 0" descr=""/>
          <p:cNvGraphicFramePr/>
          <p:nvPr/>
        </p:nvGraphicFramePr>
        <p:xfrm>
          <a:off x="4206240" y="4425696"/>
          <a:ext cx="1965960" cy="1463040"/>
        </p:xfrm>
        <a:graphic xmlns:a="http://schemas.openxmlformats.org/drawingml/2006/main">
          <a:graphicData uri="http://schemas.openxmlformats.org/drawingml/2006/chart">
            <c:chart xmlns:c="http://schemas.openxmlformats.org/drawingml/2006/chart" r:id="rId10"/>
          </a:graphicData>
        </a:graphic>
      </p:graphicFrame>
      <p:pic>
        <p:nvPicPr>
          <p:cNvPr id="83" name="Image 9" descr="img/icons/ship-accent.png">    </p:cNvPr>
          <p:cNvPicPr>
            <a:picLocks noChangeAspect="1"/>
          </p:cNvPicPr>
          <p:nvPr/>
        </p:nvPicPr>
        <p:blipFill>
          <a:blip r:embed="rId11"/>
          <a:stretch>
            <a:fillRect/>
          </a:stretch>
        </p:blipFill>
        <p:spPr>
          <a:xfrm>
            <a:off x="6217920" y="4279392"/>
            <a:ext cx="237744" cy="237744"/>
          </a:xfrm>
          <a:prstGeom prst="rect">
            <a:avLst/>
          </a:prstGeom>
        </p:spPr>
      </p:pic>
      <p:sp>
        <p:nvSpPr>
          <p:cNvPr id="84" name="Text 71"/>
          <p:cNvSpPr txBox="1"/>
          <p:nvPr/>
        </p:nvSpPr>
        <p:spPr>
          <a:xfrm>
            <a:off x="6510528" y="4261104"/>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1.73 Mt imports</a:t>
            </a:r>
            <a:endParaRPr lang="en-US" sz="1000" dirty="0"/>
          </a:p>
        </p:txBody>
      </p:sp>
      <p:sp>
        <p:nvSpPr>
          <p:cNvPr id="85" name="Text 72"/>
          <p:cNvSpPr txBox="1"/>
          <p:nvPr/>
        </p:nvSpPr>
        <p:spPr>
          <a:xfrm>
            <a:off x="6510528" y="4471416"/>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FY25; anti-dumping probe on cold-rolled 300/400, Sep 2025</a:t>
            </a:r>
            <a:endParaRPr lang="en-US" sz="900" dirty="0"/>
          </a:p>
        </p:txBody>
      </p:sp>
      <p:pic>
        <p:nvPicPr>
          <p:cNvPr id="86" name="Image 10" descr="img/icons/badge-check-accent.png">    </p:cNvPr>
          <p:cNvPicPr>
            <a:picLocks noChangeAspect="1"/>
          </p:cNvPicPr>
          <p:nvPr/>
        </p:nvPicPr>
        <p:blipFill>
          <a:blip r:embed="rId12"/>
          <a:stretch>
            <a:fillRect/>
          </a:stretch>
        </p:blipFill>
        <p:spPr>
          <a:xfrm>
            <a:off x="6217920" y="4818888"/>
            <a:ext cx="237744" cy="237744"/>
          </a:xfrm>
          <a:prstGeom prst="rect">
            <a:avLst/>
          </a:prstGeom>
        </p:spPr>
      </p:pic>
      <p:sp>
        <p:nvSpPr>
          <p:cNvPr id="87" name="Text 73"/>
          <p:cNvSpPr txBox="1"/>
          <p:nvPr/>
        </p:nvSpPr>
        <p:spPr>
          <a:xfrm>
            <a:off x="6510528" y="4800600"/>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IS 6911 mandatory</a:t>
            </a:r>
            <a:endParaRPr lang="en-US" sz="1000" dirty="0"/>
          </a:p>
        </p:txBody>
      </p:sp>
      <p:sp>
        <p:nvSpPr>
          <p:cNvPr id="88" name="Text 74"/>
          <p:cNvSpPr txBox="1"/>
          <p:nvPr/>
        </p:nvSpPr>
        <p:spPr>
          <a:xfrm>
            <a:off x="6510528" y="5010912"/>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BIS certification for sheet and strip, since Aug 2024</a:t>
            </a:r>
            <a:endParaRPr lang="en-US" sz="900" dirty="0"/>
          </a:p>
        </p:txBody>
      </p:sp>
      <p:pic>
        <p:nvPicPr>
          <p:cNvPr id="89" name="Image 11" descr="img/icons/factory-accent.png">    </p:cNvPr>
          <p:cNvPicPr>
            <a:picLocks noChangeAspect="1"/>
          </p:cNvPicPr>
          <p:nvPr/>
        </p:nvPicPr>
        <p:blipFill>
          <a:blip r:embed="rId13"/>
          <a:stretch>
            <a:fillRect/>
          </a:stretch>
        </p:blipFill>
        <p:spPr>
          <a:xfrm>
            <a:off x="6217920" y="5358384"/>
            <a:ext cx="237744" cy="237744"/>
          </a:xfrm>
          <a:prstGeom prst="rect">
            <a:avLst/>
          </a:prstGeom>
        </p:spPr>
      </p:pic>
      <p:sp>
        <p:nvSpPr>
          <p:cNvPr id="90" name="Text 75"/>
          <p:cNvSpPr txBox="1"/>
          <p:nvPr/>
        </p:nvSpPr>
        <p:spPr>
          <a:xfrm>
            <a:off x="6510528" y="5340096"/>
            <a:ext cx="1572768"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2.67 MTPA</a:t>
            </a:r>
            <a:endParaRPr lang="en-US" sz="1000" dirty="0"/>
          </a:p>
        </p:txBody>
      </p:sp>
      <p:sp>
        <p:nvSpPr>
          <p:cNvPr id="91" name="Text 76"/>
          <p:cNvSpPr txBox="1"/>
          <p:nvPr/>
        </p:nvSpPr>
        <p:spPr>
          <a:xfrm>
            <a:off x="6510528" y="5550408"/>
            <a:ext cx="1572768" cy="31089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JSL cold rolling by FY28, up from 2.05</a:t>
            </a:r>
            <a:endParaRPr lang="en-US" sz="900" dirty="0"/>
          </a:p>
        </p:txBody>
      </p:sp>
      <p:sp>
        <p:nvSpPr>
          <p:cNvPr id="92" name="Shape 77"/>
          <p:cNvSpPr/>
          <p:nvPr/>
        </p:nvSpPr>
        <p:spPr>
          <a:xfrm>
            <a:off x="8229600" y="3931920"/>
            <a:ext cx="3502152" cy="274320"/>
          </a:xfrm>
          <a:prstGeom prst="rect">
            <a:avLst/>
          </a:prstGeom>
          <a:solidFill>
            <a:srgbClr val="2B5B80"/>
          </a:solidFill>
          <a:ln w="12700">
            <a:solidFill>
              <a:srgbClr val="2B5B80"/>
            </a:solidFill>
            <a:prstDash val="solid"/>
          </a:ln>
        </p:spPr>
      </p:sp>
      <p:sp>
        <p:nvSpPr>
          <p:cNvPr id="93" name="Text 78"/>
          <p:cNvSpPr txBox="1"/>
          <p:nvPr/>
        </p:nvSpPr>
        <p:spPr>
          <a:xfrm>
            <a:off x="8321040" y="3931920"/>
            <a:ext cx="33192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of quality: where AI moves the money</a:t>
            </a:r>
            <a:endParaRPr lang="en-US" sz="1100" dirty="0"/>
          </a:p>
        </p:txBody>
      </p:sp>
      <p:sp>
        <p:nvSpPr>
          <p:cNvPr id="94" name="Text 79"/>
          <p:cNvSpPr/>
          <p:nvPr/>
        </p:nvSpPr>
        <p:spPr>
          <a:xfrm>
            <a:off x="8275320" y="4261104"/>
            <a:ext cx="3410712" cy="274320"/>
          </a:xfrm>
          <a:prstGeom prst="leftArrow">
            <a:avLst/>
          </a:prstGeom>
          <a:solidFill>
            <a:srgbClr val="0086C3"/>
          </a:solidFill>
          <a:ln>
            <a:solidFill>
              <a:srgbClr val="0086C3"/>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spend moves from failure to prevention</a:t>
            </a:r>
            <a:endParaRPr lang="en-US" sz="900" dirty="0"/>
          </a:p>
        </p:txBody>
      </p:sp>
      <p:sp>
        <p:nvSpPr>
          <p:cNvPr id="95" name="Shape 80"/>
          <p:cNvSpPr/>
          <p:nvPr/>
        </p:nvSpPr>
        <p:spPr>
          <a:xfrm>
            <a:off x="8275320" y="4599432"/>
            <a:ext cx="1682496" cy="502920"/>
          </a:xfrm>
          <a:prstGeom prst="roundRect">
            <a:avLst>
              <a:gd name="adj" fmla="val 10909"/>
            </a:avLst>
          </a:prstGeom>
          <a:solidFill>
            <a:srgbClr val="E4EEF6"/>
          </a:solidFill>
          <a:ln w="12700">
            <a:solidFill>
              <a:srgbClr val="E4EEF6"/>
            </a:solidFill>
            <a:prstDash val="solid"/>
          </a:ln>
        </p:spPr>
      </p:sp>
      <p:sp>
        <p:nvSpPr>
          <p:cNvPr id="96" name="Text 81"/>
          <p:cNvSpPr txBox="1"/>
          <p:nvPr/>
        </p:nvSpPr>
        <p:spPr>
          <a:xfrm>
            <a:off x="8339328"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Prevention</a:t>
            </a:r>
            <a:endParaRPr lang="en-US" sz="950" dirty="0"/>
          </a:p>
        </p:txBody>
      </p:sp>
      <p:sp>
        <p:nvSpPr>
          <p:cNvPr id="97" name="Text 82"/>
          <p:cNvSpPr txBox="1"/>
          <p:nvPr/>
        </p:nvSpPr>
        <p:spPr>
          <a:xfrm>
            <a:off x="8339328"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defect sent to its owner in minutes</a:t>
            </a:r>
            <a:endParaRPr lang="en-US" sz="900" dirty="0"/>
          </a:p>
        </p:txBody>
      </p:sp>
      <p:sp>
        <p:nvSpPr>
          <p:cNvPr id="98" name="Shape 83"/>
          <p:cNvSpPr/>
          <p:nvPr/>
        </p:nvSpPr>
        <p:spPr>
          <a:xfrm>
            <a:off x="10003536" y="4599432"/>
            <a:ext cx="1682496" cy="502920"/>
          </a:xfrm>
          <a:prstGeom prst="roundRect">
            <a:avLst>
              <a:gd name="adj" fmla="val 10909"/>
            </a:avLst>
          </a:prstGeom>
          <a:solidFill>
            <a:srgbClr val="F1F4F7"/>
          </a:solidFill>
          <a:ln w="12700">
            <a:solidFill>
              <a:srgbClr val="F1F4F7"/>
            </a:solidFill>
            <a:prstDash val="solid"/>
          </a:ln>
        </p:spPr>
      </p:sp>
      <p:sp>
        <p:nvSpPr>
          <p:cNvPr id="99" name="Text 84"/>
          <p:cNvSpPr txBox="1"/>
          <p:nvPr/>
        </p:nvSpPr>
        <p:spPr>
          <a:xfrm>
            <a:off x="10067544" y="462686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Internal failure</a:t>
            </a:r>
            <a:endParaRPr lang="en-US" sz="950" dirty="0"/>
          </a:p>
        </p:txBody>
      </p:sp>
      <p:sp>
        <p:nvSpPr>
          <p:cNvPr id="100" name="Text 85"/>
          <p:cNvSpPr txBox="1"/>
          <p:nvPr/>
        </p:nvSpPr>
        <p:spPr>
          <a:xfrm>
            <a:off x="10067544" y="482803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caught before more value is added</a:t>
            </a:r>
            <a:endParaRPr lang="en-US" sz="900" dirty="0"/>
          </a:p>
        </p:txBody>
      </p:sp>
      <p:sp>
        <p:nvSpPr>
          <p:cNvPr id="101" name="Shape 86"/>
          <p:cNvSpPr/>
          <p:nvPr/>
        </p:nvSpPr>
        <p:spPr>
          <a:xfrm>
            <a:off x="8275320" y="5148072"/>
            <a:ext cx="1682496" cy="502920"/>
          </a:xfrm>
          <a:prstGeom prst="roundRect">
            <a:avLst>
              <a:gd name="adj" fmla="val 10909"/>
            </a:avLst>
          </a:prstGeom>
          <a:solidFill>
            <a:srgbClr val="E4EEF6"/>
          </a:solidFill>
          <a:ln w="12700">
            <a:solidFill>
              <a:srgbClr val="E4EEF6"/>
            </a:solidFill>
            <a:prstDash val="solid"/>
          </a:ln>
        </p:spPr>
      </p:sp>
      <p:sp>
        <p:nvSpPr>
          <p:cNvPr id="102" name="Text 87"/>
          <p:cNvSpPr txBox="1"/>
          <p:nvPr/>
        </p:nvSpPr>
        <p:spPr>
          <a:xfrm>
            <a:off x="8339328"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Appraisal</a:t>
            </a:r>
            <a:endParaRPr lang="en-US" sz="950" dirty="0"/>
          </a:p>
        </p:txBody>
      </p:sp>
      <p:sp>
        <p:nvSpPr>
          <p:cNvPr id="103" name="Text 88"/>
          <p:cNvSpPr txBox="1"/>
          <p:nvPr/>
        </p:nvSpPr>
        <p:spPr>
          <a:xfrm>
            <a:off x="8339328"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100% of the surface, every coil</a:t>
            </a:r>
            <a:endParaRPr lang="en-US" sz="900" dirty="0"/>
          </a:p>
        </p:txBody>
      </p:sp>
      <p:sp>
        <p:nvSpPr>
          <p:cNvPr id="104" name="Shape 89"/>
          <p:cNvSpPr/>
          <p:nvPr/>
        </p:nvSpPr>
        <p:spPr>
          <a:xfrm>
            <a:off x="10003536" y="5148072"/>
            <a:ext cx="1682496" cy="502920"/>
          </a:xfrm>
          <a:prstGeom prst="roundRect">
            <a:avLst>
              <a:gd name="adj" fmla="val 10909"/>
            </a:avLst>
          </a:prstGeom>
          <a:solidFill>
            <a:srgbClr val="F1F4F7"/>
          </a:solidFill>
          <a:ln w="12700">
            <a:solidFill>
              <a:srgbClr val="F1F4F7"/>
            </a:solidFill>
            <a:prstDash val="solid"/>
          </a:ln>
        </p:spPr>
      </p:sp>
      <p:sp>
        <p:nvSpPr>
          <p:cNvPr id="105" name="Text 90"/>
          <p:cNvSpPr txBox="1"/>
          <p:nvPr/>
        </p:nvSpPr>
        <p:spPr>
          <a:xfrm>
            <a:off x="10067544" y="5175504"/>
            <a:ext cx="1572768" cy="20116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External failure</a:t>
            </a:r>
            <a:endParaRPr lang="en-US" sz="950" dirty="0"/>
          </a:p>
        </p:txBody>
      </p:sp>
      <p:sp>
        <p:nvSpPr>
          <p:cNvPr id="106" name="Text 91"/>
          <p:cNvSpPr txBox="1"/>
          <p:nvPr/>
        </p:nvSpPr>
        <p:spPr>
          <a:xfrm>
            <a:off x="10067544" y="5376672"/>
            <a:ext cx="1591056" cy="256032"/>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fewer escapes to customers</a:t>
            </a:r>
            <a:endParaRPr lang="en-US" sz="900" dirty="0"/>
          </a:p>
        </p:txBody>
      </p:sp>
      <p:sp>
        <p:nvSpPr>
          <p:cNvPr id="107" name="Text 92"/>
          <p:cNvSpPr txBox="1"/>
          <p:nvPr/>
        </p:nvSpPr>
        <p:spPr>
          <a:xfrm>
            <a:off x="8275320" y="5696712"/>
            <a:ext cx="3456432" cy="201168"/>
          </a:xfrm>
          <a:prstGeom prst="rect">
            <a:avLst/>
          </a:prstGeom>
          <a:noFill/>
          <a:ln/>
        </p:spPr>
        <p:txBody>
          <a:bodyPr wrap="square" lIns="0" tIns="0" rIns="0" bIns="0" rtlCol="0" anchor="t"/>
          <a:lstStyle/>
          <a:p>
            <a:pPr indent="0" marL="0">
              <a:buNone/>
            </a:pPr>
            <a:r>
              <a:rPr lang="en-US" sz="900" i="1" dirty="0">
                <a:solidFill>
                  <a:srgbClr val="334150"/>
                </a:solidFill>
                <a:latin typeface="Calibri" pitchFamily="34" charset="0"/>
                <a:ea typeface="Calibri" pitchFamily="34" charset="-122"/>
                <a:cs typeface="Calibri" pitchFamily="34" charset="-120"/>
              </a:rPr>
              <a:t>Poor quality costs ~15% of sales in manufacturing (IISE).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On stainless the surface is the product, so every defect type must reach the process that caused it</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Classify, don't just alarm: a typed defect becomes a work order for a named owner. The pilot belongs on 300-series cold-rolled strip.</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Images: held-out test frames, boxes drawn by our system. Sources: Nortal/Outokumpu (2024); Tata Steel; Parsytec (Stainless Steel World); Leão 2021; Steel in Translation 2023. Owners: team hypothesis. Grade risks: team hypothesis.</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Six defect families, each traced to the process that caused it (real output from our system)</a:t>
            </a:r>
            <a:endParaRPr lang="en-US" sz="1100" dirty="0"/>
          </a:p>
        </p:txBody>
      </p:sp>
      <p:sp>
        <p:nvSpPr>
          <p:cNvPr id="19" name="Shape 17"/>
          <p:cNvSpPr/>
          <p:nvPr/>
        </p:nvSpPr>
        <p:spPr>
          <a:xfrm>
            <a:off x="457200" y="1572768"/>
            <a:ext cx="1783080" cy="2432304"/>
          </a:xfrm>
          <a:prstGeom prst="roundRect">
            <a:avLst>
              <a:gd name="adj" fmla="val 3077"/>
            </a:avLst>
          </a:prstGeom>
          <a:solidFill>
            <a:srgbClr val="F1F4F7"/>
          </a:solidFill>
          <a:ln w="12700">
            <a:solidFill>
              <a:srgbClr val="F1F4F7"/>
            </a:solidFill>
            <a:prstDash val="solid"/>
          </a:ln>
        </p:spPr>
      </p:sp>
      <p:pic>
        <p:nvPicPr>
          <p:cNvPr id="20" name="Image 0" descr="img/det_inclusion.png">    </p:cNvPr>
          <p:cNvPicPr>
            <a:picLocks noChangeAspect="1"/>
          </p:cNvPicPr>
          <p:nvPr/>
        </p:nvPicPr>
        <p:blipFill>
          <a:blip r:embed="rId1"/>
          <a:stretch>
            <a:fillRect/>
          </a:stretch>
        </p:blipFill>
        <p:spPr>
          <a:xfrm>
            <a:off x="653796" y="1627632"/>
            <a:ext cx="1389888" cy="1389888"/>
          </a:xfrm>
          <a:prstGeom prst="rect">
            <a:avLst/>
          </a:prstGeom>
        </p:spPr>
      </p:pic>
      <p:sp>
        <p:nvSpPr>
          <p:cNvPr id="21" name="Text 18"/>
          <p:cNvSpPr txBox="1"/>
          <p:nvPr/>
        </p:nvSpPr>
        <p:spPr>
          <a:xfrm>
            <a:off x="548640"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Caster</a:t>
            </a:r>
            <a:endParaRPr lang="en-US" sz="950" dirty="0"/>
          </a:p>
        </p:txBody>
      </p:sp>
      <p:sp>
        <p:nvSpPr>
          <p:cNvPr id="22" name="Text 19"/>
          <p:cNvSpPr txBox="1"/>
          <p:nvPr/>
        </p:nvSpPr>
        <p:spPr>
          <a:xfrm>
            <a:off x="548640"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SMS</a:t>
            </a:r>
            <a:endParaRPr lang="en-US" sz="950" dirty="0"/>
          </a:p>
        </p:txBody>
      </p:sp>
      <p:sp>
        <p:nvSpPr>
          <p:cNvPr id="23" name="Text 20"/>
          <p:cNvSpPr txBox="1"/>
          <p:nvPr/>
        </p:nvSpPr>
        <p:spPr>
          <a:xfrm>
            <a:off x="548640"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Tundish level, mould flux</a:t>
            </a:r>
            <a:endParaRPr lang="en-US" sz="950" dirty="0"/>
          </a:p>
        </p:txBody>
      </p:sp>
      <p:sp>
        <p:nvSpPr>
          <p:cNvPr id="24" name="Shape 21"/>
          <p:cNvSpPr/>
          <p:nvPr/>
        </p:nvSpPr>
        <p:spPr>
          <a:xfrm>
            <a:off x="2355494" y="1572768"/>
            <a:ext cx="1783080" cy="2432304"/>
          </a:xfrm>
          <a:prstGeom prst="roundRect">
            <a:avLst>
              <a:gd name="adj" fmla="val 3077"/>
            </a:avLst>
          </a:prstGeom>
          <a:solidFill>
            <a:srgbClr val="F1F4F7"/>
          </a:solidFill>
          <a:ln w="12700">
            <a:solidFill>
              <a:srgbClr val="F1F4F7"/>
            </a:solidFill>
            <a:prstDash val="solid"/>
          </a:ln>
        </p:spPr>
      </p:sp>
      <p:pic>
        <p:nvPicPr>
          <p:cNvPr id="25" name="Image 1" descr="img/det_crazing.png">    </p:cNvPr>
          <p:cNvPicPr>
            <a:picLocks noChangeAspect="1"/>
          </p:cNvPicPr>
          <p:nvPr/>
        </p:nvPicPr>
        <p:blipFill>
          <a:blip r:embed="rId2"/>
          <a:stretch>
            <a:fillRect/>
          </a:stretch>
        </p:blipFill>
        <p:spPr>
          <a:xfrm>
            <a:off x="2552090" y="1627632"/>
            <a:ext cx="1389888" cy="1389888"/>
          </a:xfrm>
          <a:prstGeom prst="rect">
            <a:avLst/>
          </a:prstGeom>
        </p:spPr>
      </p:pic>
      <p:sp>
        <p:nvSpPr>
          <p:cNvPr id="26" name="Text 22"/>
          <p:cNvSpPr txBox="1"/>
          <p:nvPr/>
        </p:nvSpPr>
        <p:spPr>
          <a:xfrm>
            <a:off x="2446934"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hot rolling</a:t>
            </a:r>
            <a:endParaRPr lang="en-US" sz="950" dirty="0"/>
          </a:p>
        </p:txBody>
      </p:sp>
      <p:sp>
        <p:nvSpPr>
          <p:cNvPr id="27" name="Text 23"/>
          <p:cNvSpPr txBox="1"/>
          <p:nvPr/>
        </p:nvSpPr>
        <p:spPr>
          <a:xfrm>
            <a:off x="2446934"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28" name="Text 24"/>
          <p:cNvSpPr txBox="1"/>
          <p:nvPr/>
        </p:nvSpPr>
        <p:spPr>
          <a:xfrm>
            <a:off x="2446934"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Reheat and coiling temperature</a:t>
            </a:r>
            <a:endParaRPr lang="en-US" sz="950" dirty="0"/>
          </a:p>
        </p:txBody>
      </p:sp>
      <p:sp>
        <p:nvSpPr>
          <p:cNvPr id="29" name="Shape 25"/>
          <p:cNvSpPr/>
          <p:nvPr/>
        </p:nvSpPr>
        <p:spPr>
          <a:xfrm>
            <a:off x="4253789" y="1572768"/>
            <a:ext cx="1783080" cy="2432304"/>
          </a:xfrm>
          <a:prstGeom prst="roundRect">
            <a:avLst>
              <a:gd name="adj" fmla="val 3077"/>
            </a:avLst>
          </a:prstGeom>
          <a:solidFill>
            <a:srgbClr val="F1F4F7"/>
          </a:solidFill>
          <a:ln w="12700">
            <a:solidFill>
              <a:srgbClr val="F1F4F7"/>
            </a:solidFill>
            <a:prstDash val="solid"/>
          </a:ln>
        </p:spPr>
      </p:sp>
      <p:pic>
        <p:nvPicPr>
          <p:cNvPr id="30" name="Image 2" descr="img/det_rolled-in_scale.png">    </p:cNvPr>
          <p:cNvPicPr>
            <a:picLocks noChangeAspect="1"/>
          </p:cNvPicPr>
          <p:nvPr/>
        </p:nvPicPr>
        <p:blipFill>
          <a:blip r:embed="rId3"/>
          <a:stretch>
            <a:fillRect/>
          </a:stretch>
        </p:blipFill>
        <p:spPr>
          <a:xfrm>
            <a:off x="4450385" y="1627632"/>
            <a:ext cx="1389888" cy="1389888"/>
          </a:xfrm>
          <a:prstGeom prst="rect">
            <a:avLst/>
          </a:prstGeom>
        </p:spPr>
      </p:pic>
      <p:sp>
        <p:nvSpPr>
          <p:cNvPr id="31" name="Text 26"/>
          <p:cNvSpPr txBox="1"/>
          <p:nvPr/>
        </p:nvSpPr>
        <p:spPr>
          <a:xfrm>
            <a:off x="4345229"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Hot rolling</a:t>
            </a:r>
            <a:endParaRPr lang="en-US" sz="950" dirty="0"/>
          </a:p>
        </p:txBody>
      </p:sp>
      <p:sp>
        <p:nvSpPr>
          <p:cNvPr id="32" name="Text 27"/>
          <p:cNvSpPr txBox="1"/>
          <p:nvPr/>
        </p:nvSpPr>
        <p:spPr>
          <a:xfrm>
            <a:off x="4345229"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a:t>
            </a:r>
            <a:endParaRPr lang="en-US" sz="950" dirty="0"/>
          </a:p>
        </p:txBody>
      </p:sp>
      <p:sp>
        <p:nvSpPr>
          <p:cNvPr id="33" name="Text 28"/>
          <p:cNvSpPr txBox="1"/>
          <p:nvPr/>
        </p:nvSpPr>
        <p:spPr>
          <a:xfrm>
            <a:off x="4345229"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Descaler pressure, nozzles</a:t>
            </a:r>
            <a:endParaRPr lang="en-US" sz="950" dirty="0"/>
          </a:p>
        </p:txBody>
      </p:sp>
      <p:sp>
        <p:nvSpPr>
          <p:cNvPr id="34" name="Shape 29"/>
          <p:cNvSpPr/>
          <p:nvPr/>
        </p:nvSpPr>
        <p:spPr>
          <a:xfrm>
            <a:off x="6152083" y="1572768"/>
            <a:ext cx="1783080" cy="2432304"/>
          </a:xfrm>
          <a:prstGeom prst="roundRect">
            <a:avLst>
              <a:gd name="adj" fmla="val 3077"/>
            </a:avLst>
          </a:prstGeom>
          <a:solidFill>
            <a:srgbClr val="F1F4F7"/>
          </a:solidFill>
          <a:ln w="12700">
            <a:solidFill>
              <a:srgbClr val="F1F4F7"/>
            </a:solidFill>
            <a:prstDash val="solid"/>
          </a:ln>
        </p:spPr>
      </p:sp>
      <p:pic>
        <p:nvPicPr>
          <p:cNvPr id="35" name="Image 3" descr="img/det_pitted_surface.png">    </p:cNvPr>
          <p:cNvPicPr>
            <a:picLocks noChangeAspect="1"/>
          </p:cNvPicPr>
          <p:nvPr/>
        </p:nvPicPr>
        <p:blipFill>
          <a:blip r:embed="rId4"/>
          <a:stretch>
            <a:fillRect/>
          </a:stretch>
        </p:blipFill>
        <p:spPr>
          <a:xfrm>
            <a:off x="6348679" y="1627632"/>
            <a:ext cx="1389888" cy="1389888"/>
          </a:xfrm>
          <a:prstGeom prst="rect">
            <a:avLst/>
          </a:prstGeom>
        </p:spPr>
      </p:pic>
      <p:sp>
        <p:nvSpPr>
          <p:cNvPr id="36" name="Text 30"/>
          <p:cNvSpPr txBox="1"/>
          <p:nvPr/>
        </p:nvSpPr>
        <p:spPr>
          <a:xfrm>
            <a:off x="6243523"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Reheat, pickling</a:t>
            </a:r>
            <a:endParaRPr lang="en-US" sz="950" dirty="0"/>
          </a:p>
        </p:txBody>
      </p:sp>
      <p:sp>
        <p:nvSpPr>
          <p:cNvPr id="37" name="Text 31"/>
          <p:cNvSpPr txBox="1"/>
          <p:nvPr/>
        </p:nvSpPr>
        <p:spPr>
          <a:xfrm>
            <a:off x="6243523"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HSM / pickling</a:t>
            </a:r>
            <a:endParaRPr lang="en-US" sz="950" dirty="0"/>
          </a:p>
        </p:txBody>
      </p:sp>
      <p:sp>
        <p:nvSpPr>
          <p:cNvPr id="38" name="Text 32"/>
          <p:cNvSpPr txBox="1"/>
          <p:nvPr/>
        </p:nvSpPr>
        <p:spPr>
          <a:xfrm>
            <a:off x="6243523"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Furnace atmosphere, over-pickling</a:t>
            </a:r>
            <a:endParaRPr lang="en-US" sz="950" dirty="0"/>
          </a:p>
        </p:txBody>
      </p:sp>
      <p:sp>
        <p:nvSpPr>
          <p:cNvPr id="39" name="Shape 33"/>
          <p:cNvSpPr/>
          <p:nvPr/>
        </p:nvSpPr>
        <p:spPr>
          <a:xfrm>
            <a:off x="8050378" y="1572768"/>
            <a:ext cx="1783080" cy="2432304"/>
          </a:xfrm>
          <a:prstGeom prst="roundRect">
            <a:avLst>
              <a:gd name="adj" fmla="val 3077"/>
            </a:avLst>
          </a:prstGeom>
          <a:solidFill>
            <a:srgbClr val="F1F4F7"/>
          </a:solidFill>
          <a:ln w="12700">
            <a:solidFill>
              <a:srgbClr val="F1F4F7"/>
            </a:solidFill>
            <a:prstDash val="solid"/>
          </a:ln>
        </p:spPr>
      </p:sp>
      <p:pic>
        <p:nvPicPr>
          <p:cNvPr id="40" name="Image 4" descr="img/det_patches.png">    </p:cNvPr>
          <p:cNvPicPr>
            <a:picLocks noChangeAspect="1"/>
          </p:cNvPicPr>
          <p:nvPr/>
        </p:nvPicPr>
        <p:blipFill>
          <a:blip r:embed="rId5"/>
          <a:stretch>
            <a:fillRect/>
          </a:stretch>
        </p:blipFill>
        <p:spPr>
          <a:xfrm>
            <a:off x="8246974" y="1627632"/>
            <a:ext cx="1389888" cy="1389888"/>
          </a:xfrm>
          <a:prstGeom prst="rect">
            <a:avLst/>
          </a:prstGeom>
        </p:spPr>
      </p:pic>
      <p:sp>
        <p:nvSpPr>
          <p:cNvPr id="41" name="Text 34"/>
          <p:cNvSpPr txBox="1"/>
          <p:nvPr/>
        </p:nvSpPr>
        <p:spPr>
          <a:xfrm>
            <a:off x="8141818"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Anneal &amp; pickle</a:t>
            </a:r>
            <a:endParaRPr lang="en-US" sz="950" dirty="0"/>
          </a:p>
        </p:txBody>
      </p:sp>
      <p:sp>
        <p:nvSpPr>
          <p:cNvPr id="42" name="Text 35"/>
          <p:cNvSpPr txBox="1"/>
          <p:nvPr/>
        </p:nvSpPr>
        <p:spPr>
          <a:xfrm>
            <a:off x="8141818"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Pickling line</a:t>
            </a:r>
            <a:endParaRPr lang="en-US" sz="950" dirty="0"/>
          </a:p>
        </p:txBody>
      </p:sp>
      <p:sp>
        <p:nvSpPr>
          <p:cNvPr id="43" name="Text 36"/>
          <p:cNvSpPr txBox="1"/>
          <p:nvPr/>
        </p:nvSpPr>
        <p:spPr>
          <a:xfrm>
            <a:off x="8141818"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Acid strength, line speed</a:t>
            </a:r>
            <a:endParaRPr lang="en-US" sz="950" dirty="0"/>
          </a:p>
        </p:txBody>
      </p:sp>
      <p:sp>
        <p:nvSpPr>
          <p:cNvPr id="44" name="Shape 37"/>
          <p:cNvSpPr/>
          <p:nvPr/>
        </p:nvSpPr>
        <p:spPr>
          <a:xfrm>
            <a:off x="9948672" y="1572768"/>
            <a:ext cx="1783080" cy="2432304"/>
          </a:xfrm>
          <a:prstGeom prst="roundRect">
            <a:avLst>
              <a:gd name="adj" fmla="val 3077"/>
            </a:avLst>
          </a:prstGeom>
          <a:solidFill>
            <a:srgbClr val="F1F4F7"/>
          </a:solidFill>
          <a:ln w="12700">
            <a:solidFill>
              <a:srgbClr val="F1F4F7"/>
            </a:solidFill>
            <a:prstDash val="solid"/>
          </a:ln>
        </p:spPr>
      </p:sp>
      <p:pic>
        <p:nvPicPr>
          <p:cNvPr id="45" name="Image 5" descr="img/det_scratches.png">    </p:cNvPr>
          <p:cNvPicPr>
            <a:picLocks noChangeAspect="1"/>
          </p:cNvPicPr>
          <p:nvPr/>
        </p:nvPicPr>
        <p:blipFill>
          <a:blip r:embed="rId6"/>
          <a:stretch>
            <a:fillRect/>
          </a:stretch>
        </p:blipFill>
        <p:spPr>
          <a:xfrm>
            <a:off x="10145268" y="1627632"/>
            <a:ext cx="1389888" cy="1389888"/>
          </a:xfrm>
          <a:prstGeom prst="rect">
            <a:avLst/>
          </a:prstGeom>
        </p:spPr>
      </p:pic>
      <p:sp>
        <p:nvSpPr>
          <p:cNvPr id="46" name="Text 38"/>
          <p:cNvSpPr txBox="1"/>
          <p:nvPr/>
        </p:nvSpPr>
        <p:spPr>
          <a:xfrm>
            <a:off x="10040112" y="3063240"/>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Born: </a:t>
            </a:r>
            <a:pPr indent="0" marL="0">
              <a:buNone/>
            </a:pPr>
            <a:r>
              <a:rPr lang="en-US" sz="950" b="1" dirty="0">
                <a:solidFill>
                  <a:srgbClr val="143A5A"/>
                </a:solidFill>
                <a:latin typeface="Calibri" pitchFamily="34" charset="0"/>
                <a:ea typeface="Calibri" pitchFamily="34" charset="-122"/>
                <a:cs typeface="Calibri" pitchFamily="34" charset="-120"/>
              </a:rPr>
              <a:t>Cold rolling, handling</a:t>
            </a:r>
            <a:endParaRPr lang="en-US" sz="950" dirty="0"/>
          </a:p>
        </p:txBody>
      </p:sp>
      <p:sp>
        <p:nvSpPr>
          <p:cNvPr id="47" name="Text 39"/>
          <p:cNvSpPr txBox="1"/>
          <p:nvPr/>
        </p:nvSpPr>
        <p:spPr>
          <a:xfrm>
            <a:off x="10040112" y="3255264"/>
            <a:ext cx="1600200" cy="192024"/>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Owner: </a:t>
            </a:r>
            <a:pPr indent="0" marL="0">
              <a:buNone/>
            </a:pPr>
            <a:r>
              <a:rPr lang="en-US" sz="950" b="1" dirty="0">
                <a:solidFill>
                  <a:srgbClr val="0086C3"/>
                </a:solidFill>
                <a:latin typeface="Calibri" pitchFamily="34" charset="0"/>
                <a:ea typeface="Calibri" pitchFamily="34" charset="-122"/>
                <a:cs typeface="Calibri" pitchFamily="34" charset="-120"/>
              </a:rPr>
              <a:t>CRM / logistics</a:t>
            </a:r>
            <a:endParaRPr lang="en-US" sz="950" dirty="0"/>
          </a:p>
        </p:txBody>
      </p:sp>
      <p:sp>
        <p:nvSpPr>
          <p:cNvPr id="48" name="Text 40"/>
          <p:cNvSpPr txBox="1"/>
          <p:nvPr/>
        </p:nvSpPr>
        <p:spPr>
          <a:xfrm>
            <a:off x="10040112" y="3456432"/>
            <a:ext cx="1600200" cy="402336"/>
          </a:xfrm>
          <a:prstGeom prst="rect">
            <a:avLst/>
          </a:prstGeom>
          <a:noFill/>
          <a:ln/>
        </p:spPr>
        <p:txBody>
          <a:bodyPr wrap="square" lIns="0" tIns="0" rIns="0" bIns="0" rtlCol="0" anchor="t"/>
          <a:lstStyle/>
          <a:p>
            <a:pPr indent="0" marL="0">
              <a:buNone/>
            </a:pPr>
            <a:r>
              <a:rPr lang="en-US" sz="950" dirty="0">
                <a:solidFill>
                  <a:srgbClr val="5F6B78"/>
                </a:solidFill>
                <a:latin typeface="Calibri" pitchFamily="34" charset="0"/>
                <a:ea typeface="Calibri" pitchFamily="34" charset="-122"/>
                <a:cs typeface="Calibri" pitchFamily="34" charset="-120"/>
              </a:rPr>
              <a:t>Fix: </a:t>
            </a:r>
            <a:pPr indent="0" marL="0">
              <a:buNone/>
            </a:pPr>
            <a:r>
              <a:rPr lang="en-US" sz="950" dirty="0">
                <a:solidFill>
                  <a:srgbClr val="334150"/>
                </a:solidFill>
                <a:latin typeface="Calibri" pitchFamily="34" charset="0"/>
                <a:ea typeface="Calibri" pitchFamily="34" charset="-122"/>
                <a:cs typeface="Calibri" pitchFamily="34" charset="-120"/>
              </a:rPr>
              <a:t>Guides, rolls, coil handling</a:t>
            </a:r>
            <a:endParaRPr lang="en-US" sz="950" dirty="0"/>
          </a:p>
        </p:txBody>
      </p:sp>
      <p:sp>
        <p:nvSpPr>
          <p:cNvPr id="49" name="Text 41"/>
          <p:cNvSpPr txBox="1"/>
          <p:nvPr/>
        </p:nvSpPr>
        <p:spPr>
          <a:xfrm>
            <a:off x="457200" y="4050792"/>
            <a:ext cx="2606040" cy="237744"/>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Stainless-only types to add with JSL data:</a:t>
            </a:r>
            <a:endParaRPr lang="en-US" sz="950" dirty="0"/>
          </a:p>
        </p:txBody>
      </p:sp>
      <p:sp>
        <p:nvSpPr>
          <p:cNvPr id="50" name="Shape 42"/>
          <p:cNvSpPr/>
          <p:nvPr/>
        </p:nvSpPr>
        <p:spPr>
          <a:xfrm>
            <a:off x="3090672" y="4069080"/>
            <a:ext cx="548640" cy="201168"/>
          </a:xfrm>
          <a:prstGeom prst="roundRect">
            <a:avLst>
              <a:gd name="adj" fmla="val 27273"/>
            </a:avLst>
          </a:prstGeom>
          <a:solidFill>
            <a:srgbClr val="E4EEF6"/>
          </a:solidFill>
          <a:ln w="12700">
            <a:solidFill>
              <a:srgbClr val="E4EEF6"/>
            </a:solidFill>
            <a:prstDash val="solid"/>
          </a:ln>
        </p:spPr>
      </p:sp>
      <p:sp>
        <p:nvSpPr>
          <p:cNvPr id="51" name="Text 43"/>
          <p:cNvSpPr txBox="1"/>
          <p:nvPr/>
        </p:nvSpPr>
        <p:spPr>
          <a:xfrm>
            <a:off x="3090672" y="4069080"/>
            <a:ext cx="548640"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Roping</a:t>
            </a:r>
            <a:endParaRPr lang="en-US" sz="900" dirty="0"/>
          </a:p>
        </p:txBody>
      </p:sp>
      <p:sp>
        <p:nvSpPr>
          <p:cNvPr id="52" name="Shape 44"/>
          <p:cNvSpPr/>
          <p:nvPr/>
        </p:nvSpPr>
        <p:spPr>
          <a:xfrm>
            <a:off x="3712464" y="4069080"/>
            <a:ext cx="1426464" cy="201168"/>
          </a:xfrm>
          <a:prstGeom prst="roundRect">
            <a:avLst>
              <a:gd name="adj" fmla="val 27273"/>
            </a:avLst>
          </a:prstGeom>
          <a:solidFill>
            <a:srgbClr val="E4EEF6"/>
          </a:solidFill>
          <a:ln w="12700">
            <a:solidFill>
              <a:srgbClr val="E4EEF6"/>
            </a:solidFill>
            <a:prstDash val="solid"/>
          </a:ln>
        </p:spPr>
      </p:sp>
      <p:sp>
        <p:nvSpPr>
          <p:cNvPr id="53" name="Text 45"/>
          <p:cNvSpPr txBox="1"/>
          <p:nvPr/>
        </p:nvSpPr>
        <p:spPr>
          <a:xfrm>
            <a:off x="3712464" y="4069080"/>
            <a:ext cx="1426464"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Ridging (ferritic 430)</a:t>
            </a:r>
            <a:endParaRPr lang="en-US" sz="900" dirty="0"/>
          </a:p>
        </p:txBody>
      </p:sp>
      <p:sp>
        <p:nvSpPr>
          <p:cNvPr id="54" name="Shape 46"/>
          <p:cNvSpPr/>
          <p:nvPr/>
        </p:nvSpPr>
        <p:spPr>
          <a:xfrm>
            <a:off x="5212080" y="4069080"/>
            <a:ext cx="822960" cy="201168"/>
          </a:xfrm>
          <a:prstGeom prst="roundRect">
            <a:avLst>
              <a:gd name="adj" fmla="val 27273"/>
            </a:avLst>
          </a:prstGeom>
          <a:solidFill>
            <a:srgbClr val="E4EEF6"/>
          </a:solidFill>
          <a:ln w="12700">
            <a:solidFill>
              <a:srgbClr val="E4EEF6"/>
            </a:solidFill>
            <a:prstDash val="solid"/>
          </a:ln>
        </p:spPr>
      </p:sp>
      <p:sp>
        <p:nvSpPr>
          <p:cNvPr id="55" name="Text 47"/>
          <p:cNvSpPr txBox="1"/>
          <p:nvPr/>
        </p:nvSpPr>
        <p:spPr>
          <a:xfrm>
            <a:off x="5212080" y="4069080"/>
            <a:ext cx="822960"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Orange peel</a:t>
            </a:r>
            <a:endParaRPr lang="en-US" sz="900" dirty="0"/>
          </a:p>
        </p:txBody>
      </p:sp>
      <p:sp>
        <p:nvSpPr>
          <p:cNvPr id="56" name="Shape 48"/>
          <p:cNvSpPr/>
          <p:nvPr/>
        </p:nvSpPr>
        <p:spPr>
          <a:xfrm>
            <a:off x="6108192" y="4069080"/>
            <a:ext cx="932688" cy="201168"/>
          </a:xfrm>
          <a:prstGeom prst="roundRect">
            <a:avLst>
              <a:gd name="adj" fmla="val 27273"/>
            </a:avLst>
          </a:prstGeom>
          <a:solidFill>
            <a:srgbClr val="E4EEF6"/>
          </a:solidFill>
          <a:ln w="12700">
            <a:solidFill>
              <a:srgbClr val="E4EEF6"/>
            </a:solidFill>
            <a:prstDash val="solid"/>
          </a:ln>
        </p:spPr>
      </p:sp>
      <p:sp>
        <p:nvSpPr>
          <p:cNvPr id="57" name="Text 49"/>
          <p:cNvSpPr txBox="1"/>
          <p:nvPr/>
        </p:nvSpPr>
        <p:spPr>
          <a:xfrm>
            <a:off x="6108192" y="4069080"/>
            <a:ext cx="932688"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Anneal colour</a:t>
            </a:r>
            <a:endParaRPr lang="en-US" sz="900" dirty="0"/>
          </a:p>
        </p:txBody>
      </p:sp>
      <p:sp>
        <p:nvSpPr>
          <p:cNvPr id="58" name="Shape 50"/>
          <p:cNvSpPr/>
          <p:nvPr/>
        </p:nvSpPr>
        <p:spPr>
          <a:xfrm>
            <a:off x="7114032" y="4069080"/>
            <a:ext cx="713232" cy="201168"/>
          </a:xfrm>
          <a:prstGeom prst="roundRect">
            <a:avLst>
              <a:gd name="adj" fmla="val 27273"/>
            </a:avLst>
          </a:prstGeom>
          <a:solidFill>
            <a:srgbClr val="E4EEF6"/>
          </a:solidFill>
          <a:ln w="12700">
            <a:solidFill>
              <a:srgbClr val="E4EEF6"/>
            </a:solidFill>
            <a:prstDash val="solid"/>
          </a:ln>
        </p:spPr>
      </p:sp>
      <p:sp>
        <p:nvSpPr>
          <p:cNvPr id="59" name="Text 51"/>
          <p:cNvSpPr txBox="1"/>
          <p:nvPr/>
        </p:nvSpPr>
        <p:spPr>
          <a:xfrm>
            <a:off x="7114032" y="4069080"/>
            <a:ext cx="713232"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BA stains</a:t>
            </a:r>
            <a:endParaRPr lang="en-US" sz="900" dirty="0"/>
          </a:p>
        </p:txBody>
      </p:sp>
      <p:sp>
        <p:nvSpPr>
          <p:cNvPr id="60" name="Shape 52"/>
          <p:cNvSpPr/>
          <p:nvPr/>
        </p:nvSpPr>
        <p:spPr>
          <a:xfrm>
            <a:off x="7900416" y="4069080"/>
            <a:ext cx="768096" cy="201168"/>
          </a:xfrm>
          <a:prstGeom prst="roundRect">
            <a:avLst>
              <a:gd name="adj" fmla="val 27273"/>
            </a:avLst>
          </a:prstGeom>
          <a:solidFill>
            <a:srgbClr val="E4EEF6"/>
          </a:solidFill>
          <a:ln w="12700">
            <a:solidFill>
              <a:srgbClr val="E4EEF6"/>
            </a:solidFill>
            <a:prstDash val="solid"/>
          </a:ln>
        </p:spPr>
      </p:sp>
      <p:sp>
        <p:nvSpPr>
          <p:cNvPr id="61" name="Text 53"/>
          <p:cNvSpPr txBox="1"/>
          <p:nvPr/>
        </p:nvSpPr>
        <p:spPr>
          <a:xfrm>
            <a:off x="7900416" y="4069080"/>
            <a:ext cx="768096" cy="201168"/>
          </a:xfrm>
          <a:prstGeom prst="rect">
            <a:avLst/>
          </a:prstGeom>
          <a:noFill/>
          <a:ln/>
        </p:spPr>
        <p:txBody>
          <a:bodyPr wrap="square" lIns="0" tIns="0" rIns="0" bIns="0" rtlCol="0" anchor="ctr"/>
          <a:lstStyle/>
          <a:p>
            <a:pPr algn="ctr" indent="0" marL="0">
              <a:buNone/>
            </a:pPr>
            <a:r>
              <a:rPr lang="en-US" sz="900" dirty="0">
                <a:solidFill>
                  <a:srgbClr val="143A5A"/>
                </a:solidFill>
                <a:latin typeface="Calibri" pitchFamily="34" charset="0"/>
                <a:ea typeface="Calibri" pitchFamily="34" charset="-122"/>
                <a:cs typeface="Calibri" pitchFamily="34" charset="-120"/>
              </a:rPr>
              <a:t>Lamination</a:t>
            </a:r>
            <a:endParaRPr lang="en-US" sz="900" dirty="0"/>
          </a:p>
        </p:txBody>
      </p:sp>
      <p:sp>
        <p:nvSpPr>
          <p:cNvPr id="62" name="Shape 54"/>
          <p:cNvSpPr/>
          <p:nvPr/>
        </p:nvSpPr>
        <p:spPr>
          <a:xfrm>
            <a:off x="457200" y="4370832"/>
            <a:ext cx="4572000" cy="274320"/>
          </a:xfrm>
          <a:prstGeom prst="rect">
            <a:avLst/>
          </a:prstGeom>
          <a:solidFill>
            <a:srgbClr val="2B5B80"/>
          </a:solidFill>
          <a:ln w="12700">
            <a:solidFill>
              <a:srgbClr val="2B5B80"/>
            </a:solidFill>
            <a:prstDash val="solid"/>
          </a:ln>
        </p:spPr>
      </p:sp>
      <p:sp>
        <p:nvSpPr>
          <p:cNvPr id="63" name="Text 55"/>
          <p:cNvSpPr txBox="1"/>
          <p:nvPr/>
        </p:nvSpPr>
        <p:spPr>
          <a:xfrm>
            <a:off x="548640" y="4370832"/>
            <a:ext cx="4389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Precedent: who already does this, and what we copy</a:t>
            </a:r>
            <a:endParaRPr lang="en-US" sz="1100" dirty="0"/>
          </a:p>
        </p:txBody>
      </p:sp>
      <p:sp>
        <p:nvSpPr>
          <p:cNvPr id="64" name="Text 56"/>
          <p:cNvSpPr txBox="1"/>
          <p:nvPr/>
        </p:nvSpPr>
        <p:spPr>
          <a:xfrm>
            <a:off x="502920" y="4690872"/>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Outokumpu</a:t>
            </a:r>
            <a:endParaRPr lang="en-US" sz="950" dirty="0"/>
          </a:p>
        </p:txBody>
      </p:sp>
      <p:sp>
        <p:nvSpPr>
          <p:cNvPr id="65" name="Text 57"/>
          <p:cNvSpPr txBox="1"/>
          <p:nvPr/>
        </p:nvSpPr>
        <p:spPr>
          <a:xfrm>
            <a:off x="1572768" y="4690872"/>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Europe's #1 stainless maker; AI inspection live at Tornio since 2024, runs offline.</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offline edge, multi-site</a:t>
            </a:r>
            <a:endParaRPr lang="en-US" sz="900" dirty="0"/>
          </a:p>
        </p:txBody>
      </p:sp>
      <p:sp>
        <p:nvSpPr>
          <p:cNvPr id="66" name="Text 58"/>
          <p:cNvSpPr txBox="1"/>
          <p:nvPr/>
        </p:nvSpPr>
        <p:spPr>
          <a:xfrm>
            <a:off x="502920" y="5093208"/>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Tata Steel</a:t>
            </a:r>
            <a:endParaRPr lang="en-US" sz="950" dirty="0"/>
          </a:p>
        </p:txBody>
      </p:sp>
      <p:sp>
        <p:nvSpPr>
          <p:cNvPr id="67" name="Text 59"/>
          <p:cNvSpPr txBox="1"/>
          <p:nvPr/>
        </p:nvSpPr>
        <p:spPr>
          <a:xfrm>
            <a:off x="1572768" y="5093208"/>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Kalinganagar (WEF Lighthouse) finds cold-rolled surface defects by video analytics.</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in-house team owns it</a:t>
            </a:r>
            <a:endParaRPr lang="en-US" sz="900" dirty="0"/>
          </a:p>
        </p:txBody>
      </p:sp>
      <p:sp>
        <p:nvSpPr>
          <p:cNvPr id="68" name="Text 60"/>
          <p:cNvSpPr txBox="1"/>
          <p:nvPr/>
        </p:nvSpPr>
        <p:spPr>
          <a:xfrm>
            <a:off x="502920" y="5495544"/>
            <a:ext cx="1051560" cy="384048"/>
          </a:xfrm>
          <a:prstGeom prst="rect">
            <a:avLst/>
          </a:prstGeom>
          <a:noFill/>
          <a:ln/>
        </p:spPr>
        <p:txBody>
          <a:bodyPr wrap="square" lIns="0" tIns="0" rIns="0" bIns="0" rtlCol="0" anchor="ctr"/>
          <a:lstStyle/>
          <a:p>
            <a:pPr indent="0" marL="0">
              <a:buNone/>
            </a:pPr>
            <a:r>
              <a:rPr lang="en-US" sz="950" b="1" dirty="0">
                <a:solidFill>
                  <a:srgbClr val="143A5A"/>
                </a:solidFill>
                <a:latin typeface="Calibri" pitchFamily="34" charset="0"/>
                <a:ea typeface="Calibri" pitchFamily="34" charset="-122"/>
                <a:cs typeface="Calibri" pitchFamily="34" charset="-120"/>
              </a:rPr>
              <a:t>Parsytec</a:t>
            </a:r>
            <a:endParaRPr lang="en-US" sz="950" dirty="0"/>
          </a:p>
        </p:txBody>
      </p:sp>
      <p:sp>
        <p:nvSpPr>
          <p:cNvPr id="69" name="Text 61"/>
          <p:cNvSpPr txBox="1"/>
          <p:nvPr/>
        </p:nvSpPr>
        <p:spPr>
          <a:xfrm>
            <a:off x="1572768" y="5495544"/>
            <a:ext cx="3429000" cy="384048"/>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On stainless lines: 170 µm cameras, bright + dark-field light, a decision per coil.</a:t>
            </a:r>
            <a:pPr indent="0" marL="0">
              <a:buNone/>
            </a:pPr>
            <a:r>
              <a:rPr lang="en-US" sz="900" b="1" dirty="0">
                <a:solidFill>
                  <a:srgbClr val="0086C3"/>
                </a:solidFill>
                <a:latin typeface="Calibri" pitchFamily="34" charset="0"/>
                <a:ea typeface="Calibri" pitchFamily="34" charset="-122"/>
                <a:cs typeface="Calibri" pitchFamily="34" charset="-120"/>
              </a:rPr>
              <a:t>  Copy: </a:t>
            </a:r>
            <a:pPr indent="0" marL="0">
              <a:buNone/>
            </a:pPr>
            <a:r>
              <a:rPr lang="en-US" sz="900" dirty="0">
                <a:solidFill>
                  <a:srgbClr val="0086C3"/>
                </a:solidFill>
                <a:latin typeface="Calibri" pitchFamily="34" charset="0"/>
                <a:ea typeface="Calibri" pitchFamily="34" charset="-122"/>
                <a:cs typeface="Calibri" pitchFamily="34" charset="-120"/>
              </a:rPr>
              <a:t>optics, coil decision</a:t>
            </a:r>
            <a:endParaRPr lang="en-US" sz="900" dirty="0"/>
          </a:p>
        </p:txBody>
      </p:sp>
      <p:sp>
        <p:nvSpPr>
          <p:cNvPr id="70" name="Shape 62"/>
          <p:cNvSpPr/>
          <p:nvPr/>
        </p:nvSpPr>
        <p:spPr>
          <a:xfrm>
            <a:off x="5257800" y="4370832"/>
            <a:ext cx="6473952" cy="274320"/>
          </a:xfrm>
          <a:prstGeom prst="rect">
            <a:avLst/>
          </a:prstGeom>
          <a:solidFill>
            <a:srgbClr val="2B5B80"/>
          </a:solidFill>
          <a:ln w="12700">
            <a:solidFill>
              <a:srgbClr val="2B5B80"/>
            </a:solidFill>
            <a:prstDash val="solid"/>
          </a:ln>
        </p:spPr>
      </p:sp>
      <p:sp>
        <p:nvSpPr>
          <p:cNvPr id="71" name="Text 63"/>
          <p:cNvSpPr txBox="1"/>
          <p:nvPr/>
        </p:nvSpPr>
        <p:spPr>
          <a:xfrm>
            <a:off x="5349240" y="4370832"/>
            <a:ext cx="62910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Grade-by-defect risk: which defects to train for first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257800" y="4690872"/>
          <a:ext cx="4572000" cy="914400"/>
        </p:xfrm>
        <a:graphic>
          <a:graphicData uri="http://schemas.openxmlformats.org/drawingml/2006/table">
            <a:tbl>
              <a:tblPr/>
              <a:tblGrid>
                <a:gridCol w="1463040"/>
                <a:gridCol w="621792"/>
                <a:gridCol w="621792"/>
                <a:gridCol w="621792"/>
                <a:gridCol w="621792"/>
                <a:gridCol w="621792"/>
              </a:tblGrid>
              <a:tr h="23317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Grade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Slivers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Scratches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Edge cracks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Ridging</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200 series (Cr-Mn)</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300 series (304, 316)</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4EEF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400 series (409, 430)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r h="233172">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Duplex (2205)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141C24"/>
                          </a:solidFill>
                          <a:latin typeface="Calibri" pitchFamily="34" charset="0"/>
                          <a:ea typeface="Calibri" pitchFamily="34" charset="-122"/>
                          <a:cs typeface="Calibri" pitchFamily="34" charset="-120"/>
                        </a:rPr>
                        <a:t>M</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H</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950" b="1" dirty="0">
                          <a:solidFill>
                            <a:srgbClr val="5F6B78"/>
                          </a:solidFill>
                          <a:latin typeface="Calibri" pitchFamily="34" charset="0"/>
                          <a:ea typeface="Calibri" pitchFamily="34" charset="-122"/>
                          <a:cs typeface="Calibri" pitchFamily="34" charset="-120"/>
                        </a:rPr>
                        <a:t>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r>
            </a:tbl>
          </a:graphicData>
        </a:graphic>
      </p:graphicFrame>
      <p:sp>
        <p:nvSpPr>
          <p:cNvPr id="73" name="Shape 64"/>
          <p:cNvSpPr/>
          <p:nvPr/>
        </p:nvSpPr>
        <p:spPr>
          <a:xfrm>
            <a:off x="9966960" y="4690872"/>
            <a:ext cx="1764792" cy="1170432"/>
          </a:xfrm>
          <a:prstGeom prst="roundRect">
            <a:avLst>
              <a:gd name="adj" fmla="val 4688"/>
            </a:avLst>
          </a:prstGeom>
          <a:solidFill>
            <a:srgbClr val="143A5A"/>
          </a:solidFill>
          <a:ln w="12700">
            <a:solidFill>
              <a:srgbClr val="143A5A"/>
            </a:solidFill>
            <a:prstDash val="solid"/>
          </a:ln>
        </p:spPr>
      </p:sp>
      <p:sp>
        <p:nvSpPr>
          <p:cNvPr id="74" name="Text 65"/>
          <p:cNvSpPr txBox="1"/>
          <p:nvPr/>
        </p:nvSpPr>
        <p:spPr>
          <a:xfrm>
            <a:off x="10058400" y="4736592"/>
            <a:ext cx="1600200" cy="1097280"/>
          </a:xfrm>
          <a:prstGeom prst="rect">
            <a:avLst/>
          </a:prstGeom>
          <a:noFill/>
          <a:ln/>
        </p:spPr>
        <p:txBody>
          <a:bodyPr wrap="square" lIns="0" tIns="0" rIns="0" bIns="0" rtlCol="0" anchor="t"/>
          <a:lstStyle/>
          <a:p>
            <a:pPr indent="0" marL="0">
              <a:buNone/>
            </a:pPr>
            <a:r>
              <a:rPr lang="en-US" sz="900" b="1" dirty="0">
                <a:solidFill>
                  <a:srgbClr val="BFD2E2"/>
                </a:solidFill>
                <a:latin typeface="Calibri" pitchFamily="34" charset="0"/>
                <a:ea typeface="Calibri" pitchFamily="34" charset="-122"/>
                <a:cs typeface="Calibri" pitchFamily="34" charset="-120"/>
              </a:rPr>
              <a:t>OUTPUT
</a:t>
            </a:r>
            <a:pPr indent="0" marL="0">
              <a:buNone/>
            </a:pPr>
            <a:r>
              <a:rPr lang="en-US" sz="950" b="1" dirty="0">
                <a:solidFill>
                  <a:srgbClr val="FFFFFF"/>
                </a:solidFill>
                <a:latin typeface="Calibri" pitchFamily="34" charset="0"/>
                <a:ea typeface="Calibri" pitchFamily="34" charset="-122"/>
                <a:cs typeface="Calibri" pitchFamily="34" charset="-120"/>
              </a:rPr>
              <a:t>300 series is the pilot grade: </a:t>
            </a:r>
            <a:pPr indent="0" marL="0">
              <a:buNone/>
            </a:pPr>
            <a:r>
              <a:rPr lang="en-US" sz="950" dirty="0">
                <a:solidFill>
                  <a:srgbClr val="BFD2E2"/>
                </a:solidFill>
                <a:latin typeface="Calibri" pitchFamily="34" charset="0"/>
                <a:ea typeface="Calibri" pitchFamily="34" charset="-122"/>
                <a:cs typeface="Calibri" pitchFamily="34" charset="-120"/>
              </a:rPr>
              <a:t>highest exposed-finish risk and the most nickel per tonne.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143A5A"/>
          </a:solidFill>
          <a:ln w="12700">
            <a:solidFill>
              <a:srgbClr val="143A5A"/>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Four design choices that make the system work on a real line</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Success is decided on the line, not in the lab: JSL's own strip, the right image detail, coil-level rules and operator trust.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Results measured by us on public steel data the system had never seen. Hardware sizing derived from our line-speed benchmark.</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Alarms you can act on</a:t>
            </a:r>
            <a:endParaRPr lang="en-US" sz="1100" dirty="0"/>
          </a:p>
        </p:txBody>
      </p:sp>
      <p:sp>
        <p:nvSpPr>
          <p:cNvPr id="19" name="Shape 17"/>
          <p:cNvSpPr/>
          <p:nvPr/>
        </p:nvSpPr>
        <p:spPr>
          <a:xfrm>
            <a:off x="457200" y="1508760"/>
            <a:ext cx="5541264" cy="1984248"/>
          </a:xfrm>
          <a:prstGeom prst="roundRect">
            <a:avLst>
              <a:gd name="adj" fmla="val 2765"/>
            </a:avLst>
          </a:prstGeom>
          <a:solidFill>
            <a:srgbClr val="F1F4F7"/>
          </a:solidFill>
          <a:ln w="12700">
            <a:solidFill>
              <a:srgbClr val="F1F4F7"/>
            </a:solidFill>
            <a:prstDash val="solid"/>
          </a:ln>
        </p:spPr>
      </p:sp>
      <p:graphicFrame>
        <p:nvGraphicFramePr>
          <p:cNvPr id="20" name="Chart 0" descr=""/>
          <p:cNvGraphicFramePr/>
          <p:nvPr/>
        </p:nvGraphicFramePr>
        <p:xfrm>
          <a:off x="594360" y="1591056"/>
          <a:ext cx="1371600" cy="137160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59436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90%</a:t>
            </a:r>
            <a:endParaRPr lang="en-US" sz="1800" dirty="0"/>
          </a:p>
        </p:txBody>
      </p:sp>
      <p:sp>
        <p:nvSpPr>
          <p:cNvPr id="22" name="Text 19"/>
          <p:cNvSpPr txBox="1"/>
          <p:nvPr/>
        </p:nvSpPr>
        <p:spPr>
          <a:xfrm>
            <a:off x="201168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defects caught</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258 of 288 defective mill images</a:t>
            </a:r>
            <a:endParaRPr lang="en-US" sz="950" dirty="0"/>
          </a:p>
        </p:txBody>
      </p:sp>
      <p:graphicFrame>
        <p:nvGraphicFramePr>
          <p:cNvPr id="23" name="Chart 1" descr=""/>
          <p:cNvGraphicFramePr/>
          <p:nvPr/>
        </p:nvGraphicFramePr>
        <p:xfrm>
          <a:off x="3291840" y="1591056"/>
          <a:ext cx="1371600" cy="1371600"/>
        </p:xfrm>
        <a:graphic xmlns:a="http://schemas.openxmlformats.org/drawingml/2006/main">
          <a:graphicData uri="http://schemas.openxmlformats.org/drawingml/2006/chart">
            <c:chart xmlns:c="http://schemas.openxmlformats.org/drawingml/2006/chart" r:id="rId2"/>
          </a:graphicData>
        </a:graphic>
      </p:graphicFrame>
      <p:sp>
        <p:nvSpPr>
          <p:cNvPr id="24" name="Text 20"/>
          <p:cNvSpPr txBox="1"/>
          <p:nvPr/>
        </p:nvSpPr>
        <p:spPr>
          <a:xfrm>
            <a:off x="3291840" y="2066544"/>
            <a:ext cx="1371600" cy="420624"/>
          </a:xfrm>
          <a:prstGeom prst="rect">
            <a:avLst/>
          </a:prstGeom>
          <a:noFill/>
          <a:ln/>
        </p:spPr>
        <p:txBody>
          <a:bodyPr wrap="square" lIns="0" tIns="0" rIns="0" bIns="0" rtlCol="0" anchor="ctr"/>
          <a:lstStyle/>
          <a:p>
            <a:pPr algn="ctr" indent="0" marL="0">
              <a:buNone/>
            </a:pPr>
            <a:r>
              <a:rPr lang="en-US" sz="1800" b="1" dirty="0">
                <a:solidFill>
                  <a:srgbClr val="143A5A"/>
                </a:solidFill>
                <a:latin typeface="Calibri" pitchFamily="34" charset="0"/>
                <a:ea typeface="Calibri" pitchFamily="34" charset="-122"/>
                <a:cs typeface="Calibri" pitchFamily="34" charset="-120"/>
              </a:rPr>
              <a:t>4.7%</a:t>
            </a:r>
            <a:endParaRPr lang="en-US" sz="1800" dirty="0"/>
          </a:p>
        </p:txBody>
      </p:sp>
      <p:sp>
        <p:nvSpPr>
          <p:cNvPr id="25" name="Text 21"/>
          <p:cNvSpPr txBox="1"/>
          <p:nvPr/>
        </p:nvSpPr>
        <p:spPr>
          <a:xfrm>
            <a:off x="4709160" y="1847088"/>
            <a:ext cx="1234440" cy="86868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of clean strip flagged</a:t>
            </a:r>
            <a:pPr indent="0" marL="0">
              <a:buNone/>
            </a:pP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14 of 300 clean mill images</a:t>
            </a:r>
            <a:endParaRPr lang="en-US" sz="950" dirty="0"/>
          </a:p>
        </p:txBody>
      </p:sp>
      <p:sp>
        <p:nvSpPr>
          <p:cNvPr id="26" name="Text 22"/>
          <p:cNvSpPr txBox="1"/>
          <p:nvPr/>
        </p:nvSpPr>
        <p:spPr>
          <a:xfrm>
            <a:off x="594360"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prove it on JSL's own clean and defective strip before any alarm is trusted.</a:t>
            </a:r>
            <a:endParaRPr lang="en-US" sz="1000" dirty="0"/>
          </a:p>
        </p:txBody>
      </p:sp>
      <p:sp>
        <p:nvSpPr>
          <p:cNvPr id="27" name="Shape 23"/>
          <p:cNvSpPr/>
          <p:nvPr/>
        </p:nvSpPr>
        <p:spPr>
          <a:xfrm>
            <a:off x="6190488" y="1234440"/>
            <a:ext cx="5541264" cy="274320"/>
          </a:xfrm>
          <a:prstGeom prst="rect">
            <a:avLst/>
          </a:prstGeom>
          <a:solidFill>
            <a:srgbClr val="2B5B80"/>
          </a:solidFill>
          <a:ln w="12700">
            <a:solidFill>
              <a:srgbClr val="2B5B80"/>
            </a:solidFill>
            <a:prstDash val="solid"/>
          </a:ln>
        </p:spPr>
      </p:sp>
      <p:sp>
        <p:nvSpPr>
          <p:cNvPr id="28" name="Text 24"/>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2  One verdict per coil, not a stream of alarms</a:t>
            </a:r>
            <a:endParaRPr lang="en-US" sz="1100" dirty="0"/>
          </a:p>
        </p:txBody>
      </p:sp>
      <p:sp>
        <p:nvSpPr>
          <p:cNvPr id="29" name="Shape 25"/>
          <p:cNvSpPr/>
          <p:nvPr/>
        </p:nvSpPr>
        <p:spPr>
          <a:xfrm>
            <a:off x="6190488" y="1508760"/>
            <a:ext cx="5541264" cy="1984248"/>
          </a:xfrm>
          <a:prstGeom prst="roundRect">
            <a:avLst>
              <a:gd name="adj" fmla="val 2765"/>
            </a:avLst>
          </a:prstGeom>
          <a:solidFill>
            <a:srgbClr val="F1F4F7"/>
          </a:solidFill>
          <a:ln w="12700">
            <a:solidFill>
              <a:srgbClr val="F1F4F7"/>
            </a:solidFill>
            <a:prstDash val="solid"/>
          </a:ln>
        </p:spPr>
      </p:sp>
      <p:sp>
        <p:nvSpPr>
          <p:cNvPr id="30" name="Shape 26"/>
          <p:cNvSpPr/>
          <p:nvPr/>
        </p:nvSpPr>
        <p:spPr>
          <a:xfrm>
            <a:off x="6355080" y="1645920"/>
            <a:ext cx="3840480" cy="329184"/>
          </a:xfrm>
          <a:prstGeom prst="rect">
            <a:avLst/>
          </a:prstGeom>
          <a:solidFill>
            <a:srgbClr val="DCEAF5"/>
          </a:solidFill>
          <a:ln w="12700">
            <a:solidFill>
              <a:srgbClr val="DCEAF5"/>
            </a:solidFill>
            <a:prstDash val="solid"/>
          </a:ln>
        </p:spPr>
      </p:sp>
      <p:sp>
        <p:nvSpPr>
          <p:cNvPr id="31" name="Shape 27"/>
          <p:cNvSpPr/>
          <p:nvPr/>
        </p:nvSpPr>
        <p:spPr>
          <a:xfrm>
            <a:off x="6675120" y="1682496"/>
            <a:ext cx="109728" cy="256032"/>
          </a:xfrm>
          <a:prstGeom prst="rect">
            <a:avLst/>
          </a:prstGeom>
          <a:solidFill>
            <a:srgbClr val="143A5A"/>
          </a:solidFill>
          <a:ln w="12700">
            <a:solidFill>
              <a:srgbClr val="143A5A"/>
            </a:solidFill>
            <a:prstDash val="solid"/>
          </a:ln>
        </p:spPr>
      </p:sp>
      <p:sp>
        <p:nvSpPr>
          <p:cNvPr id="32" name="Shape 28"/>
          <p:cNvSpPr/>
          <p:nvPr/>
        </p:nvSpPr>
        <p:spPr>
          <a:xfrm>
            <a:off x="7360920" y="1682496"/>
            <a:ext cx="109728" cy="256032"/>
          </a:xfrm>
          <a:prstGeom prst="rect">
            <a:avLst/>
          </a:prstGeom>
          <a:solidFill>
            <a:srgbClr val="0086C3"/>
          </a:solidFill>
          <a:ln w="12700">
            <a:solidFill>
              <a:srgbClr val="0086C3"/>
            </a:solidFill>
            <a:prstDash val="solid"/>
          </a:ln>
        </p:spPr>
      </p:sp>
      <p:sp>
        <p:nvSpPr>
          <p:cNvPr id="33" name="Shape 29"/>
          <p:cNvSpPr/>
          <p:nvPr/>
        </p:nvSpPr>
        <p:spPr>
          <a:xfrm>
            <a:off x="8092440" y="1682496"/>
            <a:ext cx="109728" cy="256032"/>
          </a:xfrm>
          <a:prstGeom prst="rect">
            <a:avLst/>
          </a:prstGeom>
          <a:solidFill>
            <a:srgbClr val="143A5A"/>
          </a:solidFill>
          <a:ln w="12700">
            <a:solidFill>
              <a:srgbClr val="143A5A"/>
            </a:solidFill>
            <a:prstDash val="solid"/>
          </a:ln>
        </p:spPr>
      </p:sp>
      <p:sp>
        <p:nvSpPr>
          <p:cNvPr id="34" name="Shape 30"/>
          <p:cNvSpPr/>
          <p:nvPr/>
        </p:nvSpPr>
        <p:spPr>
          <a:xfrm>
            <a:off x="8869680" y="1682496"/>
            <a:ext cx="109728" cy="256032"/>
          </a:xfrm>
          <a:prstGeom prst="rect">
            <a:avLst/>
          </a:prstGeom>
          <a:solidFill>
            <a:srgbClr val="0086C3"/>
          </a:solidFill>
          <a:ln w="12700">
            <a:solidFill>
              <a:srgbClr val="0086C3"/>
            </a:solidFill>
            <a:prstDash val="solid"/>
          </a:ln>
        </p:spPr>
      </p:sp>
      <p:sp>
        <p:nvSpPr>
          <p:cNvPr id="35" name="Shape 31"/>
          <p:cNvSpPr/>
          <p:nvPr/>
        </p:nvSpPr>
        <p:spPr>
          <a:xfrm>
            <a:off x="9646920" y="1682496"/>
            <a:ext cx="109728" cy="256032"/>
          </a:xfrm>
          <a:prstGeom prst="rect">
            <a:avLst/>
          </a:prstGeom>
          <a:solidFill>
            <a:srgbClr val="143A5A"/>
          </a:solidFill>
          <a:ln w="12700">
            <a:solidFill>
              <a:srgbClr val="143A5A"/>
            </a:solidFill>
            <a:prstDash val="solid"/>
          </a:ln>
        </p:spPr>
      </p:sp>
      <p:sp>
        <p:nvSpPr>
          <p:cNvPr id="36" name="Text 32"/>
          <p:cNvSpPr txBox="1"/>
          <p:nvPr/>
        </p:nvSpPr>
        <p:spPr>
          <a:xfrm>
            <a:off x="6355080" y="1993392"/>
            <a:ext cx="3886200" cy="182880"/>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one coil, both faces: every defect with its type, size and position</a:t>
            </a:r>
            <a:endParaRPr lang="en-US" sz="900" dirty="0"/>
          </a:p>
        </p:txBody>
      </p:sp>
      <p:sp>
        <p:nvSpPr>
          <p:cNvPr id="37" name="Shape 33"/>
          <p:cNvSpPr/>
          <p:nvPr/>
        </p:nvSpPr>
        <p:spPr>
          <a:xfrm>
            <a:off x="10259568" y="1709928"/>
            <a:ext cx="146304" cy="219456"/>
          </a:xfrm>
          <a:prstGeom prst="chevron">
            <a:avLst/>
          </a:prstGeom>
          <a:solidFill>
            <a:srgbClr val="0086C3"/>
          </a:solidFill>
          <a:ln w="12700">
            <a:solidFill>
              <a:srgbClr val="0086C3"/>
            </a:solidFill>
            <a:prstDash val="solid"/>
          </a:ln>
        </p:spPr>
      </p:sp>
      <p:sp>
        <p:nvSpPr>
          <p:cNvPr id="38" name="Shape 34"/>
          <p:cNvSpPr/>
          <p:nvPr/>
        </p:nvSpPr>
        <p:spPr>
          <a:xfrm>
            <a:off x="10488168" y="1572768"/>
            <a:ext cx="1115568" cy="201168"/>
          </a:xfrm>
          <a:prstGeom prst="roundRect">
            <a:avLst>
              <a:gd name="adj" fmla="val 27273"/>
            </a:avLst>
          </a:prstGeom>
          <a:solidFill>
            <a:srgbClr val="2E7D32"/>
          </a:solidFill>
          <a:ln w="12700">
            <a:solidFill>
              <a:srgbClr val="2E7D32"/>
            </a:solidFill>
            <a:prstDash val="solid"/>
          </a:ln>
        </p:spPr>
      </p:sp>
      <p:sp>
        <p:nvSpPr>
          <p:cNvPr id="39" name="Text 35"/>
          <p:cNvSpPr txBox="1"/>
          <p:nvPr/>
        </p:nvSpPr>
        <p:spPr>
          <a:xfrm>
            <a:off x="10488168" y="1572768"/>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ACCEPT</a:t>
            </a:r>
            <a:endParaRPr lang="en-US" sz="900" dirty="0"/>
          </a:p>
        </p:txBody>
      </p:sp>
      <p:sp>
        <p:nvSpPr>
          <p:cNvPr id="40" name="Shape 36"/>
          <p:cNvSpPr/>
          <p:nvPr/>
        </p:nvSpPr>
        <p:spPr>
          <a:xfrm>
            <a:off x="10488168" y="1810512"/>
            <a:ext cx="1115568" cy="201168"/>
          </a:xfrm>
          <a:prstGeom prst="roundRect">
            <a:avLst>
              <a:gd name="adj" fmla="val 27273"/>
            </a:avLst>
          </a:prstGeom>
          <a:solidFill>
            <a:srgbClr val="B77900"/>
          </a:solidFill>
          <a:ln w="12700">
            <a:solidFill>
              <a:srgbClr val="B77900"/>
            </a:solidFill>
            <a:prstDash val="solid"/>
          </a:ln>
        </p:spPr>
      </p:sp>
      <p:sp>
        <p:nvSpPr>
          <p:cNvPr id="41" name="Text 37"/>
          <p:cNvSpPr txBox="1"/>
          <p:nvPr/>
        </p:nvSpPr>
        <p:spPr>
          <a:xfrm>
            <a:off x="10488168" y="1810512"/>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DOWNGRADE</a:t>
            </a:r>
            <a:endParaRPr lang="en-US" sz="900" dirty="0"/>
          </a:p>
        </p:txBody>
      </p:sp>
      <p:sp>
        <p:nvSpPr>
          <p:cNvPr id="42" name="Shape 38"/>
          <p:cNvSpPr/>
          <p:nvPr/>
        </p:nvSpPr>
        <p:spPr>
          <a:xfrm>
            <a:off x="10488168" y="2048256"/>
            <a:ext cx="1115568" cy="201168"/>
          </a:xfrm>
          <a:prstGeom prst="roundRect">
            <a:avLst>
              <a:gd name="adj" fmla="val 27273"/>
            </a:avLst>
          </a:prstGeom>
          <a:solidFill>
            <a:srgbClr val="C62828"/>
          </a:solidFill>
          <a:ln w="12700">
            <a:solidFill>
              <a:srgbClr val="C62828"/>
            </a:solidFill>
            <a:prstDash val="solid"/>
          </a:ln>
        </p:spPr>
      </p:sp>
      <p:sp>
        <p:nvSpPr>
          <p:cNvPr id="43" name="Text 39"/>
          <p:cNvSpPr txBox="1"/>
          <p:nvPr/>
        </p:nvSpPr>
        <p:spPr>
          <a:xfrm>
            <a:off x="10488168" y="2048256"/>
            <a:ext cx="1115568"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HOLD</a:t>
            </a:r>
            <a:endParaRPr lang="en-US" sz="900" dirty="0"/>
          </a:p>
        </p:txBody>
      </p:sp>
      <p:sp>
        <p:nvSpPr>
          <p:cNvPr id="44" name="Text 40"/>
          <p:cNvSpPr txBox="1"/>
          <p:nvPr/>
        </p:nvSpPr>
        <p:spPr>
          <a:xfrm>
            <a:off x="6355080" y="2286000"/>
            <a:ext cx="5212080" cy="640080"/>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All defects on a coil roll up into one decision, using limits set per grade and finish. </a:t>
            </a:r>
            <a:pPr indent="0" marL="0">
              <a:buNone/>
            </a:pPr>
            <a:r>
              <a:rPr lang="en-US" sz="950" b="1" dirty="0">
                <a:solidFill>
                  <a:srgbClr val="143A5A"/>
                </a:solidFill>
                <a:latin typeface="Calibri" pitchFamily="34" charset="0"/>
                <a:ea typeface="Calibri" pitchFamily="34" charset="-122"/>
                <a:cs typeface="Calibri" pitchFamily="34" charset="-120"/>
              </a:rPr>
              <a:t>Example: a light scratch can pass on 2B for tubes but downgrade BA for appliance panels.</a:t>
            </a:r>
            <a:endParaRPr lang="en-US" sz="950" dirty="0"/>
          </a:p>
        </p:txBody>
      </p:sp>
      <p:sp>
        <p:nvSpPr>
          <p:cNvPr id="45" name="Text 41"/>
          <p:cNvSpPr txBox="1"/>
          <p:nvPr/>
        </p:nvSpPr>
        <p:spPr>
          <a:xfrm>
            <a:off x="6327648" y="3163824"/>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agree accept, downgrade and hold limits per grade and finish with JSL Quality in P0.</a:t>
            </a:r>
            <a:endParaRPr lang="en-US" sz="1000" dirty="0"/>
          </a:p>
        </p:txBody>
      </p:sp>
      <p:sp>
        <p:nvSpPr>
          <p:cNvPr id="46" name="Shape 42"/>
          <p:cNvSpPr/>
          <p:nvPr/>
        </p:nvSpPr>
        <p:spPr>
          <a:xfrm>
            <a:off x="457200" y="3630168"/>
            <a:ext cx="5541264" cy="274320"/>
          </a:xfrm>
          <a:prstGeom prst="rect">
            <a:avLst/>
          </a:prstGeom>
          <a:solidFill>
            <a:srgbClr val="2B5B80"/>
          </a:solidFill>
          <a:ln w="12700">
            <a:solidFill>
              <a:srgbClr val="2B5B80"/>
            </a:solidFill>
            <a:prstDash val="solid"/>
          </a:ln>
        </p:spPr>
      </p:sp>
      <p:sp>
        <p:nvSpPr>
          <p:cNvPr id="47" name="Text 43"/>
          <p:cNvSpPr txBox="1"/>
          <p:nvPr/>
        </p:nvSpPr>
        <p:spPr>
          <a:xfrm>
            <a:off x="548640"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  Image detail sets what is seen, and the hardware bill</a:t>
            </a:r>
            <a:endParaRPr lang="en-US" sz="1100" dirty="0"/>
          </a:p>
        </p:txBody>
      </p:sp>
      <p:sp>
        <p:nvSpPr>
          <p:cNvPr id="48" name="Shape 44"/>
          <p:cNvSpPr/>
          <p:nvPr/>
        </p:nvSpPr>
        <p:spPr>
          <a:xfrm>
            <a:off x="457200" y="3904488"/>
            <a:ext cx="5541264" cy="1984248"/>
          </a:xfrm>
          <a:prstGeom prst="roundRect">
            <a:avLst>
              <a:gd name="adj" fmla="val 2765"/>
            </a:avLst>
          </a:prstGeom>
          <a:solidFill>
            <a:srgbClr val="F1F4F7"/>
          </a:solidFill>
          <a:ln w="12700">
            <a:solidFill>
              <a:srgbClr val="F1F4F7"/>
            </a:solidFill>
            <a:prstDash val="solid"/>
          </a:ln>
        </p:spPr>
      </p:sp>
      <p:sp>
        <p:nvSpPr>
          <p:cNvPr id="49" name="Text 45"/>
          <p:cNvSpPr txBox="1"/>
          <p:nvPr/>
        </p:nvSpPr>
        <p:spPr>
          <a:xfrm>
            <a:off x="585216" y="3950208"/>
            <a:ext cx="1691640" cy="219456"/>
          </a:xfrm>
          <a:prstGeom prst="rect">
            <a:avLst/>
          </a:prstGeom>
          <a:noFill/>
          <a:ln/>
        </p:spPr>
        <p:txBody>
          <a:bodyPr wrap="square" lIns="0" tIns="0" rIns="0" bIns="0" rtlCol="0" anchor="t"/>
          <a:lstStyle/>
          <a:p>
            <a:pPr indent="0" marL="0">
              <a:buNone/>
            </a:pPr>
            <a:r>
              <a:rPr lang="en-US" sz="1000" b="1" dirty="0">
                <a:solidFill>
                  <a:srgbClr val="143A5A"/>
                </a:solidFill>
                <a:latin typeface="Calibri" pitchFamily="34" charset="0"/>
                <a:ea typeface="Calibri" pitchFamily="34" charset="-122"/>
                <a:cs typeface="Calibri" pitchFamily="34" charset="-120"/>
              </a:rPr>
              <a:t>0.2 mm per pixel</a:t>
            </a:r>
            <a:endParaRPr lang="en-US" sz="1000" dirty="0"/>
          </a:p>
        </p:txBody>
      </p:sp>
      <p:pic>
        <p:nvPicPr>
          <p:cNvPr id="50" name="Image 0" descr="img/icons/cpu-navy.png">    </p:cNvPr>
          <p:cNvPicPr>
            <a:picLocks noChangeAspect="1"/>
          </p:cNvPicPr>
          <p:nvPr/>
        </p:nvPicPr>
        <p:blipFill>
          <a:blip r:embed="rId3"/>
          <a:stretch>
            <a:fillRect/>
          </a:stretch>
        </p:blipFill>
        <p:spPr>
          <a:xfrm>
            <a:off x="585216" y="4206240"/>
            <a:ext cx="192024" cy="192024"/>
          </a:xfrm>
          <a:prstGeom prst="rect">
            <a:avLst/>
          </a:prstGeom>
        </p:spPr>
      </p:pic>
      <p:pic>
        <p:nvPicPr>
          <p:cNvPr id="51" name="Image 1" descr="img/icons/cpu-navy.png">    </p:cNvPr>
          <p:cNvPicPr>
            <a:picLocks noChangeAspect="1"/>
          </p:cNvPicPr>
          <p:nvPr/>
        </p:nvPicPr>
        <p:blipFill>
          <a:blip r:embed="rId4"/>
          <a:stretch>
            <a:fillRect/>
          </a:stretch>
        </p:blipFill>
        <p:spPr>
          <a:xfrm>
            <a:off x="822960" y="4206240"/>
            <a:ext cx="192024" cy="192024"/>
          </a:xfrm>
          <a:prstGeom prst="rect">
            <a:avLst/>
          </a:prstGeom>
        </p:spPr>
      </p:pic>
      <p:pic>
        <p:nvPicPr>
          <p:cNvPr id="52" name="Image 2" descr="img/icons/cpu-navy.png">    </p:cNvPr>
          <p:cNvPicPr>
            <a:picLocks noChangeAspect="1"/>
          </p:cNvPicPr>
          <p:nvPr/>
        </p:nvPicPr>
        <p:blipFill>
          <a:blip r:embed="rId5"/>
          <a:stretch>
            <a:fillRect/>
          </a:stretch>
        </p:blipFill>
        <p:spPr>
          <a:xfrm>
            <a:off x="1060704" y="4206240"/>
            <a:ext cx="192024" cy="192024"/>
          </a:xfrm>
          <a:prstGeom prst="rect">
            <a:avLst/>
          </a:prstGeom>
        </p:spPr>
      </p:pic>
      <p:pic>
        <p:nvPicPr>
          <p:cNvPr id="53" name="Image 3" descr="img/icons/cpu-navy.png">    </p:cNvPr>
          <p:cNvPicPr>
            <a:picLocks noChangeAspect="1"/>
          </p:cNvPicPr>
          <p:nvPr/>
        </p:nvPicPr>
        <p:blipFill>
          <a:blip r:embed="rId6"/>
          <a:stretch>
            <a:fillRect/>
          </a:stretch>
        </p:blipFill>
        <p:spPr>
          <a:xfrm>
            <a:off x="1298448" y="4206240"/>
            <a:ext cx="192024" cy="192024"/>
          </a:xfrm>
          <a:prstGeom prst="rect">
            <a:avLst/>
          </a:prstGeom>
        </p:spPr>
      </p:pic>
      <p:pic>
        <p:nvPicPr>
          <p:cNvPr id="54" name="Image 4" descr="img/icons/cpu-navy.png">    </p:cNvPr>
          <p:cNvPicPr>
            <a:picLocks noChangeAspect="1"/>
          </p:cNvPicPr>
          <p:nvPr/>
        </p:nvPicPr>
        <p:blipFill>
          <a:blip r:embed="rId7"/>
          <a:stretch>
            <a:fillRect/>
          </a:stretch>
        </p:blipFill>
        <p:spPr>
          <a:xfrm>
            <a:off x="1536192" y="4206240"/>
            <a:ext cx="192024" cy="192024"/>
          </a:xfrm>
          <a:prstGeom prst="rect">
            <a:avLst/>
          </a:prstGeom>
        </p:spPr>
      </p:pic>
      <p:pic>
        <p:nvPicPr>
          <p:cNvPr id="55" name="Image 5" descr="img/icons/cpu-navy.png">    </p:cNvPr>
          <p:cNvPicPr>
            <a:picLocks noChangeAspect="1"/>
          </p:cNvPicPr>
          <p:nvPr/>
        </p:nvPicPr>
        <p:blipFill>
          <a:blip r:embed="rId8"/>
          <a:stretch>
            <a:fillRect/>
          </a:stretch>
        </p:blipFill>
        <p:spPr>
          <a:xfrm>
            <a:off x="1773936" y="4206240"/>
            <a:ext cx="192024" cy="192024"/>
          </a:xfrm>
          <a:prstGeom prst="rect">
            <a:avLst/>
          </a:prstGeom>
        </p:spPr>
      </p:pic>
      <p:pic>
        <p:nvPicPr>
          <p:cNvPr id="56" name="Image 6" descr="img/icons/cpu-navy.png">    </p:cNvPr>
          <p:cNvPicPr>
            <a:picLocks noChangeAspect="1"/>
          </p:cNvPicPr>
          <p:nvPr/>
        </p:nvPicPr>
        <p:blipFill>
          <a:blip r:embed="rId9"/>
          <a:stretch>
            <a:fillRect/>
          </a:stretch>
        </p:blipFill>
        <p:spPr>
          <a:xfrm>
            <a:off x="585216" y="4434840"/>
            <a:ext cx="192024" cy="192024"/>
          </a:xfrm>
          <a:prstGeom prst="rect">
            <a:avLst/>
          </a:prstGeom>
        </p:spPr>
      </p:pic>
      <p:pic>
        <p:nvPicPr>
          <p:cNvPr id="57" name="Image 7" descr="img/icons/cpu-navy.png">    </p:cNvPr>
          <p:cNvPicPr>
            <a:picLocks noChangeAspect="1"/>
          </p:cNvPicPr>
          <p:nvPr/>
        </p:nvPicPr>
        <p:blipFill>
          <a:blip r:embed="rId10"/>
          <a:stretch>
            <a:fillRect/>
          </a:stretch>
        </p:blipFill>
        <p:spPr>
          <a:xfrm>
            <a:off x="822960" y="4434840"/>
            <a:ext cx="192024" cy="192024"/>
          </a:xfrm>
          <a:prstGeom prst="rect">
            <a:avLst/>
          </a:prstGeom>
        </p:spPr>
      </p:pic>
      <p:pic>
        <p:nvPicPr>
          <p:cNvPr id="58" name="Image 8" descr="img/icons/cpu-navy.png">    </p:cNvPr>
          <p:cNvPicPr>
            <a:picLocks noChangeAspect="1"/>
          </p:cNvPicPr>
          <p:nvPr/>
        </p:nvPicPr>
        <p:blipFill>
          <a:blip r:embed="rId11"/>
          <a:stretch>
            <a:fillRect/>
          </a:stretch>
        </p:blipFill>
        <p:spPr>
          <a:xfrm>
            <a:off x="1060704" y="4434840"/>
            <a:ext cx="192024" cy="192024"/>
          </a:xfrm>
          <a:prstGeom prst="rect">
            <a:avLst/>
          </a:prstGeom>
        </p:spPr>
      </p:pic>
      <p:pic>
        <p:nvPicPr>
          <p:cNvPr id="59" name="Image 9" descr="img/icons/cpu-navy.png">    </p:cNvPr>
          <p:cNvPicPr>
            <a:picLocks noChangeAspect="1"/>
          </p:cNvPicPr>
          <p:nvPr/>
        </p:nvPicPr>
        <p:blipFill>
          <a:blip r:embed="rId12"/>
          <a:stretch>
            <a:fillRect/>
          </a:stretch>
        </p:blipFill>
        <p:spPr>
          <a:xfrm>
            <a:off x="1298448" y="4434840"/>
            <a:ext cx="192024" cy="192024"/>
          </a:xfrm>
          <a:prstGeom prst="rect">
            <a:avLst/>
          </a:prstGeom>
        </p:spPr>
      </p:pic>
      <p:pic>
        <p:nvPicPr>
          <p:cNvPr id="60" name="Image 10" descr="img/icons/cpu-navy.png">    </p:cNvPr>
          <p:cNvPicPr>
            <a:picLocks noChangeAspect="1"/>
          </p:cNvPicPr>
          <p:nvPr/>
        </p:nvPicPr>
        <p:blipFill>
          <a:blip r:embed="rId13"/>
          <a:stretch>
            <a:fillRect/>
          </a:stretch>
        </p:blipFill>
        <p:spPr>
          <a:xfrm>
            <a:off x="1536192" y="4434840"/>
            <a:ext cx="192024" cy="192024"/>
          </a:xfrm>
          <a:prstGeom prst="rect">
            <a:avLst/>
          </a:prstGeom>
        </p:spPr>
      </p:pic>
      <p:pic>
        <p:nvPicPr>
          <p:cNvPr id="61" name="Image 11" descr="img/icons/cpu-navy.png">    </p:cNvPr>
          <p:cNvPicPr>
            <a:picLocks noChangeAspect="1"/>
          </p:cNvPicPr>
          <p:nvPr/>
        </p:nvPicPr>
        <p:blipFill>
          <a:blip r:embed="rId14"/>
          <a:stretch>
            <a:fillRect/>
          </a:stretch>
        </p:blipFill>
        <p:spPr>
          <a:xfrm>
            <a:off x="1773936" y="4434840"/>
            <a:ext cx="192024" cy="192024"/>
          </a:xfrm>
          <a:prstGeom prst="rect">
            <a:avLst/>
          </a:prstGeom>
        </p:spPr>
      </p:pic>
      <p:pic>
        <p:nvPicPr>
          <p:cNvPr id="62" name="Image 12" descr="img/icons/cpu-navy.png">    </p:cNvPr>
          <p:cNvPicPr>
            <a:picLocks noChangeAspect="1"/>
          </p:cNvPicPr>
          <p:nvPr/>
        </p:nvPicPr>
        <p:blipFill>
          <a:blip r:embed="rId15"/>
          <a:stretch>
            <a:fillRect/>
          </a:stretch>
        </p:blipFill>
        <p:spPr>
          <a:xfrm>
            <a:off x="585216" y="4663440"/>
            <a:ext cx="192024" cy="192024"/>
          </a:xfrm>
          <a:prstGeom prst="rect">
            <a:avLst/>
          </a:prstGeom>
        </p:spPr>
      </p:pic>
      <p:pic>
        <p:nvPicPr>
          <p:cNvPr id="63" name="Image 13" descr="img/icons/cpu-navy.png">    </p:cNvPr>
          <p:cNvPicPr>
            <a:picLocks noChangeAspect="1"/>
          </p:cNvPicPr>
          <p:nvPr/>
        </p:nvPicPr>
        <p:blipFill>
          <a:blip r:embed="rId16"/>
          <a:stretch>
            <a:fillRect/>
          </a:stretch>
        </p:blipFill>
        <p:spPr>
          <a:xfrm>
            <a:off x="822960" y="4663440"/>
            <a:ext cx="192024" cy="192024"/>
          </a:xfrm>
          <a:prstGeom prst="rect">
            <a:avLst/>
          </a:prstGeom>
        </p:spPr>
      </p:pic>
      <p:pic>
        <p:nvPicPr>
          <p:cNvPr id="64" name="Image 14" descr="img/icons/cpu-navy.png">    </p:cNvPr>
          <p:cNvPicPr>
            <a:picLocks noChangeAspect="1"/>
          </p:cNvPicPr>
          <p:nvPr/>
        </p:nvPicPr>
        <p:blipFill>
          <a:blip r:embed="rId17"/>
          <a:stretch>
            <a:fillRect/>
          </a:stretch>
        </p:blipFill>
        <p:spPr>
          <a:xfrm>
            <a:off x="1060704" y="4663440"/>
            <a:ext cx="192024" cy="192024"/>
          </a:xfrm>
          <a:prstGeom prst="rect">
            <a:avLst/>
          </a:prstGeom>
        </p:spPr>
      </p:pic>
      <p:pic>
        <p:nvPicPr>
          <p:cNvPr id="65" name="Image 15" descr="img/icons/cpu-navy.png">    </p:cNvPr>
          <p:cNvPicPr>
            <a:picLocks noChangeAspect="1"/>
          </p:cNvPicPr>
          <p:nvPr/>
        </p:nvPicPr>
        <p:blipFill>
          <a:blip r:embed="rId18"/>
          <a:stretch>
            <a:fillRect/>
          </a:stretch>
        </p:blipFill>
        <p:spPr>
          <a:xfrm>
            <a:off x="1298448" y="4663440"/>
            <a:ext cx="192024" cy="192024"/>
          </a:xfrm>
          <a:prstGeom prst="rect">
            <a:avLst/>
          </a:prstGeom>
        </p:spPr>
      </p:pic>
      <p:pic>
        <p:nvPicPr>
          <p:cNvPr id="66" name="Image 16" descr="img/icons/cpu-navy.png">    </p:cNvPr>
          <p:cNvPicPr>
            <a:picLocks noChangeAspect="1"/>
          </p:cNvPicPr>
          <p:nvPr/>
        </p:nvPicPr>
        <p:blipFill>
          <a:blip r:embed="rId19"/>
          <a:stretch>
            <a:fillRect/>
          </a:stretch>
        </p:blipFill>
        <p:spPr>
          <a:xfrm>
            <a:off x="1536192" y="4663440"/>
            <a:ext cx="192024" cy="192024"/>
          </a:xfrm>
          <a:prstGeom prst="rect">
            <a:avLst/>
          </a:prstGeom>
        </p:spPr>
      </p:pic>
      <p:pic>
        <p:nvPicPr>
          <p:cNvPr id="67" name="Image 17" descr="img/icons/cpu-navy.png">    </p:cNvPr>
          <p:cNvPicPr>
            <a:picLocks noChangeAspect="1"/>
          </p:cNvPicPr>
          <p:nvPr/>
        </p:nvPicPr>
        <p:blipFill>
          <a:blip r:embed="rId20"/>
          <a:stretch>
            <a:fillRect/>
          </a:stretch>
        </p:blipFill>
        <p:spPr>
          <a:xfrm>
            <a:off x="1773936" y="4663440"/>
            <a:ext cx="192024" cy="192024"/>
          </a:xfrm>
          <a:prstGeom prst="rect">
            <a:avLst/>
          </a:prstGeom>
        </p:spPr>
      </p:pic>
      <p:sp>
        <p:nvSpPr>
          <p:cNvPr id="68" name="Text 46"/>
          <p:cNvSpPr txBox="1"/>
          <p:nvPr/>
        </p:nvSpPr>
        <p:spPr>
          <a:xfrm>
            <a:off x="585216"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~18 processors</a:t>
            </a:r>
            <a:endParaRPr lang="en-US" sz="1100" dirty="0"/>
          </a:p>
        </p:txBody>
      </p:sp>
      <p:sp>
        <p:nvSpPr>
          <p:cNvPr id="69" name="Text 47"/>
          <p:cNvSpPr txBox="1"/>
          <p:nvPr/>
        </p:nvSpPr>
        <p:spPr>
          <a:xfrm>
            <a:off x="585216"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sees defects from ~0.5 mm</a:t>
            </a:r>
            <a:endParaRPr lang="en-US" sz="900" dirty="0"/>
          </a:p>
        </p:txBody>
      </p:sp>
      <p:sp>
        <p:nvSpPr>
          <p:cNvPr id="70" name="Shape 48"/>
          <p:cNvSpPr/>
          <p:nvPr/>
        </p:nvSpPr>
        <p:spPr>
          <a:xfrm>
            <a:off x="2304288" y="3986784"/>
            <a:ext cx="9144" cy="1298448"/>
          </a:xfrm>
          <a:prstGeom prst="rect">
            <a:avLst/>
          </a:prstGeom>
          <a:solidFill>
            <a:srgbClr val="D5DCE3"/>
          </a:solidFill>
          <a:ln w="12700">
            <a:solidFill>
              <a:srgbClr val="D5DCE3"/>
            </a:solidFill>
            <a:prstDash val="solid"/>
          </a:ln>
        </p:spPr>
      </p:sp>
      <p:sp>
        <p:nvSpPr>
          <p:cNvPr id="71" name="Text 49"/>
          <p:cNvSpPr txBox="1"/>
          <p:nvPr/>
        </p:nvSpPr>
        <p:spPr>
          <a:xfrm>
            <a:off x="2395728" y="3950208"/>
            <a:ext cx="1691640" cy="219456"/>
          </a:xfrm>
          <a:prstGeom prst="rect">
            <a:avLst/>
          </a:prstGeom>
          <a:noFill/>
          <a:ln/>
        </p:spPr>
        <p:txBody>
          <a:bodyPr wrap="square" lIns="0" tIns="0" rIns="0" bIns="0" rtlCol="0" anchor="t"/>
          <a:lstStyle/>
          <a:p>
            <a:pPr indent="0" marL="0">
              <a:buNone/>
            </a:pPr>
            <a:r>
              <a:rPr lang="en-US" sz="1000" b="1" dirty="0">
                <a:solidFill>
                  <a:srgbClr val="334150"/>
                </a:solidFill>
                <a:latin typeface="Calibri" pitchFamily="34" charset="0"/>
                <a:ea typeface="Calibri" pitchFamily="34" charset="-122"/>
                <a:cs typeface="Calibri" pitchFamily="34" charset="-120"/>
              </a:rPr>
              <a:t>0.5 mm per pixel</a:t>
            </a:r>
            <a:endParaRPr lang="en-US" sz="1000" dirty="0"/>
          </a:p>
        </p:txBody>
      </p:sp>
      <p:pic>
        <p:nvPicPr>
          <p:cNvPr id="72" name="Image 18" descr="img/icons/cpu-navy.png">    </p:cNvPr>
          <p:cNvPicPr>
            <a:picLocks noChangeAspect="1"/>
          </p:cNvPicPr>
          <p:nvPr/>
        </p:nvPicPr>
        <p:blipFill>
          <a:blip r:embed="rId21"/>
          <a:stretch>
            <a:fillRect/>
          </a:stretch>
        </p:blipFill>
        <p:spPr>
          <a:xfrm>
            <a:off x="2395728" y="4206240"/>
            <a:ext cx="192024" cy="192024"/>
          </a:xfrm>
          <a:prstGeom prst="rect">
            <a:avLst/>
          </a:prstGeom>
        </p:spPr>
      </p:pic>
      <p:pic>
        <p:nvPicPr>
          <p:cNvPr id="73" name="Image 19" descr="img/icons/cpu-navy.png">    </p:cNvPr>
          <p:cNvPicPr>
            <a:picLocks noChangeAspect="1"/>
          </p:cNvPicPr>
          <p:nvPr/>
        </p:nvPicPr>
        <p:blipFill>
          <a:blip r:embed="rId22"/>
          <a:stretch>
            <a:fillRect/>
          </a:stretch>
        </p:blipFill>
        <p:spPr>
          <a:xfrm>
            <a:off x="2633472" y="4206240"/>
            <a:ext cx="192024" cy="192024"/>
          </a:xfrm>
          <a:prstGeom prst="rect">
            <a:avLst/>
          </a:prstGeom>
        </p:spPr>
      </p:pic>
      <p:pic>
        <p:nvPicPr>
          <p:cNvPr id="74" name="Image 20" descr="img/icons/cpu-navy.png">    </p:cNvPr>
          <p:cNvPicPr>
            <a:picLocks noChangeAspect="1"/>
          </p:cNvPicPr>
          <p:nvPr/>
        </p:nvPicPr>
        <p:blipFill>
          <a:blip r:embed="rId23"/>
          <a:stretch>
            <a:fillRect/>
          </a:stretch>
        </p:blipFill>
        <p:spPr>
          <a:xfrm>
            <a:off x="2871216" y="4206240"/>
            <a:ext cx="192024" cy="192024"/>
          </a:xfrm>
          <a:prstGeom prst="rect">
            <a:avLst/>
          </a:prstGeom>
        </p:spPr>
      </p:pic>
      <p:sp>
        <p:nvSpPr>
          <p:cNvPr id="75" name="Text 50"/>
          <p:cNvSpPr txBox="1"/>
          <p:nvPr/>
        </p:nvSpPr>
        <p:spPr>
          <a:xfrm>
            <a:off x="2395728"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~3 processors</a:t>
            </a:r>
            <a:endParaRPr lang="en-US" sz="1100" dirty="0"/>
          </a:p>
        </p:txBody>
      </p:sp>
      <p:sp>
        <p:nvSpPr>
          <p:cNvPr id="76" name="Text 51"/>
          <p:cNvSpPr txBox="1"/>
          <p:nvPr/>
        </p:nvSpPr>
        <p:spPr>
          <a:xfrm>
            <a:off x="2395728"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sees defects from ~1.3 mm</a:t>
            </a:r>
            <a:endParaRPr lang="en-US" sz="900" dirty="0"/>
          </a:p>
        </p:txBody>
      </p:sp>
      <p:sp>
        <p:nvSpPr>
          <p:cNvPr id="77" name="Shape 52"/>
          <p:cNvSpPr/>
          <p:nvPr/>
        </p:nvSpPr>
        <p:spPr>
          <a:xfrm>
            <a:off x="4114800" y="3986784"/>
            <a:ext cx="9144" cy="1298448"/>
          </a:xfrm>
          <a:prstGeom prst="rect">
            <a:avLst/>
          </a:prstGeom>
          <a:solidFill>
            <a:srgbClr val="D5DCE3"/>
          </a:solidFill>
          <a:ln w="12700">
            <a:solidFill>
              <a:srgbClr val="D5DCE3"/>
            </a:solidFill>
            <a:prstDash val="solid"/>
          </a:ln>
        </p:spPr>
      </p:sp>
      <p:sp>
        <p:nvSpPr>
          <p:cNvPr id="78" name="Text 53"/>
          <p:cNvSpPr txBox="1"/>
          <p:nvPr/>
        </p:nvSpPr>
        <p:spPr>
          <a:xfrm>
            <a:off x="4206240" y="3950208"/>
            <a:ext cx="1691640" cy="219456"/>
          </a:xfrm>
          <a:prstGeom prst="rect">
            <a:avLst/>
          </a:prstGeom>
          <a:noFill/>
          <a:ln/>
        </p:spPr>
        <p:txBody>
          <a:bodyPr wrap="square" lIns="0" tIns="0" rIns="0" bIns="0" rtlCol="0" anchor="t"/>
          <a:lstStyle/>
          <a:p>
            <a:pPr indent="0" marL="0">
              <a:buNone/>
            </a:pPr>
            <a:r>
              <a:rPr lang="en-US" sz="1000" b="1" dirty="0">
                <a:solidFill>
                  <a:srgbClr val="334150"/>
                </a:solidFill>
                <a:latin typeface="Calibri" pitchFamily="34" charset="0"/>
                <a:ea typeface="Calibri" pitchFamily="34" charset="-122"/>
                <a:cs typeface="Calibri" pitchFamily="34" charset="-120"/>
              </a:rPr>
              <a:t>1.28 mm per pixel</a:t>
            </a:r>
            <a:endParaRPr lang="en-US" sz="1000" dirty="0"/>
          </a:p>
        </p:txBody>
      </p:sp>
      <p:pic>
        <p:nvPicPr>
          <p:cNvPr id="79" name="Image 21" descr="img/icons/cpu-navy.png">    </p:cNvPr>
          <p:cNvPicPr>
            <a:picLocks noChangeAspect="1"/>
          </p:cNvPicPr>
          <p:nvPr/>
        </p:nvPicPr>
        <p:blipFill>
          <a:blip r:embed="rId24"/>
          <a:stretch>
            <a:fillRect/>
          </a:stretch>
        </p:blipFill>
        <p:spPr>
          <a:xfrm>
            <a:off x="4206240" y="4206240"/>
            <a:ext cx="192024" cy="192024"/>
          </a:xfrm>
          <a:prstGeom prst="rect">
            <a:avLst/>
          </a:prstGeom>
        </p:spPr>
      </p:pic>
      <p:sp>
        <p:nvSpPr>
          <p:cNvPr id="80" name="Text 54"/>
          <p:cNvSpPr txBox="1"/>
          <p:nvPr/>
        </p:nvSpPr>
        <p:spPr>
          <a:xfrm>
            <a:off x="4206240" y="4910328"/>
            <a:ext cx="1691640" cy="201168"/>
          </a:xfrm>
          <a:prstGeom prst="rect">
            <a:avLst/>
          </a:prstGeom>
          <a:noFill/>
          <a:ln/>
        </p:spPr>
        <p:txBody>
          <a:bodyPr wrap="square" lIns="0" tIns="0" rIns="0" bIns="0" rtlCol="0" anchor="t"/>
          <a:lstStyle/>
          <a:p>
            <a:pPr indent="0" marL="0">
              <a:buNone/>
            </a:pPr>
            <a:r>
              <a:rPr lang="en-US" sz="1100" b="1" dirty="0">
                <a:solidFill>
                  <a:srgbClr val="141C24"/>
                </a:solidFill>
                <a:latin typeface="Calibri" pitchFamily="34" charset="0"/>
                <a:ea typeface="Calibri" pitchFamily="34" charset="-122"/>
                <a:cs typeface="Calibri" pitchFamily="34" charset="-120"/>
              </a:rPr>
              <a:t>1 processor</a:t>
            </a:r>
            <a:endParaRPr lang="en-US" sz="1100" dirty="0"/>
          </a:p>
        </p:txBody>
      </p:sp>
      <p:sp>
        <p:nvSpPr>
          <p:cNvPr id="81" name="Text 55"/>
          <p:cNvSpPr txBox="1"/>
          <p:nvPr/>
        </p:nvSpPr>
        <p:spPr>
          <a:xfrm>
            <a:off x="4206240" y="5111496"/>
            <a:ext cx="173736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fine scratches vanish (~3 mm)</a:t>
            </a:r>
            <a:endParaRPr lang="en-US" sz="900" dirty="0"/>
          </a:p>
        </p:txBody>
      </p:sp>
      <p:sp>
        <p:nvSpPr>
          <p:cNvPr id="82" name="Text 56"/>
          <p:cNvSpPr txBox="1"/>
          <p:nvPr/>
        </p:nvSpPr>
        <p:spPr>
          <a:xfrm>
            <a:off x="585216" y="5330952"/>
            <a:ext cx="530352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1.28 m strip at 250 m/min. Processors scale with pixels; a defect needs 2-3 pixels.</a:t>
            </a:r>
            <a:endParaRPr lang="en-US" sz="900" dirty="0"/>
          </a:p>
        </p:txBody>
      </p:sp>
      <p:sp>
        <p:nvSpPr>
          <p:cNvPr id="83" name="Text 57"/>
          <p:cNvSpPr txBox="1"/>
          <p:nvPr/>
        </p:nvSpPr>
        <p:spPr>
          <a:xfrm>
            <a:off x="594360"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fix the image resolution with JSL first, then size the hardware.</a:t>
            </a:r>
            <a:endParaRPr lang="en-US" sz="1000" dirty="0"/>
          </a:p>
        </p:txBody>
      </p:sp>
      <p:sp>
        <p:nvSpPr>
          <p:cNvPr id="84" name="Shape 58"/>
          <p:cNvSpPr/>
          <p:nvPr/>
        </p:nvSpPr>
        <p:spPr>
          <a:xfrm>
            <a:off x="6190488" y="3630168"/>
            <a:ext cx="5541264" cy="274320"/>
          </a:xfrm>
          <a:prstGeom prst="rect">
            <a:avLst/>
          </a:prstGeom>
          <a:solidFill>
            <a:srgbClr val="2B5B80"/>
          </a:solidFill>
          <a:ln w="12700">
            <a:solidFill>
              <a:srgbClr val="2B5B80"/>
            </a:solidFill>
            <a:prstDash val="solid"/>
          </a:ln>
        </p:spPr>
      </p:sp>
      <p:sp>
        <p:nvSpPr>
          <p:cNvPr id="85" name="Text 59"/>
          <p:cNvSpPr txBox="1"/>
          <p:nvPr/>
        </p:nvSpPr>
        <p:spPr>
          <a:xfrm>
            <a:off x="6281928" y="3630168"/>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4  Operators act only on alarms they can trust</a:t>
            </a:r>
            <a:endParaRPr lang="en-US" sz="1100" dirty="0"/>
          </a:p>
        </p:txBody>
      </p:sp>
      <p:sp>
        <p:nvSpPr>
          <p:cNvPr id="86" name="Shape 60"/>
          <p:cNvSpPr/>
          <p:nvPr/>
        </p:nvSpPr>
        <p:spPr>
          <a:xfrm>
            <a:off x="6190488" y="3904488"/>
            <a:ext cx="5541264" cy="1984248"/>
          </a:xfrm>
          <a:prstGeom prst="roundRect">
            <a:avLst>
              <a:gd name="adj" fmla="val 2765"/>
            </a:avLst>
          </a:prstGeom>
          <a:solidFill>
            <a:srgbClr val="F1F4F7"/>
          </a:solidFill>
          <a:ln w="12700">
            <a:solidFill>
              <a:srgbClr val="F1F4F7"/>
            </a:solidFill>
            <a:prstDash val="solid"/>
          </a:ln>
        </p:spPr>
      </p:sp>
      <p:sp>
        <p:nvSpPr>
          <p:cNvPr id="87" name="Shape 61"/>
          <p:cNvSpPr/>
          <p:nvPr/>
        </p:nvSpPr>
        <p:spPr>
          <a:xfrm>
            <a:off x="6327648" y="4014216"/>
            <a:ext cx="402336" cy="402336"/>
          </a:xfrm>
          <a:prstGeom prst="ellipse">
            <a:avLst/>
          </a:prstGeom>
          <a:solidFill>
            <a:srgbClr val="143A5A"/>
          </a:solidFill>
          <a:ln w="12700">
            <a:solidFill>
              <a:srgbClr val="143A5A"/>
            </a:solidFill>
            <a:prstDash val="solid"/>
          </a:ln>
        </p:spPr>
      </p:sp>
      <p:pic>
        <p:nvPicPr>
          <p:cNvPr id="88" name="Image 22" descr="img/icons/scan-search-white.png">    </p:cNvPr>
          <p:cNvPicPr>
            <a:picLocks noChangeAspect="1"/>
          </p:cNvPicPr>
          <p:nvPr/>
        </p:nvPicPr>
        <p:blipFill>
          <a:blip r:embed="rId25"/>
          <a:stretch>
            <a:fillRect/>
          </a:stretch>
        </p:blipFill>
        <p:spPr>
          <a:xfrm>
            <a:off x="6416162" y="4102730"/>
            <a:ext cx="225308" cy="225308"/>
          </a:xfrm>
          <a:prstGeom prst="rect">
            <a:avLst/>
          </a:prstGeom>
        </p:spPr>
      </p:pic>
      <p:sp>
        <p:nvSpPr>
          <p:cNvPr id="89" name="Text 62"/>
          <p:cNvSpPr txBox="1"/>
          <p:nvPr/>
        </p:nvSpPr>
        <p:spPr>
          <a:xfrm>
            <a:off x="6858000" y="3986784"/>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Every alarm shows its evidence</a:t>
            </a:r>
            <a:endParaRPr lang="en-US" sz="1050" dirty="0"/>
          </a:p>
        </p:txBody>
      </p:sp>
      <p:sp>
        <p:nvSpPr>
          <p:cNvPr id="90" name="Text 63"/>
          <p:cNvSpPr txBox="1"/>
          <p:nvPr/>
        </p:nvSpPr>
        <p:spPr>
          <a:xfrm>
            <a:off x="6858000" y="4224528"/>
            <a:ext cx="4754880" cy="21945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photo, defect type, severity and position on the coil</a:t>
            </a:r>
            <a:endParaRPr lang="en-US" sz="950" dirty="0"/>
          </a:p>
        </p:txBody>
      </p:sp>
      <p:sp>
        <p:nvSpPr>
          <p:cNvPr id="91" name="Shape 64"/>
          <p:cNvSpPr/>
          <p:nvPr/>
        </p:nvSpPr>
        <p:spPr>
          <a:xfrm>
            <a:off x="6327648" y="4535424"/>
            <a:ext cx="402336" cy="402336"/>
          </a:xfrm>
          <a:prstGeom prst="ellipse">
            <a:avLst/>
          </a:prstGeom>
          <a:solidFill>
            <a:srgbClr val="143A5A"/>
          </a:solidFill>
          <a:ln w="12700">
            <a:solidFill>
              <a:srgbClr val="143A5A"/>
            </a:solidFill>
            <a:prstDash val="solid"/>
          </a:ln>
        </p:spPr>
      </p:sp>
      <p:pic>
        <p:nvPicPr>
          <p:cNvPr id="92" name="Image 23" descr="img/icons/user-check-white.png">    </p:cNvPr>
          <p:cNvPicPr>
            <a:picLocks noChangeAspect="1"/>
          </p:cNvPicPr>
          <p:nvPr/>
        </p:nvPicPr>
        <p:blipFill>
          <a:blip r:embed="rId26"/>
          <a:stretch>
            <a:fillRect/>
          </a:stretch>
        </p:blipFill>
        <p:spPr>
          <a:xfrm>
            <a:off x="6416162" y="4623938"/>
            <a:ext cx="225308" cy="225308"/>
          </a:xfrm>
          <a:prstGeom prst="rect">
            <a:avLst/>
          </a:prstGeom>
        </p:spPr>
      </p:pic>
      <p:sp>
        <p:nvSpPr>
          <p:cNvPr id="93" name="Text 65"/>
          <p:cNvSpPr txBox="1"/>
          <p:nvPr/>
        </p:nvSpPr>
        <p:spPr>
          <a:xfrm>
            <a:off x="6858000" y="4507992"/>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Four weeks of shadow mode first</a:t>
            </a:r>
            <a:endParaRPr lang="en-US" sz="1050" dirty="0"/>
          </a:p>
        </p:txBody>
      </p:sp>
      <p:sp>
        <p:nvSpPr>
          <p:cNvPr id="94" name="Text 66"/>
          <p:cNvSpPr txBox="1"/>
          <p:nvPr/>
        </p:nvSpPr>
        <p:spPr>
          <a:xfrm>
            <a:off x="6858000" y="4745736"/>
            <a:ext cx="4754880" cy="21945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it only advises; automatic holds start at ≥ 90% operator agreement</a:t>
            </a:r>
            <a:endParaRPr lang="en-US" sz="950" dirty="0"/>
          </a:p>
        </p:txBody>
      </p:sp>
      <p:sp>
        <p:nvSpPr>
          <p:cNvPr id="95" name="Shape 67"/>
          <p:cNvSpPr/>
          <p:nvPr/>
        </p:nvSpPr>
        <p:spPr>
          <a:xfrm>
            <a:off x="6327648" y="5056632"/>
            <a:ext cx="402336" cy="402336"/>
          </a:xfrm>
          <a:prstGeom prst="ellipse">
            <a:avLst/>
          </a:prstGeom>
          <a:solidFill>
            <a:srgbClr val="143A5A"/>
          </a:solidFill>
          <a:ln w="12700">
            <a:solidFill>
              <a:srgbClr val="143A5A"/>
            </a:solidFill>
            <a:prstDash val="solid"/>
          </a:ln>
        </p:spPr>
      </p:sp>
      <p:pic>
        <p:nvPicPr>
          <p:cNvPr id="96" name="Image 24" descr="img/icons/refresh-cw-white.png">    </p:cNvPr>
          <p:cNvPicPr>
            <a:picLocks noChangeAspect="1"/>
          </p:cNvPicPr>
          <p:nvPr/>
        </p:nvPicPr>
        <p:blipFill>
          <a:blip r:embed="rId27"/>
          <a:stretch>
            <a:fillRect/>
          </a:stretch>
        </p:blipFill>
        <p:spPr>
          <a:xfrm>
            <a:off x="6416162" y="5145146"/>
            <a:ext cx="225308" cy="225308"/>
          </a:xfrm>
          <a:prstGeom prst="rect">
            <a:avLst/>
          </a:prstGeom>
        </p:spPr>
      </p:pic>
      <p:sp>
        <p:nvSpPr>
          <p:cNvPr id="97" name="Text 68"/>
          <p:cNvSpPr txBox="1"/>
          <p:nvPr/>
        </p:nvSpPr>
        <p:spPr>
          <a:xfrm>
            <a:off x="6858000" y="5029200"/>
            <a:ext cx="475488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Every override is reviewed</a:t>
            </a:r>
            <a:endParaRPr lang="en-US" sz="1050" dirty="0"/>
          </a:p>
        </p:txBody>
      </p:sp>
      <p:sp>
        <p:nvSpPr>
          <p:cNvPr id="98" name="Text 69"/>
          <p:cNvSpPr txBox="1"/>
          <p:nvPr/>
        </p:nvSpPr>
        <p:spPr>
          <a:xfrm>
            <a:off x="6858000" y="5266944"/>
            <a:ext cx="4754880" cy="219456"/>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weekly with the line and quality; the system improves from it</a:t>
            </a:r>
            <a:endParaRPr lang="en-US" sz="950" dirty="0"/>
          </a:p>
        </p:txBody>
      </p:sp>
      <p:sp>
        <p:nvSpPr>
          <p:cNvPr id="99" name="Text 70"/>
          <p:cNvSpPr txBox="1"/>
          <p:nvPr/>
        </p:nvSpPr>
        <p:spPr>
          <a:xfrm>
            <a:off x="6327648" y="5559552"/>
            <a:ext cx="5266944" cy="274320"/>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So we: </a:t>
            </a:r>
            <a:pPr indent="0" marL="0">
              <a:buNone/>
            </a:pPr>
            <a:r>
              <a:rPr lang="en-US" sz="1000" dirty="0">
                <a:solidFill>
                  <a:srgbClr val="141C24"/>
                </a:solidFill>
                <a:latin typeface="Calibri" pitchFamily="34" charset="0"/>
                <a:ea typeface="Calibri" pitchFamily="34" charset="-122"/>
                <a:cs typeface="Calibri" pitchFamily="34" charset="-120"/>
              </a:rPr>
              <a:t>earn trust on the shift floor before the system is allowed to act.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Detect on the strip, decide at the coil, route to the owner, and learn from every correction</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Buy proven cameras, own the software: vendor-grade capture, tuned to JSL's grades and wired to JSL's process owners.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BUILT = working in our prototype today, live at surface-vision.github.io. Commercial price range: industry figure, unverified.</a:t>
            </a:r>
            <a:endParaRPr lang="en-US" sz="900" dirty="0"/>
          </a:p>
        </p:txBody>
      </p:sp>
      <p:sp>
        <p:nvSpPr>
          <p:cNvPr id="17" name="Shape 15"/>
          <p:cNvSpPr/>
          <p:nvPr/>
        </p:nvSpPr>
        <p:spPr>
          <a:xfrm>
            <a:off x="457200" y="1234440"/>
            <a:ext cx="11274552"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1109167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it works: six stages from camera to corrective action</a:t>
            </a:r>
            <a:endParaRPr lang="en-US" sz="1100" dirty="0"/>
          </a:p>
        </p:txBody>
      </p:sp>
      <p:sp>
        <p:nvSpPr>
          <p:cNvPr id="19" name="Shape 17"/>
          <p:cNvSpPr/>
          <p:nvPr/>
        </p:nvSpPr>
        <p:spPr>
          <a:xfrm>
            <a:off x="457200" y="1572768"/>
            <a:ext cx="1783080" cy="1188720"/>
          </a:xfrm>
          <a:prstGeom prst="roundRect">
            <a:avLst>
              <a:gd name="adj" fmla="val 4615"/>
            </a:avLst>
          </a:prstGeom>
          <a:solidFill>
            <a:srgbClr val="F1F4F7"/>
          </a:solidFill>
          <a:ln w="12700">
            <a:solidFill>
              <a:srgbClr val="F1F4F7"/>
            </a:solidFill>
            <a:prstDash val="solid"/>
          </a:ln>
        </p:spPr>
      </p:sp>
      <p:sp>
        <p:nvSpPr>
          <p:cNvPr id="20" name="Shape 18"/>
          <p:cNvSpPr/>
          <p:nvPr/>
        </p:nvSpPr>
        <p:spPr>
          <a:xfrm>
            <a:off x="566928" y="1627632"/>
            <a:ext cx="420624" cy="420624"/>
          </a:xfrm>
          <a:prstGeom prst="ellipse">
            <a:avLst/>
          </a:prstGeom>
          <a:solidFill>
            <a:srgbClr val="143A5A"/>
          </a:solidFill>
          <a:ln w="12700">
            <a:solidFill>
              <a:srgbClr val="143A5A"/>
            </a:solidFill>
            <a:prstDash val="solid"/>
          </a:ln>
        </p:spPr>
      </p:sp>
      <p:pic>
        <p:nvPicPr>
          <p:cNvPr id="21" name="Image 0" descr="img/icons/camera-white.png">    </p:cNvPr>
          <p:cNvPicPr>
            <a:picLocks noChangeAspect="1"/>
          </p:cNvPicPr>
          <p:nvPr/>
        </p:nvPicPr>
        <p:blipFill>
          <a:blip r:embed="rId1"/>
          <a:stretch>
            <a:fillRect/>
          </a:stretch>
        </p:blipFill>
        <p:spPr>
          <a:xfrm>
            <a:off x="659465" y="1720169"/>
            <a:ext cx="235549" cy="235549"/>
          </a:xfrm>
          <a:prstGeom prst="rect">
            <a:avLst/>
          </a:prstGeom>
        </p:spPr>
      </p:pic>
      <p:sp>
        <p:nvSpPr>
          <p:cNvPr id="22" name="Text 19"/>
          <p:cNvSpPr txBox="1"/>
          <p:nvPr/>
        </p:nvSpPr>
        <p:spPr>
          <a:xfrm>
            <a:off x="1060704"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Capture</a:t>
            </a:r>
            <a:endParaRPr lang="en-US" sz="1200" dirty="0"/>
          </a:p>
        </p:txBody>
      </p:sp>
      <p:sp>
        <p:nvSpPr>
          <p:cNvPr id="23" name="Text 20"/>
          <p:cNvSpPr txBox="1"/>
          <p:nvPr/>
        </p:nvSpPr>
        <p:spPr>
          <a:xfrm>
            <a:off x="566928"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Both faces, bright + dark-field light, 0.2 mm detail</a:t>
            </a:r>
            <a:endParaRPr lang="en-US" sz="900" dirty="0"/>
          </a:p>
        </p:txBody>
      </p:sp>
      <p:sp>
        <p:nvSpPr>
          <p:cNvPr id="24" name="Shape 21"/>
          <p:cNvSpPr/>
          <p:nvPr/>
        </p:nvSpPr>
        <p:spPr>
          <a:xfrm>
            <a:off x="566928" y="2505456"/>
            <a:ext cx="822960" cy="201168"/>
          </a:xfrm>
          <a:prstGeom prst="roundRect">
            <a:avLst>
              <a:gd name="adj" fmla="val 27273"/>
            </a:avLst>
          </a:prstGeom>
          <a:solidFill>
            <a:srgbClr val="5F6B78"/>
          </a:solidFill>
          <a:ln w="12700">
            <a:solidFill>
              <a:srgbClr val="5F6B78"/>
            </a:solidFill>
            <a:prstDash val="solid"/>
          </a:ln>
        </p:spPr>
      </p:sp>
      <p:sp>
        <p:nvSpPr>
          <p:cNvPr id="25" name="Text 22"/>
          <p:cNvSpPr txBox="1"/>
          <p:nvPr/>
        </p:nvSpPr>
        <p:spPr>
          <a:xfrm>
            <a:off x="566928"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26" name="Shape 23"/>
          <p:cNvSpPr/>
          <p:nvPr/>
        </p:nvSpPr>
        <p:spPr>
          <a:xfrm>
            <a:off x="2253996" y="2011680"/>
            <a:ext cx="91440" cy="201168"/>
          </a:xfrm>
          <a:prstGeom prst="chevron">
            <a:avLst/>
          </a:prstGeom>
          <a:solidFill>
            <a:srgbClr val="0086C3"/>
          </a:solidFill>
          <a:ln w="12700">
            <a:solidFill>
              <a:srgbClr val="0086C3"/>
            </a:solidFill>
            <a:prstDash val="solid"/>
          </a:ln>
        </p:spPr>
      </p:sp>
      <p:sp>
        <p:nvSpPr>
          <p:cNvPr id="27" name="Shape 24"/>
          <p:cNvSpPr/>
          <p:nvPr/>
        </p:nvSpPr>
        <p:spPr>
          <a:xfrm>
            <a:off x="2355494" y="1572768"/>
            <a:ext cx="1783080" cy="1188720"/>
          </a:xfrm>
          <a:prstGeom prst="roundRect">
            <a:avLst>
              <a:gd name="adj" fmla="val 4615"/>
            </a:avLst>
          </a:prstGeom>
          <a:solidFill>
            <a:srgbClr val="F1F4F7"/>
          </a:solidFill>
          <a:ln w="12700">
            <a:solidFill>
              <a:srgbClr val="F1F4F7"/>
            </a:solidFill>
            <a:prstDash val="solid"/>
          </a:ln>
        </p:spPr>
      </p:sp>
      <p:sp>
        <p:nvSpPr>
          <p:cNvPr id="28" name="Shape 25"/>
          <p:cNvSpPr/>
          <p:nvPr/>
        </p:nvSpPr>
        <p:spPr>
          <a:xfrm>
            <a:off x="2465222" y="1627632"/>
            <a:ext cx="420624" cy="420624"/>
          </a:xfrm>
          <a:prstGeom prst="ellipse">
            <a:avLst/>
          </a:prstGeom>
          <a:solidFill>
            <a:srgbClr val="143A5A"/>
          </a:solidFill>
          <a:ln w="12700">
            <a:solidFill>
              <a:srgbClr val="143A5A"/>
            </a:solidFill>
            <a:prstDash val="solid"/>
          </a:ln>
        </p:spPr>
      </p:sp>
      <p:pic>
        <p:nvPicPr>
          <p:cNvPr id="29" name="Image 1" descr="img/icons/shield-check-white.png">    </p:cNvPr>
          <p:cNvPicPr>
            <a:picLocks noChangeAspect="1"/>
          </p:cNvPicPr>
          <p:nvPr/>
        </p:nvPicPr>
        <p:blipFill>
          <a:blip r:embed="rId2"/>
          <a:stretch>
            <a:fillRect/>
          </a:stretch>
        </p:blipFill>
        <p:spPr>
          <a:xfrm>
            <a:off x="2557760" y="1720169"/>
            <a:ext cx="235549" cy="235549"/>
          </a:xfrm>
          <a:prstGeom prst="rect">
            <a:avLst/>
          </a:prstGeom>
        </p:spPr>
      </p:pic>
      <p:sp>
        <p:nvSpPr>
          <p:cNvPr id="30" name="Text 26"/>
          <p:cNvSpPr txBox="1"/>
          <p:nvPr/>
        </p:nvSpPr>
        <p:spPr>
          <a:xfrm>
            <a:off x="2958998"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Check</a:t>
            </a:r>
            <a:endParaRPr lang="en-US" sz="1200" dirty="0"/>
          </a:p>
        </p:txBody>
      </p:sp>
      <p:sp>
        <p:nvSpPr>
          <p:cNvPr id="31" name="Text 27"/>
          <p:cNvSpPr txBox="1"/>
          <p:nvPr/>
        </p:nvSpPr>
        <p:spPr>
          <a:xfrm>
            <a:off x="2465222"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Is it usable steel? If not, skip it</a:t>
            </a:r>
            <a:endParaRPr lang="en-US" sz="900" dirty="0"/>
          </a:p>
        </p:txBody>
      </p:sp>
      <p:sp>
        <p:nvSpPr>
          <p:cNvPr id="32" name="Shape 28"/>
          <p:cNvSpPr/>
          <p:nvPr/>
        </p:nvSpPr>
        <p:spPr>
          <a:xfrm>
            <a:off x="2465222" y="2505456"/>
            <a:ext cx="822960" cy="201168"/>
          </a:xfrm>
          <a:prstGeom prst="roundRect">
            <a:avLst>
              <a:gd name="adj" fmla="val 27273"/>
            </a:avLst>
          </a:prstGeom>
          <a:solidFill>
            <a:srgbClr val="2E7D32"/>
          </a:solidFill>
          <a:ln w="12700">
            <a:solidFill>
              <a:srgbClr val="2E7D32"/>
            </a:solidFill>
            <a:prstDash val="solid"/>
          </a:ln>
        </p:spPr>
      </p:sp>
      <p:sp>
        <p:nvSpPr>
          <p:cNvPr id="33" name="Text 29"/>
          <p:cNvSpPr txBox="1"/>
          <p:nvPr/>
        </p:nvSpPr>
        <p:spPr>
          <a:xfrm>
            <a:off x="2465222"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34" name="Shape 30"/>
          <p:cNvSpPr/>
          <p:nvPr/>
        </p:nvSpPr>
        <p:spPr>
          <a:xfrm>
            <a:off x="4152290" y="2011680"/>
            <a:ext cx="91440" cy="201168"/>
          </a:xfrm>
          <a:prstGeom prst="chevron">
            <a:avLst/>
          </a:prstGeom>
          <a:solidFill>
            <a:srgbClr val="0086C3"/>
          </a:solidFill>
          <a:ln w="12700">
            <a:solidFill>
              <a:srgbClr val="0086C3"/>
            </a:solidFill>
            <a:prstDash val="solid"/>
          </a:ln>
        </p:spPr>
      </p:sp>
      <p:sp>
        <p:nvSpPr>
          <p:cNvPr id="35" name="Shape 31"/>
          <p:cNvSpPr/>
          <p:nvPr/>
        </p:nvSpPr>
        <p:spPr>
          <a:xfrm>
            <a:off x="4253789" y="1572768"/>
            <a:ext cx="1783080" cy="1188720"/>
          </a:xfrm>
          <a:prstGeom prst="roundRect">
            <a:avLst>
              <a:gd name="adj" fmla="val 4615"/>
            </a:avLst>
          </a:prstGeom>
          <a:solidFill>
            <a:srgbClr val="F1F4F7"/>
          </a:solidFill>
          <a:ln w="12700">
            <a:solidFill>
              <a:srgbClr val="F1F4F7"/>
            </a:solidFill>
            <a:prstDash val="solid"/>
          </a:ln>
        </p:spPr>
      </p:sp>
      <p:sp>
        <p:nvSpPr>
          <p:cNvPr id="36" name="Shape 32"/>
          <p:cNvSpPr/>
          <p:nvPr/>
        </p:nvSpPr>
        <p:spPr>
          <a:xfrm>
            <a:off x="4363517" y="1627632"/>
            <a:ext cx="420624" cy="420624"/>
          </a:xfrm>
          <a:prstGeom prst="ellipse">
            <a:avLst/>
          </a:prstGeom>
          <a:solidFill>
            <a:srgbClr val="143A5A"/>
          </a:solidFill>
          <a:ln w="12700">
            <a:solidFill>
              <a:srgbClr val="143A5A"/>
            </a:solidFill>
            <a:prstDash val="solid"/>
          </a:ln>
        </p:spPr>
      </p:sp>
      <p:pic>
        <p:nvPicPr>
          <p:cNvPr id="37" name="Image 2" descr="img/icons/scan-search-white.png">    </p:cNvPr>
          <p:cNvPicPr>
            <a:picLocks noChangeAspect="1"/>
          </p:cNvPicPr>
          <p:nvPr/>
        </p:nvPicPr>
        <p:blipFill>
          <a:blip r:embed="rId3"/>
          <a:stretch>
            <a:fillRect/>
          </a:stretch>
        </p:blipFill>
        <p:spPr>
          <a:xfrm>
            <a:off x="4456054" y="1720169"/>
            <a:ext cx="235549" cy="235549"/>
          </a:xfrm>
          <a:prstGeom prst="rect">
            <a:avLst/>
          </a:prstGeom>
        </p:spPr>
      </p:pic>
      <p:sp>
        <p:nvSpPr>
          <p:cNvPr id="38" name="Text 33"/>
          <p:cNvSpPr txBox="1"/>
          <p:nvPr/>
        </p:nvSpPr>
        <p:spPr>
          <a:xfrm>
            <a:off x="4857293"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Detect</a:t>
            </a:r>
            <a:endParaRPr lang="en-US" sz="1200" dirty="0"/>
          </a:p>
        </p:txBody>
      </p:sp>
      <p:sp>
        <p:nvSpPr>
          <p:cNvPr id="39" name="Text 34"/>
          <p:cNvSpPr txBox="1"/>
          <p:nvPr/>
        </p:nvSpPr>
        <p:spPr>
          <a:xfrm>
            <a:off x="4363517"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Find and classify every defect</a:t>
            </a:r>
            <a:endParaRPr lang="en-US" sz="900" dirty="0"/>
          </a:p>
        </p:txBody>
      </p:sp>
      <p:sp>
        <p:nvSpPr>
          <p:cNvPr id="40" name="Shape 35"/>
          <p:cNvSpPr/>
          <p:nvPr/>
        </p:nvSpPr>
        <p:spPr>
          <a:xfrm>
            <a:off x="4363517" y="2505456"/>
            <a:ext cx="822960" cy="201168"/>
          </a:xfrm>
          <a:prstGeom prst="roundRect">
            <a:avLst>
              <a:gd name="adj" fmla="val 27273"/>
            </a:avLst>
          </a:prstGeom>
          <a:solidFill>
            <a:srgbClr val="2E7D32"/>
          </a:solidFill>
          <a:ln w="12700">
            <a:solidFill>
              <a:srgbClr val="2E7D32"/>
            </a:solidFill>
            <a:prstDash val="solid"/>
          </a:ln>
        </p:spPr>
      </p:sp>
      <p:sp>
        <p:nvSpPr>
          <p:cNvPr id="41" name="Text 36"/>
          <p:cNvSpPr txBox="1"/>
          <p:nvPr/>
        </p:nvSpPr>
        <p:spPr>
          <a:xfrm>
            <a:off x="4363517"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42" name="Shape 37"/>
          <p:cNvSpPr/>
          <p:nvPr/>
        </p:nvSpPr>
        <p:spPr>
          <a:xfrm>
            <a:off x="6050585" y="2011680"/>
            <a:ext cx="91440" cy="201168"/>
          </a:xfrm>
          <a:prstGeom prst="chevron">
            <a:avLst/>
          </a:prstGeom>
          <a:solidFill>
            <a:srgbClr val="0086C3"/>
          </a:solidFill>
          <a:ln w="12700">
            <a:solidFill>
              <a:srgbClr val="0086C3"/>
            </a:solidFill>
            <a:prstDash val="solid"/>
          </a:ln>
        </p:spPr>
      </p:sp>
      <p:sp>
        <p:nvSpPr>
          <p:cNvPr id="43" name="Shape 38"/>
          <p:cNvSpPr/>
          <p:nvPr/>
        </p:nvSpPr>
        <p:spPr>
          <a:xfrm>
            <a:off x="6152083" y="1572768"/>
            <a:ext cx="1783080" cy="1188720"/>
          </a:xfrm>
          <a:prstGeom prst="roundRect">
            <a:avLst>
              <a:gd name="adj" fmla="val 4615"/>
            </a:avLst>
          </a:prstGeom>
          <a:solidFill>
            <a:srgbClr val="F1F4F7"/>
          </a:solidFill>
          <a:ln w="12700">
            <a:solidFill>
              <a:srgbClr val="F1F4F7"/>
            </a:solidFill>
            <a:prstDash val="solid"/>
          </a:ln>
        </p:spPr>
      </p:sp>
      <p:sp>
        <p:nvSpPr>
          <p:cNvPr id="44" name="Shape 39"/>
          <p:cNvSpPr/>
          <p:nvPr/>
        </p:nvSpPr>
        <p:spPr>
          <a:xfrm>
            <a:off x="6261811" y="1627632"/>
            <a:ext cx="420624" cy="420624"/>
          </a:xfrm>
          <a:prstGeom prst="ellipse">
            <a:avLst/>
          </a:prstGeom>
          <a:solidFill>
            <a:srgbClr val="143A5A"/>
          </a:solidFill>
          <a:ln w="12700">
            <a:solidFill>
              <a:srgbClr val="143A5A"/>
            </a:solidFill>
            <a:prstDash val="solid"/>
          </a:ln>
        </p:spPr>
      </p:sp>
      <p:pic>
        <p:nvPicPr>
          <p:cNvPr id="45" name="Image 3" descr="img/icons/gauge-white.png">    </p:cNvPr>
          <p:cNvPicPr>
            <a:picLocks noChangeAspect="1"/>
          </p:cNvPicPr>
          <p:nvPr/>
        </p:nvPicPr>
        <p:blipFill>
          <a:blip r:embed="rId4"/>
          <a:stretch>
            <a:fillRect/>
          </a:stretch>
        </p:blipFill>
        <p:spPr>
          <a:xfrm>
            <a:off x="6354348" y="1720169"/>
            <a:ext cx="235549" cy="235549"/>
          </a:xfrm>
          <a:prstGeom prst="rect">
            <a:avLst/>
          </a:prstGeom>
        </p:spPr>
      </p:pic>
      <p:sp>
        <p:nvSpPr>
          <p:cNvPr id="46" name="Text 40"/>
          <p:cNvSpPr txBox="1"/>
          <p:nvPr/>
        </p:nvSpPr>
        <p:spPr>
          <a:xfrm>
            <a:off x="6755587"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Score</a:t>
            </a:r>
            <a:endParaRPr lang="en-US" sz="1200" dirty="0"/>
          </a:p>
        </p:txBody>
      </p:sp>
      <p:sp>
        <p:nvSpPr>
          <p:cNvPr id="47" name="Text 41"/>
          <p:cNvSpPr txBox="1"/>
          <p:nvPr/>
        </p:nvSpPr>
        <p:spPr>
          <a:xfrm>
            <a:off x="6261811"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Confidence, severity 0-100, coil position</a:t>
            </a:r>
            <a:endParaRPr lang="en-US" sz="900" dirty="0"/>
          </a:p>
        </p:txBody>
      </p:sp>
      <p:sp>
        <p:nvSpPr>
          <p:cNvPr id="48" name="Shape 42"/>
          <p:cNvSpPr/>
          <p:nvPr/>
        </p:nvSpPr>
        <p:spPr>
          <a:xfrm>
            <a:off x="6261811" y="2505456"/>
            <a:ext cx="822960" cy="201168"/>
          </a:xfrm>
          <a:prstGeom prst="roundRect">
            <a:avLst>
              <a:gd name="adj" fmla="val 27273"/>
            </a:avLst>
          </a:prstGeom>
          <a:solidFill>
            <a:srgbClr val="2E7D32"/>
          </a:solidFill>
          <a:ln w="12700">
            <a:solidFill>
              <a:srgbClr val="2E7D32"/>
            </a:solidFill>
            <a:prstDash val="solid"/>
          </a:ln>
        </p:spPr>
      </p:sp>
      <p:sp>
        <p:nvSpPr>
          <p:cNvPr id="49" name="Text 43"/>
          <p:cNvSpPr txBox="1"/>
          <p:nvPr/>
        </p:nvSpPr>
        <p:spPr>
          <a:xfrm>
            <a:off x="6261811"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BUILT</a:t>
            </a:r>
            <a:endParaRPr lang="en-US" sz="900" dirty="0"/>
          </a:p>
        </p:txBody>
      </p:sp>
      <p:sp>
        <p:nvSpPr>
          <p:cNvPr id="50" name="Shape 44"/>
          <p:cNvSpPr/>
          <p:nvPr/>
        </p:nvSpPr>
        <p:spPr>
          <a:xfrm>
            <a:off x="7948879" y="2011680"/>
            <a:ext cx="91440" cy="201168"/>
          </a:xfrm>
          <a:prstGeom prst="chevron">
            <a:avLst/>
          </a:prstGeom>
          <a:solidFill>
            <a:srgbClr val="0086C3"/>
          </a:solidFill>
          <a:ln w="12700">
            <a:solidFill>
              <a:srgbClr val="0086C3"/>
            </a:solidFill>
            <a:prstDash val="solid"/>
          </a:ln>
        </p:spPr>
      </p:sp>
      <p:sp>
        <p:nvSpPr>
          <p:cNvPr id="51" name="Shape 45"/>
          <p:cNvSpPr/>
          <p:nvPr/>
        </p:nvSpPr>
        <p:spPr>
          <a:xfrm>
            <a:off x="8050378" y="1572768"/>
            <a:ext cx="1783080" cy="1188720"/>
          </a:xfrm>
          <a:prstGeom prst="roundRect">
            <a:avLst>
              <a:gd name="adj" fmla="val 4615"/>
            </a:avLst>
          </a:prstGeom>
          <a:solidFill>
            <a:srgbClr val="F1F4F7"/>
          </a:solidFill>
          <a:ln w="12700">
            <a:solidFill>
              <a:srgbClr val="F1F4F7"/>
            </a:solidFill>
            <a:prstDash val="solid"/>
          </a:ln>
        </p:spPr>
      </p:sp>
      <p:sp>
        <p:nvSpPr>
          <p:cNvPr id="52" name="Shape 46"/>
          <p:cNvSpPr/>
          <p:nvPr/>
        </p:nvSpPr>
        <p:spPr>
          <a:xfrm>
            <a:off x="8160106" y="1627632"/>
            <a:ext cx="420624" cy="420624"/>
          </a:xfrm>
          <a:prstGeom prst="ellipse">
            <a:avLst/>
          </a:prstGeom>
          <a:solidFill>
            <a:srgbClr val="143A5A"/>
          </a:solidFill>
          <a:ln w="12700">
            <a:solidFill>
              <a:srgbClr val="143A5A"/>
            </a:solidFill>
            <a:prstDash val="solid"/>
          </a:ln>
        </p:spPr>
      </p:sp>
      <p:pic>
        <p:nvPicPr>
          <p:cNvPr id="53" name="Image 4" descr="img/icons/split-white.png">    </p:cNvPr>
          <p:cNvPicPr>
            <a:picLocks noChangeAspect="1"/>
          </p:cNvPicPr>
          <p:nvPr/>
        </p:nvPicPr>
        <p:blipFill>
          <a:blip r:embed="rId5"/>
          <a:stretch>
            <a:fillRect/>
          </a:stretch>
        </p:blipFill>
        <p:spPr>
          <a:xfrm>
            <a:off x="8252643" y="1720169"/>
            <a:ext cx="235549" cy="235549"/>
          </a:xfrm>
          <a:prstGeom prst="rect">
            <a:avLst/>
          </a:prstGeom>
        </p:spPr>
      </p:pic>
      <p:sp>
        <p:nvSpPr>
          <p:cNvPr id="54" name="Text 47"/>
          <p:cNvSpPr txBox="1"/>
          <p:nvPr/>
        </p:nvSpPr>
        <p:spPr>
          <a:xfrm>
            <a:off x="8653882"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Decide</a:t>
            </a:r>
            <a:endParaRPr lang="en-US" sz="1200" dirty="0"/>
          </a:p>
        </p:txBody>
      </p:sp>
      <p:sp>
        <p:nvSpPr>
          <p:cNvPr id="55" name="Text 48"/>
          <p:cNvSpPr txBox="1"/>
          <p:nvPr/>
        </p:nvSpPr>
        <p:spPr>
          <a:xfrm>
            <a:off x="8160106"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Accept, downgrade or hold, per grade</a:t>
            </a:r>
            <a:endParaRPr lang="en-US" sz="900" dirty="0"/>
          </a:p>
        </p:txBody>
      </p:sp>
      <p:sp>
        <p:nvSpPr>
          <p:cNvPr id="56" name="Shape 49"/>
          <p:cNvSpPr/>
          <p:nvPr/>
        </p:nvSpPr>
        <p:spPr>
          <a:xfrm>
            <a:off x="8160106" y="2505456"/>
            <a:ext cx="822960" cy="201168"/>
          </a:xfrm>
          <a:prstGeom prst="roundRect">
            <a:avLst>
              <a:gd name="adj" fmla="val 27273"/>
            </a:avLst>
          </a:prstGeom>
          <a:solidFill>
            <a:srgbClr val="B77900"/>
          </a:solidFill>
          <a:ln w="12700">
            <a:solidFill>
              <a:srgbClr val="B77900"/>
            </a:solidFill>
            <a:prstDash val="solid"/>
          </a:ln>
        </p:spPr>
      </p:sp>
      <p:sp>
        <p:nvSpPr>
          <p:cNvPr id="57" name="Text 50"/>
          <p:cNvSpPr txBox="1"/>
          <p:nvPr/>
        </p:nvSpPr>
        <p:spPr>
          <a:xfrm>
            <a:off x="8160106"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PARTIAL</a:t>
            </a:r>
            <a:endParaRPr lang="en-US" sz="900" dirty="0"/>
          </a:p>
        </p:txBody>
      </p:sp>
      <p:sp>
        <p:nvSpPr>
          <p:cNvPr id="58" name="Shape 51"/>
          <p:cNvSpPr/>
          <p:nvPr/>
        </p:nvSpPr>
        <p:spPr>
          <a:xfrm>
            <a:off x="9847174" y="2011680"/>
            <a:ext cx="91440" cy="201168"/>
          </a:xfrm>
          <a:prstGeom prst="chevron">
            <a:avLst/>
          </a:prstGeom>
          <a:solidFill>
            <a:srgbClr val="0086C3"/>
          </a:solidFill>
          <a:ln w="12700">
            <a:solidFill>
              <a:srgbClr val="0086C3"/>
            </a:solidFill>
            <a:prstDash val="solid"/>
          </a:ln>
        </p:spPr>
      </p:sp>
      <p:sp>
        <p:nvSpPr>
          <p:cNvPr id="59" name="Shape 52"/>
          <p:cNvSpPr/>
          <p:nvPr/>
        </p:nvSpPr>
        <p:spPr>
          <a:xfrm>
            <a:off x="9948672" y="1572768"/>
            <a:ext cx="1783080" cy="1188720"/>
          </a:xfrm>
          <a:prstGeom prst="roundRect">
            <a:avLst>
              <a:gd name="adj" fmla="val 4615"/>
            </a:avLst>
          </a:prstGeom>
          <a:solidFill>
            <a:srgbClr val="E4EEF6"/>
          </a:solidFill>
          <a:ln w="12700">
            <a:solidFill>
              <a:srgbClr val="E4EEF6"/>
            </a:solidFill>
            <a:prstDash val="solid"/>
          </a:ln>
        </p:spPr>
      </p:sp>
      <p:sp>
        <p:nvSpPr>
          <p:cNvPr id="60" name="Shape 53"/>
          <p:cNvSpPr/>
          <p:nvPr/>
        </p:nvSpPr>
        <p:spPr>
          <a:xfrm>
            <a:off x="10058400" y="1627632"/>
            <a:ext cx="420624" cy="420624"/>
          </a:xfrm>
          <a:prstGeom prst="ellipse">
            <a:avLst/>
          </a:prstGeom>
          <a:solidFill>
            <a:srgbClr val="143A5A"/>
          </a:solidFill>
          <a:ln w="12700">
            <a:solidFill>
              <a:srgbClr val="143A5A"/>
            </a:solidFill>
            <a:prstDash val="solid"/>
          </a:ln>
        </p:spPr>
      </p:sp>
      <p:pic>
        <p:nvPicPr>
          <p:cNvPr id="61" name="Image 5" descr="img/icons/refresh-cw-white.png">    </p:cNvPr>
          <p:cNvPicPr>
            <a:picLocks noChangeAspect="1"/>
          </p:cNvPicPr>
          <p:nvPr/>
        </p:nvPicPr>
        <p:blipFill>
          <a:blip r:embed="rId6"/>
          <a:stretch>
            <a:fillRect/>
          </a:stretch>
        </p:blipFill>
        <p:spPr>
          <a:xfrm>
            <a:off x="10150937" y="1720169"/>
            <a:ext cx="235549" cy="235549"/>
          </a:xfrm>
          <a:prstGeom prst="rect">
            <a:avLst/>
          </a:prstGeom>
        </p:spPr>
      </p:pic>
      <p:sp>
        <p:nvSpPr>
          <p:cNvPr id="62" name="Text 54"/>
          <p:cNvSpPr txBox="1"/>
          <p:nvPr/>
        </p:nvSpPr>
        <p:spPr>
          <a:xfrm>
            <a:off x="10552176" y="1627632"/>
            <a:ext cx="1143000" cy="420624"/>
          </a:xfrm>
          <a:prstGeom prst="rect">
            <a:avLst/>
          </a:prstGeom>
          <a:noFill/>
          <a:ln/>
        </p:spPr>
        <p:txBody>
          <a:bodyPr wrap="square" lIns="0" tIns="0" rIns="0" bIns="0" rtlCol="0" anchor="ctr"/>
          <a:lstStyle/>
          <a:p>
            <a:pPr indent="0" marL="0">
              <a:buNone/>
            </a:pPr>
            <a:r>
              <a:rPr lang="en-US" sz="1200" b="1" dirty="0">
                <a:solidFill>
                  <a:srgbClr val="143A5A"/>
                </a:solidFill>
                <a:latin typeface="Calibri" pitchFamily="34" charset="0"/>
                <a:ea typeface="Calibri" pitchFamily="34" charset="-122"/>
                <a:cs typeface="Calibri" pitchFamily="34" charset="-120"/>
              </a:rPr>
              <a:t>Act &amp; learn</a:t>
            </a:r>
            <a:endParaRPr lang="en-US" sz="1200" dirty="0"/>
          </a:p>
        </p:txBody>
      </p:sp>
      <p:sp>
        <p:nvSpPr>
          <p:cNvPr id="63" name="Text 55"/>
          <p:cNvSpPr txBox="1"/>
          <p:nvPr/>
        </p:nvSpPr>
        <p:spPr>
          <a:xfrm>
            <a:off x="10058400" y="2084832"/>
            <a:ext cx="1600200" cy="402336"/>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Alert, hold, work order; operator feedback improves it</a:t>
            </a:r>
            <a:endParaRPr lang="en-US" sz="900" dirty="0"/>
          </a:p>
        </p:txBody>
      </p:sp>
      <p:sp>
        <p:nvSpPr>
          <p:cNvPr id="64" name="Shape 56"/>
          <p:cNvSpPr/>
          <p:nvPr/>
        </p:nvSpPr>
        <p:spPr>
          <a:xfrm>
            <a:off x="10058400" y="2505456"/>
            <a:ext cx="822960" cy="201168"/>
          </a:xfrm>
          <a:prstGeom prst="roundRect">
            <a:avLst>
              <a:gd name="adj" fmla="val 27273"/>
            </a:avLst>
          </a:prstGeom>
          <a:solidFill>
            <a:srgbClr val="5F6B78"/>
          </a:solidFill>
          <a:ln w="12700">
            <a:solidFill>
              <a:srgbClr val="5F6B78"/>
            </a:solidFill>
            <a:prstDash val="solid"/>
          </a:ln>
        </p:spPr>
      </p:sp>
      <p:sp>
        <p:nvSpPr>
          <p:cNvPr id="65" name="Text 57"/>
          <p:cNvSpPr txBox="1"/>
          <p:nvPr/>
        </p:nvSpPr>
        <p:spPr>
          <a:xfrm>
            <a:off x="10058400" y="2505456"/>
            <a:ext cx="82296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 BUILD</a:t>
            </a:r>
            <a:endParaRPr lang="en-US" sz="900" dirty="0"/>
          </a:p>
        </p:txBody>
      </p:sp>
      <p:sp>
        <p:nvSpPr>
          <p:cNvPr id="66" name="Shape 58"/>
          <p:cNvSpPr/>
          <p:nvPr/>
        </p:nvSpPr>
        <p:spPr>
          <a:xfrm>
            <a:off x="457200" y="2816352"/>
            <a:ext cx="1783080" cy="45720"/>
          </a:xfrm>
          <a:prstGeom prst="rect">
            <a:avLst/>
          </a:prstGeom>
          <a:solidFill>
            <a:srgbClr val="5F6B78"/>
          </a:solidFill>
          <a:ln w="12700">
            <a:solidFill>
              <a:srgbClr val="5F6B78"/>
            </a:solidFill>
            <a:prstDash val="solid"/>
          </a:ln>
        </p:spPr>
      </p:sp>
      <p:sp>
        <p:nvSpPr>
          <p:cNvPr id="67" name="Text 59"/>
          <p:cNvSpPr txBox="1"/>
          <p:nvPr/>
        </p:nvSpPr>
        <p:spPr>
          <a:xfrm>
            <a:off x="457200" y="2871216"/>
            <a:ext cx="1783080" cy="219456"/>
          </a:xfrm>
          <a:prstGeom prst="rect">
            <a:avLst/>
          </a:prstGeom>
          <a:noFill/>
          <a:ln/>
        </p:spPr>
        <p:txBody>
          <a:bodyPr wrap="square" lIns="0" tIns="0" rIns="0" bIns="0" rtlCol="0" anchor="ctr"/>
          <a:lstStyle/>
          <a:p>
            <a:pPr algn="ctr" indent="0" marL="0">
              <a:buNone/>
            </a:pPr>
            <a:r>
              <a:rPr lang="en-US" sz="900" b="1" dirty="0">
                <a:solidFill>
                  <a:srgbClr val="5F6B78"/>
                </a:solidFill>
                <a:latin typeface="Calibri" pitchFamily="34" charset="0"/>
                <a:ea typeface="Calibri" pitchFamily="34" charset="-122"/>
                <a:cs typeface="Calibri" pitchFamily="34" charset="-120"/>
              </a:rPr>
              <a:t>At the line: cameras, lights</a:t>
            </a:r>
            <a:endParaRPr lang="en-US" sz="900" dirty="0"/>
          </a:p>
        </p:txBody>
      </p:sp>
      <p:sp>
        <p:nvSpPr>
          <p:cNvPr id="68" name="Shape 60"/>
          <p:cNvSpPr/>
          <p:nvPr/>
        </p:nvSpPr>
        <p:spPr>
          <a:xfrm>
            <a:off x="2355494" y="2816352"/>
            <a:ext cx="5579669" cy="45720"/>
          </a:xfrm>
          <a:prstGeom prst="rect">
            <a:avLst/>
          </a:prstGeom>
          <a:solidFill>
            <a:srgbClr val="0086C3"/>
          </a:solidFill>
          <a:ln w="12700">
            <a:solidFill>
              <a:srgbClr val="0086C3"/>
            </a:solidFill>
            <a:prstDash val="solid"/>
          </a:ln>
        </p:spPr>
      </p:sp>
      <p:sp>
        <p:nvSpPr>
          <p:cNvPr id="69" name="Text 61"/>
          <p:cNvSpPr txBox="1"/>
          <p:nvPr/>
        </p:nvSpPr>
        <p:spPr>
          <a:xfrm>
            <a:off x="2355494" y="2871216"/>
            <a:ext cx="5579669" cy="219456"/>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Edge server beside the line, runs offline</a:t>
            </a:r>
            <a:endParaRPr lang="en-US" sz="900" dirty="0"/>
          </a:p>
        </p:txBody>
      </p:sp>
      <p:sp>
        <p:nvSpPr>
          <p:cNvPr id="70" name="Shape 62"/>
          <p:cNvSpPr/>
          <p:nvPr/>
        </p:nvSpPr>
        <p:spPr>
          <a:xfrm>
            <a:off x="8050378" y="2816352"/>
            <a:ext cx="1783080" cy="45720"/>
          </a:xfrm>
          <a:prstGeom prst="rect">
            <a:avLst/>
          </a:prstGeom>
          <a:solidFill>
            <a:srgbClr val="2B5B80"/>
          </a:solidFill>
          <a:ln w="12700">
            <a:solidFill>
              <a:srgbClr val="2B5B80"/>
            </a:solidFill>
            <a:prstDash val="solid"/>
          </a:ln>
        </p:spPr>
      </p:sp>
      <p:sp>
        <p:nvSpPr>
          <p:cNvPr id="71" name="Text 63"/>
          <p:cNvSpPr txBox="1"/>
          <p:nvPr/>
        </p:nvSpPr>
        <p:spPr>
          <a:xfrm>
            <a:off x="8050378" y="2871216"/>
            <a:ext cx="1783080" cy="219456"/>
          </a:xfrm>
          <a:prstGeom prst="rect">
            <a:avLst/>
          </a:prstGeom>
          <a:noFill/>
          <a:ln/>
        </p:spPr>
        <p:txBody>
          <a:bodyPr wrap="square" lIns="0" tIns="0" rIns="0" bIns="0" rtlCol="0" anchor="ctr"/>
          <a:lstStyle/>
          <a:p>
            <a:pPr algn="ctr" indent="0" marL="0">
              <a:buNone/>
            </a:pPr>
            <a:r>
              <a:rPr lang="en-US" sz="900" b="1" dirty="0">
                <a:solidFill>
                  <a:srgbClr val="2B5B80"/>
                </a:solidFill>
                <a:latin typeface="Calibri" pitchFamily="34" charset="0"/>
                <a:ea typeface="Calibri" pitchFamily="34" charset="-122"/>
                <a:cs typeface="Calibri" pitchFamily="34" charset="-120"/>
              </a:rPr>
              <a:t>Plant network (IEC 62443)</a:t>
            </a:r>
            <a:endParaRPr lang="en-US" sz="900" dirty="0"/>
          </a:p>
        </p:txBody>
      </p:sp>
      <p:sp>
        <p:nvSpPr>
          <p:cNvPr id="72" name="Shape 64"/>
          <p:cNvSpPr/>
          <p:nvPr/>
        </p:nvSpPr>
        <p:spPr>
          <a:xfrm>
            <a:off x="9948672" y="2816352"/>
            <a:ext cx="1783080" cy="45720"/>
          </a:xfrm>
          <a:prstGeom prst="rect">
            <a:avLst/>
          </a:prstGeom>
          <a:solidFill>
            <a:srgbClr val="143A5A"/>
          </a:solidFill>
          <a:ln w="12700">
            <a:solidFill>
              <a:srgbClr val="143A5A"/>
            </a:solidFill>
            <a:prstDash val="solid"/>
          </a:ln>
        </p:spPr>
      </p:sp>
      <p:sp>
        <p:nvSpPr>
          <p:cNvPr id="73" name="Text 65"/>
          <p:cNvSpPr txBox="1"/>
          <p:nvPr/>
        </p:nvSpPr>
        <p:spPr>
          <a:xfrm>
            <a:off x="9948672" y="2871216"/>
            <a:ext cx="1783080" cy="219456"/>
          </a:xfrm>
          <a:prstGeom prst="rect">
            <a:avLst/>
          </a:prstGeom>
          <a:noFill/>
          <a:ln/>
        </p:spPr>
        <p:txBody>
          <a:bodyPr wrap="square" lIns="0" tIns="0" rIns="0" bIns="0" rtlCol="0" anchor="ctr"/>
          <a:lstStyle/>
          <a:p>
            <a:pPr algn="ctr" indent="0" marL="0">
              <a:buNone/>
            </a:pPr>
            <a:r>
              <a:rPr lang="en-US" sz="900" b="1" dirty="0">
                <a:solidFill>
                  <a:srgbClr val="143A5A"/>
                </a:solidFill>
                <a:latin typeface="Calibri" pitchFamily="34" charset="0"/>
                <a:ea typeface="Calibri" pitchFamily="34" charset="-122"/>
                <a:cs typeface="Calibri" pitchFamily="34" charset="-120"/>
              </a:rPr>
              <a:t>People: screen, work orders</a:t>
            </a:r>
            <a:endParaRPr lang="en-US" sz="900" dirty="0"/>
          </a:p>
        </p:txBody>
      </p:sp>
      <p:sp>
        <p:nvSpPr>
          <p:cNvPr id="74" name="Shape 66"/>
          <p:cNvSpPr/>
          <p:nvPr/>
        </p:nvSpPr>
        <p:spPr>
          <a:xfrm>
            <a:off x="457200" y="3218688"/>
            <a:ext cx="3429000" cy="274320"/>
          </a:xfrm>
          <a:prstGeom prst="rect">
            <a:avLst/>
          </a:prstGeom>
          <a:solidFill>
            <a:srgbClr val="2B5B80"/>
          </a:solidFill>
          <a:ln w="12700">
            <a:solidFill>
              <a:srgbClr val="2B5B80"/>
            </a:solidFill>
            <a:prstDash val="solid"/>
          </a:ln>
        </p:spPr>
      </p:sp>
      <p:sp>
        <p:nvSpPr>
          <p:cNvPr id="75" name="Text 67"/>
          <p:cNvSpPr txBox="1"/>
          <p:nvPr/>
        </p:nvSpPr>
        <p:spPr>
          <a:xfrm>
            <a:off x="548640" y="3218688"/>
            <a:ext cx="3246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Running today</a:t>
            </a:r>
            <a:endParaRPr lang="en-US" sz="1100" dirty="0"/>
          </a:p>
        </p:txBody>
      </p:sp>
      <p:sp>
        <p:nvSpPr>
          <p:cNvPr id="76" name="Shape 68"/>
          <p:cNvSpPr/>
          <p:nvPr/>
        </p:nvSpPr>
        <p:spPr>
          <a:xfrm>
            <a:off x="457200" y="3493008"/>
            <a:ext cx="3429000" cy="2395728"/>
          </a:xfrm>
          <a:prstGeom prst="roundRect">
            <a:avLst>
              <a:gd name="adj" fmla="val 2290"/>
            </a:avLst>
          </a:prstGeom>
          <a:solidFill>
            <a:srgbClr val="F1F4F7"/>
          </a:solidFill>
          <a:ln w="12700">
            <a:solidFill>
              <a:srgbClr val="F1F4F7"/>
            </a:solidFill>
            <a:prstDash val="solid"/>
          </a:ln>
        </p:spPr>
      </p:sp>
      <p:pic>
        <p:nvPicPr>
          <p:cNvPr id="77" name="Image 6" descr="img/det_scratches.png">    </p:cNvPr>
          <p:cNvPicPr>
            <a:picLocks noChangeAspect="1"/>
          </p:cNvPicPr>
          <p:nvPr/>
        </p:nvPicPr>
        <p:blipFill>
          <a:blip r:embed="rId7"/>
          <a:stretch>
            <a:fillRect/>
          </a:stretch>
        </p:blipFill>
        <p:spPr>
          <a:xfrm>
            <a:off x="566928" y="3593592"/>
            <a:ext cx="1828800" cy="1828800"/>
          </a:xfrm>
          <a:prstGeom prst="rect">
            <a:avLst/>
          </a:prstGeom>
        </p:spPr>
      </p:pic>
      <p:sp>
        <p:nvSpPr>
          <p:cNvPr id="78" name="Text 69"/>
          <p:cNvSpPr txBox="1"/>
          <p:nvPr/>
        </p:nvSpPr>
        <p:spPr>
          <a:xfrm>
            <a:off x="2487168" y="3611880"/>
            <a:ext cx="1371600" cy="1371600"/>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Upload a strip image, get:
</a:t>
            </a:r>
            <a:pPr indent="0" marL="0">
              <a:buNone/>
            </a:pPr>
            <a:r>
              <a:rPr lang="en-US" sz="950" dirty="0">
                <a:solidFill>
                  <a:srgbClr val="334150"/>
                </a:solidFill>
                <a:latin typeface="Calibri" pitchFamily="34" charset="0"/>
                <a:ea typeface="Calibri" pitchFamily="34" charset="-122"/>
                <a:cs typeface="Calibri" pitchFamily="34" charset="-120"/>
              </a:rPr>
              <a:t>•  box on the defect</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defect type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confidence</a:t>
            </a:r>
            <a:endParaRPr lang="en-US" sz="950" dirty="0"/>
          </a:p>
          <a:p>
            <a:pPr indent="0" marL="0">
              <a:buNone/>
            </a:pPr>
            <a:r>
              <a:rPr lang="en-US" sz="950" dirty="0">
                <a:solidFill>
                  <a:srgbClr val="334150"/>
                </a:solidFill>
                <a:latin typeface="Calibri" pitchFamily="34" charset="0"/>
                <a:ea typeface="Calibri" pitchFamily="34" charset="-122"/>
                <a:cs typeface="Calibri" pitchFamily="34" charset="-120"/>
              </a:rPr>
              <a:t>•  severity score</a:t>
            </a:r>
            <a:endParaRPr lang="en-US" sz="950" dirty="0"/>
          </a:p>
        </p:txBody>
      </p:sp>
      <p:sp>
        <p:nvSpPr>
          <p:cNvPr id="79" name="Text 70"/>
          <p:cNvSpPr txBox="1"/>
          <p:nvPr/>
        </p:nvSpPr>
        <p:spPr>
          <a:xfrm>
            <a:off x="2487168" y="4846320"/>
            <a:ext cx="1371600" cy="603504"/>
          </a:xfrm>
          <a:prstGeom prst="rect">
            <a:avLst/>
          </a:prstGeom>
          <a:noFill/>
          <a:ln/>
        </p:spPr>
        <p:txBody>
          <a:bodyPr wrap="square" lIns="0" tIns="0" rIns="0" bIns="0" rtlCol="0" anchor="t"/>
          <a:lstStyle/>
          <a:p>
            <a:pPr indent="0" marL="0">
              <a:buNone/>
            </a:pPr>
            <a:r>
              <a:rPr lang="en-US" sz="900" b="1" dirty="0">
                <a:solidFill>
                  <a:srgbClr val="143A5A"/>
                </a:solidFill>
                <a:latin typeface="Calibri" pitchFamily="34" charset="0"/>
                <a:ea typeface="Calibri" pitchFamily="34" charset="-122"/>
                <a:cs typeface="Calibri" pitchFamily="34" charset="-120"/>
              </a:rPr>
              <a:t>16 samples built in</a:t>
            </a:r>
            <a:pPr indent="0" marL="0">
              <a:buNone/>
            </a:pPr>
            <a:r>
              <a:rPr lang="en-US" sz="900" dirty="0">
                <a:solidFill>
                  <a:srgbClr val="334150"/>
                </a:solidFill>
                <a:latin typeface="Calibri" pitchFamily="34" charset="0"/>
                <a:ea typeface="Calibri" pitchFamily="34" charset="-122"/>
                <a:cs typeface="Calibri" pitchFamily="34" charset="-120"/>
              </a:rPr>
              <a:t>, including clean mill strip. Or drop your own photo.</a:t>
            </a:r>
            <a:endParaRPr lang="en-US" sz="900" dirty="0"/>
          </a:p>
        </p:txBody>
      </p:sp>
      <p:sp>
        <p:nvSpPr>
          <p:cNvPr id="80" name="Text 71"/>
          <p:cNvSpPr txBox="1"/>
          <p:nvPr/>
        </p:nvSpPr>
        <p:spPr>
          <a:xfrm>
            <a:off x="566928" y="5504688"/>
            <a:ext cx="3246120" cy="274320"/>
          </a:xfrm>
          <a:prstGeom prst="rect">
            <a:avLst/>
          </a:prstGeom>
          <a:noFill/>
          <a:ln/>
        </p:spPr>
        <p:txBody>
          <a:bodyPr wrap="square" lIns="0" tIns="0" rIns="0" bIns="0" rtlCol="0" anchor="ctr"/>
          <a:lstStyle/>
          <a:p>
            <a:pPr indent="0" marL="0">
              <a:buNone/>
            </a:pPr>
            <a:r>
              <a:rPr lang="en-US" sz="950" b="1" dirty="0">
                <a:solidFill>
                  <a:srgbClr val="0086C3"/>
                </a:solidFill>
                <a:latin typeface="Calibri" pitchFamily="34" charset="0"/>
                <a:ea typeface="Calibri" pitchFamily="34" charset="-122"/>
                <a:cs typeface="Calibri" pitchFamily="34" charset="-120"/>
              </a:rPr>
              <a:t>surface-vision.github.io</a:t>
            </a:r>
            <a:pPr indent="0" marL="0">
              <a:buNone/>
            </a:pPr>
            <a:r>
              <a:rPr lang="en-US" sz="950" dirty="0">
                <a:solidFill>
                  <a:srgbClr val="5F6B78"/>
                </a:solidFill>
                <a:latin typeface="Calibri" pitchFamily="34" charset="0"/>
                <a:ea typeface="Calibri" pitchFamily="34" charset="-122"/>
                <a:cs typeface="Calibri" pitchFamily="34" charset="-120"/>
              </a:rPr>
              <a:t>  runs in the browser</a:t>
            </a:r>
            <a:endParaRPr lang="en-US" sz="950" dirty="0"/>
          </a:p>
        </p:txBody>
      </p:sp>
      <p:sp>
        <p:nvSpPr>
          <p:cNvPr id="81" name="Shape 72"/>
          <p:cNvSpPr/>
          <p:nvPr/>
        </p:nvSpPr>
        <p:spPr>
          <a:xfrm>
            <a:off x="4041648" y="3218688"/>
            <a:ext cx="3749040" cy="274320"/>
          </a:xfrm>
          <a:prstGeom prst="rect">
            <a:avLst/>
          </a:prstGeom>
          <a:solidFill>
            <a:srgbClr val="2B5B80"/>
          </a:solidFill>
          <a:ln w="12700">
            <a:solidFill>
              <a:srgbClr val="2B5B80"/>
            </a:solidFill>
            <a:prstDash val="solid"/>
          </a:ln>
        </p:spPr>
      </p:sp>
      <p:sp>
        <p:nvSpPr>
          <p:cNvPr id="82" name="Text 73"/>
          <p:cNvSpPr txBox="1"/>
          <p:nvPr/>
        </p:nvSpPr>
        <p:spPr>
          <a:xfrm>
            <a:off x="4133088" y="3218688"/>
            <a:ext cx="3566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JSL gets that a standard system does not</a:t>
            </a:r>
            <a:endParaRPr lang="en-US" sz="1100" dirty="0"/>
          </a:p>
        </p:txBody>
      </p:sp>
      <p:sp>
        <p:nvSpPr>
          <p:cNvPr id="83" name="Shape 74"/>
          <p:cNvSpPr/>
          <p:nvPr/>
        </p:nvSpPr>
        <p:spPr>
          <a:xfrm>
            <a:off x="4114800" y="3611880"/>
            <a:ext cx="402336" cy="402336"/>
          </a:xfrm>
          <a:prstGeom prst="ellipse">
            <a:avLst/>
          </a:prstGeom>
          <a:solidFill>
            <a:srgbClr val="0086C3"/>
          </a:solidFill>
          <a:ln w="12700">
            <a:solidFill>
              <a:srgbClr val="0086C3"/>
            </a:solidFill>
            <a:prstDash val="solid"/>
          </a:ln>
        </p:spPr>
      </p:sp>
      <p:pic>
        <p:nvPicPr>
          <p:cNvPr id="84" name="Image 7" descr="img/icons/target-white.png">    </p:cNvPr>
          <p:cNvPicPr>
            <a:picLocks noChangeAspect="1"/>
          </p:cNvPicPr>
          <p:nvPr/>
        </p:nvPicPr>
        <p:blipFill>
          <a:blip r:embed="rId8"/>
          <a:stretch>
            <a:fillRect/>
          </a:stretch>
        </p:blipFill>
        <p:spPr>
          <a:xfrm>
            <a:off x="4203314" y="3700394"/>
            <a:ext cx="225308" cy="225308"/>
          </a:xfrm>
          <a:prstGeom prst="rect">
            <a:avLst/>
          </a:prstGeom>
        </p:spPr>
      </p:pic>
      <p:sp>
        <p:nvSpPr>
          <p:cNvPr id="85" name="Text 75"/>
          <p:cNvSpPr txBox="1"/>
          <p:nvPr/>
        </p:nvSpPr>
        <p:spPr>
          <a:xfrm>
            <a:off x="4617720" y="3593592"/>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Alarms you can act on</a:t>
            </a:r>
            <a:endParaRPr lang="en-US" sz="1050" dirty="0"/>
          </a:p>
        </p:txBody>
      </p:sp>
      <p:sp>
        <p:nvSpPr>
          <p:cNvPr id="86" name="Text 76"/>
          <p:cNvSpPr txBox="1"/>
          <p:nvPr/>
        </p:nvSpPr>
        <p:spPr>
          <a:xfrm>
            <a:off x="4617720" y="3831336"/>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only 4.7% of clean strip raises one</a:t>
            </a:r>
            <a:endParaRPr lang="en-US" sz="950" dirty="0"/>
          </a:p>
        </p:txBody>
      </p:sp>
      <p:sp>
        <p:nvSpPr>
          <p:cNvPr id="87" name="Shape 77"/>
          <p:cNvSpPr/>
          <p:nvPr/>
        </p:nvSpPr>
        <p:spPr>
          <a:xfrm>
            <a:off x="4114800" y="4178808"/>
            <a:ext cx="402336" cy="402336"/>
          </a:xfrm>
          <a:prstGeom prst="ellipse">
            <a:avLst/>
          </a:prstGeom>
          <a:solidFill>
            <a:srgbClr val="0086C3"/>
          </a:solidFill>
          <a:ln w="12700">
            <a:solidFill>
              <a:srgbClr val="0086C3"/>
            </a:solidFill>
            <a:prstDash val="solid"/>
          </a:ln>
        </p:spPr>
      </p:sp>
      <p:pic>
        <p:nvPicPr>
          <p:cNvPr id="88" name="Image 8" descr="img/icons/split-white.png">    </p:cNvPr>
          <p:cNvPicPr>
            <a:picLocks noChangeAspect="1"/>
          </p:cNvPicPr>
          <p:nvPr/>
        </p:nvPicPr>
        <p:blipFill>
          <a:blip r:embed="rId9"/>
          <a:stretch>
            <a:fillRect/>
          </a:stretch>
        </p:blipFill>
        <p:spPr>
          <a:xfrm>
            <a:off x="4203314" y="4267322"/>
            <a:ext cx="225308" cy="225308"/>
          </a:xfrm>
          <a:prstGeom prst="rect">
            <a:avLst/>
          </a:prstGeom>
        </p:spPr>
      </p:pic>
      <p:sp>
        <p:nvSpPr>
          <p:cNvPr id="89" name="Text 78"/>
          <p:cNvSpPr txBox="1"/>
          <p:nvPr/>
        </p:nvSpPr>
        <p:spPr>
          <a:xfrm>
            <a:off x="4617720" y="4160520"/>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Root-cause routing</a:t>
            </a:r>
            <a:endParaRPr lang="en-US" sz="1050" dirty="0"/>
          </a:p>
        </p:txBody>
      </p:sp>
      <p:sp>
        <p:nvSpPr>
          <p:cNvPr id="90" name="Text 79"/>
          <p:cNvSpPr txBox="1"/>
          <p:nvPr/>
        </p:nvSpPr>
        <p:spPr>
          <a:xfrm>
            <a:off x="4617720" y="4398264"/>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every alarm becomes a work order for its owner</a:t>
            </a:r>
            <a:endParaRPr lang="en-US" sz="950" dirty="0"/>
          </a:p>
        </p:txBody>
      </p:sp>
      <p:sp>
        <p:nvSpPr>
          <p:cNvPr id="91" name="Shape 80"/>
          <p:cNvSpPr/>
          <p:nvPr/>
        </p:nvSpPr>
        <p:spPr>
          <a:xfrm>
            <a:off x="4114800" y="4745736"/>
            <a:ext cx="402336" cy="402336"/>
          </a:xfrm>
          <a:prstGeom prst="ellipse">
            <a:avLst/>
          </a:prstGeom>
          <a:solidFill>
            <a:srgbClr val="0086C3"/>
          </a:solidFill>
          <a:ln w="12700">
            <a:solidFill>
              <a:srgbClr val="0086C3"/>
            </a:solidFill>
            <a:prstDash val="solid"/>
          </a:ln>
        </p:spPr>
      </p:sp>
      <p:pic>
        <p:nvPicPr>
          <p:cNvPr id="92" name="Image 9" descr="img/icons/layers-white.png">    </p:cNvPr>
          <p:cNvPicPr>
            <a:picLocks noChangeAspect="1"/>
          </p:cNvPicPr>
          <p:nvPr/>
        </p:nvPicPr>
        <p:blipFill>
          <a:blip r:embed="rId10"/>
          <a:stretch>
            <a:fillRect/>
          </a:stretch>
        </p:blipFill>
        <p:spPr>
          <a:xfrm>
            <a:off x="4203314" y="4834250"/>
            <a:ext cx="225308" cy="225308"/>
          </a:xfrm>
          <a:prstGeom prst="rect">
            <a:avLst/>
          </a:prstGeom>
        </p:spPr>
      </p:pic>
      <p:sp>
        <p:nvSpPr>
          <p:cNvPr id="93" name="Text 81"/>
          <p:cNvSpPr txBox="1"/>
          <p:nvPr/>
        </p:nvSpPr>
        <p:spPr>
          <a:xfrm>
            <a:off x="4617720" y="4727448"/>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One verdict per coil</a:t>
            </a:r>
            <a:endParaRPr lang="en-US" sz="1050" dirty="0"/>
          </a:p>
        </p:txBody>
      </p:sp>
      <p:sp>
        <p:nvSpPr>
          <p:cNvPr id="94" name="Text 82"/>
          <p:cNvSpPr txBox="1"/>
          <p:nvPr/>
        </p:nvSpPr>
        <p:spPr>
          <a:xfrm>
            <a:off x="4617720" y="4965192"/>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accept, downgrade or hold, by grade and finish</a:t>
            </a:r>
            <a:endParaRPr lang="en-US" sz="950" dirty="0"/>
          </a:p>
        </p:txBody>
      </p:sp>
      <p:sp>
        <p:nvSpPr>
          <p:cNvPr id="95" name="Shape 83"/>
          <p:cNvSpPr/>
          <p:nvPr/>
        </p:nvSpPr>
        <p:spPr>
          <a:xfrm>
            <a:off x="4114800" y="5312664"/>
            <a:ext cx="402336" cy="402336"/>
          </a:xfrm>
          <a:prstGeom prst="ellipse">
            <a:avLst/>
          </a:prstGeom>
          <a:solidFill>
            <a:srgbClr val="0086C3"/>
          </a:solidFill>
          <a:ln w="12700">
            <a:solidFill>
              <a:srgbClr val="0086C3"/>
            </a:solidFill>
            <a:prstDash val="solid"/>
          </a:ln>
        </p:spPr>
      </p:sp>
      <p:pic>
        <p:nvPicPr>
          <p:cNvPr id="96" name="Image 10" descr="img/icons/shield-check-white.png">    </p:cNvPr>
          <p:cNvPicPr>
            <a:picLocks noChangeAspect="1"/>
          </p:cNvPicPr>
          <p:nvPr/>
        </p:nvPicPr>
        <p:blipFill>
          <a:blip r:embed="rId11"/>
          <a:stretch>
            <a:fillRect/>
          </a:stretch>
        </p:blipFill>
        <p:spPr>
          <a:xfrm>
            <a:off x="4203314" y="5401178"/>
            <a:ext cx="225308" cy="225308"/>
          </a:xfrm>
          <a:prstGeom prst="rect">
            <a:avLst/>
          </a:prstGeom>
        </p:spPr>
      </p:pic>
      <p:sp>
        <p:nvSpPr>
          <p:cNvPr id="97" name="Text 84"/>
          <p:cNvSpPr txBox="1"/>
          <p:nvPr/>
        </p:nvSpPr>
        <p:spPr>
          <a:xfrm>
            <a:off x="4617720" y="5294376"/>
            <a:ext cx="3108960" cy="237744"/>
          </a:xfrm>
          <a:prstGeom prst="rect">
            <a:avLst/>
          </a:prstGeom>
          <a:noFill/>
          <a:ln/>
        </p:spPr>
        <p:txBody>
          <a:bodyPr wrap="square" lIns="0" tIns="0" rIns="0" bIns="0" rtlCol="0" anchor="t"/>
          <a:lstStyle/>
          <a:p>
            <a:pPr indent="0" marL="0">
              <a:buNone/>
            </a:pPr>
            <a:r>
              <a:rPr lang="en-US" sz="1050" b="1" dirty="0">
                <a:solidFill>
                  <a:srgbClr val="143A5A"/>
                </a:solidFill>
                <a:latin typeface="Calibri" pitchFamily="34" charset="0"/>
                <a:ea typeface="Calibri" pitchFamily="34" charset="-122"/>
                <a:cs typeface="Calibri" pitchFamily="34" charset="-120"/>
              </a:rPr>
              <a:t>JSL owns the system</a:t>
            </a:r>
            <a:endParaRPr lang="en-US" sz="1050" dirty="0"/>
          </a:p>
        </p:txBody>
      </p:sp>
      <p:sp>
        <p:nvSpPr>
          <p:cNvPr id="98" name="Text 85"/>
          <p:cNvSpPr txBox="1"/>
          <p:nvPr/>
        </p:nvSpPr>
        <p:spPr>
          <a:xfrm>
            <a:off x="4617720" y="5532120"/>
            <a:ext cx="3108960" cy="23774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its data and software; no vendor lock-in</a:t>
            </a:r>
            <a:endParaRPr lang="en-US" sz="950" dirty="0"/>
          </a:p>
        </p:txBody>
      </p:sp>
      <p:sp>
        <p:nvSpPr>
          <p:cNvPr id="99" name="Shape 86"/>
          <p:cNvSpPr/>
          <p:nvPr/>
        </p:nvSpPr>
        <p:spPr>
          <a:xfrm>
            <a:off x="7955280" y="3218688"/>
            <a:ext cx="3776472" cy="274320"/>
          </a:xfrm>
          <a:prstGeom prst="rect">
            <a:avLst/>
          </a:prstGeom>
          <a:solidFill>
            <a:srgbClr val="2B5B80"/>
          </a:solidFill>
          <a:ln w="12700">
            <a:solidFill>
              <a:srgbClr val="2B5B80"/>
            </a:solidFill>
            <a:prstDash val="solid"/>
          </a:ln>
        </p:spPr>
      </p:sp>
      <p:sp>
        <p:nvSpPr>
          <p:cNvPr id="100" name="Text 87"/>
          <p:cNvSpPr txBox="1"/>
          <p:nvPr/>
        </p:nvSpPr>
        <p:spPr>
          <a:xfrm>
            <a:off x="8046720" y="3218688"/>
            <a:ext cx="359359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Build vs buy</a:t>
            </a:r>
            <a:endParaRPr lang="en-US" sz="1100" dirty="0"/>
          </a:p>
        </p:txBody>
      </p:sp>
      <p:sp>
        <p:nvSpPr>
          <p:cNvPr id="101" name="Text 88"/>
          <p:cNvSpPr txBox="1"/>
          <p:nvPr/>
        </p:nvSpPr>
        <p:spPr>
          <a:xfrm>
            <a:off x="9400032"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Cost per line</a:t>
            </a:r>
            <a:endParaRPr lang="en-US" sz="900" dirty="0"/>
          </a:p>
        </p:txBody>
      </p:sp>
      <p:sp>
        <p:nvSpPr>
          <p:cNvPr id="102" name="Text 89"/>
          <p:cNvSpPr txBox="1"/>
          <p:nvPr/>
        </p:nvSpPr>
        <p:spPr>
          <a:xfrm>
            <a:off x="9976104"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Proven at speed</a:t>
            </a:r>
            <a:endParaRPr lang="en-US" sz="900" dirty="0"/>
          </a:p>
        </p:txBody>
      </p:sp>
      <p:sp>
        <p:nvSpPr>
          <p:cNvPr id="103" name="Text 90"/>
          <p:cNvSpPr txBox="1"/>
          <p:nvPr/>
        </p:nvSpPr>
        <p:spPr>
          <a:xfrm>
            <a:off x="10552176"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Tuned to JSL grades</a:t>
            </a:r>
            <a:endParaRPr lang="en-US" sz="900" dirty="0"/>
          </a:p>
        </p:txBody>
      </p:sp>
      <p:sp>
        <p:nvSpPr>
          <p:cNvPr id="104" name="Text 91"/>
          <p:cNvSpPr txBox="1"/>
          <p:nvPr/>
        </p:nvSpPr>
        <p:spPr>
          <a:xfrm>
            <a:off x="11128248" y="3529584"/>
            <a:ext cx="548640" cy="384048"/>
          </a:xfrm>
          <a:prstGeom prst="rect">
            <a:avLst/>
          </a:prstGeom>
          <a:noFill/>
          <a:ln/>
        </p:spPr>
        <p:txBody>
          <a:bodyPr wrap="square" lIns="0" tIns="0" rIns="0" bIns="0" rtlCol="0" anchor="b"/>
          <a:lstStyle/>
          <a:p>
            <a:pPr algn="ctr" indent="0" marL="0">
              <a:buNone/>
            </a:pPr>
            <a:r>
              <a:rPr lang="en-US" sz="900" b="1" dirty="0">
                <a:solidFill>
                  <a:srgbClr val="334150"/>
                </a:solidFill>
                <a:latin typeface="Calibri" pitchFamily="34" charset="0"/>
                <a:ea typeface="Calibri" pitchFamily="34" charset="-122"/>
                <a:cs typeface="Calibri" pitchFamily="34" charset="-120"/>
              </a:rPr>
              <a:t>JSL owns the system</a:t>
            </a:r>
            <a:endParaRPr lang="en-US" sz="900" dirty="0"/>
          </a:p>
        </p:txBody>
      </p:sp>
      <p:sp>
        <p:nvSpPr>
          <p:cNvPr id="105" name="Text 92"/>
          <p:cNvSpPr txBox="1"/>
          <p:nvPr/>
        </p:nvSpPr>
        <p:spPr>
          <a:xfrm>
            <a:off x="8046720" y="4023360"/>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Commercial</a:t>
            </a:r>
            <a:endParaRPr lang="en-US" sz="1000" dirty="0"/>
          </a:p>
        </p:txBody>
      </p:sp>
      <p:sp>
        <p:nvSpPr>
          <p:cNvPr id="106" name="Text 93"/>
          <p:cNvSpPr txBox="1"/>
          <p:nvPr/>
        </p:nvSpPr>
        <p:spPr>
          <a:xfrm>
            <a:off x="8046720" y="4206240"/>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USD 1-3M (unverified)</a:t>
            </a:r>
            <a:endParaRPr lang="en-US" sz="900" dirty="0"/>
          </a:p>
        </p:txBody>
      </p:sp>
      <p:sp>
        <p:nvSpPr>
          <p:cNvPr id="107" name="Shape 94"/>
          <p:cNvSpPr/>
          <p:nvPr/>
        </p:nvSpPr>
        <p:spPr>
          <a:xfrm>
            <a:off x="9582912" y="4096512"/>
            <a:ext cx="182880" cy="182880"/>
          </a:xfrm>
          <a:prstGeom prst="ellipse">
            <a:avLst/>
          </a:prstGeom>
          <a:solidFill>
            <a:srgbClr val="C62828"/>
          </a:solidFill>
          <a:ln w="12700">
            <a:solidFill>
              <a:srgbClr val="C62828"/>
            </a:solidFill>
            <a:prstDash val="solid"/>
          </a:ln>
        </p:spPr>
      </p:sp>
      <p:sp>
        <p:nvSpPr>
          <p:cNvPr id="108" name="Shape 95"/>
          <p:cNvSpPr/>
          <p:nvPr/>
        </p:nvSpPr>
        <p:spPr>
          <a:xfrm>
            <a:off x="10158984" y="4096512"/>
            <a:ext cx="182880" cy="182880"/>
          </a:xfrm>
          <a:prstGeom prst="ellipse">
            <a:avLst/>
          </a:prstGeom>
          <a:solidFill>
            <a:srgbClr val="2E7D32"/>
          </a:solidFill>
          <a:ln w="12700">
            <a:solidFill>
              <a:srgbClr val="2E7D32"/>
            </a:solidFill>
            <a:prstDash val="solid"/>
          </a:ln>
        </p:spPr>
      </p:sp>
      <p:sp>
        <p:nvSpPr>
          <p:cNvPr id="109" name="Shape 96"/>
          <p:cNvSpPr/>
          <p:nvPr/>
        </p:nvSpPr>
        <p:spPr>
          <a:xfrm>
            <a:off x="10735056" y="4096512"/>
            <a:ext cx="182880" cy="182880"/>
          </a:xfrm>
          <a:prstGeom prst="ellipse">
            <a:avLst/>
          </a:prstGeom>
          <a:solidFill>
            <a:srgbClr val="B77900"/>
          </a:solidFill>
          <a:ln w="12700">
            <a:solidFill>
              <a:srgbClr val="B77900"/>
            </a:solidFill>
            <a:prstDash val="solid"/>
          </a:ln>
        </p:spPr>
      </p:sp>
      <p:sp>
        <p:nvSpPr>
          <p:cNvPr id="110" name="Shape 97"/>
          <p:cNvSpPr/>
          <p:nvPr/>
        </p:nvSpPr>
        <p:spPr>
          <a:xfrm>
            <a:off x="11311128" y="4096512"/>
            <a:ext cx="182880" cy="182880"/>
          </a:xfrm>
          <a:prstGeom prst="ellipse">
            <a:avLst/>
          </a:prstGeom>
          <a:solidFill>
            <a:srgbClr val="C62828"/>
          </a:solidFill>
          <a:ln w="12700">
            <a:solidFill>
              <a:srgbClr val="C62828"/>
            </a:solidFill>
            <a:prstDash val="solid"/>
          </a:ln>
        </p:spPr>
      </p:sp>
      <p:sp>
        <p:nvSpPr>
          <p:cNvPr id="111" name="Text 98"/>
          <p:cNvSpPr txBox="1"/>
          <p:nvPr/>
        </p:nvSpPr>
        <p:spPr>
          <a:xfrm>
            <a:off x="8046720" y="4498848"/>
            <a:ext cx="1371600" cy="182880"/>
          </a:xfrm>
          <a:prstGeom prst="rect">
            <a:avLst/>
          </a:prstGeom>
          <a:noFill/>
          <a:ln/>
        </p:spPr>
        <p:txBody>
          <a:bodyPr wrap="square" lIns="0" tIns="0" rIns="0" bIns="0" rtlCol="0" anchor="t"/>
          <a:lstStyle/>
          <a:p>
            <a:pPr indent="0" marL="0">
              <a:buNone/>
            </a:pPr>
            <a:r>
              <a:rPr lang="en-US" sz="1000" b="1" dirty="0">
                <a:solidFill>
                  <a:srgbClr val="141C24"/>
                </a:solidFill>
                <a:latin typeface="Calibri" pitchFamily="34" charset="0"/>
                <a:ea typeface="Calibri" pitchFamily="34" charset="-122"/>
                <a:cs typeface="Calibri" pitchFamily="34" charset="-120"/>
              </a:rPr>
              <a:t>Fully in-house</a:t>
            </a:r>
            <a:endParaRPr lang="en-US" sz="1000" dirty="0"/>
          </a:p>
        </p:txBody>
      </p:sp>
      <p:sp>
        <p:nvSpPr>
          <p:cNvPr id="112" name="Text 99"/>
          <p:cNvSpPr txBox="1"/>
          <p:nvPr/>
        </p:nvSpPr>
        <p:spPr>
          <a:xfrm>
            <a:off x="8046720" y="4681728"/>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₹2-3 cr (est.)</a:t>
            </a:r>
            <a:endParaRPr lang="en-US" sz="900" dirty="0"/>
          </a:p>
        </p:txBody>
      </p:sp>
      <p:sp>
        <p:nvSpPr>
          <p:cNvPr id="113" name="Shape 100"/>
          <p:cNvSpPr/>
          <p:nvPr/>
        </p:nvSpPr>
        <p:spPr>
          <a:xfrm>
            <a:off x="9582912" y="4572000"/>
            <a:ext cx="182880" cy="182880"/>
          </a:xfrm>
          <a:prstGeom prst="ellipse">
            <a:avLst/>
          </a:prstGeom>
          <a:solidFill>
            <a:srgbClr val="2E7D32"/>
          </a:solidFill>
          <a:ln w="12700">
            <a:solidFill>
              <a:srgbClr val="2E7D32"/>
            </a:solidFill>
            <a:prstDash val="solid"/>
          </a:ln>
        </p:spPr>
      </p:sp>
      <p:sp>
        <p:nvSpPr>
          <p:cNvPr id="114" name="Shape 101"/>
          <p:cNvSpPr/>
          <p:nvPr/>
        </p:nvSpPr>
        <p:spPr>
          <a:xfrm>
            <a:off x="10158984" y="4572000"/>
            <a:ext cx="182880" cy="182880"/>
          </a:xfrm>
          <a:prstGeom prst="ellipse">
            <a:avLst/>
          </a:prstGeom>
          <a:solidFill>
            <a:srgbClr val="C62828"/>
          </a:solidFill>
          <a:ln w="12700">
            <a:solidFill>
              <a:srgbClr val="C62828"/>
            </a:solidFill>
            <a:prstDash val="solid"/>
          </a:ln>
        </p:spPr>
      </p:sp>
      <p:sp>
        <p:nvSpPr>
          <p:cNvPr id="115" name="Shape 102"/>
          <p:cNvSpPr/>
          <p:nvPr/>
        </p:nvSpPr>
        <p:spPr>
          <a:xfrm>
            <a:off x="10735056" y="4572000"/>
            <a:ext cx="182880" cy="182880"/>
          </a:xfrm>
          <a:prstGeom prst="ellipse">
            <a:avLst/>
          </a:prstGeom>
          <a:solidFill>
            <a:srgbClr val="2E7D32"/>
          </a:solidFill>
          <a:ln w="12700">
            <a:solidFill>
              <a:srgbClr val="2E7D32"/>
            </a:solidFill>
            <a:prstDash val="solid"/>
          </a:ln>
        </p:spPr>
      </p:sp>
      <p:sp>
        <p:nvSpPr>
          <p:cNvPr id="116" name="Shape 103"/>
          <p:cNvSpPr/>
          <p:nvPr/>
        </p:nvSpPr>
        <p:spPr>
          <a:xfrm>
            <a:off x="11311128" y="4572000"/>
            <a:ext cx="182880" cy="182880"/>
          </a:xfrm>
          <a:prstGeom prst="ellipse">
            <a:avLst/>
          </a:prstGeom>
          <a:solidFill>
            <a:srgbClr val="2E7D32"/>
          </a:solidFill>
          <a:ln w="12700">
            <a:solidFill>
              <a:srgbClr val="2E7D32"/>
            </a:solidFill>
            <a:prstDash val="solid"/>
          </a:ln>
        </p:spPr>
      </p:sp>
      <p:sp>
        <p:nvSpPr>
          <p:cNvPr id="117" name="Shape 104"/>
          <p:cNvSpPr/>
          <p:nvPr/>
        </p:nvSpPr>
        <p:spPr>
          <a:xfrm>
            <a:off x="7973568" y="4919472"/>
            <a:ext cx="3739896" cy="457200"/>
          </a:xfrm>
          <a:prstGeom prst="roundRect">
            <a:avLst>
              <a:gd name="adj" fmla="val 12000"/>
            </a:avLst>
          </a:prstGeom>
          <a:solidFill>
            <a:srgbClr val="E4EEF6"/>
          </a:solidFill>
          <a:ln w="12700">
            <a:solidFill>
              <a:srgbClr val="E4EEF6"/>
            </a:solidFill>
            <a:prstDash val="solid"/>
          </a:ln>
        </p:spPr>
      </p:sp>
      <p:sp>
        <p:nvSpPr>
          <p:cNvPr id="118" name="Text 105"/>
          <p:cNvSpPr txBox="1"/>
          <p:nvPr/>
        </p:nvSpPr>
        <p:spPr>
          <a:xfrm>
            <a:off x="8046720" y="4974336"/>
            <a:ext cx="1371600" cy="182880"/>
          </a:xfrm>
          <a:prstGeom prst="rect">
            <a:avLst/>
          </a:prstGeom>
          <a:noFill/>
          <a:ln/>
        </p:spPr>
        <p:txBody>
          <a:bodyPr wrap="square" lIns="0" tIns="0" rIns="0" bIns="0" rtlCol="0" anchor="t"/>
          <a:lstStyle/>
          <a:p>
            <a:pPr indent="0" marL="0">
              <a:buNone/>
            </a:pPr>
            <a:r>
              <a:rPr lang="en-US" sz="1000" b="1" dirty="0">
                <a:solidFill>
                  <a:srgbClr val="0086C3"/>
                </a:solidFill>
                <a:latin typeface="Calibri" pitchFamily="34" charset="0"/>
                <a:ea typeface="Calibri" pitchFamily="34" charset="-122"/>
                <a:cs typeface="Calibri" pitchFamily="34" charset="-120"/>
              </a:rPr>
              <a:t>Hybrid (recommended)</a:t>
            </a:r>
            <a:endParaRPr lang="en-US" sz="1000" dirty="0"/>
          </a:p>
        </p:txBody>
      </p:sp>
      <p:sp>
        <p:nvSpPr>
          <p:cNvPr id="119" name="Text 106"/>
          <p:cNvSpPr txBox="1"/>
          <p:nvPr/>
        </p:nvSpPr>
        <p:spPr>
          <a:xfrm>
            <a:off x="8046720" y="5157216"/>
            <a:ext cx="1371600" cy="182880"/>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₹2.5-4.2 cr (est.)</a:t>
            </a:r>
            <a:endParaRPr lang="en-US" sz="900" dirty="0"/>
          </a:p>
        </p:txBody>
      </p:sp>
      <p:sp>
        <p:nvSpPr>
          <p:cNvPr id="120" name="Shape 107"/>
          <p:cNvSpPr/>
          <p:nvPr/>
        </p:nvSpPr>
        <p:spPr>
          <a:xfrm>
            <a:off x="9582912" y="5047488"/>
            <a:ext cx="182880" cy="182880"/>
          </a:xfrm>
          <a:prstGeom prst="ellipse">
            <a:avLst/>
          </a:prstGeom>
          <a:solidFill>
            <a:srgbClr val="2E7D32"/>
          </a:solidFill>
          <a:ln w="12700">
            <a:solidFill>
              <a:srgbClr val="2E7D32"/>
            </a:solidFill>
            <a:prstDash val="solid"/>
          </a:ln>
        </p:spPr>
      </p:sp>
      <p:sp>
        <p:nvSpPr>
          <p:cNvPr id="121" name="Shape 108"/>
          <p:cNvSpPr/>
          <p:nvPr/>
        </p:nvSpPr>
        <p:spPr>
          <a:xfrm>
            <a:off x="10158984" y="5047488"/>
            <a:ext cx="182880" cy="182880"/>
          </a:xfrm>
          <a:prstGeom prst="ellipse">
            <a:avLst/>
          </a:prstGeom>
          <a:solidFill>
            <a:srgbClr val="B77900"/>
          </a:solidFill>
          <a:ln w="12700">
            <a:solidFill>
              <a:srgbClr val="B77900"/>
            </a:solidFill>
            <a:prstDash val="solid"/>
          </a:ln>
        </p:spPr>
      </p:sp>
      <p:sp>
        <p:nvSpPr>
          <p:cNvPr id="122" name="Shape 109"/>
          <p:cNvSpPr/>
          <p:nvPr/>
        </p:nvSpPr>
        <p:spPr>
          <a:xfrm>
            <a:off x="10735056" y="5047488"/>
            <a:ext cx="182880" cy="182880"/>
          </a:xfrm>
          <a:prstGeom prst="ellipse">
            <a:avLst/>
          </a:prstGeom>
          <a:solidFill>
            <a:srgbClr val="2E7D32"/>
          </a:solidFill>
          <a:ln w="12700">
            <a:solidFill>
              <a:srgbClr val="2E7D32"/>
            </a:solidFill>
            <a:prstDash val="solid"/>
          </a:ln>
        </p:spPr>
      </p:sp>
      <p:sp>
        <p:nvSpPr>
          <p:cNvPr id="123" name="Shape 110"/>
          <p:cNvSpPr/>
          <p:nvPr/>
        </p:nvSpPr>
        <p:spPr>
          <a:xfrm>
            <a:off x="11311128" y="5047488"/>
            <a:ext cx="182880" cy="182880"/>
          </a:xfrm>
          <a:prstGeom prst="ellipse">
            <a:avLst/>
          </a:prstGeom>
          <a:solidFill>
            <a:srgbClr val="2E7D32"/>
          </a:solidFill>
          <a:ln w="12700">
            <a:solidFill>
              <a:srgbClr val="2E7D32"/>
            </a:solidFill>
            <a:prstDash val="solid"/>
          </a:ln>
        </p:spPr>
      </p:sp>
      <p:sp>
        <p:nvSpPr>
          <p:cNvPr id="124" name="Shape 111"/>
          <p:cNvSpPr/>
          <p:nvPr/>
        </p:nvSpPr>
        <p:spPr>
          <a:xfrm>
            <a:off x="8065008" y="5477256"/>
            <a:ext cx="128016" cy="128016"/>
          </a:xfrm>
          <a:prstGeom prst="ellipse">
            <a:avLst/>
          </a:prstGeom>
          <a:solidFill>
            <a:srgbClr val="2E7D32"/>
          </a:solidFill>
          <a:ln w="12700">
            <a:solidFill>
              <a:srgbClr val="2E7D32"/>
            </a:solidFill>
            <a:prstDash val="solid"/>
          </a:ln>
        </p:spPr>
      </p:sp>
      <p:sp>
        <p:nvSpPr>
          <p:cNvPr id="125" name="Text 112"/>
          <p:cNvSpPr txBox="1"/>
          <p:nvPr/>
        </p:nvSpPr>
        <p:spPr>
          <a:xfrm>
            <a:off x="822960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strong</a:t>
            </a:r>
            <a:endParaRPr lang="en-US" sz="900" dirty="0"/>
          </a:p>
        </p:txBody>
      </p:sp>
      <p:sp>
        <p:nvSpPr>
          <p:cNvPr id="126" name="Shape 113"/>
          <p:cNvSpPr/>
          <p:nvPr/>
        </p:nvSpPr>
        <p:spPr>
          <a:xfrm>
            <a:off x="8842248" y="5477256"/>
            <a:ext cx="128016" cy="128016"/>
          </a:xfrm>
          <a:prstGeom prst="ellipse">
            <a:avLst/>
          </a:prstGeom>
          <a:solidFill>
            <a:srgbClr val="B77900"/>
          </a:solidFill>
          <a:ln w="12700">
            <a:solidFill>
              <a:srgbClr val="B77900"/>
            </a:solidFill>
            <a:prstDash val="solid"/>
          </a:ln>
        </p:spPr>
      </p:sp>
      <p:sp>
        <p:nvSpPr>
          <p:cNvPr id="127" name="Text 114"/>
          <p:cNvSpPr txBox="1"/>
          <p:nvPr/>
        </p:nvSpPr>
        <p:spPr>
          <a:xfrm>
            <a:off x="900684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partial</a:t>
            </a:r>
            <a:endParaRPr lang="en-US" sz="900" dirty="0"/>
          </a:p>
        </p:txBody>
      </p:sp>
      <p:sp>
        <p:nvSpPr>
          <p:cNvPr id="128" name="Shape 115"/>
          <p:cNvSpPr/>
          <p:nvPr/>
        </p:nvSpPr>
        <p:spPr>
          <a:xfrm>
            <a:off x="9619488" y="5477256"/>
            <a:ext cx="128016" cy="128016"/>
          </a:xfrm>
          <a:prstGeom prst="ellipse">
            <a:avLst/>
          </a:prstGeom>
          <a:solidFill>
            <a:srgbClr val="C62828"/>
          </a:solidFill>
          <a:ln w="12700">
            <a:solidFill>
              <a:srgbClr val="C62828"/>
            </a:solidFill>
            <a:prstDash val="solid"/>
          </a:ln>
        </p:spPr>
      </p:sp>
      <p:sp>
        <p:nvSpPr>
          <p:cNvPr id="129" name="Text 116"/>
          <p:cNvSpPr txBox="1"/>
          <p:nvPr/>
        </p:nvSpPr>
        <p:spPr>
          <a:xfrm>
            <a:off x="9784080" y="5431536"/>
            <a:ext cx="594360" cy="201168"/>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weak</a:t>
            </a:r>
            <a:endParaRPr lang="en-US" sz="900" dirty="0"/>
          </a:p>
        </p:txBody>
      </p:sp>
      <p:sp>
        <p:nvSpPr>
          <p:cNvPr id="130" name="Text 117"/>
          <p:cNvSpPr txBox="1"/>
          <p:nvPr/>
        </p:nvSpPr>
        <p:spPr>
          <a:xfrm>
            <a:off x="8046720" y="5641848"/>
            <a:ext cx="3657600" cy="219456"/>
          </a:xfrm>
          <a:prstGeom prst="rect">
            <a:avLst/>
          </a:prstGeom>
          <a:noFill/>
          <a:ln/>
        </p:spPr>
        <p:txBody>
          <a:bodyPr wrap="square" lIns="0" tIns="0" rIns="0" bIns="0" rtlCol="0" anchor="ctr"/>
          <a:lstStyle/>
          <a:p>
            <a:pPr indent="0" marL="0">
              <a:buNone/>
            </a:pPr>
            <a:r>
              <a:rPr lang="en-US" sz="1000" b="1" dirty="0">
                <a:solidFill>
                  <a:srgbClr val="0086C3"/>
                </a:solidFill>
                <a:latin typeface="Calibri" pitchFamily="34" charset="0"/>
                <a:ea typeface="Calibri" pitchFamily="34" charset="-122"/>
                <a:cs typeface="Calibri" pitchFamily="34" charset="-120"/>
              </a:rPr>
              <a:t>Output: hybrid is never weak.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143A5A"/>
          </a:solidFill>
          <a:ln w="12700">
            <a:solidFill>
              <a:srgbClr val="143A5A"/>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It already works on public steel data; the pilot's job is to prove it on JSL's own strip</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Strong on four of six defect families today. Every weak spot is known, and each has a fix in the pilot plan.</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Datasets: NEU-DET (Northeastern Univ.); Severstal steel defects (Kaggle); GC10-DET (Lv et al. 2020, CC BY 4.0). All scores on held-out images the system had never seen.</a:t>
            </a:r>
            <a:endParaRPr lang="en-US" sz="900" dirty="0"/>
          </a:p>
        </p:txBody>
      </p:sp>
      <p:sp>
        <p:nvSpPr>
          <p:cNvPr id="17" name="Shape 15"/>
          <p:cNvSpPr/>
          <p:nvPr/>
        </p:nvSpPr>
        <p:spPr>
          <a:xfrm>
            <a:off x="457200" y="1234440"/>
            <a:ext cx="5541264"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Tested on three public steel datasets</a:t>
            </a:r>
            <a:endParaRPr lang="en-US" sz="1100" dirty="0"/>
          </a:p>
        </p:txBody>
      </p:sp>
      <p:sp>
        <p:nvSpPr>
          <p:cNvPr id="19" name="Shape 17"/>
          <p:cNvSpPr/>
          <p:nvPr/>
        </p:nvSpPr>
        <p:spPr>
          <a:xfrm>
            <a:off x="457200" y="1572768"/>
            <a:ext cx="1783080" cy="2148840"/>
          </a:xfrm>
          <a:prstGeom prst="roundRect">
            <a:avLst>
              <a:gd name="adj" fmla="val 3077"/>
            </a:avLst>
          </a:prstGeom>
          <a:solidFill>
            <a:srgbClr val="F1F4F7"/>
          </a:solidFill>
          <a:ln w="12700">
            <a:solidFill>
              <a:srgbClr val="F1F4F7"/>
            </a:solidFill>
            <a:prstDash val="solid"/>
          </a:ln>
        </p:spPr>
      </p:sp>
      <p:sp>
        <p:nvSpPr>
          <p:cNvPr id="20" name="Shape 18"/>
          <p:cNvSpPr/>
          <p:nvPr/>
        </p:nvSpPr>
        <p:spPr>
          <a:xfrm>
            <a:off x="539496" y="1645920"/>
            <a:ext cx="1600200" cy="1078992"/>
          </a:xfrm>
          <a:prstGeom prst="rect">
            <a:avLst/>
          </a:prstGeom>
          <a:solidFill>
            <a:srgbClr val="FFFFFF"/>
          </a:solidFill>
          <a:ln w="12700">
            <a:solidFill>
              <a:srgbClr val="FFFFFF"/>
            </a:solidFill>
            <a:prstDash val="solid"/>
          </a:ln>
        </p:spPr>
      </p:sp>
      <p:pic>
        <p:nvPicPr>
          <p:cNvPr id="21" name="Image 0" descr="img/det_patches.png">    </p:cNvPr>
          <p:cNvPicPr>
            <a:picLocks noChangeAspect="1"/>
          </p:cNvPicPr>
          <p:nvPr/>
        </p:nvPicPr>
        <p:blipFill>
          <a:blip r:embed="rId1"/>
          <a:stretch>
            <a:fillRect/>
          </a:stretch>
        </p:blipFill>
        <p:spPr>
          <a:xfrm>
            <a:off x="836676" y="1682496"/>
            <a:ext cx="1005840" cy="1005840"/>
          </a:xfrm>
          <a:prstGeom prst="rect">
            <a:avLst/>
          </a:prstGeom>
        </p:spPr>
      </p:pic>
      <p:sp>
        <p:nvSpPr>
          <p:cNvPr id="22" name="Text 19"/>
          <p:cNvSpPr txBox="1"/>
          <p:nvPr/>
        </p:nvSpPr>
        <p:spPr>
          <a:xfrm>
            <a:off x="539496" y="2761488"/>
            <a:ext cx="1655064"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NEU-DET</a:t>
            </a:r>
            <a:endParaRPr lang="en-US" sz="1100" dirty="0"/>
          </a:p>
        </p:txBody>
      </p:sp>
      <p:sp>
        <p:nvSpPr>
          <p:cNvPr id="23" name="Text 20"/>
          <p:cNvSpPr txBox="1"/>
          <p:nvPr/>
        </p:nvSpPr>
        <p:spPr>
          <a:xfrm>
            <a:off x="539496" y="2999232"/>
            <a:ext cx="1673352" cy="219456"/>
          </a:xfrm>
          <a:prstGeom prst="rect">
            <a:avLst/>
          </a:prstGeom>
          <a:noFill/>
          <a:ln/>
        </p:spPr>
        <p:txBody>
          <a:bodyPr wrap="square" lIns="0" tIns="0" rIns="0" bIns="0" rtlCol="0" anchor="t"/>
          <a:lstStyle/>
          <a:p>
            <a:pPr indent="0" marL="0">
              <a:buNone/>
            </a:pPr>
            <a:r>
              <a:rPr lang="en-US" sz="900" b="1" dirty="0">
                <a:solidFill>
                  <a:srgbClr val="0086C3"/>
                </a:solidFill>
                <a:latin typeface="Calibri" pitchFamily="34" charset="0"/>
                <a:ea typeface="Calibri" pitchFamily="34" charset="-122"/>
                <a:cs typeface="Calibri" pitchFamily="34" charset="-120"/>
              </a:rPr>
              <a:t>1,800 images, 6 types</a:t>
            </a:r>
            <a:endParaRPr lang="en-US" sz="900" dirty="0"/>
          </a:p>
        </p:txBody>
      </p:sp>
      <p:sp>
        <p:nvSpPr>
          <p:cNvPr id="24" name="Text 21"/>
          <p:cNvSpPr txBox="1"/>
          <p:nvPr/>
        </p:nvSpPr>
        <p:spPr>
          <a:xfrm>
            <a:off x="539496" y="3227832"/>
            <a:ext cx="1673352" cy="603504"/>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University benchmark, hot-rolled strip</a:t>
            </a:r>
            <a:endParaRPr lang="en-US" sz="900" dirty="0"/>
          </a:p>
        </p:txBody>
      </p:sp>
      <p:sp>
        <p:nvSpPr>
          <p:cNvPr id="25" name="Shape 22"/>
          <p:cNvSpPr/>
          <p:nvPr/>
        </p:nvSpPr>
        <p:spPr>
          <a:xfrm>
            <a:off x="2336292" y="1572768"/>
            <a:ext cx="1783080" cy="2148840"/>
          </a:xfrm>
          <a:prstGeom prst="roundRect">
            <a:avLst>
              <a:gd name="adj" fmla="val 3077"/>
            </a:avLst>
          </a:prstGeom>
          <a:solidFill>
            <a:srgbClr val="F1F4F7"/>
          </a:solidFill>
          <a:ln w="12700">
            <a:solidFill>
              <a:srgbClr val="F1F4F7"/>
            </a:solidFill>
            <a:prstDash val="solid"/>
          </a:ln>
        </p:spPr>
      </p:sp>
      <p:sp>
        <p:nvSpPr>
          <p:cNvPr id="26" name="Shape 23"/>
          <p:cNvSpPr/>
          <p:nvPr/>
        </p:nvSpPr>
        <p:spPr>
          <a:xfrm>
            <a:off x="2418588" y="1645920"/>
            <a:ext cx="1600200" cy="1078992"/>
          </a:xfrm>
          <a:prstGeom prst="rect">
            <a:avLst/>
          </a:prstGeom>
          <a:solidFill>
            <a:srgbClr val="FFFFFF"/>
          </a:solidFill>
          <a:ln w="12700">
            <a:solidFill>
              <a:srgbClr val="FFFFFF"/>
            </a:solidFill>
            <a:prstDash val="solid"/>
          </a:ln>
        </p:spPr>
      </p:sp>
      <p:pic>
        <p:nvPicPr>
          <p:cNvPr id="27" name="Image 1" descr="img/proof_severstal.png">    </p:cNvPr>
          <p:cNvPicPr>
            <a:picLocks noChangeAspect="1"/>
          </p:cNvPicPr>
          <p:nvPr/>
        </p:nvPicPr>
        <p:blipFill>
          <a:blip r:embed="rId2"/>
          <a:stretch>
            <a:fillRect/>
          </a:stretch>
        </p:blipFill>
        <p:spPr>
          <a:xfrm>
            <a:off x="2715768" y="1682496"/>
            <a:ext cx="1005840" cy="1005840"/>
          </a:xfrm>
          <a:prstGeom prst="rect">
            <a:avLst/>
          </a:prstGeom>
        </p:spPr>
      </p:pic>
      <p:sp>
        <p:nvSpPr>
          <p:cNvPr id="28" name="Text 24"/>
          <p:cNvSpPr txBox="1"/>
          <p:nvPr/>
        </p:nvSpPr>
        <p:spPr>
          <a:xfrm>
            <a:off x="2418588" y="2761488"/>
            <a:ext cx="1655064"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Severstal</a:t>
            </a:r>
            <a:endParaRPr lang="en-US" sz="1100" dirty="0"/>
          </a:p>
        </p:txBody>
      </p:sp>
      <p:sp>
        <p:nvSpPr>
          <p:cNvPr id="29" name="Text 25"/>
          <p:cNvSpPr txBox="1"/>
          <p:nvPr/>
        </p:nvSpPr>
        <p:spPr>
          <a:xfrm>
            <a:off x="2418588" y="2999232"/>
            <a:ext cx="1673352" cy="219456"/>
          </a:xfrm>
          <a:prstGeom prst="rect">
            <a:avLst/>
          </a:prstGeom>
          <a:noFill/>
          <a:ln/>
        </p:spPr>
        <p:txBody>
          <a:bodyPr wrap="square" lIns="0" tIns="0" rIns="0" bIns="0" rtlCol="0" anchor="t"/>
          <a:lstStyle/>
          <a:p>
            <a:pPr indent="0" marL="0">
              <a:buNone/>
            </a:pPr>
            <a:r>
              <a:rPr lang="en-US" sz="900" b="1" dirty="0">
                <a:solidFill>
                  <a:srgbClr val="0086C3"/>
                </a:solidFill>
                <a:latin typeface="Calibri" pitchFamily="34" charset="0"/>
                <a:ea typeface="Calibri" pitchFamily="34" charset="-122"/>
                <a:cs typeface="Calibri" pitchFamily="34" charset="-120"/>
              </a:rPr>
              <a:t>12,568 real mill frames</a:t>
            </a:r>
            <a:endParaRPr lang="en-US" sz="900" dirty="0"/>
          </a:p>
        </p:txBody>
      </p:sp>
      <p:sp>
        <p:nvSpPr>
          <p:cNvPr id="30" name="Text 26"/>
          <p:cNvSpPr txBox="1"/>
          <p:nvPr/>
        </p:nvSpPr>
        <p:spPr>
          <a:xfrm>
            <a:off x="2418588" y="3227832"/>
            <a:ext cx="1673352" cy="603504"/>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Production strip from a steel mill</a:t>
            </a:r>
            <a:endParaRPr lang="en-US" sz="900" dirty="0"/>
          </a:p>
        </p:txBody>
      </p:sp>
      <p:sp>
        <p:nvSpPr>
          <p:cNvPr id="31" name="Shape 27"/>
          <p:cNvSpPr/>
          <p:nvPr/>
        </p:nvSpPr>
        <p:spPr>
          <a:xfrm>
            <a:off x="4215384" y="1572768"/>
            <a:ext cx="1783080" cy="2148840"/>
          </a:xfrm>
          <a:prstGeom prst="roundRect">
            <a:avLst>
              <a:gd name="adj" fmla="val 3077"/>
            </a:avLst>
          </a:prstGeom>
          <a:solidFill>
            <a:srgbClr val="F1F4F7"/>
          </a:solidFill>
          <a:ln w="12700">
            <a:solidFill>
              <a:srgbClr val="F1F4F7"/>
            </a:solidFill>
            <a:prstDash val="solid"/>
          </a:ln>
        </p:spPr>
      </p:sp>
      <p:sp>
        <p:nvSpPr>
          <p:cNvPr id="32" name="Shape 28"/>
          <p:cNvSpPr/>
          <p:nvPr/>
        </p:nvSpPr>
        <p:spPr>
          <a:xfrm>
            <a:off x="4297680" y="1645920"/>
            <a:ext cx="1600200" cy="1078992"/>
          </a:xfrm>
          <a:prstGeom prst="rect">
            <a:avLst/>
          </a:prstGeom>
          <a:solidFill>
            <a:srgbClr val="FFFFFF"/>
          </a:solidFill>
          <a:ln w="12700">
            <a:solidFill>
              <a:srgbClr val="FFFFFF"/>
            </a:solidFill>
            <a:prstDash val="solid"/>
          </a:ln>
        </p:spPr>
      </p:sp>
      <p:pic>
        <p:nvPicPr>
          <p:cNvPr id="33" name="Image 2" descr="img/proof_gc10.png">    </p:cNvPr>
          <p:cNvPicPr>
            <a:picLocks noChangeAspect="1"/>
          </p:cNvPicPr>
          <p:nvPr/>
        </p:nvPicPr>
        <p:blipFill>
          <a:blip r:embed="rId3"/>
          <a:stretch>
            <a:fillRect/>
          </a:stretch>
        </p:blipFill>
        <p:spPr>
          <a:xfrm>
            <a:off x="4297680" y="1645920"/>
            <a:ext cx="1600200" cy="1078992"/>
          </a:xfrm>
          <a:prstGeom prst="rect">
            <a:avLst/>
          </a:prstGeom>
        </p:spPr>
      </p:pic>
      <p:sp>
        <p:nvSpPr>
          <p:cNvPr id="34" name="Text 29"/>
          <p:cNvSpPr txBox="1"/>
          <p:nvPr/>
        </p:nvSpPr>
        <p:spPr>
          <a:xfrm>
            <a:off x="4297680" y="2761488"/>
            <a:ext cx="1655064" cy="237744"/>
          </a:xfrm>
          <a:prstGeom prst="rect">
            <a:avLst/>
          </a:prstGeom>
          <a:noFill/>
          <a:ln/>
        </p:spPr>
        <p:txBody>
          <a:bodyPr wrap="square" lIns="0" tIns="0" rIns="0" bIns="0" rtlCol="0" anchor="t"/>
          <a:lstStyle/>
          <a:p>
            <a:pPr indent="0" marL="0">
              <a:buNone/>
            </a:pPr>
            <a:r>
              <a:rPr lang="en-US" sz="1100" b="1" dirty="0">
                <a:solidFill>
                  <a:srgbClr val="143A5A"/>
                </a:solidFill>
                <a:latin typeface="Calibri" pitchFamily="34" charset="0"/>
                <a:ea typeface="Calibri" pitchFamily="34" charset="-122"/>
                <a:cs typeface="Calibri" pitchFamily="34" charset="-120"/>
              </a:rPr>
              <a:t>GC10-DET</a:t>
            </a:r>
            <a:endParaRPr lang="en-US" sz="1100" dirty="0"/>
          </a:p>
        </p:txBody>
      </p:sp>
      <p:sp>
        <p:nvSpPr>
          <p:cNvPr id="35" name="Text 30"/>
          <p:cNvSpPr txBox="1"/>
          <p:nvPr/>
        </p:nvSpPr>
        <p:spPr>
          <a:xfrm>
            <a:off x="4297680" y="2999232"/>
            <a:ext cx="1673352" cy="219456"/>
          </a:xfrm>
          <a:prstGeom prst="rect">
            <a:avLst/>
          </a:prstGeom>
          <a:noFill/>
          <a:ln/>
        </p:spPr>
        <p:txBody>
          <a:bodyPr wrap="square" lIns="0" tIns="0" rIns="0" bIns="0" rtlCol="0" anchor="t"/>
          <a:lstStyle/>
          <a:p>
            <a:pPr indent="0" marL="0">
              <a:buNone/>
            </a:pPr>
            <a:r>
              <a:rPr lang="en-US" sz="900" b="1" dirty="0">
                <a:solidFill>
                  <a:srgbClr val="0086C3"/>
                </a:solidFill>
                <a:latin typeface="Calibri" pitchFamily="34" charset="0"/>
                <a:ea typeface="Calibri" pitchFamily="34" charset="-122"/>
                <a:cs typeface="Calibri" pitchFamily="34" charset="-120"/>
              </a:rPr>
              <a:t>2,294 frames, 10 types</a:t>
            </a:r>
            <a:endParaRPr lang="en-US" sz="900" dirty="0"/>
          </a:p>
        </p:txBody>
      </p:sp>
      <p:sp>
        <p:nvSpPr>
          <p:cNvPr id="36" name="Text 31"/>
          <p:cNvSpPr txBox="1"/>
          <p:nvPr/>
        </p:nvSpPr>
        <p:spPr>
          <a:xfrm>
            <a:off x="4297680" y="3227832"/>
            <a:ext cx="1673352" cy="603504"/>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Full-width line-scan camera frames (roll marks shown)</a:t>
            </a:r>
            <a:endParaRPr lang="en-US" sz="900" dirty="0"/>
          </a:p>
        </p:txBody>
      </p:sp>
      <p:sp>
        <p:nvSpPr>
          <p:cNvPr id="37" name="Shape 32"/>
          <p:cNvSpPr/>
          <p:nvPr/>
        </p:nvSpPr>
        <p:spPr>
          <a:xfrm>
            <a:off x="6190488" y="1234440"/>
            <a:ext cx="5541264" cy="274320"/>
          </a:xfrm>
          <a:prstGeom prst="rect">
            <a:avLst/>
          </a:prstGeom>
          <a:solidFill>
            <a:srgbClr val="2B5B80"/>
          </a:solidFill>
          <a:ln w="12700">
            <a:solidFill>
              <a:srgbClr val="2B5B80"/>
            </a:solidFill>
            <a:prstDash val="solid"/>
          </a:ln>
        </p:spPr>
      </p:sp>
      <p:sp>
        <p:nvSpPr>
          <p:cNvPr id="38" name="Text 33"/>
          <p:cNvSpPr txBox="1"/>
          <p:nvPr/>
        </p:nvSpPr>
        <p:spPr>
          <a:xfrm>
            <a:off x="6281928" y="123444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How well it finds each defect type (accuracy, held-out images)</a:t>
            </a:r>
            <a:endParaRPr lang="en-US" sz="1100" dirty="0"/>
          </a:p>
        </p:txBody>
      </p:sp>
      <p:sp>
        <p:nvSpPr>
          <p:cNvPr id="39" name="Shape 34"/>
          <p:cNvSpPr/>
          <p:nvPr/>
        </p:nvSpPr>
        <p:spPr>
          <a:xfrm>
            <a:off x="10085832" y="1591056"/>
            <a:ext cx="356616" cy="2011680"/>
          </a:xfrm>
          <a:prstGeom prst="rect">
            <a:avLst/>
          </a:prstGeom>
          <a:solidFill>
            <a:srgbClr val="E4EEF6"/>
          </a:solidFill>
          <a:ln w="12700">
            <a:solidFill>
              <a:srgbClr val="E4EEF6"/>
            </a:solidFill>
            <a:prstDash val="solid"/>
          </a:ln>
        </p:spPr>
      </p:sp>
      <p:sp>
        <p:nvSpPr>
          <p:cNvPr id="40" name="Text 35"/>
          <p:cNvSpPr txBox="1"/>
          <p:nvPr/>
        </p:nvSpPr>
        <p:spPr>
          <a:xfrm>
            <a:off x="9811512" y="3584448"/>
            <a:ext cx="905256"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published range</a:t>
            </a:r>
            <a:endParaRPr lang="en-US" sz="900" dirty="0"/>
          </a:p>
        </p:txBody>
      </p:sp>
      <p:sp>
        <p:nvSpPr>
          <p:cNvPr id="41" name="Text 36"/>
          <p:cNvSpPr txBox="1"/>
          <p:nvPr/>
        </p:nvSpPr>
        <p:spPr>
          <a:xfrm>
            <a:off x="6281928" y="164592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Patches</a:t>
            </a:r>
            <a:endParaRPr lang="en-US" sz="1000" dirty="0"/>
          </a:p>
        </p:txBody>
      </p:sp>
      <p:sp>
        <p:nvSpPr>
          <p:cNvPr id="42" name="Shape 37"/>
          <p:cNvSpPr/>
          <p:nvPr/>
        </p:nvSpPr>
        <p:spPr>
          <a:xfrm>
            <a:off x="7589520" y="1691640"/>
            <a:ext cx="3359323" cy="173736"/>
          </a:xfrm>
          <a:prstGeom prst="rect">
            <a:avLst/>
          </a:prstGeom>
          <a:solidFill>
            <a:srgbClr val="0086C3"/>
          </a:solidFill>
          <a:ln w="12700">
            <a:solidFill>
              <a:srgbClr val="0086C3"/>
            </a:solidFill>
            <a:prstDash val="solid"/>
          </a:ln>
        </p:spPr>
      </p:sp>
      <p:sp>
        <p:nvSpPr>
          <p:cNvPr id="43" name="Text 38"/>
          <p:cNvSpPr txBox="1"/>
          <p:nvPr/>
        </p:nvSpPr>
        <p:spPr>
          <a:xfrm>
            <a:off x="11003707" y="164592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0.94</a:t>
            </a:r>
            <a:endParaRPr lang="en-US" sz="1000" dirty="0"/>
          </a:p>
        </p:txBody>
      </p:sp>
      <p:sp>
        <p:nvSpPr>
          <p:cNvPr id="44" name="Text 39"/>
          <p:cNvSpPr txBox="1"/>
          <p:nvPr/>
        </p:nvSpPr>
        <p:spPr>
          <a:xfrm>
            <a:off x="6281928" y="196596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Inclusion</a:t>
            </a:r>
            <a:endParaRPr lang="en-US" sz="1000" dirty="0"/>
          </a:p>
        </p:txBody>
      </p:sp>
      <p:sp>
        <p:nvSpPr>
          <p:cNvPr id="45" name="Shape 40"/>
          <p:cNvSpPr/>
          <p:nvPr/>
        </p:nvSpPr>
        <p:spPr>
          <a:xfrm>
            <a:off x="7589520" y="2011680"/>
            <a:ext cx="2835097" cy="173736"/>
          </a:xfrm>
          <a:prstGeom prst="rect">
            <a:avLst/>
          </a:prstGeom>
          <a:solidFill>
            <a:srgbClr val="0086C3"/>
          </a:solidFill>
          <a:ln w="12700">
            <a:solidFill>
              <a:srgbClr val="0086C3"/>
            </a:solidFill>
            <a:prstDash val="solid"/>
          </a:ln>
        </p:spPr>
      </p:sp>
      <p:sp>
        <p:nvSpPr>
          <p:cNvPr id="46" name="Text 41"/>
          <p:cNvSpPr txBox="1"/>
          <p:nvPr/>
        </p:nvSpPr>
        <p:spPr>
          <a:xfrm>
            <a:off x="10479481" y="196596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0.80</a:t>
            </a:r>
            <a:endParaRPr lang="en-US" sz="1000" dirty="0"/>
          </a:p>
        </p:txBody>
      </p:sp>
      <p:sp>
        <p:nvSpPr>
          <p:cNvPr id="47" name="Text 42"/>
          <p:cNvSpPr txBox="1"/>
          <p:nvPr/>
        </p:nvSpPr>
        <p:spPr>
          <a:xfrm>
            <a:off x="6281928" y="228600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Scratches</a:t>
            </a:r>
            <a:endParaRPr lang="en-US" sz="1000" dirty="0"/>
          </a:p>
        </p:txBody>
      </p:sp>
      <p:sp>
        <p:nvSpPr>
          <p:cNvPr id="48" name="Shape 43"/>
          <p:cNvSpPr/>
          <p:nvPr/>
        </p:nvSpPr>
        <p:spPr>
          <a:xfrm>
            <a:off x="7589520" y="2331720"/>
            <a:ext cx="2831531" cy="173736"/>
          </a:xfrm>
          <a:prstGeom prst="rect">
            <a:avLst/>
          </a:prstGeom>
          <a:solidFill>
            <a:srgbClr val="0086C3"/>
          </a:solidFill>
          <a:ln w="12700">
            <a:solidFill>
              <a:srgbClr val="0086C3"/>
            </a:solidFill>
            <a:prstDash val="solid"/>
          </a:ln>
        </p:spPr>
      </p:sp>
      <p:sp>
        <p:nvSpPr>
          <p:cNvPr id="49" name="Text 44"/>
          <p:cNvSpPr txBox="1"/>
          <p:nvPr/>
        </p:nvSpPr>
        <p:spPr>
          <a:xfrm>
            <a:off x="10475915" y="228600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0.79</a:t>
            </a:r>
            <a:endParaRPr lang="en-US" sz="1000" dirty="0"/>
          </a:p>
        </p:txBody>
      </p:sp>
      <p:sp>
        <p:nvSpPr>
          <p:cNvPr id="50" name="Text 45"/>
          <p:cNvSpPr txBox="1"/>
          <p:nvPr/>
        </p:nvSpPr>
        <p:spPr>
          <a:xfrm>
            <a:off x="6281928" y="2606040"/>
            <a:ext cx="1280160" cy="256032"/>
          </a:xfrm>
          <a:prstGeom prst="rect">
            <a:avLst/>
          </a:prstGeom>
          <a:noFill/>
          <a:ln/>
        </p:spPr>
        <p:txBody>
          <a:bodyPr wrap="square" lIns="0" tIns="0" rIns="0" bIns="0" rtlCol="0" anchor="ctr"/>
          <a:lstStyle/>
          <a:p>
            <a:pPr indent="0" marL="0">
              <a:buNone/>
            </a:pPr>
            <a:r>
              <a:rPr lang="en-US" sz="1000" dirty="0">
                <a:solidFill>
                  <a:srgbClr val="141C24"/>
                </a:solidFill>
                <a:latin typeface="Calibri" pitchFamily="34" charset="0"/>
                <a:ea typeface="Calibri" pitchFamily="34" charset="-122"/>
                <a:cs typeface="Calibri" pitchFamily="34" charset="-120"/>
              </a:rPr>
              <a:t>Pitted surface</a:t>
            </a:r>
            <a:endParaRPr lang="en-US" sz="1000" dirty="0"/>
          </a:p>
        </p:txBody>
      </p:sp>
      <p:sp>
        <p:nvSpPr>
          <p:cNvPr id="51" name="Shape 46"/>
          <p:cNvSpPr/>
          <p:nvPr/>
        </p:nvSpPr>
        <p:spPr>
          <a:xfrm>
            <a:off x="7589520" y="2651760"/>
            <a:ext cx="2720980" cy="173736"/>
          </a:xfrm>
          <a:prstGeom prst="rect">
            <a:avLst/>
          </a:prstGeom>
          <a:solidFill>
            <a:srgbClr val="0086C3"/>
          </a:solidFill>
          <a:ln w="12700">
            <a:solidFill>
              <a:srgbClr val="0086C3"/>
            </a:solidFill>
            <a:prstDash val="solid"/>
          </a:ln>
        </p:spPr>
      </p:sp>
      <p:sp>
        <p:nvSpPr>
          <p:cNvPr id="52" name="Text 47"/>
          <p:cNvSpPr txBox="1"/>
          <p:nvPr/>
        </p:nvSpPr>
        <p:spPr>
          <a:xfrm>
            <a:off x="10365364" y="2606040"/>
            <a:ext cx="45720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0.76</a:t>
            </a:r>
            <a:endParaRPr lang="en-US" sz="1000" dirty="0"/>
          </a:p>
        </p:txBody>
      </p:sp>
      <p:sp>
        <p:nvSpPr>
          <p:cNvPr id="53" name="Text 48"/>
          <p:cNvSpPr txBox="1"/>
          <p:nvPr/>
        </p:nvSpPr>
        <p:spPr>
          <a:xfrm>
            <a:off x="6281928" y="292608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Rolled-in scale</a:t>
            </a:r>
            <a:endParaRPr lang="en-US" sz="1000" dirty="0"/>
          </a:p>
        </p:txBody>
      </p:sp>
      <p:sp>
        <p:nvSpPr>
          <p:cNvPr id="54" name="Shape 49"/>
          <p:cNvSpPr/>
          <p:nvPr/>
        </p:nvSpPr>
        <p:spPr>
          <a:xfrm>
            <a:off x="7589520" y="2971800"/>
            <a:ext cx="2128998" cy="173736"/>
          </a:xfrm>
          <a:prstGeom prst="rect">
            <a:avLst/>
          </a:prstGeom>
          <a:solidFill>
            <a:srgbClr val="9AA7B4"/>
          </a:solidFill>
          <a:ln w="12700">
            <a:solidFill>
              <a:srgbClr val="9AA7B4"/>
            </a:solidFill>
            <a:prstDash val="solid"/>
          </a:ln>
        </p:spPr>
      </p:sp>
      <p:sp>
        <p:nvSpPr>
          <p:cNvPr id="55" name="Text 50"/>
          <p:cNvSpPr txBox="1"/>
          <p:nvPr/>
        </p:nvSpPr>
        <p:spPr>
          <a:xfrm>
            <a:off x="9773382" y="292608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0.60</a:t>
            </a:r>
            <a:endParaRPr lang="en-US" sz="1000" dirty="0"/>
          </a:p>
        </p:txBody>
      </p:sp>
      <p:sp>
        <p:nvSpPr>
          <p:cNvPr id="56" name="Text 51"/>
          <p:cNvSpPr txBox="1"/>
          <p:nvPr/>
        </p:nvSpPr>
        <p:spPr>
          <a:xfrm>
            <a:off x="6281928" y="3246120"/>
            <a:ext cx="1280160" cy="256032"/>
          </a:xfrm>
          <a:prstGeom prst="rect">
            <a:avLst/>
          </a:prstGeom>
          <a:noFill/>
          <a:ln/>
        </p:spPr>
        <p:txBody>
          <a:bodyPr wrap="square" lIns="0" tIns="0" rIns="0" bIns="0" rtlCol="0" anchor="ctr"/>
          <a:lstStyle/>
          <a:p>
            <a:pPr indent="0" marL="0">
              <a:buNone/>
            </a:pPr>
            <a:r>
              <a:rPr lang="en-US" sz="1000" b="1" dirty="0">
                <a:solidFill>
                  <a:srgbClr val="141C24"/>
                </a:solidFill>
                <a:latin typeface="Calibri" pitchFamily="34" charset="0"/>
                <a:ea typeface="Calibri" pitchFamily="34" charset="-122"/>
                <a:cs typeface="Calibri" pitchFamily="34" charset="-120"/>
              </a:rPr>
              <a:t>Crazing</a:t>
            </a:r>
            <a:endParaRPr lang="en-US" sz="1000" dirty="0"/>
          </a:p>
        </p:txBody>
      </p:sp>
      <p:sp>
        <p:nvSpPr>
          <p:cNvPr id="57" name="Shape 52"/>
          <p:cNvSpPr/>
          <p:nvPr/>
        </p:nvSpPr>
        <p:spPr>
          <a:xfrm>
            <a:off x="7589520" y="3291840"/>
            <a:ext cx="2071939" cy="173736"/>
          </a:xfrm>
          <a:prstGeom prst="rect">
            <a:avLst/>
          </a:prstGeom>
          <a:solidFill>
            <a:srgbClr val="9AA7B4"/>
          </a:solidFill>
          <a:ln w="12700">
            <a:solidFill>
              <a:srgbClr val="9AA7B4"/>
            </a:solidFill>
            <a:prstDash val="solid"/>
          </a:ln>
        </p:spPr>
      </p:sp>
      <p:sp>
        <p:nvSpPr>
          <p:cNvPr id="58" name="Text 53"/>
          <p:cNvSpPr txBox="1"/>
          <p:nvPr/>
        </p:nvSpPr>
        <p:spPr>
          <a:xfrm>
            <a:off x="9716323" y="3246120"/>
            <a:ext cx="457200" cy="256032"/>
          </a:xfrm>
          <a:prstGeom prst="rect">
            <a:avLst/>
          </a:prstGeom>
          <a:noFill/>
          <a:ln/>
        </p:spPr>
        <p:txBody>
          <a:bodyPr wrap="square" lIns="0" tIns="0" rIns="0" bIns="0" rtlCol="0" anchor="ctr"/>
          <a:lstStyle/>
          <a:p>
            <a:pPr indent="0" marL="0">
              <a:buNone/>
            </a:pPr>
            <a:r>
              <a:rPr lang="en-US" sz="1000" b="1" dirty="0">
                <a:solidFill>
                  <a:srgbClr val="334150"/>
                </a:solidFill>
                <a:latin typeface="Calibri" pitchFamily="34" charset="0"/>
                <a:ea typeface="Calibri" pitchFamily="34" charset="-122"/>
                <a:cs typeface="Calibri" pitchFamily="34" charset="-120"/>
              </a:rPr>
              <a:t>0.58</a:t>
            </a:r>
            <a:endParaRPr lang="en-US" sz="1000" dirty="0"/>
          </a:p>
        </p:txBody>
      </p:sp>
      <p:sp>
        <p:nvSpPr>
          <p:cNvPr id="59" name="Shape 54"/>
          <p:cNvSpPr/>
          <p:nvPr/>
        </p:nvSpPr>
        <p:spPr>
          <a:xfrm>
            <a:off x="457200" y="3886200"/>
            <a:ext cx="5541264" cy="274320"/>
          </a:xfrm>
          <a:prstGeom prst="rect">
            <a:avLst/>
          </a:prstGeom>
          <a:solidFill>
            <a:srgbClr val="2B5B80"/>
          </a:solidFill>
          <a:ln w="12700">
            <a:solidFill>
              <a:srgbClr val="2B5B80"/>
            </a:solidFill>
            <a:prstDash val="solid"/>
          </a:ln>
        </p:spPr>
      </p:sp>
      <p:sp>
        <p:nvSpPr>
          <p:cNvPr id="60" name="Text 55"/>
          <p:cNvSpPr txBox="1"/>
          <p:nvPr/>
        </p:nvSpPr>
        <p:spPr>
          <a:xfrm>
            <a:off x="548640"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Headline results</a:t>
            </a:r>
            <a:endParaRPr lang="en-US" sz="1100" dirty="0"/>
          </a:p>
        </p:txBody>
      </p:sp>
      <p:sp>
        <p:nvSpPr>
          <p:cNvPr id="61" name="Shape 56"/>
          <p:cNvSpPr/>
          <p:nvPr/>
        </p:nvSpPr>
        <p:spPr>
          <a:xfrm>
            <a:off x="457200" y="4224528"/>
            <a:ext cx="1783080" cy="1645920"/>
          </a:xfrm>
          <a:prstGeom prst="roundRect">
            <a:avLst>
              <a:gd name="adj" fmla="val 3333"/>
            </a:avLst>
          </a:prstGeom>
          <a:solidFill>
            <a:srgbClr val="F1F4F7"/>
          </a:solidFill>
          <a:ln w="12700">
            <a:solidFill>
              <a:srgbClr val="F1F4F7"/>
            </a:solidFill>
            <a:prstDash val="solid"/>
          </a:ln>
        </p:spPr>
      </p:sp>
      <p:sp>
        <p:nvSpPr>
          <p:cNvPr id="62" name="Shape 57"/>
          <p:cNvSpPr/>
          <p:nvPr/>
        </p:nvSpPr>
        <p:spPr>
          <a:xfrm>
            <a:off x="566928" y="4315968"/>
            <a:ext cx="402336" cy="402336"/>
          </a:xfrm>
          <a:prstGeom prst="ellipse">
            <a:avLst/>
          </a:prstGeom>
          <a:solidFill>
            <a:srgbClr val="143A5A"/>
          </a:solidFill>
          <a:ln w="12700">
            <a:solidFill>
              <a:srgbClr val="143A5A"/>
            </a:solidFill>
            <a:prstDash val="solid"/>
          </a:ln>
        </p:spPr>
      </p:sp>
      <p:pic>
        <p:nvPicPr>
          <p:cNvPr id="63" name="Image 3" descr="img/icons/target-white.png">    </p:cNvPr>
          <p:cNvPicPr>
            <a:picLocks noChangeAspect="1"/>
          </p:cNvPicPr>
          <p:nvPr/>
        </p:nvPicPr>
        <p:blipFill>
          <a:blip r:embed="rId4"/>
          <a:stretch>
            <a:fillRect/>
          </a:stretch>
        </p:blipFill>
        <p:spPr>
          <a:xfrm>
            <a:off x="655442" y="4404482"/>
            <a:ext cx="225308" cy="225308"/>
          </a:xfrm>
          <a:prstGeom prst="rect">
            <a:avLst/>
          </a:prstGeom>
        </p:spPr>
      </p:pic>
      <p:sp>
        <p:nvSpPr>
          <p:cNvPr id="64" name="Text 58"/>
          <p:cNvSpPr txBox="1"/>
          <p:nvPr/>
        </p:nvSpPr>
        <p:spPr>
          <a:xfrm>
            <a:off x="566928"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178 of 180</a:t>
            </a:r>
            <a:endParaRPr lang="en-US" sz="2000" dirty="0"/>
          </a:p>
        </p:txBody>
      </p:sp>
      <p:sp>
        <p:nvSpPr>
          <p:cNvPr id="65" name="Text 59"/>
          <p:cNvSpPr txBox="1"/>
          <p:nvPr/>
        </p:nvSpPr>
        <p:spPr>
          <a:xfrm>
            <a:off x="566928"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test images: the right defect type named</a:t>
            </a:r>
            <a:endParaRPr lang="en-US" sz="950" dirty="0"/>
          </a:p>
        </p:txBody>
      </p:sp>
      <p:sp>
        <p:nvSpPr>
          <p:cNvPr id="66" name="Shape 60"/>
          <p:cNvSpPr/>
          <p:nvPr/>
        </p:nvSpPr>
        <p:spPr>
          <a:xfrm>
            <a:off x="2336292" y="4224528"/>
            <a:ext cx="1783080" cy="1645920"/>
          </a:xfrm>
          <a:prstGeom prst="roundRect">
            <a:avLst>
              <a:gd name="adj" fmla="val 3333"/>
            </a:avLst>
          </a:prstGeom>
          <a:solidFill>
            <a:srgbClr val="F1F4F7"/>
          </a:solidFill>
          <a:ln w="12700">
            <a:solidFill>
              <a:srgbClr val="F1F4F7"/>
            </a:solidFill>
            <a:prstDash val="solid"/>
          </a:ln>
        </p:spPr>
      </p:sp>
      <p:sp>
        <p:nvSpPr>
          <p:cNvPr id="67" name="Shape 61"/>
          <p:cNvSpPr/>
          <p:nvPr/>
        </p:nvSpPr>
        <p:spPr>
          <a:xfrm>
            <a:off x="2446020" y="4315968"/>
            <a:ext cx="402336" cy="402336"/>
          </a:xfrm>
          <a:prstGeom prst="ellipse">
            <a:avLst/>
          </a:prstGeom>
          <a:solidFill>
            <a:srgbClr val="143A5A"/>
          </a:solidFill>
          <a:ln w="12700">
            <a:solidFill>
              <a:srgbClr val="143A5A"/>
            </a:solidFill>
            <a:prstDash val="solid"/>
          </a:ln>
        </p:spPr>
      </p:sp>
      <p:pic>
        <p:nvPicPr>
          <p:cNvPr id="68" name="Image 4" descr="img/icons/scan-search-white.png">    </p:cNvPr>
          <p:cNvPicPr>
            <a:picLocks noChangeAspect="1"/>
          </p:cNvPicPr>
          <p:nvPr/>
        </p:nvPicPr>
        <p:blipFill>
          <a:blip r:embed="rId5"/>
          <a:stretch>
            <a:fillRect/>
          </a:stretch>
        </p:blipFill>
        <p:spPr>
          <a:xfrm>
            <a:off x="2534534" y="4404482"/>
            <a:ext cx="225308" cy="225308"/>
          </a:xfrm>
          <a:prstGeom prst="rect">
            <a:avLst/>
          </a:prstGeom>
        </p:spPr>
      </p:pic>
      <p:sp>
        <p:nvSpPr>
          <p:cNvPr id="69" name="Text 62"/>
          <p:cNvSpPr txBox="1"/>
          <p:nvPr/>
        </p:nvSpPr>
        <p:spPr>
          <a:xfrm>
            <a:off x="2446020"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Live</a:t>
            </a:r>
            <a:endParaRPr lang="en-US" sz="2000" dirty="0"/>
          </a:p>
        </p:txBody>
      </p:sp>
      <p:sp>
        <p:nvSpPr>
          <p:cNvPr id="70" name="Text 63"/>
          <p:cNvSpPr txBox="1"/>
          <p:nvPr/>
        </p:nvSpPr>
        <p:spPr>
          <a:xfrm>
            <a:off x="2446020" y="5193792"/>
            <a:ext cx="1600200" cy="603504"/>
          </a:xfrm>
          <a:prstGeom prst="rect">
            <a:avLst/>
          </a:prstGeom>
          <a:noFill/>
          <a:ln/>
        </p:spPr>
        <p:txBody>
          <a:bodyPr wrap="square" lIns="0" tIns="0" rIns="0" bIns="0" rtlCol="0" anchor="t"/>
          <a:lstStyle/>
          <a:p>
            <a:pPr indent="0" marL="0">
              <a:buNone/>
            </a:pPr>
            <a:r>
              <a:rPr lang="en-US" sz="950" dirty="0">
                <a:solidFill>
                  <a:srgbClr val="334150"/>
                </a:solidFill>
                <a:latin typeface="Calibri" pitchFamily="34" charset="0"/>
                <a:ea typeface="Calibri" pitchFamily="34" charset="-122"/>
                <a:cs typeface="Calibri" pitchFamily="34" charset="-120"/>
              </a:rPr>
              <a:t>anyone can test it now at surface-vision.github.io</a:t>
            </a:r>
            <a:endParaRPr lang="en-US" sz="950" dirty="0"/>
          </a:p>
        </p:txBody>
      </p:sp>
      <p:sp>
        <p:nvSpPr>
          <p:cNvPr id="71" name="Shape 64"/>
          <p:cNvSpPr/>
          <p:nvPr/>
        </p:nvSpPr>
        <p:spPr>
          <a:xfrm>
            <a:off x="4215384" y="4224528"/>
            <a:ext cx="1783080" cy="1645920"/>
          </a:xfrm>
          <a:prstGeom prst="roundRect">
            <a:avLst>
              <a:gd name="adj" fmla="val 3333"/>
            </a:avLst>
          </a:prstGeom>
          <a:solidFill>
            <a:srgbClr val="F1F4F7"/>
          </a:solidFill>
          <a:ln w="12700">
            <a:solidFill>
              <a:srgbClr val="F1F4F7"/>
            </a:solidFill>
            <a:prstDash val="solid"/>
          </a:ln>
        </p:spPr>
      </p:sp>
      <p:sp>
        <p:nvSpPr>
          <p:cNvPr id="72" name="Shape 65"/>
          <p:cNvSpPr/>
          <p:nvPr/>
        </p:nvSpPr>
        <p:spPr>
          <a:xfrm>
            <a:off x="4325112" y="4315968"/>
            <a:ext cx="402336" cy="402336"/>
          </a:xfrm>
          <a:prstGeom prst="ellipse">
            <a:avLst/>
          </a:prstGeom>
          <a:solidFill>
            <a:srgbClr val="143A5A"/>
          </a:solidFill>
          <a:ln w="12700">
            <a:solidFill>
              <a:srgbClr val="143A5A"/>
            </a:solidFill>
            <a:prstDash val="solid"/>
          </a:ln>
        </p:spPr>
      </p:sp>
      <p:pic>
        <p:nvPicPr>
          <p:cNvPr id="73" name="Image 5" descr="img/icons/archive-white.png">    </p:cNvPr>
          <p:cNvPicPr>
            <a:picLocks noChangeAspect="1"/>
          </p:cNvPicPr>
          <p:nvPr/>
        </p:nvPicPr>
        <p:blipFill>
          <a:blip r:embed="rId6"/>
          <a:stretch>
            <a:fillRect/>
          </a:stretch>
        </p:blipFill>
        <p:spPr>
          <a:xfrm>
            <a:off x="4413626" y="4404482"/>
            <a:ext cx="225308" cy="225308"/>
          </a:xfrm>
          <a:prstGeom prst="rect">
            <a:avLst/>
          </a:prstGeom>
        </p:spPr>
      </p:pic>
      <p:sp>
        <p:nvSpPr>
          <p:cNvPr id="74" name="Text 66"/>
          <p:cNvSpPr txBox="1"/>
          <p:nvPr/>
        </p:nvSpPr>
        <p:spPr>
          <a:xfrm>
            <a:off x="4325112" y="4773168"/>
            <a:ext cx="1645920" cy="402336"/>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~10,100</a:t>
            </a:r>
            <a:endParaRPr lang="en-US" sz="2000" dirty="0"/>
          </a:p>
        </p:txBody>
      </p:sp>
      <p:sp>
        <p:nvSpPr>
          <p:cNvPr id="75" name="Shape 67"/>
          <p:cNvSpPr/>
          <p:nvPr/>
        </p:nvSpPr>
        <p:spPr>
          <a:xfrm>
            <a:off x="4325112" y="5212080"/>
            <a:ext cx="277173" cy="164592"/>
          </a:xfrm>
          <a:prstGeom prst="rect">
            <a:avLst/>
          </a:prstGeom>
          <a:solidFill>
            <a:srgbClr val="1F6FA8"/>
          </a:solidFill>
          <a:ln w="12700">
            <a:solidFill>
              <a:srgbClr val="1F6FA8"/>
            </a:solidFill>
            <a:prstDash val="solid"/>
          </a:ln>
        </p:spPr>
      </p:sp>
      <p:sp>
        <p:nvSpPr>
          <p:cNvPr id="76" name="Shape 68"/>
          <p:cNvSpPr/>
          <p:nvPr/>
        </p:nvSpPr>
        <p:spPr>
          <a:xfrm>
            <a:off x="4602285" y="5212080"/>
            <a:ext cx="924065" cy="164592"/>
          </a:xfrm>
          <a:prstGeom prst="rect">
            <a:avLst/>
          </a:prstGeom>
          <a:solidFill>
            <a:srgbClr val="0086C3"/>
          </a:solidFill>
          <a:ln w="12700">
            <a:solidFill>
              <a:srgbClr val="0086C3"/>
            </a:solidFill>
            <a:prstDash val="solid"/>
          </a:ln>
        </p:spPr>
      </p:sp>
      <p:sp>
        <p:nvSpPr>
          <p:cNvPr id="77" name="Shape 69"/>
          <p:cNvSpPr/>
          <p:nvPr/>
        </p:nvSpPr>
        <p:spPr>
          <a:xfrm>
            <a:off x="5526350" y="5212080"/>
            <a:ext cx="353242" cy="164592"/>
          </a:xfrm>
          <a:prstGeom prst="rect">
            <a:avLst/>
          </a:prstGeom>
          <a:solidFill>
            <a:srgbClr val="A9CBE6"/>
          </a:solidFill>
          <a:ln w="12700">
            <a:solidFill>
              <a:srgbClr val="A9CBE6"/>
            </a:solidFill>
            <a:prstDash val="solid"/>
          </a:ln>
        </p:spPr>
      </p:sp>
      <p:sp>
        <p:nvSpPr>
          <p:cNvPr id="78" name="Shape 70"/>
          <p:cNvSpPr/>
          <p:nvPr/>
        </p:nvSpPr>
        <p:spPr>
          <a:xfrm>
            <a:off x="4325112" y="5454396"/>
            <a:ext cx="91440" cy="91440"/>
          </a:xfrm>
          <a:prstGeom prst="rect">
            <a:avLst/>
          </a:prstGeom>
          <a:solidFill>
            <a:srgbClr val="1F6FA8"/>
          </a:solidFill>
          <a:ln w="12700">
            <a:solidFill>
              <a:srgbClr val="1F6FA8"/>
            </a:solidFill>
            <a:prstDash val="solid"/>
          </a:ln>
        </p:spPr>
      </p:sp>
      <p:sp>
        <p:nvSpPr>
          <p:cNvPr id="79" name="Text 71"/>
          <p:cNvSpPr txBox="1"/>
          <p:nvPr/>
        </p:nvSpPr>
        <p:spPr>
          <a:xfrm>
            <a:off x="4471416" y="5422392"/>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Lab 1,800</a:t>
            </a:r>
            <a:endParaRPr lang="en-US" sz="900" dirty="0"/>
          </a:p>
        </p:txBody>
      </p:sp>
      <p:sp>
        <p:nvSpPr>
          <p:cNvPr id="80" name="Shape 72"/>
          <p:cNvSpPr/>
          <p:nvPr/>
        </p:nvSpPr>
        <p:spPr>
          <a:xfrm>
            <a:off x="4325112" y="5596128"/>
            <a:ext cx="91440" cy="91440"/>
          </a:xfrm>
          <a:prstGeom prst="rect">
            <a:avLst/>
          </a:prstGeom>
          <a:solidFill>
            <a:srgbClr val="0086C3"/>
          </a:solidFill>
          <a:ln w="12700">
            <a:solidFill>
              <a:srgbClr val="0086C3"/>
            </a:solidFill>
            <a:prstDash val="solid"/>
          </a:ln>
        </p:spPr>
      </p:sp>
      <p:sp>
        <p:nvSpPr>
          <p:cNvPr id="81" name="Text 73"/>
          <p:cNvSpPr txBox="1"/>
          <p:nvPr/>
        </p:nvSpPr>
        <p:spPr>
          <a:xfrm>
            <a:off x="4471416" y="5564124"/>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Mill strip 6,001</a:t>
            </a:r>
            <a:endParaRPr lang="en-US" sz="900" dirty="0"/>
          </a:p>
        </p:txBody>
      </p:sp>
      <p:sp>
        <p:nvSpPr>
          <p:cNvPr id="82" name="Shape 74"/>
          <p:cNvSpPr/>
          <p:nvPr/>
        </p:nvSpPr>
        <p:spPr>
          <a:xfrm>
            <a:off x="4325112" y="5737860"/>
            <a:ext cx="91440" cy="91440"/>
          </a:xfrm>
          <a:prstGeom prst="rect">
            <a:avLst/>
          </a:prstGeom>
          <a:solidFill>
            <a:srgbClr val="A9CBE6"/>
          </a:solidFill>
          <a:ln w="12700">
            <a:solidFill>
              <a:srgbClr val="A9CBE6"/>
            </a:solidFill>
            <a:prstDash val="solid"/>
          </a:ln>
        </p:spPr>
      </p:sp>
      <p:sp>
        <p:nvSpPr>
          <p:cNvPr id="83" name="Text 75"/>
          <p:cNvSpPr txBox="1"/>
          <p:nvPr/>
        </p:nvSpPr>
        <p:spPr>
          <a:xfrm>
            <a:off x="4471416" y="5705856"/>
            <a:ext cx="1463040" cy="146304"/>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Line-scan 2,294</a:t>
            </a:r>
            <a:endParaRPr lang="en-US" sz="900" dirty="0"/>
          </a:p>
        </p:txBody>
      </p:sp>
      <p:sp>
        <p:nvSpPr>
          <p:cNvPr id="84" name="Shape 76"/>
          <p:cNvSpPr/>
          <p:nvPr/>
        </p:nvSpPr>
        <p:spPr>
          <a:xfrm>
            <a:off x="6190488" y="3886200"/>
            <a:ext cx="5541264" cy="274320"/>
          </a:xfrm>
          <a:prstGeom prst="rect">
            <a:avLst/>
          </a:prstGeom>
          <a:solidFill>
            <a:srgbClr val="2B5B80"/>
          </a:solidFill>
          <a:ln w="12700">
            <a:solidFill>
              <a:srgbClr val="2B5B80"/>
            </a:solidFill>
            <a:prstDash val="solid"/>
          </a:ln>
        </p:spPr>
      </p:sp>
      <p:sp>
        <p:nvSpPr>
          <p:cNvPr id="85" name="Text 77"/>
          <p:cNvSpPr txBox="1"/>
          <p:nvPr/>
        </p:nvSpPr>
        <p:spPr>
          <a:xfrm>
            <a:off x="6281928" y="3886200"/>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Known weak spots, and the fix for each</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190488" y="4224528"/>
          <a:ext cx="5541264" cy="914400"/>
        </p:xfrm>
        <a:graphic>
          <a:graphicData uri="http://schemas.openxmlformats.org/drawingml/2006/table">
            <a:tbl>
              <a:tblPr/>
              <a:tblGrid>
                <a:gridCol w="2514600"/>
                <a:gridCol w="960120"/>
                <a:gridCol w="2066544"/>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Weak spot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Today (0-1)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 in the pilot</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Low-contrast texture: crazing, rolled-in scale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0.58-0.60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Angled lighting; JSL labels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Real mill frames are harder than the lab benchmark</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B77900"/>
                          </a:solidFill>
                          <a:latin typeface="Calibri" pitchFamily="34" charset="0"/>
                          <a:ea typeface="Calibri" pitchFamily="34" charset="-122"/>
                          <a:cs typeface="Calibri" pitchFamily="34" charset="-120"/>
                        </a:rPr>
                        <a:t>0.57 vs 0.75</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Prove it on JSL's own strip in P1</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Roll marks and edge cracks: few examples</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50" b="1" dirty="0">
                          <a:solidFill>
                            <a:srgbClr val="C62828"/>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50" dirty="0">
                          <a:solidFill>
                            <a:srgbClr val="141C24"/>
                          </a:solidFill>
                          <a:latin typeface="Calibri" pitchFamily="34" charset="0"/>
                          <a:ea typeface="Calibri" pitchFamily="34" charset="-122"/>
                          <a:cs typeface="Calibri" pitchFamily="34" charset="-120"/>
                        </a:rPr>
                        <a:t>Edge cameras; targeted labelling with JSL</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143A5A"/>
          </a:solidFill>
          <a:ln w="12700">
            <a:solidFill>
              <a:srgbClr val="143A5A"/>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F1F4F7"/>
          </a:solidFill>
          <a:ln w="12700">
            <a:solidFill>
              <a:srgbClr val="F1F4F7"/>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Seven months to shadow mode on one line, and nothing touches the mill until trust is earned</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Commit ₹2.5-4.2 cr and one line for seven months. The month-7 go/no-go is decided on JSL's own alarm and recall numbers.</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Costs: team estimates for a 1.3-1.6 m line, both faces, at INR 95.8/USD; vendor quotes replace them in P0. Pragati: JSL digitalisation, Phase 2 brings Level-2 data at Jajpur.</a:t>
            </a:r>
            <a:endParaRPr lang="en-US" sz="900" dirty="0"/>
          </a:p>
        </p:txBody>
      </p:sp>
      <p:sp>
        <p:nvSpPr>
          <p:cNvPr id="17" name="Shape 15"/>
          <p:cNvSpPr/>
          <p:nvPr/>
        </p:nvSpPr>
        <p:spPr>
          <a:xfrm>
            <a:off x="457200" y="1234440"/>
            <a:ext cx="71780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69951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Stage-gate roadmap (months)</a:t>
            </a:r>
            <a:endParaRPr lang="en-US" sz="1100" dirty="0"/>
          </a:p>
        </p:txBody>
      </p:sp>
      <p:sp>
        <p:nvSpPr>
          <p:cNvPr id="19" name="Text 17"/>
          <p:cNvSpPr txBox="1"/>
          <p:nvPr/>
        </p:nvSpPr>
        <p:spPr>
          <a:xfrm>
            <a:off x="233172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m0</a:t>
            </a:r>
            <a:endParaRPr lang="en-US" sz="900" dirty="0"/>
          </a:p>
        </p:txBody>
      </p:sp>
      <p:sp>
        <p:nvSpPr>
          <p:cNvPr id="20" name="Text 18"/>
          <p:cNvSpPr txBox="1"/>
          <p:nvPr/>
        </p:nvSpPr>
        <p:spPr>
          <a:xfrm>
            <a:off x="2980944"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m4</a:t>
            </a:r>
            <a:endParaRPr lang="en-US" sz="900" dirty="0"/>
          </a:p>
        </p:txBody>
      </p:sp>
      <p:sp>
        <p:nvSpPr>
          <p:cNvPr id="21" name="Text 19"/>
          <p:cNvSpPr txBox="1"/>
          <p:nvPr/>
        </p:nvSpPr>
        <p:spPr>
          <a:xfrm>
            <a:off x="3630168"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m8</a:t>
            </a:r>
            <a:endParaRPr lang="en-US" sz="900" dirty="0"/>
          </a:p>
        </p:txBody>
      </p:sp>
      <p:sp>
        <p:nvSpPr>
          <p:cNvPr id="22" name="Text 20"/>
          <p:cNvSpPr txBox="1"/>
          <p:nvPr/>
        </p:nvSpPr>
        <p:spPr>
          <a:xfrm>
            <a:off x="4279392"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m12</a:t>
            </a:r>
            <a:endParaRPr lang="en-US" sz="900" dirty="0"/>
          </a:p>
        </p:txBody>
      </p:sp>
      <p:sp>
        <p:nvSpPr>
          <p:cNvPr id="23" name="Text 21"/>
          <p:cNvSpPr txBox="1"/>
          <p:nvPr/>
        </p:nvSpPr>
        <p:spPr>
          <a:xfrm>
            <a:off x="4928616"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m16</a:t>
            </a:r>
            <a:endParaRPr lang="en-US" sz="900" dirty="0"/>
          </a:p>
        </p:txBody>
      </p:sp>
      <p:sp>
        <p:nvSpPr>
          <p:cNvPr id="24" name="Text 22"/>
          <p:cNvSpPr txBox="1"/>
          <p:nvPr/>
        </p:nvSpPr>
        <p:spPr>
          <a:xfrm>
            <a:off x="5577840" y="1554480"/>
            <a:ext cx="365760" cy="182880"/>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m20</a:t>
            </a:r>
            <a:endParaRPr lang="en-US" sz="900" dirty="0"/>
          </a:p>
        </p:txBody>
      </p:sp>
      <p:sp>
        <p:nvSpPr>
          <p:cNvPr id="25" name="Text 23"/>
          <p:cNvSpPr txBox="1"/>
          <p:nvPr/>
        </p:nvSpPr>
        <p:spPr>
          <a:xfrm>
            <a:off x="5943600" y="1554480"/>
            <a:ext cx="1645920" cy="182880"/>
          </a:xfrm>
          <a:prstGeom prst="rect">
            <a:avLst/>
          </a:prstGeom>
          <a:noFill/>
          <a:ln/>
        </p:spPr>
        <p:txBody>
          <a:bodyPr wrap="square" lIns="0" tIns="0" rIns="0" bIns="0" rtlCol="0" anchor="t"/>
          <a:lstStyle/>
          <a:p>
            <a:pPr indent="0" marL="0">
              <a:buNone/>
            </a:pPr>
            <a:r>
              <a:rPr lang="en-US" sz="900" b="1" dirty="0">
                <a:solidFill>
                  <a:srgbClr val="5F6B78"/>
                </a:solidFill>
                <a:latin typeface="Calibri" pitchFamily="34" charset="0"/>
                <a:ea typeface="Calibri" pitchFamily="34" charset="-122"/>
                <a:cs typeface="Calibri" pitchFamily="34" charset="-120"/>
              </a:rPr>
              <a:t>◆ EXIT GATE</a:t>
            </a:r>
            <a:endParaRPr lang="en-US" sz="900" dirty="0"/>
          </a:p>
        </p:txBody>
      </p:sp>
      <p:sp>
        <p:nvSpPr>
          <p:cNvPr id="26" name="Text 24"/>
          <p:cNvSpPr txBox="1"/>
          <p:nvPr/>
        </p:nvSpPr>
        <p:spPr>
          <a:xfrm>
            <a:off x="530352" y="1783080"/>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P0</a:t>
            </a:r>
            <a:endParaRPr lang="en-US" sz="1100" dirty="0"/>
          </a:p>
        </p:txBody>
      </p:sp>
      <p:sp>
        <p:nvSpPr>
          <p:cNvPr id="27" name="Text 25"/>
          <p:cNvSpPr txBox="1"/>
          <p:nvPr/>
        </p:nvSpPr>
        <p:spPr>
          <a:xfrm>
            <a:off x="850392" y="1783080"/>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Instrument one line</a:t>
            </a:r>
            <a:endParaRPr lang="en-US" sz="950" dirty="0"/>
          </a:p>
        </p:txBody>
      </p:sp>
      <p:sp>
        <p:nvSpPr>
          <p:cNvPr id="28" name="Shape 26"/>
          <p:cNvSpPr/>
          <p:nvPr/>
        </p:nvSpPr>
        <p:spPr>
          <a:xfrm>
            <a:off x="2514600" y="1847088"/>
            <a:ext cx="3246120" cy="182880"/>
          </a:xfrm>
          <a:prstGeom prst="rect">
            <a:avLst/>
          </a:prstGeom>
          <a:solidFill>
            <a:srgbClr val="F1F4F7"/>
          </a:solidFill>
          <a:ln w="12700">
            <a:solidFill>
              <a:srgbClr val="F1F4F7"/>
            </a:solidFill>
            <a:prstDash val="solid"/>
          </a:ln>
        </p:spPr>
      </p:sp>
      <p:sp>
        <p:nvSpPr>
          <p:cNvPr id="29" name="Shape 27"/>
          <p:cNvSpPr/>
          <p:nvPr/>
        </p:nvSpPr>
        <p:spPr>
          <a:xfrm>
            <a:off x="2514600" y="1847088"/>
            <a:ext cx="243459" cy="182880"/>
          </a:xfrm>
          <a:prstGeom prst="rect">
            <a:avLst/>
          </a:prstGeom>
          <a:solidFill>
            <a:srgbClr val="0086C3"/>
          </a:solidFill>
          <a:ln w="12700">
            <a:solidFill>
              <a:srgbClr val="0086C3"/>
            </a:solidFill>
            <a:prstDash val="solid"/>
          </a:ln>
        </p:spPr>
      </p:sp>
      <p:sp>
        <p:nvSpPr>
          <p:cNvPr id="30" name="Shape 28"/>
          <p:cNvSpPr/>
          <p:nvPr/>
        </p:nvSpPr>
        <p:spPr>
          <a:xfrm>
            <a:off x="2675763" y="1856232"/>
            <a:ext cx="164592" cy="164592"/>
          </a:xfrm>
          <a:prstGeom prst="diamond">
            <a:avLst/>
          </a:prstGeom>
          <a:solidFill>
            <a:srgbClr val="143A5A"/>
          </a:solidFill>
          <a:ln w="12700">
            <a:solidFill>
              <a:srgbClr val="FFFFFF"/>
            </a:solidFill>
            <a:prstDash val="solid"/>
          </a:ln>
        </p:spPr>
      </p:sp>
      <p:sp>
        <p:nvSpPr>
          <p:cNvPr id="31" name="Text 29"/>
          <p:cNvSpPr txBox="1"/>
          <p:nvPr/>
        </p:nvSpPr>
        <p:spPr>
          <a:xfrm>
            <a:off x="5943600" y="1783080"/>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Optics fixed; Pragati L2 data linked</a:t>
            </a:r>
            <a:endParaRPr lang="en-US" sz="900" dirty="0"/>
          </a:p>
        </p:txBody>
      </p:sp>
      <p:sp>
        <p:nvSpPr>
          <p:cNvPr id="32" name="Text 30"/>
          <p:cNvSpPr txBox="1"/>
          <p:nvPr/>
        </p:nvSpPr>
        <p:spPr>
          <a:xfrm>
            <a:off x="530352" y="2130552"/>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P1</a:t>
            </a:r>
            <a:endParaRPr lang="en-US" sz="1100" dirty="0"/>
          </a:p>
        </p:txBody>
      </p:sp>
      <p:sp>
        <p:nvSpPr>
          <p:cNvPr id="33" name="Text 31"/>
          <p:cNvSpPr txBox="1"/>
          <p:nvPr/>
        </p:nvSpPr>
        <p:spPr>
          <a:xfrm>
            <a:off x="850392" y="2130552"/>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Learn JSL strip (5,000 frames)</a:t>
            </a:r>
            <a:endParaRPr lang="en-US" sz="950" dirty="0"/>
          </a:p>
        </p:txBody>
      </p:sp>
      <p:sp>
        <p:nvSpPr>
          <p:cNvPr id="34" name="Shape 32"/>
          <p:cNvSpPr/>
          <p:nvPr/>
        </p:nvSpPr>
        <p:spPr>
          <a:xfrm>
            <a:off x="2514600" y="2194560"/>
            <a:ext cx="3246120" cy="182880"/>
          </a:xfrm>
          <a:prstGeom prst="rect">
            <a:avLst/>
          </a:prstGeom>
          <a:solidFill>
            <a:srgbClr val="F1F4F7"/>
          </a:solidFill>
          <a:ln w="12700">
            <a:solidFill>
              <a:srgbClr val="F1F4F7"/>
            </a:solidFill>
            <a:prstDash val="solid"/>
          </a:ln>
        </p:spPr>
      </p:sp>
      <p:sp>
        <p:nvSpPr>
          <p:cNvPr id="35" name="Shape 33"/>
          <p:cNvSpPr/>
          <p:nvPr/>
        </p:nvSpPr>
        <p:spPr>
          <a:xfrm>
            <a:off x="2758059" y="2194560"/>
            <a:ext cx="405765" cy="182880"/>
          </a:xfrm>
          <a:prstGeom prst="rect">
            <a:avLst/>
          </a:prstGeom>
          <a:solidFill>
            <a:srgbClr val="0086C3"/>
          </a:solidFill>
          <a:ln w="12700">
            <a:solidFill>
              <a:srgbClr val="0086C3"/>
            </a:solidFill>
            <a:prstDash val="solid"/>
          </a:ln>
        </p:spPr>
      </p:sp>
      <p:sp>
        <p:nvSpPr>
          <p:cNvPr id="36" name="Shape 34"/>
          <p:cNvSpPr/>
          <p:nvPr/>
        </p:nvSpPr>
        <p:spPr>
          <a:xfrm>
            <a:off x="3081528" y="2203704"/>
            <a:ext cx="164592" cy="164592"/>
          </a:xfrm>
          <a:prstGeom prst="diamond">
            <a:avLst/>
          </a:prstGeom>
          <a:solidFill>
            <a:srgbClr val="143A5A"/>
          </a:solidFill>
          <a:ln w="12700">
            <a:solidFill>
              <a:srgbClr val="FFFFFF"/>
            </a:solidFill>
            <a:prstDash val="solid"/>
          </a:ln>
        </p:spPr>
      </p:sp>
      <p:sp>
        <p:nvSpPr>
          <p:cNvPr id="37" name="Text 35"/>
          <p:cNvSpPr txBox="1"/>
          <p:nvPr/>
        </p:nvSpPr>
        <p:spPr>
          <a:xfrm>
            <a:off x="5943600" y="2130552"/>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Clean alarms ≤ 25%, recall ≥ 90%</a:t>
            </a:r>
            <a:endParaRPr lang="en-US" sz="900" dirty="0"/>
          </a:p>
        </p:txBody>
      </p:sp>
      <p:sp>
        <p:nvSpPr>
          <p:cNvPr id="38" name="Text 36"/>
          <p:cNvSpPr txBox="1"/>
          <p:nvPr/>
        </p:nvSpPr>
        <p:spPr>
          <a:xfrm>
            <a:off x="530352" y="2478024"/>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P2</a:t>
            </a:r>
            <a:endParaRPr lang="en-US" sz="1100" dirty="0"/>
          </a:p>
        </p:txBody>
      </p:sp>
      <p:sp>
        <p:nvSpPr>
          <p:cNvPr id="39" name="Text 37"/>
          <p:cNvSpPr txBox="1"/>
          <p:nvPr/>
        </p:nvSpPr>
        <p:spPr>
          <a:xfrm>
            <a:off x="850392" y="2478024"/>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Shadow mode: advises only</a:t>
            </a:r>
            <a:endParaRPr lang="en-US" sz="950" dirty="0"/>
          </a:p>
        </p:txBody>
      </p:sp>
      <p:sp>
        <p:nvSpPr>
          <p:cNvPr id="40" name="Shape 38"/>
          <p:cNvSpPr/>
          <p:nvPr/>
        </p:nvSpPr>
        <p:spPr>
          <a:xfrm>
            <a:off x="2514600" y="2542032"/>
            <a:ext cx="3246120" cy="182880"/>
          </a:xfrm>
          <a:prstGeom prst="rect">
            <a:avLst/>
          </a:prstGeom>
          <a:solidFill>
            <a:srgbClr val="F1F4F7"/>
          </a:solidFill>
          <a:ln w="12700">
            <a:solidFill>
              <a:srgbClr val="F1F4F7"/>
            </a:solidFill>
            <a:prstDash val="solid"/>
          </a:ln>
        </p:spPr>
      </p:sp>
      <p:sp>
        <p:nvSpPr>
          <p:cNvPr id="41" name="Shape 39"/>
          <p:cNvSpPr/>
          <p:nvPr/>
        </p:nvSpPr>
        <p:spPr>
          <a:xfrm>
            <a:off x="3163824" y="2542032"/>
            <a:ext cx="486918" cy="182880"/>
          </a:xfrm>
          <a:prstGeom prst="rect">
            <a:avLst/>
          </a:prstGeom>
          <a:solidFill>
            <a:srgbClr val="0086C3"/>
          </a:solidFill>
          <a:ln w="12700">
            <a:solidFill>
              <a:srgbClr val="0086C3"/>
            </a:solidFill>
            <a:prstDash val="solid"/>
          </a:ln>
        </p:spPr>
      </p:sp>
      <p:sp>
        <p:nvSpPr>
          <p:cNvPr id="42" name="Shape 40"/>
          <p:cNvSpPr/>
          <p:nvPr/>
        </p:nvSpPr>
        <p:spPr>
          <a:xfrm>
            <a:off x="3568446" y="2551176"/>
            <a:ext cx="164592" cy="164592"/>
          </a:xfrm>
          <a:prstGeom prst="diamond">
            <a:avLst/>
          </a:prstGeom>
          <a:solidFill>
            <a:srgbClr val="143A5A"/>
          </a:solidFill>
          <a:ln w="12700">
            <a:solidFill>
              <a:srgbClr val="FFFFFF"/>
            </a:solidFill>
            <a:prstDash val="solid"/>
          </a:ln>
        </p:spPr>
      </p:sp>
      <p:sp>
        <p:nvSpPr>
          <p:cNvPr id="43" name="Text 41"/>
          <p:cNvSpPr txBox="1"/>
          <p:nvPr/>
        </p:nvSpPr>
        <p:spPr>
          <a:xfrm>
            <a:off x="5943600" y="2478024"/>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 90% operator agreement</a:t>
            </a:r>
            <a:endParaRPr lang="en-US" sz="900" dirty="0"/>
          </a:p>
        </p:txBody>
      </p:sp>
      <p:sp>
        <p:nvSpPr>
          <p:cNvPr id="44" name="Text 42"/>
          <p:cNvSpPr txBox="1"/>
          <p:nvPr/>
        </p:nvSpPr>
        <p:spPr>
          <a:xfrm>
            <a:off x="530352" y="2825496"/>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P3</a:t>
            </a:r>
            <a:endParaRPr lang="en-US" sz="1100" dirty="0"/>
          </a:p>
        </p:txBody>
      </p:sp>
      <p:sp>
        <p:nvSpPr>
          <p:cNvPr id="45" name="Text 43"/>
          <p:cNvSpPr txBox="1"/>
          <p:nvPr/>
        </p:nvSpPr>
        <p:spPr>
          <a:xfrm>
            <a:off x="850392" y="2825496"/>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Auto-hold on severe defects</a:t>
            </a:r>
            <a:endParaRPr lang="en-US" sz="950" dirty="0"/>
          </a:p>
        </p:txBody>
      </p:sp>
      <p:sp>
        <p:nvSpPr>
          <p:cNvPr id="46" name="Shape 44"/>
          <p:cNvSpPr/>
          <p:nvPr/>
        </p:nvSpPr>
        <p:spPr>
          <a:xfrm>
            <a:off x="2514600" y="2889504"/>
            <a:ext cx="3246120" cy="182880"/>
          </a:xfrm>
          <a:prstGeom prst="rect">
            <a:avLst/>
          </a:prstGeom>
          <a:solidFill>
            <a:srgbClr val="F1F4F7"/>
          </a:solidFill>
          <a:ln w="12700">
            <a:solidFill>
              <a:srgbClr val="F1F4F7"/>
            </a:solidFill>
            <a:prstDash val="solid"/>
          </a:ln>
        </p:spPr>
      </p:sp>
      <p:sp>
        <p:nvSpPr>
          <p:cNvPr id="47" name="Shape 45"/>
          <p:cNvSpPr/>
          <p:nvPr/>
        </p:nvSpPr>
        <p:spPr>
          <a:xfrm>
            <a:off x="3650742" y="2889504"/>
            <a:ext cx="811530" cy="182880"/>
          </a:xfrm>
          <a:prstGeom prst="rect">
            <a:avLst/>
          </a:prstGeom>
          <a:solidFill>
            <a:srgbClr val="2B5B80"/>
          </a:solidFill>
          <a:ln w="12700">
            <a:solidFill>
              <a:srgbClr val="2B5B80"/>
            </a:solidFill>
            <a:prstDash val="solid"/>
          </a:ln>
        </p:spPr>
      </p:sp>
      <p:sp>
        <p:nvSpPr>
          <p:cNvPr id="48" name="Shape 46"/>
          <p:cNvSpPr/>
          <p:nvPr/>
        </p:nvSpPr>
        <p:spPr>
          <a:xfrm>
            <a:off x="4379976" y="2898648"/>
            <a:ext cx="164592" cy="164592"/>
          </a:xfrm>
          <a:prstGeom prst="diamond">
            <a:avLst/>
          </a:prstGeom>
          <a:solidFill>
            <a:srgbClr val="143A5A"/>
          </a:solidFill>
          <a:ln w="12700">
            <a:solidFill>
              <a:srgbClr val="FFFFFF"/>
            </a:solidFill>
            <a:prstDash val="solid"/>
          </a:ln>
        </p:spPr>
      </p:sp>
      <p:sp>
        <p:nvSpPr>
          <p:cNvPr id="49" name="Text 47"/>
          <p:cNvSpPr txBox="1"/>
          <p:nvPr/>
        </p:nvSpPr>
        <p:spPr>
          <a:xfrm>
            <a:off x="5943600" y="2825496"/>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Holds trusted; downgrade measured</a:t>
            </a:r>
            <a:endParaRPr lang="en-US" sz="900" dirty="0"/>
          </a:p>
        </p:txBody>
      </p:sp>
      <p:sp>
        <p:nvSpPr>
          <p:cNvPr id="50" name="Text 48"/>
          <p:cNvSpPr txBox="1"/>
          <p:nvPr/>
        </p:nvSpPr>
        <p:spPr>
          <a:xfrm>
            <a:off x="530352" y="3172968"/>
            <a:ext cx="320040" cy="310896"/>
          </a:xfrm>
          <a:prstGeom prst="rect">
            <a:avLst/>
          </a:prstGeom>
          <a:noFill/>
          <a:ln/>
        </p:spPr>
        <p:txBody>
          <a:bodyPr wrap="square" lIns="0" tIns="0" rIns="0" bIns="0" rtlCol="0" anchor="ctr"/>
          <a:lstStyle/>
          <a:p>
            <a:pPr indent="0" marL="0">
              <a:buNone/>
            </a:pPr>
            <a:r>
              <a:rPr lang="en-US" sz="1100" b="1" dirty="0">
                <a:solidFill>
                  <a:srgbClr val="0086C3"/>
                </a:solidFill>
                <a:latin typeface="Calibri" pitchFamily="34" charset="0"/>
                <a:ea typeface="Calibri" pitchFamily="34" charset="-122"/>
                <a:cs typeface="Calibri" pitchFamily="34" charset="-120"/>
              </a:rPr>
              <a:t>P4</a:t>
            </a:r>
            <a:endParaRPr lang="en-US" sz="1100" dirty="0"/>
          </a:p>
        </p:txBody>
      </p:sp>
      <p:sp>
        <p:nvSpPr>
          <p:cNvPr id="51" name="Text 49"/>
          <p:cNvSpPr txBox="1"/>
          <p:nvPr/>
        </p:nvSpPr>
        <p:spPr>
          <a:xfrm>
            <a:off x="850392" y="3172968"/>
            <a:ext cx="1645920" cy="310896"/>
          </a:xfrm>
          <a:prstGeom prst="rect">
            <a:avLst/>
          </a:prstGeom>
          <a:noFill/>
          <a:ln/>
        </p:spPr>
        <p:txBody>
          <a:bodyPr wrap="square" lIns="0" tIns="0" rIns="0" bIns="0" rtlCol="0" anchor="ctr"/>
          <a:lstStyle/>
          <a:p>
            <a:pPr indent="0" marL="0">
              <a:buNone/>
            </a:pPr>
            <a:r>
              <a:rPr lang="en-US" sz="950" dirty="0">
                <a:solidFill>
                  <a:srgbClr val="141C24"/>
                </a:solidFill>
                <a:latin typeface="Calibri" pitchFamily="34" charset="0"/>
                <a:ea typeface="Calibri" pitchFamily="34" charset="-122"/>
                <a:cs typeface="Calibri" pitchFamily="34" charset="-120"/>
              </a:rPr>
              <a:t>Second line and grade</a:t>
            </a:r>
            <a:endParaRPr lang="en-US" sz="950" dirty="0"/>
          </a:p>
        </p:txBody>
      </p:sp>
      <p:sp>
        <p:nvSpPr>
          <p:cNvPr id="52" name="Shape 50"/>
          <p:cNvSpPr/>
          <p:nvPr/>
        </p:nvSpPr>
        <p:spPr>
          <a:xfrm>
            <a:off x="2514600" y="3236976"/>
            <a:ext cx="3246120" cy="182880"/>
          </a:xfrm>
          <a:prstGeom prst="rect">
            <a:avLst/>
          </a:prstGeom>
          <a:solidFill>
            <a:srgbClr val="F1F4F7"/>
          </a:solidFill>
          <a:ln w="12700">
            <a:solidFill>
              <a:srgbClr val="F1F4F7"/>
            </a:solidFill>
            <a:prstDash val="solid"/>
          </a:ln>
        </p:spPr>
      </p:sp>
      <p:sp>
        <p:nvSpPr>
          <p:cNvPr id="53" name="Shape 51"/>
          <p:cNvSpPr/>
          <p:nvPr/>
        </p:nvSpPr>
        <p:spPr>
          <a:xfrm>
            <a:off x="4462272" y="3236976"/>
            <a:ext cx="1298448" cy="182880"/>
          </a:xfrm>
          <a:prstGeom prst="rect">
            <a:avLst/>
          </a:prstGeom>
          <a:solidFill>
            <a:srgbClr val="2B5B80"/>
          </a:solidFill>
          <a:ln w="12700">
            <a:solidFill>
              <a:srgbClr val="2B5B80"/>
            </a:solidFill>
            <a:prstDash val="solid"/>
          </a:ln>
        </p:spPr>
      </p:sp>
      <p:sp>
        <p:nvSpPr>
          <p:cNvPr id="54" name="Shape 52"/>
          <p:cNvSpPr/>
          <p:nvPr/>
        </p:nvSpPr>
        <p:spPr>
          <a:xfrm>
            <a:off x="5678424" y="3246120"/>
            <a:ext cx="164592" cy="164592"/>
          </a:xfrm>
          <a:prstGeom prst="diamond">
            <a:avLst/>
          </a:prstGeom>
          <a:solidFill>
            <a:srgbClr val="143A5A"/>
          </a:solidFill>
          <a:ln w="12700">
            <a:solidFill>
              <a:srgbClr val="FFFFFF"/>
            </a:solidFill>
            <a:prstDash val="solid"/>
          </a:ln>
        </p:spPr>
      </p:sp>
      <p:sp>
        <p:nvSpPr>
          <p:cNvPr id="55" name="Text 53"/>
          <p:cNvSpPr txBox="1"/>
          <p:nvPr/>
        </p:nvSpPr>
        <p:spPr>
          <a:xfrm>
            <a:off x="5943600" y="3172968"/>
            <a:ext cx="1691640" cy="310896"/>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Fleet decision on real payback</a:t>
            </a:r>
            <a:endParaRPr lang="en-US" sz="900" dirty="0"/>
          </a:p>
        </p:txBody>
      </p:sp>
      <p:sp>
        <p:nvSpPr>
          <p:cNvPr id="56" name="Shape 54"/>
          <p:cNvSpPr/>
          <p:nvPr/>
        </p:nvSpPr>
        <p:spPr>
          <a:xfrm>
            <a:off x="3641598" y="1755648"/>
            <a:ext cx="22860" cy="1737360"/>
          </a:xfrm>
          <a:prstGeom prst="rect">
            <a:avLst/>
          </a:prstGeom>
          <a:solidFill>
            <a:srgbClr val="C62828"/>
          </a:solidFill>
          <a:ln w="12700">
            <a:solidFill>
              <a:srgbClr val="C62828"/>
            </a:solidFill>
            <a:prstDash val="solid"/>
          </a:ln>
        </p:spPr>
      </p:sp>
      <p:sp>
        <p:nvSpPr>
          <p:cNvPr id="57" name="Text 55"/>
          <p:cNvSpPr txBox="1"/>
          <p:nvPr/>
        </p:nvSpPr>
        <p:spPr>
          <a:xfrm>
            <a:off x="3056382" y="3502152"/>
            <a:ext cx="1188720" cy="182880"/>
          </a:xfrm>
          <a:prstGeom prst="rect">
            <a:avLst/>
          </a:prstGeom>
          <a:noFill/>
          <a:ln/>
        </p:spPr>
        <p:txBody>
          <a:bodyPr wrap="square" lIns="0" tIns="0" rIns="0" bIns="0" rtlCol="0" anchor="t"/>
          <a:lstStyle/>
          <a:p>
            <a:pPr indent="0" marL="0">
              <a:buNone/>
            </a:pPr>
            <a:r>
              <a:rPr lang="en-US" sz="900" b="1" dirty="0">
                <a:solidFill>
                  <a:srgbClr val="C62828"/>
                </a:solidFill>
                <a:latin typeface="Calibri" pitchFamily="34" charset="0"/>
                <a:ea typeface="Calibri" pitchFamily="34" charset="-122"/>
                <a:cs typeface="Calibri" pitchFamily="34" charset="-120"/>
              </a:rPr>
              <a:t>pilot go / no-go</a:t>
            </a:r>
            <a:endParaRPr lang="en-US" sz="900" dirty="0"/>
          </a:p>
        </p:txBody>
      </p:sp>
      <p:sp>
        <p:nvSpPr>
          <p:cNvPr id="58" name="Shape 56"/>
          <p:cNvSpPr/>
          <p:nvPr/>
        </p:nvSpPr>
        <p:spPr>
          <a:xfrm>
            <a:off x="7863840" y="1234440"/>
            <a:ext cx="3867912" cy="274320"/>
          </a:xfrm>
          <a:prstGeom prst="rect">
            <a:avLst/>
          </a:prstGeom>
          <a:solidFill>
            <a:srgbClr val="2B5B80"/>
          </a:solidFill>
          <a:ln w="12700">
            <a:solidFill>
              <a:srgbClr val="2B5B80"/>
            </a:solidFill>
            <a:prstDash val="solid"/>
          </a:ln>
        </p:spPr>
      </p:sp>
      <p:sp>
        <p:nvSpPr>
          <p:cNvPr id="59" name="Text 57"/>
          <p:cNvSpPr txBox="1"/>
          <p:nvPr/>
        </p:nvSpPr>
        <p:spPr>
          <a:xfrm>
            <a:off x="7955280" y="1234440"/>
            <a:ext cx="36850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Cost per line, estimated</a:t>
            </a:r>
            <a:endParaRPr lang="en-US" sz="1100" dirty="0"/>
          </a:p>
        </p:txBody>
      </p:sp>
      <p:graphicFrame>
        <p:nvGraphicFramePr>
          <p:cNvPr id="60" name="Chart 0" descr=""/>
          <p:cNvGraphicFramePr/>
          <p:nvPr/>
        </p:nvGraphicFramePr>
        <p:xfrm>
          <a:off x="7863840" y="1554480"/>
          <a:ext cx="1783080" cy="1783080"/>
        </p:xfrm>
        <a:graphic xmlns:a="http://schemas.openxmlformats.org/drawingml/2006/main">
          <a:graphicData uri="http://schemas.openxmlformats.org/drawingml/2006/chart">
            <c:chart xmlns:c="http://schemas.openxmlformats.org/drawingml/2006/chart" r:id="rId1"/>
          </a:graphicData>
        </a:graphic>
      </p:graphicFrame>
      <p:sp>
        <p:nvSpPr>
          <p:cNvPr id="61" name="Text 58"/>
          <p:cNvSpPr txBox="1"/>
          <p:nvPr/>
        </p:nvSpPr>
        <p:spPr>
          <a:xfrm>
            <a:off x="8092440" y="2176272"/>
            <a:ext cx="1325880" cy="548640"/>
          </a:xfrm>
          <a:prstGeom prst="rect">
            <a:avLst/>
          </a:prstGeom>
          <a:noFill/>
          <a:ln/>
        </p:spPr>
        <p:txBody>
          <a:bodyPr wrap="square" lIns="0" tIns="0" rIns="0" bIns="0" rtlCol="0" anchor="ctr"/>
          <a:lstStyle/>
          <a:p>
            <a:pPr algn="ctr" indent="0" marL="0">
              <a:buNone/>
            </a:pPr>
            <a:r>
              <a:rPr lang="en-US" sz="1300" b="1" dirty="0">
                <a:solidFill>
                  <a:srgbClr val="143A5A"/>
                </a:solidFill>
                <a:latin typeface="Calibri" pitchFamily="34" charset="0"/>
                <a:ea typeface="Calibri" pitchFamily="34" charset="-122"/>
                <a:cs typeface="Calibri" pitchFamily="34" charset="-120"/>
              </a:rPr>
              <a:t>₹2.5-4.2</a:t>
            </a:r>
            <a:pPr algn="ctr" indent="0" marL="0">
              <a:buNone/>
            </a:pPr>
            <a:endParaRPr lang="en-US" sz="1000" dirty="0"/>
          </a:p>
          <a:p>
            <a:pPr algn="ctr" indent="0" marL="0">
              <a:buNone/>
            </a:pPr>
            <a:r>
              <a:rPr lang="en-US" sz="900" dirty="0">
                <a:solidFill>
                  <a:srgbClr val="5F6B78"/>
                </a:solidFill>
                <a:latin typeface="Calibri" pitchFamily="34" charset="0"/>
                <a:ea typeface="Calibri" pitchFamily="34" charset="-122"/>
                <a:cs typeface="Calibri" pitchFamily="34" charset="-120"/>
              </a:rPr>
              <a:t>cr per line</a:t>
            </a:r>
            <a:endParaRPr lang="en-US" sz="1000" dirty="0"/>
          </a:p>
        </p:txBody>
      </p:sp>
      <p:sp>
        <p:nvSpPr>
          <p:cNvPr id="62" name="Shape 59"/>
          <p:cNvSpPr/>
          <p:nvPr/>
        </p:nvSpPr>
        <p:spPr>
          <a:xfrm>
            <a:off x="9738360" y="1746504"/>
            <a:ext cx="146304" cy="146304"/>
          </a:xfrm>
          <a:prstGeom prst="rect">
            <a:avLst/>
          </a:prstGeom>
          <a:solidFill>
            <a:srgbClr val="143A5A"/>
          </a:solidFill>
          <a:ln w="12700">
            <a:solidFill>
              <a:srgbClr val="143A5A"/>
            </a:solidFill>
            <a:prstDash val="solid"/>
          </a:ln>
        </p:spPr>
      </p:sp>
      <p:sp>
        <p:nvSpPr>
          <p:cNvPr id="63" name="Text 60"/>
          <p:cNvSpPr txBox="1"/>
          <p:nvPr/>
        </p:nvSpPr>
        <p:spPr>
          <a:xfrm>
            <a:off x="9948672" y="167335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Cameras &amp; lighting</a:t>
            </a:r>
            <a:endParaRPr lang="en-US" sz="900" dirty="0"/>
          </a:p>
        </p:txBody>
      </p:sp>
      <p:sp>
        <p:nvSpPr>
          <p:cNvPr id="64" name="Text 61"/>
          <p:cNvSpPr txBox="1"/>
          <p:nvPr/>
        </p:nvSpPr>
        <p:spPr>
          <a:xfrm>
            <a:off x="9948672" y="183794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₹0.85-1.45 cr</a:t>
            </a:r>
            <a:endParaRPr lang="en-US" sz="900" dirty="0"/>
          </a:p>
        </p:txBody>
      </p:sp>
      <p:sp>
        <p:nvSpPr>
          <p:cNvPr id="65" name="Shape 62"/>
          <p:cNvSpPr/>
          <p:nvPr/>
        </p:nvSpPr>
        <p:spPr>
          <a:xfrm>
            <a:off x="9738360" y="2112264"/>
            <a:ext cx="146304" cy="146304"/>
          </a:xfrm>
          <a:prstGeom prst="rect">
            <a:avLst/>
          </a:prstGeom>
          <a:solidFill>
            <a:srgbClr val="1F6FA8"/>
          </a:solidFill>
          <a:ln w="12700">
            <a:solidFill>
              <a:srgbClr val="1F6FA8"/>
            </a:solidFill>
            <a:prstDash val="solid"/>
          </a:ln>
        </p:spPr>
      </p:sp>
      <p:sp>
        <p:nvSpPr>
          <p:cNvPr id="66" name="Text 63"/>
          <p:cNvSpPr txBox="1"/>
          <p:nvPr/>
        </p:nvSpPr>
        <p:spPr>
          <a:xfrm>
            <a:off x="9948672" y="203911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Installation &amp; integration</a:t>
            </a:r>
            <a:endParaRPr lang="en-US" sz="900" dirty="0"/>
          </a:p>
        </p:txBody>
      </p:sp>
      <p:sp>
        <p:nvSpPr>
          <p:cNvPr id="67" name="Text 64"/>
          <p:cNvSpPr txBox="1"/>
          <p:nvPr/>
        </p:nvSpPr>
        <p:spPr>
          <a:xfrm>
            <a:off x="9948672" y="220370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₹0.9-1.5 cr</a:t>
            </a:r>
            <a:endParaRPr lang="en-US" sz="900" dirty="0"/>
          </a:p>
        </p:txBody>
      </p:sp>
      <p:sp>
        <p:nvSpPr>
          <p:cNvPr id="68" name="Shape 65"/>
          <p:cNvSpPr/>
          <p:nvPr/>
        </p:nvSpPr>
        <p:spPr>
          <a:xfrm>
            <a:off x="9738360" y="2478024"/>
            <a:ext cx="146304" cy="146304"/>
          </a:xfrm>
          <a:prstGeom prst="rect">
            <a:avLst/>
          </a:prstGeom>
          <a:solidFill>
            <a:srgbClr val="5E9CCB"/>
          </a:solidFill>
          <a:ln w="12700">
            <a:solidFill>
              <a:srgbClr val="5E9CCB"/>
            </a:solidFill>
            <a:prstDash val="solid"/>
          </a:ln>
        </p:spPr>
      </p:sp>
      <p:sp>
        <p:nvSpPr>
          <p:cNvPr id="69" name="Text 66"/>
          <p:cNvSpPr txBox="1"/>
          <p:nvPr/>
        </p:nvSpPr>
        <p:spPr>
          <a:xfrm>
            <a:off x="9948672" y="240487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Computing hardware</a:t>
            </a:r>
            <a:endParaRPr lang="en-US" sz="900" dirty="0"/>
          </a:p>
        </p:txBody>
      </p:sp>
      <p:sp>
        <p:nvSpPr>
          <p:cNvPr id="70" name="Text 67"/>
          <p:cNvSpPr txBox="1"/>
          <p:nvPr/>
        </p:nvSpPr>
        <p:spPr>
          <a:xfrm>
            <a:off x="9948672" y="256946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₹0.45-0.75 cr</a:t>
            </a:r>
            <a:endParaRPr lang="en-US" sz="900" dirty="0"/>
          </a:p>
        </p:txBody>
      </p:sp>
      <p:sp>
        <p:nvSpPr>
          <p:cNvPr id="71" name="Shape 68"/>
          <p:cNvSpPr/>
          <p:nvPr/>
        </p:nvSpPr>
        <p:spPr>
          <a:xfrm>
            <a:off x="9738360" y="2843784"/>
            <a:ext cx="146304" cy="146304"/>
          </a:xfrm>
          <a:prstGeom prst="rect">
            <a:avLst/>
          </a:prstGeom>
          <a:solidFill>
            <a:srgbClr val="A9CBE6"/>
          </a:solidFill>
          <a:ln w="12700">
            <a:solidFill>
              <a:srgbClr val="A9CBE6"/>
            </a:solidFill>
            <a:prstDash val="solid"/>
          </a:ln>
        </p:spPr>
      </p:sp>
      <p:sp>
        <p:nvSpPr>
          <p:cNvPr id="72" name="Text 69"/>
          <p:cNvSpPr txBox="1"/>
          <p:nvPr/>
        </p:nvSpPr>
        <p:spPr>
          <a:xfrm>
            <a:off x="9948672" y="2770632"/>
            <a:ext cx="1783080" cy="182880"/>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Labelling JSL strip</a:t>
            </a:r>
            <a:endParaRPr lang="en-US" sz="900" dirty="0"/>
          </a:p>
        </p:txBody>
      </p:sp>
      <p:sp>
        <p:nvSpPr>
          <p:cNvPr id="73" name="Text 70"/>
          <p:cNvSpPr txBox="1"/>
          <p:nvPr/>
        </p:nvSpPr>
        <p:spPr>
          <a:xfrm>
            <a:off x="9948672" y="2935224"/>
            <a:ext cx="1783080" cy="182880"/>
          </a:xfrm>
          <a:prstGeom prst="rect">
            <a:avLst/>
          </a:prstGeom>
          <a:noFill/>
          <a:ln/>
        </p:spPr>
        <p:txBody>
          <a:bodyPr wrap="square" lIns="0" tIns="0" rIns="0" bIns="0" rtlCol="0" anchor="t"/>
          <a:lstStyle/>
          <a:p>
            <a:pPr indent="0" marL="0">
              <a:buNone/>
            </a:pPr>
            <a:r>
              <a:rPr lang="en-US" sz="900" b="1" dirty="0">
                <a:solidFill>
                  <a:srgbClr val="334150"/>
                </a:solidFill>
                <a:latin typeface="Calibri" pitchFamily="34" charset="0"/>
                <a:ea typeface="Calibri" pitchFamily="34" charset="-122"/>
                <a:cs typeface="Calibri" pitchFamily="34" charset="-120"/>
              </a:rPr>
              <a:t>₹0.3-0.5 cr</a:t>
            </a:r>
            <a:endParaRPr lang="en-US" sz="900" dirty="0"/>
          </a:p>
        </p:txBody>
      </p:sp>
      <p:sp>
        <p:nvSpPr>
          <p:cNvPr id="74" name="Text 71"/>
          <p:cNvSpPr txBox="1"/>
          <p:nvPr/>
        </p:nvSpPr>
        <p:spPr>
          <a:xfrm>
            <a:off x="9738360" y="3172968"/>
            <a:ext cx="1965960" cy="201168"/>
          </a:xfrm>
          <a:prstGeom prst="rect">
            <a:avLst/>
          </a:prstGeom>
          <a:noFill/>
          <a:ln/>
        </p:spPr>
        <p:txBody>
          <a:bodyPr wrap="square" lIns="0" tIns="0" rIns="0" bIns="0" rtlCol="0" anchor="t"/>
          <a:lstStyle/>
          <a:p>
            <a:pPr indent="0" marL="0">
              <a:buNone/>
            </a:pPr>
            <a:r>
              <a:rPr lang="en-US" sz="900" i="1" dirty="0">
                <a:solidFill>
                  <a:srgbClr val="5F6B78"/>
                </a:solidFill>
                <a:latin typeface="Calibri" pitchFamily="34" charset="0"/>
                <a:ea typeface="Calibri" pitchFamily="34" charset="-122"/>
                <a:cs typeface="Calibri" pitchFamily="34" charset="-120"/>
              </a:rPr>
              <a:t>Running cost ~₹0.5 cr a year</a:t>
            </a:r>
            <a:endParaRPr lang="en-US" sz="900" dirty="0"/>
          </a:p>
        </p:txBody>
      </p:sp>
      <p:sp>
        <p:nvSpPr>
          <p:cNvPr id="75" name="Text 72"/>
          <p:cNvSpPr txBox="1"/>
          <p:nvPr/>
        </p:nvSpPr>
        <p:spPr>
          <a:xfrm>
            <a:off x="7909560" y="3401568"/>
            <a:ext cx="3749040" cy="201168"/>
          </a:xfrm>
          <a:prstGeom prst="rect">
            <a:avLst/>
          </a:prstGeom>
          <a:noFill/>
          <a:ln/>
        </p:spPr>
        <p:txBody>
          <a:bodyPr wrap="square" lIns="0" tIns="0" rIns="0" bIns="0" rtlCol="0" anchor="t"/>
          <a:lstStyle/>
          <a:p>
            <a:pPr indent="0" marL="0">
              <a:buNone/>
            </a:pPr>
            <a:r>
              <a:rPr lang="en-US" sz="900" dirty="0">
                <a:solidFill>
                  <a:srgbClr val="334150"/>
                </a:solidFill>
                <a:latin typeface="Calibri" pitchFamily="34" charset="0"/>
                <a:ea typeface="Calibri" pitchFamily="34" charset="-122"/>
                <a:cs typeface="Calibri" pitchFamily="34" charset="-120"/>
              </a:rPr>
              <a:t>Commercial system: </a:t>
            </a:r>
            <a:pPr indent="0" marL="0">
              <a:buNone/>
            </a:pPr>
            <a:r>
              <a:rPr lang="en-US" sz="900" b="1" dirty="0">
                <a:solidFill>
                  <a:srgbClr val="141C24"/>
                </a:solidFill>
                <a:latin typeface="Calibri" pitchFamily="34" charset="0"/>
                <a:ea typeface="Calibri" pitchFamily="34" charset="-122"/>
                <a:cs typeface="Calibri" pitchFamily="34" charset="-120"/>
              </a:rPr>
              <a:t>₹10-29 cr per line</a:t>
            </a:r>
            <a:endParaRPr lang="en-US" sz="900" dirty="0"/>
          </a:p>
        </p:txBody>
      </p:sp>
      <p:sp>
        <p:nvSpPr>
          <p:cNvPr id="76" name="Shape 73"/>
          <p:cNvSpPr/>
          <p:nvPr/>
        </p:nvSpPr>
        <p:spPr>
          <a:xfrm>
            <a:off x="457200" y="3730752"/>
            <a:ext cx="5541264" cy="274320"/>
          </a:xfrm>
          <a:prstGeom prst="rect">
            <a:avLst/>
          </a:prstGeom>
          <a:solidFill>
            <a:srgbClr val="2B5B80"/>
          </a:solidFill>
          <a:ln w="12700">
            <a:solidFill>
              <a:srgbClr val="2B5B80"/>
            </a:solidFill>
            <a:prstDash val="solid"/>
          </a:ln>
        </p:spPr>
      </p:sp>
      <p:sp>
        <p:nvSpPr>
          <p:cNvPr id="77" name="Text 74"/>
          <p:cNvSpPr txBox="1"/>
          <p:nvPr/>
        </p:nvSpPr>
        <p:spPr>
          <a:xfrm>
            <a:off x="548640"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Top risks, and when each is retired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041648"/>
          <a:ext cx="5541264" cy="914400"/>
        </p:xfrm>
        <a:graphic>
          <a:graphicData uri="http://schemas.openxmlformats.org/drawingml/2006/table">
            <a:tbl>
              <a:tblPr/>
              <a:tblGrid>
                <a:gridCol w="2240280"/>
                <a:gridCol w="2660904"/>
                <a:gridCol w="640080"/>
              </a:tblGrid>
              <a:tr h="25603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Mitigation</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Retired</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Misses on JSL's own strip at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Learn from JSL clean and defect images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Mirror-like BA/2B finish hides defects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Bright + dark-field light; deflectometry for BA</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P0-P1</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Rare defects missed</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Edge cameras; targeted labelling</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P1-P3</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Operators ignore alarms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Evidence on every alarm; shadow mode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Plant network, heat and fumes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IEC 62443 zones, runs offline; sealed enclosures</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P0</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260604">
                <a:tc>
                  <a:txBody>
                    <a:bodyPr/>
                    <a:lstStyle/>
                    <a:p>
                      <a:pPr indent="0" marL="0">
                        <a:buNone/>
                      </a:pPr>
                      <a:r>
                        <a:rPr lang="en-US" sz="900" b="1" dirty="0">
                          <a:solidFill>
                            <a:srgbClr val="141C24"/>
                          </a:solidFill>
                          <a:latin typeface="Calibri" pitchFamily="34" charset="0"/>
                          <a:ea typeface="Calibri" pitchFamily="34" charset="-122"/>
                          <a:cs typeface="Calibri" pitchFamily="34" charset="-120"/>
                        </a:rPr>
                        <a:t>Quality slips after an update</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900" dirty="0">
                          <a:solidFill>
                            <a:srgbClr val="141C24"/>
                          </a:solidFill>
                          <a:latin typeface="Calibri" pitchFamily="34" charset="0"/>
                          <a:ea typeface="Calibri" pitchFamily="34" charset="-122"/>
                          <a:cs typeface="Calibri" pitchFamily="34" charset="-120"/>
                        </a:rPr>
                        <a:t>Each update must beat the live system first</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900" b="1" dirty="0">
                          <a:solidFill>
                            <a:srgbClr val="0086C3"/>
                          </a:solidFill>
                          <a:latin typeface="Calibri" pitchFamily="34" charset="0"/>
                          <a:ea typeface="Calibri" pitchFamily="34" charset="-122"/>
                          <a:cs typeface="Calibri" pitchFamily="34" charset="-120"/>
                        </a:rPr>
                        <a:t>P2+</a:t>
                      </a:r>
                      <a:endParaRPr lang="en-US" sz="9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79" name="Shape 75"/>
          <p:cNvSpPr/>
          <p:nvPr/>
        </p:nvSpPr>
        <p:spPr>
          <a:xfrm>
            <a:off x="6190488" y="3730752"/>
            <a:ext cx="5541264" cy="274320"/>
          </a:xfrm>
          <a:prstGeom prst="rect">
            <a:avLst/>
          </a:prstGeom>
          <a:solidFill>
            <a:srgbClr val="2B5B80"/>
          </a:solidFill>
          <a:ln w="12700">
            <a:solidFill>
              <a:srgbClr val="2B5B80"/>
            </a:solidFill>
            <a:prstDash val="solid"/>
          </a:ln>
        </p:spPr>
      </p:sp>
      <p:sp>
        <p:nvSpPr>
          <p:cNvPr id="80" name="Text 76"/>
          <p:cNvSpPr txBox="1"/>
          <p:nvPr/>
        </p:nvSpPr>
        <p:spPr>
          <a:xfrm>
            <a:off x="6281928" y="3730752"/>
            <a:ext cx="5358384"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Pilot KPIs: how JSL will know it works</a:t>
            </a:r>
            <a:endParaRPr lang="en-US" sz="1100" dirty="0"/>
          </a:p>
        </p:txBody>
      </p:sp>
      <p:sp>
        <p:nvSpPr>
          <p:cNvPr id="81" name="Shape 77"/>
          <p:cNvSpPr/>
          <p:nvPr/>
        </p:nvSpPr>
        <p:spPr>
          <a:xfrm>
            <a:off x="6190488" y="4059936"/>
            <a:ext cx="1810512" cy="850392"/>
          </a:xfrm>
          <a:prstGeom prst="roundRect">
            <a:avLst>
              <a:gd name="adj" fmla="val 6452"/>
            </a:avLst>
          </a:prstGeom>
          <a:solidFill>
            <a:srgbClr val="F1F4F7"/>
          </a:solidFill>
          <a:ln w="12700">
            <a:solidFill>
              <a:srgbClr val="F1F4F7"/>
            </a:solidFill>
            <a:prstDash val="solid"/>
          </a:ln>
        </p:spPr>
      </p:sp>
      <p:sp>
        <p:nvSpPr>
          <p:cNvPr id="82" name="Text 78"/>
          <p:cNvSpPr txBox="1"/>
          <p:nvPr/>
        </p:nvSpPr>
        <p:spPr>
          <a:xfrm>
            <a:off x="6281928"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83" name="Text 79"/>
          <p:cNvSpPr txBox="1"/>
          <p:nvPr/>
        </p:nvSpPr>
        <p:spPr>
          <a:xfrm>
            <a:off x="6281928"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defective strip flagged</a:t>
            </a:r>
            <a:endParaRPr lang="en-US" sz="900" dirty="0"/>
          </a:p>
        </p:txBody>
      </p:sp>
      <p:sp>
        <p:nvSpPr>
          <p:cNvPr id="84" name="Text 80"/>
          <p:cNvSpPr txBox="1"/>
          <p:nvPr/>
        </p:nvSpPr>
        <p:spPr>
          <a:xfrm>
            <a:off x="6281928" y="4645152"/>
            <a:ext cx="1691640" cy="201168"/>
          </a:xfrm>
          <a:prstGeom prst="rect">
            <a:avLst/>
          </a:prstGeom>
          <a:noFill/>
          <a:ln/>
        </p:spPr>
        <p:txBody>
          <a:bodyPr wrap="square" lIns="0" tIns="0" rIns="0" bIns="0" rtlCol="0" anchor="t"/>
          <a:lstStyle/>
          <a:p>
            <a:pPr indent="0" marL="0">
              <a:buNone/>
            </a:pPr>
            <a:r>
              <a:rPr lang="en-US" sz="900" b="1" dirty="0">
                <a:solidFill>
                  <a:srgbClr val="B77900"/>
                </a:solidFill>
                <a:latin typeface="Calibri" pitchFamily="34" charset="0"/>
                <a:ea typeface="Calibri" pitchFamily="34" charset="-122"/>
                <a:cs typeface="Calibri" pitchFamily="34" charset="-120"/>
              </a:rPr>
              <a:t>measured 258 of 288 (89.6%)</a:t>
            </a:r>
            <a:endParaRPr lang="en-US" sz="900" dirty="0"/>
          </a:p>
        </p:txBody>
      </p:sp>
      <p:sp>
        <p:nvSpPr>
          <p:cNvPr id="85" name="Shape 81"/>
          <p:cNvSpPr/>
          <p:nvPr/>
        </p:nvSpPr>
        <p:spPr>
          <a:xfrm>
            <a:off x="8055864" y="4059936"/>
            <a:ext cx="1810512" cy="850392"/>
          </a:xfrm>
          <a:prstGeom prst="roundRect">
            <a:avLst>
              <a:gd name="adj" fmla="val 6452"/>
            </a:avLst>
          </a:prstGeom>
          <a:solidFill>
            <a:srgbClr val="F1F4F7"/>
          </a:solidFill>
          <a:ln w="12700">
            <a:solidFill>
              <a:srgbClr val="F1F4F7"/>
            </a:solidFill>
            <a:prstDash val="solid"/>
          </a:ln>
        </p:spPr>
      </p:sp>
      <p:sp>
        <p:nvSpPr>
          <p:cNvPr id="86" name="Text 82"/>
          <p:cNvSpPr txBox="1"/>
          <p:nvPr/>
        </p:nvSpPr>
        <p:spPr>
          <a:xfrm>
            <a:off x="8147304"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25%</a:t>
            </a:r>
            <a:endParaRPr lang="en-US" sz="1800" dirty="0"/>
          </a:p>
        </p:txBody>
      </p:sp>
      <p:sp>
        <p:nvSpPr>
          <p:cNvPr id="87" name="Text 83"/>
          <p:cNvSpPr txBox="1"/>
          <p:nvPr/>
        </p:nvSpPr>
        <p:spPr>
          <a:xfrm>
            <a:off x="8147304"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clean strip wrongly flagged</a:t>
            </a:r>
            <a:endParaRPr lang="en-US" sz="900" dirty="0"/>
          </a:p>
        </p:txBody>
      </p:sp>
      <p:sp>
        <p:nvSpPr>
          <p:cNvPr id="88" name="Text 84"/>
          <p:cNvSpPr txBox="1"/>
          <p:nvPr/>
        </p:nvSpPr>
        <p:spPr>
          <a:xfrm>
            <a:off x="8147304" y="4645152"/>
            <a:ext cx="1691640" cy="201168"/>
          </a:xfrm>
          <a:prstGeom prst="rect">
            <a:avLst/>
          </a:prstGeom>
          <a:noFill/>
          <a:ln/>
        </p:spPr>
        <p:txBody>
          <a:bodyPr wrap="square" lIns="0" tIns="0" rIns="0" bIns="0" rtlCol="0" anchor="t"/>
          <a:lstStyle/>
          <a:p>
            <a:pPr indent="0" marL="0">
              <a:buNone/>
            </a:pPr>
            <a:r>
              <a:rPr lang="en-US" sz="900" b="1" dirty="0">
                <a:solidFill>
                  <a:srgbClr val="2E7D32"/>
                </a:solidFill>
                <a:latin typeface="Calibri" pitchFamily="34" charset="0"/>
                <a:ea typeface="Calibri" pitchFamily="34" charset="-122"/>
                <a:cs typeface="Calibri" pitchFamily="34" charset="-120"/>
              </a:rPr>
              <a:t>measured 4.7% on mill strip</a:t>
            </a:r>
            <a:endParaRPr lang="en-US" sz="900" dirty="0"/>
          </a:p>
        </p:txBody>
      </p:sp>
      <p:sp>
        <p:nvSpPr>
          <p:cNvPr id="89" name="Shape 85"/>
          <p:cNvSpPr/>
          <p:nvPr/>
        </p:nvSpPr>
        <p:spPr>
          <a:xfrm>
            <a:off x="9921240" y="4059936"/>
            <a:ext cx="1810512" cy="850392"/>
          </a:xfrm>
          <a:prstGeom prst="roundRect">
            <a:avLst>
              <a:gd name="adj" fmla="val 6452"/>
            </a:avLst>
          </a:prstGeom>
          <a:solidFill>
            <a:srgbClr val="F1F4F7"/>
          </a:solidFill>
          <a:ln w="12700">
            <a:solidFill>
              <a:srgbClr val="F1F4F7"/>
            </a:solidFill>
            <a:prstDash val="solid"/>
          </a:ln>
        </p:spPr>
      </p:sp>
      <p:sp>
        <p:nvSpPr>
          <p:cNvPr id="90" name="Text 86"/>
          <p:cNvSpPr txBox="1"/>
          <p:nvPr/>
        </p:nvSpPr>
        <p:spPr>
          <a:xfrm>
            <a:off x="10012680" y="40965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100%</a:t>
            </a:r>
            <a:endParaRPr lang="en-US" sz="1800" dirty="0"/>
          </a:p>
        </p:txBody>
      </p:sp>
      <p:sp>
        <p:nvSpPr>
          <p:cNvPr id="91" name="Text 87"/>
          <p:cNvSpPr txBox="1"/>
          <p:nvPr/>
        </p:nvSpPr>
        <p:spPr>
          <a:xfrm>
            <a:off x="10012680" y="44439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coils with a defect map</a:t>
            </a:r>
            <a:endParaRPr lang="en-US" sz="900" dirty="0"/>
          </a:p>
        </p:txBody>
      </p:sp>
      <p:sp>
        <p:nvSpPr>
          <p:cNvPr id="92" name="Text 88"/>
          <p:cNvSpPr txBox="1"/>
          <p:nvPr/>
        </p:nvSpPr>
        <p:spPr>
          <a:xfrm>
            <a:off x="10012680" y="46451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3" name="Shape 89"/>
          <p:cNvSpPr/>
          <p:nvPr/>
        </p:nvSpPr>
        <p:spPr>
          <a:xfrm>
            <a:off x="6190488" y="4974336"/>
            <a:ext cx="1810512" cy="850392"/>
          </a:xfrm>
          <a:prstGeom prst="roundRect">
            <a:avLst>
              <a:gd name="adj" fmla="val 6452"/>
            </a:avLst>
          </a:prstGeom>
          <a:solidFill>
            <a:srgbClr val="F1F4F7"/>
          </a:solidFill>
          <a:ln w="12700">
            <a:solidFill>
              <a:srgbClr val="F1F4F7"/>
            </a:solidFill>
            <a:prstDash val="solid"/>
          </a:ln>
        </p:spPr>
      </p:sp>
      <p:sp>
        <p:nvSpPr>
          <p:cNvPr id="94" name="Text 90"/>
          <p:cNvSpPr txBox="1"/>
          <p:nvPr/>
        </p:nvSpPr>
        <p:spPr>
          <a:xfrm>
            <a:off x="6281928"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&lt; 0.2 s</a:t>
            </a:r>
            <a:endParaRPr lang="en-US" sz="1800" dirty="0"/>
          </a:p>
        </p:txBody>
      </p:sp>
      <p:sp>
        <p:nvSpPr>
          <p:cNvPr id="95" name="Text 91"/>
          <p:cNvSpPr txBox="1"/>
          <p:nvPr/>
        </p:nvSpPr>
        <p:spPr>
          <a:xfrm>
            <a:off x="6281928"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defect to operator screen</a:t>
            </a:r>
            <a:endParaRPr lang="en-US" sz="900" dirty="0"/>
          </a:p>
        </p:txBody>
      </p:sp>
      <p:sp>
        <p:nvSpPr>
          <p:cNvPr id="96" name="Text 92"/>
          <p:cNvSpPr txBox="1"/>
          <p:nvPr/>
        </p:nvSpPr>
        <p:spPr>
          <a:xfrm>
            <a:off x="6281928"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design target</a:t>
            </a:r>
            <a:endParaRPr lang="en-US" sz="900" dirty="0"/>
          </a:p>
        </p:txBody>
      </p:sp>
      <p:sp>
        <p:nvSpPr>
          <p:cNvPr id="97" name="Shape 93"/>
          <p:cNvSpPr/>
          <p:nvPr/>
        </p:nvSpPr>
        <p:spPr>
          <a:xfrm>
            <a:off x="8055864" y="4974336"/>
            <a:ext cx="1810512" cy="850392"/>
          </a:xfrm>
          <a:prstGeom prst="roundRect">
            <a:avLst>
              <a:gd name="adj" fmla="val 6452"/>
            </a:avLst>
          </a:prstGeom>
          <a:solidFill>
            <a:srgbClr val="F1F4F7"/>
          </a:solidFill>
          <a:ln w="12700">
            <a:solidFill>
              <a:srgbClr val="F1F4F7"/>
            </a:solidFill>
            <a:prstDash val="solid"/>
          </a:ln>
        </p:spPr>
      </p:sp>
      <p:sp>
        <p:nvSpPr>
          <p:cNvPr id="98" name="Text 94"/>
          <p:cNvSpPr txBox="1"/>
          <p:nvPr/>
        </p:nvSpPr>
        <p:spPr>
          <a:xfrm>
            <a:off x="8147304"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90%</a:t>
            </a:r>
            <a:endParaRPr lang="en-US" sz="1800" dirty="0"/>
          </a:p>
        </p:txBody>
      </p:sp>
      <p:sp>
        <p:nvSpPr>
          <p:cNvPr id="99" name="Text 95"/>
          <p:cNvSpPr txBox="1"/>
          <p:nvPr/>
        </p:nvSpPr>
        <p:spPr>
          <a:xfrm>
            <a:off x="8147304"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operator agreement, shadow</a:t>
            </a:r>
            <a:endParaRPr lang="en-US" sz="900" dirty="0"/>
          </a:p>
        </p:txBody>
      </p:sp>
      <p:sp>
        <p:nvSpPr>
          <p:cNvPr id="100" name="Text 96"/>
          <p:cNvSpPr txBox="1"/>
          <p:nvPr/>
        </p:nvSpPr>
        <p:spPr>
          <a:xfrm>
            <a:off x="8147304"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P2</a:t>
            </a:r>
            <a:endParaRPr lang="en-US" sz="900" dirty="0"/>
          </a:p>
        </p:txBody>
      </p:sp>
      <p:sp>
        <p:nvSpPr>
          <p:cNvPr id="101" name="Shape 97"/>
          <p:cNvSpPr/>
          <p:nvPr/>
        </p:nvSpPr>
        <p:spPr>
          <a:xfrm>
            <a:off x="9921240" y="4974336"/>
            <a:ext cx="1810512" cy="850392"/>
          </a:xfrm>
          <a:prstGeom prst="roundRect">
            <a:avLst>
              <a:gd name="adj" fmla="val 6452"/>
            </a:avLst>
          </a:prstGeom>
          <a:solidFill>
            <a:srgbClr val="F1F4F7"/>
          </a:solidFill>
          <a:ln w="12700">
            <a:solidFill>
              <a:srgbClr val="F1F4F7"/>
            </a:solidFill>
            <a:prstDash val="solid"/>
          </a:ln>
        </p:spPr>
      </p:sp>
      <p:sp>
        <p:nvSpPr>
          <p:cNvPr id="102" name="Text 98"/>
          <p:cNvSpPr txBox="1"/>
          <p:nvPr/>
        </p:nvSpPr>
        <p:spPr>
          <a:xfrm>
            <a:off x="10012680" y="5010912"/>
            <a:ext cx="1645920" cy="347472"/>
          </a:xfrm>
          <a:prstGeom prst="rect">
            <a:avLst/>
          </a:prstGeom>
          <a:noFill/>
          <a:ln/>
        </p:spPr>
        <p:txBody>
          <a:bodyPr wrap="square" lIns="0" tIns="0" rIns="0" bIns="0" rtlCol="0" anchor="ctr"/>
          <a:lstStyle/>
          <a:p>
            <a:pPr indent="0" marL="0">
              <a:buNone/>
            </a:pPr>
            <a:r>
              <a:rPr lang="en-US" sz="1800" b="1" dirty="0">
                <a:solidFill>
                  <a:srgbClr val="143A5A"/>
                </a:solidFill>
                <a:latin typeface="Calibri" pitchFamily="34" charset="0"/>
                <a:ea typeface="Calibri" pitchFamily="34" charset="-122"/>
                <a:cs typeface="Calibri" pitchFamily="34" charset="-120"/>
              </a:rPr>
              <a:t>↓ vs today</a:t>
            </a:r>
            <a:endParaRPr lang="en-US" sz="1800" dirty="0"/>
          </a:p>
        </p:txBody>
      </p:sp>
      <p:sp>
        <p:nvSpPr>
          <p:cNvPr id="103" name="Text 99"/>
          <p:cNvSpPr txBox="1"/>
          <p:nvPr/>
        </p:nvSpPr>
        <p:spPr>
          <a:xfrm>
            <a:off x="10012680" y="5358384"/>
            <a:ext cx="1691640" cy="201168"/>
          </a:xfrm>
          <a:prstGeom prst="rect">
            <a:avLst/>
          </a:prstGeom>
          <a:noFill/>
          <a:ln/>
        </p:spPr>
        <p:txBody>
          <a:bodyPr wrap="square" lIns="0" tIns="0" rIns="0" bIns="0" rtlCol="0" anchor="t"/>
          <a:lstStyle/>
          <a:p>
            <a:pPr indent="0" marL="0">
              <a:buNone/>
            </a:pPr>
            <a:r>
              <a:rPr lang="en-US" sz="900" dirty="0">
                <a:solidFill>
                  <a:srgbClr val="141C24"/>
                </a:solidFill>
                <a:latin typeface="Calibri" pitchFamily="34" charset="0"/>
                <a:ea typeface="Calibri" pitchFamily="34" charset="-122"/>
                <a:cs typeface="Calibri" pitchFamily="34" charset="-120"/>
              </a:rPr>
              <a:t>downgrade rate on the line</a:t>
            </a:r>
            <a:endParaRPr lang="en-US" sz="900" dirty="0"/>
          </a:p>
        </p:txBody>
      </p:sp>
      <p:sp>
        <p:nvSpPr>
          <p:cNvPr id="104" name="Text 100"/>
          <p:cNvSpPr txBox="1"/>
          <p:nvPr/>
        </p:nvSpPr>
        <p:spPr>
          <a:xfrm>
            <a:off x="10012680" y="5559552"/>
            <a:ext cx="1691640" cy="201168"/>
          </a:xfrm>
          <a:prstGeom prst="rect">
            <a:avLst/>
          </a:prstGeom>
          <a:noFill/>
          <a:ln/>
        </p:spPr>
        <p:txBody>
          <a:bodyPr wrap="square" lIns="0" tIns="0" rIns="0" bIns="0" rtlCol="0" anchor="t"/>
          <a:lstStyle/>
          <a:p>
            <a:pPr indent="0" marL="0">
              <a:buNone/>
            </a:pPr>
            <a:r>
              <a:rPr lang="en-US" sz="900" dirty="0">
                <a:solidFill>
                  <a:srgbClr val="5F6B78"/>
                </a:solidFill>
                <a:latin typeface="Calibri" pitchFamily="34" charset="0"/>
                <a:ea typeface="Calibri" pitchFamily="34" charset="-122"/>
                <a:cs typeface="Calibri" pitchFamily="34" charset="-120"/>
              </a:rPr>
              <a:t>measured in P3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01168"/>
            <a:ext cx="1481328" cy="274320"/>
          </a:xfrm>
          <a:prstGeom prst="rect">
            <a:avLst/>
          </a:prstGeom>
          <a:solidFill>
            <a:srgbClr val="F1F4F7"/>
          </a:solidFill>
          <a:ln w="12700">
            <a:solidFill>
              <a:srgbClr val="F1F4F7"/>
            </a:solidFill>
            <a:prstDash val="solid"/>
          </a:ln>
        </p:spPr>
      </p:sp>
      <p:sp>
        <p:nvSpPr>
          <p:cNvPr id="3" name="Text 1"/>
          <p:cNvSpPr txBox="1"/>
          <p:nvPr/>
        </p:nvSpPr>
        <p:spPr>
          <a:xfrm>
            <a:off x="457200"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1  Problem</a:t>
            </a:r>
            <a:endParaRPr lang="en-US" sz="1000" dirty="0"/>
          </a:p>
        </p:txBody>
      </p:sp>
      <p:sp>
        <p:nvSpPr>
          <p:cNvPr id="4" name="Shape 2"/>
          <p:cNvSpPr/>
          <p:nvPr/>
        </p:nvSpPr>
        <p:spPr>
          <a:xfrm>
            <a:off x="1993392" y="201168"/>
            <a:ext cx="1481328" cy="274320"/>
          </a:xfrm>
          <a:prstGeom prst="rect">
            <a:avLst/>
          </a:prstGeom>
          <a:solidFill>
            <a:srgbClr val="F1F4F7"/>
          </a:solidFill>
          <a:ln w="12700">
            <a:solidFill>
              <a:srgbClr val="F1F4F7"/>
            </a:solidFill>
            <a:prstDash val="solid"/>
          </a:ln>
        </p:spPr>
      </p:sp>
      <p:sp>
        <p:nvSpPr>
          <p:cNvPr id="5" name="Text 3"/>
          <p:cNvSpPr txBox="1"/>
          <p:nvPr/>
        </p:nvSpPr>
        <p:spPr>
          <a:xfrm>
            <a:off x="1993392"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2  Insights</a:t>
            </a:r>
            <a:endParaRPr lang="en-US" sz="1000" dirty="0"/>
          </a:p>
        </p:txBody>
      </p:sp>
      <p:sp>
        <p:nvSpPr>
          <p:cNvPr id="6" name="Shape 4"/>
          <p:cNvSpPr/>
          <p:nvPr/>
        </p:nvSpPr>
        <p:spPr>
          <a:xfrm>
            <a:off x="3529584" y="201168"/>
            <a:ext cx="1481328" cy="274320"/>
          </a:xfrm>
          <a:prstGeom prst="rect">
            <a:avLst/>
          </a:prstGeom>
          <a:solidFill>
            <a:srgbClr val="F1F4F7"/>
          </a:solidFill>
          <a:ln w="12700">
            <a:solidFill>
              <a:srgbClr val="F1F4F7"/>
            </a:solidFill>
            <a:prstDash val="solid"/>
          </a:ln>
        </p:spPr>
      </p:sp>
      <p:sp>
        <p:nvSpPr>
          <p:cNvPr id="7" name="Text 5"/>
          <p:cNvSpPr txBox="1"/>
          <p:nvPr/>
        </p:nvSpPr>
        <p:spPr>
          <a:xfrm>
            <a:off x="3529584"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3  Solution</a:t>
            </a:r>
            <a:endParaRPr lang="en-US" sz="1000" dirty="0"/>
          </a:p>
        </p:txBody>
      </p:sp>
      <p:sp>
        <p:nvSpPr>
          <p:cNvPr id="8" name="Shape 6"/>
          <p:cNvSpPr/>
          <p:nvPr/>
        </p:nvSpPr>
        <p:spPr>
          <a:xfrm>
            <a:off x="5065776" y="201168"/>
            <a:ext cx="1481328" cy="274320"/>
          </a:xfrm>
          <a:prstGeom prst="rect">
            <a:avLst/>
          </a:prstGeom>
          <a:solidFill>
            <a:srgbClr val="F1F4F7"/>
          </a:solidFill>
          <a:ln w="12700">
            <a:solidFill>
              <a:srgbClr val="F1F4F7"/>
            </a:solidFill>
            <a:prstDash val="solid"/>
          </a:ln>
        </p:spPr>
      </p:sp>
      <p:sp>
        <p:nvSpPr>
          <p:cNvPr id="9" name="Text 7"/>
          <p:cNvSpPr txBox="1"/>
          <p:nvPr/>
        </p:nvSpPr>
        <p:spPr>
          <a:xfrm>
            <a:off x="5065776" y="201168"/>
            <a:ext cx="1481328" cy="274320"/>
          </a:xfrm>
          <a:prstGeom prst="rect">
            <a:avLst/>
          </a:prstGeom>
          <a:noFill/>
          <a:ln/>
        </p:spPr>
        <p:txBody>
          <a:bodyPr wrap="square" lIns="0" tIns="0" rIns="0" bIns="0" rtlCol="0" anchor="ctr"/>
          <a:lstStyle/>
          <a:p>
            <a:pPr algn="ctr" indent="0" marL="0">
              <a:buNone/>
            </a:pPr>
            <a:r>
              <a:rPr lang="en-US" sz="1000" dirty="0">
                <a:solidFill>
                  <a:srgbClr val="5F6B78"/>
                </a:solidFill>
                <a:latin typeface="Calibri" pitchFamily="34" charset="0"/>
                <a:ea typeface="Calibri" pitchFamily="34" charset="-122"/>
                <a:cs typeface="Calibri" pitchFamily="34" charset="-120"/>
              </a:rPr>
              <a:t>4  Implementation</a:t>
            </a:r>
            <a:endParaRPr lang="en-US" sz="1000" dirty="0"/>
          </a:p>
        </p:txBody>
      </p:sp>
      <p:sp>
        <p:nvSpPr>
          <p:cNvPr id="10" name="Shape 8"/>
          <p:cNvSpPr/>
          <p:nvPr/>
        </p:nvSpPr>
        <p:spPr>
          <a:xfrm>
            <a:off x="6601968" y="201168"/>
            <a:ext cx="1481328" cy="274320"/>
          </a:xfrm>
          <a:prstGeom prst="rect">
            <a:avLst/>
          </a:prstGeom>
          <a:solidFill>
            <a:srgbClr val="143A5A"/>
          </a:solidFill>
          <a:ln w="12700">
            <a:solidFill>
              <a:srgbClr val="143A5A"/>
            </a:solidFill>
            <a:prstDash val="solid"/>
          </a:ln>
        </p:spPr>
      </p:sp>
      <p:sp>
        <p:nvSpPr>
          <p:cNvPr id="11" name="Text 9"/>
          <p:cNvSpPr txBox="1"/>
          <p:nvPr/>
        </p:nvSpPr>
        <p:spPr>
          <a:xfrm>
            <a:off x="6601968" y="201168"/>
            <a:ext cx="14813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Impact</a:t>
            </a:r>
            <a:endParaRPr lang="en-US" sz="1000" dirty="0"/>
          </a:p>
        </p:txBody>
      </p:sp>
      <p:sp>
        <p:nvSpPr>
          <p:cNvPr id="12" name="Text 10"/>
          <p:cNvSpPr txBox="1"/>
          <p:nvPr/>
        </p:nvSpPr>
        <p:spPr>
          <a:xfrm>
            <a:off x="8229600" y="201168"/>
            <a:ext cx="3502152" cy="274320"/>
          </a:xfrm>
          <a:prstGeom prst="rect">
            <a:avLst/>
          </a:prstGeom>
          <a:noFill/>
          <a:ln/>
        </p:spPr>
        <p:txBody>
          <a:bodyPr wrap="square" lIns="0" tIns="0" rIns="0" bIns="0" rtlCol="0" anchor="ctr"/>
          <a:lstStyle/>
          <a:p>
            <a:pPr algn="r" indent="0" marL="0">
              <a:buNone/>
            </a:pPr>
            <a:r>
              <a:rPr lang="en-US" sz="900" dirty="0">
                <a:solidFill>
                  <a:srgbClr val="5F6B78"/>
                </a:solidFill>
                <a:latin typeface="Calibri" pitchFamily="34" charset="0"/>
                <a:ea typeface="Calibri" pitchFamily="34" charset="-122"/>
                <a:cs typeface="Calibri" pitchFamily="34" charset="-120"/>
              </a:rPr>
              <a:t>STAINLESS SPARK ROUND 2  |  PS1  |  Team Futuristic  |  IIT Bombay</a:t>
            </a:r>
            <a:endParaRPr lang="en-US" sz="900" dirty="0"/>
          </a:p>
        </p:txBody>
      </p:sp>
      <p:sp>
        <p:nvSpPr>
          <p:cNvPr id="13" name="Text 11"/>
          <p:cNvSpPr txBox="1"/>
          <p:nvPr/>
        </p:nvSpPr>
        <p:spPr>
          <a:xfrm>
            <a:off x="457200" y="566928"/>
            <a:ext cx="11274552" cy="566928"/>
          </a:xfrm>
          <a:prstGeom prst="rect">
            <a:avLst/>
          </a:prstGeom>
          <a:noFill/>
          <a:ln/>
        </p:spPr>
        <p:txBody>
          <a:bodyPr wrap="square" lIns="0" tIns="0" rIns="0" bIns="0" rtlCol="0" anchor="ctr"/>
          <a:lstStyle/>
          <a:p>
            <a:pPr indent="0" marL="0">
              <a:buNone/>
            </a:pPr>
            <a:r>
              <a:rPr lang="en-US" sz="2000" b="1" dirty="0">
                <a:solidFill>
                  <a:srgbClr val="143A5A"/>
                </a:solidFill>
                <a:latin typeface="Calibri" pitchFamily="34" charset="0"/>
                <a:ea typeface="Calibri" pitchFamily="34" charset="-122"/>
                <a:cs typeface="Calibri" pitchFamily="34" charset="-120"/>
              </a:rPr>
              <a:t>At a conservative 1% downgrade rate one line pays back in ~2.2 years; the fleet protects ~₹13 cr a year</a:t>
            </a:r>
            <a:endParaRPr lang="en-US" sz="2000" dirty="0"/>
          </a:p>
        </p:txBody>
      </p:sp>
      <p:sp>
        <p:nvSpPr>
          <p:cNvPr id="14" name="Shape 12"/>
          <p:cNvSpPr/>
          <p:nvPr/>
        </p:nvSpPr>
        <p:spPr>
          <a:xfrm>
            <a:off x="457200" y="6236208"/>
            <a:ext cx="11274552" cy="420624"/>
          </a:xfrm>
          <a:prstGeom prst="rect">
            <a:avLst/>
          </a:prstGeom>
          <a:solidFill>
            <a:srgbClr val="143A5A"/>
          </a:solidFill>
          <a:ln w="12700">
            <a:solidFill>
              <a:srgbClr val="143A5A"/>
            </a:solidFill>
            <a:prstDash val="solid"/>
          </a:ln>
        </p:spPr>
      </p:sp>
      <p:sp>
        <p:nvSpPr>
          <p:cNvPr id="15" name="Text 13"/>
          <p:cNvSpPr txBox="1"/>
          <p:nvPr/>
        </p:nvSpPr>
        <p:spPr>
          <a:xfrm>
            <a:off x="621792" y="6236208"/>
            <a:ext cx="10972800" cy="42062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Recommendation: approve a 7-month pilot on one 300-series cold-rolled line. JSL's own downgrade rate decides fleet rollout.</a:t>
            </a:r>
            <a:endParaRPr lang="en-US" sz="1200" dirty="0"/>
          </a:p>
        </p:txBody>
      </p:sp>
      <p:sp>
        <p:nvSpPr>
          <p:cNvPr id="16" name="Text 14"/>
          <p:cNvSpPr txBox="1"/>
          <p:nvPr/>
        </p:nvSpPr>
        <p:spPr>
          <a:xfrm>
            <a:off x="457200" y="5971032"/>
            <a:ext cx="11274552" cy="237744"/>
          </a:xfrm>
          <a:prstGeom prst="rect">
            <a:avLst/>
          </a:prstGeom>
          <a:noFill/>
          <a:ln/>
        </p:spPr>
        <p:txBody>
          <a:bodyPr wrap="square" lIns="0" tIns="0" rIns="0" bIns="0" rtlCol="0" anchor="ctr"/>
          <a:lstStyle/>
          <a:p>
            <a:pPr indent="0" marL="0">
              <a:buNone/>
            </a:pPr>
            <a:r>
              <a:rPr lang="en-US" sz="900" dirty="0">
                <a:solidFill>
                  <a:srgbClr val="5F6B78"/>
                </a:solidFill>
                <a:latin typeface="Calibri" pitchFamily="34" charset="0"/>
                <a:ea typeface="Calibri" pitchFamily="34" charset="-122"/>
                <a:cs typeface="Calibri" pitchFamily="34" charset="-120"/>
              </a:rPr>
              <a:t>Inputs: JSL FY26 (INR 167,407/t; 2,565,902 t). Base: 0.4 Mt line, 30% of loss recovered, ₹3.35 cr capex, ₹0.5 cr/yr run cost, 12% rate. Commercial: USD 2M at INR 95.8.</a:t>
            </a:r>
            <a:endParaRPr lang="en-US" sz="900" dirty="0"/>
          </a:p>
        </p:txBody>
      </p:sp>
      <p:sp>
        <p:nvSpPr>
          <p:cNvPr id="17" name="Shape 15"/>
          <p:cNvSpPr/>
          <p:nvPr/>
        </p:nvSpPr>
        <p:spPr>
          <a:xfrm>
            <a:off x="457200" y="1234440"/>
            <a:ext cx="3977640" cy="274320"/>
          </a:xfrm>
          <a:prstGeom prst="rect">
            <a:avLst/>
          </a:prstGeom>
          <a:solidFill>
            <a:srgbClr val="2B5B80"/>
          </a:solidFill>
          <a:ln w="12700">
            <a:solidFill>
              <a:srgbClr val="2B5B80"/>
            </a:solidFill>
            <a:prstDash val="solid"/>
          </a:ln>
        </p:spPr>
      </p:sp>
      <p:sp>
        <p:nvSpPr>
          <p:cNvPr id="18" name="Text 16"/>
          <p:cNvSpPr txBox="1"/>
          <p:nvPr/>
        </p:nvSpPr>
        <p:spPr>
          <a:xfrm>
            <a:off x="548640" y="1234440"/>
            <a:ext cx="37947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Loss pool per line, ₹ cr a year</a:t>
            </a:r>
            <a:endParaRPr lang="en-US" sz="1100" dirty="0"/>
          </a:p>
        </p:txBody>
      </p:sp>
      <p:sp>
        <p:nvSpPr>
          <p:cNvPr id="19" name="Text 17"/>
          <p:cNvSpPr txBox="1"/>
          <p:nvPr/>
        </p:nvSpPr>
        <p:spPr>
          <a:xfrm>
            <a:off x="457200" y="1554480"/>
            <a:ext cx="3977640" cy="219456"/>
          </a:xfrm>
          <a:prstGeom prst="rect">
            <a:avLst/>
          </a:prstGeom>
          <a:noFill/>
          <a:ln/>
        </p:spPr>
        <p:txBody>
          <a:bodyPr wrap="square" lIns="0" tIns="0" rIns="0" bIns="0" rtlCol="0" anchor="t"/>
          <a:lstStyle/>
          <a:p>
            <a:pPr indent="0" marL="0">
              <a:buNone/>
            </a:pPr>
            <a:r>
              <a:rPr lang="en-US" sz="950" i="1" dirty="0">
                <a:solidFill>
                  <a:srgbClr val="334150"/>
                </a:solidFill>
                <a:latin typeface="Calibri" pitchFamily="34" charset="0"/>
                <a:ea typeface="Calibri" pitchFamily="34" charset="-122"/>
                <a:cs typeface="Calibri" pitchFamily="34" charset="-120"/>
              </a:rPr>
              <a:t>0.4 Mt × downgrade rate × price discount × ₹167,407/t</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3977640" cy="914400"/>
        </p:xfrm>
        <a:graphic>
          <a:graphicData uri="http://schemas.openxmlformats.org/drawingml/2006/table">
            <a:tbl>
              <a:tblPr/>
              <a:tblGrid>
                <a:gridCol w="1234440"/>
                <a:gridCol w="914400"/>
                <a:gridCol w="914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Downgraded</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15%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20% off</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0.5%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DCEAF5"/>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1.0%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43A5A"/>
                    </a:solidFill>
                  </a:tcPr>
                </a:tc>
                <a:tc>
                  <a:txBody>
                    <a:bodyPr/>
                    <a:lstStyle/>
                    <a:p>
                      <a:pPr algn="ctr" indent="0" marL="0">
                        <a:buNone/>
                      </a:pPr>
                      <a:r>
                        <a:rPr lang="en-US" sz="1200" b="1" dirty="0">
                          <a:solidFill>
                            <a:srgbClr val="141C24"/>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A9CBE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r>
              <a:tr h="384048">
                <a:tc>
                  <a:txBody>
                    <a:bodyPr/>
                    <a:lstStyle/>
                    <a:p>
                      <a:pPr indent="0" marL="0">
                        <a:buNone/>
                      </a:pPr>
                      <a:r>
                        <a:rPr lang="en-US" sz="950" b="1" dirty="0">
                          <a:solidFill>
                            <a:srgbClr val="141C24"/>
                          </a:solidFill>
                          <a:latin typeface="Calibri" pitchFamily="34" charset="0"/>
                          <a:ea typeface="Calibri" pitchFamily="34" charset="-122"/>
                          <a:cs typeface="Calibri" pitchFamily="34" charset="-120"/>
                        </a:rPr>
                        <a:t>2.0% of volume</a:t>
                      </a:r>
                      <a:endParaRPr lang="en-US" sz="95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13.4</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5E9CCB"/>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20.1</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26.8</a:t>
                      </a:r>
                      <a:endParaRPr lang="en-US" sz="1200" dirty="0">
                        <a:latin typeface="Calibri" charset="0"/>
                        <a:ea typeface="Calibri" charset="0"/>
                        <a:cs typeface="Calibri" charset="0"/>
                      </a:endParaRPr>
                    </a:p>
                  </a:txBody>
                  <a:tcPr marL="45720" marR="45720" marT="27432" marB="27432"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1F6FA8"/>
                    </a:solidFill>
                  </a:tcPr>
                </a:tc>
              </a:tr>
            </a:tbl>
          </a:graphicData>
        </a:graphic>
      </p:graphicFrame>
      <p:sp>
        <p:nvSpPr>
          <p:cNvPr id="21" name="Text 18"/>
          <p:cNvSpPr txBox="1"/>
          <p:nvPr/>
        </p:nvSpPr>
        <p:spPr>
          <a:xfrm>
            <a:off x="457200" y="3310128"/>
            <a:ext cx="3977640" cy="566928"/>
          </a:xfrm>
          <a:prstGeom prst="rect">
            <a:avLst/>
          </a:prstGeom>
          <a:noFill/>
          <a:ln/>
        </p:spPr>
        <p:txBody>
          <a:bodyPr wrap="square" lIns="0" tIns="0" rIns="0" bIns="0" rtlCol="0" anchor="t"/>
          <a:lstStyle/>
          <a:p>
            <a:pPr indent="0" marL="0">
              <a:buNone/>
            </a:pPr>
            <a:r>
              <a:rPr lang="en-US" sz="950" b="1" dirty="0">
                <a:solidFill>
                  <a:srgbClr val="143A5A"/>
                </a:solidFill>
                <a:latin typeface="Calibri" pitchFamily="34" charset="0"/>
                <a:ea typeface="Calibri" pitchFamily="34" charset="-122"/>
                <a:cs typeface="Calibri" pitchFamily="34" charset="-120"/>
              </a:rPr>
              <a:t>Base case (dark): </a:t>
            </a:r>
            <a:pPr indent="0" marL="0">
              <a:buNone/>
            </a:pPr>
            <a:r>
              <a:rPr lang="en-US" sz="950" dirty="0">
                <a:solidFill>
                  <a:srgbClr val="334150"/>
                </a:solidFill>
                <a:latin typeface="Calibri" pitchFamily="34" charset="0"/>
                <a:ea typeface="Calibri" pitchFamily="34" charset="-122"/>
                <a:cs typeface="Calibri" pitchFamily="34" charset="-120"/>
              </a:rPr>
              <a:t>₹6.7 cr pool, ₹2.0 cr/yr recovered (₹1.5 cr net). Fleet: ₹12.9 cr/yr. Non-prime coil sells 10-30% below prime, so these discounts are conservative.</a:t>
            </a:r>
            <a:endParaRPr lang="en-US" sz="950" dirty="0"/>
          </a:p>
        </p:txBody>
      </p:sp>
      <p:sp>
        <p:nvSpPr>
          <p:cNvPr id="22" name="Shape 19"/>
          <p:cNvSpPr/>
          <p:nvPr/>
        </p:nvSpPr>
        <p:spPr>
          <a:xfrm>
            <a:off x="4617720" y="1234440"/>
            <a:ext cx="3520440" cy="274320"/>
          </a:xfrm>
          <a:prstGeom prst="rect">
            <a:avLst/>
          </a:prstGeom>
          <a:solidFill>
            <a:srgbClr val="2B5B80"/>
          </a:solidFill>
          <a:ln w="12700">
            <a:solidFill>
              <a:srgbClr val="2B5B80"/>
            </a:solidFill>
            <a:prstDash val="solid"/>
          </a:ln>
        </p:spPr>
      </p:sp>
      <p:sp>
        <p:nvSpPr>
          <p:cNvPr id="23" name="Text 20"/>
          <p:cNvSpPr txBox="1"/>
          <p:nvPr/>
        </p:nvSpPr>
        <p:spPr>
          <a:xfrm>
            <a:off x="4709160" y="1234440"/>
            <a:ext cx="33375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Cumulative cash per line, ₹ cr</a:t>
            </a:r>
            <a:endParaRPr lang="en-US" sz="1100" dirty="0"/>
          </a:p>
        </p:txBody>
      </p:sp>
      <p:sp>
        <p:nvSpPr>
          <p:cNvPr id="24" name="Shape 21"/>
          <p:cNvSpPr/>
          <p:nvPr/>
        </p:nvSpPr>
        <p:spPr>
          <a:xfrm>
            <a:off x="4709160" y="2278959"/>
            <a:ext cx="3337560" cy="10973"/>
          </a:xfrm>
          <a:prstGeom prst="rect">
            <a:avLst/>
          </a:prstGeom>
          <a:solidFill>
            <a:srgbClr val="334150"/>
          </a:solidFill>
          <a:ln w="12700">
            <a:solidFill>
              <a:srgbClr val="334150"/>
            </a:solidFill>
            <a:prstDash val="solid"/>
          </a:ln>
        </p:spPr>
      </p:sp>
      <p:sp>
        <p:nvSpPr>
          <p:cNvPr id="25" name="Shape 22"/>
          <p:cNvSpPr/>
          <p:nvPr/>
        </p:nvSpPr>
        <p:spPr>
          <a:xfrm>
            <a:off x="4846320" y="2278959"/>
            <a:ext cx="347472" cy="520751"/>
          </a:xfrm>
          <a:prstGeom prst="rect">
            <a:avLst/>
          </a:prstGeom>
          <a:solidFill>
            <a:srgbClr val="9AA7B4"/>
          </a:solidFill>
          <a:ln w="12700">
            <a:solidFill>
              <a:srgbClr val="9AA7B4"/>
            </a:solidFill>
            <a:prstDash val="solid"/>
          </a:ln>
        </p:spPr>
      </p:sp>
      <p:sp>
        <p:nvSpPr>
          <p:cNvPr id="26" name="Text 23"/>
          <p:cNvSpPr txBox="1"/>
          <p:nvPr/>
        </p:nvSpPr>
        <p:spPr>
          <a:xfrm>
            <a:off x="479145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Y0</a:t>
            </a:r>
            <a:endParaRPr lang="en-US" sz="900" dirty="0"/>
          </a:p>
        </p:txBody>
      </p:sp>
      <p:sp>
        <p:nvSpPr>
          <p:cNvPr id="27" name="Text 24"/>
          <p:cNvSpPr txBox="1"/>
          <p:nvPr/>
        </p:nvSpPr>
        <p:spPr>
          <a:xfrm>
            <a:off x="479145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-3.4</a:t>
            </a:r>
            <a:endParaRPr lang="en-US" sz="900" dirty="0"/>
          </a:p>
        </p:txBody>
      </p:sp>
      <p:sp>
        <p:nvSpPr>
          <p:cNvPr id="28" name="Shape 25"/>
          <p:cNvSpPr/>
          <p:nvPr/>
        </p:nvSpPr>
        <p:spPr>
          <a:xfrm>
            <a:off x="5394960" y="2278959"/>
            <a:ext cx="347472" cy="286024"/>
          </a:xfrm>
          <a:prstGeom prst="rect">
            <a:avLst/>
          </a:prstGeom>
          <a:solidFill>
            <a:srgbClr val="9AA7B4"/>
          </a:solidFill>
          <a:ln w="12700">
            <a:solidFill>
              <a:srgbClr val="9AA7B4"/>
            </a:solidFill>
            <a:prstDash val="solid"/>
          </a:ln>
        </p:spPr>
      </p:sp>
      <p:sp>
        <p:nvSpPr>
          <p:cNvPr id="29" name="Text 26"/>
          <p:cNvSpPr txBox="1"/>
          <p:nvPr/>
        </p:nvSpPr>
        <p:spPr>
          <a:xfrm>
            <a:off x="534009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Y1</a:t>
            </a:r>
            <a:endParaRPr lang="en-US" sz="900" dirty="0"/>
          </a:p>
        </p:txBody>
      </p:sp>
      <p:sp>
        <p:nvSpPr>
          <p:cNvPr id="30" name="Text 27"/>
          <p:cNvSpPr txBox="1"/>
          <p:nvPr/>
        </p:nvSpPr>
        <p:spPr>
          <a:xfrm>
            <a:off x="534009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-1.8</a:t>
            </a:r>
            <a:endParaRPr lang="en-US" sz="900" dirty="0"/>
          </a:p>
        </p:txBody>
      </p:sp>
      <p:sp>
        <p:nvSpPr>
          <p:cNvPr id="31" name="Shape 28"/>
          <p:cNvSpPr/>
          <p:nvPr/>
        </p:nvSpPr>
        <p:spPr>
          <a:xfrm>
            <a:off x="5943600" y="2278959"/>
            <a:ext cx="347472" cy="51298"/>
          </a:xfrm>
          <a:prstGeom prst="rect">
            <a:avLst/>
          </a:prstGeom>
          <a:solidFill>
            <a:srgbClr val="9AA7B4"/>
          </a:solidFill>
          <a:ln w="12700">
            <a:solidFill>
              <a:srgbClr val="9AA7B4"/>
            </a:solidFill>
            <a:prstDash val="solid"/>
          </a:ln>
        </p:spPr>
      </p:sp>
      <p:sp>
        <p:nvSpPr>
          <p:cNvPr id="32" name="Text 29"/>
          <p:cNvSpPr txBox="1"/>
          <p:nvPr/>
        </p:nvSpPr>
        <p:spPr>
          <a:xfrm>
            <a:off x="588873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Y2</a:t>
            </a:r>
            <a:endParaRPr lang="en-US" sz="900" dirty="0"/>
          </a:p>
        </p:txBody>
      </p:sp>
      <p:sp>
        <p:nvSpPr>
          <p:cNvPr id="33" name="Text 30"/>
          <p:cNvSpPr txBox="1"/>
          <p:nvPr/>
        </p:nvSpPr>
        <p:spPr>
          <a:xfrm>
            <a:off x="5888736" y="3026664"/>
            <a:ext cx="457200" cy="164592"/>
          </a:xfrm>
          <a:prstGeom prst="rect">
            <a:avLst/>
          </a:prstGeom>
          <a:noFill/>
          <a:ln/>
        </p:spPr>
        <p:txBody>
          <a:bodyPr wrap="square" lIns="0" tIns="0" rIns="0" bIns="0" rtlCol="0" anchor="t"/>
          <a:lstStyle/>
          <a:p>
            <a:pPr algn="ctr" indent="0" marL="0">
              <a:buNone/>
            </a:pPr>
            <a:r>
              <a:rPr lang="en-US" sz="900" b="1" dirty="0">
                <a:solidFill>
                  <a:srgbClr val="334150"/>
                </a:solidFill>
                <a:latin typeface="Calibri" pitchFamily="34" charset="0"/>
                <a:ea typeface="Calibri" pitchFamily="34" charset="-122"/>
                <a:cs typeface="Calibri" pitchFamily="34" charset="-120"/>
              </a:rPr>
              <a:t>-0.3</a:t>
            </a:r>
            <a:endParaRPr lang="en-US" sz="900" dirty="0"/>
          </a:p>
        </p:txBody>
      </p:sp>
      <p:sp>
        <p:nvSpPr>
          <p:cNvPr id="34" name="Shape 31"/>
          <p:cNvSpPr/>
          <p:nvPr/>
        </p:nvSpPr>
        <p:spPr>
          <a:xfrm>
            <a:off x="6492240" y="2095530"/>
            <a:ext cx="347472" cy="183429"/>
          </a:xfrm>
          <a:prstGeom prst="rect">
            <a:avLst/>
          </a:prstGeom>
          <a:solidFill>
            <a:srgbClr val="0086C3"/>
          </a:solidFill>
          <a:ln w="12700">
            <a:solidFill>
              <a:srgbClr val="0086C3"/>
            </a:solidFill>
            <a:prstDash val="solid"/>
          </a:ln>
        </p:spPr>
      </p:sp>
      <p:sp>
        <p:nvSpPr>
          <p:cNvPr id="35" name="Text 32"/>
          <p:cNvSpPr txBox="1"/>
          <p:nvPr/>
        </p:nvSpPr>
        <p:spPr>
          <a:xfrm>
            <a:off x="643737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Y3</a:t>
            </a:r>
            <a:endParaRPr lang="en-US" sz="900" dirty="0"/>
          </a:p>
        </p:txBody>
      </p:sp>
      <p:sp>
        <p:nvSpPr>
          <p:cNvPr id="36" name="Text 33"/>
          <p:cNvSpPr txBox="1"/>
          <p:nvPr/>
        </p:nvSpPr>
        <p:spPr>
          <a:xfrm>
            <a:off x="643737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+1.2</a:t>
            </a:r>
            <a:endParaRPr lang="en-US" sz="900" dirty="0"/>
          </a:p>
        </p:txBody>
      </p:sp>
      <p:sp>
        <p:nvSpPr>
          <p:cNvPr id="37" name="Shape 34"/>
          <p:cNvSpPr/>
          <p:nvPr/>
        </p:nvSpPr>
        <p:spPr>
          <a:xfrm>
            <a:off x="7040880" y="1860804"/>
            <a:ext cx="347472" cy="418155"/>
          </a:xfrm>
          <a:prstGeom prst="rect">
            <a:avLst/>
          </a:prstGeom>
          <a:solidFill>
            <a:srgbClr val="0086C3"/>
          </a:solidFill>
          <a:ln w="12700">
            <a:solidFill>
              <a:srgbClr val="0086C3"/>
            </a:solidFill>
            <a:prstDash val="solid"/>
          </a:ln>
        </p:spPr>
      </p:sp>
      <p:sp>
        <p:nvSpPr>
          <p:cNvPr id="38" name="Text 35"/>
          <p:cNvSpPr txBox="1"/>
          <p:nvPr/>
        </p:nvSpPr>
        <p:spPr>
          <a:xfrm>
            <a:off x="698601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Y4</a:t>
            </a:r>
            <a:endParaRPr lang="en-US" sz="900" dirty="0"/>
          </a:p>
        </p:txBody>
      </p:sp>
      <p:sp>
        <p:nvSpPr>
          <p:cNvPr id="39" name="Text 36"/>
          <p:cNvSpPr txBox="1"/>
          <p:nvPr/>
        </p:nvSpPr>
        <p:spPr>
          <a:xfrm>
            <a:off x="698601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+2.7</a:t>
            </a:r>
            <a:endParaRPr lang="en-US" sz="900" dirty="0"/>
          </a:p>
        </p:txBody>
      </p:sp>
      <p:sp>
        <p:nvSpPr>
          <p:cNvPr id="40" name="Shape 37"/>
          <p:cNvSpPr/>
          <p:nvPr/>
        </p:nvSpPr>
        <p:spPr>
          <a:xfrm>
            <a:off x="7589520" y="1627632"/>
            <a:ext cx="347472" cy="651327"/>
          </a:xfrm>
          <a:prstGeom prst="rect">
            <a:avLst/>
          </a:prstGeom>
          <a:solidFill>
            <a:srgbClr val="0086C3"/>
          </a:solidFill>
          <a:ln w="12700">
            <a:solidFill>
              <a:srgbClr val="0086C3"/>
            </a:solidFill>
            <a:prstDash val="solid"/>
          </a:ln>
        </p:spPr>
      </p:sp>
      <p:sp>
        <p:nvSpPr>
          <p:cNvPr id="41" name="Text 38"/>
          <p:cNvSpPr txBox="1"/>
          <p:nvPr/>
        </p:nvSpPr>
        <p:spPr>
          <a:xfrm>
            <a:off x="7534656" y="2871216"/>
            <a:ext cx="457200" cy="164592"/>
          </a:xfrm>
          <a:prstGeom prst="rect">
            <a:avLst/>
          </a:prstGeom>
          <a:noFill/>
          <a:ln/>
        </p:spPr>
        <p:txBody>
          <a:bodyPr wrap="square" lIns="0" tIns="0" rIns="0" bIns="0" rtlCol="0" anchor="t"/>
          <a:lstStyle/>
          <a:p>
            <a:pPr algn="ctr" indent="0" marL="0">
              <a:buNone/>
            </a:pPr>
            <a:r>
              <a:rPr lang="en-US" sz="900" dirty="0">
                <a:solidFill>
                  <a:srgbClr val="5F6B78"/>
                </a:solidFill>
                <a:latin typeface="Calibri" pitchFamily="34" charset="0"/>
                <a:ea typeface="Calibri" pitchFamily="34" charset="-122"/>
                <a:cs typeface="Calibri" pitchFamily="34" charset="-120"/>
              </a:rPr>
              <a:t>Y5</a:t>
            </a:r>
            <a:endParaRPr lang="en-US" sz="900" dirty="0"/>
          </a:p>
        </p:txBody>
      </p:sp>
      <p:sp>
        <p:nvSpPr>
          <p:cNvPr id="42" name="Text 39"/>
          <p:cNvSpPr txBox="1"/>
          <p:nvPr/>
        </p:nvSpPr>
        <p:spPr>
          <a:xfrm>
            <a:off x="7534656" y="3026664"/>
            <a:ext cx="457200" cy="164592"/>
          </a:xfrm>
          <a:prstGeom prst="rect">
            <a:avLst/>
          </a:prstGeom>
          <a:noFill/>
          <a:ln/>
        </p:spPr>
        <p:txBody>
          <a:bodyPr wrap="square" lIns="0" tIns="0" rIns="0" bIns="0" rtlCol="0" anchor="t"/>
          <a:lstStyle/>
          <a:p>
            <a:pPr algn="ctr" indent="0" marL="0">
              <a:buNone/>
            </a:pPr>
            <a:r>
              <a:rPr lang="en-US" sz="900" b="1" dirty="0">
                <a:solidFill>
                  <a:srgbClr val="0086C3"/>
                </a:solidFill>
                <a:latin typeface="Calibri" pitchFamily="34" charset="0"/>
                <a:ea typeface="Calibri" pitchFamily="34" charset="-122"/>
                <a:cs typeface="Calibri" pitchFamily="34" charset="-120"/>
              </a:rPr>
              <a:t>+4.2</a:t>
            </a:r>
            <a:endParaRPr lang="en-US" sz="900" dirty="0"/>
          </a:p>
        </p:txBody>
      </p:sp>
      <p:sp>
        <p:nvSpPr>
          <p:cNvPr id="43" name="Shape 40"/>
          <p:cNvSpPr/>
          <p:nvPr/>
        </p:nvSpPr>
        <p:spPr>
          <a:xfrm>
            <a:off x="6227064" y="1591056"/>
            <a:ext cx="0" cy="1261872"/>
          </a:xfrm>
          <a:prstGeom prst="line">
            <a:avLst/>
          </a:prstGeom>
          <a:noFill/>
          <a:ln w="12700">
            <a:solidFill>
              <a:srgbClr val="143A5A"/>
            </a:solidFill>
            <a:prstDash val="dash"/>
          </a:ln>
        </p:spPr>
      </p:sp>
      <p:sp>
        <p:nvSpPr>
          <p:cNvPr id="44" name="Text 41"/>
          <p:cNvSpPr txBox="1"/>
          <p:nvPr/>
        </p:nvSpPr>
        <p:spPr>
          <a:xfrm>
            <a:off x="5038344" y="1572768"/>
            <a:ext cx="1143000" cy="182880"/>
          </a:xfrm>
          <a:prstGeom prst="rect">
            <a:avLst/>
          </a:prstGeom>
          <a:noFill/>
          <a:ln/>
        </p:spPr>
        <p:txBody>
          <a:bodyPr wrap="square" lIns="0" tIns="0" rIns="0" bIns="0" rtlCol="0" anchor="t"/>
          <a:lstStyle/>
          <a:p>
            <a:pPr algn="r" indent="0" marL="0">
              <a:buNone/>
            </a:pPr>
            <a:r>
              <a:rPr lang="en-US" sz="900" b="1" dirty="0">
                <a:solidFill>
                  <a:srgbClr val="143A5A"/>
                </a:solidFill>
                <a:latin typeface="Calibri" pitchFamily="34" charset="0"/>
                <a:ea typeface="Calibri" pitchFamily="34" charset="-122"/>
                <a:cs typeface="Calibri" pitchFamily="34" charset="-120"/>
              </a:rPr>
              <a:t>pays back ~2.2 yr</a:t>
            </a:r>
            <a:endParaRPr lang="en-US" sz="900" dirty="0"/>
          </a:p>
        </p:txBody>
      </p:sp>
      <p:sp>
        <p:nvSpPr>
          <p:cNvPr id="45" name="Text 42"/>
          <p:cNvSpPr txBox="1"/>
          <p:nvPr/>
        </p:nvSpPr>
        <p:spPr>
          <a:xfrm>
            <a:off x="4663440" y="3218688"/>
            <a:ext cx="3474720" cy="219456"/>
          </a:xfrm>
          <a:prstGeom prst="rect">
            <a:avLst/>
          </a:prstGeom>
          <a:noFill/>
          <a:ln/>
        </p:spPr>
        <p:txBody>
          <a:bodyPr wrap="square" lIns="0" tIns="0" rIns="0" bIns="0" rtlCol="0" anchor="ctr"/>
          <a:lstStyle/>
          <a:p>
            <a:pPr indent="0" marL="0">
              <a:buNone/>
            </a:pPr>
            <a:r>
              <a:rPr lang="en-US" sz="1200" b="1" dirty="0">
                <a:solidFill>
                  <a:srgbClr val="0086C3"/>
                </a:solidFill>
                <a:latin typeface="Calibri" pitchFamily="34" charset="0"/>
                <a:ea typeface="Calibri" pitchFamily="34" charset="-122"/>
                <a:cs typeface="Calibri" pitchFamily="34" charset="-120"/>
              </a:rPr>
              <a:t>+₹2.1 cr</a:t>
            </a:r>
            <a:pPr indent="0" marL="0">
              <a:buNone/>
            </a:pPr>
            <a:r>
              <a:rPr lang="en-US" sz="950" dirty="0">
                <a:solidFill>
                  <a:srgbClr val="334150"/>
                </a:solidFill>
                <a:latin typeface="Calibri" pitchFamily="34" charset="0"/>
                <a:ea typeface="Calibri" pitchFamily="34" charset="-122"/>
                <a:cs typeface="Calibri" pitchFamily="34" charset="-120"/>
              </a:rPr>
              <a:t>  5-year NPV per line at 12%</a:t>
            </a:r>
            <a:endParaRPr lang="en-US" sz="950" dirty="0"/>
          </a:p>
        </p:txBody>
      </p:sp>
      <p:sp>
        <p:nvSpPr>
          <p:cNvPr id="46" name="Text 43"/>
          <p:cNvSpPr txBox="1"/>
          <p:nvPr/>
        </p:nvSpPr>
        <p:spPr>
          <a:xfrm>
            <a:off x="4663440" y="3438144"/>
            <a:ext cx="3474720" cy="219456"/>
          </a:xfrm>
          <a:prstGeom prst="rect">
            <a:avLst/>
          </a:prstGeom>
          <a:noFill/>
          <a:ln/>
        </p:spPr>
        <p:txBody>
          <a:bodyPr wrap="square" lIns="0" tIns="0" rIns="0" bIns="0" rtlCol="0" anchor="ctr"/>
          <a:lstStyle/>
          <a:p>
            <a:pPr indent="0" marL="0">
              <a:buNone/>
            </a:pPr>
            <a:r>
              <a:rPr lang="en-US" sz="1200" b="1" dirty="0">
                <a:solidFill>
                  <a:srgbClr val="141C24"/>
                </a:solidFill>
                <a:latin typeface="Calibri" pitchFamily="34" charset="0"/>
                <a:ea typeface="Calibri" pitchFamily="34" charset="-122"/>
                <a:cs typeface="Calibri" pitchFamily="34" charset="-120"/>
              </a:rPr>
              <a:t>−₹11.6 cr</a:t>
            </a:r>
            <a:pPr indent="0" marL="0">
              <a:buNone/>
            </a:pPr>
            <a:r>
              <a:rPr lang="en-US" sz="950" dirty="0">
                <a:solidFill>
                  <a:srgbClr val="334150"/>
                </a:solidFill>
                <a:latin typeface="Calibri" pitchFamily="34" charset="0"/>
                <a:ea typeface="Calibri" pitchFamily="34" charset="-122"/>
                <a:cs typeface="Calibri" pitchFamily="34" charset="-120"/>
              </a:rPr>
              <a:t>  commercial system after 5 years</a:t>
            </a:r>
            <a:endParaRPr lang="en-US" sz="950" dirty="0"/>
          </a:p>
        </p:txBody>
      </p:sp>
      <p:sp>
        <p:nvSpPr>
          <p:cNvPr id="47" name="Text 44"/>
          <p:cNvSpPr txBox="1"/>
          <p:nvPr/>
        </p:nvSpPr>
        <p:spPr>
          <a:xfrm>
            <a:off x="4663440" y="3657600"/>
            <a:ext cx="3474720" cy="219456"/>
          </a:xfrm>
          <a:prstGeom prst="rect">
            <a:avLst/>
          </a:prstGeom>
          <a:noFill/>
          <a:ln/>
        </p:spPr>
        <p:txBody>
          <a:bodyPr wrap="square" lIns="0" tIns="0" rIns="0" bIns="0" rtlCol="0" anchor="ctr"/>
          <a:lstStyle/>
          <a:p>
            <a:pPr indent="0" marL="0">
              <a:buNone/>
            </a:pPr>
            <a:r>
              <a:rPr lang="en-US" sz="1200" b="1" dirty="0">
                <a:solidFill>
                  <a:srgbClr val="0086C3"/>
                </a:solidFill>
                <a:latin typeface="Calibri" pitchFamily="34" charset="0"/>
                <a:ea typeface="Calibri" pitchFamily="34" charset="-122"/>
                <a:cs typeface="Calibri" pitchFamily="34" charset="-120"/>
              </a:rPr>
              <a:t>≥ 0.11%</a:t>
            </a:r>
            <a:pPr indent="0" marL="0">
              <a:buNone/>
            </a:pPr>
            <a:r>
              <a:rPr lang="en-US" sz="950" dirty="0">
                <a:solidFill>
                  <a:srgbClr val="334150"/>
                </a:solidFill>
                <a:latin typeface="Calibri" pitchFamily="34" charset="0"/>
                <a:ea typeface="Calibri" pitchFamily="34" charset="-122"/>
                <a:cs typeface="Calibri" pitchFamily="34" charset="-120"/>
              </a:rPr>
              <a:t>  of revenue lost to downgrade = 2-yr payback</a:t>
            </a:r>
            <a:endParaRPr lang="en-US" sz="950" dirty="0"/>
          </a:p>
        </p:txBody>
      </p:sp>
      <p:sp>
        <p:nvSpPr>
          <p:cNvPr id="48" name="Shape 45"/>
          <p:cNvSpPr/>
          <p:nvPr/>
        </p:nvSpPr>
        <p:spPr>
          <a:xfrm>
            <a:off x="8321040" y="1234440"/>
            <a:ext cx="3410712" cy="274320"/>
          </a:xfrm>
          <a:prstGeom prst="rect">
            <a:avLst/>
          </a:prstGeom>
          <a:solidFill>
            <a:srgbClr val="2B5B80"/>
          </a:solidFill>
          <a:ln w="12700">
            <a:solidFill>
              <a:srgbClr val="2B5B80"/>
            </a:solidFill>
            <a:prstDash val="solid"/>
          </a:ln>
        </p:spPr>
      </p:sp>
      <p:sp>
        <p:nvSpPr>
          <p:cNvPr id="49" name="Text 46"/>
          <p:cNvSpPr txBox="1"/>
          <p:nvPr/>
        </p:nvSpPr>
        <p:spPr>
          <a:xfrm>
            <a:off x="8412480" y="1234440"/>
            <a:ext cx="3227832"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moves payback (years)</a:t>
            </a:r>
            <a:endParaRPr lang="en-US" sz="1100" dirty="0"/>
          </a:p>
        </p:txBody>
      </p:sp>
      <p:sp>
        <p:nvSpPr>
          <p:cNvPr id="50" name="Text 47"/>
          <p:cNvSpPr txBox="1"/>
          <p:nvPr/>
        </p:nvSpPr>
        <p:spPr>
          <a:xfrm>
            <a:off x="8366760" y="1645920"/>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Downgrade rate 0.5-2%</a:t>
            </a:r>
            <a:endParaRPr lang="en-US" sz="900" dirty="0"/>
          </a:p>
        </p:txBody>
      </p:sp>
      <p:sp>
        <p:nvSpPr>
          <p:cNvPr id="51" name="Shape 48"/>
          <p:cNvSpPr/>
          <p:nvPr/>
        </p:nvSpPr>
        <p:spPr>
          <a:xfrm>
            <a:off x="9930711" y="1691640"/>
            <a:ext cx="257142" cy="182880"/>
          </a:xfrm>
          <a:prstGeom prst="rect">
            <a:avLst/>
          </a:prstGeom>
          <a:solidFill>
            <a:srgbClr val="0086C3"/>
          </a:solidFill>
          <a:ln w="12700">
            <a:solidFill>
              <a:srgbClr val="0086C3"/>
            </a:solidFill>
            <a:prstDash val="solid"/>
          </a:ln>
        </p:spPr>
      </p:sp>
      <p:sp>
        <p:nvSpPr>
          <p:cNvPr id="52" name="Shape 49"/>
          <p:cNvSpPr/>
          <p:nvPr/>
        </p:nvSpPr>
        <p:spPr>
          <a:xfrm>
            <a:off x="10187853" y="1691640"/>
            <a:ext cx="894936" cy="182880"/>
          </a:xfrm>
          <a:prstGeom prst="rect">
            <a:avLst/>
          </a:prstGeom>
          <a:solidFill>
            <a:srgbClr val="9AA7B4"/>
          </a:solidFill>
          <a:ln w="12700">
            <a:solidFill>
              <a:srgbClr val="9AA7B4"/>
            </a:solidFill>
            <a:prstDash val="solid"/>
          </a:ln>
        </p:spPr>
      </p:sp>
      <p:sp>
        <p:nvSpPr>
          <p:cNvPr id="53" name="Text 50"/>
          <p:cNvSpPr txBox="1"/>
          <p:nvPr/>
        </p:nvSpPr>
        <p:spPr>
          <a:xfrm>
            <a:off x="11119365" y="1645920"/>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0.9-6.6</a:t>
            </a:r>
            <a:endParaRPr lang="en-US" sz="900" dirty="0"/>
          </a:p>
        </p:txBody>
      </p:sp>
      <p:sp>
        <p:nvSpPr>
          <p:cNvPr id="54" name="Text 51"/>
          <p:cNvSpPr txBox="1"/>
          <p:nvPr/>
        </p:nvSpPr>
        <p:spPr>
          <a:xfrm>
            <a:off x="8366760" y="2048256"/>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Share recovered 15-45%</a:t>
            </a:r>
            <a:endParaRPr lang="en-US" sz="900" dirty="0"/>
          </a:p>
        </p:txBody>
      </p:sp>
      <p:sp>
        <p:nvSpPr>
          <p:cNvPr id="55" name="Shape 52"/>
          <p:cNvSpPr/>
          <p:nvPr/>
        </p:nvSpPr>
        <p:spPr>
          <a:xfrm>
            <a:off x="10007651" y="2093976"/>
            <a:ext cx="180202" cy="182880"/>
          </a:xfrm>
          <a:prstGeom prst="rect">
            <a:avLst/>
          </a:prstGeom>
          <a:solidFill>
            <a:srgbClr val="0086C3"/>
          </a:solidFill>
          <a:ln w="12700">
            <a:solidFill>
              <a:srgbClr val="0086C3"/>
            </a:solidFill>
            <a:prstDash val="solid"/>
          </a:ln>
        </p:spPr>
      </p:sp>
      <p:sp>
        <p:nvSpPr>
          <p:cNvPr id="56" name="Shape 53"/>
          <p:cNvSpPr/>
          <p:nvPr/>
        </p:nvSpPr>
        <p:spPr>
          <a:xfrm>
            <a:off x="10187853" y="2093976"/>
            <a:ext cx="894936" cy="182880"/>
          </a:xfrm>
          <a:prstGeom prst="rect">
            <a:avLst/>
          </a:prstGeom>
          <a:solidFill>
            <a:srgbClr val="9AA7B4"/>
          </a:solidFill>
          <a:ln w="12700">
            <a:solidFill>
              <a:srgbClr val="9AA7B4"/>
            </a:solidFill>
            <a:prstDash val="solid"/>
          </a:ln>
        </p:spPr>
      </p:sp>
      <p:sp>
        <p:nvSpPr>
          <p:cNvPr id="57" name="Text 54"/>
          <p:cNvSpPr txBox="1"/>
          <p:nvPr/>
        </p:nvSpPr>
        <p:spPr>
          <a:xfrm>
            <a:off x="11119365" y="2048256"/>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1.3-6.6</a:t>
            </a:r>
            <a:endParaRPr lang="en-US" sz="900" dirty="0"/>
          </a:p>
        </p:txBody>
      </p:sp>
      <p:sp>
        <p:nvSpPr>
          <p:cNvPr id="58" name="Text 55"/>
          <p:cNvSpPr txBox="1"/>
          <p:nvPr/>
        </p:nvSpPr>
        <p:spPr>
          <a:xfrm>
            <a:off x="8366760" y="2450592"/>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Line volume 0.3-0.5 Mt</a:t>
            </a:r>
            <a:endParaRPr lang="en-US" sz="900" dirty="0"/>
          </a:p>
        </p:txBody>
      </p:sp>
      <p:sp>
        <p:nvSpPr>
          <p:cNvPr id="59" name="Shape 56"/>
          <p:cNvSpPr/>
          <p:nvPr/>
        </p:nvSpPr>
        <p:spPr>
          <a:xfrm>
            <a:off x="10076492" y="2496312"/>
            <a:ext cx="111361" cy="182880"/>
          </a:xfrm>
          <a:prstGeom prst="rect">
            <a:avLst/>
          </a:prstGeom>
          <a:solidFill>
            <a:srgbClr val="0086C3"/>
          </a:solidFill>
          <a:ln w="12700">
            <a:solidFill>
              <a:srgbClr val="0086C3"/>
            </a:solidFill>
            <a:prstDash val="solid"/>
          </a:ln>
        </p:spPr>
      </p:sp>
      <p:sp>
        <p:nvSpPr>
          <p:cNvPr id="60" name="Shape 57"/>
          <p:cNvSpPr/>
          <p:nvPr/>
        </p:nvSpPr>
        <p:spPr>
          <a:xfrm>
            <a:off x="10187853" y="2496312"/>
            <a:ext cx="224746" cy="182880"/>
          </a:xfrm>
          <a:prstGeom prst="rect">
            <a:avLst/>
          </a:prstGeom>
          <a:solidFill>
            <a:srgbClr val="9AA7B4"/>
          </a:solidFill>
          <a:ln w="12700">
            <a:solidFill>
              <a:srgbClr val="9AA7B4"/>
            </a:solidFill>
            <a:prstDash val="solid"/>
          </a:ln>
        </p:spPr>
      </p:sp>
      <p:sp>
        <p:nvSpPr>
          <p:cNvPr id="61" name="Text 58"/>
          <p:cNvSpPr txBox="1"/>
          <p:nvPr/>
        </p:nvSpPr>
        <p:spPr>
          <a:xfrm>
            <a:off x="10449175" y="2450592"/>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1.7-3.3</a:t>
            </a:r>
            <a:endParaRPr lang="en-US" sz="900" dirty="0"/>
          </a:p>
        </p:txBody>
      </p:sp>
      <p:sp>
        <p:nvSpPr>
          <p:cNvPr id="62" name="Text 59"/>
          <p:cNvSpPr txBox="1"/>
          <p:nvPr/>
        </p:nvSpPr>
        <p:spPr>
          <a:xfrm>
            <a:off x="8366760" y="2852928"/>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Capex ₹2.5-4.2 cr</a:t>
            </a:r>
            <a:endParaRPr lang="en-US" sz="900" dirty="0"/>
          </a:p>
        </p:txBody>
      </p:sp>
      <p:sp>
        <p:nvSpPr>
          <p:cNvPr id="63" name="Shape 60"/>
          <p:cNvSpPr/>
          <p:nvPr/>
        </p:nvSpPr>
        <p:spPr>
          <a:xfrm>
            <a:off x="10074467" y="2898648"/>
            <a:ext cx="113386" cy="182880"/>
          </a:xfrm>
          <a:prstGeom prst="rect">
            <a:avLst/>
          </a:prstGeom>
          <a:solidFill>
            <a:srgbClr val="0086C3"/>
          </a:solidFill>
          <a:ln w="12700">
            <a:solidFill>
              <a:srgbClr val="0086C3"/>
            </a:solidFill>
            <a:prstDash val="solid"/>
          </a:ln>
        </p:spPr>
      </p:sp>
      <p:sp>
        <p:nvSpPr>
          <p:cNvPr id="64" name="Shape 61"/>
          <p:cNvSpPr/>
          <p:nvPr/>
        </p:nvSpPr>
        <p:spPr>
          <a:xfrm>
            <a:off x="10187853" y="2898648"/>
            <a:ext cx="113386" cy="182880"/>
          </a:xfrm>
          <a:prstGeom prst="rect">
            <a:avLst/>
          </a:prstGeom>
          <a:solidFill>
            <a:srgbClr val="9AA7B4"/>
          </a:solidFill>
          <a:ln w="12700">
            <a:solidFill>
              <a:srgbClr val="9AA7B4"/>
            </a:solidFill>
            <a:prstDash val="solid"/>
          </a:ln>
        </p:spPr>
      </p:sp>
      <p:sp>
        <p:nvSpPr>
          <p:cNvPr id="65" name="Text 62"/>
          <p:cNvSpPr txBox="1"/>
          <p:nvPr/>
        </p:nvSpPr>
        <p:spPr>
          <a:xfrm>
            <a:off x="10337815" y="2852928"/>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1.7-2.8</a:t>
            </a:r>
            <a:endParaRPr lang="en-US" sz="900" dirty="0"/>
          </a:p>
        </p:txBody>
      </p:sp>
      <p:sp>
        <p:nvSpPr>
          <p:cNvPr id="66" name="Text 63"/>
          <p:cNvSpPr txBox="1"/>
          <p:nvPr/>
        </p:nvSpPr>
        <p:spPr>
          <a:xfrm>
            <a:off x="8366760" y="3255264"/>
            <a:ext cx="1353312" cy="274320"/>
          </a:xfrm>
          <a:prstGeom prst="rect">
            <a:avLst/>
          </a:prstGeom>
          <a:noFill/>
          <a:ln/>
        </p:spPr>
        <p:txBody>
          <a:bodyPr wrap="square" lIns="0" tIns="0" rIns="0" bIns="0" rtlCol="0" anchor="ctr"/>
          <a:lstStyle/>
          <a:p>
            <a:pPr indent="0" marL="0">
              <a:buNone/>
            </a:pPr>
            <a:r>
              <a:rPr lang="en-US" sz="900" dirty="0">
                <a:solidFill>
                  <a:srgbClr val="334150"/>
                </a:solidFill>
                <a:latin typeface="Calibri" pitchFamily="34" charset="0"/>
                <a:ea typeface="Calibri" pitchFamily="34" charset="-122"/>
                <a:cs typeface="Calibri" pitchFamily="34" charset="-120"/>
              </a:rPr>
              <a:t>Price discount 10-20%</a:t>
            </a:r>
            <a:endParaRPr lang="en-US" sz="900" dirty="0"/>
          </a:p>
        </p:txBody>
      </p:sp>
      <p:sp>
        <p:nvSpPr>
          <p:cNvPr id="67" name="Shape 64"/>
          <p:cNvSpPr/>
          <p:nvPr/>
        </p:nvSpPr>
        <p:spPr>
          <a:xfrm>
            <a:off x="9930711" y="3300984"/>
            <a:ext cx="257142" cy="182880"/>
          </a:xfrm>
          <a:prstGeom prst="rect">
            <a:avLst/>
          </a:prstGeom>
          <a:solidFill>
            <a:srgbClr val="0086C3"/>
          </a:solidFill>
          <a:ln w="12700">
            <a:solidFill>
              <a:srgbClr val="0086C3"/>
            </a:solidFill>
            <a:prstDash val="solid"/>
          </a:ln>
        </p:spPr>
      </p:sp>
      <p:sp>
        <p:nvSpPr>
          <p:cNvPr id="68" name="Text 65"/>
          <p:cNvSpPr txBox="1"/>
          <p:nvPr/>
        </p:nvSpPr>
        <p:spPr>
          <a:xfrm>
            <a:off x="10224429" y="3255264"/>
            <a:ext cx="502920" cy="274320"/>
          </a:xfrm>
          <a:prstGeom prst="rect">
            <a:avLst/>
          </a:prstGeom>
          <a:noFill/>
          <a:ln/>
        </p:spPr>
        <p:txBody>
          <a:bodyPr wrap="square" lIns="0" tIns="0" rIns="0" bIns="0" rtlCol="0" anchor="ctr"/>
          <a:lstStyle/>
          <a:p>
            <a:pPr indent="0" marL="0">
              <a:buNone/>
            </a:pPr>
            <a:r>
              <a:rPr lang="en-US" sz="900" b="1" dirty="0">
                <a:solidFill>
                  <a:srgbClr val="141C24"/>
                </a:solidFill>
                <a:latin typeface="Calibri" pitchFamily="34" charset="0"/>
                <a:ea typeface="Calibri" pitchFamily="34" charset="-122"/>
                <a:cs typeface="Calibri" pitchFamily="34" charset="-120"/>
              </a:rPr>
              <a:t>0.9-2.2</a:t>
            </a:r>
            <a:endParaRPr lang="en-US" sz="900" dirty="0"/>
          </a:p>
        </p:txBody>
      </p:sp>
      <p:sp>
        <p:nvSpPr>
          <p:cNvPr id="69" name="Shape 66"/>
          <p:cNvSpPr/>
          <p:nvPr/>
        </p:nvSpPr>
        <p:spPr>
          <a:xfrm>
            <a:off x="10178709" y="1591056"/>
            <a:ext cx="18288" cy="2057400"/>
          </a:xfrm>
          <a:prstGeom prst="rect">
            <a:avLst/>
          </a:prstGeom>
          <a:solidFill>
            <a:srgbClr val="143A5A"/>
          </a:solidFill>
          <a:ln w="12700">
            <a:solidFill>
              <a:srgbClr val="143A5A"/>
            </a:solidFill>
            <a:prstDash val="solid"/>
          </a:ln>
        </p:spPr>
      </p:sp>
      <p:sp>
        <p:nvSpPr>
          <p:cNvPr id="70" name="Text 67"/>
          <p:cNvSpPr txBox="1"/>
          <p:nvPr/>
        </p:nvSpPr>
        <p:spPr>
          <a:xfrm>
            <a:off x="9730653" y="3648456"/>
            <a:ext cx="914400" cy="182880"/>
          </a:xfrm>
          <a:prstGeom prst="rect">
            <a:avLst/>
          </a:prstGeom>
          <a:noFill/>
          <a:ln/>
        </p:spPr>
        <p:txBody>
          <a:bodyPr wrap="square" lIns="0" tIns="0" rIns="0" bIns="0" rtlCol="0" anchor="t"/>
          <a:lstStyle/>
          <a:p>
            <a:pPr algn="ctr" indent="0" marL="0">
              <a:buNone/>
            </a:pPr>
            <a:r>
              <a:rPr lang="en-US" sz="900" b="1" dirty="0">
                <a:solidFill>
                  <a:srgbClr val="143A5A"/>
                </a:solidFill>
                <a:latin typeface="Calibri" pitchFamily="34" charset="0"/>
                <a:ea typeface="Calibri" pitchFamily="34" charset="-122"/>
                <a:cs typeface="Calibri" pitchFamily="34" charset="-120"/>
              </a:rPr>
              <a:t>base 2.2 yr</a:t>
            </a:r>
            <a:endParaRPr lang="en-US" sz="900" dirty="0"/>
          </a:p>
        </p:txBody>
      </p:sp>
      <p:sp>
        <p:nvSpPr>
          <p:cNvPr id="71" name="Shape 68"/>
          <p:cNvSpPr/>
          <p:nvPr/>
        </p:nvSpPr>
        <p:spPr>
          <a:xfrm>
            <a:off x="457200" y="4005072"/>
            <a:ext cx="7680960" cy="274320"/>
          </a:xfrm>
          <a:prstGeom prst="rect">
            <a:avLst/>
          </a:prstGeom>
          <a:solidFill>
            <a:srgbClr val="2B5B80"/>
          </a:solidFill>
          <a:ln w="12700">
            <a:solidFill>
              <a:srgbClr val="2B5B80"/>
            </a:solidFill>
            <a:prstDash val="solid"/>
          </a:ln>
        </p:spPr>
      </p:sp>
      <p:sp>
        <p:nvSpPr>
          <p:cNvPr id="72" name="Text 69"/>
          <p:cNvSpPr txBox="1"/>
          <p:nvPr/>
        </p:nvSpPr>
        <p:spPr>
          <a:xfrm>
            <a:off x="548640" y="4005072"/>
            <a:ext cx="7498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Impact beyond the P&amp;L</a:t>
            </a:r>
            <a:endParaRPr lang="en-US" sz="1100" dirty="0"/>
          </a:p>
        </p:txBody>
      </p:sp>
      <p:sp>
        <p:nvSpPr>
          <p:cNvPr id="73" name="Shape 70"/>
          <p:cNvSpPr/>
          <p:nvPr/>
        </p:nvSpPr>
        <p:spPr>
          <a:xfrm>
            <a:off x="457200" y="4334256"/>
            <a:ext cx="1234440" cy="1554480"/>
          </a:xfrm>
          <a:prstGeom prst="roundRect">
            <a:avLst>
              <a:gd name="adj" fmla="val 4444"/>
            </a:avLst>
          </a:prstGeom>
          <a:solidFill>
            <a:srgbClr val="F1F4F7"/>
          </a:solidFill>
          <a:ln w="12700">
            <a:solidFill>
              <a:srgbClr val="F1F4F7"/>
            </a:solidFill>
            <a:prstDash val="solid"/>
          </a:ln>
        </p:spPr>
      </p:sp>
      <p:sp>
        <p:nvSpPr>
          <p:cNvPr id="74" name="Shape 71"/>
          <p:cNvSpPr/>
          <p:nvPr/>
        </p:nvSpPr>
        <p:spPr>
          <a:xfrm>
            <a:off x="850392" y="4425696"/>
            <a:ext cx="457200" cy="457200"/>
          </a:xfrm>
          <a:prstGeom prst="ellipse">
            <a:avLst/>
          </a:prstGeom>
          <a:solidFill>
            <a:srgbClr val="0086C3"/>
          </a:solidFill>
          <a:ln w="12700">
            <a:solidFill>
              <a:srgbClr val="0086C3"/>
            </a:solidFill>
            <a:prstDash val="solid"/>
          </a:ln>
        </p:spPr>
      </p:sp>
      <p:pic>
        <p:nvPicPr>
          <p:cNvPr id="75" name="Image 0" descr="img/icons/scan-line-white.png">    </p:cNvPr>
          <p:cNvPicPr>
            <a:picLocks noChangeAspect="1"/>
          </p:cNvPicPr>
          <p:nvPr/>
        </p:nvPicPr>
        <p:blipFill>
          <a:blip r:embed="rId1"/>
          <a:stretch>
            <a:fillRect/>
          </a:stretch>
        </p:blipFill>
        <p:spPr>
          <a:xfrm>
            <a:off x="950976" y="4526280"/>
            <a:ext cx="256032" cy="256032"/>
          </a:xfrm>
          <a:prstGeom prst="rect">
            <a:avLst/>
          </a:prstGeom>
        </p:spPr>
      </p:pic>
      <p:sp>
        <p:nvSpPr>
          <p:cNvPr id="76" name="Text 72"/>
          <p:cNvSpPr txBox="1"/>
          <p:nvPr/>
        </p:nvSpPr>
        <p:spPr>
          <a:xfrm>
            <a:off x="50292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Coverage</a:t>
            </a:r>
            <a:endParaRPr lang="en-US" sz="1050" dirty="0"/>
          </a:p>
        </p:txBody>
      </p:sp>
      <p:sp>
        <p:nvSpPr>
          <p:cNvPr id="77" name="Text 73"/>
          <p:cNvSpPr txBox="1"/>
          <p:nvPr/>
        </p:nvSpPr>
        <p:spPr>
          <a:xfrm>
            <a:off x="521208"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100% of both faces, every coil</a:t>
            </a:r>
            <a:endParaRPr lang="en-US" sz="900" dirty="0"/>
          </a:p>
        </p:txBody>
      </p:sp>
      <p:sp>
        <p:nvSpPr>
          <p:cNvPr id="78" name="Text 74"/>
          <p:cNvSpPr txBox="1"/>
          <p:nvPr/>
        </p:nvSpPr>
        <p:spPr>
          <a:xfrm>
            <a:off x="493776"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today: spot checks</a:t>
            </a:r>
            <a:endParaRPr lang="en-US" sz="900" dirty="0"/>
          </a:p>
        </p:txBody>
      </p:sp>
      <p:sp>
        <p:nvSpPr>
          <p:cNvPr id="79" name="Shape 75"/>
          <p:cNvSpPr/>
          <p:nvPr/>
        </p:nvSpPr>
        <p:spPr>
          <a:xfrm>
            <a:off x="1751076" y="4334256"/>
            <a:ext cx="1234440" cy="1554480"/>
          </a:xfrm>
          <a:prstGeom prst="roundRect">
            <a:avLst>
              <a:gd name="adj" fmla="val 4444"/>
            </a:avLst>
          </a:prstGeom>
          <a:solidFill>
            <a:srgbClr val="F1F4F7"/>
          </a:solidFill>
          <a:ln w="12700">
            <a:solidFill>
              <a:srgbClr val="F1F4F7"/>
            </a:solidFill>
            <a:prstDash val="solid"/>
          </a:ln>
        </p:spPr>
      </p:sp>
      <p:sp>
        <p:nvSpPr>
          <p:cNvPr id="80" name="Shape 76"/>
          <p:cNvSpPr/>
          <p:nvPr/>
        </p:nvSpPr>
        <p:spPr>
          <a:xfrm>
            <a:off x="2144268" y="4425696"/>
            <a:ext cx="457200" cy="457200"/>
          </a:xfrm>
          <a:prstGeom prst="ellipse">
            <a:avLst/>
          </a:prstGeom>
          <a:solidFill>
            <a:srgbClr val="0086C3"/>
          </a:solidFill>
          <a:ln w="12700">
            <a:solidFill>
              <a:srgbClr val="0086C3"/>
            </a:solidFill>
            <a:prstDash val="solid"/>
          </a:ln>
        </p:spPr>
      </p:sp>
      <p:pic>
        <p:nvPicPr>
          <p:cNvPr id="81" name="Image 1" descr="img/icons/users-white.png">    </p:cNvPr>
          <p:cNvPicPr>
            <a:picLocks noChangeAspect="1"/>
          </p:cNvPicPr>
          <p:nvPr/>
        </p:nvPicPr>
        <p:blipFill>
          <a:blip r:embed="rId2"/>
          <a:stretch>
            <a:fillRect/>
          </a:stretch>
        </p:blipFill>
        <p:spPr>
          <a:xfrm>
            <a:off x="2244852" y="4526280"/>
            <a:ext cx="256032" cy="256032"/>
          </a:xfrm>
          <a:prstGeom prst="rect">
            <a:avLst/>
          </a:prstGeom>
        </p:spPr>
      </p:pic>
      <p:sp>
        <p:nvSpPr>
          <p:cNvPr id="82" name="Text 77"/>
          <p:cNvSpPr txBox="1"/>
          <p:nvPr/>
        </p:nvSpPr>
        <p:spPr>
          <a:xfrm>
            <a:off x="1796796"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Customers</a:t>
            </a:r>
            <a:endParaRPr lang="en-US" sz="1050" dirty="0"/>
          </a:p>
        </p:txBody>
      </p:sp>
      <p:sp>
        <p:nvSpPr>
          <p:cNvPr id="83" name="Text 78"/>
          <p:cNvSpPr txBox="1"/>
          <p:nvPr/>
        </p:nvSpPr>
        <p:spPr>
          <a:xfrm>
            <a:off x="1815084"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 map per coil for rail, metro, auto buyers</a:t>
            </a:r>
            <a:endParaRPr lang="en-US" sz="900" dirty="0"/>
          </a:p>
        </p:txBody>
      </p:sp>
      <p:sp>
        <p:nvSpPr>
          <p:cNvPr id="84" name="Text 79"/>
          <p:cNvSpPr txBox="1"/>
          <p:nvPr/>
        </p:nvSpPr>
        <p:spPr>
          <a:xfrm>
            <a:off x="1787652"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Vande Bharat supplier</a:t>
            </a:r>
            <a:endParaRPr lang="en-US" sz="900" dirty="0"/>
          </a:p>
        </p:txBody>
      </p:sp>
      <p:sp>
        <p:nvSpPr>
          <p:cNvPr id="85" name="Shape 80"/>
          <p:cNvSpPr/>
          <p:nvPr/>
        </p:nvSpPr>
        <p:spPr>
          <a:xfrm>
            <a:off x="3044952" y="4334256"/>
            <a:ext cx="1234440" cy="1554480"/>
          </a:xfrm>
          <a:prstGeom prst="roundRect">
            <a:avLst>
              <a:gd name="adj" fmla="val 4444"/>
            </a:avLst>
          </a:prstGeom>
          <a:solidFill>
            <a:srgbClr val="F1F4F7"/>
          </a:solidFill>
          <a:ln w="12700">
            <a:solidFill>
              <a:srgbClr val="F1F4F7"/>
            </a:solidFill>
            <a:prstDash val="solid"/>
          </a:ln>
        </p:spPr>
      </p:sp>
      <p:sp>
        <p:nvSpPr>
          <p:cNvPr id="86" name="Shape 81"/>
          <p:cNvSpPr/>
          <p:nvPr/>
        </p:nvSpPr>
        <p:spPr>
          <a:xfrm>
            <a:off x="3438144" y="4425696"/>
            <a:ext cx="457200" cy="457200"/>
          </a:xfrm>
          <a:prstGeom prst="ellipse">
            <a:avLst/>
          </a:prstGeom>
          <a:solidFill>
            <a:srgbClr val="0086C3"/>
          </a:solidFill>
          <a:ln w="12700">
            <a:solidFill>
              <a:srgbClr val="0086C3"/>
            </a:solidFill>
            <a:prstDash val="solid"/>
          </a:ln>
        </p:spPr>
      </p:sp>
      <p:pic>
        <p:nvPicPr>
          <p:cNvPr id="87" name="Image 2" descr="img/icons/wrench-white.png">    </p:cNvPr>
          <p:cNvPicPr>
            <a:picLocks noChangeAspect="1"/>
          </p:cNvPicPr>
          <p:nvPr/>
        </p:nvPicPr>
        <p:blipFill>
          <a:blip r:embed="rId3"/>
          <a:stretch>
            <a:fillRect/>
          </a:stretch>
        </p:blipFill>
        <p:spPr>
          <a:xfrm>
            <a:off x="3538728" y="4526280"/>
            <a:ext cx="256032" cy="256032"/>
          </a:xfrm>
          <a:prstGeom prst="rect">
            <a:avLst/>
          </a:prstGeom>
        </p:spPr>
      </p:pic>
      <p:sp>
        <p:nvSpPr>
          <p:cNvPr id="88" name="Text 82"/>
          <p:cNvSpPr txBox="1"/>
          <p:nvPr/>
        </p:nvSpPr>
        <p:spPr>
          <a:xfrm>
            <a:off x="3090672"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Process</a:t>
            </a:r>
            <a:endParaRPr lang="en-US" sz="1050" dirty="0"/>
          </a:p>
        </p:txBody>
      </p:sp>
      <p:sp>
        <p:nvSpPr>
          <p:cNvPr id="89" name="Text 83"/>
          <p:cNvSpPr txBox="1"/>
          <p:nvPr/>
        </p:nvSpPr>
        <p:spPr>
          <a:xfrm>
            <a:off x="3108960"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Defects tied to heat and coil IDs</a:t>
            </a:r>
            <a:endParaRPr lang="en-US" sz="900" dirty="0"/>
          </a:p>
        </p:txBody>
      </p:sp>
      <p:sp>
        <p:nvSpPr>
          <p:cNvPr id="90" name="Text 84"/>
          <p:cNvSpPr txBox="1"/>
          <p:nvPr/>
        </p:nvSpPr>
        <p:spPr>
          <a:xfrm>
            <a:off x="3081528"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6 families, each owned</a:t>
            </a:r>
            <a:endParaRPr lang="en-US" sz="900" dirty="0"/>
          </a:p>
        </p:txBody>
      </p:sp>
      <p:sp>
        <p:nvSpPr>
          <p:cNvPr id="91" name="Shape 85"/>
          <p:cNvSpPr/>
          <p:nvPr/>
        </p:nvSpPr>
        <p:spPr>
          <a:xfrm>
            <a:off x="4338828" y="4334256"/>
            <a:ext cx="1234440" cy="1554480"/>
          </a:xfrm>
          <a:prstGeom prst="roundRect">
            <a:avLst>
              <a:gd name="adj" fmla="val 4444"/>
            </a:avLst>
          </a:prstGeom>
          <a:solidFill>
            <a:srgbClr val="F1F4F7"/>
          </a:solidFill>
          <a:ln w="12700">
            <a:solidFill>
              <a:srgbClr val="F1F4F7"/>
            </a:solidFill>
            <a:prstDash val="solid"/>
          </a:ln>
        </p:spPr>
      </p:sp>
      <p:sp>
        <p:nvSpPr>
          <p:cNvPr id="92" name="Shape 86"/>
          <p:cNvSpPr/>
          <p:nvPr/>
        </p:nvSpPr>
        <p:spPr>
          <a:xfrm>
            <a:off x="4732020" y="4425696"/>
            <a:ext cx="457200" cy="457200"/>
          </a:xfrm>
          <a:prstGeom prst="ellipse">
            <a:avLst/>
          </a:prstGeom>
          <a:solidFill>
            <a:srgbClr val="0086C3"/>
          </a:solidFill>
          <a:ln w="12700">
            <a:solidFill>
              <a:srgbClr val="0086C3"/>
            </a:solidFill>
            <a:prstDash val="solid"/>
          </a:ln>
        </p:spPr>
      </p:sp>
      <p:pic>
        <p:nvPicPr>
          <p:cNvPr id="93" name="Image 3" descr="img/icons/hard-hat-white.png">    </p:cNvPr>
          <p:cNvPicPr>
            <a:picLocks noChangeAspect="1"/>
          </p:cNvPicPr>
          <p:nvPr/>
        </p:nvPicPr>
        <p:blipFill>
          <a:blip r:embed="rId4"/>
          <a:stretch>
            <a:fillRect/>
          </a:stretch>
        </p:blipFill>
        <p:spPr>
          <a:xfrm>
            <a:off x="4832604" y="4526280"/>
            <a:ext cx="256032" cy="256032"/>
          </a:xfrm>
          <a:prstGeom prst="rect">
            <a:avLst/>
          </a:prstGeom>
        </p:spPr>
      </p:pic>
      <p:sp>
        <p:nvSpPr>
          <p:cNvPr id="94" name="Text 87"/>
          <p:cNvSpPr txBox="1"/>
          <p:nvPr/>
        </p:nvSpPr>
        <p:spPr>
          <a:xfrm>
            <a:off x="4384548"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Safety</a:t>
            </a:r>
            <a:endParaRPr lang="en-US" sz="1050" dirty="0"/>
          </a:p>
        </p:txBody>
      </p:sp>
      <p:sp>
        <p:nvSpPr>
          <p:cNvPr id="95" name="Text 88"/>
          <p:cNvSpPr txBox="1"/>
          <p:nvPr/>
        </p:nvSpPr>
        <p:spPr>
          <a:xfrm>
            <a:off x="4402836"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Severe-defect holds prevent strip breaks</a:t>
            </a:r>
            <a:endParaRPr lang="en-US" sz="900" dirty="0"/>
          </a:p>
        </p:txBody>
      </p:sp>
      <p:sp>
        <p:nvSpPr>
          <p:cNvPr id="96" name="Text 89"/>
          <p:cNvSpPr txBox="1"/>
          <p:nvPr/>
        </p:nvSpPr>
        <p:spPr>
          <a:xfrm>
            <a:off x="4375404"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Ternium's business case</a:t>
            </a:r>
            <a:endParaRPr lang="en-US" sz="900" dirty="0"/>
          </a:p>
        </p:txBody>
      </p:sp>
      <p:sp>
        <p:nvSpPr>
          <p:cNvPr id="97" name="Shape 90"/>
          <p:cNvSpPr/>
          <p:nvPr/>
        </p:nvSpPr>
        <p:spPr>
          <a:xfrm>
            <a:off x="5632704" y="4334256"/>
            <a:ext cx="1234440" cy="1554480"/>
          </a:xfrm>
          <a:prstGeom prst="roundRect">
            <a:avLst>
              <a:gd name="adj" fmla="val 4444"/>
            </a:avLst>
          </a:prstGeom>
          <a:solidFill>
            <a:srgbClr val="F1F4F7"/>
          </a:solidFill>
          <a:ln w="12700">
            <a:solidFill>
              <a:srgbClr val="F1F4F7"/>
            </a:solidFill>
            <a:prstDash val="solid"/>
          </a:ln>
        </p:spPr>
      </p:sp>
      <p:sp>
        <p:nvSpPr>
          <p:cNvPr id="98" name="Shape 91"/>
          <p:cNvSpPr/>
          <p:nvPr/>
        </p:nvSpPr>
        <p:spPr>
          <a:xfrm>
            <a:off x="6025896" y="4425696"/>
            <a:ext cx="457200" cy="457200"/>
          </a:xfrm>
          <a:prstGeom prst="ellipse">
            <a:avLst/>
          </a:prstGeom>
          <a:solidFill>
            <a:srgbClr val="0086C3"/>
          </a:solidFill>
          <a:ln w="12700">
            <a:solidFill>
              <a:srgbClr val="0086C3"/>
            </a:solidFill>
            <a:prstDash val="solid"/>
          </a:ln>
        </p:spPr>
      </p:sp>
      <p:pic>
        <p:nvPicPr>
          <p:cNvPr id="99" name="Image 4" descr="img/icons/leaf-white.png">    </p:cNvPr>
          <p:cNvPicPr>
            <a:picLocks noChangeAspect="1"/>
          </p:cNvPicPr>
          <p:nvPr/>
        </p:nvPicPr>
        <p:blipFill>
          <a:blip r:embed="rId5"/>
          <a:stretch>
            <a:fillRect/>
          </a:stretch>
        </p:blipFill>
        <p:spPr>
          <a:xfrm>
            <a:off x="6126480" y="4526280"/>
            <a:ext cx="256032" cy="256032"/>
          </a:xfrm>
          <a:prstGeom prst="rect">
            <a:avLst/>
          </a:prstGeom>
        </p:spPr>
      </p:pic>
      <p:sp>
        <p:nvSpPr>
          <p:cNvPr id="100" name="Text 92"/>
          <p:cNvSpPr txBox="1"/>
          <p:nvPr/>
        </p:nvSpPr>
        <p:spPr>
          <a:xfrm>
            <a:off x="5678424"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Sustainability</a:t>
            </a:r>
            <a:endParaRPr lang="en-US" sz="1050" dirty="0"/>
          </a:p>
        </p:txBody>
      </p:sp>
      <p:sp>
        <p:nvSpPr>
          <p:cNvPr id="101" name="Text 93"/>
          <p:cNvSpPr txBox="1"/>
          <p:nvPr/>
        </p:nvSpPr>
        <p:spPr>
          <a:xfrm>
            <a:off x="5696712"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Less rework and remelt; backs net zero</a:t>
            </a:r>
            <a:endParaRPr lang="en-US" sz="900" dirty="0"/>
          </a:p>
        </p:txBody>
      </p:sp>
      <p:sp>
        <p:nvSpPr>
          <p:cNvPr id="102" name="Text 94"/>
          <p:cNvSpPr txBox="1"/>
          <p:nvPr/>
        </p:nvSpPr>
        <p:spPr>
          <a:xfrm>
            <a:off x="5669280"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JSL: 1.76 tCO2e/t, FY26</a:t>
            </a:r>
            <a:endParaRPr lang="en-US" sz="900" dirty="0"/>
          </a:p>
        </p:txBody>
      </p:sp>
      <p:sp>
        <p:nvSpPr>
          <p:cNvPr id="103" name="Shape 95"/>
          <p:cNvSpPr/>
          <p:nvPr/>
        </p:nvSpPr>
        <p:spPr>
          <a:xfrm>
            <a:off x="6926580" y="4334256"/>
            <a:ext cx="1234440" cy="1554480"/>
          </a:xfrm>
          <a:prstGeom prst="roundRect">
            <a:avLst>
              <a:gd name="adj" fmla="val 4444"/>
            </a:avLst>
          </a:prstGeom>
          <a:solidFill>
            <a:srgbClr val="F1F4F7"/>
          </a:solidFill>
          <a:ln w="12700">
            <a:solidFill>
              <a:srgbClr val="F1F4F7"/>
            </a:solidFill>
            <a:prstDash val="solid"/>
          </a:ln>
        </p:spPr>
      </p:sp>
      <p:sp>
        <p:nvSpPr>
          <p:cNvPr id="104" name="Shape 96"/>
          <p:cNvSpPr/>
          <p:nvPr/>
        </p:nvSpPr>
        <p:spPr>
          <a:xfrm>
            <a:off x="7319772" y="4425696"/>
            <a:ext cx="457200" cy="457200"/>
          </a:xfrm>
          <a:prstGeom prst="ellipse">
            <a:avLst/>
          </a:prstGeom>
          <a:solidFill>
            <a:srgbClr val="0086C3"/>
          </a:solidFill>
          <a:ln w="12700">
            <a:solidFill>
              <a:srgbClr val="0086C3"/>
            </a:solidFill>
            <a:prstDash val="solid"/>
          </a:ln>
        </p:spPr>
      </p:sp>
      <p:pic>
        <p:nvPicPr>
          <p:cNvPr id="105" name="Image 5" descr="img/icons/user-check-white.png">    </p:cNvPr>
          <p:cNvPicPr>
            <a:picLocks noChangeAspect="1"/>
          </p:cNvPicPr>
          <p:nvPr/>
        </p:nvPicPr>
        <p:blipFill>
          <a:blip r:embed="rId6"/>
          <a:stretch>
            <a:fillRect/>
          </a:stretch>
        </p:blipFill>
        <p:spPr>
          <a:xfrm>
            <a:off x="7420356" y="4526280"/>
            <a:ext cx="256032" cy="256032"/>
          </a:xfrm>
          <a:prstGeom prst="rect">
            <a:avLst/>
          </a:prstGeom>
        </p:spPr>
      </p:pic>
      <p:sp>
        <p:nvSpPr>
          <p:cNvPr id="106" name="Text 97"/>
          <p:cNvSpPr txBox="1"/>
          <p:nvPr/>
        </p:nvSpPr>
        <p:spPr>
          <a:xfrm>
            <a:off x="6972300" y="4937760"/>
            <a:ext cx="1143000" cy="219456"/>
          </a:xfrm>
          <a:prstGeom prst="rect">
            <a:avLst/>
          </a:prstGeom>
          <a:noFill/>
          <a:ln/>
        </p:spPr>
        <p:txBody>
          <a:bodyPr wrap="square" lIns="0" tIns="0" rIns="0" bIns="0" rtlCol="0" anchor="t"/>
          <a:lstStyle/>
          <a:p>
            <a:pPr algn="ctr" indent="0" marL="0">
              <a:buNone/>
            </a:pPr>
            <a:r>
              <a:rPr lang="en-US" sz="1050" b="1" dirty="0">
                <a:solidFill>
                  <a:srgbClr val="143A5A"/>
                </a:solidFill>
                <a:latin typeface="Calibri" pitchFamily="34" charset="0"/>
                <a:ea typeface="Calibri" pitchFamily="34" charset="-122"/>
                <a:cs typeface="Calibri" pitchFamily="34" charset="-120"/>
              </a:rPr>
              <a:t>People</a:t>
            </a:r>
            <a:endParaRPr lang="en-US" sz="1050" dirty="0"/>
          </a:p>
        </p:txBody>
      </p:sp>
      <p:sp>
        <p:nvSpPr>
          <p:cNvPr id="107" name="Text 98"/>
          <p:cNvSpPr txBox="1"/>
          <p:nvPr/>
        </p:nvSpPr>
        <p:spPr>
          <a:xfrm>
            <a:off x="6990588" y="5157216"/>
            <a:ext cx="1106424" cy="438912"/>
          </a:xfrm>
          <a:prstGeom prst="rect">
            <a:avLst/>
          </a:prstGeom>
          <a:noFill/>
          <a:ln/>
        </p:spPr>
        <p:txBody>
          <a:bodyPr wrap="square" lIns="0" tIns="0" rIns="0" bIns="0" rtlCol="0" anchor="t"/>
          <a:lstStyle/>
          <a:p>
            <a:pPr algn="ctr" indent="0" marL="0">
              <a:buNone/>
            </a:pPr>
            <a:r>
              <a:rPr lang="en-US" sz="900" dirty="0">
                <a:solidFill>
                  <a:srgbClr val="334150"/>
                </a:solidFill>
                <a:latin typeface="Calibri" pitchFamily="34" charset="0"/>
                <a:ea typeface="Calibri" pitchFamily="34" charset="-122"/>
                <a:cs typeface="Calibri" pitchFamily="34" charset="-120"/>
              </a:rPr>
              <a:t>Inspectors move to decisions</a:t>
            </a:r>
            <a:endParaRPr lang="en-US" sz="900" dirty="0"/>
          </a:p>
        </p:txBody>
      </p:sp>
      <p:sp>
        <p:nvSpPr>
          <p:cNvPr id="108" name="Text 99"/>
          <p:cNvSpPr txBox="1"/>
          <p:nvPr/>
        </p:nvSpPr>
        <p:spPr>
          <a:xfrm>
            <a:off x="6963156" y="5596128"/>
            <a:ext cx="1161288" cy="256032"/>
          </a:xfrm>
          <a:prstGeom prst="rect">
            <a:avLst/>
          </a:prstGeom>
          <a:noFill/>
          <a:ln/>
        </p:spPr>
        <p:txBody>
          <a:bodyPr wrap="square" lIns="0" tIns="0" rIns="0" bIns="0" rtlCol="0" anchor="ctr"/>
          <a:lstStyle/>
          <a:p>
            <a:pPr algn="ctr" indent="0" marL="0">
              <a:buNone/>
            </a:pPr>
            <a:r>
              <a:rPr lang="en-US" sz="900" b="1" dirty="0">
                <a:solidFill>
                  <a:srgbClr val="0086C3"/>
                </a:solidFill>
                <a:latin typeface="Calibri" pitchFamily="34" charset="0"/>
                <a:ea typeface="Calibri" pitchFamily="34" charset="-122"/>
                <a:cs typeface="Calibri" pitchFamily="34" charset="-120"/>
              </a:rPr>
              <a:t>HR AI: 95% self-served</a:t>
            </a:r>
            <a:endParaRPr lang="en-US" sz="900" dirty="0"/>
          </a:p>
        </p:txBody>
      </p:sp>
      <p:sp>
        <p:nvSpPr>
          <p:cNvPr id="109" name="Shape 100"/>
          <p:cNvSpPr/>
          <p:nvPr/>
        </p:nvSpPr>
        <p:spPr>
          <a:xfrm>
            <a:off x="8321040" y="4005072"/>
            <a:ext cx="3410712" cy="1883664"/>
          </a:xfrm>
          <a:prstGeom prst="roundRect">
            <a:avLst>
              <a:gd name="adj" fmla="val 2913"/>
            </a:avLst>
          </a:prstGeom>
          <a:solidFill>
            <a:srgbClr val="143A5A"/>
          </a:solidFill>
          <a:ln w="12700">
            <a:solidFill>
              <a:srgbClr val="143A5A"/>
            </a:solidFill>
            <a:prstDash val="solid"/>
          </a:ln>
        </p:spPr>
      </p:sp>
      <p:sp>
        <p:nvSpPr>
          <p:cNvPr id="110" name="Text 101"/>
          <p:cNvSpPr txBox="1"/>
          <p:nvPr/>
        </p:nvSpPr>
        <p:spPr>
          <a:xfrm>
            <a:off x="8458200" y="4078224"/>
            <a:ext cx="3200400" cy="237744"/>
          </a:xfrm>
          <a:prstGeom prst="rect">
            <a:avLst/>
          </a:prstGeom>
          <a:noFill/>
          <a:ln/>
        </p:spPr>
        <p:txBody>
          <a:bodyPr wrap="square" lIns="0" tIns="0" rIns="0" bIns="0" rtlCol="0" anchor="t"/>
          <a:lstStyle/>
          <a:p>
            <a:pPr indent="0" marL="0">
              <a:buNone/>
            </a:pPr>
            <a:r>
              <a:rPr lang="en-US" sz="1100" b="1" dirty="0">
                <a:solidFill>
                  <a:srgbClr val="BFD2E2"/>
                </a:solidFill>
                <a:latin typeface="Calibri" pitchFamily="34" charset="0"/>
                <a:ea typeface="Calibri" pitchFamily="34" charset="-122"/>
                <a:cs typeface="Calibri" pitchFamily="34" charset="-120"/>
              </a:rPr>
              <a:t>WHAT WE ASK OF JSL</a:t>
            </a:r>
            <a:endParaRPr lang="en-US" sz="1100" dirty="0"/>
          </a:p>
        </p:txBody>
      </p:sp>
      <p:sp>
        <p:nvSpPr>
          <p:cNvPr id="111" name="Text 102"/>
          <p:cNvSpPr txBox="1"/>
          <p:nvPr/>
        </p:nvSpPr>
        <p:spPr>
          <a:xfrm>
            <a:off x="8458200" y="4352544"/>
            <a:ext cx="3200400" cy="96012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One 300-series cold-rolled line, 7 months</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₹2.5-4.2 cr pilot budget</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Downgrade rate by line and grade</a:t>
            </a:r>
            <a:endParaRPr lang="en-US" sz="1000" dirty="0"/>
          </a:p>
          <a:p>
            <a:pPr marL="342900" indent="-342900">
              <a:spcAft>
                <a:spcPts val="200"/>
              </a:spcAft>
              <a:buSzPct val="100000"/>
              <a:buChar char="•"/>
            </a:pPr>
            <a:r>
              <a:rPr lang="en-US" sz="1000" dirty="0">
                <a:solidFill>
                  <a:srgbClr val="FFFFFF"/>
                </a:solidFill>
                <a:latin typeface="Calibri" pitchFamily="34" charset="0"/>
                <a:ea typeface="Calibri" pitchFamily="34" charset="-122"/>
                <a:cs typeface="Calibri" pitchFamily="34" charset="-120"/>
              </a:rPr>
              <a:t>A metallurgist at 20% for root causes</a:t>
            </a:r>
            <a:endParaRPr lang="en-US" sz="1000" dirty="0"/>
          </a:p>
        </p:txBody>
      </p:sp>
      <p:sp>
        <p:nvSpPr>
          <p:cNvPr id="112" name="Text 103"/>
          <p:cNvSpPr txBox="1"/>
          <p:nvPr/>
        </p:nvSpPr>
        <p:spPr>
          <a:xfrm>
            <a:off x="8458200" y="5340096"/>
            <a:ext cx="3200400" cy="475488"/>
          </a:xfrm>
          <a:prstGeom prst="rect">
            <a:avLst/>
          </a:prstGeom>
          <a:noFill/>
          <a:ln/>
        </p:spPr>
        <p:txBody>
          <a:bodyPr wrap="square" lIns="0" tIns="0" rIns="0" bIns="0" rtlCol="0" anchor="t"/>
          <a:lstStyle/>
          <a:p>
            <a:pPr indent="0" marL="0">
              <a:buNone/>
            </a:pPr>
            <a:r>
              <a:rPr lang="en-US" sz="950" b="1" dirty="0">
                <a:solidFill>
                  <a:srgbClr val="BFD2E2"/>
                </a:solidFill>
                <a:latin typeface="Calibri" pitchFamily="34" charset="0"/>
                <a:ea typeface="Calibri" pitchFamily="34" charset="-122"/>
                <a:cs typeface="Calibri" pitchFamily="34" charset="-120"/>
              </a:rPr>
              <a:t>In return: measured downgrade rate, payback and a go / no-go at month 7.</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Stainless Spark Round 2 - AI Surface Defect Detection</dc:title>
  <dc:subject>PptxGenJS Presentation</dc:subject>
  <dc:creator>PptxGenJS</dc:creator>
  <cp:lastModifiedBy>PptxGenJS</cp:lastModifiedBy>
  <cp:revision>1</cp:revision>
  <dcterms:created xsi:type="dcterms:W3CDTF">2026-09-27T12:12:28Z</dcterms:created>
  <dcterms:modified xsi:type="dcterms:W3CDTF">2026-09-27T12:12:28Z</dcterms:modified>
</cp:coreProperties>
</file>