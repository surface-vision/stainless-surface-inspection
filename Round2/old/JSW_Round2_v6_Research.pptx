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on real mill strip it catches 9 in 10 defects and wrongly flags fewer than 1 in 20 clean images,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model team, and the optics spec. The grade matrix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because it is trained on clean steel as well as defects, it flags only 14 of 300 clean mill images while catching 258 of 288 real defects. Two: a 12 MB model is enough; larger models and sharper images added no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accuracy is 0.57 against 0.75 on the lab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P0 plugs into Project Pragati, JSL's own digitalisation programme with Dassault Systemes and Capgemini, whose Phase 2 brings Level-2 process data at Jajpur; so each defect is tied to its heat and coil without a new integration project. Mirror-like BA and 2B finishes are handled the way stainless lines already do it: bright and dark-field light, with deflectometry for BA. The plant network is protected by IEC 62443 zones and the system runs offline, as Outokumpu's does. Every retrained model must beat the live one on a fixed JSL test set before it ships. Cost is INR 2.5-4.2 crore per line, against USD 1-3M for a commercial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Our discounts are conservative: non-prime coil typically trades 10-30% below prime. Downgrade rate and recovery share dominate the tornado; neither is public, so both are measured in P2-P3. Beyond the P&amp;L: JSL supplies stainless for Vande Bharat sleeper coaches, Vande Metro and several metros, and those buyers see the surface; a defect map per coil is a sales tool. Less rework and remelting supports JSL's target of halving emission intensity by 2035 and net zero by 2050; intensity was 1.76 tCO2e per tonne in FY26.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png"/><Relationship Id="rId21" Type="http://schemas.openxmlformats.org/officeDocument/2006/relationships/image" Target="../media/image-4-19.png"/><Relationship Id="rId22" Type="http://schemas.openxmlformats.org/officeDocument/2006/relationships/image" Target="../media/image-4-20.png"/><Relationship Id="rId23" Type="http://schemas.openxmlformats.org/officeDocument/2006/relationships/image" Target="../media/image-4-21.png"/><Relationship Id="rId24" Type="http://schemas.openxmlformats.org/officeDocument/2006/relationships/slideLayout" Target="../slideLayouts/slideLayout1.xml"/><Relationship Id="rId2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90%</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strip it had never seen</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4.7%</a:t>
            </a:r>
            <a:endParaRPr lang="en-US" sz="24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fewer than 1 in 20</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Prathmesh Walimbe  ·  Krishna Kanta Mondal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AMETEK/Ternium (2020); ASSDA; IISE; ASTM A240; LME nickel USD 16,402/t at INR 95.8/USD (22 Sep 2026); ISSDA (FY25); DGTR (29 Sep 2025); BIS Steel QCO 2024;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45920"/>
            <a:ext cx="2788920" cy="237744"/>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361188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0" name="Image 6" descr="img/icons/gauge-accent.png">    </p:cNvPr>
          <p:cNvPicPr>
            <a:picLocks noChangeAspect="1"/>
          </p:cNvPicPr>
          <p:nvPr/>
        </p:nvPicPr>
        <p:blipFill>
          <a:blip r:embed="rId7"/>
          <a:stretch>
            <a:fillRect/>
          </a:stretch>
        </p:blipFill>
        <p:spPr>
          <a:xfrm>
            <a:off x="530352" y="4370832"/>
            <a:ext cx="292608" cy="292608"/>
          </a:xfrm>
          <a:prstGeom prst="rect">
            <a:avLst/>
          </a:prstGeom>
        </p:spPr>
      </p:pic>
      <p:sp>
        <p:nvSpPr>
          <p:cNvPr id="71" name="Text 62"/>
          <p:cNvSpPr txBox="1"/>
          <p:nvPr/>
        </p:nvSpPr>
        <p:spPr>
          <a:xfrm>
            <a:off x="896112" y="4297680"/>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300 m/min</a:t>
            </a:r>
            <a:endParaRPr lang="en-US" sz="1200" dirty="0"/>
          </a:p>
        </p:txBody>
      </p:sp>
      <p:sp>
        <p:nvSpPr>
          <p:cNvPr id="72" name="Text 63"/>
          <p:cNvSpPr txBox="1"/>
          <p:nvPr/>
        </p:nvSpPr>
        <p:spPr>
          <a:xfrm>
            <a:off x="2176272" y="4297680"/>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too fast for the eye to see the whole surface</a:t>
            </a:r>
            <a:endParaRPr lang="en-US" sz="900" dirty="0"/>
          </a:p>
        </p:txBody>
      </p:sp>
      <p:pic>
        <p:nvPicPr>
          <p:cNvPr id="73" name="Image 7" descr="img/icons/coins-accent.png">    </p:cNvPr>
          <p:cNvPicPr>
            <a:picLocks noChangeAspect="1"/>
          </p:cNvPicPr>
          <p:nvPr/>
        </p:nvPicPr>
        <p:blipFill>
          <a:blip r:embed="rId8"/>
          <a:stretch>
            <a:fillRect/>
          </a:stretch>
        </p:blipFill>
        <p:spPr>
          <a:xfrm>
            <a:off x="530352" y="4901184"/>
            <a:ext cx="292608" cy="292608"/>
          </a:xfrm>
          <a:prstGeom prst="rect">
            <a:avLst/>
          </a:prstGeom>
        </p:spPr>
      </p:pic>
      <p:sp>
        <p:nvSpPr>
          <p:cNvPr id="74" name="Text 64"/>
          <p:cNvSpPr txBox="1"/>
          <p:nvPr/>
        </p:nvSpPr>
        <p:spPr>
          <a:xfrm>
            <a:off x="896112" y="4828032"/>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₹126k-165k</a:t>
            </a:r>
            <a:endParaRPr lang="en-US" sz="1200" dirty="0"/>
          </a:p>
        </p:txBody>
      </p:sp>
      <p:sp>
        <p:nvSpPr>
          <p:cNvPr id="75" name="Text 65"/>
          <p:cNvSpPr txBox="1"/>
          <p:nvPr/>
        </p:nvSpPr>
        <p:spPr>
          <a:xfrm>
            <a:off x="2176272" y="4828032"/>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00" dirty="0"/>
          </a:p>
        </p:txBody>
      </p:sp>
      <p:pic>
        <p:nvPicPr>
          <p:cNvPr id="76" name="Image 8" descr="img/icons/sparkles-accent.png">    </p:cNvPr>
          <p:cNvPicPr>
            <a:picLocks noChangeAspect="1"/>
          </p:cNvPicPr>
          <p:nvPr/>
        </p:nvPicPr>
        <p:blipFill>
          <a:blip r:embed="rId9"/>
          <a:stretch>
            <a:fillRect/>
          </a:stretch>
        </p:blipFill>
        <p:spPr>
          <a:xfrm>
            <a:off x="530352" y="5431536"/>
            <a:ext cx="292608" cy="292608"/>
          </a:xfrm>
          <a:prstGeom prst="rect">
            <a:avLst/>
          </a:prstGeom>
        </p:spPr>
      </p:pic>
      <p:sp>
        <p:nvSpPr>
          <p:cNvPr id="77" name="Text 66"/>
          <p:cNvSpPr txBox="1"/>
          <p:nvPr/>
        </p:nvSpPr>
        <p:spPr>
          <a:xfrm>
            <a:off x="896112" y="5358384"/>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No repair</a:t>
            </a:r>
            <a:endParaRPr lang="en-US" sz="1200" dirty="0"/>
          </a:p>
        </p:txBody>
      </p:sp>
      <p:sp>
        <p:nvSpPr>
          <p:cNvPr id="78" name="Text 67"/>
          <p:cNvSpPr txBox="1"/>
          <p:nvPr/>
        </p:nvSpPr>
        <p:spPr>
          <a:xfrm>
            <a:off x="2176272" y="5358384"/>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damage on 2B/BA mill finishes cannot be polished out</a:t>
            </a:r>
            <a:endParaRPr lang="en-US" sz="900" dirty="0"/>
          </a:p>
        </p:txBody>
      </p:sp>
      <p:sp>
        <p:nvSpPr>
          <p:cNvPr id="79" name="Shape 68"/>
          <p:cNvSpPr/>
          <p:nvPr/>
        </p:nvSpPr>
        <p:spPr>
          <a:xfrm>
            <a:off x="4206240" y="3931920"/>
            <a:ext cx="3886200" cy="274320"/>
          </a:xfrm>
          <a:prstGeom prst="rect">
            <a:avLst/>
          </a:prstGeom>
          <a:solidFill>
            <a:srgbClr val="2B5B80"/>
          </a:solidFill>
          <a:ln w="12700">
            <a:solidFill>
              <a:srgbClr val="2B5B80"/>
            </a:solidFill>
            <a:prstDash val="solid"/>
          </a:ln>
        </p:spPr>
      </p:sp>
      <p:sp>
        <p:nvSpPr>
          <p:cNvPr id="80" name="Text 69"/>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pic>
        <p:nvPicPr>
          <p:cNvPr id="81" name="Image 9" descr="img/icons/trending-up-accent.png">    </p:cNvPr>
          <p:cNvPicPr>
            <a:picLocks noChangeAspect="1"/>
          </p:cNvPicPr>
          <p:nvPr/>
        </p:nvPicPr>
        <p:blipFill>
          <a:blip r:embed="rId10"/>
          <a:stretch>
            <a:fillRect/>
          </a:stretch>
        </p:blipFill>
        <p:spPr>
          <a:xfrm>
            <a:off x="4279392" y="4325112"/>
            <a:ext cx="256032" cy="256032"/>
          </a:xfrm>
          <a:prstGeom prst="rect">
            <a:avLst/>
          </a:prstGeom>
        </p:spPr>
      </p:pic>
      <p:sp>
        <p:nvSpPr>
          <p:cNvPr id="82" name="Text 70"/>
          <p:cNvSpPr txBox="1"/>
          <p:nvPr/>
        </p:nvSpPr>
        <p:spPr>
          <a:xfrm>
            <a:off x="4608576" y="4261104"/>
            <a:ext cx="1097280" cy="384048"/>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4.8 → 6.8 Mt</a:t>
            </a:r>
            <a:endParaRPr lang="en-US" sz="1100" dirty="0"/>
          </a:p>
        </p:txBody>
      </p:sp>
      <p:sp>
        <p:nvSpPr>
          <p:cNvPr id="83" name="Text 71"/>
          <p:cNvSpPr txBox="1"/>
          <p:nvPr/>
        </p:nvSpPr>
        <p:spPr>
          <a:xfrm>
            <a:off x="5705856" y="4261104"/>
            <a:ext cx="2359152"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India stainless demand, FY25 to FY30; rail and metro coaches are stainless</a:t>
            </a:r>
            <a:endParaRPr lang="en-US" sz="900" dirty="0"/>
          </a:p>
        </p:txBody>
      </p:sp>
      <p:pic>
        <p:nvPicPr>
          <p:cNvPr id="84" name="Image 10" descr="img/icons/ship-accent.png">    </p:cNvPr>
          <p:cNvPicPr>
            <a:picLocks noChangeAspect="1"/>
          </p:cNvPicPr>
          <p:nvPr/>
        </p:nvPicPr>
        <p:blipFill>
          <a:blip r:embed="rId11"/>
          <a:stretch>
            <a:fillRect/>
          </a:stretch>
        </p:blipFill>
        <p:spPr>
          <a:xfrm>
            <a:off x="4279392" y="4727448"/>
            <a:ext cx="256032" cy="256032"/>
          </a:xfrm>
          <a:prstGeom prst="rect">
            <a:avLst/>
          </a:prstGeom>
        </p:spPr>
      </p:pic>
      <p:sp>
        <p:nvSpPr>
          <p:cNvPr id="85" name="Text 72"/>
          <p:cNvSpPr txBox="1"/>
          <p:nvPr/>
        </p:nvSpPr>
        <p:spPr>
          <a:xfrm>
            <a:off x="4608576" y="4663440"/>
            <a:ext cx="1097280" cy="384048"/>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1.73 Mt</a:t>
            </a:r>
            <a:endParaRPr lang="en-US" sz="1100" dirty="0"/>
          </a:p>
        </p:txBody>
      </p:sp>
      <p:sp>
        <p:nvSpPr>
          <p:cNvPr id="86" name="Text 73"/>
          <p:cNvSpPr txBox="1"/>
          <p:nvPr/>
        </p:nvSpPr>
        <p:spPr>
          <a:xfrm>
            <a:off x="5705856" y="4663440"/>
            <a:ext cx="2359152"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imports in FY25; anti-dumping probe on cold-rolled 300/400 series, Sep 2025</a:t>
            </a:r>
            <a:endParaRPr lang="en-US" sz="900" dirty="0"/>
          </a:p>
        </p:txBody>
      </p:sp>
      <p:pic>
        <p:nvPicPr>
          <p:cNvPr id="87" name="Image 11" descr="img/icons/badge-check-accent.png">    </p:cNvPr>
          <p:cNvPicPr>
            <a:picLocks noChangeAspect="1"/>
          </p:cNvPicPr>
          <p:nvPr/>
        </p:nvPicPr>
        <p:blipFill>
          <a:blip r:embed="rId12"/>
          <a:stretch>
            <a:fillRect/>
          </a:stretch>
        </p:blipFill>
        <p:spPr>
          <a:xfrm>
            <a:off x="4279392" y="5129784"/>
            <a:ext cx="256032" cy="256032"/>
          </a:xfrm>
          <a:prstGeom prst="rect">
            <a:avLst/>
          </a:prstGeom>
        </p:spPr>
      </p:pic>
      <p:sp>
        <p:nvSpPr>
          <p:cNvPr id="88" name="Text 74"/>
          <p:cNvSpPr txBox="1"/>
          <p:nvPr/>
        </p:nvSpPr>
        <p:spPr>
          <a:xfrm>
            <a:off x="4608576" y="5065776"/>
            <a:ext cx="1097280" cy="384048"/>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IS 6911</a:t>
            </a:r>
            <a:endParaRPr lang="en-US" sz="1100" dirty="0"/>
          </a:p>
        </p:txBody>
      </p:sp>
      <p:sp>
        <p:nvSpPr>
          <p:cNvPr id="89" name="Text 75"/>
          <p:cNvSpPr txBox="1"/>
          <p:nvPr/>
        </p:nvSpPr>
        <p:spPr>
          <a:xfrm>
            <a:off x="5705856" y="5065776"/>
            <a:ext cx="2359152"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BIS certification mandatory for stainless sheet and strip since Aug 2024</a:t>
            </a:r>
            <a:endParaRPr lang="en-US" sz="900" dirty="0"/>
          </a:p>
        </p:txBody>
      </p:sp>
      <p:pic>
        <p:nvPicPr>
          <p:cNvPr id="90" name="Image 12" descr="img/icons/factory-accent.png">    </p:cNvPr>
          <p:cNvPicPr>
            <a:picLocks noChangeAspect="1"/>
          </p:cNvPicPr>
          <p:nvPr/>
        </p:nvPicPr>
        <p:blipFill>
          <a:blip r:embed="rId13"/>
          <a:stretch>
            <a:fillRect/>
          </a:stretch>
        </p:blipFill>
        <p:spPr>
          <a:xfrm>
            <a:off x="4279392" y="5532120"/>
            <a:ext cx="256032" cy="256032"/>
          </a:xfrm>
          <a:prstGeom prst="rect">
            <a:avLst/>
          </a:prstGeom>
        </p:spPr>
      </p:pic>
      <p:sp>
        <p:nvSpPr>
          <p:cNvPr id="91" name="Text 76"/>
          <p:cNvSpPr txBox="1"/>
          <p:nvPr/>
        </p:nvSpPr>
        <p:spPr>
          <a:xfrm>
            <a:off x="4608576" y="5468112"/>
            <a:ext cx="1097280" cy="384048"/>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2.67 MTPA</a:t>
            </a:r>
            <a:endParaRPr lang="en-US" sz="1100" dirty="0"/>
          </a:p>
        </p:txBody>
      </p:sp>
      <p:sp>
        <p:nvSpPr>
          <p:cNvPr id="92" name="Text 77"/>
          <p:cNvSpPr txBox="1"/>
          <p:nvPr/>
        </p:nvSpPr>
        <p:spPr>
          <a:xfrm>
            <a:off x="5705856" y="5468112"/>
            <a:ext cx="2359152"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JSL cold rolling by FY28, up from 2.05: more surface-critical tonnes</a:t>
            </a:r>
            <a:endParaRPr lang="en-US" sz="900" dirty="0"/>
          </a:p>
        </p:txBody>
      </p:sp>
      <p:sp>
        <p:nvSpPr>
          <p:cNvPr id="93" name="Shape 78"/>
          <p:cNvSpPr/>
          <p:nvPr/>
        </p:nvSpPr>
        <p:spPr>
          <a:xfrm>
            <a:off x="8229600" y="3931920"/>
            <a:ext cx="3502152" cy="274320"/>
          </a:xfrm>
          <a:prstGeom prst="rect">
            <a:avLst/>
          </a:prstGeom>
          <a:solidFill>
            <a:srgbClr val="2B5B80"/>
          </a:solidFill>
          <a:ln w="12700">
            <a:solidFill>
              <a:srgbClr val="2B5B80"/>
            </a:solidFill>
            <a:prstDash val="solid"/>
          </a:ln>
        </p:spPr>
      </p:sp>
      <p:sp>
        <p:nvSpPr>
          <p:cNvPr id="94" name="Text 79"/>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5" name="Text 80"/>
          <p:cNvSpPr/>
          <p:nvPr/>
        </p:nvSpPr>
        <p:spPr>
          <a:xfrm>
            <a:off x="8275320" y="4261104"/>
            <a:ext cx="3410712" cy="274320"/>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96" name="Shape 81"/>
          <p:cNvSpPr/>
          <p:nvPr/>
        </p:nvSpPr>
        <p:spPr>
          <a:xfrm>
            <a:off x="8275320" y="4599432"/>
            <a:ext cx="1682496" cy="502920"/>
          </a:xfrm>
          <a:prstGeom prst="roundRect">
            <a:avLst>
              <a:gd name="adj" fmla="val 10909"/>
            </a:avLst>
          </a:prstGeom>
          <a:solidFill>
            <a:srgbClr val="E4EEF6"/>
          </a:solidFill>
          <a:ln w="12700">
            <a:solidFill>
              <a:srgbClr val="E4EEF6"/>
            </a:solidFill>
            <a:prstDash val="solid"/>
          </a:ln>
        </p:spPr>
      </p:sp>
      <p:sp>
        <p:nvSpPr>
          <p:cNvPr id="97" name="Text 82"/>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Prevention</a:t>
            </a:r>
            <a:endParaRPr lang="en-US" sz="950" dirty="0"/>
          </a:p>
        </p:txBody>
      </p:sp>
      <p:sp>
        <p:nvSpPr>
          <p:cNvPr id="98" name="Text 83"/>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sent to its owner in minutes</a:t>
            </a:r>
            <a:endParaRPr lang="en-US" sz="900" dirty="0"/>
          </a:p>
        </p:txBody>
      </p:sp>
      <p:sp>
        <p:nvSpPr>
          <p:cNvPr id="99" name="Shape 84"/>
          <p:cNvSpPr/>
          <p:nvPr/>
        </p:nvSpPr>
        <p:spPr>
          <a:xfrm>
            <a:off x="10003536" y="4599432"/>
            <a:ext cx="1682496" cy="502920"/>
          </a:xfrm>
          <a:prstGeom prst="roundRect">
            <a:avLst>
              <a:gd name="adj" fmla="val 10909"/>
            </a:avLst>
          </a:prstGeom>
          <a:solidFill>
            <a:srgbClr val="F1F4F7"/>
          </a:solidFill>
          <a:ln w="12700">
            <a:solidFill>
              <a:srgbClr val="F1F4F7"/>
            </a:solidFill>
            <a:prstDash val="solid"/>
          </a:ln>
        </p:spPr>
      </p:sp>
      <p:sp>
        <p:nvSpPr>
          <p:cNvPr id="100" name="Text 85"/>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Internal failure</a:t>
            </a:r>
            <a:endParaRPr lang="en-US" sz="950" dirty="0"/>
          </a:p>
        </p:txBody>
      </p:sp>
      <p:sp>
        <p:nvSpPr>
          <p:cNvPr id="101" name="Text 86"/>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caught before more value is added</a:t>
            </a:r>
            <a:endParaRPr lang="en-US" sz="900" dirty="0"/>
          </a:p>
        </p:txBody>
      </p:sp>
      <p:sp>
        <p:nvSpPr>
          <p:cNvPr id="102" name="Shape 87"/>
          <p:cNvSpPr/>
          <p:nvPr/>
        </p:nvSpPr>
        <p:spPr>
          <a:xfrm>
            <a:off x="8275320" y="5148072"/>
            <a:ext cx="1682496" cy="502920"/>
          </a:xfrm>
          <a:prstGeom prst="roundRect">
            <a:avLst>
              <a:gd name="adj" fmla="val 10909"/>
            </a:avLst>
          </a:prstGeom>
          <a:solidFill>
            <a:srgbClr val="E4EEF6"/>
          </a:solidFill>
          <a:ln w="12700">
            <a:solidFill>
              <a:srgbClr val="E4EEF6"/>
            </a:solidFill>
            <a:prstDash val="solid"/>
          </a:ln>
        </p:spPr>
      </p:sp>
      <p:sp>
        <p:nvSpPr>
          <p:cNvPr id="103" name="Text 88"/>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Appraisal</a:t>
            </a:r>
            <a:endParaRPr lang="en-US" sz="950" dirty="0"/>
          </a:p>
        </p:txBody>
      </p:sp>
      <p:sp>
        <p:nvSpPr>
          <p:cNvPr id="104" name="Text 89"/>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the surface, every coil</a:t>
            </a:r>
            <a:endParaRPr lang="en-US" sz="900" dirty="0"/>
          </a:p>
        </p:txBody>
      </p:sp>
      <p:sp>
        <p:nvSpPr>
          <p:cNvPr id="105" name="Shape 90"/>
          <p:cNvSpPr/>
          <p:nvPr/>
        </p:nvSpPr>
        <p:spPr>
          <a:xfrm>
            <a:off x="10003536" y="5148072"/>
            <a:ext cx="1682496" cy="502920"/>
          </a:xfrm>
          <a:prstGeom prst="roundRect">
            <a:avLst>
              <a:gd name="adj" fmla="val 10909"/>
            </a:avLst>
          </a:prstGeom>
          <a:solidFill>
            <a:srgbClr val="F1F4F7"/>
          </a:solidFill>
          <a:ln w="12700">
            <a:solidFill>
              <a:srgbClr val="F1F4F7"/>
            </a:solidFill>
            <a:prstDash val="solid"/>
          </a:ln>
        </p:spPr>
      </p:sp>
      <p:sp>
        <p:nvSpPr>
          <p:cNvPr id="106" name="Text 91"/>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External failure</a:t>
            </a:r>
            <a:endParaRPr lang="en-US" sz="950" dirty="0"/>
          </a:p>
        </p:txBody>
      </p:sp>
      <p:sp>
        <p:nvSpPr>
          <p:cNvPr id="107" name="Text 92"/>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fewer escapes to customers</a:t>
            </a:r>
            <a:endParaRPr lang="en-US" sz="900" dirty="0"/>
          </a:p>
        </p:txBody>
      </p:sp>
      <p:sp>
        <p:nvSpPr>
          <p:cNvPr id="108" name="Text 93"/>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33415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by our model. Sources: Nortal/Outokumpu (2024); Tata Steel; Parsytec (Stainless Steel World); Leão 2021; Steel in Translation 2023. Owners, grade risks: team hypotheses.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651760"/>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548640" y="1645920"/>
            <a:ext cx="1600200" cy="1600200"/>
          </a:xfrm>
          <a:prstGeom prst="rect">
            <a:avLst/>
          </a:prstGeom>
        </p:spPr>
      </p:pic>
      <p:sp>
        <p:nvSpPr>
          <p:cNvPr id="21" name="Text 18"/>
          <p:cNvSpPr txBox="1"/>
          <p:nvPr/>
        </p:nvSpPr>
        <p:spPr>
          <a:xfrm>
            <a:off x="548640"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651760"/>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446934" y="1645920"/>
            <a:ext cx="1600200" cy="1600200"/>
          </a:xfrm>
          <a:prstGeom prst="rect">
            <a:avLst/>
          </a:prstGeom>
        </p:spPr>
      </p:pic>
      <p:sp>
        <p:nvSpPr>
          <p:cNvPr id="26" name="Text 22"/>
          <p:cNvSpPr txBox="1"/>
          <p:nvPr/>
        </p:nvSpPr>
        <p:spPr>
          <a:xfrm>
            <a:off x="2446934"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651760"/>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345229" y="1645920"/>
            <a:ext cx="1600200" cy="1600200"/>
          </a:xfrm>
          <a:prstGeom prst="rect">
            <a:avLst/>
          </a:prstGeom>
        </p:spPr>
      </p:pic>
      <p:sp>
        <p:nvSpPr>
          <p:cNvPr id="31" name="Text 26"/>
          <p:cNvSpPr txBox="1"/>
          <p:nvPr/>
        </p:nvSpPr>
        <p:spPr>
          <a:xfrm>
            <a:off x="4345229"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651760"/>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243523" y="1645920"/>
            <a:ext cx="1600200" cy="1600200"/>
          </a:xfrm>
          <a:prstGeom prst="rect">
            <a:avLst/>
          </a:prstGeom>
        </p:spPr>
      </p:pic>
      <p:sp>
        <p:nvSpPr>
          <p:cNvPr id="36" name="Text 30"/>
          <p:cNvSpPr txBox="1"/>
          <p:nvPr/>
        </p:nvSpPr>
        <p:spPr>
          <a:xfrm>
            <a:off x="6243523"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651760"/>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141818" y="1645920"/>
            <a:ext cx="1600200" cy="1600200"/>
          </a:xfrm>
          <a:prstGeom prst="rect">
            <a:avLst/>
          </a:prstGeom>
        </p:spPr>
      </p:pic>
      <p:sp>
        <p:nvSpPr>
          <p:cNvPr id="41" name="Text 34"/>
          <p:cNvSpPr txBox="1"/>
          <p:nvPr/>
        </p:nvSpPr>
        <p:spPr>
          <a:xfrm>
            <a:off x="8141818"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651760"/>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040112" y="1645920"/>
            <a:ext cx="1600200" cy="1600200"/>
          </a:xfrm>
          <a:prstGeom prst="rect">
            <a:avLst/>
          </a:prstGeom>
        </p:spPr>
      </p:pic>
      <p:sp>
        <p:nvSpPr>
          <p:cNvPr id="46" name="Text 38"/>
          <p:cNvSpPr txBox="1"/>
          <p:nvPr/>
        </p:nvSpPr>
        <p:spPr>
          <a:xfrm>
            <a:off x="10040112"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Shape 41"/>
          <p:cNvSpPr/>
          <p:nvPr/>
        </p:nvSpPr>
        <p:spPr>
          <a:xfrm>
            <a:off x="457200" y="4370832"/>
            <a:ext cx="4572000" cy="274320"/>
          </a:xfrm>
          <a:prstGeom prst="rect">
            <a:avLst/>
          </a:prstGeom>
          <a:solidFill>
            <a:srgbClr val="2B5B80"/>
          </a:solidFill>
          <a:ln w="12700">
            <a:solidFill>
              <a:srgbClr val="2B5B80"/>
            </a:solidFill>
            <a:prstDash val="solid"/>
          </a:ln>
        </p:spPr>
      </p:sp>
      <p:sp>
        <p:nvSpPr>
          <p:cNvPr id="50" name="Text 42"/>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sp>
        <p:nvSpPr>
          <p:cNvPr id="51" name="Text 43"/>
          <p:cNvSpPr txBox="1"/>
          <p:nvPr/>
        </p:nvSpPr>
        <p:spPr>
          <a:xfrm>
            <a:off x="502920" y="4690872"/>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Outokumpu</a:t>
            </a:r>
            <a:endParaRPr lang="en-US" sz="950" dirty="0"/>
          </a:p>
        </p:txBody>
      </p:sp>
      <p:sp>
        <p:nvSpPr>
          <p:cNvPr id="52" name="Text 44"/>
          <p:cNvSpPr txBox="1"/>
          <p:nvPr/>
        </p:nvSpPr>
        <p:spPr>
          <a:xfrm>
            <a:off x="1572768" y="4690872"/>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Europe's #1 stainless maker; AI inspection live at Tornio since 2024, runs offline.</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offline edge, multi-site</a:t>
            </a:r>
            <a:endParaRPr lang="en-US" sz="900" dirty="0"/>
          </a:p>
        </p:txBody>
      </p:sp>
      <p:sp>
        <p:nvSpPr>
          <p:cNvPr id="53" name="Text 45"/>
          <p:cNvSpPr txBox="1"/>
          <p:nvPr/>
        </p:nvSpPr>
        <p:spPr>
          <a:xfrm>
            <a:off x="502920" y="5093208"/>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Tata Steel</a:t>
            </a:r>
            <a:endParaRPr lang="en-US" sz="950" dirty="0"/>
          </a:p>
        </p:txBody>
      </p:sp>
      <p:sp>
        <p:nvSpPr>
          <p:cNvPr id="54" name="Text 46"/>
          <p:cNvSpPr txBox="1"/>
          <p:nvPr/>
        </p:nvSpPr>
        <p:spPr>
          <a:xfrm>
            <a:off x="1572768" y="5093208"/>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Kalinganagar (WEF Lighthouse) finds cold-rolled surface defects by video analytics.</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in-house model team</a:t>
            </a:r>
            <a:endParaRPr lang="en-US" sz="900" dirty="0"/>
          </a:p>
        </p:txBody>
      </p:sp>
      <p:sp>
        <p:nvSpPr>
          <p:cNvPr id="55" name="Text 47"/>
          <p:cNvSpPr txBox="1"/>
          <p:nvPr/>
        </p:nvSpPr>
        <p:spPr>
          <a:xfrm>
            <a:off x="502920" y="5495544"/>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Parsytec</a:t>
            </a:r>
            <a:endParaRPr lang="en-US" sz="950" dirty="0"/>
          </a:p>
        </p:txBody>
      </p:sp>
      <p:sp>
        <p:nvSpPr>
          <p:cNvPr id="56" name="Text 48"/>
          <p:cNvSpPr txBox="1"/>
          <p:nvPr/>
        </p:nvSpPr>
        <p:spPr>
          <a:xfrm>
            <a:off x="1572768" y="5495544"/>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On stainless lines: 170 µm cameras, bright + dark-field light, a decision per coil.</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optics, coil decision</a:t>
            </a:r>
            <a:endParaRPr lang="en-US" sz="900" dirty="0"/>
          </a:p>
        </p:txBody>
      </p:sp>
      <p:sp>
        <p:nvSpPr>
          <p:cNvPr id="57" name="Shape 49"/>
          <p:cNvSpPr/>
          <p:nvPr/>
        </p:nvSpPr>
        <p:spPr>
          <a:xfrm>
            <a:off x="5257800" y="4370832"/>
            <a:ext cx="6473952" cy="274320"/>
          </a:xfrm>
          <a:prstGeom prst="rect">
            <a:avLst/>
          </a:prstGeom>
          <a:solidFill>
            <a:srgbClr val="2B5B80"/>
          </a:solidFill>
          <a:ln w="12700">
            <a:solidFill>
              <a:srgbClr val="2B5B80"/>
            </a:solidFill>
            <a:prstDash val="solid"/>
          </a:ln>
        </p:spPr>
      </p:sp>
      <p:sp>
        <p:nvSpPr>
          <p:cNvPr id="58" name="Text 50"/>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60" name="Shape 51"/>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61" name="Text 52"/>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Four design choices behind the system, each proven in our own tests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Trained on clean steel too, so its alarms mean something</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90%</a:t>
            </a:r>
            <a:endParaRPr lang="en-US" sz="1800" dirty="0"/>
          </a:p>
        </p:txBody>
      </p:sp>
      <p:sp>
        <p:nvSpPr>
          <p:cNvPr id="22" name="Text 19"/>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3"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4.7%</a:t>
            </a:r>
            <a:endParaRPr lang="en-US" sz="1800" dirty="0"/>
          </a:p>
        </p:txBody>
      </p:sp>
      <p:sp>
        <p:nvSpPr>
          <p:cNvPr id="25" name="Text 21"/>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14 of 300 clean mill images</a:t>
            </a:r>
            <a:endParaRPr lang="en-US" sz="950" dirty="0"/>
          </a:p>
        </p:txBody>
      </p:sp>
      <p:sp>
        <p:nvSpPr>
          <p:cNvPr id="26" name="Text 22"/>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7" name="Shape 23"/>
          <p:cNvSpPr/>
          <p:nvPr/>
        </p:nvSpPr>
        <p:spPr>
          <a:xfrm>
            <a:off x="6190488" y="1234440"/>
            <a:ext cx="5541264" cy="274320"/>
          </a:xfrm>
          <a:prstGeom prst="rect">
            <a:avLst/>
          </a:prstGeom>
          <a:solidFill>
            <a:srgbClr val="2B5B80"/>
          </a:solidFill>
          <a:ln w="12700">
            <a:solidFill>
              <a:srgbClr val="2B5B80"/>
            </a:solidFill>
            <a:prstDash val="solid"/>
          </a:ln>
        </p:spPr>
      </p:sp>
      <p:sp>
        <p:nvSpPr>
          <p:cNvPr id="28" name="Text 24"/>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compact model is enough</a:t>
            </a:r>
            <a:endParaRPr lang="en-US" sz="1100" dirty="0"/>
          </a:p>
        </p:txBody>
      </p:sp>
      <p:sp>
        <p:nvSpPr>
          <p:cNvPr id="29" name="Shape 25"/>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30" name="Text 26"/>
          <p:cNvSpPr txBox="1"/>
          <p:nvPr/>
        </p:nvSpPr>
        <p:spPr>
          <a:xfrm>
            <a:off x="6327648"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12 MB</a:t>
            </a:r>
            <a:endParaRPr lang="en-US" sz="2200" dirty="0"/>
          </a:p>
        </p:txBody>
      </p:sp>
      <p:sp>
        <p:nvSpPr>
          <p:cNvPr id="31" name="Text 27"/>
          <p:cNvSpPr txBox="1"/>
          <p:nvPr/>
        </p:nvSpPr>
        <p:spPr>
          <a:xfrm>
            <a:off x="6327648"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the whole model; loads in any browser</a:t>
            </a:r>
            <a:endParaRPr lang="en-US" sz="950" dirty="0"/>
          </a:p>
        </p:txBody>
      </p:sp>
      <p:sp>
        <p:nvSpPr>
          <p:cNvPr id="32" name="Text 28"/>
          <p:cNvSpPr txBox="1"/>
          <p:nvPr/>
        </p:nvSpPr>
        <p:spPr>
          <a:xfrm>
            <a:off x="8092440"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~55 ms</a:t>
            </a:r>
            <a:endParaRPr lang="en-US" sz="2200" dirty="0"/>
          </a:p>
        </p:txBody>
      </p:sp>
      <p:sp>
        <p:nvSpPr>
          <p:cNvPr id="33" name="Text 29"/>
          <p:cNvSpPr txBox="1"/>
          <p:nvPr/>
        </p:nvSpPr>
        <p:spPr>
          <a:xfrm>
            <a:off x="8092440"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on an ordinary laptop CPU</a:t>
            </a:r>
            <a:endParaRPr lang="en-US" sz="950" dirty="0"/>
          </a:p>
        </p:txBody>
      </p:sp>
      <p:sp>
        <p:nvSpPr>
          <p:cNvPr id="34" name="Text 30"/>
          <p:cNvSpPr txBox="1"/>
          <p:nvPr/>
        </p:nvSpPr>
        <p:spPr>
          <a:xfrm>
            <a:off x="9857232"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0.75</a:t>
            </a:r>
            <a:endParaRPr lang="en-US" sz="2200" dirty="0"/>
          </a:p>
        </p:txBody>
      </p:sp>
      <p:sp>
        <p:nvSpPr>
          <p:cNvPr id="35" name="Text 31"/>
          <p:cNvSpPr txBox="1"/>
          <p:nvPr/>
        </p:nvSpPr>
        <p:spPr>
          <a:xfrm>
            <a:off x="9857232"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accuracy, inside the 0.70-0.80 published range</a:t>
            </a:r>
            <a:endParaRPr lang="en-US" sz="950" dirty="0"/>
          </a:p>
        </p:txBody>
      </p:sp>
      <p:sp>
        <p:nvSpPr>
          <p:cNvPr id="36" name="Text 32"/>
          <p:cNvSpPr txBox="1"/>
          <p:nvPr/>
        </p:nvSpPr>
        <p:spPr>
          <a:xfrm>
            <a:off x="6327648" y="2761488"/>
            <a:ext cx="5303520" cy="219456"/>
          </a:xfrm>
          <a:prstGeom prst="rect">
            <a:avLst/>
          </a:prstGeom>
          <a:noFill/>
          <a:ln/>
        </p:spPr>
        <p:txBody>
          <a:bodyPr wrap="square" lIns="0" tIns="0" rIns="0" bIns="0" rtlCol="0" anchor="t"/>
          <a:lstStyle/>
          <a:p>
            <a:pPr indent="0" marL="0">
              <a:buNone/>
            </a:pPr>
            <a:r>
              <a:rPr lang="en-US" sz="950" i="1" dirty="0">
                <a:solidFill>
                  <a:srgbClr val="5F6B78"/>
                </a:solidFill>
                <a:latin typeface="Calibri" pitchFamily="34" charset="0"/>
                <a:ea typeface="Calibri" pitchFamily="34" charset="-122"/>
                <a:cs typeface="Calibri" pitchFamily="34" charset="-120"/>
              </a:rPr>
              <a:t>Larger models and sharper images added no accuracy in our tests.</a:t>
            </a:r>
            <a:endParaRPr lang="en-US" sz="950" dirty="0"/>
          </a:p>
        </p:txBody>
      </p:sp>
      <p:sp>
        <p:nvSpPr>
          <p:cNvPr id="37" name="Text 33"/>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38" name="Shape 34"/>
          <p:cNvSpPr/>
          <p:nvPr/>
        </p:nvSpPr>
        <p:spPr>
          <a:xfrm>
            <a:off x="457200" y="3630168"/>
            <a:ext cx="5541264" cy="274320"/>
          </a:xfrm>
          <a:prstGeom prst="rect">
            <a:avLst/>
          </a:prstGeom>
          <a:solidFill>
            <a:srgbClr val="2B5B80"/>
          </a:solidFill>
          <a:ln w="12700">
            <a:solidFill>
              <a:srgbClr val="2B5B80"/>
            </a:solidFill>
            <a:prstDash val="solid"/>
          </a:ln>
        </p:spPr>
      </p:sp>
      <p:sp>
        <p:nvSpPr>
          <p:cNvPr id="39" name="Text 35"/>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Line speed, not the model, sets the hardware bill</a:t>
            </a:r>
            <a:endParaRPr lang="en-US" sz="1100" dirty="0"/>
          </a:p>
        </p:txBody>
      </p:sp>
      <p:sp>
        <p:nvSpPr>
          <p:cNvPr id="40" name="Shape 36"/>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pic>
        <p:nvPicPr>
          <p:cNvPr id="41" name="Image 0" descr="img/icons/cpu-navy.png">    </p:cNvPr>
          <p:cNvPicPr>
            <a:picLocks noChangeAspect="1"/>
          </p:cNvPicPr>
          <p:nvPr/>
        </p:nvPicPr>
        <p:blipFill>
          <a:blip r:embed="rId3"/>
          <a:stretch>
            <a:fillRect/>
          </a:stretch>
        </p:blipFill>
        <p:spPr>
          <a:xfrm>
            <a:off x="658368" y="4023360"/>
            <a:ext cx="237744" cy="237744"/>
          </a:xfrm>
          <a:prstGeom prst="rect">
            <a:avLst/>
          </a:prstGeom>
        </p:spPr>
      </p:pic>
      <p:pic>
        <p:nvPicPr>
          <p:cNvPr id="42" name="Image 1" descr="img/icons/cpu-navy.png">    </p:cNvPr>
          <p:cNvPicPr>
            <a:picLocks noChangeAspect="1"/>
          </p:cNvPicPr>
          <p:nvPr/>
        </p:nvPicPr>
        <p:blipFill>
          <a:blip r:embed="rId4"/>
          <a:stretch>
            <a:fillRect/>
          </a:stretch>
        </p:blipFill>
        <p:spPr>
          <a:xfrm>
            <a:off x="960120" y="4023360"/>
            <a:ext cx="237744" cy="237744"/>
          </a:xfrm>
          <a:prstGeom prst="rect">
            <a:avLst/>
          </a:prstGeom>
        </p:spPr>
      </p:pic>
      <p:pic>
        <p:nvPicPr>
          <p:cNvPr id="43" name="Image 2" descr="img/icons/cpu-navy.png">    </p:cNvPr>
          <p:cNvPicPr>
            <a:picLocks noChangeAspect="1"/>
          </p:cNvPicPr>
          <p:nvPr/>
        </p:nvPicPr>
        <p:blipFill>
          <a:blip r:embed="rId5"/>
          <a:stretch>
            <a:fillRect/>
          </a:stretch>
        </p:blipFill>
        <p:spPr>
          <a:xfrm>
            <a:off x="1261872" y="4023360"/>
            <a:ext cx="237744" cy="237744"/>
          </a:xfrm>
          <a:prstGeom prst="rect">
            <a:avLst/>
          </a:prstGeom>
        </p:spPr>
      </p:pic>
      <p:pic>
        <p:nvPicPr>
          <p:cNvPr id="44" name="Image 3" descr="img/icons/cpu-navy.png">    </p:cNvPr>
          <p:cNvPicPr>
            <a:picLocks noChangeAspect="1"/>
          </p:cNvPicPr>
          <p:nvPr/>
        </p:nvPicPr>
        <p:blipFill>
          <a:blip r:embed="rId6"/>
          <a:stretch>
            <a:fillRect/>
          </a:stretch>
        </p:blipFill>
        <p:spPr>
          <a:xfrm>
            <a:off x="1563624" y="4023360"/>
            <a:ext cx="237744" cy="237744"/>
          </a:xfrm>
          <a:prstGeom prst="rect">
            <a:avLst/>
          </a:prstGeom>
        </p:spPr>
      </p:pic>
      <p:pic>
        <p:nvPicPr>
          <p:cNvPr id="45" name="Image 4" descr="img/icons/cpu-navy.png">    </p:cNvPr>
          <p:cNvPicPr>
            <a:picLocks noChangeAspect="1"/>
          </p:cNvPicPr>
          <p:nvPr/>
        </p:nvPicPr>
        <p:blipFill>
          <a:blip r:embed="rId7"/>
          <a:stretch>
            <a:fillRect/>
          </a:stretch>
        </p:blipFill>
        <p:spPr>
          <a:xfrm>
            <a:off x="1865376" y="4023360"/>
            <a:ext cx="237744" cy="237744"/>
          </a:xfrm>
          <a:prstGeom prst="rect">
            <a:avLst/>
          </a:prstGeom>
        </p:spPr>
      </p:pic>
      <p:pic>
        <p:nvPicPr>
          <p:cNvPr id="46" name="Image 5" descr="img/icons/cpu-navy.png">    </p:cNvPr>
          <p:cNvPicPr>
            <a:picLocks noChangeAspect="1"/>
          </p:cNvPicPr>
          <p:nvPr/>
        </p:nvPicPr>
        <p:blipFill>
          <a:blip r:embed="rId8"/>
          <a:stretch>
            <a:fillRect/>
          </a:stretch>
        </p:blipFill>
        <p:spPr>
          <a:xfrm>
            <a:off x="2167128" y="4023360"/>
            <a:ext cx="237744" cy="237744"/>
          </a:xfrm>
          <a:prstGeom prst="rect">
            <a:avLst/>
          </a:prstGeom>
        </p:spPr>
      </p:pic>
      <p:pic>
        <p:nvPicPr>
          <p:cNvPr id="47" name="Image 6" descr="img/icons/cpu-navy.png">    </p:cNvPr>
          <p:cNvPicPr>
            <a:picLocks noChangeAspect="1"/>
          </p:cNvPicPr>
          <p:nvPr/>
        </p:nvPicPr>
        <p:blipFill>
          <a:blip r:embed="rId9"/>
          <a:stretch>
            <a:fillRect/>
          </a:stretch>
        </p:blipFill>
        <p:spPr>
          <a:xfrm>
            <a:off x="658368" y="4306824"/>
            <a:ext cx="237744" cy="237744"/>
          </a:xfrm>
          <a:prstGeom prst="rect">
            <a:avLst/>
          </a:prstGeom>
        </p:spPr>
      </p:pic>
      <p:pic>
        <p:nvPicPr>
          <p:cNvPr id="48" name="Image 7" descr="img/icons/cpu-navy.png">    </p:cNvPr>
          <p:cNvPicPr>
            <a:picLocks noChangeAspect="1"/>
          </p:cNvPicPr>
          <p:nvPr/>
        </p:nvPicPr>
        <p:blipFill>
          <a:blip r:embed="rId10"/>
          <a:stretch>
            <a:fillRect/>
          </a:stretch>
        </p:blipFill>
        <p:spPr>
          <a:xfrm>
            <a:off x="960120" y="4306824"/>
            <a:ext cx="237744" cy="237744"/>
          </a:xfrm>
          <a:prstGeom prst="rect">
            <a:avLst/>
          </a:prstGeom>
        </p:spPr>
      </p:pic>
      <p:pic>
        <p:nvPicPr>
          <p:cNvPr id="49" name="Image 8" descr="img/icons/cpu-navy.png">    </p:cNvPr>
          <p:cNvPicPr>
            <a:picLocks noChangeAspect="1"/>
          </p:cNvPicPr>
          <p:nvPr/>
        </p:nvPicPr>
        <p:blipFill>
          <a:blip r:embed="rId11"/>
          <a:stretch>
            <a:fillRect/>
          </a:stretch>
        </p:blipFill>
        <p:spPr>
          <a:xfrm>
            <a:off x="1261872" y="4306824"/>
            <a:ext cx="237744" cy="237744"/>
          </a:xfrm>
          <a:prstGeom prst="rect">
            <a:avLst/>
          </a:prstGeom>
        </p:spPr>
      </p:pic>
      <p:pic>
        <p:nvPicPr>
          <p:cNvPr id="50" name="Image 9" descr="img/icons/cpu-navy.png">    </p:cNvPr>
          <p:cNvPicPr>
            <a:picLocks noChangeAspect="1"/>
          </p:cNvPicPr>
          <p:nvPr/>
        </p:nvPicPr>
        <p:blipFill>
          <a:blip r:embed="rId12"/>
          <a:stretch>
            <a:fillRect/>
          </a:stretch>
        </p:blipFill>
        <p:spPr>
          <a:xfrm>
            <a:off x="1563624" y="4306824"/>
            <a:ext cx="237744" cy="237744"/>
          </a:xfrm>
          <a:prstGeom prst="rect">
            <a:avLst/>
          </a:prstGeom>
        </p:spPr>
      </p:pic>
      <p:pic>
        <p:nvPicPr>
          <p:cNvPr id="51" name="Image 10" descr="img/icons/cpu-navy.png">    </p:cNvPr>
          <p:cNvPicPr>
            <a:picLocks noChangeAspect="1"/>
          </p:cNvPicPr>
          <p:nvPr/>
        </p:nvPicPr>
        <p:blipFill>
          <a:blip r:embed="rId13"/>
          <a:stretch>
            <a:fillRect/>
          </a:stretch>
        </p:blipFill>
        <p:spPr>
          <a:xfrm>
            <a:off x="1865376" y="4306824"/>
            <a:ext cx="237744" cy="237744"/>
          </a:xfrm>
          <a:prstGeom prst="rect">
            <a:avLst/>
          </a:prstGeom>
        </p:spPr>
      </p:pic>
      <p:pic>
        <p:nvPicPr>
          <p:cNvPr id="52" name="Image 11" descr="img/icons/cpu-navy.png">    </p:cNvPr>
          <p:cNvPicPr>
            <a:picLocks noChangeAspect="1"/>
          </p:cNvPicPr>
          <p:nvPr/>
        </p:nvPicPr>
        <p:blipFill>
          <a:blip r:embed="rId14"/>
          <a:stretch>
            <a:fillRect/>
          </a:stretch>
        </p:blipFill>
        <p:spPr>
          <a:xfrm>
            <a:off x="2167128" y="4306824"/>
            <a:ext cx="237744" cy="237744"/>
          </a:xfrm>
          <a:prstGeom prst="rect">
            <a:avLst/>
          </a:prstGeom>
        </p:spPr>
      </p:pic>
      <p:pic>
        <p:nvPicPr>
          <p:cNvPr id="53" name="Image 12" descr="img/icons/cpu-navy.png">    </p:cNvPr>
          <p:cNvPicPr>
            <a:picLocks noChangeAspect="1"/>
          </p:cNvPicPr>
          <p:nvPr/>
        </p:nvPicPr>
        <p:blipFill>
          <a:blip r:embed="rId15"/>
          <a:stretch>
            <a:fillRect/>
          </a:stretch>
        </p:blipFill>
        <p:spPr>
          <a:xfrm>
            <a:off x="658368" y="4590288"/>
            <a:ext cx="237744" cy="237744"/>
          </a:xfrm>
          <a:prstGeom prst="rect">
            <a:avLst/>
          </a:prstGeom>
        </p:spPr>
      </p:pic>
      <p:pic>
        <p:nvPicPr>
          <p:cNvPr id="54" name="Image 13" descr="img/icons/cpu-navy.png">    </p:cNvPr>
          <p:cNvPicPr>
            <a:picLocks noChangeAspect="1"/>
          </p:cNvPicPr>
          <p:nvPr/>
        </p:nvPicPr>
        <p:blipFill>
          <a:blip r:embed="rId16"/>
          <a:stretch>
            <a:fillRect/>
          </a:stretch>
        </p:blipFill>
        <p:spPr>
          <a:xfrm>
            <a:off x="960120" y="4590288"/>
            <a:ext cx="237744" cy="237744"/>
          </a:xfrm>
          <a:prstGeom prst="rect">
            <a:avLst/>
          </a:prstGeom>
        </p:spPr>
      </p:pic>
      <p:pic>
        <p:nvPicPr>
          <p:cNvPr id="55" name="Image 14" descr="img/icons/cpu-navy.png">    </p:cNvPr>
          <p:cNvPicPr>
            <a:picLocks noChangeAspect="1"/>
          </p:cNvPicPr>
          <p:nvPr/>
        </p:nvPicPr>
        <p:blipFill>
          <a:blip r:embed="rId17"/>
          <a:stretch>
            <a:fillRect/>
          </a:stretch>
        </p:blipFill>
        <p:spPr>
          <a:xfrm>
            <a:off x="1261872" y="4590288"/>
            <a:ext cx="237744" cy="237744"/>
          </a:xfrm>
          <a:prstGeom prst="rect">
            <a:avLst/>
          </a:prstGeom>
        </p:spPr>
      </p:pic>
      <p:pic>
        <p:nvPicPr>
          <p:cNvPr id="56" name="Image 15" descr="img/icons/cpu-navy.png">    </p:cNvPr>
          <p:cNvPicPr>
            <a:picLocks noChangeAspect="1"/>
          </p:cNvPicPr>
          <p:nvPr/>
        </p:nvPicPr>
        <p:blipFill>
          <a:blip r:embed="rId18"/>
          <a:stretch>
            <a:fillRect/>
          </a:stretch>
        </p:blipFill>
        <p:spPr>
          <a:xfrm>
            <a:off x="1563624" y="4590288"/>
            <a:ext cx="237744" cy="237744"/>
          </a:xfrm>
          <a:prstGeom prst="rect">
            <a:avLst/>
          </a:prstGeom>
        </p:spPr>
      </p:pic>
      <p:pic>
        <p:nvPicPr>
          <p:cNvPr id="57" name="Image 16" descr="img/icons/cpu-navy.png">    </p:cNvPr>
          <p:cNvPicPr>
            <a:picLocks noChangeAspect="1"/>
          </p:cNvPicPr>
          <p:nvPr/>
        </p:nvPicPr>
        <p:blipFill>
          <a:blip r:embed="rId19"/>
          <a:stretch>
            <a:fillRect/>
          </a:stretch>
        </p:blipFill>
        <p:spPr>
          <a:xfrm>
            <a:off x="1865376" y="4590288"/>
            <a:ext cx="237744" cy="237744"/>
          </a:xfrm>
          <a:prstGeom prst="rect">
            <a:avLst/>
          </a:prstGeom>
        </p:spPr>
      </p:pic>
      <p:pic>
        <p:nvPicPr>
          <p:cNvPr id="58" name="Image 17" descr="img/icons/cpu-navy.png">    </p:cNvPr>
          <p:cNvPicPr>
            <a:picLocks noChangeAspect="1"/>
          </p:cNvPicPr>
          <p:nvPr/>
        </p:nvPicPr>
        <p:blipFill>
          <a:blip r:embed="rId20"/>
          <a:stretch>
            <a:fillRect/>
          </a:stretch>
        </p:blipFill>
        <p:spPr>
          <a:xfrm>
            <a:off x="2167128" y="4590288"/>
            <a:ext cx="237744" cy="237744"/>
          </a:xfrm>
          <a:prstGeom prst="rect">
            <a:avLst/>
          </a:prstGeom>
        </p:spPr>
      </p:pic>
      <p:sp>
        <p:nvSpPr>
          <p:cNvPr id="59" name="Text 37"/>
          <p:cNvSpPr txBox="1"/>
          <p:nvPr/>
        </p:nvSpPr>
        <p:spPr>
          <a:xfrm>
            <a:off x="640080" y="4901184"/>
            <a:ext cx="2514600" cy="54864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~18 processors</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see every 0.2 mm of a 1.28 m strip at 250 m/min</a:t>
            </a:r>
            <a:endParaRPr lang="en-US" sz="950" dirty="0"/>
          </a:p>
        </p:txBody>
      </p:sp>
      <p:sp>
        <p:nvSpPr>
          <p:cNvPr id="60" name="Text 38"/>
          <p:cNvSpPr txBox="1"/>
          <p:nvPr/>
        </p:nvSpPr>
        <p:spPr>
          <a:xfrm>
            <a:off x="3017520" y="4206240"/>
            <a:ext cx="457200" cy="365760"/>
          </a:xfrm>
          <a:prstGeom prst="rect">
            <a:avLst/>
          </a:prstGeom>
          <a:noFill/>
          <a:ln/>
        </p:spPr>
        <p:txBody>
          <a:bodyPr wrap="square" lIns="0" tIns="0" rIns="0" bIns="0" rtlCol="0" anchor="t"/>
          <a:lstStyle/>
          <a:p>
            <a:pPr algn="ctr" indent="0" marL="0">
              <a:buNone/>
            </a:pPr>
            <a:r>
              <a:rPr lang="en-US" sz="1600" b="1" dirty="0">
                <a:solidFill>
                  <a:srgbClr val="5F6B78"/>
                </a:solidFill>
                <a:latin typeface="Calibri" pitchFamily="34" charset="0"/>
                <a:ea typeface="Calibri" pitchFamily="34" charset="-122"/>
                <a:cs typeface="Calibri" pitchFamily="34" charset="-120"/>
              </a:rPr>
              <a:t>vs</a:t>
            </a:r>
            <a:endParaRPr lang="en-US" sz="1600" dirty="0"/>
          </a:p>
        </p:txBody>
      </p:sp>
      <p:pic>
        <p:nvPicPr>
          <p:cNvPr id="61" name="Image 18" descr="img/icons/cpu-accent.png">    </p:cNvPr>
          <p:cNvPicPr>
            <a:picLocks noChangeAspect="1"/>
          </p:cNvPicPr>
          <p:nvPr/>
        </p:nvPicPr>
        <p:blipFill>
          <a:blip r:embed="rId21"/>
          <a:stretch>
            <a:fillRect/>
          </a:stretch>
        </p:blipFill>
        <p:spPr>
          <a:xfrm>
            <a:off x="3886200" y="4041648"/>
            <a:ext cx="603504" cy="603504"/>
          </a:xfrm>
          <a:prstGeom prst="rect">
            <a:avLst/>
          </a:prstGeom>
        </p:spPr>
      </p:pic>
      <p:sp>
        <p:nvSpPr>
          <p:cNvPr id="62" name="Text 39"/>
          <p:cNvSpPr txBox="1"/>
          <p:nvPr/>
        </p:nvSpPr>
        <p:spPr>
          <a:xfrm>
            <a:off x="3520440" y="4736592"/>
            <a:ext cx="2377440" cy="822960"/>
          </a:xfrm>
          <a:prstGeom prst="rect">
            <a:avLst/>
          </a:prstGeom>
          <a:noFill/>
          <a:ln/>
        </p:spPr>
        <p:txBody>
          <a:bodyPr wrap="square" lIns="0" tIns="0" rIns="0" bIns="0" rtlCol="0" anchor="t"/>
          <a:lstStyle/>
          <a:p>
            <a:pPr indent="0" marL="0">
              <a:buNone/>
            </a:pPr>
            <a:r>
              <a:rPr lang="en-US" sz="1300" b="1" dirty="0">
                <a:solidFill>
                  <a:srgbClr val="0086C3"/>
                </a:solidFill>
                <a:latin typeface="Calibri" pitchFamily="34" charset="0"/>
                <a:ea typeface="Calibri" pitchFamily="34" charset="-122"/>
                <a:cs typeface="Calibri" pitchFamily="34" charset="-120"/>
              </a:rPr>
              <a:t>1 processor</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if images are coarsened to 1.28 mm, but fine scratches vanish</a:t>
            </a:r>
            <a:endParaRPr lang="en-US" sz="950" dirty="0"/>
          </a:p>
        </p:txBody>
      </p:sp>
      <p:sp>
        <p:nvSpPr>
          <p:cNvPr id="63" name="Text 40"/>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64" name="Shape 41"/>
          <p:cNvSpPr/>
          <p:nvPr/>
        </p:nvSpPr>
        <p:spPr>
          <a:xfrm>
            <a:off x="6190488" y="3630168"/>
            <a:ext cx="5541264" cy="274320"/>
          </a:xfrm>
          <a:prstGeom prst="rect">
            <a:avLst/>
          </a:prstGeom>
          <a:solidFill>
            <a:srgbClr val="2B5B80"/>
          </a:solidFill>
          <a:ln w="12700">
            <a:solidFill>
              <a:srgbClr val="2B5B80"/>
            </a:solidFill>
            <a:prstDash val="solid"/>
          </a:ln>
        </p:spPr>
      </p:sp>
      <p:sp>
        <p:nvSpPr>
          <p:cNvPr id="65" name="Text 42"/>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66" name="Shape 43"/>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67" name="Shape 44"/>
          <p:cNvSpPr/>
          <p:nvPr/>
        </p:nvSpPr>
        <p:spPr>
          <a:xfrm>
            <a:off x="6327648" y="4087368"/>
            <a:ext cx="457200" cy="457200"/>
          </a:xfrm>
          <a:prstGeom prst="ellipse">
            <a:avLst/>
          </a:prstGeom>
          <a:solidFill>
            <a:srgbClr val="143A5A"/>
          </a:solidFill>
          <a:ln w="12700">
            <a:solidFill>
              <a:srgbClr val="143A5A"/>
            </a:solidFill>
            <a:prstDash val="solid"/>
          </a:ln>
        </p:spPr>
      </p:sp>
      <p:pic>
        <p:nvPicPr>
          <p:cNvPr id="68" name="Image 19" descr="img/icons/target-white.png">    </p:cNvPr>
          <p:cNvPicPr>
            <a:picLocks noChangeAspect="1"/>
          </p:cNvPicPr>
          <p:nvPr/>
        </p:nvPicPr>
        <p:blipFill>
          <a:blip r:embed="rId22"/>
          <a:stretch>
            <a:fillRect/>
          </a:stretch>
        </p:blipFill>
        <p:spPr>
          <a:xfrm>
            <a:off x="6428232" y="4187952"/>
            <a:ext cx="256032" cy="256032"/>
          </a:xfrm>
          <a:prstGeom prst="rect">
            <a:avLst/>
          </a:prstGeom>
        </p:spPr>
      </p:pic>
      <p:sp>
        <p:nvSpPr>
          <p:cNvPr id="69" name="Text 45"/>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±3 pts</a:t>
            </a:r>
            <a:endParaRPr lang="en-US" sz="1800" dirty="0"/>
          </a:p>
        </p:txBody>
      </p:sp>
      <p:sp>
        <p:nvSpPr>
          <p:cNvPr id="70" name="Text 46"/>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between stated confidence and reality, so a "70%" alarm is right about 70% of the time</a:t>
            </a:r>
            <a:endParaRPr lang="en-US" sz="950" dirty="0"/>
          </a:p>
        </p:txBody>
      </p:sp>
      <p:sp>
        <p:nvSpPr>
          <p:cNvPr id="71" name="Shape 47"/>
          <p:cNvSpPr/>
          <p:nvPr/>
        </p:nvSpPr>
        <p:spPr>
          <a:xfrm>
            <a:off x="6327648" y="4800600"/>
            <a:ext cx="457200" cy="457200"/>
          </a:xfrm>
          <a:prstGeom prst="ellipse">
            <a:avLst/>
          </a:prstGeom>
          <a:solidFill>
            <a:srgbClr val="143A5A"/>
          </a:solidFill>
          <a:ln w="12700">
            <a:solidFill>
              <a:srgbClr val="143A5A"/>
            </a:solidFill>
            <a:prstDash val="solid"/>
          </a:ln>
        </p:spPr>
      </p:sp>
      <p:pic>
        <p:nvPicPr>
          <p:cNvPr id="72" name="Image 20" descr="img/icons/shield-check-white.png">    </p:cNvPr>
          <p:cNvPicPr>
            <a:picLocks noChangeAspect="1"/>
          </p:cNvPicPr>
          <p:nvPr/>
        </p:nvPicPr>
        <p:blipFill>
          <a:blip r:embed="rId23"/>
          <a:stretch>
            <a:fillRect/>
          </a:stretch>
        </p:blipFill>
        <p:spPr>
          <a:xfrm>
            <a:off x="6428232" y="4901184"/>
            <a:ext cx="256032" cy="256032"/>
          </a:xfrm>
          <a:prstGeom prst="rect">
            <a:avLst/>
          </a:prstGeom>
        </p:spPr>
      </p:pic>
      <p:sp>
        <p:nvSpPr>
          <p:cNvPr id="73" name="Text 48"/>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74" name="Text 49"/>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75" name="Text 50"/>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481328"/>
          </a:xfrm>
          <a:prstGeom prst="roundRect">
            <a:avLst>
              <a:gd name="adj" fmla="val 3704"/>
            </a:avLst>
          </a:prstGeom>
          <a:solidFill>
            <a:srgbClr val="F1F4F7"/>
          </a:solidFill>
          <a:ln w="12700">
            <a:solidFill>
              <a:srgbClr val="F1F4F7"/>
            </a:solidFill>
            <a:prstDash val="solid"/>
          </a:ln>
        </p:spPr>
      </p:sp>
      <p:sp>
        <p:nvSpPr>
          <p:cNvPr id="20" name="Shape 18"/>
          <p:cNvSpPr/>
          <p:nvPr/>
        </p:nvSpPr>
        <p:spPr>
          <a:xfrm>
            <a:off x="566928" y="1664208"/>
            <a:ext cx="457200" cy="457200"/>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67512" y="1764792"/>
            <a:ext cx="256032" cy="256032"/>
          </a:xfrm>
          <a:prstGeom prst="rect">
            <a:avLst/>
          </a:prstGeom>
        </p:spPr>
      </p:pic>
      <p:sp>
        <p:nvSpPr>
          <p:cNvPr id="22" name="Text 19"/>
          <p:cNvSpPr txBox="1"/>
          <p:nvPr/>
        </p:nvSpPr>
        <p:spPr>
          <a:xfrm>
            <a:off x="1097280"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Both faces, bright + dark-field light, 0.2 mm detail</a:t>
            </a:r>
            <a:endParaRPr lang="en-US" sz="950" dirty="0"/>
          </a:p>
        </p:txBody>
      </p:sp>
      <p:sp>
        <p:nvSpPr>
          <p:cNvPr id="24" name="Shape 21"/>
          <p:cNvSpPr/>
          <p:nvPr/>
        </p:nvSpPr>
        <p:spPr>
          <a:xfrm>
            <a:off x="566928" y="2761488"/>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19456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481328"/>
          </a:xfrm>
          <a:prstGeom prst="roundRect">
            <a:avLst>
              <a:gd name="adj" fmla="val 3704"/>
            </a:avLst>
          </a:prstGeom>
          <a:solidFill>
            <a:srgbClr val="F1F4F7"/>
          </a:solidFill>
          <a:ln w="12700">
            <a:solidFill>
              <a:srgbClr val="F1F4F7"/>
            </a:solidFill>
            <a:prstDash val="solid"/>
          </a:ln>
        </p:spPr>
      </p:sp>
      <p:sp>
        <p:nvSpPr>
          <p:cNvPr id="28" name="Shape 25"/>
          <p:cNvSpPr/>
          <p:nvPr/>
        </p:nvSpPr>
        <p:spPr>
          <a:xfrm>
            <a:off x="2465222" y="1664208"/>
            <a:ext cx="457200" cy="457200"/>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65806" y="1764792"/>
            <a:ext cx="256032" cy="256032"/>
          </a:xfrm>
          <a:prstGeom prst="rect">
            <a:avLst/>
          </a:prstGeom>
        </p:spPr>
      </p:pic>
      <p:sp>
        <p:nvSpPr>
          <p:cNvPr id="30" name="Text 26"/>
          <p:cNvSpPr txBox="1"/>
          <p:nvPr/>
        </p:nvSpPr>
        <p:spPr>
          <a:xfrm>
            <a:off x="2995574"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Is it usable steel? If not, skip it</a:t>
            </a:r>
            <a:endParaRPr lang="en-US" sz="950" dirty="0"/>
          </a:p>
        </p:txBody>
      </p:sp>
      <p:sp>
        <p:nvSpPr>
          <p:cNvPr id="32" name="Shape 28"/>
          <p:cNvSpPr/>
          <p:nvPr/>
        </p:nvSpPr>
        <p:spPr>
          <a:xfrm>
            <a:off x="2465222" y="2761488"/>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19456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481328"/>
          </a:xfrm>
          <a:prstGeom prst="roundRect">
            <a:avLst>
              <a:gd name="adj" fmla="val 3704"/>
            </a:avLst>
          </a:prstGeom>
          <a:solidFill>
            <a:srgbClr val="F1F4F7"/>
          </a:solidFill>
          <a:ln w="12700">
            <a:solidFill>
              <a:srgbClr val="F1F4F7"/>
            </a:solidFill>
            <a:prstDash val="solid"/>
          </a:ln>
        </p:spPr>
      </p:sp>
      <p:sp>
        <p:nvSpPr>
          <p:cNvPr id="36" name="Shape 32"/>
          <p:cNvSpPr/>
          <p:nvPr/>
        </p:nvSpPr>
        <p:spPr>
          <a:xfrm>
            <a:off x="4363517" y="1664208"/>
            <a:ext cx="457200" cy="457200"/>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64101" y="1764792"/>
            <a:ext cx="256032" cy="256032"/>
          </a:xfrm>
          <a:prstGeom prst="rect">
            <a:avLst/>
          </a:prstGeom>
        </p:spPr>
      </p:pic>
      <p:sp>
        <p:nvSpPr>
          <p:cNvPr id="38" name="Text 33"/>
          <p:cNvSpPr txBox="1"/>
          <p:nvPr/>
        </p:nvSpPr>
        <p:spPr>
          <a:xfrm>
            <a:off x="4893869"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Find and classify every defect</a:t>
            </a:r>
            <a:endParaRPr lang="en-US" sz="950" dirty="0"/>
          </a:p>
        </p:txBody>
      </p:sp>
      <p:sp>
        <p:nvSpPr>
          <p:cNvPr id="40" name="Shape 35"/>
          <p:cNvSpPr/>
          <p:nvPr/>
        </p:nvSpPr>
        <p:spPr>
          <a:xfrm>
            <a:off x="4363517" y="2761488"/>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19456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481328"/>
          </a:xfrm>
          <a:prstGeom prst="roundRect">
            <a:avLst>
              <a:gd name="adj" fmla="val 3704"/>
            </a:avLst>
          </a:prstGeom>
          <a:solidFill>
            <a:srgbClr val="F1F4F7"/>
          </a:solidFill>
          <a:ln w="12700">
            <a:solidFill>
              <a:srgbClr val="F1F4F7"/>
            </a:solidFill>
            <a:prstDash val="solid"/>
          </a:ln>
        </p:spPr>
      </p:sp>
      <p:sp>
        <p:nvSpPr>
          <p:cNvPr id="44" name="Shape 39"/>
          <p:cNvSpPr/>
          <p:nvPr/>
        </p:nvSpPr>
        <p:spPr>
          <a:xfrm>
            <a:off x="6261811" y="1664208"/>
            <a:ext cx="457200" cy="457200"/>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62395" y="1764792"/>
            <a:ext cx="256032" cy="256032"/>
          </a:xfrm>
          <a:prstGeom prst="rect">
            <a:avLst/>
          </a:prstGeom>
        </p:spPr>
      </p:pic>
      <p:sp>
        <p:nvSpPr>
          <p:cNvPr id="46" name="Text 40"/>
          <p:cNvSpPr txBox="1"/>
          <p:nvPr/>
        </p:nvSpPr>
        <p:spPr>
          <a:xfrm>
            <a:off x="6792163"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Confidence, severity 0-100, coil position</a:t>
            </a:r>
            <a:endParaRPr lang="en-US" sz="950" dirty="0"/>
          </a:p>
        </p:txBody>
      </p:sp>
      <p:sp>
        <p:nvSpPr>
          <p:cNvPr id="48" name="Shape 42"/>
          <p:cNvSpPr/>
          <p:nvPr/>
        </p:nvSpPr>
        <p:spPr>
          <a:xfrm>
            <a:off x="6261811" y="2761488"/>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19456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481328"/>
          </a:xfrm>
          <a:prstGeom prst="roundRect">
            <a:avLst>
              <a:gd name="adj" fmla="val 3704"/>
            </a:avLst>
          </a:prstGeom>
          <a:solidFill>
            <a:srgbClr val="F1F4F7"/>
          </a:solidFill>
          <a:ln w="12700">
            <a:solidFill>
              <a:srgbClr val="F1F4F7"/>
            </a:solidFill>
            <a:prstDash val="solid"/>
          </a:ln>
        </p:spPr>
      </p:sp>
      <p:sp>
        <p:nvSpPr>
          <p:cNvPr id="52" name="Shape 46"/>
          <p:cNvSpPr/>
          <p:nvPr/>
        </p:nvSpPr>
        <p:spPr>
          <a:xfrm>
            <a:off x="8160106" y="1664208"/>
            <a:ext cx="457200" cy="457200"/>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60690" y="1764792"/>
            <a:ext cx="256032" cy="256032"/>
          </a:xfrm>
          <a:prstGeom prst="rect">
            <a:avLst/>
          </a:prstGeom>
        </p:spPr>
      </p:pic>
      <p:sp>
        <p:nvSpPr>
          <p:cNvPr id="54" name="Text 47"/>
          <p:cNvSpPr txBox="1"/>
          <p:nvPr/>
        </p:nvSpPr>
        <p:spPr>
          <a:xfrm>
            <a:off x="8690458"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Accept, downgrade or hold, per grade</a:t>
            </a:r>
            <a:endParaRPr lang="en-US" sz="950" dirty="0"/>
          </a:p>
        </p:txBody>
      </p:sp>
      <p:sp>
        <p:nvSpPr>
          <p:cNvPr id="56" name="Shape 49"/>
          <p:cNvSpPr/>
          <p:nvPr/>
        </p:nvSpPr>
        <p:spPr>
          <a:xfrm>
            <a:off x="8160106" y="2761488"/>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19456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481328"/>
          </a:xfrm>
          <a:prstGeom prst="roundRect">
            <a:avLst>
              <a:gd name="adj" fmla="val 3704"/>
            </a:avLst>
          </a:prstGeom>
          <a:solidFill>
            <a:srgbClr val="E4EEF6"/>
          </a:solidFill>
          <a:ln w="12700">
            <a:solidFill>
              <a:srgbClr val="E4EEF6"/>
            </a:solidFill>
            <a:prstDash val="solid"/>
          </a:ln>
        </p:spPr>
      </p:sp>
      <p:sp>
        <p:nvSpPr>
          <p:cNvPr id="60" name="Shape 53"/>
          <p:cNvSpPr/>
          <p:nvPr/>
        </p:nvSpPr>
        <p:spPr>
          <a:xfrm>
            <a:off x="10058400" y="1664208"/>
            <a:ext cx="457200" cy="457200"/>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8984" y="1764792"/>
            <a:ext cx="256032" cy="256032"/>
          </a:xfrm>
          <a:prstGeom prst="rect">
            <a:avLst/>
          </a:prstGeom>
        </p:spPr>
      </p:pic>
      <p:sp>
        <p:nvSpPr>
          <p:cNvPr id="62" name="Text 54"/>
          <p:cNvSpPr txBox="1"/>
          <p:nvPr/>
        </p:nvSpPr>
        <p:spPr>
          <a:xfrm>
            <a:off x="10588752"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Alert, hold, work order; corrections retrain it</a:t>
            </a:r>
            <a:endParaRPr lang="en-US" sz="950" dirty="0"/>
          </a:p>
        </p:txBody>
      </p:sp>
      <p:sp>
        <p:nvSpPr>
          <p:cNvPr id="64" name="Shape 56"/>
          <p:cNvSpPr/>
          <p:nvPr/>
        </p:nvSpPr>
        <p:spPr>
          <a:xfrm>
            <a:off x="10058400" y="2761488"/>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3218688"/>
            <a:ext cx="3429000" cy="274320"/>
          </a:xfrm>
          <a:prstGeom prst="rect">
            <a:avLst/>
          </a:prstGeom>
          <a:solidFill>
            <a:srgbClr val="2B5B80"/>
          </a:solidFill>
          <a:ln w="12700">
            <a:solidFill>
              <a:srgbClr val="2B5B80"/>
            </a:solidFill>
            <a:prstDash val="solid"/>
          </a:ln>
        </p:spPr>
      </p:sp>
      <p:sp>
        <p:nvSpPr>
          <p:cNvPr id="67" name="Text 59"/>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68" name="Shape 60"/>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69"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0" name="Text 61"/>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1" name="Text 62"/>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72" name="Shape 63"/>
          <p:cNvSpPr/>
          <p:nvPr/>
        </p:nvSpPr>
        <p:spPr>
          <a:xfrm>
            <a:off x="4041648" y="3218688"/>
            <a:ext cx="3749040" cy="274320"/>
          </a:xfrm>
          <a:prstGeom prst="rect">
            <a:avLst/>
          </a:prstGeom>
          <a:solidFill>
            <a:srgbClr val="2B5B80"/>
          </a:solidFill>
          <a:ln w="12700">
            <a:solidFill>
              <a:srgbClr val="2B5B80"/>
            </a:solidFill>
            <a:prstDash val="solid"/>
          </a:ln>
        </p:spPr>
      </p:sp>
      <p:sp>
        <p:nvSpPr>
          <p:cNvPr id="73" name="Text 64"/>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74" name="Shape 65"/>
          <p:cNvSpPr/>
          <p:nvPr/>
        </p:nvSpPr>
        <p:spPr>
          <a:xfrm>
            <a:off x="4114800" y="3611880"/>
            <a:ext cx="402336" cy="402336"/>
          </a:xfrm>
          <a:prstGeom prst="ellipse">
            <a:avLst/>
          </a:prstGeom>
          <a:solidFill>
            <a:srgbClr val="0086C3"/>
          </a:solidFill>
          <a:ln w="12700">
            <a:solidFill>
              <a:srgbClr val="0086C3"/>
            </a:solidFill>
            <a:prstDash val="solid"/>
          </a:ln>
        </p:spPr>
      </p:sp>
      <p:pic>
        <p:nvPicPr>
          <p:cNvPr id="75"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76" name="Text 66"/>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77" name="Text 67"/>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only 4.7% of clean strip raises an alarm</a:t>
            </a:r>
            <a:endParaRPr lang="en-US" sz="950" dirty="0"/>
          </a:p>
        </p:txBody>
      </p:sp>
      <p:sp>
        <p:nvSpPr>
          <p:cNvPr id="78" name="Shape 68"/>
          <p:cNvSpPr/>
          <p:nvPr/>
        </p:nvSpPr>
        <p:spPr>
          <a:xfrm>
            <a:off x="4114800" y="4178808"/>
            <a:ext cx="402336" cy="402336"/>
          </a:xfrm>
          <a:prstGeom prst="ellipse">
            <a:avLst/>
          </a:prstGeom>
          <a:solidFill>
            <a:srgbClr val="0086C3"/>
          </a:solidFill>
          <a:ln w="12700">
            <a:solidFill>
              <a:srgbClr val="0086C3"/>
            </a:solidFill>
            <a:prstDash val="solid"/>
          </a:ln>
        </p:spPr>
      </p:sp>
      <p:pic>
        <p:nvPicPr>
          <p:cNvPr id="79"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0" name="Text 69"/>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81" name="Text 70"/>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82" name="Shape 71"/>
          <p:cNvSpPr/>
          <p:nvPr/>
        </p:nvSpPr>
        <p:spPr>
          <a:xfrm>
            <a:off x="4114800" y="4745736"/>
            <a:ext cx="402336" cy="402336"/>
          </a:xfrm>
          <a:prstGeom prst="ellipse">
            <a:avLst/>
          </a:prstGeom>
          <a:solidFill>
            <a:srgbClr val="0086C3"/>
          </a:solidFill>
          <a:ln w="12700">
            <a:solidFill>
              <a:srgbClr val="0086C3"/>
            </a:solidFill>
            <a:prstDash val="solid"/>
          </a:ln>
        </p:spPr>
      </p:sp>
      <p:pic>
        <p:nvPicPr>
          <p:cNvPr id="83"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84" name="Text 72"/>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85" name="Text 73"/>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86" name="Shape 74"/>
          <p:cNvSpPr/>
          <p:nvPr/>
        </p:nvSpPr>
        <p:spPr>
          <a:xfrm>
            <a:off x="4114800" y="5312664"/>
            <a:ext cx="402336" cy="402336"/>
          </a:xfrm>
          <a:prstGeom prst="ellipse">
            <a:avLst/>
          </a:prstGeom>
          <a:solidFill>
            <a:srgbClr val="0086C3"/>
          </a:solidFill>
          <a:ln w="12700">
            <a:solidFill>
              <a:srgbClr val="0086C3"/>
            </a:solidFill>
            <a:prstDash val="solid"/>
          </a:ln>
        </p:spPr>
      </p:sp>
      <p:pic>
        <p:nvPicPr>
          <p:cNvPr id="87"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88" name="Text 75"/>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89" name="Text 76"/>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0" name="Shape 77"/>
          <p:cNvSpPr/>
          <p:nvPr/>
        </p:nvSpPr>
        <p:spPr>
          <a:xfrm>
            <a:off x="7955280" y="3218688"/>
            <a:ext cx="3776472" cy="274320"/>
          </a:xfrm>
          <a:prstGeom prst="rect">
            <a:avLst/>
          </a:prstGeom>
          <a:solidFill>
            <a:srgbClr val="2B5B80"/>
          </a:solidFill>
          <a:ln w="12700">
            <a:solidFill>
              <a:srgbClr val="2B5B80"/>
            </a:solidFill>
            <a:prstDash val="solid"/>
          </a:ln>
        </p:spPr>
      </p:sp>
      <p:sp>
        <p:nvSpPr>
          <p:cNvPr id="91" name="Text 78"/>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92" name="Text 79"/>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93" name="Text 80"/>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94" name="Text 81"/>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95" name="Text 82"/>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96" name="Text 83"/>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97" name="Text 84"/>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98" name="Shape 85"/>
          <p:cNvSpPr/>
          <p:nvPr/>
        </p:nvSpPr>
        <p:spPr>
          <a:xfrm>
            <a:off x="9582912" y="4096512"/>
            <a:ext cx="182880" cy="182880"/>
          </a:xfrm>
          <a:prstGeom prst="ellipse">
            <a:avLst/>
          </a:prstGeom>
          <a:solidFill>
            <a:srgbClr val="C62828"/>
          </a:solidFill>
          <a:ln w="12700">
            <a:solidFill>
              <a:srgbClr val="C62828"/>
            </a:solidFill>
            <a:prstDash val="solid"/>
          </a:ln>
        </p:spPr>
      </p:sp>
      <p:sp>
        <p:nvSpPr>
          <p:cNvPr id="99" name="Shape 86"/>
          <p:cNvSpPr/>
          <p:nvPr/>
        </p:nvSpPr>
        <p:spPr>
          <a:xfrm>
            <a:off x="10158984" y="4096512"/>
            <a:ext cx="182880" cy="182880"/>
          </a:xfrm>
          <a:prstGeom prst="ellipse">
            <a:avLst/>
          </a:prstGeom>
          <a:solidFill>
            <a:srgbClr val="2E7D32"/>
          </a:solidFill>
          <a:ln w="12700">
            <a:solidFill>
              <a:srgbClr val="2E7D32"/>
            </a:solidFill>
            <a:prstDash val="solid"/>
          </a:ln>
        </p:spPr>
      </p:sp>
      <p:sp>
        <p:nvSpPr>
          <p:cNvPr id="100" name="Shape 87"/>
          <p:cNvSpPr/>
          <p:nvPr/>
        </p:nvSpPr>
        <p:spPr>
          <a:xfrm>
            <a:off x="10735056" y="4096512"/>
            <a:ext cx="182880" cy="182880"/>
          </a:xfrm>
          <a:prstGeom prst="ellipse">
            <a:avLst/>
          </a:prstGeom>
          <a:solidFill>
            <a:srgbClr val="B77900"/>
          </a:solidFill>
          <a:ln w="12700">
            <a:solidFill>
              <a:srgbClr val="B77900"/>
            </a:solidFill>
            <a:prstDash val="solid"/>
          </a:ln>
        </p:spPr>
      </p:sp>
      <p:sp>
        <p:nvSpPr>
          <p:cNvPr id="101" name="Shape 88"/>
          <p:cNvSpPr/>
          <p:nvPr/>
        </p:nvSpPr>
        <p:spPr>
          <a:xfrm>
            <a:off x="11311128" y="4096512"/>
            <a:ext cx="182880" cy="182880"/>
          </a:xfrm>
          <a:prstGeom prst="ellipse">
            <a:avLst/>
          </a:prstGeom>
          <a:solidFill>
            <a:srgbClr val="C62828"/>
          </a:solidFill>
          <a:ln w="12700">
            <a:solidFill>
              <a:srgbClr val="C62828"/>
            </a:solidFill>
            <a:prstDash val="solid"/>
          </a:ln>
        </p:spPr>
      </p:sp>
      <p:sp>
        <p:nvSpPr>
          <p:cNvPr id="102" name="Text 89"/>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03" name="Text 90"/>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04" name="Shape 91"/>
          <p:cNvSpPr/>
          <p:nvPr/>
        </p:nvSpPr>
        <p:spPr>
          <a:xfrm>
            <a:off x="9582912" y="4572000"/>
            <a:ext cx="182880" cy="182880"/>
          </a:xfrm>
          <a:prstGeom prst="ellipse">
            <a:avLst/>
          </a:prstGeom>
          <a:solidFill>
            <a:srgbClr val="2E7D32"/>
          </a:solidFill>
          <a:ln w="12700">
            <a:solidFill>
              <a:srgbClr val="2E7D32"/>
            </a:solidFill>
            <a:prstDash val="solid"/>
          </a:ln>
        </p:spPr>
      </p:sp>
      <p:sp>
        <p:nvSpPr>
          <p:cNvPr id="105" name="Shape 92"/>
          <p:cNvSpPr/>
          <p:nvPr/>
        </p:nvSpPr>
        <p:spPr>
          <a:xfrm>
            <a:off x="10158984" y="4572000"/>
            <a:ext cx="182880" cy="182880"/>
          </a:xfrm>
          <a:prstGeom prst="ellipse">
            <a:avLst/>
          </a:prstGeom>
          <a:solidFill>
            <a:srgbClr val="C62828"/>
          </a:solidFill>
          <a:ln w="12700">
            <a:solidFill>
              <a:srgbClr val="C62828"/>
            </a:solidFill>
            <a:prstDash val="solid"/>
          </a:ln>
        </p:spPr>
      </p:sp>
      <p:sp>
        <p:nvSpPr>
          <p:cNvPr id="106" name="Shape 93"/>
          <p:cNvSpPr/>
          <p:nvPr/>
        </p:nvSpPr>
        <p:spPr>
          <a:xfrm>
            <a:off x="10735056" y="4572000"/>
            <a:ext cx="182880" cy="182880"/>
          </a:xfrm>
          <a:prstGeom prst="ellipse">
            <a:avLst/>
          </a:prstGeom>
          <a:solidFill>
            <a:srgbClr val="2E7D32"/>
          </a:solidFill>
          <a:ln w="12700">
            <a:solidFill>
              <a:srgbClr val="2E7D32"/>
            </a:solidFill>
            <a:prstDash val="solid"/>
          </a:ln>
        </p:spPr>
      </p:sp>
      <p:sp>
        <p:nvSpPr>
          <p:cNvPr id="107" name="Shape 94"/>
          <p:cNvSpPr/>
          <p:nvPr/>
        </p:nvSpPr>
        <p:spPr>
          <a:xfrm>
            <a:off x="11311128" y="4572000"/>
            <a:ext cx="182880" cy="182880"/>
          </a:xfrm>
          <a:prstGeom prst="ellipse">
            <a:avLst/>
          </a:prstGeom>
          <a:solidFill>
            <a:srgbClr val="2E7D32"/>
          </a:solidFill>
          <a:ln w="12700">
            <a:solidFill>
              <a:srgbClr val="2E7D32"/>
            </a:solidFill>
            <a:prstDash val="solid"/>
          </a:ln>
        </p:spPr>
      </p:sp>
      <p:sp>
        <p:nvSpPr>
          <p:cNvPr id="108" name="Shape 95"/>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09" name="Text 96"/>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(recommended)</a:t>
            </a:r>
            <a:endParaRPr lang="en-US" sz="1000" dirty="0"/>
          </a:p>
        </p:txBody>
      </p:sp>
      <p:sp>
        <p:nvSpPr>
          <p:cNvPr id="110" name="Text 97"/>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11" name="Shape 98"/>
          <p:cNvSpPr/>
          <p:nvPr/>
        </p:nvSpPr>
        <p:spPr>
          <a:xfrm>
            <a:off x="9582912" y="5047488"/>
            <a:ext cx="182880" cy="182880"/>
          </a:xfrm>
          <a:prstGeom prst="ellipse">
            <a:avLst/>
          </a:prstGeom>
          <a:solidFill>
            <a:srgbClr val="2E7D32"/>
          </a:solidFill>
          <a:ln w="12700">
            <a:solidFill>
              <a:srgbClr val="2E7D32"/>
            </a:solidFill>
            <a:prstDash val="solid"/>
          </a:ln>
        </p:spPr>
      </p:sp>
      <p:sp>
        <p:nvSpPr>
          <p:cNvPr id="112" name="Shape 99"/>
          <p:cNvSpPr/>
          <p:nvPr/>
        </p:nvSpPr>
        <p:spPr>
          <a:xfrm>
            <a:off x="10158984" y="5047488"/>
            <a:ext cx="182880" cy="182880"/>
          </a:xfrm>
          <a:prstGeom prst="ellipse">
            <a:avLst/>
          </a:prstGeom>
          <a:solidFill>
            <a:srgbClr val="B77900"/>
          </a:solidFill>
          <a:ln w="12700">
            <a:solidFill>
              <a:srgbClr val="B77900"/>
            </a:solidFill>
            <a:prstDash val="solid"/>
          </a:ln>
        </p:spPr>
      </p:sp>
      <p:sp>
        <p:nvSpPr>
          <p:cNvPr id="113" name="Shape 100"/>
          <p:cNvSpPr/>
          <p:nvPr/>
        </p:nvSpPr>
        <p:spPr>
          <a:xfrm>
            <a:off x="10735056" y="5047488"/>
            <a:ext cx="182880" cy="182880"/>
          </a:xfrm>
          <a:prstGeom prst="ellipse">
            <a:avLst/>
          </a:prstGeom>
          <a:solidFill>
            <a:srgbClr val="2E7D32"/>
          </a:solidFill>
          <a:ln w="12700">
            <a:solidFill>
              <a:srgbClr val="2E7D32"/>
            </a:solidFill>
            <a:prstDash val="solid"/>
          </a:ln>
        </p:spPr>
      </p:sp>
      <p:sp>
        <p:nvSpPr>
          <p:cNvPr id="114" name="Shape 101"/>
          <p:cNvSpPr/>
          <p:nvPr/>
        </p:nvSpPr>
        <p:spPr>
          <a:xfrm>
            <a:off x="11311128" y="5047488"/>
            <a:ext cx="182880" cy="182880"/>
          </a:xfrm>
          <a:prstGeom prst="ellipse">
            <a:avLst/>
          </a:prstGeom>
          <a:solidFill>
            <a:srgbClr val="2E7D32"/>
          </a:solidFill>
          <a:ln w="12700">
            <a:solidFill>
              <a:srgbClr val="2E7D32"/>
            </a:solidFill>
            <a:prstDash val="solid"/>
          </a:ln>
        </p:spPr>
      </p:sp>
      <p:sp>
        <p:nvSpPr>
          <p:cNvPr id="115" name="Shape 102"/>
          <p:cNvSpPr/>
          <p:nvPr/>
        </p:nvSpPr>
        <p:spPr>
          <a:xfrm>
            <a:off x="8065008" y="5477256"/>
            <a:ext cx="128016" cy="128016"/>
          </a:xfrm>
          <a:prstGeom prst="ellipse">
            <a:avLst/>
          </a:prstGeom>
          <a:solidFill>
            <a:srgbClr val="2E7D32"/>
          </a:solidFill>
          <a:ln w="12700">
            <a:solidFill>
              <a:srgbClr val="2E7D32"/>
            </a:solidFill>
            <a:prstDash val="solid"/>
          </a:ln>
        </p:spPr>
      </p:sp>
      <p:sp>
        <p:nvSpPr>
          <p:cNvPr id="116" name="Text 103"/>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17" name="Shape 104"/>
          <p:cNvSpPr/>
          <p:nvPr/>
        </p:nvSpPr>
        <p:spPr>
          <a:xfrm>
            <a:off x="8842248" y="5477256"/>
            <a:ext cx="128016" cy="128016"/>
          </a:xfrm>
          <a:prstGeom prst="ellipse">
            <a:avLst/>
          </a:prstGeom>
          <a:solidFill>
            <a:srgbClr val="B77900"/>
          </a:solidFill>
          <a:ln w="12700">
            <a:solidFill>
              <a:srgbClr val="B77900"/>
            </a:solidFill>
            <a:prstDash val="solid"/>
          </a:ln>
        </p:spPr>
      </p:sp>
      <p:sp>
        <p:nvSpPr>
          <p:cNvPr id="118" name="Text 105"/>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19" name="Shape 106"/>
          <p:cNvSpPr/>
          <p:nvPr/>
        </p:nvSpPr>
        <p:spPr>
          <a:xfrm>
            <a:off x="9619488" y="5477256"/>
            <a:ext cx="128016" cy="128016"/>
          </a:xfrm>
          <a:prstGeom prst="ellipse">
            <a:avLst/>
          </a:prstGeom>
          <a:solidFill>
            <a:srgbClr val="C62828"/>
          </a:solidFill>
          <a:ln w="12700">
            <a:solidFill>
              <a:srgbClr val="C62828"/>
            </a:solidFill>
            <a:prstDash val="solid"/>
          </a:ln>
        </p:spPr>
      </p:sp>
      <p:sp>
        <p:nvSpPr>
          <p:cNvPr id="120" name="Text 107"/>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21" name="Text 108"/>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 model chosen on validation across four training runs.</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48640"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45820" y="1682496"/>
            <a:ext cx="1005840" cy="1005840"/>
          </a:xfrm>
          <a:prstGeom prst="rect">
            <a:avLst/>
          </a:prstGeom>
        </p:spPr>
      </p:pic>
      <p:sp>
        <p:nvSpPr>
          <p:cNvPr id="22" name="Text 19"/>
          <p:cNvSpPr txBox="1"/>
          <p:nvPr/>
        </p:nvSpPr>
        <p:spPr>
          <a:xfrm>
            <a:off x="548640"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48640"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1,800 images, 6 defect types</a:t>
            </a:r>
            <a:endParaRPr lang="en-US" sz="950" dirty="0"/>
          </a:p>
        </p:txBody>
      </p:sp>
      <p:sp>
        <p:nvSpPr>
          <p:cNvPr id="24" name="Text 21"/>
          <p:cNvSpPr txBox="1"/>
          <p:nvPr/>
        </p:nvSpPr>
        <p:spPr>
          <a:xfrm>
            <a:off x="548640"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27732"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24912" y="1682496"/>
            <a:ext cx="1005840" cy="1005840"/>
          </a:xfrm>
          <a:prstGeom prst="rect">
            <a:avLst/>
          </a:prstGeom>
        </p:spPr>
      </p:pic>
      <p:sp>
        <p:nvSpPr>
          <p:cNvPr id="28" name="Text 24"/>
          <p:cNvSpPr txBox="1"/>
          <p:nvPr/>
        </p:nvSpPr>
        <p:spPr>
          <a:xfrm>
            <a:off x="2427732"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27732"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12,568 real mill frames</a:t>
            </a:r>
            <a:endParaRPr lang="en-US" sz="950" dirty="0"/>
          </a:p>
        </p:txBody>
      </p:sp>
      <p:sp>
        <p:nvSpPr>
          <p:cNvPr id="30" name="Text 26"/>
          <p:cNvSpPr txBox="1"/>
          <p:nvPr/>
        </p:nvSpPr>
        <p:spPr>
          <a:xfrm>
            <a:off x="2427732"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306824"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306824" y="1645920"/>
            <a:ext cx="1600200" cy="1078992"/>
          </a:xfrm>
          <a:prstGeom prst="rect">
            <a:avLst/>
          </a:prstGeom>
        </p:spPr>
      </p:pic>
      <p:sp>
        <p:nvSpPr>
          <p:cNvPr id="34" name="Text 29"/>
          <p:cNvSpPr txBox="1"/>
          <p:nvPr/>
        </p:nvSpPr>
        <p:spPr>
          <a:xfrm>
            <a:off x="4306824"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306824"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2,294 frames, 10 types</a:t>
            </a:r>
            <a:endParaRPr lang="en-US" sz="950" dirty="0"/>
          </a:p>
        </p:txBody>
      </p:sp>
      <p:sp>
        <p:nvSpPr>
          <p:cNvPr id="36" name="Text 31"/>
          <p:cNvSpPr txBox="1"/>
          <p:nvPr/>
        </p:nvSpPr>
        <p:spPr>
          <a:xfrm>
            <a:off x="4306824"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~55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Text 67"/>
          <p:cNvSpPr txBox="1"/>
          <p:nvPr/>
        </p:nvSpPr>
        <p:spPr>
          <a:xfrm>
            <a:off x="4325112"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images across three datasets, for training and testing</a:t>
            </a:r>
            <a:endParaRPr lang="en-US" sz="950" dirty="0"/>
          </a:p>
        </p:txBody>
      </p:sp>
      <p:sp>
        <p:nvSpPr>
          <p:cNvPr id="76" name="Shape 68"/>
          <p:cNvSpPr/>
          <p:nvPr/>
        </p:nvSpPr>
        <p:spPr>
          <a:xfrm>
            <a:off x="6190488" y="3886200"/>
            <a:ext cx="5541264" cy="274320"/>
          </a:xfrm>
          <a:prstGeom prst="rect">
            <a:avLst/>
          </a:prstGeom>
          <a:solidFill>
            <a:srgbClr val="2B5B80"/>
          </a:solidFill>
          <a:ln w="12700">
            <a:solidFill>
              <a:srgbClr val="2B5B80"/>
            </a:solidFill>
            <a:prstDash val="solid"/>
          </a:ln>
        </p:spPr>
      </p:sp>
      <p:sp>
        <p:nvSpPr>
          <p:cNvPr id="77" name="Text 69"/>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synthetic defects; targeted labels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team estimates for a 1.3-1.6 m line, both faces, at INR 95.8/USD; vendor quotes replace them in P0. Pragati: JSL digitalisation, Phase 2 brings Level-2 data at Jajpur.</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Text 28"/>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Optics fixed; Pragati L2 data linked</a:t>
            </a:r>
            <a:endParaRPr lang="en-US" sz="900" dirty="0"/>
          </a:p>
        </p:txBody>
      </p:sp>
      <p:sp>
        <p:nvSpPr>
          <p:cNvPr id="31" name="Text 29"/>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2" name="Text 30"/>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JSL strip</a:t>
            </a:r>
            <a:endParaRPr lang="en-US" sz="950" dirty="0"/>
          </a:p>
        </p:txBody>
      </p:sp>
      <p:sp>
        <p:nvSpPr>
          <p:cNvPr id="33" name="Shape 31"/>
          <p:cNvSpPr/>
          <p:nvPr/>
        </p:nvSpPr>
        <p:spPr>
          <a:xfrm>
            <a:off x="2514600" y="2194560"/>
            <a:ext cx="3246120" cy="182880"/>
          </a:xfrm>
          <a:prstGeom prst="rect">
            <a:avLst/>
          </a:prstGeom>
          <a:solidFill>
            <a:srgbClr val="F1F4F7"/>
          </a:solidFill>
          <a:ln w="12700">
            <a:solidFill>
              <a:srgbClr val="F1F4F7"/>
            </a:solidFill>
            <a:prstDash val="solid"/>
          </a:ln>
        </p:spPr>
      </p:sp>
      <p:sp>
        <p:nvSpPr>
          <p:cNvPr id="34" name="Shape 32"/>
          <p:cNvSpPr/>
          <p:nvPr/>
        </p:nvSpPr>
        <p:spPr>
          <a:xfrm>
            <a:off x="2758059" y="2194560"/>
            <a:ext cx="405765" cy="182880"/>
          </a:xfrm>
          <a:prstGeom prst="rect">
            <a:avLst/>
          </a:prstGeom>
          <a:solidFill>
            <a:srgbClr val="0086C3"/>
          </a:solidFill>
          <a:ln w="12700">
            <a:solidFill>
              <a:srgbClr val="0086C3"/>
            </a:solidFill>
            <a:prstDash val="solid"/>
          </a:ln>
        </p:spPr>
      </p:sp>
      <p:sp>
        <p:nvSpPr>
          <p:cNvPr id="35" name="Text 33"/>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6" name="Text 34"/>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7" name="Text 35"/>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38" name="Shape 36"/>
          <p:cNvSpPr/>
          <p:nvPr/>
        </p:nvSpPr>
        <p:spPr>
          <a:xfrm>
            <a:off x="2514600" y="2542032"/>
            <a:ext cx="3246120" cy="182880"/>
          </a:xfrm>
          <a:prstGeom prst="rect">
            <a:avLst/>
          </a:prstGeom>
          <a:solidFill>
            <a:srgbClr val="F1F4F7"/>
          </a:solidFill>
          <a:ln w="12700">
            <a:solidFill>
              <a:srgbClr val="F1F4F7"/>
            </a:solidFill>
            <a:prstDash val="solid"/>
          </a:ln>
        </p:spPr>
      </p:sp>
      <p:sp>
        <p:nvSpPr>
          <p:cNvPr id="39" name="Shape 37"/>
          <p:cNvSpPr/>
          <p:nvPr/>
        </p:nvSpPr>
        <p:spPr>
          <a:xfrm>
            <a:off x="3163824" y="2542032"/>
            <a:ext cx="486918" cy="182880"/>
          </a:xfrm>
          <a:prstGeom prst="rect">
            <a:avLst/>
          </a:prstGeom>
          <a:solidFill>
            <a:srgbClr val="0086C3"/>
          </a:solidFill>
          <a:ln w="12700">
            <a:solidFill>
              <a:srgbClr val="0086C3"/>
            </a:solidFill>
            <a:prstDash val="solid"/>
          </a:ln>
        </p:spPr>
      </p:sp>
      <p:sp>
        <p:nvSpPr>
          <p:cNvPr id="40" name="Text 38"/>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1" name="Text 39"/>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2" name="Text 40"/>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3" name="Shape 41"/>
          <p:cNvSpPr/>
          <p:nvPr/>
        </p:nvSpPr>
        <p:spPr>
          <a:xfrm>
            <a:off x="2514600" y="2889504"/>
            <a:ext cx="3246120" cy="182880"/>
          </a:xfrm>
          <a:prstGeom prst="rect">
            <a:avLst/>
          </a:prstGeom>
          <a:solidFill>
            <a:srgbClr val="F1F4F7"/>
          </a:solidFill>
          <a:ln w="12700">
            <a:solidFill>
              <a:srgbClr val="F1F4F7"/>
            </a:solidFill>
            <a:prstDash val="solid"/>
          </a:ln>
        </p:spPr>
      </p:sp>
      <p:sp>
        <p:nvSpPr>
          <p:cNvPr id="44" name="Shape 42"/>
          <p:cNvSpPr/>
          <p:nvPr/>
        </p:nvSpPr>
        <p:spPr>
          <a:xfrm>
            <a:off x="3650742" y="2889504"/>
            <a:ext cx="811530" cy="182880"/>
          </a:xfrm>
          <a:prstGeom prst="rect">
            <a:avLst/>
          </a:prstGeom>
          <a:solidFill>
            <a:srgbClr val="2B5B80"/>
          </a:solidFill>
          <a:ln w="12700">
            <a:solidFill>
              <a:srgbClr val="2B5B80"/>
            </a:solidFill>
            <a:prstDash val="solid"/>
          </a:ln>
        </p:spPr>
      </p:sp>
      <p:sp>
        <p:nvSpPr>
          <p:cNvPr id="45" name="Text 43"/>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46" name="Text 44"/>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7" name="Text 45"/>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48" name="Shape 46"/>
          <p:cNvSpPr/>
          <p:nvPr/>
        </p:nvSpPr>
        <p:spPr>
          <a:xfrm>
            <a:off x="2514600" y="3236976"/>
            <a:ext cx="3246120" cy="182880"/>
          </a:xfrm>
          <a:prstGeom prst="rect">
            <a:avLst/>
          </a:prstGeom>
          <a:solidFill>
            <a:srgbClr val="F1F4F7"/>
          </a:solidFill>
          <a:ln w="12700">
            <a:solidFill>
              <a:srgbClr val="F1F4F7"/>
            </a:solidFill>
            <a:prstDash val="solid"/>
          </a:ln>
        </p:spPr>
      </p:sp>
      <p:sp>
        <p:nvSpPr>
          <p:cNvPr id="49" name="Shape 47"/>
          <p:cNvSpPr/>
          <p:nvPr/>
        </p:nvSpPr>
        <p:spPr>
          <a:xfrm>
            <a:off x="4462272" y="3236976"/>
            <a:ext cx="1298448" cy="182880"/>
          </a:xfrm>
          <a:prstGeom prst="rect">
            <a:avLst/>
          </a:prstGeom>
          <a:solidFill>
            <a:srgbClr val="2B5B80"/>
          </a:solidFill>
          <a:ln w="12700">
            <a:solidFill>
              <a:srgbClr val="2B5B80"/>
            </a:solidFill>
            <a:prstDash val="solid"/>
          </a:ln>
        </p:spPr>
      </p:sp>
      <p:sp>
        <p:nvSpPr>
          <p:cNvPr id="50" name="Text 48"/>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1" name="Shape 49"/>
          <p:cNvSpPr/>
          <p:nvPr/>
        </p:nvSpPr>
        <p:spPr>
          <a:xfrm>
            <a:off x="3641598" y="1755648"/>
            <a:ext cx="22860" cy="1737360"/>
          </a:xfrm>
          <a:prstGeom prst="rect">
            <a:avLst/>
          </a:prstGeom>
          <a:solidFill>
            <a:srgbClr val="C62828"/>
          </a:solidFill>
          <a:ln w="12700">
            <a:solidFill>
              <a:srgbClr val="C62828"/>
            </a:solidFill>
            <a:prstDash val="solid"/>
          </a:ln>
        </p:spPr>
      </p:sp>
      <p:sp>
        <p:nvSpPr>
          <p:cNvPr id="52" name="Text 50"/>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3" name="Shape 51"/>
          <p:cNvSpPr/>
          <p:nvPr/>
        </p:nvSpPr>
        <p:spPr>
          <a:xfrm>
            <a:off x="7863840" y="1234440"/>
            <a:ext cx="3867912" cy="274320"/>
          </a:xfrm>
          <a:prstGeom prst="rect">
            <a:avLst/>
          </a:prstGeom>
          <a:solidFill>
            <a:srgbClr val="2B5B80"/>
          </a:solidFill>
          <a:ln w="12700">
            <a:solidFill>
              <a:srgbClr val="2B5B80"/>
            </a:solidFill>
            <a:prstDash val="solid"/>
          </a:ln>
        </p:spPr>
      </p:sp>
      <p:sp>
        <p:nvSpPr>
          <p:cNvPr id="54" name="Text 52"/>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55"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56" name="Text 53"/>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57" name="Shape 54"/>
          <p:cNvSpPr/>
          <p:nvPr/>
        </p:nvSpPr>
        <p:spPr>
          <a:xfrm>
            <a:off x="9738360" y="1746504"/>
            <a:ext cx="146304" cy="146304"/>
          </a:xfrm>
          <a:prstGeom prst="rect">
            <a:avLst/>
          </a:prstGeom>
          <a:solidFill>
            <a:srgbClr val="143A5A"/>
          </a:solidFill>
          <a:ln w="12700">
            <a:solidFill>
              <a:srgbClr val="143A5A"/>
            </a:solidFill>
            <a:prstDash val="solid"/>
          </a:ln>
        </p:spPr>
      </p:sp>
      <p:sp>
        <p:nvSpPr>
          <p:cNvPr id="58" name="Text 55"/>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59" name="Text 56"/>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₹0.85-1.45 cr</a:t>
            </a:r>
            <a:endParaRPr lang="en-US" sz="900" dirty="0"/>
          </a:p>
        </p:txBody>
      </p:sp>
      <p:sp>
        <p:nvSpPr>
          <p:cNvPr id="60" name="Shape 57"/>
          <p:cNvSpPr/>
          <p:nvPr/>
        </p:nvSpPr>
        <p:spPr>
          <a:xfrm>
            <a:off x="9738360" y="2112264"/>
            <a:ext cx="146304" cy="146304"/>
          </a:xfrm>
          <a:prstGeom prst="rect">
            <a:avLst/>
          </a:prstGeom>
          <a:solidFill>
            <a:srgbClr val="1F6FA8"/>
          </a:solidFill>
          <a:ln w="12700">
            <a:solidFill>
              <a:srgbClr val="1F6FA8"/>
            </a:solidFill>
            <a:prstDash val="solid"/>
          </a:ln>
        </p:spPr>
      </p:sp>
      <p:sp>
        <p:nvSpPr>
          <p:cNvPr id="61" name="Text 58"/>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2" name="Text 59"/>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₹0.9-1.5 cr</a:t>
            </a:r>
            <a:endParaRPr lang="en-US" sz="900" dirty="0"/>
          </a:p>
        </p:txBody>
      </p:sp>
      <p:sp>
        <p:nvSpPr>
          <p:cNvPr id="63" name="Shape 60"/>
          <p:cNvSpPr/>
          <p:nvPr/>
        </p:nvSpPr>
        <p:spPr>
          <a:xfrm>
            <a:off x="9738360" y="2478024"/>
            <a:ext cx="146304" cy="146304"/>
          </a:xfrm>
          <a:prstGeom prst="rect">
            <a:avLst/>
          </a:prstGeom>
          <a:solidFill>
            <a:srgbClr val="5E9CCB"/>
          </a:solidFill>
          <a:ln w="12700">
            <a:solidFill>
              <a:srgbClr val="5E9CCB"/>
            </a:solidFill>
            <a:prstDash val="solid"/>
          </a:ln>
        </p:spPr>
      </p:sp>
      <p:sp>
        <p:nvSpPr>
          <p:cNvPr id="64" name="Text 61"/>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65" name="Text 62"/>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₹0.45-0.75 cr</a:t>
            </a:r>
            <a:endParaRPr lang="en-US" sz="900" dirty="0"/>
          </a:p>
        </p:txBody>
      </p:sp>
      <p:sp>
        <p:nvSpPr>
          <p:cNvPr id="66" name="Shape 63"/>
          <p:cNvSpPr/>
          <p:nvPr/>
        </p:nvSpPr>
        <p:spPr>
          <a:xfrm>
            <a:off x="9738360" y="2843784"/>
            <a:ext cx="146304" cy="146304"/>
          </a:xfrm>
          <a:prstGeom prst="rect">
            <a:avLst/>
          </a:prstGeom>
          <a:solidFill>
            <a:srgbClr val="A9CBE6"/>
          </a:solidFill>
          <a:ln w="12700">
            <a:solidFill>
              <a:srgbClr val="A9CBE6"/>
            </a:solidFill>
            <a:prstDash val="solid"/>
          </a:ln>
        </p:spPr>
      </p:sp>
      <p:sp>
        <p:nvSpPr>
          <p:cNvPr id="67" name="Text 64"/>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68" name="Text 65"/>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₹0.3-0.5 cr</a:t>
            </a:r>
            <a:endParaRPr lang="en-US" sz="900" dirty="0"/>
          </a:p>
        </p:txBody>
      </p:sp>
      <p:sp>
        <p:nvSpPr>
          <p:cNvPr id="69" name="Text 66"/>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~₹0.5 cr a year</a:t>
            </a:r>
            <a:endParaRPr lang="en-US" sz="900" dirty="0"/>
          </a:p>
        </p:txBody>
      </p:sp>
      <p:sp>
        <p:nvSpPr>
          <p:cNvPr id="70" name="Shape 67"/>
          <p:cNvSpPr/>
          <p:nvPr/>
        </p:nvSpPr>
        <p:spPr>
          <a:xfrm>
            <a:off x="457200" y="3730752"/>
            <a:ext cx="5541264" cy="274320"/>
          </a:xfrm>
          <a:prstGeom prst="rect">
            <a:avLst/>
          </a:prstGeom>
          <a:solidFill>
            <a:srgbClr val="2B5B80"/>
          </a:solidFill>
          <a:ln w="12700">
            <a:solidFill>
              <a:srgbClr val="2B5B80"/>
            </a:solidFill>
            <a:prstDash val="solid"/>
          </a:ln>
        </p:spPr>
      </p:sp>
      <p:sp>
        <p:nvSpPr>
          <p:cNvPr id="71" name="Text 68"/>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41648"/>
          <a:ext cx="5541264" cy="914400"/>
        </p:xfrm>
        <a:graphic>
          <a:graphicData uri="http://schemas.openxmlformats.org/drawingml/2006/table">
            <a:tbl>
              <a:tblPr/>
              <a:tblGrid>
                <a:gridCol w="2240280"/>
                <a:gridCol w="2660904"/>
                <a:gridCol w="6400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Retired</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Model does not transfer to JSL strip</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Train on JSL clean and defect images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Mirror-like BA/2B finish hides defects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Bright + dark-field light; deflectometry for BA</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Rare defects under-learnt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Edge cameras; synthetic defects; targeted labels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P1-P3</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Operators ignore alarms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Trusted scores; shadow mode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Plant network, heat and fumes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IEC 62443 zones, runs offline; sealed enclosures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Quality slips after a model update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Every retrain must beat the live model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3" name="Shape 69"/>
          <p:cNvSpPr/>
          <p:nvPr/>
        </p:nvSpPr>
        <p:spPr>
          <a:xfrm>
            <a:off x="6190488" y="3730752"/>
            <a:ext cx="5541264" cy="274320"/>
          </a:xfrm>
          <a:prstGeom prst="rect">
            <a:avLst/>
          </a:prstGeom>
          <a:solidFill>
            <a:srgbClr val="2B5B80"/>
          </a:solidFill>
          <a:ln w="12700">
            <a:solidFill>
              <a:srgbClr val="2B5B80"/>
            </a:solidFill>
            <a:prstDash val="solid"/>
          </a:ln>
        </p:spPr>
      </p:sp>
      <p:sp>
        <p:nvSpPr>
          <p:cNvPr id="74" name="Text 70"/>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75" name="Shape 71"/>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76" name="Text 72"/>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77" name="Text 73"/>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78" name="Text 74"/>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79" name="Shape 75"/>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0" name="Text 76"/>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1" name="Text 77"/>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2" name="Text 78"/>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3" name="Shape 79"/>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84" name="Text 80"/>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85" name="Text 81"/>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86" name="Text 82"/>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3.3 pts</a:t>
            </a:r>
            <a:endParaRPr lang="en-US" sz="900" dirty="0"/>
          </a:p>
        </p:txBody>
      </p:sp>
      <p:sp>
        <p:nvSpPr>
          <p:cNvPr id="87" name="Shape 83"/>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88" name="Text 84"/>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89" name="Text 85"/>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0" name="Text 86"/>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1" name="Shape 87"/>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2" name="Text 88"/>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3" name="Text 89"/>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94" name="Text 90"/>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95" name="Shape 91"/>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96" name="Text 92"/>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97" name="Text 93"/>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98" name="Text 94"/>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₹2.0 cr/yr recovered (₹1.5 cr net). Fleet: ₹12.9 cr/yr. Non-prime coil sells 10-30% below prime, so these discounts are conservative.</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Payback per line, base case</a:t>
            </a:r>
            <a:endParaRPr lang="en-US" sz="1100" dirty="0"/>
          </a:p>
        </p:txBody>
      </p:sp>
      <p:sp>
        <p:nvSpPr>
          <p:cNvPr id="24" name="Text 21"/>
          <p:cNvSpPr txBox="1"/>
          <p:nvPr/>
        </p:nvSpPr>
        <p:spPr>
          <a:xfrm>
            <a:off x="4663440" y="1627632"/>
            <a:ext cx="1828800" cy="201168"/>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Our solution</a:t>
            </a:r>
            <a:endParaRPr lang="en-US" sz="1000" dirty="0"/>
          </a:p>
        </p:txBody>
      </p:sp>
      <p:sp>
        <p:nvSpPr>
          <p:cNvPr id="25" name="Shape 22"/>
          <p:cNvSpPr/>
          <p:nvPr/>
        </p:nvSpPr>
        <p:spPr>
          <a:xfrm>
            <a:off x="4663440" y="1856232"/>
            <a:ext cx="475200" cy="237744"/>
          </a:xfrm>
          <a:prstGeom prst="rect">
            <a:avLst/>
          </a:prstGeom>
          <a:solidFill>
            <a:srgbClr val="0086C3"/>
          </a:solidFill>
          <a:ln w="12700">
            <a:solidFill>
              <a:srgbClr val="0086C3"/>
            </a:solidFill>
            <a:prstDash val="solid"/>
          </a:ln>
        </p:spPr>
      </p:sp>
      <p:sp>
        <p:nvSpPr>
          <p:cNvPr id="26" name="Text 23"/>
          <p:cNvSpPr txBox="1"/>
          <p:nvPr/>
        </p:nvSpPr>
        <p:spPr>
          <a:xfrm>
            <a:off x="5193504" y="1847088"/>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2.2 yr</a:t>
            </a:r>
            <a:endParaRPr lang="en-US" sz="1100" dirty="0"/>
          </a:p>
        </p:txBody>
      </p:sp>
      <p:sp>
        <p:nvSpPr>
          <p:cNvPr id="27" name="Text 24"/>
          <p:cNvSpPr txBox="1"/>
          <p:nvPr/>
        </p:nvSpPr>
        <p:spPr>
          <a:xfrm>
            <a:off x="4663440" y="2231136"/>
            <a:ext cx="1828800" cy="201168"/>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 system</a:t>
            </a:r>
            <a:endParaRPr lang="en-US" sz="1000" dirty="0"/>
          </a:p>
        </p:txBody>
      </p:sp>
      <p:sp>
        <p:nvSpPr>
          <p:cNvPr id="28" name="Shape 25"/>
          <p:cNvSpPr/>
          <p:nvPr/>
        </p:nvSpPr>
        <p:spPr>
          <a:xfrm>
            <a:off x="4663440" y="2459736"/>
            <a:ext cx="2743200" cy="237744"/>
          </a:xfrm>
          <a:prstGeom prst="rect">
            <a:avLst/>
          </a:prstGeom>
          <a:solidFill>
            <a:srgbClr val="9AA7B4"/>
          </a:solidFill>
          <a:ln w="12700">
            <a:solidFill>
              <a:srgbClr val="9AA7B4"/>
            </a:solidFill>
            <a:prstDash val="solid"/>
          </a:ln>
        </p:spPr>
      </p:sp>
      <p:sp>
        <p:nvSpPr>
          <p:cNvPr id="29" name="Text 26"/>
          <p:cNvSpPr txBox="1"/>
          <p:nvPr/>
        </p:nvSpPr>
        <p:spPr>
          <a:xfrm>
            <a:off x="7461504" y="2450592"/>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12.7 yr</a:t>
            </a:r>
            <a:endParaRPr lang="en-US" sz="1100" dirty="0"/>
          </a:p>
        </p:txBody>
      </p:sp>
      <p:sp>
        <p:nvSpPr>
          <p:cNvPr id="30" name="Text 27"/>
          <p:cNvSpPr txBox="1"/>
          <p:nvPr/>
        </p:nvSpPr>
        <p:spPr>
          <a:xfrm>
            <a:off x="4663440" y="2926080"/>
            <a:ext cx="3474720" cy="274320"/>
          </a:xfrm>
          <a:prstGeom prst="rect">
            <a:avLst/>
          </a:prstGeom>
          <a:noFill/>
          <a:ln/>
        </p:spPr>
        <p:txBody>
          <a:bodyPr wrap="square" lIns="0" tIns="0" rIns="0" bIns="0" rtlCol="0" anchor="ctr"/>
          <a:lstStyle/>
          <a:p>
            <a:pPr indent="0" marL="0">
              <a:buNone/>
            </a:pPr>
            <a:r>
              <a:rPr lang="en-US" sz="14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31" name="Text 28"/>
          <p:cNvSpPr txBox="1"/>
          <p:nvPr/>
        </p:nvSpPr>
        <p:spPr>
          <a:xfrm>
            <a:off x="4663440" y="3246120"/>
            <a:ext cx="3474720" cy="548640"/>
          </a:xfrm>
          <a:prstGeom prst="rect">
            <a:avLst/>
          </a:prstGeom>
          <a:noFill/>
          <a:ln/>
        </p:spPr>
        <p:txBody>
          <a:bodyPr wrap="square" lIns="0" tIns="0" rIns="0" bIns="0" rtlCol="0" anchor="t"/>
          <a:lstStyle/>
          <a:p>
            <a:pPr indent="0" marL="0">
              <a:buNone/>
            </a:pPr>
            <a:r>
              <a:rPr lang="en-US" sz="14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line revenue lost to downgrade is enough for a 2-year payback</a:t>
            </a:r>
            <a:endParaRPr lang="en-US" sz="950" dirty="0"/>
          </a:p>
        </p:txBody>
      </p:sp>
      <p:sp>
        <p:nvSpPr>
          <p:cNvPr id="32" name="Shape 29"/>
          <p:cNvSpPr/>
          <p:nvPr/>
        </p:nvSpPr>
        <p:spPr>
          <a:xfrm>
            <a:off x="8321040" y="1234440"/>
            <a:ext cx="3410712" cy="274320"/>
          </a:xfrm>
          <a:prstGeom prst="rect">
            <a:avLst/>
          </a:prstGeom>
          <a:solidFill>
            <a:srgbClr val="2B5B80"/>
          </a:solidFill>
          <a:ln w="12700">
            <a:solidFill>
              <a:srgbClr val="2B5B80"/>
            </a:solidFill>
            <a:prstDash val="solid"/>
          </a:ln>
        </p:spPr>
      </p:sp>
      <p:sp>
        <p:nvSpPr>
          <p:cNvPr id="33" name="Text 30"/>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34" name="Text 31"/>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35" name="Shape 32"/>
          <p:cNvSpPr/>
          <p:nvPr/>
        </p:nvSpPr>
        <p:spPr>
          <a:xfrm>
            <a:off x="9930711" y="1691640"/>
            <a:ext cx="257142" cy="182880"/>
          </a:xfrm>
          <a:prstGeom prst="rect">
            <a:avLst/>
          </a:prstGeom>
          <a:solidFill>
            <a:srgbClr val="0086C3"/>
          </a:solidFill>
          <a:ln w="12700">
            <a:solidFill>
              <a:srgbClr val="0086C3"/>
            </a:solidFill>
            <a:prstDash val="solid"/>
          </a:ln>
        </p:spPr>
      </p:sp>
      <p:sp>
        <p:nvSpPr>
          <p:cNvPr id="36" name="Shape 33"/>
          <p:cNvSpPr/>
          <p:nvPr/>
        </p:nvSpPr>
        <p:spPr>
          <a:xfrm>
            <a:off x="10187853" y="1691640"/>
            <a:ext cx="894936" cy="182880"/>
          </a:xfrm>
          <a:prstGeom prst="rect">
            <a:avLst/>
          </a:prstGeom>
          <a:solidFill>
            <a:srgbClr val="9AA7B4"/>
          </a:solidFill>
          <a:ln w="12700">
            <a:solidFill>
              <a:srgbClr val="9AA7B4"/>
            </a:solidFill>
            <a:prstDash val="solid"/>
          </a:ln>
        </p:spPr>
      </p:sp>
      <p:sp>
        <p:nvSpPr>
          <p:cNvPr id="37" name="Text 34"/>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38" name="Text 35"/>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39" name="Shape 36"/>
          <p:cNvSpPr/>
          <p:nvPr/>
        </p:nvSpPr>
        <p:spPr>
          <a:xfrm>
            <a:off x="10007651" y="2093976"/>
            <a:ext cx="180202" cy="182880"/>
          </a:xfrm>
          <a:prstGeom prst="rect">
            <a:avLst/>
          </a:prstGeom>
          <a:solidFill>
            <a:srgbClr val="0086C3"/>
          </a:solidFill>
          <a:ln w="12700">
            <a:solidFill>
              <a:srgbClr val="0086C3"/>
            </a:solidFill>
            <a:prstDash val="solid"/>
          </a:ln>
        </p:spPr>
      </p:sp>
      <p:sp>
        <p:nvSpPr>
          <p:cNvPr id="40" name="Shape 37"/>
          <p:cNvSpPr/>
          <p:nvPr/>
        </p:nvSpPr>
        <p:spPr>
          <a:xfrm>
            <a:off x="10187853" y="2093976"/>
            <a:ext cx="894936" cy="182880"/>
          </a:xfrm>
          <a:prstGeom prst="rect">
            <a:avLst/>
          </a:prstGeom>
          <a:solidFill>
            <a:srgbClr val="9AA7B4"/>
          </a:solidFill>
          <a:ln w="12700">
            <a:solidFill>
              <a:srgbClr val="9AA7B4"/>
            </a:solidFill>
            <a:prstDash val="solid"/>
          </a:ln>
        </p:spPr>
      </p:sp>
      <p:sp>
        <p:nvSpPr>
          <p:cNvPr id="41" name="Text 38"/>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42" name="Text 39"/>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43" name="Shape 40"/>
          <p:cNvSpPr/>
          <p:nvPr/>
        </p:nvSpPr>
        <p:spPr>
          <a:xfrm>
            <a:off x="10076492" y="2496312"/>
            <a:ext cx="111361" cy="182880"/>
          </a:xfrm>
          <a:prstGeom prst="rect">
            <a:avLst/>
          </a:prstGeom>
          <a:solidFill>
            <a:srgbClr val="0086C3"/>
          </a:solidFill>
          <a:ln w="12700">
            <a:solidFill>
              <a:srgbClr val="0086C3"/>
            </a:solidFill>
            <a:prstDash val="solid"/>
          </a:ln>
        </p:spPr>
      </p:sp>
      <p:sp>
        <p:nvSpPr>
          <p:cNvPr id="44" name="Shape 41"/>
          <p:cNvSpPr/>
          <p:nvPr/>
        </p:nvSpPr>
        <p:spPr>
          <a:xfrm>
            <a:off x="10187853" y="2496312"/>
            <a:ext cx="224746" cy="182880"/>
          </a:xfrm>
          <a:prstGeom prst="rect">
            <a:avLst/>
          </a:prstGeom>
          <a:solidFill>
            <a:srgbClr val="9AA7B4"/>
          </a:solidFill>
          <a:ln w="12700">
            <a:solidFill>
              <a:srgbClr val="9AA7B4"/>
            </a:solidFill>
            <a:prstDash val="solid"/>
          </a:ln>
        </p:spPr>
      </p:sp>
      <p:sp>
        <p:nvSpPr>
          <p:cNvPr id="45" name="Text 42"/>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46" name="Text 43"/>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47" name="Shape 44"/>
          <p:cNvSpPr/>
          <p:nvPr/>
        </p:nvSpPr>
        <p:spPr>
          <a:xfrm>
            <a:off x="10074467" y="2898648"/>
            <a:ext cx="113386" cy="182880"/>
          </a:xfrm>
          <a:prstGeom prst="rect">
            <a:avLst/>
          </a:prstGeom>
          <a:solidFill>
            <a:srgbClr val="0086C3"/>
          </a:solidFill>
          <a:ln w="12700">
            <a:solidFill>
              <a:srgbClr val="0086C3"/>
            </a:solidFill>
            <a:prstDash val="solid"/>
          </a:ln>
        </p:spPr>
      </p:sp>
      <p:sp>
        <p:nvSpPr>
          <p:cNvPr id="48" name="Shape 45"/>
          <p:cNvSpPr/>
          <p:nvPr/>
        </p:nvSpPr>
        <p:spPr>
          <a:xfrm>
            <a:off x="10187853" y="2898648"/>
            <a:ext cx="113386" cy="182880"/>
          </a:xfrm>
          <a:prstGeom prst="rect">
            <a:avLst/>
          </a:prstGeom>
          <a:solidFill>
            <a:srgbClr val="9AA7B4"/>
          </a:solidFill>
          <a:ln w="12700">
            <a:solidFill>
              <a:srgbClr val="9AA7B4"/>
            </a:solidFill>
            <a:prstDash val="solid"/>
          </a:ln>
        </p:spPr>
      </p:sp>
      <p:sp>
        <p:nvSpPr>
          <p:cNvPr id="49" name="Text 46"/>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50" name="Text 47"/>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51" name="Shape 48"/>
          <p:cNvSpPr/>
          <p:nvPr/>
        </p:nvSpPr>
        <p:spPr>
          <a:xfrm>
            <a:off x="9930711" y="3300984"/>
            <a:ext cx="257142" cy="182880"/>
          </a:xfrm>
          <a:prstGeom prst="rect">
            <a:avLst/>
          </a:prstGeom>
          <a:solidFill>
            <a:srgbClr val="0086C3"/>
          </a:solidFill>
          <a:ln w="12700">
            <a:solidFill>
              <a:srgbClr val="0086C3"/>
            </a:solidFill>
            <a:prstDash val="solid"/>
          </a:ln>
        </p:spPr>
      </p:sp>
      <p:sp>
        <p:nvSpPr>
          <p:cNvPr id="52" name="Text 49"/>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53" name="Shape 50"/>
          <p:cNvSpPr/>
          <p:nvPr/>
        </p:nvSpPr>
        <p:spPr>
          <a:xfrm>
            <a:off x="10178709" y="1591056"/>
            <a:ext cx="18288" cy="2057400"/>
          </a:xfrm>
          <a:prstGeom prst="rect">
            <a:avLst/>
          </a:prstGeom>
          <a:solidFill>
            <a:srgbClr val="143A5A"/>
          </a:solidFill>
          <a:ln w="12700">
            <a:solidFill>
              <a:srgbClr val="143A5A"/>
            </a:solidFill>
            <a:prstDash val="solid"/>
          </a:ln>
        </p:spPr>
      </p:sp>
      <p:sp>
        <p:nvSpPr>
          <p:cNvPr id="54" name="Text 51"/>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55" name="Shape 52"/>
          <p:cNvSpPr/>
          <p:nvPr/>
        </p:nvSpPr>
        <p:spPr>
          <a:xfrm>
            <a:off x="457200" y="4005072"/>
            <a:ext cx="7680960" cy="274320"/>
          </a:xfrm>
          <a:prstGeom prst="rect">
            <a:avLst/>
          </a:prstGeom>
          <a:solidFill>
            <a:srgbClr val="2B5B80"/>
          </a:solidFill>
          <a:ln w="12700">
            <a:solidFill>
              <a:srgbClr val="2B5B80"/>
            </a:solidFill>
            <a:prstDash val="solid"/>
          </a:ln>
        </p:spPr>
      </p:sp>
      <p:sp>
        <p:nvSpPr>
          <p:cNvPr id="56" name="Text 53"/>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Shape 54"/>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58" name="Shape 55"/>
          <p:cNvSpPr/>
          <p:nvPr/>
        </p:nvSpPr>
        <p:spPr>
          <a:xfrm>
            <a:off x="850392" y="4425696"/>
            <a:ext cx="457200" cy="457200"/>
          </a:xfrm>
          <a:prstGeom prst="ellipse">
            <a:avLst/>
          </a:prstGeom>
          <a:solidFill>
            <a:srgbClr val="0086C3"/>
          </a:solidFill>
          <a:ln w="12700">
            <a:solidFill>
              <a:srgbClr val="0086C3"/>
            </a:solidFill>
            <a:prstDash val="solid"/>
          </a:ln>
        </p:spPr>
      </p:sp>
      <p:pic>
        <p:nvPicPr>
          <p:cNvPr id="59"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60" name="Text 56"/>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61" name="Text 57"/>
          <p:cNvSpPr txBox="1"/>
          <p:nvPr/>
        </p:nvSpPr>
        <p:spPr>
          <a:xfrm>
            <a:off x="52120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62" name="Shape 58"/>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63" name="Shape 59"/>
          <p:cNvSpPr/>
          <p:nvPr/>
        </p:nvSpPr>
        <p:spPr>
          <a:xfrm>
            <a:off x="2144268" y="4425696"/>
            <a:ext cx="457200" cy="457200"/>
          </a:xfrm>
          <a:prstGeom prst="ellipse">
            <a:avLst/>
          </a:prstGeom>
          <a:solidFill>
            <a:srgbClr val="0086C3"/>
          </a:solidFill>
          <a:ln w="12700">
            <a:solidFill>
              <a:srgbClr val="0086C3"/>
            </a:solidFill>
            <a:prstDash val="solid"/>
          </a:ln>
        </p:spPr>
      </p:sp>
      <p:pic>
        <p:nvPicPr>
          <p:cNvPr id="64"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65" name="Text 60"/>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66" name="Text 61"/>
          <p:cNvSpPr txBox="1"/>
          <p:nvPr/>
        </p:nvSpPr>
        <p:spPr>
          <a:xfrm>
            <a:off x="1815084"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for rail, metro, auto buyers</a:t>
            </a:r>
            <a:endParaRPr lang="en-US" sz="900" dirty="0"/>
          </a:p>
        </p:txBody>
      </p:sp>
      <p:sp>
        <p:nvSpPr>
          <p:cNvPr id="67" name="Shape 62"/>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68" name="Shape 63"/>
          <p:cNvSpPr/>
          <p:nvPr/>
        </p:nvSpPr>
        <p:spPr>
          <a:xfrm>
            <a:off x="3438144" y="4425696"/>
            <a:ext cx="457200" cy="457200"/>
          </a:xfrm>
          <a:prstGeom prst="ellipse">
            <a:avLst/>
          </a:prstGeom>
          <a:solidFill>
            <a:srgbClr val="0086C3"/>
          </a:solidFill>
          <a:ln w="12700">
            <a:solidFill>
              <a:srgbClr val="0086C3"/>
            </a:solidFill>
            <a:prstDash val="solid"/>
          </a:ln>
        </p:spPr>
      </p:sp>
      <p:pic>
        <p:nvPicPr>
          <p:cNvPr id="69"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70" name="Text 64"/>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71" name="Text 65"/>
          <p:cNvSpPr txBox="1"/>
          <p:nvPr/>
        </p:nvSpPr>
        <p:spPr>
          <a:xfrm>
            <a:off x="3108960"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72" name="Shape 66"/>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73" name="Shape 67"/>
          <p:cNvSpPr/>
          <p:nvPr/>
        </p:nvSpPr>
        <p:spPr>
          <a:xfrm>
            <a:off x="4732020" y="4425696"/>
            <a:ext cx="457200" cy="457200"/>
          </a:xfrm>
          <a:prstGeom prst="ellipse">
            <a:avLst/>
          </a:prstGeom>
          <a:solidFill>
            <a:srgbClr val="0086C3"/>
          </a:solidFill>
          <a:ln w="12700">
            <a:solidFill>
              <a:srgbClr val="0086C3"/>
            </a:solidFill>
            <a:prstDash val="solid"/>
          </a:ln>
        </p:spPr>
      </p:sp>
      <p:pic>
        <p:nvPicPr>
          <p:cNvPr id="74"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75" name="Text 68"/>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76" name="Text 69"/>
          <p:cNvSpPr txBox="1"/>
          <p:nvPr/>
        </p:nvSpPr>
        <p:spPr>
          <a:xfrm>
            <a:off x="4402836"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77" name="Shape 7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78" name="Shape 71"/>
          <p:cNvSpPr/>
          <p:nvPr/>
        </p:nvSpPr>
        <p:spPr>
          <a:xfrm>
            <a:off x="6025896" y="4425696"/>
            <a:ext cx="457200" cy="457200"/>
          </a:xfrm>
          <a:prstGeom prst="ellipse">
            <a:avLst/>
          </a:prstGeom>
          <a:solidFill>
            <a:srgbClr val="0086C3"/>
          </a:solidFill>
          <a:ln w="12700">
            <a:solidFill>
              <a:srgbClr val="0086C3"/>
            </a:solidFill>
            <a:prstDash val="solid"/>
          </a:ln>
        </p:spPr>
      </p:sp>
      <p:pic>
        <p:nvPicPr>
          <p:cNvPr id="7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80" name="Text 7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81" name="Text 73"/>
          <p:cNvSpPr txBox="1"/>
          <p:nvPr/>
        </p:nvSpPr>
        <p:spPr>
          <a:xfrm>
            <a:off x="5696712"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rework and remelt; backs JSL net zero</a:t>
            </a:r>
            <a:endParaRPr lang="en-US" sz="900" dirty="0"/>
          </a:p>
        </p:txBody>
      </p:sp>
      <p:sp>
        <p:nvSpPr>
          <p:cNvPr id="82" name="Shape 74"/>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83" name="Shape 75"/>
          <p:cNvSpPr/>
          <p:nvPr/>
        </p:nvSpPr>
        <p:spPr>
          <a:xfrm>
            <a:off x="7319772" y="4425696"/>
            <a:ext cx="457200" cy="457200"/>
          </a:xfrm>
          <a:prstGeom prst="ellipse">
            <a:avLst/>
          </a:prstGeom>
          <a:solidFill>
            <a:srgbClr val="0086C3"/>
          </a:solidFill>
          <a:ln w="12700">
            <a:solidFill>
              <a:srgbClr val="0086C3"/>
            </a:solidFill>
            <a:prstDash val="solid"/>
          </a:ln>
        </p:spPr>
      </p:sp>
      <p:pic>
        <p:nvPicPr>
          <p:cNvPr id="84"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85" name="Text 76"/>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86" name="Text 77"/>
          <p:cNvSpPr txBox="1"/>
          <p:nvPr/>
        </p:nvSpPr>
        <p:spPr>
          <a:xfrm>
            <a:off x="699058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87" name="Shape 78"/>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88" name="Text 79"/>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89" name="Text 80"/>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90" name="Text 81"/>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2026-09-27T02:29:13Z</dcterms:created>
  <dcterms:modified xsi:type="dcterms:W3CDTF">2026-09-27T02:29:13Z</dcterms:modified>
</cp:coreProperties>
</file>